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796" r:id="rId3"/>
    <p:sldId id="797" r:id="rId4"/>
    <p:sldId id="798" r:id="rId5"/>
    <p:sldId id="799" r:id="rId6"/>
    <p:sldId id="800" r:id="rId7"/>
    <p:sldId id="801" r:id="rId8"/>
    <p:sldId id="802" r:id="rId9"/>
    <p:sldId id="803" r:id="rId10"/>
    <p:sldId id="257"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CFED"/>
    <a:srgbClr val="1973A2"/>
    <a:srgbClr val="1974A2"/>
    <a:srgbClr val="FFFFFF"/>
    <a:srgbClr val="7ECFED"/>
    <a:srgbClr val="16668E"/>
    <a:srgbClr val="0F70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p:normalViewPr>
  <p:slideViewPr>
    <p:cSldViewPr snapToGrid="0">
      <p:cViewPr varScale="1">
        <p:scale>
          <a:sx n="82" d="100"/>
          <a:sy n="82" d="100"/>
        </p:scale>
        <p:origin x="6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88EEF-A970-4319-98E0-EBB1D071AB08}"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0DE39-9C00-4A0A-8757-7DFBDE4DA827}" type="slidenum">
              <a:rPr lang="zh-CN" altLang="en-US" smtClean="0"/>
              <a:t>‹#›</a:t>
            </a:fld>
            <a:endParaRPr lang="zh-CN" altLang="en-US"/>
          </a:p>
        </p:txBody>
      </p:sp>
    </p:spTree>
    <p:extLst>
      <p:ext uri="{BB962C8B-B14F-4D97-AF65-F5344CB8AC3E}">
        <p14:creationId xmlns:p14="http://schemas.microsoft.com/office/powerpoint/2010/main" val="1851879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D1DC36-B914-42C3-8AA8-8F89DC05B998}"/>
              </a:ext>
            </a:extLst>
          </p:cNvPr>
          <p:cNvSpPr/>
          <p:nvPr userDrawn="1"/>
        </p:nvSpPr>
        <p:spPr>
          <a:xfrm>
            <a:off x="0" y="-26809"/>
            <a:ext cx="12192000" cy="6884809"/>
          </a:xfrm>
          <a:prstGeom prst="rect">
            <a:avLst/>
          </a:prstGeom>
          <a:solidFill>
            <a:srgbClr val="1666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剪去对角 21">
            <a:extLst>
              <a:ext uri="{FF2B5EF4-FFF2-40B4-BE49-F238E27FC236}">
                <a16:creationId xmlns:a16="http://schemas.microsoft.com/office/drawing/2014/main" id="{3E2F5B59-5CD3-4301-B154-3495E6B3A8DE}"/>
              </a:ext>
            </a:extLst>
          </p:cNvPr>
          <p:cNvSpPr/>
          <p:nvPr userDrawn="1"/>
        </p:nvSpPr>
        <p:spPr>
          <a:xfrm flipH="1" flipV="1">
            <a:off x="387431" y="384977"/>
            <a:ext cx="11448566" cy="6115809"/>
          </a:xfrm>
          <a:prstGeom prst="snip2DiagRect">
            <a:avLst>
              <a:gd name="adj1" fmla="val 0"/>
              <a:gd name="adj2" fmla="val 4956"/>
            </a:avLst>
          </a:prstGeom>
          <a:solidFill>
            <a:schemeClr val="bg1"/>
          </a:solidFill>
          <a:ln w="12700">
            <a:solidFill>
              <a:srgbClr val="7FCFED">
                <a:alpha val="2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24" name="组合 23">
            <a:extLst>
              <a:ext uri="{FF2B5EF4-FFF2-40B4-BE49-F238E27FC236}">
                <a16:creationId xmlns:a16="http://schemas.microsoft.com/office/drawing/2014/main" id="{22D05688-A0BE-4156-885E-189917571774}"/>
              </a:ext>
            </a:extLst>
          </p:cNvPr>
          <p:cNvGrpSpPr/>
          <p:nvPr userDrawn="1"/>
        </p:nvGrpSpPr>
        <p:grpSpPr>
          <a:xfrm>
            <a:off x="368703" y="384977"/>
            <a:ext cx="2324103" cy="2132215"/>
            <a:chOff x="0" y="0"/>
            <a:chExt cx="3336146" cy="3060700"/>
          </a:xfrm>
        </p:grpSpPr>
        <p:pic>
          <p:nvPicPr>
            <p:cNvPr id="25" name="图片 24">
              <a:extLst>
                <a:ext uri="{FF2B5EF4-FFF2-40B4-BE49-F238E27FC236}">
                  <a16:creationId xmlns:a16="http://schemas.microsoft.com/office/drawing/2014/main" id="{A602525A-7E19-47E8-A117-7D53F7202667}"/>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26" name="组合 25">
              <a:extLst>
                <a:ext uri="{FF2B5EF4-FFF2-40B4-BE49-F238E27FC236}">
                  <a16:creationId xmlns:a16="http://schemas.microsoft.com/office/drawing/2014/main" id="{2FDF6857-9002-4FCF-81BC-E3641055A34C}"/>
                </a:ext>
              </a:extLst>
            </p:cNvPr>
            <p:cNvGrpSpPr/>
            <p:nvPr/>
          </p:nvGrpSpPr>
          <p:grpSpPr>
            <a:xfrm>
              <a:off x="0" y="0"/>
              <a:ext cx="1983086" cy="3060700"/>
              <a:chOff x="0" y="0"/>
              <a:chExt cx="1983086" cy="3060700"/>
            </a:xfrm>
          </p:grpSpPr>
          <p:sp>
            <p:nvSpPr>
              <p:cNvPr id="27" name="直角三角形 26">
                <a:extLst>
                  <a:ext uri="{FF2B5EF4-FFF2-40B4-BE49-F238E27FC236}">
                    <a16:creationId xmlns:a16="http://schemas.microsoft.com/office/drawing/2014/main" id="{334EDFBF-21BB-4181-B121-051B0B447BE0}"/>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平行四边形 27">
                <a:extLst>
                  <a:ext uri="{FF2B5EF4-FFF2-40B4-BE49-F238E27FC236}">
                    <a16:creationId xmlns:a16="http://schemas.microsoft.com/office/drawing/2014/main" id="{637AAF0D-39C7-4B9D-A5E5-B3782A434FF6}"/>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a:extLst>
                  <a:ext uri="{FF2B5EF4-FFF2-40B4-BE49-F238E27FC236}">
                    <a16:creationId xmlns:a16="http://schemas.microsoft.com/office/drawing/2014/main" id="{06FB9E34-541D-4CC6-91A7-6675D8E4479B}"/>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平行四边形 29">
                <a:extLst>
                  <a:ext uri="{FF2B5EF4-FFF2-40B4-BE49-F238E27FC236}">
                    <a16:creationId xmlns:a16="http://schemas.microsoft.com/office/drawing/2014/main" id="{5BB85C6F-03EF-4CD1-8CAE-300E656F2341}"/>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1" name="组合 30">
            <a:extLst>
              <a:ext uri="{FF2B5EF4-FFF2-40B4-BE49-F238E27FC236}">
                <a16:creationId xmlns:a16="http://schemas.microsoft.com/office/drawing/2014/main" id="{8B7CBE96-8FD6-42E3-8185-72FBC86EDCB5}"/>
              </a:ext>
            </a:extLst>
          </p:cNvPr>
          <p:cNvGrpSpPr/>
          <p:nvPr userDrawn="1"/>
        </p:nvGrpSpPr>
        <p:grpSpPr>
          <a:xfrm flipH="1" flipV="1">
            <a:off x="9512216" y="4368571"/>
            <a:ext cx="2324103" cy="2132215"/>
            <a:chOff x="0" y="0"/>
            <a:chExt cx="3336146" cy="3060700"/>
          </a:xfrm>
        </p:grpSpPr>
        <p:pic>
          <p:nvPicPr>
            <p:cNvPr id="32" name="图片 31">
              <a:extLst>
                <a:ext uri="{FF2B5EF4-FFF2-40B4-BE49-F238E27FC236}">
                  <a16:creationId xmlns:a16="http://schemas.microsoft.com/office/drawing/2014/main" id="{F8881AE3-7CBD-4768-834D-F31009944A17}"/>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33" name="组合 32">
              <a:extLst>
                <a:ext uri="{FF2B5EF4-FFF2-40B4-BE49-F238E27FC236}">
                  <a16:creationId xmlns:a16="http://schemas.microsoft.com/office/drawing/2014/main" id="{9A8B61C1-295E-491D-BCDA-0CFDA78E316E}"/>
                </a:ext>
              </a:extLst>
            </p:cNvPr>
            <p:cNvGrpSpPr/>
            <p:nvPr/>
          </p:nvGrpSpPr>
          <p:grpSpPr>
            <a:xfrm>
              <a:off x="0" y="0"/>
              <a:ext cx="1983086" cy="3060700"/>
              <a:chOff x="0" y="0"/>
              <a:chExt cx="1983086" cy="3060700"/>
            </a:xfrm>
          </p:grpSpPr>
          <p:sp>
            <p:nvSpPr>
              <p:cNvPr id="34" name="直角三角形 33">
                <a:extLst>
                  <a:ext uri="{FF2B5EF4-FFF2-40B4-BE49-F238E27FC236}">
                    <a16:creationId xmlns:a16="http://schemas.microsoft.com/office/drawing/2014/main" id="{93AD6555-FBF4-47DB-8F90-3E84F1EBB1B0}"/>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平行四边形 34">
                <a:extLst>
                  <a:ext uri="{FF2B5EF4-FFF2-40B4-BE49-F238E27FC236}">
                    <a16:creationId xmlns:a16="http://schemas.microsoft.com/office/drawing/2014/main" id="{AD58F084-C4B5-4127-A3C8-0C2F1BC820AB}"/>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平行四边形 35">
                <a:extLst>
                  <a:ext uri="{FF2B5EF4-FFF2-40B4-BE49-F238E27FC236}">
                    <a16:creationId xmlns:a16="http://schemas.microsoft.com/office/drawing/2014/main" id="{D461A1F1-F65D-4F10-8BF4-56B8D3B46869}"/>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平行四边形 36">
                <a:extLst>
                  <a:ext uri="{FF2B5EF4-FFF2-40B4-BE49-F238E27FC236}">
                    <a16:creationId xmlns:a16="http://schemas.microsoft.com/office/drawing/2014/main" id="{104FF62B-1A92-4A34-AC7E-2FAE3D9F42FA}"/>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Tree>
    <p:extLst>
      <p:ext uri="{BB962C8B-B14F-4D97-AF65-F5344CB8AC3E}">
        <p14:creationId xmlns:p14="http://schemas.microsoft.com/office/powerpoint/2010/main" val="1613289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3" name="矩形: 剪去对角 22">
            <a:extLst>
              <a:ext uri="{FF2B5EF4-FFF2-40B4-BE49-F238E27FC236}">
                <a16:creationId xmlns:a16="http://schemas.microsoft.com/office/drawing/2014/main" id="{95EE0CB9-6189-4F3F-B715-ECAE0F858EC6}"/>
              </a:ext>
            </a:extLst>
          </p:cNvPr>
          <p:cNvSpPr/>
          <p:nvPr userDrawn="1"/>
        </p:nvSpPr>
        <p:spPr>
          <a:xfrm flipH="1" flipV="1">
            <a:off x="387431" y="384977"/>
            <a:ext cx="11448566" cy="6115809"/>
          </a:xfrm>
          <a:prstGeom prst="snip2DiagRect">
            <a:avLst>
              <a:gd name="adj1" fmla="val 0"/>
              <a:gd name="adj2" fmla="val 4956"/>
            </a:avLst>
          </a:prstGeom>
          <a:solidFill>
            <a:srgbClr val="1974A2"/>
          </a:solidFill>
          <a:ln w="12700">
            <a:solidFill>
              <a:srgbClr val="7ECFED">
                <a:alpha val="2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8" name="组合 7">
            <a:extLst>
              <a:ext uri="{FF2B5EF4-FFF2-40B4-BE49-F238E27FC236}">
                <a16:creationId xmlns:a16="http://schemas.microsoft.com/office/drawing/2014/main" id="{003DC2F3-91A1-43E1-844F-758F97DE4745}"/>
              </a:ext>
            </a:extLst>
          </p:cNvPr>
          <p:cNvGrpSpPr/>
          <p:nvPr userDrawn="1"/>
        </p:nvGrpSpPr>
        <p:grpSpPr>
          <a:xfrm>
            <a:off x="-3" y="1"/>
            <a:ext cx="2166277" cy="1987420"/>
            <a:chOff x="0" y="0"/>
            <a:chExt cx="3336146" cy="3060700"/>
          </a:xfrm>
        </p:grpSpPr>
        <p:pic>
          <p:nvPicPr>
            <p:cNvPr id="9" name="图片 8">
              <a:extLst>
                <a:ext uri="{FF2B5EF4-FFF2-40B4-BE49-F238E27FC236}">
                  <a16:creationId xmlns:a16="http://schemas.microsoft.com/office/drawing/2014/main" id="{435D3DE3-1244-4057-B522-6D726849D970}"/>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0" name="组合 9">
              <a:extLst>
                <a:ext uri="{FF2B5EF4-FFF2-40B4-BE49-F238E27FC236}">
                  <a16:creationId xmlns:a16="http://schemas.microsoft.com/office/drawing/2014/main" id="{DA763764-07B6-4040-B10F-603080B2FA81}"/>
                </a:ext>
              </a:extLst>
            </p:cNvPr>
            <p:cNvGrpSpPr/>
            <p:nvPr/>
          </p:nvGrpSpPr>
          <p:grpSpPr>
            <a:xfrm>
              <a:off x="0" y="0"/>
              <a:ext cx="1983086" cy="3060700"/>
              <a:chOff x="0" y="0"/>
              <a:chExt cx="1983086" cy="3060700"/>
            </a:xfrm>
          </p:grpSpPr>
          <p:sp>
            <p:nvSpPr>
              <p:cNvPr id="11" name="直角三角形 10">
                <a:extLst>
                  <a:ext uri="{FF2B5EF4-FFF2-40B4-BE49-F238E27FC236}">
                    <a16:creationId xmlns:a16="http://schemas.microsoft.com/office/drawing/2014/main" id="{5E80730B-E9C9-4E6C-A92A-850A0352C3FC}"/>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平行四边形 11">
                <a:extLst>
                  <a:ext uri="{FF2B5EF4-FFF2-40B4-BE49-F238E27FC236}">
                    <a16:creationId xmlns:a16="http://schemas.microsoft.com/office/drawing/2014/main" id="{14563337-93E8-4CB2-AFDF-F15A3C9EA31D}"/>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F3D9B1C1-61A4-4C47-80D0-5233627CEEEC}"/>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平行四边形 13">
                <a:extLst>
                  <a:ext uri="{FF2B5EF4-FFF2-40B4-BE49-F238E27FC236}">
                    <a16:creationId xmlns:a16="http://schemas.microsoft.com/office/drawing/2014/main" id="{F4BAA035-7E5D-4CEC-878F-420A00879E1C}"/>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5" name="组合 14">
            <a:extLst>
              <a:ext uri="{FF2B5EF4-FFF2-40B4-BE49-F238E27FC236}">
                <a16:creationId xmlns:a16="http://schemas.microsoft.com/office/drawing/2014/main" id="{6962F6F0-AAD8-43DC-9FFC-EAB57A75C8BE}"/>
              </a:ext>
            </a:extLst>
          </p:cNvPr>
          <p:cNvGrpSpPr/>
          <p:nvPr userDrawn="1"/>
        </p:nvGrpSpPr>
        <p:grpSpPr>
          <a:xfrm flipH="1" flipV="1">
            <a:off x="10025723" y="4870580"/>
            <a:ext cx="2166277" cy="1987420"/>
            <a:chOff x="0" y="0"/>
            <a:chExt cx="3336146" cy="3060700"/>
          </a:xfrm>
        </p:grpSpPr>
        <p:pic>
          <p:nvPicPr>
            <p:cNvPr id="16" name="图片 15">
              <a:extLst>
                <a:ext uri="{FF2B5EF4-FFF2-40B4-BE49-F238E27FC236}">
                  <a16:creationId xmlns:a16="http://schemas.microsoft.com/office/drawing/2014/main" id="{59B3F3EF-70A2-4440-B7DC-E5FA727C0A5F}"/>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7" name="组合 16">
              <a:extLst>
                <a:ext uri="{FF2B5EF4-FFF2-40B4-BE49-F238E27FC236}">
                  <a16:creationId xmlns:a16="http://schemas.microsoft.com/office/drawing/2014/main" id="{766B3ADE-3E10-4B2C-A99D-0A98542F9BFB}"/>
                </a:ext>
              </a:extLst>
            </p:cNvPr>
            <p:cNvGrpSpPr/>
            <p:nvPr/>
          </p:nvGrpSpPr>
          <p:grpSpPr>
            <a:xfrm>
              <a:off x="0" y="0"/>
              <a:ext cx="1983086" cy="3060700"/>
              <a:chOff x="0" y="0"/>
              <a:chExt cx="1983086" cy="3060700"/>
            </a:xfrm>
          </p:grpSpPr>
          <p:sp>
            <p:nvSpPr>
              <p:cNvPr id="18" name="直角三角形 17">
                <a:extLst>
                  <a:ext uri="{FF2B5EF4-FFF2-40B4-BE49-F238E27FC236}">
                    <a16:creationId xmlns:a16="http://schemas.microsoft.com/office/drawing/2014/main" id="{17845AA5-35CC-4569-AE98-CA80C969CCB7}"/>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平行四边形 18">
                <a:extLst>
                  <a:ext uri="{FF2B5EF4-FFF2-40B4-BE49-F238E27FC236}">
                    <a16:creationId xmlns:a16="http://schemas.microsoft.com/office/drawing/2014/main" id="{63970F3C-38A1-42E2-BC85-4A498174727F}"/>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a:extLst>
                  <a:ext uri="{FF2B5EF4-FFF2-40B4-BE49-F238E27FC236}">
                    <a16:creationId xmlns:a16="http://schemas.microsoft.com/office/drawing/2014/main" id="{95CE12E1-0FF1-4020-AF8A-2D6A3C592A8E}"/>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平行四边形 20">
                <a:extLst>
                  <a:ext uri="{FF2B5EF4-FFF2-40B4-BE49-F238E27FC236}">
                    <a16:creationId xmlns:a16="http://schemas.microsoft.com/office/drawing/2014/main" id="{D4E6E38B-42B8-4B8E-8DAA-6FC1A80C2A1F}"/>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Tree>
    <p:extLst>
      <p:ext uri="{BB962C8B-B14F-4D97-AF65-F5344CB8AC3E}">
        <p14:creationId xmlns:p14="http://schemas.microsoft.com/office/powerpoint/2010/main" val="2175968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39" name="矩形: 剪去对角 38">
            <a:extLst>
              <a:ext uri="{FF2B5EF4-FFF2-40B4-BE49-F238E27FC236}">
                <a16:creationId xmlns:a16="http://schemas.microsoft.com/office/drawing/2014/main" id="{464ACB94-02C7-4564-A76E-9DD429CF9034}"/>
              </a:ext>
            </a:extLst>
          </p:cNvPr>
          <p:cNvSpPr/>
          <p:nvPr userDrawn="1"/>
        </p:nvSpPr>
        <p:spPr>
          <a:xfrm rot="5400000" flipH="1" flipV="1">
            <a:off x="3772330" y="-2661652"/>
            <a:ext cx="4667148" cy="12211812"/>
          </a:xfrm>
          <a:prstGeom prst="snip2DiagRect">
            <a:avLst>
              <a:gd name="adj1" fmla="val 0"/>
              <a:gd name="adj2" fmla="val 3731"/>
            </a:avLst>
          </a:prstGeom>
          <a:solidFill>
            <a:srgbClr val="1974A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15" name="组合 14">
            <a:extLst>
              <a:ext uri="{FF2B5EF4-FFF2-40B4-BE49-F238E27FC236}">
                <a16:creationId xmlns:a16="http://schemas.microsoft.com/office/drawing/2014/main" id="{6962F6F0-AAD8-43DC-9FFC-EAB57A75C8BE}"/>
              </a:ext>
            </a:extLst>
          </p:cNvPr>
          <p:cNvGrpSpPr/>
          <p:nvPr userDrawn="1"/>
        </p:nvGrpSpPr>
        <p:grpSpPr>
          <a:xfrm flipH="1" flipV="1">
            <a:off x="10025723" y="4870580"/>
            <a:ext cx="2166277" cy="1987420"/>
            <a:chOff x="0" y="0"/>
            <a:chExt cx="3336146" cy="3060700"/>
          </a:xfrm>
        </p:grpSpPr>
        <p:pic>
          <p:nvPicPr>
            <p:cNvPr id="16" name="图片 15">
              <a:extLst>
                <a:ext uri="{FF2B5EF4-FFF2-40B4-BE49-F238E27FC236}">
                  <a16:creationId xmlns:a16="http://schemas.microsoft.com/office/drawing/2014/main" id="{59B3F3EF-70A2-4440-B7DC-E5FA727C0A5F}"/>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7" name="组合 16">
              <a:extLst>
                <a:ext uri="{FF2B5EF4-FFF2-40B4-BE49-F238E27FC236}">
                  <a16:creationId xmlns:a16="http://schemas.microsoft.com/office/drawing/2014/main" id="{766B3ADE-3E10-4B2C-A99D-0A98542F9BFB}"/>
                </a:ext>
              </a:extLst>
            </p:cNvPr>
            <p:cNvGrpSpPr/>
            <p:nvPr/>
          </p:nvGrpSpPr>
          <p:grpSpPr>
            <a:xfrm>
              <a:off x="0" y="0"/>
              <a:ext cx="1983086" cy="3060700"/>
              <a:chOff x="0" y="0"/>
              <a:chExt cx="1983086" cy="3060700"/>
            </a:xfrm>
          </p:grpSpPr>
          <p:sp>
            <p:nvSpPr>
              <p:cNvPr id="18" name="直角三角形 17">
                <a:extLst>
                  <a:ext uri="{FF2B5EF4-FFF2-40B4-BE49-F238E27FC236}">
                    <a16:creationId xmlns:a16="http://schemas.microsoft.com/office/drawing/2014/main" id="{17845AA5-35CC-4569-AE98-CA80C969CCB7}"/>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平行四边形 18">
                <a:extLst>
                  <a:ext uri="{FF2B5EF4-FFF2-40B4-BE49-F238E27FC236}">
                    <a16:creationId xmlns:a16="http://schemas.microsoft.com/office/drawing/2014/main" id="{63970F3C-38A1-42E2-BC85-4A498174727F}"/>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a:extLst>
                  <a:ext uri="{FF2B5EF4-FFF2-40B4-BE49-F238E27FC236}">
                    <a16:creationId xmlns:a16="http://schemas.microsoft.com/office/drawing/2014/main" id="{95CE12E1-0FF1-4020-AF8A-2D6A3C592A8E}"/>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平行四边形 20">
                <a:extLst>
                  <a:ext uri="{FF2B5EF4-FFF2-40B4-BE49-F238E27FC236}">
                    <a16:creationId xmlns:a16="http://schemas.microsoft.com/office/drawing/2014/main" id="{D4E6E38B-42B8-4B8E-8DAA-6FC1A80C2A1F}"/>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42" name="组合 41">
            <a:extLst>
              <a:ext uri="{FF2B5EF4-FFF2-40B4-BE49-F238E27FC236}">
                <a16:creationId xmlns:a16="http://schemas.microsoft.com/office/drawing/2014/main" id="{0570092B-6DAD-4C22-B2B2-D62A437B8415}"/>
              </a:ext>
            </a:extLst>
          </p:cNvPr>
          <p:cNvGrpSpPr/>
          <p:nvPr userDrawn="1"/>
        </p:nvGrpSpPr>
        <p:grpSpPr>
          <a:xfrm>
            <a:off x="0" y="0"/>
            <a:ext cx="2166277" cy="1987420"/>
            <a:chOff x="0" y="0"/>
            <a:chExt cx="3336146" cy="3060700"/>
          </a:xfrm>
        </p:grpSpPr>
        <p:pic>
          <p:nvPicPr>
            <p:cNvPr id="43" name="图片 42">
              <a:extLst>
                <a:ext uri="{FF2B5EF4-FFF2-40B4-BE49-F238E27FC236}">
                  <a16:creationId xmlns:a16="http://schemas.microsoft.com/office/drawing/2014/main" id="{7469BDCB-B74B-4295-9C10-48D5478EE443}"/>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44" name="组合 43">
              <a:extLst>
                <a:ext uri="{FF2B5EF4-FFF2-40B4-BE49-F238E27FC236}">
                  <a16:creationId xmlns:a16="http://schemas.microsoft.com/office/drawing/2014/main" id="{93950679-A9F7-4AE6-BDA1-E6D8FFCDC994}"/>
                </a:ext>
              </a:extLst>
            </p:cNvPr>
            <p:cNvGrpSpPr/>
            <p:nvPr/>
          </p:nvGrpSpPr>
          <p:grpSpPr>
            <a:xfrm>
              <a:off x="0" y="0"/>
              <a:ext cx="1983086" cy="3060700"/>
              <a:chOff x="0" y="0"/>
              <a:chExt cx="1983086" cy="3060700"/>
            </a:xfrm>
          </p:grpSpPr>
          <p:sp>
            <p:nvSpPr>
              <p:cNvPr id="45" name="直角三角形 44">
                <a:extLst>
                  <a:ext uri="{FF2B5EF4-FFF2-40B4-BE49-F238E27FC236}">
                    <a16:creationId xmlns:a16="http://schemas.microsoft.com/office/drawing/2014/main" id="{12F301D5-36B1-476A-94F1-87EC864448EC}"/>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平行四边形 45">
                <a:extLst>
                  <a:ext uri="{FF2B5EF4-FFF2-40B4-BE49-F238E27FC236}">
                    <a16:creationId xmlns:a16="http://schemas.microsoft.com/office/drawing/2014/main" id="{F0CE8A56-8076-47FE-A8D2-D3F4DC7A1D3C}"/>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平行四边形 46">
                <a:extLst>
                  <a:ext uri="{FF2B5EF4-FFF2-40B4-BE49-F238E27FC236}">
                    <a16:creationId xmlns:a16="http://schemas.microsoft.com/office/drawing/2014/main" id="{0098CDF6-3915-46B9-B8A9-987EC22E0ED8}"/>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平行四边形 47">
                <a:extLst>
                  <a:ext uri="{FF2B5EF4-FFF2-40B4-BE49-F238E27FC236}">
                    <a16:creationId xmlns:a16="http://schemas.microsoft.com/office/drawing/2014/main" id="{56901AA5-1125-492B-80CC-12DC51B858B2}"/>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22" name="矩形: 剪去对角 21">
            <a:extLst>
              <a:ext uri="{FF2B5EF4-FFF2-40B4-BE49-F238E27FC236}">
                <a16:creationId xmlns:a16="http://schemas.microsoft.com/office/drawing/2014/main" id="{133F1FF8-D694-462C-9A20-1E4B7890B3E4}"/>
              </a:ext>
            </a:extLst>
          </p:cNvPr>
          <p:cNvSpPr/>
          <p:nvPr userDrawn="1"/>
        </p:nvSpPr>
        <p:spPr>
          <a:xfrm flipH="1" flipV="1">
            <a:off x="328080" y="1427140"/>
            <a:ext cx="11535840" cy="4049731"/>
          </a:xfrm>
          <a:prstGeom prst="snip2DiagRect">
            <a:avLst>
              <a:gd name="adj1" fmla="val 0"/>
              <a:gd name="adj2" fmla="val 4956"/>
            </a:avLst>
          </a:prstGeom>
          <a:solidFill>
            <a:schemeClr val="bg1"/>
          </a:solidFill>
          <a:ln w="12700">
            <a:solidFill>
              <a:srgbClr val="7FCFED">
                <a:alpha val="2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Tree>
    <p:extLst>
      <p:ext uri="{BB962C8B-B14F-4D97-AF65-F5344CB8AC3E}">
        <p14:creationId xmlns:p14="http://schemas.microsoft.com/office/powerpoint/2010/main" val="320725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36" name="矩形: 剪去对角 35">
            <a:extLst>
              <a:ext uri="{FF2B5EF4-FFF2-40B4-BE49-F238E27FC236}">
                <a16:creationId xmlns:a16="http://schemas.microsoft.com/office/drawing/2014/main" id="{DD792382-CE07-484F-A0C5-219D6371979D}"/>
              </a:ext>
            </a:extLst>
          </p:cNvPr>
          <p:cNvSpPr/>
          <p:nvPr userDrawn="1"/>
        </p:nvSpPr>
        <p:spPr>
          <a:xfrm flipH="1" flipV="1">
            <a:off x="208120" y="188425"/>
            <a:ext cx="11801155" cy="6517173"/>
          </a:xfrm>
          <a:prstGeom prst="snip2DiagRect">
            <a:avLst>
              <a:gd name="adj1" fmla="val 0"/>
              <a:gd name="adj2" fmla="val 4956"/>
            </a:avLst>
          </a:prstGeom>
          <a:solidFill>
            <a:schemeClr val="bg1"/>
          </a:solidFill>
          <a:ln w="12700">
            <a:solidFill>
              <a:srgbClr val="7ECFED">
                <a:alpha val="2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grpSp>
        <p:nvGrpSpPr>
          <p:cNvPr id="17" name="组合 16">
            <a:extLst>
              <a:ext uri="{FF2B5EF4-FFF2-40B4-BE49-F238E27FC236}">
                <a16:creationId xmlns:a16="http://schemas.microsoft.com/office/drawing/2014/main" id="{6AF55AB6-E0E1-419F-9954-67E6673673C8}"/>
              </a:ext>
            </a:extLst>
          </p:cNvPr>
          <p:cNvGrpSpPr/>
          <p:nvPr userDrawn="1"/>
        </p:nvGrpSpPr>
        <p:grpSpPr>
          <a:xfrm flipH="1" flipV="1">
            <a:off x="10985499" y="5752290"/>
            <a:ext cx="1206500" cy="1106886"/>
            <a:chOff x="0" y="0"/>
            <a:chExt cx="3336146" cy="3060700"/>
          </a:xfrm>
        </p:grpSpPr>
        <p:pic>
          <p:nvPicPr>
            <p:cNvPr id="18" name="图片 17">
              <a:extLst>
                <a:ext uri="{FF2B5EF4-FFF2-40B4-BE49-F238E27FC236}">
                  <a16:creationId xmlns:a16="http://schemas.microsoft.com/office/drawing/2014/main" id="{1968368A-E5C2-4F4A-9FF2-80076FADAEFD}"/>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19" name="组合 18">
              <a:extLst>
                <a:ext uri="{FF2B5EF4-FFF2-40B4-BE49-F238E27FC236}">
                  <a16:creationId xmlns:a16="http://schemas.microsoft.com/office/drawing/2014/main" id="{FA6C2BE6-C592-4848-B680-F7601A9A6072}"/>
                </a:ext>
              </a:extLst>
            </p:cNvPr>
            <p:cNvGrpSpPr/>
            <p:nvPr/>
          </p:nvGrpSpPr>
          <p:grpSpPr>
            <a:xfrm>
              <a:off x="0" y="0"/>
              <a:ext cx="1983086" cy="3060700"/>
              <a:chOff x="0" y="0"/>
              <a:chExt cx="1983086" cy="3060700"/>
            </a:xfrm>
          </p:grpSpPr>
          <p:sp>
            <p:nvSpPr>
              <p:cNvPr id="20" name="直角三角形 19">
                <a:extLst>
                  <a:ext uri="{FF2B5EF4-FFF2-40B4-BE49-F238E27FC236}">
                    <a16:creationId xmlns:a16="http://schemas.microsoft.com/office/drawing/2014/main" id="{57200FB3-9DCA-4B2F-8CD0-5E039692F027}"/>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平行四边形 20">
                <a:extLst>
                  <a:ext uri="{FF2B5EF4-FFF2-40B4-BE49-F238E27FC236}">
                    <a16:creationId xmlns:a16="http://schemas.microsoft.com/office/drawing/2014/main" id="{D19D8A16-80F6-4A3F-8941-1BB23D77F1F8}"/>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a:extLst>
                  <a:ext uri="{FF2B5EF4-FFF2-40B4-BE49-F238E27FC236}">
                    <a16:creationId xmlns:a16="http://schemas.microsoft.com/office/drawing/2014/main" id="{7000123D-359C-44D0-890A-C1EC0DAEB558}"/>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平行四边形 37">
                <a:extLst>
                  <a:ext uri="{FF2B5EF4-FFF2-40B4-BE49-F238E27FC236}">
                    <a16:creationId xmlns:a16="http://schemas.microsoft.com/office/drawing/2014/main" id="{BE6DFBCF-90C2-46E6-9168-EB435481F712}"/>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6" name="组合 15">
            <a:extLst>
              <a:ext uri="{FF2B5EF4-FFF2-40B4-BE49-F238E27FC236}">
                <a16:creationId xmlns:a16="http://schemas.microsoft.com/office/drawing/2014/main" id="{EAF5696C-147C-40A5-9DD0-75ABBB6AA487}"/>
              </a:ext>
            </a:extLst>
          </p:cNvPr>
          <p:cNvGrpSpPr/>
          <p:nvPr userDrawn="1"/>
        </p:nvGrpSpPr>
        <p:grpSpPr>
          <a:xfrm>
            <a:off x="0" y="0"/>
            <a:ext cx="1206500" cy="1106886"/>
            <a:chOff x="0" y="0"/>
            <a:chExt cx="3336146" cy="3060700"/>
          </a:xfrm>
        </p:grpSpPr>
        <p:pic>
          <p:nvPicPr>
            <p:cNvPr id="22" name="图片 21">
              <a:extLst>
                <a:ext uri="{FF2B5EF4-FFF2-40B4-BE49-F238E27FC236}">
                  <a16:creationId xmlns:a16="http://schemas.microsoft.com/office/drawing/2014/main" id="{5BF3F9A6-C122-4294-A096-EC0B00663EB1}"/>
                </a:ext>
              </a:extLst>
            </p:cNvPr>
            <p:cNvPicPr>
              <a:picLocks noChangeAspect="1"/>
            </p:cNvPicPr>
            <p:nvPr/>
          </p:nvPicPr>
          <p:blipFill>
            <a:blip r:embed="rId2"/>
            <a:stretch>
              <a:fillRect/>
            </a:stretch>
          </p:blipFill>
          <p:spPr>
            <a:xfrm>
              <a:off x="630028" y="2170"/>
              <a:ext cx="2706118" cy="2465259"/>
            </a:xfrm>
            <a:prstGeom prst="rect">
              <a:avLst/>
            </a:prstGeom>
          </p:spPr>
        </p:pic>
        <p:grpSp>
          <p:nvGrpSpPr>
            <p:cNvPr id="31" name="组合 30">
              <a:extLst>
                <a:ext uri="{FF2B5EF4-FFF2-40B4-BE49-F238E27FC236}">
                  <a16:creationId xmlns:a16="http://schemas.microsoft.com/office/drawing/2014/main" id="{FA670319-8C27-49AF-B16A-D3B3AF64587F}"/>
                </a:ext>
              </a:extLst>
            </p:cNvPr>
            <p:cNvGrpSpPr/>
            <p:nvPr/>
          </p:nvGrpSpPr>
          <p:grpSpPr>
            <a:xfrm>
              <a:off x="0" y="0"/>
              <a:ext cx="1983086" cy="3060700"/>
              <a:chOff x="0" y="0"/>
              <a:chExt cx="1983086" cy="3060700"/>
            </a:xfrm>
          </p:grpSpPr>
          <p:sp>
            <p:nvSpPr>
              <p:cNvPr id="32" name="直角三角形 31">
                <a:extLst>
                  <a:ext uri="{FF2B5EF4-FFF2-40B4-BE49-F238E27FC236}">
                    <a16:creationId xmlns:a16="http://schemas.microsoft.com/office/drawing/2014/main" id="{0963C6CE-02DD-452D-B60D-B6A686E1DABE}"/>
                  </a:ext>
                </a:extLst>
              </p:cNvPr>
              <p:cNvSpPr/>
              <p:nvPr/>
            </p:nvSpPr>
            <p:spPr>
              <a:xfrm rot="10800000" flipH="1">
                <a:off x="0" y="0"/>
                <a:ext cx="1983086" cy="3060700"/>
              </a:xfrm>
              <a:prstGeom prst="rtTriangle">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平行四边形 32">
                <a:extLst>
                  <a:ext uri="{FF2B5EF4-FFF2-40B4-BE49-F238E27FC236}">
                    <a16:creationId xmlns:a16="http://schemas.microsoft.com/office/drawing/2014/main" id="{40D64535-AB6E-42E4-BCA3-8549412845DA}"/>
                  </a:ext>
                </a:extLst>
              </p:cNvPr>
              <p:cNvSpPr/>
              <p:nvPr/>
            </p:nvSpPr>
            <p:spPr>
              <a:xfrm>
                <a:off x="505256" y="0"/>
                <a:ext cx="1061103" cy="1358900"/>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a:extLst>
                  <a:ext uri="{FF2B5EF4-FFF2-40B4-BE49-F238E27FC236}">
                    <a16:creationId xmlns:a16="http://schemas.microsoft.com/office/drawing/2014/main" id="{20E8AE14-2127-445F-A9CE-8A38552DEE17}"/>
                  </a:ext>
                </a:extLst>
              </p:cNvPr>
              <p:cNvSpPr/>
              <p:nvPr/>
            </p:nvSpPr>
            <p:spPr>
              <a:xfrm>
                <a:off x="109538" y="838951"/>
                <a:ext cx="632475" cy="809978"/>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平行四边形 34">
                <a:extLst>
                  <a:ext uri="{FF2B5EF4-FFF2-40B4-BE49-F238E27FC236}">
                    <a16:creationId xmlns:a16="http://schemas.microsoft.com/office/drawing/2014/main" id="{BF4E8B8F-9AF4-4805-923D-BDFFAFB7616B}"/>
                  </a:ext>
                </a:extLst>
              </p:cNvPr>
              <p:cNvSpPr/>
              <p:nvPr/>
            </p:nvSpPr>
            <p:spPr>
              <a:xfrm>
                <a:off x="205473" y="239228"/>
                <a:ext cx="632475" cy="809978"/>
              </a:xfrm>
              <a:prstGeom prst="parallelogram">
                <a:avLst>
                  <a:gd name="adj" fmla="val 853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Tree>
    <p:extLst>
      <p:ext uri="{BB962C8B-B14F-4D97-AF65-F5344CB8AC3E}">
        <p14:creationId xmlns:p14="http://schemas.microsoft.com/office/powerpoint/2010/main" val="4042633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8812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165532"/>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54" r:id="rId3"/>
    <p:sldLayoutId id="2147483651" r:id="rId4"/>
    <p:sldLayoutId id="2147483653" r:id="rId5"/>
  </p:sldLayoutIdLst>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a:extLst>
              <a:ext uri="{FF2B5EF4-FFF2-40B4-BE49-F238E27FC236}">
                <a16:creationId xmlns:a16="http://schemas.microsoft.com/office/drawing/2014/main" id="{C2D8BE96-E5DD-4B24-B4D6-B99B96BC7F59}"/>
              </a:ext>
            </a:extLst>
          </p:cNvPr>
          <p:cNvGrpSpPr/>
          <p:nvPr/>
        </p:nvGrpSpPr>
        <p:grpSpPr>
          <a:xfrm>
            <a:off x="4412059" y="3933923"/>
            <a:ext cx="1410615" cy="684827"/>
            <a:chOff x="3718718" y="4493461"/>
            <a:chExt cx="1410615" cy="684827"/>
          </a:xfrm>
        </p:grpSpPr>
        <p:sp>
          <p:nvSpPr>
            <p:cNvPr id="56" name="矩形: 圆角 55">
              <a:extLst>
                <a:ext uri="{FF2B5EF4-FFF2-40B4-BE49-F238E27FC236}">
                  <a16:creationId xmlns:a16="http://schemas.microsoft.com/office/drawing/2014/main" id="{B3225739-834F-43FE-97C2-337308943EF4}"/>
                </a:ext>
              </a:extLst>
            </p:cNvPr>
            <p:cNvSpPr/>
            <p:nvPr/>
          </p:nvSpPr>
          <p:spPr>
            <a:xfrm>
              <a:off x="3718718" y="4569661"/>
              <a:ext cx="111127" cy="439350"/>
            </a:xfrm>
            <a:prstGeom prst="roundRect">
              <a:avLst>
                <a:gd name="adj" fmla="val 50000"/>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F4F4D363-640E-4CAE-AA45-E5C890745AF0}"/>
                </a:ext>
              </a:extLst>
            </p:cNvPr>
            <p:cNvSpPr/>
            <p:nvPr/>
          </p:nvSpPr>
          <p:spPr>
            <a:xfrm>
              <a:off x="3918745" y="4493461"/>
              <a:ext cx="1210588" cy="400110"/>
            </a:xfrm>
            <a:prstGeom prst="rect">
              <a:avLst/>
            </a:prstGeom>
          </p:spPr>
          <p:txBody>
            <a:bodyPr wrap="none">
              <a:spAutoFit/>
            </a:bodyPr>
            <a:lstStyle/>
            <a:p>
              <a:r>
                <a:rPr lang="zh-CN" altLang="en-US" sz="2000" b="1" dirty="0">
                  <a:solidFill>
                    <a:srgbClr val="1974A2"/>
                  </a:solidFill>
                  <a:latin typeface="思源黑体 CN Bold" panose="020B0800000000000000" pitchFamily="34" charset="-122"/>
                  <a:ea typeface="思源黑体 CN Bold" panose="020B0800000000000000" pitchFamily="34" charset="-122"/>
                </a:rPr>
                <a:t>汇报人：</a:t>
              </a:r>
            </a:p>
          </p:txBody>
        </p:sp>
        <p:sp>
          <p:nvSpPr>
            <p:cNvPr id="58" name="矩形 57">
              <a:extLst>
                <a:ext uri="{FF2B5EF4-FFF2-40B4-BE49-F238E27FC236}">
                  <a16:creationId xmlns:a16="http://schemas.microsoft.com/office/drawing/2014/main" id="{F76D5065-54BB-470F-BDF0-7534733F7118}"/>
                </a:ext>
              </a:extLst>
            </p:cNvPr>
            <p:cNvSpPr/>
            <p:nvPr/>
          </p:nvSpPr>
          <p:spPr>
            <a:xfrm>
              <a:off x="3774281" y="4839734"/>
              <a:ext cx="1328569" cy="338554"/>
            </a:xfrm>
            <a:prstGeom prst="rect">
              <a:avLst/>
            </a:prstGeom>
          </p:spPr>
          <p:txBody>
            <a:bodyPr wrap="none">
              <a:spAutoFit/>
            </a:bodyPr>
            <a:lstStyle/>
            <a:p>
              <a:pPr algn="ctr"/>
              <a:r>
                <a:rPr lang="en-US" altLang="zh-CN" sz="1600" i="1" dirty="0">
                  <a:solidFill>
                    <a:srgbClr val="7FCFED">
                      <a:alpha val="80000"/>
                    </a:srgbClr>
                  </a:solidFill>
                  <a:latin typeface="思源黑体 CN Normal" panose="020B0400000000000000" pitchFamily="34" charset="-122"/>
                  <a:ea typeface="思源黑体 CN Normal" panose="020B0400000000000000" pitchFamily="34" charset="-122"/>
                </a:rPr>
                <a:t>Respondent</a:t>
              </a:r>
              <a:endParaRPr lang="zh-CN" altLang="en-US" sz="1600" i="1" dirty="0">
                <a:solidFill>
                  <a:srgbClr val="7FCFED">
                    <a:alpha val="80000"/>
                  </a:srgbClr>
                </a:solidFill>
                <a:latin typeface="思源黑体 CN Normal" panose="020B0400000000000000" pitchFamily="34" charset="-122"/>
                <a:ea typeface="思源黑体 CN Normal" panose="020B0400000000000000" pitchFamily="34" charset="-122"/>
              </a:endParaRPr>
            </a:p>
          </p:txBody>
        </p:sp>
      </p:grpSp>
      <p:sp>
        <p:nvSpPr>
          <p:cNvPr id="34" name="矩形 33">
            <a:extLst>
              <a:ext uri="{FF2B5EF4-FFF2-40B4-BE49-F238E27FC236}">
                <a16:creationId xmlns:a16="http://schemas.microsoft.com/office/drawing/2014/main" id="{1DD06F86-4458-4DED-991B-46E94D9B2680}"/>
              </a:ext>
            </a:extLst>
          </p:cNvPr>
          <p:cNvSpPr/>
          <p:nvPr/>
        </p:nvSpPr>
        <p:spPr>
          <a:xfrm>
            <a:off x="2155658" y="2924077"/>
            <a:ext cx="7880684" cy="523220"/>
          </a:xfrm>
          <a:prstGeom prst="rect">
            <a:avLst/>
          </a:prstGeom>
        </p:spPr>
        <p:txBody>
          <a:bodyPr wrap="none">
            <a:spAutoFit/>
          </a:bodyPr>
          <a:lstStyle/>
          <a:p>
            <a:r>
              <a:rPr lang="zh-CN" altLang="en-US" sz="2800" b="1" dirty="0">
                <a:solidFill>
                  <a:srgbClr val="1974A2"/>
                </a:solidFill>
                <a:latin typeface="思源黑体 CN Bold" panose="020B0800000000000000" pitchFamily="34" charset="-122"/>
                <a:ea typeface="思源黑体 CN Bold" panose="020B0800000000000000" pitchFamily="34" charset="-122"/>
              </a:rPr>
              <a:t>基于片上网络</a:t>
            </a:r>
            <a:r>
              <a:rPr lang="en-US" altLang="zh-CN" sz="2800" b="1" dirty="0">
                <a:solidFill>
                  <a:srgbClr val="1974A2"/>
                </a:solidFill>
                <a:latin typeface="思源黑体 CN Bold" panose="020B0800000000000000" pitchFamily="34" charset="-122"/>
                <a:ea typeface="思源黑体 CN Bold" panose="020B0800000000000000" pitchFamily="34" charset="-122"/>
              </a:rPr>
              <a:t>NOC</a:t>
            </a:r>
            <a:r>
              <a:rPr lang="zh-CN" altLang="en-US" sz="2800" b="1" dirty="0">
                <a:solidFill>
                  <a:srgbClr val="1974A2"/>
                </a:solidFill>
                <a:latin typeface="思源黑体 CN Bold" panose="020B0800000000000000" pitchFamily="34" charset="-122"/>
                <a:ea typeface="思源黑体 CN Bold" panose="020B0800000000000000" pitchFamily="34" charset="-122"/>
              </a:rPr>
              <a:t>设计的低功耗高性能</a:t>
            </a:r>
            <a:r>
              <a:rPr lang="en-US" altLang="zh-CN" sz="2800" b="1" dirty="0">
                <a:solidFill>
                  <a:srgbClr val="1974A2"/>
                </a:solidFill>
                <a:latin typeface="思源黑体 CN Bold" panose="020B0800000000000000" pitchFamily="34" charset="-122"/>
                <a:ea typeface="思源黑体 CN Bold" panose="020B0800000000000000" pitchFamily="34" charset="-122"/>
              </a:rPr>
              <a:t>SOC</a:t>
            </a:r>
            <a:r>
              <a:rPr lang="zh-CN" altLang="en-US" sz="2800" b="1" dirty="0">
                <a:solidFill>
                  <a:srgbClr val="1974A2"/>
                </a:solidFill>
                <a:latin typeface="思源黑体 CN Bold" panose="020B0800000000000000" pitchFamily="34" charset="-122"/>
                <a:ea typeface="思源黑体 CN Bold" panose="020B0800000000000000" pitchFamily="34" charset="-122"/>
              </a:rPr>
              <a:t>设计</a:t>
            </a:r>
          </a:p>
        </p:txBody>
      </p:sp>
      <p:grpSp>
        <p:nvGrpSpPr>
          <p:cNvPr id="67" name="组合 66">
            <a:extLst>
              <a:ext uri="{FF2B5EF4-FFF2-40B4-BE49-F238E27FC236}">
                <a16:creationId xmlns:a16="http://schemas.microsoft.com/office/drawing/2014/main" id="{658A7D83-7B02-4BCF-8EAD-49C68EFAD0CD}"/>
              </a:ext>
            </a:extLst>
          </p:cNvPr>
          <p:cNvGrpSpPr/>
          <p:nvPr/>
        </p:nvGrpSpPr>
        <p:grpSpPr>
          <a:xfrm>
            <a:off x="5861495" y="2013313"/>
            <a:ext cx="469010" cy="356750"/>
            <a:chOff x="5841912" y="1803517"/>
            <a:chExt cx="469010" cy="356750"/>
          </a:xfrm>
        </p:grpSpPr>
        <p:grpSp>
          <p:nvGrpSpPr>
            <p:cNvPr id="64" name="组合 63">
              <a:extLst>
                <a:ext uri="{FF2B5EF4-FFF2-40B4-BE49-F238E27FC236}">
                  <a16:creationId xmlns:a16="http://schemas.microsoft.com/office/drawing/2014/main" id="{E3DC4BB0-46B0-4170-B583-2D9BE6720223}"/>
                </a:ext>
              </a:extLst>
            </p:cNvPr>
            <p:cNvGrpSpPr/>
            <p:nvPr/>
          </p:nvGrpSpPr>
          <p:grpSpPr>
            <a:xfrm>
              <a:off x="5841912" y="1803517"/>
              <a:ext cx="387438" cy="356749"/>
              <a:chOff x="4941356" y="1303874"/>
              <a:chExt cx="526684" cy="484965"/>
            </a:xfrm>
          </p:grpSpPr>
          <p:sp>
            <p:nvSpPr>
              <p:cNvPr id="60" name="任意多边形: 形状 59">
                <a:extLst>
                  <a:ext uri="{FF2B5EF4-FFF2-40B4-BE49-F238E27FC236}">
                    <a16:creationId xmlns:a16="http://schemas.microsoft.com/office/drawing/2014/main" id="{488B5DAA-2707-48B8-BABE-0768EB36D330}"/>
                  </a:ext>
                </a:extLst>
              </p:cNvPr>
              <p:cNvSpPr/>
              <p:nvPr/>
            </p:nvSpPr>
            <p:spPr>
              <a:xfrm>
                <a:off x="4941356" y="1303874"/>
                <a:ext cx="526684" cy="277537"/>
              </a:xfrm>
              <a:custGeom>
                <a:avLst/>
                <a:gdLst>
                  <a:gd name="connsiteX0" fmla="*/ 845205 w 1691059"/>
                  <a:gd name="connsiteY0" fmla="*/ 891755 h 891108"/>
                  <a:gd name="connsiteX1" fmla="*/ 823298 w 1691059"/>
                  <a:gd name="connsiteY1" fmla="*/ 886040 h 891108"/>
                  <a:gd name="connsiteX2" fmla="*/ 24150 w 1691059"/>
                  <a:gd name="connsiteY2" fmla="*/ 459320 h 891108"/>
                  <a:gd name="connsiteX3" fmla="*/ 338 w 1691059"/>
                  <a:gd name="connsiteY3" fmla="*/ 417410 h 891108"/>
                  <a:gd name="connsiteX4" fmla="*/ 27960 w 1691059"/>
                  <a:gd name="connsiteY4" fmla="*/ 377405 h 891108"/>
                  <a:gd name="connsiteX5" fmla="*/ 881400 w 1691059"/>
                  <a:gd name="connsiteY5" fmla="*/ 4025 h 891108"/>
                  <a:gd name="connsiteX6" fmla="*/ 922358 w 1691059"/>
                  <a:gd name="connsiteY6" fmla="*/ 5930 h 891108"/>
                  <a:gd name="connsiteX7" fmla="*/ 1669118 w 1691059"/>
                  <a:gd name="connsiteY7" fmla="*/ 432650 h 891108"/>
                  <a:gd name="connsiteX8" fmla="*/ 1691978 w 1691059"/>
                  <a:gd name="connsiteY8" fmla="*/ 474560 h 891108"/>
                  <a:gd name="connsiteX9" fmla="*/ 1665308 w 1691059"/>
                  <a:gd name="connsiteY9" fmla="*/ 514565 h 891108"/>
                  <a:gd name="connsiteX10" fmla="*/ 865208 w 1691059"/>
                  <a:gd name="connsiteY10" fmla="*/ 887945 h 891108"/>
                  <a:gd name="connsiteX11" fmla="*/ 845205 w 1691059"/>
                  <a:gd name="connsiteY11" fmla="*/ 891755 h 891108"/>
                  <a:gd name="connsiteX12" fmla="*/ 149880 w 1691059"/>
                  <a:gd name="connsiteY12" fmla="*/ 423125 h 891108"/>
                  <a:gd name="connsiteX13" fmla="*/ 846158 w 1691059"/>
                  <a:gd name="connsiteY13" fmla="*/ 794600 h 891108"/>
                  <a:gd name="connsiteX14" fmla="*/ 1545293 w 1691059"/>
                  <a:gd name="connsiteY14" fmla="*/ 468845 h 891108"/>
                  <a:gd name="connsiteX15" fmla="*/ 895688 w 1691059"/>
                  <a:gd name="connsiteY15" fmla="*/ 97370 h 891108"/>
                  <a:gd name="connsiteX16" fmla="*/ 149880 w 1691059"/>
                  <a:gd name="connsiteY16" fmla="*/ 423125 h 89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91059" h="891108">
                    <a:moveTo>
                      <a:pt x="845205" y="891755"/>
                    </a:moveTo>
                    <a:cubicBezTo>
                      <a:pt x="837585" y="891755"/>
                      <a:pt x="829965" y="889850"/>
                      <a:pt x="823298" y="886040"/>
                    </a:cubicBezTo>
                    <a:lnTo>
                      <a:pt x="24150" y="459320"/>
                    </a:lnTo>
                    <a:cubicBezTo>
                      <a:pt x="8910" y="450748"/>
                      <a:pt x="-615" y="434555"/>
                      <a:pt x="338" y="417410"/>
                    </a:cubicBezTo>
                    <a:cubicBezTo>
                      <a:pt x="1290" y="400265"/>
                      <a:pt x="11768" y="384073"/>
                      <a:pt x="27960" y="377405"/>
                    </a:cubicBezTo>
                    <a:lnTo>
                      <a:pt x="881400" y="4025"/>
                    </a:lnTo>
                    <a:cubicBezTo>
                      <a:pt x="894735" y="-1690"/>
                      <a:pt x="909975" y="-737"/>
                      <a:pt x="922358" y="5930"/>
                    </a:cubicBezTo>
                    <a:lnTo>
                      <a:pt x="1669118" y="432650"/>
                    </a:lnTo>
                    <a:cubicBezTo>
                      <a:pt x="1684358" y="441223"/>
                      <a:pt x="1692930" y="457415"/>
                      <a:pt x="1691978" y="474560"/>
                    </a:cubicBezTo>
                    <a:cubicBezTo>
                      <a:pt x="1691026" y="491705"/>
                      <a:pt x="1681501" y="506945"/>
                      <a:pt x="1665308" y="514565"/>
                    </a:cubicBezTo>
                    <a:lnTo>
                      <a:pt x="865208" y="887945"/>
                    </a:lnTo>
                    <a:cubicBezTo>
                      <a:pt x="858540" y="889850"/>
                      <a:pt x="851873" y="891755"/>
                      <a:pt x="845205" y="891755"/>
                    </a:cubicBezTo>
                    <a:close/>
                    <a:moveTo>
                      <a:pt x="149880" y="423125"/>
                    </a:moveTo>
                    <a:lnTo>
                      <a:pt x="846158" y="794600"/>
                    </a:lnTo>
                    <a:lnTo>
                      <a:pt x="1545293" y="468845"/>
                    </a:lnTo>
                    <a:lnTo>
                      <a:pt x="895688" y="97370"/>
                    </a:lnTo>
                    <a:lnTo>
                      <a:pt x="149880" y="423125"/>
                    </a:ln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sp>
            <p:nvSpPr>
              <p:cNvPr id="61" name="任意多边形: 形状 60">
                <a:extLst>
                  <a:ext uri="{FF2B5EF4-FFF2-40B4-BE49-F238E27FC236}">
                    <a16:creationId xmlns:a16="http://schemas.microsoft.com/office/drawing/2014/main" id="{A746AD4E-F400-42A1-A14A-B979AA18249E}"/>
                  </a:ext>
                </a:extLst>
              </p:cNvPr>
              <p:cNvSpPr/>
              <p:nvPr/>
            </p:nvSpPr>
            <p:spPr>
              <a:xfrm>
                <a:off x="5023053" y="1581410"/>
                <a:ext cx="363291" cy="207429"/>
              </a:xfrm>
              <a:custGeom>
                <a:avLst/>
                <a:gdLst>
                  <a:gd name="connsiteX0" fmla="*/ 590823 w 1166440"/>
                  <a:gd name="connsiteY0" fmla="*/ 667023 h 666005"/>
                  <a:gd name="connsiteX1" fmla="*/ 25990 w 1166440"/>
                  <a:gd name="connsiteY1" fmla="*/ 547960 h 666005"/>
                  <a:gd name="connsiteX2" fmla="*/ 273 w 1166440"/>
                  <a:gd name="connsiteY2" fmla="*/ 507003 h 666005"/>
                  <a:gd name="connsiteX3" fmla="*/ 273 w 1166440"/>
                  <a:gd name="connsiteY3" fmla="*/ 45992 h 666005"/>
                  <a:gd name="connsiteX4" fmla="*/ 45993 w 1166440"/>
                  <a:gd name="connsiteY4" fmla="*/ 273 h 666005"/>
                  <a:gd name="connsiteX5" fmla="*/ 91713 w 1166440"/>
                  <a:gd name="connsiteY5" fmla="*/ 45992 h 666005"/>
                  <a:gd name="connsiteX6" fmla="*/ 91713 w 1166440"/>
                  <a:gd name="connsiteY6" fmla="*/ 477475 h 666005"/>
                  <a:gd name="connsiteX7" fmla="*/ 1075645 w 1166440"/>
                  <a:gd name="connsiteY7" fmla="*/ 477475 h 666005"/>
                  <a:gd name="connsiteX8" fmla="*/ 1075645 w 1166440"/>
                  <a:gd name="connsiteY8" fmla="*/ 97428 h 666005"/>
                  <a:gd name="connsiteX9" fmla="*/ 1121365 w 1166440"/>
                  <a:gd name="connsiteY9" fmla="*/ 51708 h 666005"/>
                  <a:gd name="connsiteX10" fmla="*/ 1167085 w 1166440"/>
                  <a:gd name="connsiteY10" fmla="*/ 97428 h 666005"/>
                  <a:gd name="connsiteX11" fmla="*/ 1167085 w 1166440"/>
                  <a:gd name="connsiteY11" fmla="*/ 507003 h 666005"/>
                  <a:gd name="connsiteX12" fmla="*/ 1140415 w 1166440"/>
                  <a:gd name="connsiteY12" fmla="*/ 548913 h 666005"/>
                  <a:gd name="connsiteX13" fmla="*/ 590823 w 1166440"/>
                  <a:gd name="connsiteY13" fmla="*/ 667023 h 6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6440" h="666005">
                    <a:moveTo>
                      <a:pt x="590823" y="667023"/>
                    </a:moveTo>
                    <a:cubicBezTo>
                      <a:pt x="269830" y="667023"/>
                      <a:pt x="40278" y="554628"/>
                      <a:pt x="25990" y="547960"/>
                    </a:cubicBezTo>
                    <a:cubicBezTo>
                      <a:pt x="10750" y="540340"/>
                      <a:pt x="273" y="524148"/>
                      <a:pt x="273" y="507003"/>
                    </a:cubicBezTo>
                    <a:lnTo>
                      <a:pt x="273" y="45992"/>
                    </a:lnTo>
                    <a:cubicBezTo>
                      <a:pt x="273" y="21228"/>
                      <a:pt x="20275" y="273"/>
                      <a:pt x="45993" y="273"/>
                    </a:cubicBezTo>
                    <a:cubicBezTo>
                      <a:pt x="71710" y="273"/>
                      <a:pt x="91713" y="20275"/>
                      <a:pt x="91713" y="45992"/>
                    </a:cubicBezTo>
                    <a:lnTo>
                      <a:pt x="91713" y="477475"/>
                    </a:lnTo>
                    <a:cubicBezTo>
                      <a:pt x="197440" y="521290"/>
                      <a:pt x="619398" y="671785"/>
                      <a:pt x="1075645" y="477475"/>
                    </a:cubicBezTo>
                    <a:lnTo>
                      <a:pt x="1075645" y="97428"/>
                    </a:lnTo>
                    <a:cubicBezTo>
                      <a:pt x="1075645" y="72662"/>
                      <a:pt x="1095648" y="51708"/>
                      <a:pt x="1121365" y="51708"/>
                    </a:cubicBezTo>
                    <a:cubicBezTo>
                      <a:pt x="1147083" y="51708"/>
                      <a:pt x="1167085" y="71710"/>
                      <a:pt x="1167085" y="97428"/>
                    </a:cubicBezTo>
                    <a:lnTo>
                      <a:pt x="1167085" y="507003"/>
                    </a:lnTo>
                    <a:cubicBezTo>
                      <a:pt x="1167085" y="525100"/>
                      <a:pt x="1156608" y="541293"/>
                      <a:pt x="1140415" y="548913"/>
                    </a:cubicBezTo>
                    <a:cubicBezTo>
                      <a:pt x="944200" y="637495"/>
                      <a:pt x="755605" y="667023"/>
                      <a:pt x="590823" y="667023"/>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sp>
          <p:nvSpPr>
            <p:cNvPr id="62" name="任意多边形: 形状 61">
              <a:extLst>
                <a:ext uri="{FF2B5EF4-FFF2-40B4-BE49-F238E27FC236}">
                  <a16:creationId xmlns:a16="http://schemas.microsoft.com/office/drawing/2014/main" id="{7516A9E1-74EA-4E10-9C90-1E52664DE8D6}"/>
                </a:ext>
              </a:extLst>
            </p:cNvPr>
            <p:cNvSpPr/>
            <p:nvPr/>
          </p:nvSpPr>
          <p:spPr>
            <a:xfrm>
              <a:off x="6282531" y="2049020"/>
              <a:ext cx="28391" cy="111247"/>
            </a:xfrm>
            <a:custGeom>
              <a:avLst/>
              <a:gdLst>
                <a:gd name="connsiteX0" fmla="*/ 45992 w 91157"/>
                <a:gd name="connsiteY0" fmla="*/ 358412 h 357187"/>
                <a:gd name="connsiteX1" fmla="*/ 273 w 91157"/>
                <a:gd name="connsiteY1" fmla="*/ 312692 h 357187"/>
                <a:gd name="connsiteX2" fmla="*/ 273 w 91157"/>
                <a:gd name="connsiteY2" fmla="*/ 45992 h 357187"/>
                <a:gd name="connsiteX3" fmla="*/ 45992 w 91157"/>
                <a:gd name="connsiteY3" fmla="*/ 273 h 357187"/>
                <a:gd name="connsiteX4" fmla="*/ 91713 w 91157"/>
                <a:gd name="connsiteY4" fmla="*/ 45992 h 357187"/>
                <a:gd name="connsiteX5" fmla="*/ 91713 w 91157"/>
                <a:gd name="connsiteY5" fmla="*/ 312692 h 357187"/>
                <a:gd name="connsiteX6" fmla="*/ 45992 w 91157"/>
                <a:gd name="connsiteY6" fmla="*/ 358412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57" h="357187">
                  <a:moveTo>
                    <a:pt x="45992" y="358412"/>
                  </a:moveTo>
                  <a:cubicBezTo>
                    <a:pt x="20275" y="358412"/>
                    <a:pt x="273" y="338410"/>
                    <a:pt x="273" y="312692"/>
                  </a:cubicBezTo>
                  <a:lnTo>
                    <a:pt x="273" y="45992"/>
                  </a:lnTo>
                  <a:cubicBezTo>
                    <a:pt x="273" y="21227"/>
                    <a:pt x="20275" y="273"/>
                    <a:pt x="45992" y="273"/>
                  </a:cubicBezTo>
                  <a:cubicBezTo>
                    <a:pt x="71710" y="273"/>
                    <a:pt x="91713" y="20275"/>
                    <a:pt x="91713" y="45992"/>
                  </a:cubicBezTo>
                  <a:lnTo>
                    <a:pt x="91713" y="312692"/>
                  </a:lnTo>
                  <a:cubicBezTo>
                    <a:pt x="91713" y="337458"/>
                    <a:pt x="71710" y="358412"/>
                    <a:pt x="45992" y="358412"/>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spTree>
    <p:extLst>
      <p:ext uri="{BB962C8B-B14F-4D97-AF65-F5344CB8AC3E}">
        <p14:creationId xmlns:p14="http://schemas.microsoft.com/office/powerpoint/2010/main" val="11033476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anim calcmode="lin" valueType="num">
                                      <p:cBhvr>
                                        <p:cTn id="8" dur="1000" fill="hold"/>
                                        <p:tgtEl>
                                          <p:spTgt spid="55"/>
                                        </p:tgtEl>
                                        <p:attrNameLst>
                                          <p:attrName>ppt_x</p:attrName>
                                        </p:attrNameLst>
                                      </p:cBhvr>
                                      <p:tavLst>
                                        <p:tav tm="0">
                                          <p:val>
                                            <p:strVal val="#ppt_x"/>
                                          </p:val>
                                        </p:tav>
                                        <p:tav tm="100000">
                                          <p:val>
                                            <p:strVal val="#ppt_x"/>
                                          </p:val>
                                        </p:tav>
                                      </p:tavLst>
                                    </p:anim>
                                    <p:anim calcmode="lin" valueType="num">
                                      <p:cBhvr>
                                        <p:cTn id="9"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855F98E9-19C5-4000-9F1F-054D9BAC4C70}"/>
              </a:ext>
            </a:extLst>
          </p:cNvPr>
          <p:cNvGrpSpPr/>
          <p:nvPr/>
        </p:nvGrpSpPr>
        <p:grpSpPr>
          <a:xfrm>
            <a:off x="1680302" y="2270532"/>
            <a:ext cx="3332059" cy="1961824"/>
            <a:chOff x="2975831" y="1204375"/>
            <a:chExt cx="3332059" cy="1961824"/>
          </a:xfrm>
        </p:grpSpPr>
        <p:sp>
          <p:nvSpPr>
            <p:cNvPr id="42" name="矩形 41">
              <a:extLst>
                <a:ext uri="{FF2B5EF4-FFF2-40B4-BE49-F238E27FC236}">
                  <a16:creationId xmlns:a16="http://schemas.microsoft.com/office/drawing/2014/main" id="{9FAEBF96-ED19-4D6B-8FBA-9F415702BA01}"/>
                </a:ext>
              </a:extLst>
            </p:cNvPr>
            <p:cNvSpPr/>
            <p:nvPr/>
          </p:nvSpPr>
          <p:spPr>
            <a:xfrm>
              <a:off x="3828725" y="2519868"/>
              <a:ext cx="1316386" cy="646331"/>
            </a:xfrm>
            <a:prstGeom prst="rect">
              <a:avLst/>
            </a:prstGeom>
          </p:spPr>
          <p:txBody>
            <a:bodyPr wrap="none">
              <a:spAutoFit/>
            </a:bodyPr>
            <a:lstStyle/>
            <a:p>
              <a:r>
                <a:rPr lang="zh-CN" altLang="en-US" sz="3600" b="1" dirty="0">
                  <a:solidFill>
                    <a:schemeClr val="bg1"/>
                  </a:solidFill>
                  <a:latin typeface="思源黑体 CN Bold" panose="020B0800000000000000" pitchFamily="34" charset="-122"/>
                  <a:ea typeface="思源黑体 CN Bold" panose="020B0800000000000000" pitchFamily="34" charset="-122"/>
                </a:rPr>
                <a:t>目  录</a:t>
              </a:r>
            </a:p>
          </p:txBody>
        </p:sp>
        <p:sp>
          <p:nvSpPr>
            <p:cNvPr id="44" name="平行四边形 43">
              <a:extLst>
                <a:ext uri="{FF2B5EF4-FFF2-40B4-BE49-F238E27FC236}">
                  <a16:creationId xmlns:a16="http://schemas.microsoft.com/office/drawing/2014/main" id="{58FD0A88-80F5-4FDF-AB53-74A09D3CFB72}"/>
                </a:ext>
              </a:extLst>
            </p:cNvPr>
            <p:cNvSpPr/>
            <p:nvPr/>
          </p:nvSpPr>
          <p:spPr>
            <a:xfrm>
              <a:off x="3508776" y="1383732"/>
              <a:ext cx="496547" cy="635902"/>
            </a:xfrm>
            <a:prstGeom prst="parallelogram">
              <a:avLst>
                <a:gd name="adj" fmla="val 85372"/>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483E6FB2-40EC-4423-A7BA-CB0CC30F3AE2}"/>
                </a:ext>
              </a:extLst>
            </p:cNvPr>
            <p:cNvSpPr/>
            <p:nvPr/>
          </p:nvSpPr>
          <p:spPr>
            <a:xfrm>
              <a:off x="2975831" y="1620719"/>
              <a:ext cx="3022174" cy="1015663"/>
            </a:xfrm>
            <a:prstGeom prst="rect">
              <a:avLst/>
            </a:prstGeom>
          </p:spPr>
          <p:txBody>
            <a:bodyPr wrap="none">
              <a:spAutoFit/>
            </a:bodyPr>
            <a:lstStyle/>
            <a:p>
              <a:r>
                <a:rPr lang="en-US" altLang="zh-CN" sz="6000" b="1" dirty="0">
                  <a:solidFill>
                    <a:schemeClr val="bg1"/>
                  </a:solidFill>
                  <a:latin typeface="思源黑体 CN Bold" panose="020B0800000000000000" pitchFamily="34" charset="-122"/>
                  <a:ea typeface="思源黑体 CN Bold" panose="020B0800000000000000" pitchFamily="34" charset="-122"/>
                </a:rPr>
                <a:t>C</a:t>
              </a:r>
              <a:r>
                <a:rPr lang="en-US" altLang="zh-CN" sz="4800" b="1" dirty="0">
                  <a:solidFill>
                    <a:schemeClr val="bg1"/>
                  </a:solidFill>
                  <a:latin typeface="思源黑体 CN Bold" panose="020B0800000000000000" pitchFamily="34" charset="-122"/>
                  <a:ea typeface="思源黑体 CN Bold" panose="020B0800000000000000" pitchFamily="34" charset="-122"/>
                </a:rPr>
                <a:t>ontents</a:t>
              </a:r>
              <a:endParaRPr lang="zh-CN" altLang="en-US" sz="4800" b="1" dirty="0">
                <a:solidFill>
                  <a:schemeClr val="bg1"/>
                </a:solidFill>
                <a:latin typeface="思源黑体 CN Bold" panose="020B0800000000000000" pitchFamily="34" charset="-122"/>
                <a:ea typeface="思源黑体 CN Bold" panose="020B0800000000000000" pitchFamily="34" charset="-122"/>
              </a:endParaRPr>
            </a:p>
          </p:txBody>
        </p:sp>
        <p:grpSp>
          <p:nvGrpSpPr>
            <p:cNvPr id="46" name="组合 45">
              <a:extLst>
                <a:ext uri="{FF2B5EF4-FFF2-40B4-BE49-F238E27FC236}">
                  <a16:creationId xmlns:a16="http://schemas.microsoft.com/office/drawing/2014/main" id="{C521821B-7881-4E3B-89E4-71DF933D8D05}"/>
                </a:ext>
              </a:extLst>
            </p:cNvPr>
            <p:cNvGrpSpPr/>
            <p:nvPr/>
          </p:nvGrpSpPr>
          <p:grpSpPr>
            <a:xfrm>
              <a:off x="5884111" y="1204375"/>
              <a:ext cx="423779" cy="320610"/>
              <a:chOff x="5967956" y="1536834"/>
              <a:chExt cx="469010" cy="354830"/>
            </a:xfrm>
          </p:grpSpPr>
          <p:grpSp>
            <p:nvGrpSpPr>
              <p:cNvPr id="47" name="组合 46">
                <a:extLst>
                  <a:ext uri="{FF2B5EF4-FFF2-40B4-BE49-F238E27FC236}">
                    <a16:creationId xmlns:a16="http://schemas.microsoft.com/office/drawing/2014/main" id="{DEA57E58-54A6-4BBD-AD95-D1B1BACAFA2C}"/>
                  </a:ext>
                </a:extLst>
              </p:cNvPr>
              <p:cNvGrpSpPr/>
              <p:nvPr/>
            </p:nvGrpSpPr>
            <p:grpSpPr>
              <a:xfrm>
                <a:off x="5967956" y="1536834"/>
                <a:ext cx="387438" cy="354830"/>
                <a:chOff x="4941356" y="961075"/>
                <a:chExt cx="526684" cy="482356"/>
              </a:xfrm>
            </p:grpSpPr>
            <p:sp>
              <p:nvSpPr>
                <p:cNvPr id="52" name="任意多边形: 形状 51">
                  <a:extLst>
                    <a:ext uri="{FF2B5EF4-FFF2-40B4-BE49-F238E27FC236}">
                      <a16:creationId xmlns:a16="http://schemas.microsoft.com/office/drawing/2014/main" id="{8E5FE18E-75F6-4B43-8000-5C24D895DA94}"/>
                    </a:ext>
                  </a:extLst>
                </p:cNvPr>
                <p:cNvSpPr/>
                <p:nvPr/>
              </p:nvSpPr>
              <p:spPr>
                <a:xfrm>
                  <a:off x="4941356" y="961075"/>
                  <a:ext cx="526684" cy="277537"/>
                </a:xfrm>
                <a:custGeom>
                  <a:avLst/>
                  <a:gdLst>
                    <a:gd name="connsiteX0" fmla="*/ 845205 w 1691059"/>
                    <a:gd name="connsiteY0" fmla="*/ 891755 h 891108"/>
                    <a:gd name="connsiteX1" fmla="*/ 823298 w 1691059"/>
                    <a:gd name="connsiteY1" fmla="*/ 886040 h 891108"/>
                    <a:gd name="connsiteX2" fmla="*/ 24150 w 1691059"/>
                    <a:gd name="connsiteY2" fmla="*/ 459320 h 891108"/>
                    <a:gd name="connsiteX3" fmla="*/ 338 w 1691059"/>
                    <a:gd name="connsiteY3" fmla="*/ 417410 h 891108"/>
                    <a:gd name="connsiteX4" fmla="*/ 27960 w 1691059"/>
                    <a:gd name="connsiteY4" fmla="*/ 377405 h 891108"/>
                    <a:gd name="connsiteX5" fmla="*/ 881400 w 1691059"/>
                    <a:gd name="connsiteY5" fmla="*/ 4025 h 891108"/>
                    <a:gd name="connsiteX6" fmla="*/ 922358 w 1691059"/>
                    <a:gd name="connsiteY6" fmla="*/ 5930 h 891108"/>
                    <a:gd name="connsiteX7" fmla="*/ 1669118 w 1691059"/>
                    <a:gd name="connsiteY7" fmla="*/ 432650 h 891108"/>
                    <a:gd name="connsiteX8" fmla="*/ 1691978 w 1691059"/>
                    <a:gd name="connsiteY8" fmla="*/ 474560 h 891108"/>
                    <a:gd name="connsiteX9" fmla="*/ 1665308 w 1691059"/>
                    <a:gd name="connsiteY9" fmla="*/ 514565 h 891108"/>
                    <a:gd name="connsiteX10" fmla="*/ 865208 w 1691059"/>
                    <a:gd name="connsiteY10" fmla="*/ 887945 h 891108"/>
                    <a:gd name="connsiteX11" fmla="*/ 845205 w 1691059"/>
                    <a:gd name="connsiteY11" fmla="*/ 891755 h 891108"/>
                    <a:gd name="connsiteX12" fmla="*/ 149880 w 1691059"/>
                    <a:gd name="connsiteY12" fmla="*/ 423125 h 891108"/>
                    <a:gd name="connsiteX13" fmla="*/ 846158 w 1691059"/>
                    <a:gd name="connsiteY13" fmla="*/ 794600 h 891108"/>
                    <a:gd name="connsiteX14" fmla="*/ 1545293 w 1691059"/>
                    <a:gd name="connsiteY14" fmla="*/ 468845 h 891108"/>
                    <a:gd name="connsiteX15" fmla="*/ 895688 w 1691059"/>
                    <a:gd name="connsiteY15" fmla="*/ 97370 h 891108"/>
                    <a:gd name="connsiteX16" fmla="*/ 149880 w 1691059"/>
                    <a:gd name="connsiteY16" fmla="*/ 423125 h 89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91059" h="891108">
                      <a:moveTo>
                        <a:pt x="845205" y="891755"/>
                      </a:moveTo>
                      <a:cubicBezTo>
                        <a:pt x="837585" y="891755"/>
                        <a:pt x="829965" y="889850"/>
                        <a:pt x="823298" y="886040"/>
                      </a:cubicBezTo>
                      <a:lnTo>
                        <a:pt x="24150" y="459320"/>
                      </a:lnTo>
                      <a:cubicBezTo>
                        <a:pt x="8910" y="450748"/>
                        <a:pt x="-615" y="434555"/>
                        <a:pt x="338" y="417410"/>
                      </a:cubicBezTo>
                      <a:cubicBezTo>
                        <a:pt x="1290" y="400265"/>
                        <a:pt x="11768" y="384073"/>
                        <a:pt x="27960" y="377405"/>
                      </a:cubicBezTo>
                      <a:lnTo>
                        <a:pt x="881400" y="4025"/>
                      </a:lnTo>
                      <a:cubicBezTo>
                        <a:pt x="894735" y="-1690"/>
                        <a:pt x="909975" y="-737"/>
                        <a:pt x="922358" y="5930"/>
                      </a:cubicBezTo>
                      <a:lnTo>
                        <a:pt x="1669118" y="432650"/>
                      </a:lnTo>
                      <a:cubicBezTo>
                        <a:pt x="1684358" y="441223"/>
                        <a:pt x="1692930" y="457415"/>
                        <a:pt x="1691978" y="474560"/>
                      </a:cubicBezTo>
                      <a:cubicBezTo>
                        <a:pt x="1691026" y="491705"/>
                        <a:pt x="1681501" y="506945"/>
                        <a:pt x="1665308" y="514565"/>
                      </a:cubicBezTo>
                      <a:lnTo>
                        <a:pt x="865208" y="887945"/>
                      </a:lnTo>
                      <a:cubicBezTo>
                        <a:pt x="858540" y="889850"/>
                        <a:pt x="851873" y="891755"/>
                        <a:pt x="845205" y="891755"/>
                      </a:cubicBezTo>
                      <a:close/>
                      <a:moveTo>
                        <a:pt x="149880" y="423125"/>
                      </a:moveTo>
                      <a:lnTo>
                        <a:pt x="846158" y="794600"/>
                      </a:lnTo>
                      <a:lnTo>
                        <a:pt x="1545293" y="468845"/>
                      </a:lnTo>
                      <a:lnTo>
                        <a:pt x="895688" y="97370"/>
                      </a:lnTo>
                      <a:lnTo>
                        <a:pt x="149880" y="423125"/>
                      </a:ln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sp>
              <p:nvSpPr>
                <p:cNvPr id="59" name="任意多边形: 形状 58">
                  <a:extLst>
                    <a:ext uri="{FF2B5EF4-FFF2-40B4-BE49-F238E27FC236}">
                      <a16:creationId xmlns:a16="http://schemas.microsoft.com/office/drawing/2014/main" id="{5CD97E51-1A45-4155-AF67-79CBA6F7B1E9}"/>
                    </a:ext>
                  </a:extLst>
                </p:cNvPr>
                <p:cNvSpPr/>
                <p:nvPr/>
              </p:nvSpPr>
              <p:spPr>
                <a:xfrm>
                  <a:off x="5023053" y="1236002"/>
                  <a:ext cx="363290" cy="207429"/>
                </a:xfrm>
                <a:custGeom>
                  <a:avLst/>
                  <a:gdLst>
                    <a:gd name="connsiteX0" fmla="*/ 590823 w 1166440"/>
                    <a:gd name="connsiteY0" fmla="*/ 667023 h 666005"/>
                    <a:gd name="connsiteX1" fmla="*/ 25990 w 1166440"/>
                    <a:gd name="connsiteY1" fmla="*/ 547960 h 666005"/>
                    <a:gd name="connsiteX2" fmla="*/ 273 w 1166440"/>
                    <a:gd name="connsiteY2" fmla="*/ 507003 h 666005"/>
                    <a:gd name="connsiteX3" fmla="*/ 273 w 1166440"/>
                    <a:gd name="connsiteY3" fmla="*/ 45992 h 666005"/>
                    <a:gd name="connsiteX4" fmla="*/ 45993 w 1166440"/>
                    <a:gd name="connsiteY4" fmla="*/ 273 h 666005"/>
                    <a:gd name="connsiteX5" fmla="*/ 91713 w 1166440"/>
                    <a:gd name="connsiteY5" fmla="*/ 45992 h 666005"/>
                    <a:gd name="connsiteX6" fmla="*/ 91713 w 1166440"/>
                    <a:gd name="connsiteY6" fmla="*/ 477475 h 666005"/>
                    <a:gd name="connsiteX7" fmla="*/ 1075645 w 1166440"/>
                    <a:gd name="connsiteY7" fmla="*/ 477475 h 666005"/>
                    <a:gd name="connsiteX8" fmla="*/ 1075645 w 1166440"/>
                    <a:gd name="connsiteY8" fmla="*/ 97428 h 666005"/>
                    <a:gd name="connsiteX9" fmla="*/ 1121365 w 1166440"/>
                    <a:gd name="connsiteY9" fmla="*/ 51708 h 666005"/>
                    <a:gd name="connsiteX10" fmla="*/ 1167085 w 1166440"/>
                    <a:gd name="connsiteY10" fmla="*/ 97428 h 666005"/>
                    <a:gd name="connsiteX11" fmla="*/ 1167085 w 1166440"/>
                    <a:gd name="connsiteY11" fmla="*/ 507003 h 666005"/>
                    <a:gd name="connsiteX12" fmla="*/ 1140415 w 1166440"/>
                    <a:gd name="connsiteY12" fmla="*/ 548913 h 666005"/>
                    <a:gd name="connsiteX13" fmla="*/ 590823 w 1166440"/>
                    <a:gd name="connsiteY13" fmla="*/ 667023 h 6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6440" h="666005">
                      <a:moveTo>
                        <a:pt x="590823" y="667023"/>
                      </a:moveTo>
                      <a:cubicBezTo>
                        <a:pt x="269830" y="667023"/>
                        <a:pt x="40278" y="554628"/>
                        <a:pt x="25990" y="547960"/>
                      </a:cubicBezTo>
                      <a:cubicBezTo>
                        <a:pt x="10750" y="540340"/>
                        <a:pt x="273" y="524148"/>
                        <a:pt x="273" y="507003"/>
                      </a:cubicBezTo>
                      <a:lnTo>
                        <a:pt x="273" y="45992"/>
                      </a:lnTo>
                      <a:cubicBezTo>
                        <a:pt x="273" y="21228"/>
                        <a:pt x="20275" y="273"/>
                        <a:pt x="45993" y="273"/>
                      </a:cubicBezTo>
                      <a:cubicBezTo>
                        <a:pt x="71710" y="273"/>
                        <a:pt x="91713" y="20275"/>
                        <a:pt x="91713" y="45992"/>
                      </a:cubicBezTo>
                      <a:lnTo>
                        <a:pt x="91713" y="477475"/>
                      </a:lnTo>
                      <a:cubicBezTo>
                        <a:pt x="197440" y="521290"/>
                        <a:pt x="619398" y="671785"/>
                        <a:pt x="1075645" y="477475"/>
                      </a:cubicBezTo>
                      <a:lnTo>
                        <a:pt x="1075645" y="97428"/>
                      </a:lnTo>
                      <a:cubicBezTo>
                        <a:pt x="1075645" y="72662"/>
                        <a:pt x="1095648" y="51708"/>
                        <a:pt x="1121365" y="51708"/>
                      </a:cubicBezTo>
                      <a:cubicBezTo>
                        <a:pt x="1147083" y="51708"/>
                        <a:pt x="1167085" y="71710"/>
                        <a:pt x="1167085" y="97428"/>
                      </a:cubicBezTo>
                      <a:lnTo>
                        <a:pt x="1167085" y="507003"/>
                      </a:lnTo>
                      <a:cubicBezTo>
                        <a:pt x="1167085" y="525100"/>
                        <a:pt x="1156608" y="541293"/>
                        <a:pt x="1140415" y="548913"/>
                      </a:cubicBezTo>
                      <a:cubicBezTo>
                        <a:pt x="944200" y="637495"/>
                        <a:pt x="755605" y="667023"/>
                        <a:pt x="590823" y="667023"/>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sp>
            <p:nvSpPr>
              <p:cNvPr id="50" name="任意多边形: 形状 49">
                <a:extLst>
                  <a:ext uri="{FF2B5EF4-FFF2-40B4-BE49-F238E27FC236}">
                    <a16:creationId xmlns:a16="http://schemas.microsoft.com/office/drawing/2014/main" id="{36E5014C-9607-44A8-BB59-3708D1CB569A}"/>
                  </a:ext>
                </a:extLst>
              </p:cNvPr>
              <p:cNvSpPr/>
              <p:nvPr/>
            </p:nvSpPr>
            <p:spPr>
              <a:xfrm>
                <a:off x="6408575" y="1780417"/>
                <a:ext cx="28391" cy="111247"/>
              </a:xfrm>
              <a:custGeom>
                <a:avLst/>
                <a:gdLst>
                  <a:gd name="connsiteX0" fmla="*/ 45992 w 91157"/>
                  <a:gd name="connsiteY0" fmla="*/ 358412 h 357187"/>
                  <a:gd name="connsiteX1" fmla="*/ 273 w 91157"/>
                  <a:gd name="connsiteY1" fmla="*/ 312692 h 357187"/>
                  <a:gd name="connsiteX2" fmla="*/ 273 w 91157"/>
                  <a:gd name="connsiteY2" fmla="*/ 45992 h 357187"/>
                  <a:gd name="connsiteX3" fmla="*/ 45992 w 91157"/>
                  <a:gd name="connsiteY3" fmla="*/ 273 h 357187"/>
                  <a:gd name="connsiteX4" fmla="*/ 91713 w 91157"/>
                  <a:gd name="connsiteY4" fmla="*/ 45992 h 357187"/>
                  <a:gd name="connsiteX5" fmla="*/ 91713 w 91157"/>
                  <a:gd name="connsiteY5" fmla="*/ 312692 h 357187"/>
                  <a:gd name="connsiteX6" fmla="*/ 45992 w 91157"/>
                  <a:gd name="connsiteY6" fmla="*/ 358412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57" h="357187">
                    <a:moveTo>
                      <a:pt x="45992" y="358412"/>
                    </a:moveTo>
                    <a:cubicBezTo>
                      <a:pt x="20275" y="358412"/>
                      <a:pt x="273" y="338410"/>
                      <a:pt x="273" y="312692"/>
                    </a:cubicBezTo>
                    <a:lnTo>
                      <a:pt x="273" y="45992"/>
                    </a:lnTo>
                    <a:cubicBezTo>
                      <a:pt x="273" y="21227"/>
                      <a:pt x="20275" y="273"/>
                      <a:pt x="45992" y="273"/>
                    </a:cubicBezTo>
                    <a:cubicBezTo>
                      <a:pt x="71710" y="273"/>
                      <a:pt x="91713" y="20275"/>
                      <a:pt x="91713" y="45992"/>
                    </a:cubicBezTo>
                    <a:lnTo>
                      <a:pt x="91713" y="312692"/>
                    </a:lnTo>
                    <a:cubicBezTo>
                      <a:pt x="91713" y="337458"/>
                      <a:pt x="71710" y="358412"/>
                      <a:pt x="45992" y="358412"/>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grpSp>
      <p:grpSp>
        <p:nvGrpSpPr>
          <p:cNvPr id="2" name="组合 1">
            <a:extLst>
              <a:ext uri="{FF2B5EF4-FFF2-40B4-BE49-F238E27FC236}">
                <a16:creationId xmlns:a16="http://schemas.microsoft.com/office/drawing/2014/main" id="{04D80E04-A1F8-4E41-9D2C-74F458907297}"/>
              </a:ext>
            </a:extLst>
          </p:cNvPr>
          <p:cNvGrpSpPr/>
          <p:nvPr/>
        </p:nvGrpSpPr>
        <p:grpSpPr>
          <a:xfrm>
            <a:off x="6354897" y="1180492"/>
            <a:ext cx="2168386" cy="836017"/>
            <a:chOff x="6354897" y="1180492"/>
            <a:chExt cx="2168386" cy="836017"/>
          </a:xfrm>
        </p:grpSpPr>
        <p:sp>
          <p:nvSpPr>
            <p:cNvPr id="65" name="平行四边形 64">
              <a:extLst>
                <a:ext uri="{FF2B5EF4-FFF2-40B4-BE49-F238E27FC236}">
                  <a16:creationId xmlns:a16="http://schemas.microsoft.com/office/drawing/2014/main" id="{244008FF-ADDA-4E26-AC3C-996AAD9D29B5}"/>
                </a:ext>
              </a:extLst>
            </p:cNvPr>
            <p:cNvSpPr/>
            <p:nvPr/>
          </p:nvSpPr>
          <p:spPr>
            <a:xfrm>
              <a:off x="6354897" y="1180492"/>
              <a:ext cx="836017" cy="83601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bg1"/>
                  </a:solidFill>
                  <a:latin typeface="思源黑体 CN Normal" panose="020B0400000000000000" pitchFamily="34" charset="-122"/>
                  <a:ea typeface="思源黑体 CN Normal" panose="020B0400000000000000" pitchFamily="34" charset="-122"/>
                  <a:cs typeface="+mn-ea"/>
                  <a:sym typeface="+mn-lt"/>
                </a:rPr>
                <a:t>1</a:t>
              </a:r>
              <a:endParaRPr lang="zh-CN" altLang="en-US" sz="44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66" name="文本框 65">
              <a:extLst>
                <a:ext uri="{FF2B5EF4-FFF2-40B4-BE49-F238E27FC236}">
                  <a16:creationId xmlns:a16="http://schemas.microsoft.com/office/drawing/2014/main" id="{25C3CB82-1F35-43C9-AC53-048A5D63DDB5}"/>
                </a:ext>
              </a:extLst>
            </p:cNvPr>
            <p:cNvSpPr txBox="1"/>
            <p:nvPr/>
          </p:nvSpPr>
          <p:spPr>
            <a:xfrm>
              <a:off x="7271978" y="1191405"/>
              <a:ext cx="902811" cy="523220"/>
            </a:xfrm>
            <a:prstGeom prst="rect">
              <a:avLst/>
            </a:prstGeom>
            <a:noFill/>
          </p:spPr>
          <p:txBody>
            <a:bodyPr wrap="none" rtlCol="0">
              <a:spAutoFit/>
            </a:bodyPr>
            <a:lstStyle/>
            <a:p>
              <a:r>
                <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rPr>
                <a:t>引言</a:t>
              </a:r>
            </a:p>
          </p:txBody>
        </p:sp>
        <p:sp>
          <p:nvSpPr>
            <p:cNvPr id="69" name="文本框 68">
              <a:extLst>
                <a:ext uri="{FF2B5EF4-FFF2-40B4-BE49-F238E27FC236}">
                  <a16:creationId xmlns:a16="http://schemas.microsoft.com/office/drawing/2014/main" id="{E8FA7E8D-E9EF-4F54-BA9E-178FBE9F5206}"/>
                </a:ext>
              </a:extLst>
            </p:cNvPr>
            <p:cNvSpPr txBox="1"/>
            <p:nvPr/>
          </p:nvSpPr>
          <p:spPr>
            <a:xfrm>
              <a:off x="7271978" y="1666456"/>
              <a:ext cx="1251305" cy="307777"/>
            </a:xfrm>
            <a:prstGeom prst="rect">
              <a:avLst/>
            </a:prstGeom>
            <a:noFill/>
          </p:spPr>
          <p:txBody>
            <a:bodyPr wrap="none" rtlCol="0">
              <a:spAutoFit/>
            </a:bodyPr>
            <a:lstStyle/>
            <a:p>
              <a:r>
                <a:rPr lang="en-US" altLang="zh-CN" sz="1400" i="1" dirty="0">
                  <a:solidFill>
                    <a:schemeClr val="bg1"/>
                  </a:solidFill>
                  <a:latin typeface="思源黑体 CN Normal" panose="020B0400000000000000" pitchFamily="34" charset="-122"/>
                  <a:ea typeface="思源黑体 CN Normal" panose="020B0400000000000000" pitchFamily="34" charset="-122"/>
                  <a:cs typeface="+mn-ea"/>
                  <a:sym typeface="+mn-lt"/>
                </a:rPr>
                <a:t>Introduction</a:t>
              </a:r>
              <a:endParaRPr lang="zh-CN" altLang="en-US" sz="1400" i="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4" name="组合 3">
            <a:extLst>
              <a:ext uri="{FF2B5EF4-FFF2-40B4-BE49-F238E27FC236}">
                <a16:creationId xmlns:a16="http://schemas.microsoft.com/office/drawing/2014/main" id="{2EA8FFDF-5543-4DA7-8DD7-58F774214C74}"/>
              </a:ext>
            </a:extLst>
          </p:cNvPr>
          <p:cNvGrpSpPr/>
          <p:nvPr/>
        </p:nvGrpSpPr>
        <p:grpSpPr>
          <a:xfrm>
            <a:off x="6354897" y="3621442"/>
            <a:ext cx="3363585" cy="836017"/>
            <a:chOff x="6354897" y="3621442"/>
            <a:chExt cx="3363585" cy="836017"/>
          </a:xfrm>
        </p:grpSpPr>
        <p:sp>
          <p:nvSpPr>
            <p:cNvPr id="75" name="平行四边形 74">
              <a:extLst>
                <a:ext uri="{FF2B5EF4-FFF2-40B4-BE49-F238E27FC236}">
                  <a16:creationId xmlns:a16="http://schemas.microsoft.com/office/drawing/2014/main" id="{EAF7C5EC-A1F5-4BFA-88D9-FD23D1339EBF}"/>
                </a:ext>
              </a:extLst>
            </p:cNvPr>
            <p:cNvSpPr/>
            <p:nvPr/>
          </p:nvSpPr>
          <p:spPr>
            <a:xfrm>
              <a:off x="6354897" y="3621442"/>
              <a:ext cx="836017" cy="83601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bg1"/>
                  </a:solidFill>
                  <a:latin typeface="思源黑体 CN Normal" panose="020B0400000000000000" pitchFamily="34" charset="-122"/>
                  <a:ea typeface="思源黑体 CN Normal" panose="020B0400000000000000" pitchFamily="34" charset="-122"/>
                  <a:cs typeface="+mn-ea"/>
                  <a:sym typeface="+mn-lt"/>
                </a:rPr>
                <a:t>3</a:t>
              </a:r>
              <a:endParaRPr lang="zh-CN" altLang="en-US" sz="44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76" name="文本框 75">
              <a:extLst>
                <a:ext uri="{FF2B5EF4-FFF2-40B4-BE49-F238E27FC236}">
                  <a16:creationId xmlns:a16="http://schemas.microsoft.com/office/drawing/2014/main" id="{7D7FE6C6-3928-4C95-962B-A0F7DDDB1FA1}"/>
                </a:ext>
              </a:extLst>
            </p:cNvPr>
            <p:cNvSpPr txBox="1"/>
            <p:nvPr/>
          </p:nvSpPr>
          <p:spPr>
            <a:xfrm>
              <a:off x="7271978" y="3632355"/>
              <a:ext cx="2446504" cy="523220"/>
            </a:xfrm>
            <a:prstGeom prst="rect">
              <a:avLst/>
            </a:prstGeom>
            <a:noFill/>
          </p:spPr>
          <p:txBody>
            <a:bodyPr wrap="none" rtlCol="0">
              <a:spAutoFit/>
            </a:bodyPr>
            <a:lstStyle/>
            <a:p>
              <a:r>
                <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rPr>
                <a:t>片上网络</a:t>
              </a:r>
              <a:r>
                <a:rPr lang="en-US" altLang="zh-CN" sz="2800" dirty="0">
                  <a:solidFill>
                    <a:schemeClr val="bg1"/>
                  </a:solidFill>
                  <a:latin typeface="思源黑体 CN Bold" panose="020B0800000000000000" pitchFamily="34" charset="-122"/>
                  <a:ea typeface="思源黑体 CN Bold" panose="020B0800000000000000" pitchFamily="34" charset="-122"/>
                  <a:cs typeface="+mn-ea"/>
                  <a:sym typeface="+mn-lt"/>
                </a:rPr>
                <a:t>NOC</a:t>
              </a:r>
              <a:endPar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77" name="文本框 76">
              <a:extLst>
                <a:ext uri="{FF2B5EF4-FFF2-40B4-BE49-F238E27FC236}">
                  <a16:creationId xmlns:a16="http://schemas.microsoft.com/office/drawing/2014/main" id="{8093392A-F3D4-40E3-9A1D-98F8B3A81497}"/>
                </a:ext>
              </a:extLst>
            </p:cNvPr>
            <p:cNvSpPr txBox="1"/>
            <p:nvPr/>
          </p:nvSpPr>
          <p:spPr>
            <a:xfrm>
              <a:off x="7271978" y="4107406"/>
              <a:ext cx="596638" cy="307777"/>
            </a:xfrm>
            <a:prstGeom prst="rect">
              <a:avLst/>
            </a:prstGeom>
            <a:noFill/>
          </p:spPr>
          <p:txBody>
            <a:bodyPr wrap="none" rtlCol="0">
              <a:spAutoFit/>
            </a:bodyPr>
            <a:lstStyle/>
            <a:p>
              <a:r>
                <a:rPr lang="en-US" altLang="zh-CN" sz="1400" i="1" dirty="0">
                  <a:solidFill>
                    <a:schemeClr val="bg1"/>
                  </a:solidFill>
                  <a:latin typeface="思源黑体 CN Normal" panose="020B0400000000000000" pitchFamily="34" charset="-122"/>
                  <a:ea typeface="思源黑体 CN Normal" panose="020B0400000000000000" pitchFamily="34" charset="-122"/>
                  <a:cs typeface="+mn-ea"/>
                  <a:sym typeface="+mn-lt"/>
                </a:rPr>
                <a:t>NOC</a:t>
              </a:r>
            </a:p>
          </p:txBody>
        </p:sp>
      </p:grpSp>
      <p:grpSp>
        <p:nvGrpSpPr>
          <p:cNvPr id="82" name="组合 81">
            <a:extLst>
              <a:ext uri="{FF2B5EF4-FFF2-40B4-BE49-F238E27FC236}">
                <a16:creationId xmlns:a16="http://schemas.microsoft.com/office/drawing/2014/main" id="{DEBDEC61-9C3F-481E-8877-9544B55730F7}"/>
              </a:ext>
            </a:extLst>
          </p:cNvPr>
          <p:cNvGrpSpPr/>
          <p:nvPr/>
        </p:nvGrpSpPr>
        <p:grpSpPr>
          <a:xfrm>
            <a:off x="5034566" y="1528758"/>
            <a:ext cx="895342" cy="3748331"/>
            <a:chOff x="3575588" y="1528758"/>
            <a:chExt cx="2322290" cy="3748331"/>
          </a:xfrm>
        </p:grpSpPr>
        <p:cxnSp>
          <p:nvCxnSpPr>
            <p:cNvPr id="83" name="直接连接符 82">
              <a:extLst>
                <a:ext uri="{FF2B5EF4-FFF2-40B4-BE49-F238E27FC236}">
                  <a16:creationId xmlns:a16="http://schemas.microsoft.com/office/drawing/2014/main" id="{D7082146-6D64-425F-A9DE-110A5B42FB07}"/>
                </a:ext>
              </a:extLst>
            </p:cNvPr>
            <p:cNvCxnSpPr/>
            <p:nvPr/>
          </p:nvCxnSpPr>
          <p:spPr>
            <a:xfrm>
              <a:off x="5135878" y="1528758"/>
              <a:ext cx="7620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B55C4647-134B-45BE-8B0E-9E5F46657A11}"/>
                </a:ext>
              </a:extLst>
            </p:cNvPr>
            <p:cNvCxnSpPr/>
            <p:nvPr/>
          </p:nvCxnSpPr>
          <p:spPr>
            <a:xfrm>
              <a:off x="5135878" y="2878809"/>
              <a:ext cx="7620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4C1397E-67AD-426F-83FB-FD5C8F874426}"/>
                </a:ext>
              </a:extLst>
            </p:cNvPr>
            <p:cNvCxnSpPr/>
            <p:nvPr/>
          </p:nvCxnSpPr>
          <p:spPr>
            <a:xfrm>
              <a:off x="5135878" y="4191612"/>
              <a:ext cx="762000"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66176BAC-6681-41B3-80E8-BC7F88496E17}"/>
                </a:ext>
              </a:extLst>
            </p:cNvPr>
            <p:cNvCxnSpPr/>
            <p:nvPr/>
          </p:nvCxnSpPr>
          <p:spPr>
            <a:xfrm>
              <a:off x="5135877" y="5277089"/>
              <a:ext cx="762001"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932C0252-2FD6-40AA-83C8-C2685CB7FBE1}"/>
                </a:ext>
              </a:extLst>
            </p:cNvPr>
            <p:cNvCxnSpPr>
              <a:cxnSpLocks/>
            </p:cNvCxnSpPr>
            <p:nvPr/>
          </p:nvCxnSpPr>
          <p:spPr>
            <a:xfrm>
              <a:off x="4900702" y="1598500"/>
              <a:ext cx="0" cy="3566741"/>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C4C8418A-4A56-4EC8-B314-D5DA2A73979F}"/>
                </a:ext>
              </a:extLst>
            </p:cNvPr>
            <p:cNvCxnSpPr>
              <a:cxnSpLocks/>
            </p:cNvCxnSpPr>
            <p:nvPr/>
          </p:nvCxnSpPr>
          <p:spPr>
            <a:xfrm>
              <a:off x="3575588" y="3586158"/>
              <a:ext cx="1022413" cy="0"/>
            </a:xfrm>
            <a:prstGeom prst="line">
              <a:avLst/>
            </a:prstGeom>
            <a:ln>
              <a:solidFill>
                <a:srgbClr val="7FCFED"/>
              </a:solidFill>
              <a:prstDash val="dash"/>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C5FE2424-2668-4FF3-92C9-D7BDB33516E0}"/>
              </a:ext>
            </a:extLst>
          </p:cNvPr>
          <p:cNvGrpSpPr/>
          <p:nvPr/>
        </p:nvGrpSpPr>
        <p:grpSpPr>
          <a:xfrm>
            <a:off x="6383368" y="2400967"/>
            <a:ext cx="4620722" cy="836017"/>
            <a:chOff x="6383368" y="2400967"/>
            <a:chExt cx="4620722" cy="836017"/>
          </a:xfrm>
        </p:grpSpPr>
        <p:sp>
          <p:nvSpPr>
            <p:cNvPr id="72" name="文本框 71">
              <a:extLst>
                <a:ext uri="{FF2B5EF4-FFF2-40B4-BE49-F238E27FC236}">
                  <a16:creationId xmlns:a16="http://schemas.microsoft.com/office/drawing/2014/main" id="{E7786FC0-297F-43E0-9789-147ECC42C21E}"/>
                </a:ext>
              </a:extLst>
            </p:cNvPr>
            <p:cNvSpPr txBox="1"/>
            <p:nvPr/>
          </p:nvSpPr>
          <p:spPr>
            <a:xfrm>
              <a:off x="7271978" y="2411880"/>
              <a:ext cx="3732112" cy="523220"/>
            </a:xfrm>
            <a:prstGeom prst="rect">
              <a:avLst/>
            </a:prstGeom>
            <a:noFill/>
          </p:spPr>
          <p:txBody>
            <a:bodyPr wrap="none" rtlCol="0">
              <a:spAutoFit/>
            </a:bodyPr>
            <a:lstStyle/>
            <a:p>
              <a:r>
                <a:rPr lang="en-US" altLang="zh-CN" sz="2800" dirty="0">
                  <a:solidFill>
                    <a:schemeClr val="bg1"/>
                  </a:solidFill>
                  <a:latin typeface="思源黑体 CN Bold" panose="020B0800000000000000" pitchFamily="34" charset="-122"/>
                  <a:ea typeface="思源黑体 CN Bold" panose="020B0800000000000000" pitchFamily="34" charset="-122"/>
                  <a:cs typeface="+mn-ea"/>
                  <a:sym typeface="+mn-lt"/>
                </a:rPr>
                <a:t>SoC</a:t>
              </a:r>
              <a:r>
                <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rPr>
                <a:t>设计中的底层问题</a:t>
              </a:r>
            </a:p>
          </p:txBody>
        </p:sp>
        <p:sp>
          <p:nvSpPr>
            <p:cNvPr id="73" name="文本框 72">
              <a:extLst>
                <a:ext uri="{FF2B5EF4-FFF2-40B4-BE49-F238E27FC236}">
                  <a16:creationId xmlns:a16="http://schemas.microsoft.com/office/drawing/2014/main" id="{D5F4BA78-6EEA-401B-8EDF-1E5D97CB24C1}"/>
                </a:ext>
              </a:extLst>
            </p:cNvPr>
            <p:cNvSpPr txBox="1"/>
            <p:nvPr/>
          </p:nvSpPr>
          <p:spPr>
            <a:xfrm>
              <a:off x="7271978" y="2886931"/>
              <a:ext cx="1952779" cy="307777"/>
            </a:xfrm>
            <a:prstGeom prst="rect">
              <a:avLst/>
            </a:prstGeom>
            <a:noFill/>
          </p:spPr>
          <p:txBody>
            <a:bodyPr wrap="none" rtlCol="0">
              <a:spAutoFit/>
            </a:bodyPr>
            <a:lstStyle/>
            <a:p>
              <a:r>
                <a:rPr lang="en-US" altLang="zh-CN" sz="1400" i="1" dirty="0">
                  <a:solidFill>
                    <a:schemeClr val="bg1"/>
                  </a:solidFill>
                  <a:latin typeface="思源黑体 CN Normal" panose="020B0400000000000000" pitchFamily="34" charset="-122"/>
                  <a:ea typeface="思源黑体 CN Normal" panose="020B0400000000000000" pitchFamily="34" charset="-122"/>
                  <a:cs typeface="+mn-ea"/>
                  <a:sym typeface="+mn-lt"/>
                </a:rPr>
                <a:t>Issues in SoC Design</a:t>
              </a:r>
              <a:endParaRPr lang="zh-CN" altLang="en-US" sz="1400" i="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35" name="平行四边形 34">
              <a:extLst>
                <a:ext uri="{FF2B5EF4-FFF2-40B4-BE49-F238E27FC236}">
                  <a16:creationId xmlns:a16="http://schemas.microsoft.com/office/drawing/2014/main" id="{CAC51B4D-D1C2-4093-A22E-E15EA70DC979}"/>
                </a:ext>
              </a:extLst>
            </p:cNvPr>
            <p:cNvSpPr/>
            <p:nvPr/>
          </p:nvSpPr>
          <p:spPr>
            <a:xfrm>
              <a:off x="6383368" y="2400967"/>
              <a:ext cx="836017" cy="83601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bg1"/>
                  </a:solidFill>
                  <a:latin typeface="思源黑体 CN Normal" panose="020B0400000000000000" pitchFamily="34" charset="-122"/>
                  <a:ea typeface="思源黑体 CN Normal" panose="020B0400000000000000" pitchFamily="34" charset="-122"/>
                  <a:cs typeface="+mn-ea"/>
                  <a:sym typeface="+mn-lt"/>
                </a:rPr>
                <a:t>2</a:t>
              </a:r>
              <a:endParaRPr lang="zh-CN" altLang="en-US" sz="44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5" name="组合 4">
            <a:extLst>
              <a:ext uri="{FF2B5EF4-FFF2-40B4-BE49-F238E27FC236}">
                <a16:creationId xmlns:a16="http://schemas.microsoft.com/office/drawing/2014/main" id="{AC528B63-BF46-47AA-869F-2C46A2478A84}"/>
              </a:ext>
            </a:extLst>
          </p:cNvPr>
          <p:cNvGrpSpPr/>
          <p:nvPr/>
        </p:nvGrpSpPr>
        <p:grpSpPr>
          <a:xfrm>
            <a:off x="6354896" y="4841491"/>
            <a:ext cx="2538039" cy="836017"/>
            <a:chOff x="6354896" y="4841491"/>
            <a:chExt cx="2538039" cy="836017"/>
          </a:xfrm>
        </p:grpSpPr>
        <p:sp>
          <p:nvSpPr>
            <p:cNvPr id="80" name="文本框 79">
              <a:extLst>
                <a:ext uri="{FF2B5EF4-FFF2-40B4-BE49-F238E27FC236}">
                  <a16:creationId xmlns:a16="http://schemas.microsoft.com/office/drawing/2014/main" id="{8835517E-581B-4DC9-9663-367D5092A954}"/>
                </a:ext>
              </a:extLst>
            </p:cNvPr>
            <p:cNvSpPr txBox="1"/>
            <p:nvPr/>
          </p:nvSpPr>
          <p:spPr>
            <a:xfrm>
              <a:off x="7271978" y="4852831"/>
              <a:ext cx="1620957" cy="523220"/>
            </a:xfrm>
            <a:prstGeom prst="rect">
              <a:avLst/>
            </a:prstGeom>
            <a:noFill/>
          </p:spPr>
          <p:txBody>
            <a:bodyPr wrap="none" rtlCol="0">
              <a:spAutoFit/>
            </a:bodyPr>
            <a:lstStyle/>
            <a:p>
              <a:r>
                <a:rPr lang="zh-CN" altLang="en-US" sz="2800" dirty="0">
                  <a:solidFill>
                    <a:schemeClr val="bg1"/>
                  </a:solidFill>
                  <a:latin typeface="思源黑体 CN Bold" panose="020B0800000000000000" pitchFamily="34" charset="-122"/>
                  <a:ea typeface="思源黑体 CN Bold" panose="020B0800000000000000" pitchFamily="34" charset="-122"/>
                  <a:cs typeface="+mn-ea"/>
                  <a:sym typeface="+mn-lt"/>
                </a:rPr>
                <a:t>参考文献</a:t>
              </a:r>
            </a:p>
          </p:txBody>
        </p:sp>
        <p:sp>
          <p:nvSpPr>
            <p:cNvPr id="81" name="文本框 80">
              <a:extLst>
                <a:ext uri="{FF2B5EF4-FFF2-40B4-BE49-F238E27FC236}">
                  <a16:creationId xmlns:a16="http://schemas.microsoft.com/office/drawing/2014/main" id="{45657FDF-C809-491E-9AF6-7F323C03BA9D}"/>
                </a:ext>
              </a:extLst>
            </p:cNvPr>
            <p:cNvSpPr txBox="1"/>
            <p:nvPr/>
          </p:nvSpPr>
          <p:spPr>
            <a:xfrm>
              <a:off x="7271978" y="5327882"/>
              <a:ext cx="1035861" cy="307777"/>
            </a:xfrm>
            <a:prstGeom prst="rect">
              <a:avLst/>
            </a:prstGeom>
            <a:noFill/>
          </p:spPr>
          <p:txBody>
            <a:bodyPr wrap="none" rtlCol="0">
              <a:spAutoFit/>
            </a:bodyPr>
            <a:lstStyle/>
            <a:p>
              <a:r>
                <a:rPr lang="en-US" altLang="zh-CN" sz="1400" i="1" dirty="0">
                  <a:solidFill>
                    <a:schemeClr val="bg1"/>
                  </a:solidFill>
                  <a:latin typeface="思源黑体 CN Normal" panose="020B0400000000000000" pitchFamily="34" charset="-122"/>
                  <a:ea typeface="思源黑体 CN Normal" panose="020B0400000000000000" pitchFamily="34" charset="-122"/>
                  <a:cs typeface="+mn-ea"/>
                  <a:sym typeface="+mn-lt"/>
                </a:rPr>
                <a:t>Reference</a:t>
              </a:r>
              <a:endParaRPr lang="zh-CN" altLang="en-US" sz="1400" i="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
          <p:nvSpPr>
            <p:cNvPr id="37" name="平行四边形 36">
              <a:extLst>
                <a:ext uri="{FF2B5EF4-FFF2-40B4-BE49-F238E27FC236}">
                  <a16:creationId xmlns:a16="http://schemas.microsoft.com/office/drawing/2014/main" id="{06C82FFB-4145-41EE-A12A-A879068D6CAB}"/>
                </a:ext>
              </a:extLst>
            </p:cNvPr>
            <p:cNvSpPr/>
            <p:nvPr/>
          </p:nvSpPr>
          <p:spPr>
            <a:xfrm>
              <a:off x="6354896" y="4841491"/>
              <a:ext cx="836017" cy="836017"/>
            </a:xfrm>
            <a:prstGeom prst="parallelogram">
              <a:avLst/>
            </a:prstGeom>
            <a:solidFill>
              <a:srgbClr val="197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bg1"/>
                  </a:solidFill>
                  <a:latin typeface="思源黑体 CN Normal" panose="020B0400000000000000" pitchFamily="34" charset="-122"/>
                  <a:ea typeface="思源黑体 CN Normal" panose="020B0400000000000000" pitchFamily="34" charset="-122"/>
                  <a:cs typeface="+mn-ea"/>
                  <a:sym typeface="+mn-lt"/>
                </a:rPr>
                <a:t>4</a:t>
              </a:r>
              <a:endParaRPr lang="zh-CN" altLang="en-US" sz="44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spTree>
    <p:extLst>
      <p:ext uri="{BB962C8B-B14F-4D97-AF65-F5344CB8AC3E}">
        <p14:creationId xmlns:p14="http://schemas.microsoft.com/office/powerpoint/2010/main" val="3039472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1000"/>
                                        <p:tgtEl>
                                          <p:spTgt spid="82"/>
                                        </p:tgtEl>
                                      </p:cBhvr>
                                    </p:animEffect>
                                    <p:anim calcmode="lin" valueType="num">
                                      <p:cBhvr>
                                        <p:cTn id="14" dur="1000" fill="hold"/>
                                        <p:tgtEl>
                                          <p:spTgt spid="82"/>
                                        </p:tgtEl>
                                        <p:attrNameLst>
                                          <p:attrName>ppt_x</p:attrName>
                                        </p:attrNameLst>
                                      </p:cBhvr>
                                      <p:tavLst>
                                        <p:tav tm="0">
                                          <p:val>
                                            <p:strVal val="#ppt_x"/>
                                          </p:val>
                                        </p:tav>
                                        <p:tav tm="100000">
                                          <p:val>
                                            <p:strVal val="#ppt_x"/>
                                          </p:val>
                                        </p:tav>
                                      </p:tavLst>
                                    </p:anim>
                                    <p:anim calcmode="lin" valueType="num">
                                      <p:cBhvr>
                                        <p:cTn id="15" dur="1000" fill="hold"/>
                                        <p:tgtEl>
                                          <p:spTgt spid="8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par>
                          <p:cTn id="20" fill="hold">
                            <p:stCondLst>
                              <p:cond delay="2500"/>
                            </p:stCondLst>
                            <p:childTnLst>
                              <p:par>
                                <p:cTn id="21" presetID="10"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3000"/>
                            </p:stCondLst>
                            <p:childTnLst>
                              <p:par>
                                <p:cTn id="25" presetID="10"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295AAE-4447-8730-EBE2-C79A5DBF54DC}"/>
              </a:ext>
            </a:extLst>
          </p:cNvPr>
          <p:cNvSpPr/>
          <p:nvPr/>
        </p:nvSpPr>
        <p:spPr>
          <a:xfrm>
            <a:off x="5644594" y="421253"/>
            <a:ext cx="902811" cy="523220"/>
          </a:xfrm>
          <a:prstGeom prst="rect">
            <a:avLst/>
          </a:prstGeom>
        </p:spPr>
        <p:txBody>
          <a:bodyPr wrap="none">
            <a:spAutoFit/>
          </a:bodyPr>
          <a:lstStyle/>
          <a:p>
            <a:r>
              <a:rPr lang="zh-CN" altLang="en-US" sz="2800" b="1" dirty="0">
                <a:solidFill>
                  <a:srgbClr val="1974A2"/>
                </a:solidFill>
                <a:latin typeface="思源黑体 CN Bold" panose="020B0800000000000000" pitchFamily="34" charset="-122"/>
                <a:ea typeface="思源黑体 CN Bold" panose="020B0800000000000000" pitchFamily="34" charset="-122"/>
              </a:rPr>
              <a:t>引言</a:t>
            </a:r>
          </a:p>
        </p:txBody>
      </p:sp>
      <p:sp>
        <p:nvSpPr>
          <p:cNvPr id="3" name="文本框 2">
            <a:extLst>
              <a:ext uri="{FF2B5EF4-FFF2-40B4-BE49-F238E27FC236}">
                <a16:creationId xmlns:a16="http://schemas.microsoft.com/office/drawing/2014/main" id="{C5278EB9-C8DE-6A31-9DEC-1BB94D879E9A}"/>
              </a:ext>
            </a:extLst>
          </p:cNvPr>
          <p:cNvSpPr txBox="1"/>
          <p:nvPr/>
        </p:nvSpPr>
        <p:spPr>
          <a:xfrm>
            <a:off x="1780324" y="1073527"/>
            <a:ext cx="8521958" cy="4893647"/>
          </a:xfrm>
          <a:prstGeom prst="rect">
            <a:avLst/>
          </a:prstGeom>
          <a:noFill/>
        </p:spPr>
        <p:txBody>
          <a:bodyPr wrap="square" rtlCol="0">
            <a:spAutoFit/>
          </a:bodyPr>
          <a:lstStyle/>
          <a:p>
            <a:r>
              <a:rPr lang="zh-CN" altLang="en-US" sz="2400" dirty="0"/>
              <a:t>随着极深亚微米技术的引入，</a:t>
            </a:r>
            <a:r>
              <a:rPr lang="en-US" altLang="zh-CN" sz="2400" dirty="0"/>
              <a:t>SoC</a:t>
            </a:r>
            <a:r>
              <a:rPr lang="zh-CN" altLang="en-US" sz="2400" dirty="0"/>
              <a:t>设计人员必须面临</a:t>
            </a:r>
            <a:r>
              <a:rPr lang="zh-CN" altLang="en-US" sz="2400" dirty="0">
                <a:solidFill>
                  <a:srgbClr val="FF0000"/>
                </a:solidFill>
              </a:rPr>
              <a:t>两大挑战</a:t>
            </a:r>
            <a:r>
              <a:rPr lang="zh-CN" altLang="en-US" sz="2400" dirty="0"/>
              <a:t>：</a:t>
            </a:r>
            <a:endParaRPr lang="en-US" altLang="zh-CN" sz="2400" dirty="0"/>
          </a:p>
          <a:p>
            <a:pPr marL="342900" indent="-342900">
              <a:buFont typeface="+mj-lt"/>
              <a:buAutoNum type="arabicPeriod"/>
            </a:pPr>
            <a:r>
              <a:rPr lang="zh-CN" altLang="en-US" dirty="0"/>
              <a:t>复杂性的急剧增加；</a:t>
            </a:r>
            <a:endParaRPr lang="en-US" altLang="zh-CN" dirty="0"/>
          </a:p>
          <a:p>
            <a:pPr marL="342900" indent="-342900">
              <a:buFont typeface="+mj-lt"/>
              <a:buAutoNum type="arabicPeriod"/>
            </a:pPr>
            <a:r>
              <a:rPr lang="zh-CN" altLang="en-US" dirty="0"/>
              <a:t>组件可靠性的显著降低。</a:t>
            </a: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pPr marL="342900" indent="-342900">
              <a:buFont typeface="+mj-lt"/>
              <a:buAutoNum type="arabicPeriod"/>
            </a:pPr>
            <a:endParaRPr lang="en-US" altLang="zh-CN" dirty="0"/>
          </a:p>
          <a:p>
            <a:r>
              <a:rPr lang="zh-CN" altLang="en-US" dirty="0"/>
              <a:t>各种底层问题反映到顶层</a:t>
            </a:r>
            <a:r>
              <a:rPr lang="en-US" altLang="zh-CN" dirty="0"/>
              <a:t>……</a:t>
            </a:r>
            <a:endParaRPr lang="zh-CN" altLang="en-US" dirty="0"/>
          </a:p>
        </p:txBody>
      </p:sp>
      <p:grpSp>
        <p:nvGrpSpPr>
          <p:cNvPr id="4" name="组合 3">
            <a:extLst>
              <a:ext uri="{FF2B5EF4-FFF2-40B4-BE49-F238E27FC236}">
                <a16:creationId xmlns:a16="http://schemas.microsoft.com/office/drawing/2014/main" id="{D5E648FC-126A-6D9D-5FFA-E7F5235FC8E6}"/>
              </a:ext>
            </a:extLst>
          </p:cNvPr>
          <p:cNvGrpSpPr/>
          <p:nvPr/>
        </p:nvGrpSpPr>
        <p:grpSpPr>
          <a:xfrm>
            <a:off x="3720767" y="2102315"/>
            <a:ext cx="4641072" cy="3408155"/>
            <a:chOff x="0" y="0"/>
            <a:chExt cx="2501900" cy="2041568"/>
          </a:xfrm>
        </p:grpSpPr>
        <p:pic>
          <p:nvPicPr>
            <p:cNvPr id="5" name="图片 4">
              <a:extLst>
                <a:ext uri="{FF2B5EF4-FFF2-40B4-BE49-F238E27FC236}">
                  <a16:creationId xmlns:a16="http://schemas.microsoft.com/office/drawing/2014/main" id="{85CDC9B8-CDF6-A961-9FEF-60750F279C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501900" cy="1710055"/>
            </a:xfrm>
            <a:prstGeom prst="rect">
              <a:avLst/>
            </a:prstGeom>
          </p:spPr>
        </p:pic>
        <p:sp>
          <p:nvSpPr>
            <p:cNvPr id="6" name="文本框 1">
              <a:extLst>
                <a:ext uri="{FF2B5EF4-FFF2-40B4-BE49-F238E27FC236}">
                  <a16:creationId xmlns:a16="http://schemas.microsoft.com/office/drawing/2014/main" id="{E736F738-6E89-485F-EF45-86191A40EECE}"/>
                </a:ext>
              </a:extLst>
            </p:cNvPr>
            <p:cNvSpPr txBox="1"/>
            <p:nvPr/>
          </p:nvSpPr>
          <p:spPr>
            <a:xfrm>
              <a:off x="606425" y="1700573"/>
              <a:ext cx="1289050" cy="340995"/>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25000"/>
                </a:lnSpc>
              </a:pPr>
              <a:r>
                <a:rPr lang="zh-CN" sz="16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图</a:t>
              </a:r>
              <a:r>
                <a:rPr lang="en-US" sz="16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1   SoC</a:t>
              </a:r>
              <a:r>
                <a:rPr lang="zh-CN" sz="16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设计中的问题</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476092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227C2BD-B443-5F5C-6C2A-953D2878980F}"/>
              </a:ext>
            </a:extLst>
          </p:cNvPr>
          <p:cNvSpPr/>
          <p:nvPr/>
        </p:nvSpPr>
        <p:spPr>
          <a:xfrm>
            <a:off x="4234542" y="449245"/>
            <a:ext cx="3722915" cy="523220"/>
          </a:xfrm>
          <a:prstGeom prst="rect">
            <a:avLst/>
          </a:prstGeom>
        </p:spPr>
        <p:txBody>
          <a:bodyPr wrap="square">
            <a:spAutoFit/>
          </a:bodyPr>
          <a:lstStyle/>
          <a:p>
            <a:r>
              <a:rPr lang="en-US" altLang="zh-CN" sz="2800" b="1" dirty="0">
                <a:solidFill>
                  <a:srgbClr val="1974A2"/>
                </a:solidFill>
                <a:latin typeface="思源黑体 CN Bold" panose="020B0800000000000000" pitchFamily="34" charset="-122"/>
                <a:ea typeface="思源黑体 CN Bold" panose="020B0800000000000000" pitchFamily="34" charset="-122"/>
              </a:rPr>
              <a:t>SoC</a:t>
            </a:r>
            <a:r>
              <a:rPr lang="zh-CN" altLang="en-US" sz="2800" b="1" dirty="0">
                <a:solidFill>
                  <a:srgbClr val="1974A2"/>
                </a:solidFill>
                <a:latin typeface="思源黑体 CN Bold" panose="020B0800000000000000" pitchFamily="34" charset="-122"/>
                <a:ea typeface="思源黑体 CN Bold" panose="020B0800000000000000" pitchFamily="34" charset="-122"/>
              </a:rPr>
              <a:t>设计中的底层问题</a:t>
            </a:r>
          </a:p>
        </p:txBody>
      </p:sp>
      <p:sp>
        <p:nvSpPr>
          <p:cNvPr id="3" name="文本框 2">
            <a:extLst>
              <a:ext uri="{FF2B5EF4-FFF2-40B4-BE49-F238E27FC236}">
                <a16:creationId xmlns:a16="http://schemas.microsoft.com/office/drawing/2014/main" id="{15C81B8A-099A-11D0-2A65-BAF826654AC6}"/>
              </a:ext>
            </a:extLst>
          </p:cNvPr>
          <p:cNvSpPr txBox="1"/>
          <p:nvPr/>
        </p:nvSpPr>
        <p:spPr>
          <a:xfrm>
            <a:off x="475861" y="1212980"/>
            <a:ext cx="11485984" cy="4801314"/>
          </a:xfrm>
          <a:prstGeom prst="rect">
            <a:avLst/>
          </a:prstGeom>
          <a:noFill/>
        </p:spPr>
        <p:txBody>
          <a:bodyPr wrap="square" rtlCol="0">
            <a:spAutoFit/>
          </a:bodyPr>
          <a:lstStyle/>
          <a:p>
            <a:r>
              <a:rPr lang="zh-CN" altLang="en-US" dirty="0"/>
              <a:t>        由于底层与顶层之间的差距越来越大，顶层的设计人员可能完全忽略底层的某些效应而设计出一些</a:t>
            </a:r>
            <a:r>
              <a:rPr lang="zh-CN" altLang="en-US" dirty="0">
                <a:solidFill>
                  <a:srgbClr val="FF0000"/>
                </a:solidFill>
              </a:rPr>
              <a:t>完全无法工作</a:t>
            </a:r>
            <a:r>
              <a:rPr lang="zh-CN" altLang="en-US" dirty="0"/>
              <a:t>的</a:t>
            </a:r>
            <a:r>
              <a:rPr lang="en-US" altLang="zh-CN" dirty="0"/>
              <a:t>SoC</a:t>
            </a:r>
            <a:r>
              <a:rPr lang="zh-CN" altLang="en-US" dirty="0"/>
              <a:t>。</a:t>
            </a:r>
            <a:endParaRPr lang="en-US" altLang="zh-CN" dirty="0"/>
          </a:p>
          <a:p>
            <a:r>
              <a:rPr lang="zh-CN" altLang="en-US" dirty="0"/>
              <a:t>       需要考虑的底层问题：</a:t>
            </a:r>
            <a:r>
              <a:rPr lang="zh-CN" altLang="en-US" dirty="0">
                <a:solidFill>
                  <a:srgbClr val="FF0000"/>
                </a:solidFill>
              </a:rPr>
              <a:t>动态功率、漏电影响、互连延迟</a:t>
            </a:r>
            <a:r>
              <a:rPr lang="zh-CN" altLang="en-US" dirty="0"/>
              <a:t>等</a:t>
            </a:r>
            <a:endParaRPr lang="en-US" altLang="zh-CN" dirty="0"/>
          </a:p>
          <a:p>
            <a:endParaRPr lang="en-US" altLang="zh-CN" dirty="0"/>
          </a:p>
          <a:p>
            <a:endParaRPr lang="en-US" altLang="zh-CN" dirty="0"/>
          </a:p>
          <a:p>
            <a:r>
              <a:rPr lang="zh-CN" altLang="en-US" dirty="0"/>
              <a:t>       应用动态功率公式可以写出：</a:t>
            </a:r>
            <a:endParaRPr lang="en-US" altLang="zh-CN" dirty="0"/>
          </a:p>
          <a:p>
            <a:endParaRPr lang="en-US" altLang="zh-CN" dirty="0"/>
          </a:p>
          <a:p>
            <a:endParaRPr lang="en-US" altLang="zh-CN" dirty="0"/>
          </a:p>
          <a:p>
            <a:r>
              <a:rPr lang="zh-CN" altLang="en-US" dirty="0"/>
              <a:t>为了降低动态功率，提出了许多技术，其中包括门控时钟、逻辑并行化、减少活动、异步、绝热、总线编码、标准单元库、复杂门分解等。其中门控时钟技术得到了广泛应用（在单元空闲时切断时钟），然而，由于晶体管数量的大幅增加，漏电问题就另当别论了</a:t>
            </a:r>
            <a:r>
              <a:rPr lang="en-US" altLang="zh-CN" dirty="0"/>
              <a:t>……</a:t>
            </a:r>
          </a:p>
          <a:p>
            <a:endParaRPr lang="en-US" altLang="zh-CN" dirty="0"/>
          </a:p>
          <a:p>
            <a:endParaRPr lang="en-US" altLang="zh-CN" dirty="0"/>
          </a:p>
          <a:p>
            <a:r>
              <a:rPr lang="zh-CN" altLang="en-US" dirty="0"/>
              <a:t>        无论是 </a:t>
            </a:r>
            <a:r>
              <a:rPr lang="en-US" altLang="zh-CN" dirty="0"/>
              <a:t>CMOS</a:t>
            </a:r>
            <a:r>
              <a:rPr lang="zh-CN" altLang="en-US" dirty="0"/>
              <a:t>、碳纳米管还是纳米线技术，开关关断时的漏电流都已成为一个非常严重的问题。随着阈值电压 </a:t>
            </a:r>
            <a:r>
              <a:rPr lang="en-US" altLang="zh-CN" dirty="0"/>
              <a:t>VT </a:t>
            </a:r>
            <a:r>
              <a:rPr lang="zh-CN" altLang="en-US" dirty="0"/>
              <a:t>的降低，漏电功率呈指数增长，这意味着大型 </a:t>
            </a:r>
            <a:r>
              <a:rPr lang="en-US" altLang="zh-CN" dirty="0"/>
              <a:t>SoC </a:t>
            </a:r>
            <a:r>
              <a:rPr lang="zh-CN" altLang="en-US" dirty="0"/>
              <a:t>的总功率中有很大一部分可能是</a:t>
            </a:r>
            <a:r>
              <a:rPr lang="zh-CN" altLang="en-US" dirty="0">
                <a:solidFill>
                  <a:srgbClr val="FF0000"/>
                </a:solidFill>
              </a:rPr>
              <a:t>漏电功率</a:t>
            </a:r>
            <a:r>
              <a:rPr lang="zh-CN" altLang="en-US" dirty="0"/>
              <a:t>。浪费的功率与外部条件有很大关系，如所选技术、</a:t>
            </a:r>
            <a:r>
              <a:rPr lang="en-US" altLang="zh-CN" dirty="0"/>
              <a:t>VT </a:t>
            </a:r>
            <a:r>
              <a:rPr lang="zh-CN" altLang="en-US" dirty="0"/>
              <a:t>值、应用所定义的占空比等。在</a:t>
            </a:r>
            <a:r>
              <a:rPr lang="zh-CN" altLang="en-US" dirty="0">
                <a:solidFill>
                  <a:srgbClr val="FF0000"/>
                </a:solidFill>
              </a:rPr>
              <a:t>底层</a:t>
            </a:r>
            <a:r>
              <a:rPr lang="zh-CN" altLang="en-US" dirty="0"/>
              <a:t>如电路级有许多减少漏电的技术，如使用休眠晶体管来降低空闲区块的电源电压，但也有其他技术（如多个 </a:t>
            </a:r>
            <a:r>
              <a:rPr lang="en-US" altLang="zh-CN" dirty="0"/>
              <a:t>VT</a:t>
            </a:r>
            <a:r>
              <a:rPr lang="zh-CN" altLang="en-US" dirty="0"/>
              <a:t>、堆叠晶体管或体偏压）可供选择。</a:t>
            </a:r>
            <a:endParaRPr lang="en-US" altLang="zh-CN" dirty="0"/>
          </a:p>
        </p:txBody>
      </p:sp>
      <p:sp>
        <p:nvSpPr>
          <p:cNvPr id="4" name="矩形 3">
            <a:extLst>
              <a:ext uri="{FF2B5EF4-FFF2-40B4-BE49-F238E27FC236}">
                <a16:creationId xmlns:a16="http://schemas.microsoft.com/office/drawing/2014/main" id="{53BA19DC-A6D0-AD3A-4A59-7E463E273ECF}"/>
              </a:ext>
            </a:extLst>
          </p:cNvPr>
          <p:cNvSpPr/>
          <p:nvPr/>
        </p:nvSpPr>
        <p:spPr>
          <a:xfrm>
            <a:off x="545908" y="2136310"/>
            <a:ext cx="1723549" cy="461665"/>
          </a:xfrm>
          <a:prstGeom prst="rect">
            <a:avLst/>
          </a:prstGeom>
          <a:noFill/>
        </p:spPr>
        <p:txBody>
          <a:bodyPr wrap="none" lIns="91440" tIns="45720" rIns="91440" bIns="45720">
            <a:spAutoFit/>
          </a:bodyPr>
          <a:lstStyle/>
          <a:p>
            <a:pPr algn="ctr"/>
            <a:r>
              <a:rPr lang="zh-CN" altLang="en-US" sz="2400" b="0" cap="none" spc="0" dirty="0">
                <a:ln w="0"/>
                <a:solidFill>
                  <a:schemeClr val="tx1"/>
                </a:solidFill>
                <a:effectLst>
                  <a:outerShdw blurRad="38100" dist="19050" dir="2700000" algn="tl" rotWithShape="0">
                    <a:schemeClr val="dk1">
                      <a:alpha val="40000"/>
                    </a:schemeClr>
                  </a:outerShdw>
                </a:effectLst>
              </a:rPr>
              <a:t>动态功率：</a:t>
            </a:r>
            <a:endParaRPr lang="en-US" altLang="zh-CN" sz="2400" b="0" cap="none" spc="0" dirty="0">
              <a:ln w="0"/>
              <a:solidFill>
                <a:schemeClr val="tx1"/>
              </a:solidFill>
              <a:effectLst>
                <a:outerShdw blurRad="38100" dist="19050" dir="2700000" algn="tl" rotWithShape="0">
                  <a:schemeClr val="dk1">
                    <a:alpha val="40000"/>
                  </a:schemeClr>
                </a:outerShdw>
              </a:effectLst>
            </a:endParaRPr>
          </a:p>
        </p:txBody>
      </p:sp>
      <p:pic>
        <p:nvPicPr>
          <p:cNvPr id="5" name="图片 4">
            <a:extLst>
              <a:ext uri="{FF2B5EF4-FFF2-40B4-BE49-F238E27FC236}">
                <a16:creationId xmlns:a16="http://schemas.microsoft.com/office/drawing/2014/main" id="{CDFDAA61-D5F0-7462-B47E-C27AAFC37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5979" y="2931464"/>
            <a:ext cx="3900040" cy="497536"/>
          </a:xfrm>
          <a:prstGeom prst="rect">
            <a:avLst/>
          </a:prstGeom>
        </p:spPr>
      </p:pic>
      <p:sp>
        <p:nvSpPr>
          <p:cNvPr id="6" name="矩形 5">
            <a:extLst>
              <a:ext uri="{FF2B5EF4-FFF2-40B4-BE49-F238E27FC236}">
                <a16:creationId xmlns:a16="http://schemas.microsoft.com/office/drawing/2014/main" id="{5D8F769B-DB39-72E7-A1C2-4BA60192C0DC}"/>
              </a:ext>
            </a:extLst>
          </p:cNvPr>
          <p:cNvSpPr/>
          <p:nvPr/>
        </p:nvSpPr>
        <p:spPr>
          <a:xfrm>
            <a:off x="545908" y="4325341"/>
            <a:ext cx="1723549" cy="461665"/>
          </a:xfrm>
          <a:prstGeom prst="rect">
            <a:avLst/>
          </a:prstGeom>
          <a:noFill/>
        </p:spPr>
        <p:txBody>
          <a:bodyPr wrap="none" lIns="91440" tIns="45720" rIns="91440" bIns="45720">
            <a:spAutoFit/>
          </a:bodyPr>
          <a:lstStyle/>
          <a:p>
            <a:pPr algn="ctr"/>
            <a:r>
              <a:rPr lang="zh-CN" altLang="en-US" sz="2400" b="0" cap="none" spc="0" dirty="0">
                <a:ln w="0"/>
                <a:solidFill>
                  <a:schemeClr val="tx1"/>
                </a:solidFill>
                <a:effectLst>
                  <a:outerShdw blurRad="38100" dist="19050" dir="2700000" algn="tl" rotWithShape="0">
                    <a:schemeClr val="dk1">
                      <a:alpha val="40000"/>
                    </a:schemeClr>
                  </a:outerShdw>
                </a:effectLst>
              </a:rPr>
              <a:t>漏电影响：</a:t>
            </a:r>
            <a:endParaRPr lang="en-US" altLang="zh-CN" sz="2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24899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1FF6327-CC60-82E4-02AF-E886B8BD8D59}"/>
              </a:ext>
            </a:extLst>
          </p:cNvPr>
          <p:cNvSpPr/>
          <p:nvPr/>
        </p:nvSpPr>
        <p:spPr>
          <a:xfrm>
            <a:off x="513184" y="791471"/>
            <a:ext cx="1723549" cy="461665"/>
          </a:xfrm>
          <a:prstGeom prst="rect">
            <a:avLst/>
          </a:prstGeom>
          <a:noFill/>
        </p:spPr>
        <p:txBody>
          <a:bodyPr wrap="none" lIns="91440" tIns="45720" rIns="91440" bIns="45720">
            <a:spAutoFit/>
          </a:bodyPr>
          <a:lstStyle/>
          <a:p>
            <a:pPr algn="ctr"/>
            <a:r>
              <a:rPr lang="zh-CN" altLang="en-US" sz="2400" b="0" cap="none" spc="0" dirty="0">
                <a:ln w="0"/>
                <a:solidFill>
                  <a:schemeClr val="tx1"/>
                </a:solidFill>
                <a:effectLst>
                  <a:outerShdw blurRad="38100" dist="19050" dir="2700000" algn="tl" rotWithShape="0">
                    <a:schemeClr val="dk1">
                      <a:alpha val="40000"/>
                    </a:schemeClr>
                  </a:outerShdw>
                </a:effectLst>
              </a:rPr>
              <a:t>互连延迟：</a:t>
            </a:r>
            <a:endParaRPr lang="en-US" altLang="zh-CN" sz="2400" b="0" cap="none" spc="0" dirty="0">
              <a:ln w="0"/>
              <a:solidFill>
                <a:schemeClr val="tx1"/>
              </a:solidFill>
              <a:effectLst>
                <a:outerShdw blurRad="38100" dist="19050" dir="2700000" algn="tl" rotWithShape="0">
                  <a:schemeClr val="dk1">
                    <a:alpha val="40000"/>
                  </a:schemeClr>
                </a:outerShdw>
              </a:effectLst>
            </a:endParaRPr>
          </a:p>
        </p:txBody>
      </p:sp>
      <p:pic>
        <p:nvPicPr>
          <p:cNvPr id="4" name="图片 3">
            <a:extLst>
              <a:ext uri="{FF2B5EF4-FFF2-40B4-BE49-F238E27FC236}">
                <a16:creationId xmlns:a16="http://schemas.microsoft.com/office/drawing/2014/main" id="{9275668B-0F43-FB4E-6C83-1D9D17CD39C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47839" y="3541503"/>
            <a:ext cx="4096322" cy="2432840"/>
          </a:xfrm>
          <a:prstGeom prst="rect">
            <a:avLst/>
          </a:prstGeom>
        </p:spPr>
      </p:pic>
      <p:sp>
        <p:nvSpPr>
          <p:cNvPr id="5" name="文本框 4">
            <a:extLst>
              <a:ext uri="{FF2B5EF4-FFF2-40B4-BE49-F238E27FC236}">
                <a16:creationId xmlns:a16="http://schemas.microsoft.com/office/drawing/2014/main" id="{970B0CD8-090C-CDB3-9E82-9FF0D5622613}"/>
              </a:ext>
            </a:extLst>
          </p:cNvPr>
          <p:cNvSpPr txBox="1"/>
          <p:nvPr/>
        </p:nvSpPr>
        <p:spPr>
          <a:xfrm>
            <a:off x="513184" y="1365104"/>
            <a:ext cx="11290040" cy="1754326"/>
          </a:xfrm>
          <a:prstGeom prst="rect">
            <a:avLst/>
          </a:prstGeom>
          <a:noFill/>
        </p:spPr>
        <p:txBody>
          <a:bodyPr wrap="square" rtlCol="0">
            <a:spAutoFit/>
          </a:bodyPr>
          <a:lstStyle/>
          <a:p>
            <a:pPr algn="just"/>
            <a:r>
              <a:rPr lang="zh-CN" altLang="en-US" dirty="0"/>
              <a:t>        随着</a:t>
            </a:r>
            <a:r>
              <a:rPr lang="en-US" altLang="zh-CN" dirty="0"/>
              <a:t>IC</a:t>
            </a:r>
            <a:r>
              <a:rPr lang="zh-CN" altLang="en-US" dirty="0"/>
              <a:t>工艺发展，互连线延迟逐渐在延迟中占据重要地位，因为随芯片特征尺寸的减小，器件延迟在减小，互连线延迟却在增加。当今超大规模集成电路是以高速度、高密度、高可靠性和低功耗为特征，限制其发展的主要因素</a:t>
            </a:r>
            <a:r>
              <a:rPr lang="zh-CN" altLang="en-US" dirty="0">
                <a:solidFill>
                  <a:srgbClr val="FF0000"/>
                </a:solidFill>
              </a:rPr>
              <a:t>不是器件延迟，而是互连线引起的延迟、互连线间信号的串扰和电路功耗</a:t>
            </a:r>
            <a:r>
              <a:rPr lang="zh-CN" altLang="en-US" dirty="0"/>
              <a:t>。因此互连延迟的研究成为了设计</a:t>
            </a:r>
            <a:r>
              <a:rPr lang="en-US" altLang="zh-CN" dirty="0"/>
              <a:t>IC</a:t>
            </a:r>
            <a:r>
              <a:rPr lang="zh-CN" altLang="en-US" dirty="0"/>
              <a:t>中迫切需解决的问题。</a:t>
            </a:r>
            <a:endParaRPr lang="en-US" altLang="zh-CN" dirty="0"/>
          </a:p>
          <a:p>
            <a:pPr algn="just"/>
            <a:r>
              <a:rPr lang="en-US" altLang="zh-CN" dirty="0"/>
              <a:t>        </a:t>
            </a:r>
            <a:r>
              <a:rPr lang="zh-CN" altLang="en-US" dirty="0"/>
              <a:t>互连延迟会导致多核体系结构和大规模并行，并带来非常棘手的同步问题。对于这种架构，必须考虑 </a:t>
            </a:r>
            <a:r>
              <a:rPr lang="en-US" altLang="zh-CN" dirty="0" err="1"/>
              <a:t>NoC</a:t>
            </a:r>
            <a:r>
              <a:rPr lang="zh-CN" altLang="en-US" dirty="0"/>
              <a:t>，以设计出高性能的</a:t>
            </a:r>
            <a:r>
              <a:rPr lang="en-US" altLang="zh-CN" dirty="0"/>
              <a:t>SoC</a:t>
            </a:r>
            <a:r>
              <a:rPr lang="zh-CN" altLang="en-US" dirty="0"/>
              <a:t>。</a:t>
            </a:r>
          </a:p>
        </p:txBody>
      </p:sp>
    </p:spTree>
    <p:extLst>
      <p:ext uri="{BB962C8B-B14F-4D97-AF65-F5344CB8AC3E}">
        <p14:creationId xmlns:p14="http://schemas.microsoft.com/office/powerpoint/2010/main" val="3003506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0A61ADE-22F1-4C87-8BCB-B427A8865A25}"/>
              </a:ext>
            </a:extLst>
          </p:cNvPr>
          <p:cNvSpPr/>
          <p:nvPr/>
        </p:nvSpPr>
        <p:spPr>
          <a:xfrm>
            <a:off x="4863581" y="467906"/>
            <a:ext cx="2464838" cy="523220"/>
          </a:xfrm>
          <a:prstGeom prst="rect">
            <a:avLst/>
          </a:prstGeom>
        </p:spPr>
        <p:txBody>
          <a:bodyPr wrap="square">
            <a:spAutoFit/>
          </a:bodyPr>
          <a:lstStyle/>
          <a:p>
            <a:r>
              <a:rPr lang="zh-CN" altLang="en-US" sz="2800" b="1" dirty="0">
                <a:solidFill>
                  <a:srgbClr val="1974A2"/>
                </a:solidFill>
                <a:latin typeface="思源黑体 CN Bold" panose="020B0800000000000000" pitchFamily="34" charset="-122"/>
                <a:ea typeface="思源黑体 CN Bold" panose="020B0800000000000000" pitchFamily="34" charset="-122"/>
              </a:rPr>
              <a:t>片上网络</a:t>
            </a:r>
            <a:r>
              <a:rPr lang="en-US" altLang="zh-CN" sz="2800" b="1" dirty="0">
                <a:solidFill>
                  <a:srgbClr val="1974A2"/>
                </a:solidFill>
                <a:latin typeface="思源黑体 CN Bold" panose="020B0800000000000000" pitchFamily="34" charset="-122"/>
                <a:ea typeface="思源黑体 CN Bold" panose="020B0800000000000000" pitchFamily="34" charset="-122"/>
              </a:rPr>
              <a:t>NOC</a:t>
            </a:r>
            <a:endParaRPr lang="zh-CN" altLang="en-US" sz="2800" b="1" dirty="0">
              <a:solidFill>
                <a:srgbClr val="1974A2"/>
              </a:solidFill>
              <a:latin typeface="思源黑体 CN Bold" panose="020B0800000000000000" pitchFamily="34" charset="-122"/>
              <a:ea typeface="思源黑体 CN Bold" panose="020B0800000000000000" pitchFamily="34" charset="-122"/>
            </a:endParaRPr>
          </a:p>
        </p:txBody>
      </p:sp>
      <p:pic>
        <p:nvPicPr>
          <p:cNvPr id="4" name="图片 3">
            <a:extLst>
              <a:ext uri="{FF2B5EF4-FFF2-40B4-BE49-F238E27FC236}">
                <a16:creationId xmlns:a16="http://schemas.microsoft.com/office/drawing/2014/main" id="{4DE5A106-698F-3CCB-1A83-4CCCE3D06800}"/>
              </a:ext>
            </a:extLst>
          </p:cNvPr>
          <p:cNvPicPr>
            <a:picLocks noChangeAspect="1"/>
          </p:cNvPicPr>
          <p:nvPr/>
        </p:nvPicPr>
        <p:blipFill>
          <a:blip r:embed="rId2"/>
          <a:stretch>
            <a:fillRect/>
          </a:stretch>
        </p:blipFill>
        <p:spPr>
          <a:xfrm>
            <a:off x="4285997" y="3558551"/>
            <a:ext cx="3620005" cy="3105583"/>
          </a:xfrm>
          <a:prstGeom prst="rect">
            <a:avLst/>
          </a:prstGeom>
        </p:spPr>
      </p:pic>
      <p:sp>
        <p:nvSpPr>
          <p:cNvPr id="5" name="文本框 4">
            <a:extLst>
              <a:ext uri="{FF2B5EF4-FFF2-40B4-BE49-F238E27FC236}">
                <a16:creationId xmlns:a16="http://schemas.microsoft.com/office/drawing/2014/main" id="{C4343A7E-B23D-5F10-84B9-DDFA42BB1C48}"/>
              </a:ext>
            </a:extLst>
          </p:cNvPr>
          <p:cNvSpPr txBox="1"/>
          <p:nvPr/>
        </p:nvSpPr>
        <p:spPr>
          <a:xfrm>
            <a:off x="475861" y="991126"/>
            <a:ext cx="11140751" cy="2862322"/>
          </a:xfrm>
          <a:prstGeom prst="rect">
            <a:avLst/>
          </a:prstGeom>
          <a:noFill/>
        </p:spPr>
        <p:txBody>
          <a:bodyPr wrap="square" rtlCol="0">
            <a:spAutoFit/>
          </a:bodyPr>
          <a:lstStyle/>
          <a:p>
            <a:r>
              <a:rPr lang="en-US" altLang="zh-CN" dirty="0"/>
              <a:t>       </a:t>
            </a:r>
            <a:r>
              <a:rPr lang="en-US" altLang="zh-CN" dirty="0" err="1"/>
              <a:t>NoC</a:t>
            </a:r>
            <a:r>
              <a:rPr lang="en-US" altLang="zh-CN" dirty="0"/>
              <a:t> </a:t>
            </a:r>
            <a:r>
              <a:rPr lang="zh-CN" altLang="en-US" dirty="0"/>
              <a:t>是指在单芯片上集成大量的计算资源以及连接这些资源的片上通信网络，</a:t>
            </a:r>
            <a:r>
              <a:rPr lang="en-US" altLang="zh-CN" dirty="0" err="1"/>
              <a:t>NoC</a:t>
            </a:r>
            <a:r>
              <a:rPr lang="en-US" altLang="zh-CN" dirty="0"/>
              <a:t> </a:t>
            </a:r>
            <a:r>
              <a:rPr lang="zh-CN" altLang="en-US" dirty="0"/>
              <a:t>主要由三部分组成，分别是资源节点（</a:t>
            </a:r>
            <a:r>
              <a:rPr lang="en-US" altLang="zh-CN" dirty="0"/>
              <a:t>Resource Node</a:t>
            </a:r>
            <a:r>
              <a:rPr lang="zh-CN" altLang="en-US" dirty="0"/>
              <a:t>）、交换节点（</a:t>
            </a:r>
            <a:r>
              <a:rPr lang="en-US" altLang="zh-CN" dirty="0"/>
              <a:t>Switch Node</a:t>
            </a:r>
            <a:r>
              <a:rPr lang="zh-CN" altLang="en-US" dirty="0"/>
              <a:t>）和资源网络接口（</a:t>
            </a:r>
            <a:r>
              <a:rPr lang="en-US" altLang="zh-CN" dirty="0"/>
              <a:t>Resource Net Interface</a:t>
            </a:r>
            <a:r>
              <a:rPr lang="zh-CN" altLang="en-US" dirty="0"/>
              <a:t>）。</a:t>
            </a:r>
            <a:endParaRPr lang="en-US" altLang="zh-CN" dirty="0"/>
          </a:p>
          <a:p>
            <a:r>
              <a:rPr lang="zh-CN" altLang="en-US" dirty="0">
                <a:latin typeface="黑体" panose="02010609060101010101" pitchFamily="49" charset="-122"/>
                <a:ea typeface="黑体" panose="02010609060101010101" pitchFamily="49" charset="-122"/>
              </a:rPr>
              <a:t>资源节点：</a:t>
            </a:r>
            <a:endParaRPr lang="en-US" altLang="zh-CN" dirty="0">
              <a:latin typeface="黑体" panose="02010609060101010101" pitchFamily="49" charset="-122"/>
              <a:ea typeface="黑体" panose="02010609060101010101" pitchFamily="49" charset="-122"/>
            </a:endParaRPr>
          </a:p>
          <a:p>
            <a:r>
              <a:rPr lang="zh-CN" altLang="en-US" dirty="0"/>
              <a:t>       负责执行计算任务的节点。它既可以是</a:t>
            </a:r>
            <a:r>
              <a:rPr lang="en-US" altLang="zh-CN" dirty="0">
                <a:solidFill>
                  <a:srgbClr val="FF0000"/>
                </a:solidFill>
              </a:rPr>
              <a:t>SoC</a:t>
            </a:r>
            <a:r>
              <a:rPr lang="zh-CN" altLang="en-US" dirty="0"/>
              <a:t>，也可以是各种特定功能的</a:t>
            </a:r>
            <a:r>
              <a:rPr lang="en-US" altLang="zh-CN" dirty="0">
                <a:solidFill>
                  <a:srgbClr val="FF0000"/>
                </a:solidFill>
              </a:rPr>
              <a:t>IP</a:t>
            </a:r>
            <a:r>
              <a:rPr lang="zh-CN" altLang="en-US" dirty="0">
                <a:solidFill>
                  <a:srgbClr val="FF0000"/>
                </a:solidFill>
              </a:rPr>
              <a:t>核</a:t>
            </a:r>
            <a:r>
              <a:rPr lang="zh-CN" altLang="en-US" dirty="0"/>
              <a:t>，例如</a:t>
            </a:r>
            <a:r>
              <a:rPr lang="en-US" altLang="zh-CN" dirty="0"/>
              <a:t>DSP</a:t>
            </a:r>
            <a:r>
              <a:rPr lang="zh-CN" altLang="en-US" dirty="0"/>
              <a:t>、</a:t>
            </a:r>
            <a:r>
              <a:rPr lang="en-US" altLang="zh-CN" dirty="0"/>
              <a:t>ARM</a:t>
            </a:r>
            <a:r>
              <a:rPr lang="zh-CN" altLang="en-US" dirty="0"/>
              <a:t>等。</a:t>
            </a:r>
            <a:endParaRPr lang="en-US" altLang="zh-CN" dirty="0"/>
          </a:p>
          <a:p>
            <a:r>
              <a:rPr lang="zh-CN" altLang="en-US" dirty="0">
                <a:latin typeface="黑体" panose="02010609060101010101" pitchFamily="49" charset="-122"/>
                <a:ea typeface="黑体" panose="02010609060101010101" pitchFamily="49" charset="-122"/>
              </a:rPr>
              <a:t>交换节点：</a:t>
            </a:r>
            <a:endParaRPr lang="en-US" altLang="zh-CN" dirty="0">
              <a:latin typeface="黑体" panose="02010609060101010101" pitchFamily="49" charset="-122"/>
              <a:ea typeface="黑体" panose="02010609060101010101" pitchFamily="49" charset="-122"/>
            </a:endParaRPr>
          </a:p>
          <a:p>
            <a:r>
              <a:rPr lang="zh-CN" altLang="en-US" dirty="0"/>
              <a:t>       负责传输资源节点之间的数据通讯，其功能就是将从资源节点得到的信息经它的输入端口</a:t>
            </a:r>
            <a:r>
              <a:rPr lang="zh-CN" altLang="en-US" dirty="0">
                <a:solidFill>
                  <a:srgbClr val="FF0000"/>
                </a:solidFill>
              </a:rPr>
              <a:t>传输</a:t>
            </a:r>
            <a:r>
              <a:rPr lang="zh-CN" altLang="en-US" dirty="0"/>
              <a:t>到一个或者多个输出端口。</a:t>
            </a:r>
            <a:endParaRPr lang="en-US" altLang="zh-CN" dirty="0"/>
          </a:p>
          <a:p>
            <a:r>
              <a:rPr lang="zh-CN" altLang="en-US" dirty="0">
                <a:latin typeface="黑体" panose="02010609060101010101" pitchFamily="49" charset="-122"/>
                <a:ea typeface="黑体" panose="02010609060101010101" pitchFamily="49" charset="-122"/>
              </a:rPr>
              <a:t>资源网络接口：</a:t>
            </a:r>
            <a:endParaRPr lang="en-US" altLang="zh-CN" dirty="0">
              <a:latin typeface="黑体" panose="02010609060101010101" pitchFamily="49" charset="-122"/>
              <a:ea typeface="黑体" panose="02010609060101010101" pitchFamily="49" charset="-122"/>
            </a:endParaRPr>
          </a:p>
          <a:p>
            <a:r>
              <a:rPr lang="zh-CN" altLang="en-US" dirty="0"/>
              <a:t>       负责</a:t>
            </a:r>
            <a:r>
              <a:rPr lang="zh-CN" altLang="en-US" dirty="0">
                <a:solidFill>
                  <a:srgbClr val="FF0000"/>
                </a:solidFill>
              </a:rPr>
              <a:t>连接</a:t>
            </a:r>
            <a:r>
              <a:rPr lang="zh-CN" altLang="en-US" dirty="0"/>
              <a:t>资源节点和交换节点的</a:t>
            </a:r>
            <a:r>
              <a:rPr lang="zh-CN" altLang="en-US" dirty="0">
                <a:solidFill>
                  <a:srgbClr val="FF0000"/>
                </a:solidFill>
              </a:rPr>
              <a:t>接口</a:t>
            </a:r>
            <a:r>
              <a:rPr lang="zh-CN" altLang="en-US" dirty="0"/>
              <a:t>，只有配置了资源网络接口的资源节点才能连接到网络上与其他资源节点进行数据通讯。</a:t>
            </a:r>
          </a:p>
        </p:txBody>
      </p:sp>
    </p:spTree>
    <p:extLst>
      <p:ext uri="{BB962C8B-B14F-4D97-AF65-F5344CB8AC3E}">
        <p14:creationId xmlns:p14="http://schemas.microsoft.com/office/powerpoint/2010/main" val="717366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64EE416-4C5E-D67A-8FB1-A3C11C74899F}"/>
              </a:ext>
            </a:extLst>
          </p:cNvPr>
          <p:cNvSpPr/>
          <p:nvPr/>
        </p:nvSpPr>
        <p:spPr>
          <a:xfrm>
            <a:off x="4863581" y="467906"/>
            <a:ext cx="2464838" cy="523220"/>
          </a:xfrm>
          <a:prstGeom prst="rect">
            <a:avLst/>
          </a:prstGeom>
        </p:spPr>
        <p:txBody>
          <a:bodyPr wrap="square">
            <a:spAutoFit/>
          </a:bodyPr>
          <a:lstStyle/>
          <a:p>
            <a:r>
              <a:rPr lang="zh-CN" altLang="en-US" sz="2800" b="1" dirty="0">
                <a:solidFill>
                  <a:srgbClr val="1974A2"/>
                </a:solidFill>
                <a:latin typeface="思源黑体 CN Bold" panose="020B0800000000000000" pitchFamily="34" charset="-122"/>
                <a:ea typeface="思源黑体 CN Bold" panose="020B0800000000000000" pitchFamily="34" charset="-122"/>
              </a:rPr>
              <a:t>片上网络</a:t>
            </a:r>
            <a:r>
              <a:rPr lang="en-US" altLang="zh-CN" sz="2800" b="1" dirty="0">
                <a:solidFill>
                  <a:srgbClr val="1974A2"/>
                </a:solidFill>
                <a:latin typeface="思源黑体 CN Bold" panose="020B0800000000000000" pitchFamily="34" charset="-122"/>
                <a:ea typeface="思源黑体 CN Bold" panose="020B0800000000000000" pitchFamily="34" charset="-122"/>
              </a:rPr>
              <a:t>NOC</a:t>
            </a:r>
            <a:endParaRPr lang="zh-CN" altLang="en-US" sz="2800" b="1" dirty="0">
              <a:solidFill>
                <a:srgbClr val="1974A2"/>
              </a:solidFill>
              <a:latin typeface="思源黑体 CN Bold" panose="020B0800000000000000" pitchFamily="34" charset="-122"/>
              <a:ea typeface="思源黑体 CN Bold" panose="020B0800000000000000" pitchFamily="34" charset="-122"/>
            </a:endParaRPr>
          </a:p>
        </p:txBody>
      </p:sp>
      <p:sp>
        <p:nvSpPr>
          <p:cNvPr id="3" name="文本框 2">
            <a:extLst>
              <a:ext uri="{FF2B5EF4-FFF2-40B4-BE49-F238E27FC236}">
                <a16:creationId xmlns:a16="http://schemas.microsoft.com/office/drawing/2014/main" id="{959CA76A-C113-8AB1-57C7-F5A89976A2BA}"/>
              </a:ext>
            </a:extLst>
          </p:cNvPr>
          <p:cNvSpPr txBox="1"/>
          <p:nvPr/>
        </p:nvSpPr>
        <p:spPr>
          <a:xfrm>
            <a:off x="382555" y="1332505"/>
            <a:ext cx="11206065" cy="4555093"/>
          </a:xfrm>
          <a:prstGeom prst="rect">
            <a:avLst/>
          </a:prstGeom>
          <a:noFill/>
        </p:spPr>
        <p:txBody>
          <a:bodyPr wrap="square" rtlCol="0">
            <a:spAutoFit/>
          </a:bodyPr>
          <a:lstStyle/>
          <a:p>
            <a:r>
              <a:rPr lang="zh-CN" altLang="en-US" sz="2800" dirty="0">
                <a:solidFill>
                  <a:srgbClr val="FF0000"/>
                </a:solidFill>
                <a:latin typeface="黑体" panose="02010609060101010101" pitchFamily="49" charset="-122"/>
                <a:ea typeface="黑体" panose="02010609060101010101" pitchFamily="49" charset="-122"/>
              </a:rPr>
              <a:t>核心思想：</a:t>
            </a:r>
            <a:endParaRPr lang="en-US" altLang="zh-CN" sz="2800" dirty="0">
              <a:solidFill>
                <a:srgbClr val="FF0000"/>
              </a:solidFill>
              <a:latin typeface="黑体" panose="02010609060101010101" pitchFamily="49" charset="-122"/>
              <a:ea typeface="黑体" panose="02010609060101010101" pitchFamily="49" charset="-122"/>
            </a:endParaRPr>
          </a:p>
          <a:p>
            <a:r>
              <a:rPr lang="zh-CN" altLang="en-US" dirty="0"/>
              <a:t>       将计算机网络技术移植到集成电路设计中来，从体系结构上彻底解决片上通讯的瓶颈问题，并同时解决时钟问题。</a:t>
            </a:r>
            <a:endParaRPr lang="en-US" altLang="zh-CN" dirty="0"/>
          </a:p>
          <a:p>
            <a:endParaRPr lang="en-US" altLang="zh-CN" dirty="0"/>
          </a:p>
          <a:p>
            <a:r>
              <a:rPr lang="zh-CN" altLang="en-US" sz="2800" dirty="0">
                <a:solidFill>
                  <a:srgbClr val="FF0000"/>
                </a:solidFill>
                <a:latin typeface="黑体" panose="02010609060101010101" pitchFamily="49" charset="-122"/>
                <a:ea typeface="黑体" panose="02010609060101010101" pitchFamily="49" charset="-122"/>
              </a:rPr>
              <a:t>低功耗分析：</a:t>
            </a:r>
            <a:endParaRPr lang="en-US" altLang="zh-CN" sz="2800" dirty="0">
              <a:solidFill>
                <a:srgbClr val="FF0000"/>
              </a:solidFill>
              <a:latin typeface="黑体" panose="02010609060101010101" pitchFamily="49" charset="-122"/>
              <a:ea typeface="黑体" panose="02010609060101010101" pitchFamily="49" charset="-122"/>
            </a:endParaRPr>
          </a:p>
          <a:p>
            <a:endParaRPr lang="en-US" altLang="zh-CN" dirty="0"/>
          </a:p>
          <a:p>
            <a:endParaRPr lang="en-US" altLang="zh-CN" dirty="0"/>
          </a:p>
          <a:p>
            <a:r>
              <a:rPr lang="en-US" altLang="zh-CN" dirty="0"/>
              <a:t>1.</a:t>
            </a:r>
            <a:r>
              <a:rPr lang="zh-CN" altLang="en-US" dirty="0"/>
              <a:t>低摆幅信号：</a:t>
            </a:r>
            <a:endParaRPr lang="en-US" altLang="zh-CN" dirty="0"/>
          </a:p>
          <a:p>
            <a:r>
              <a:rPr lang="en-US" altLang="zh-CN" dirty="0"/>
              <a:t>       NOC</a:t>
            </a:r>
            <a:r>
              <a:rPr lang="zh-CN" altLang="en-US" dirty="0">
                <a:solidFill>
                  <a:srgbClr val="FF0000"/>
                </a:solidFill>
              </a:rPr>
              <a:t>互连动态功耗</a:t>
            </a:r>
            <a:r>
              <a:rPr lang="zh-CN" altLang="en-US" dirty="0"/>
              <a:t>可以描述为：</a:t>
            </a:r>
            <a:endParaRPr lang="en-US" altLang="zh-CN" dirty="0"/>
          </a:p>
          <a:p>
            <a:endParaRPr lang="en-US" altLang="zh-CN" dirty="0"/>
          </a:p>
          <a:p>
            <a:r>
              <a:rPr lang="zh-CN" altLang="en-US" dirty="0"/>
              <a:t>可以看出，采用低摆幅信号能有效地降低系统的功耗，并能有效地改善信号的延迟和干扰。</a:t>
            </a:r>
            <a:endParaRPr lang="en-US" altLang="zh-CN" dirty="0"/>
          </a:p>
          <a:p>
            <a:r>
              <a:rPr lang="en-US" altLang="zh-CN" dirty="0"/>
              <a:t>2.</a:t>
            </a:r>
            <a:r>
              <a:rPr lang="zh-CN" altLang="en-US" dirty="0"/>
              <a:t>总线编码降低翻转率：</a:t>
            </a:r>
            <a:endParaRPr lang="en-US" altLang="zh-CN" dirty="0"/>
          </a:p>
          <a:p>
            <a:r>
              <a:rPr lang="en-US" altLang="zh-CN" dirty="0"/>
              <a:t>       </a:t>
            </a:r>
            <a:r>
              <a:rPr lang="zh-CN" altLang="en-US" dirty="0"/>
              <a:t>编码技术可以减少功耗，并保证高的传输速度和噪声容限，为降低信号反转率以降低功耗，对于总线编码技术提出了一种</a:t>
            </a:r>
            <a:r>
              <a:rPr lang="en-US" altLang="zh-CN" dirty="0"/>
              <a:t>SILENT</a:t>
            </a:r>
            <a:r>
              <a:rPr lang="zh-CN" altLang="en-US" dirty="0"/>
              <a:t>的编码方式。该方法利用前后数据的相关性，对发生信号翻转的信号用</a:t>
            </a:r>
            <a:r>
              <a:rPr lang="en-US" altLang="zh-CN" dirty="0"/>
              <a:t>1</a:t>
            </a:r>
            <a:r>
              <a:rPr lang="zh-CN" altLang="en-US" dirty="0"/>
              <a:t>表示，</a:t>
            </a:r>
            <a:r>
              <a:rPr lang="en-US" altLang="zh-CN" dirty="0"/>
              <a:t>0</a:t>
            </a:r>
            <a:r>
              <a:rPr lang="zh-CN" altLang="en-US" dirty="0"/>
              <a:t>则表示数据并未发生翻转。此种方法不仅大大降低了并行传输和串行传输的翻转率，并特别适合于</a:t>
            </a:r>
            <a:r>
              <a:rPr lang="en-US" altLang="zh-CN" dirty="0" err="1"/>
              <a:t>NoC</a:t>
            </a:r>
            <a:r>
              <a:rPr lang="zh-CN" altLang="en-US" dirty="0"/>
              <a:t>数据传输方式。</a:t>
            </a:r>
            <a:endParaRPr lang="en-US" altLang="zh-CN" dirty="0"/>
          </a:p>
        </p:txBody>
      </p:sp>
      <p:sp>
        <p:nvSpPr>
          <p:cNvPr id="4" name="矩形 3">
            <a:extLst>
              <a:ext uri="{FF2B5EF4-FFF2-40B4-BE49-F238E27FC236}">
                <a16:creationId xmlns:a16="http://schemas.microsoft.com/office/drawing/2014/main" id="{0C49CB35-003B-3443-F937-101BC9A4302F}"/>
              </a:ext>
            </a:extLst>
          </p:cNvPr>
          <p:cNvSpPr/>
          <p:nvPr/>
        </p:nvSpPr>
        <p:spPr>
          <a:xfrm>
            <a:off x="382555" y="3089482"/>
            <a:ext cx="1723549" cy="461665"/>
          </a:xfrm>
          <a:prstGeom prst="rect">
            <a:avLst/>
          </a:prstGeom>
          <a:noFill/>
        </p:spPr>
        <p:txBody>
          <a:bodyPr wrap="none" lIns="91440" tIns="45720" rIns="91440" bIns="45720">
            <a:spAutoFit/>
          </a:bodyPr>
          <a:lstStyle/>
          <a:p>
            <a:pPr algn="ctr"/>
            <a:r>
              <a:rPr lang="zh-CN" altLang="en-US" sz="2400" b="0" cap="none" spc="0" dirty="0">
                <a:ln w="0"/>
                <a:solidFill>
                  <a:schemeClr val="tx1"/>
                </a:solidFill>
                <a:effectLst>
                  <a:outerShdw blurRad="38100" dist="19050" dir="2700000" algn="tl" rotWithShape="0">
                    <a:schemeClr val="dk1">
                      <a:alpha val="40000"/>
                    </a:schemeClr>
                  </a:outerShdw>
                </a:effectLst>
              </a:rPr>
              <a:t>硬件层面：</a:t>
            </a:r>
          </a:p>
        </p:txBody>
      </p:sp>
      <p:pic>
        <p:nvPicPr>
          <p:cNvPr id="6" name="图片 5">
            <a:extLst>
              <a:ext uri="{FF2B5EF4-FFF2-40B4-BE49-F238E27FC236}">
                <a16:creationId xmlns:a16="http://schemas.microsoft.com/office/drawing/2014/main" id="{1C7DF09A-AA58-985D-F7B9-8F514123130A}"/>
              </a:ext>
            </a:extLst>
          </p:cNvPr>
          <p:cNvPicPr>
            <a:picLocks noChangeAspect="1"/>
          </p:cNvPicPr>
          <p:nvPr/>
        </p:nvPicPr>
        <p:blipFill>
          <a:blip r:embed="rId2"/>
          <a:stretch>
            <a:fillRect/>
          </a:stretch>
        </p:blipFill>
        <p:spPr>
          <a:xfrm>
            <a:off x="4174745" y="4157625"/>
            <a:ext cx="3842510" cy="285133"/>
          </a:xfrm>
          <a:prstGeom prst="rect">
            <a:avLst/>
          </a:prstGeom>
        </p:spPr>
      </p:pic>
    </p:spTree>
    <p:extLst>
      <p:ext uri="{BB962C8B-B14F-4D97-AF65-F5344CB8AC3E}">
        <p14:creationId xmlns:p14="http://schemas.microsoft.com/office/powerpoint/2010/main" val="551787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0774364-1E95-BEFA-E2F0-F141434ABCA4}"/>
              </a:ext>
            </a:extLst>
          </p:cNvPr>
          <p:cNvPicPr>
            <a:picLocks noChangeAspect="1"/>
          </p:cNvPicPr>
          <p:nvPr/>
        </p:nvPicPr>
        <p:blipFill>
          <a:blip r:embed="rId2"/>
          <a:stretch>
            <a:fillRect/>
          </a:stretch>
        </p:blipFill>
        <p:spPr>
          <a:xfrm>
            <a:off x="3951666" y="442937"/>
            <a:ext cx="4288667" cy="1843063"/>
          </a:xfrm>
          <a:prstGeom prst="rect">
            <a:avLst/>
          </a:prstGeom>
        </p:spPr>
      </p:pic>
      <p:sp>
        <p:nvSpPr>
          <p:cNvPr id="4" name="文本框 3">
            <a:extLst>
              <a:ext uri="{FF2B5EF4-FFF2-40B4-BE49-F238E27FC236}">
                <a16:creationId xmlns:a16="http://schemas.microsoft.com/office/drawing/2014/main" id="{AB9693B1-0294-FEC5-A74A-72A78F04632B}"/>
              </a:ext>
            </a:extLst>
          </p:cNvPr>
          <p:cNvSpPr txBox="1"/>
          <p:nvPr/>
        </p:nvSpPr>
        <p:spPr>
          <a:xfrm>
            <a:off x="553615" y="2453950"/>
            <a:ext cx="11100320" cy="3693319"/>
          </a:xfrm>
          <a:prstGeom prst="rect">
            <a:avLst/>
          </a:prstGeom>
          <a:noFill/>
        </p:spPr>
        <p:txBody>
          <a:bodyPr wrap="square" rtlCol="0">
            <a:spAutoFit/>
          </a:bodyPr>
          <a:lstStyle/>
          <a:p>
            <a:r>
              <a:rPr lang="en-US" altLang="zh-CN" dirty="0"/>
              <a:t>3.</a:t>
            </a:r>
            <a:r>
              <a:rPr lang="zh-CN" altLang="en-US" dirty="0"/>
              <a:t>低功耗时钟控制技术：</a:t>
            </a:r>
            <a:endParaRPr lang="en-US" altLang="zh-CN" dirty="0"/>
          </a:p>
          <a:p>
            <a:r>
              <a:rPr lang="zh-CN" altLang="en-US" dirty="0"/>
              <a:t>       在</a:t>
            </a:r>
            <a:r>
              <a:rPr lang="en-US" altLang="zh-CN" dirty="0" err="1"/>
              <a:t>NoC</a:t>
            </a:r>
            <a:r>
              <a:rPr lang="zh-CN" altLang="en-US" dirty="0"/>
              <a:t>系统结构中，构建了一个全局异步、局部同步</a:t>
            </a:r>
            <a:r>
              <a:rPr lang="en-US" altLang="zh-CN" dirty="0"/>
              <a:t>(</a:t>
            </a:r>
            <a:r>
              <a:rPr lang="en-US" altLang="zh-CN" dirty="0">
                <a:solidFill>
                  <a:srgbClr val="FF0000"/>
                </a:solidFill>
              </a:rPr>
              <a:t>GALS</a:t>
            </a:r>
            <a:r>
              <a:rPr lang="en-US" altLang="zh-CN" dirty="0"/>
              <a:t>)</a:t>
            </a:r>
            <a:r>
              <a:rPr lang="zh-CN" altLang="en-US" dirty="0"/>
              <a:t>的时钟网络，异步技术的引入，使得分布式管理得到实现，减少了全局时钟同步带来的大的能量消耗，有效地降低了系统的功耗。</a:t>
            </a:r>
            <a:endParaRPr lang="en-US" altLang="zh-CN" dirty="0"/>
          </a:p>
          <a:p>
            <a:endParaRPr lang="en-US" altLang="zh-CN" dirty="0"/>
          </a:p>
          <a:p>
            <a:endParaRPr lang="en-US" altLang="zh-CN" dirty="0"/>
          </a:p>
          <a:p>
            <a:r>
              <a:rPr lang="en-US" altLang="zh-CN" dirty="0"/>
              <a:t>1.</a:t>
            </a:r>
            <a:r>
              <a:rPr lang="zh-CN" altLang="en-US" dirty="0"/>
              <a:t>动态电压</a:t>
            </a:r>
            <a:r>
              <a:rPr lang="en-US" altLang="zh-CN" dirty="0"/>
              <a:t>/</a:t>
            </a:r>
            <a:r>
              <a:rPr lang="zh-CN" altLang="en-US" dirty="0"/>
              <a:t>频率调整：</a:t>
            </a:r>
            <a:endParaRPr lang="en-US" altLang="zh-CN" dirty="0"/>
          </a:p>
          <a:p>
            <a:r>
              <a:rPr lang="zh-CN" altLang="en-US" dirty="0"/>
              <a:t>      通过合理安排电压和频率配置，最小化数据传输时所消耗的功耗。</a:t>
            </a:r>
            <a:endParaRPr lang="en-US" altLang="zh-CN" dirty="0"/>
          </a:p>
          <a:p>
            <a:r>
              <a:rPr lang="en-US" altLang="zh-CN" dirty="0"/>
              <a:t>2.</a:t>
            </a:r>
            <a:r>
              <a:rPr lang="zh-CN" altLang="en-US" dirty="0"/>
              <a:t>编译指导低功耗优化：</a:t>
            </a:r>
            <a:endParaRPr lang="en-US" altLang="zh-CN" dirty="0"/>
          </a:p>
          <a:p>
            <a:r>
              <a:rPr lang="zh-CN" altLang="en-US" dirty="0"/>
              <a:t>      尽可能让更多的消息传输重用</a:t>
            </a:r>
            <a:r>
              <a:rPr lang="zh-CN" altLang="en-US" dirty="0">
                <a:solidFill>
                  <a:srgbClr val="FF0000"/>
                </a:solidFill>
              </a:rPr>
              <a:t>同一通道</a:t>
            </a:r>
            <a:r>
              <a:rPr lang="zh-CN" altLang="en-US" dirty="0"/>
              <a:t>集合，从而使得通信通道的空闲时间增加。然后对那些没有被用到的通道，通过功耗管理机制来降低功耗。</a:t>
            </a:r>
            <a:endParaRPr lang="en-US" altLang="zh-CN" dirty="0"/>
          </a:p>
          <a:p>
            <a:r>
              <a:rPr lang="zh-CN" altLang="en-US" dirty="0"/>
              <a:t>      编译指导的低功耗方法，能够在高层通信分析时，掌握了哪些通信链路在什么情况下处于空闲状态并</a:t>
            </a:r>
            <a:r>
              <a:rPr lang="zh-CN" altLang="en-US" dirty="0">
                <a:solidFill>
                  <a:srgbClr val="FF0000"/>
                </a:solidFill>
              </a:rPr>
              <a:t>关闭</a:t>
            </a:r>
            <a:r>
              <a:rPr lang="zh-CN" altLang="en-US" dirty="0"/>
              <a:t>它，以降低功耗；同时能在未来及时地预测到这些通信链路将被</a:t>
            </a:r>
            <a:r>
              <a:rPr lang="zh-CN" altLang="en-US" dirty="0">
                <a:solidFill>
                  <a:srgbClr val="FF0000"/>
                </a:solidFill>
              </a:rPr>
              <a:t>使用</a:t>
            </a:r>
            <a:r>
              <a:rPr lang="zh-CN" altLang="en-US" dirty="0"/>
              <a:t>，达到</a:t>
            </a:r>
            <a:r>
              <a:rPr lang="zh-CN" altLang="en-US" dirty="0">
                <a:solidFill>
                  <a:srgbClr val="FF0000"/>
                </a:solidFill>
              </a:rPr>
              <a:t>动态关断</a:t>
            </a:r>
            <a:r>
              <a:rPr lang="zh-CN" altLang="en-US" dirty="0"/>
              <a:t>的效果，从而可以获得和基于硬件设计一样的功耗优化效果。</a:t>
            </a:r>
            <a:endParaRPr lang="en-US" altLang="zh-CN" dirty="0"/>
          </a:p>
        </p:txBody>
      </p:sp>
      <p:sp>
        <p:nvSpPr>
          <p:cNvPr id="5" name="矩形 4">
            <a:extLst>
              <a:ext uri="{FF2B5EF4-FFF2-40B4-BE49-F238E27FC236}">
                <a16:creationId xmlns:a16="http://schemas.microsoft.com/office/drawing/2014/main" id="{3C42C59B-BC9F-C465-99FB-D8A3869E8566}"/>
              </a:ext>
            </a:extLst>
          </p:cNvPr>
          <p:cNvSpPr/>
          <p:nvPr/>
        </p:nvSpPr>
        <p:spPr>
          <a:xfrm>
            <a:off x="553616" y="3377280"/>
            <a:ext cx="1723549" cy="461665"/>
          </a:xfrm>
          <a:prstGeom prst="rect">
            <a:avLst/>
          </a:prstGeom>
          <a:noFill/>
        </p:spPr>
        <p:txBody>
          <a:bodyPr wrap="none" lIns="91440" tIns="45720" rIns="91440" bIns="45720">
            <a:spAutoFit/>
          </a:bodyPr>
          <a:lstStyle/>
          <a:p>
            <a:pPr algn="ctr"/>
            <a:r>
              <a:rPr lang="zh-CN" altLang="en-US" sz="2400" b="0" cap="none" spc="0" dirty="0">
                <a:ln w="0"/>
                <a:solidFill>
                  <a:schemeClr val="tx1"/>
                </a:solidFill>
                <a:effectLst>
                  <a:outerShdw blurRad="38100" dist="19050" dir="2700000" algn="tl" rotWithShape="0">
                    <a:schemeClr val="dk1">
                      <a:alpha val="40000"/>
                    </a:schemeClr>
                  </a:outerShdw>
                </a:effectLst>
              </a:rPr>
              <a:t>软件层面：</a:t>
            </a:r>
          </a:p>
        </p:txBody>
      </p:sp>
    </p:spTree>
    <p:extLst>
      <p:ext uri="{BB962C8B-B14F-4D97-AF65-F5344CB8AC3E}">
        <p14:creationId xmlns:p14="http://schemas.microsoft.com/office/powerpoint/2010/main" val="3820075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712B9C2-02FD-C55E-038A-E714CAAE8250}"/>
              </a:ext>
            </a:extLst>
          </p:cNvPr>
          <p:cNvSpPr/>
          <p:nvPr/>
        </p:nvSpPr>
        <p:spPr>
          <a:xfrm>
            <a:off x="5642687" y="421253"/>
            <a:ext cx="906625" cy="523220"/>
          </a:xfrm>
          <a:prstGeom prst="rect">
            <a:avLst/>
          </a:prstGeom>
        </p:spPr>
        <p:txBody>
          <a:bodyPr wrap="square">
            <a:spAutoFit/>
          </a:bodyPr>
          <a:lstStyle/>
          <a:p>
            <a:r>
              <a:rPr lang="zh-CN" altLang="en-US" sz="2800" b="1" dirty="0">
                <a:solidFill>
                  <a:srgbClr val="1974A2"/>
                </a:solidFill>
                <a:latin typeface="思源黑体 CN Bold" panose="020B0800000000000000" pitchFamily="34" charset="-122"/>
                <a:ea typeface="思源黑体 CN Bold" panose="020B0800000000000000" pitchFamily="34" charset="-122"/>
              </a:rPr>
              <a:t>总结</a:t>
            </a:r>
          </a:p>
        </p:txBody>
      </p:sp>
      <p:sp>
        <p:nvSpPr>
          <p:cNvPr id="3" name="文本框 2">
            <a:extLst>
              <a:ext uri="{FF2B5EF4-FFF2-40B4-BE49-F238E27FC236}">
                <a16:creationId xmlns:a16="http://schemas.microsoft.com/office/drawing/2014/main" id="{5CF95371-4271-3AB3-8483-FB1BCCEB2C47}"/>
              </a:ext>
            </a:extLst>
          </p:cNvPr>
          <p:cNvSpPr txBox="1"/>
          <p:nvPr/>
        </p:nvSpPr>
        <p:spPr>
          <a:xfrm>
            <a:off x="531845" y="979714"/>
            <a:ext cx="11131420" cy="5355312"/>
          </a:xfrm>
          <a:prstGeom prst="rect">
            <a:avLst/>
          </a:prstGeom>
          <a:noFill/>
        </p:spPr>
        <p:txBody>
          <a:bodyPr wrap="square" rtlCol="0">
            <a:spAutoFit/>
          </a:bodyPr>
          <a:lstStyle/>
          <a:p>
            <a:r>
              <a:rPr lang="zh-CN" altLang="en-US" dirty="0"/>
              <a:t>        随着集成电路技术的不断进步，未来</a:t>
            </a:r>
            <a:r>
              <a:rPr lang="en-US" altLang="zh-CN" dirty="0"/>
              <a:t>SoC</a:t>
            </a:r>
            <a:r>
              <a:rPr lang="zh-CN" altLang="en-US" dirty="0"/>
              <a:t>设计一定会面临更加严重的功耗与性能之间的</a:t>
            </a:r>
            <a:r>
              <a:rPr lang="en-US" altLang="zh-CN" dirty="0"/>
              <a:t>tradeoff</a:t>
            </a:r>
            <a:r>
              <a:rPr lang="zh-CN" altLang="en-US" dirty="0"/>
              <a:t>问题，因此，工程师必须朝着越来越高的设计水平进行设计，但也必须降低到越来越低的设计水平。</a:t>
            </a:r>
          </a:p>
          <a:p>
            <a:pPr algn="just"/>
            <a:r>
              <a:rPr lang="zh-CN" altLang="en-US" dirty="0"/>
              <a:t>        而随着</a:t>
            </a:r>
            <a:r>
              <a:rPr lang="en-US" altLang="zh-CN" dirty="0"/>
              <a:t>SoC</a:t>
            </a:r>
            <a:r>
              <a:rPr lang="zh-CN" altLang="en-US" dirty="0"/>
              <a:t>设计愈加复杂，集成的处理核心、内存模块、外设等元素越来越多，传统的总线和交叉开关矩阵等通信方式已经难以满足高性能、低功耗和高可扩展性的需求。</a:t>
            </a:r>
            <a:r>
              <a:rPr lang="en-US" altLang="zh-CN" dirty="0" err="1"/>
              <a:t>NoC</a:t>
            </a:r>
            <a:r>
              <a:rPr lang="zh-CN" altLang="en-US" dirty="0"/>
              <a:t>的引入，通过提供高效、灵活、可扩展的通信解决方案，极大地促进了</a:t>
            </a:r>
            <a:r>
              <a:rPr lang="en-US" altLang="zh-CN" dirty="0"/>
              <a:t>SoC</a:t>
            </a:r>
            <a:r>
              <a:rPr lang="zh-CN" altLang="en-US" dirty="0"/>
              <a:t>设计的发展，使得设计师能够更好地应对日益增长的处理能力需求，同时在功耗和面积上保持竞争力。随着技术的进步，</a:t>
            </a:r>
            <a:r>
              <a:rPr lang="en-US" altLang="zh-CN" dirty="0" err="1"/>
              <a:t>NoC</a:t>
            </a:r>
            <a:r>
              <a:rPr lang="zh-CN" altLang="en-US" dirty="0"/>
              <a:t>将继续在未来的</a:t>
            </a:r>
            <a:r>
              <a:rPr lang="en-US" altLang="zh-CN" dirty="0"/>
              <a:t>SoC</a:t>
            </a:r>
            <a:r>
              <a:rPr lang="zh-CN" altLang="en-US" dirty="0"/>
              <a:t>设计中扮演重要角色。</a:t>
            </a:r>
            <a:endParaRPr lang="en-US" altLang="zh-CN" dirty="0"/>
          </a:p>
          <a:p>
            <a:pPr algn="just"/>
            <a:endParaRPr lang="en-US" altLang="zh-CN" dirty="0"/>
          </a:p>
          <a:p>
            <a:pPr algn="just"/>
            <a:endParaRPr lang="en-US" altLang="zh-CN" dirty="0"/>
          </a:p>
          <a:p>
            <a:pPr algn="just"/>
            <a:r>
              <a:rPr lang="en-US" altLang="zh-CN" dirty="0"/>
              <a:t>[1]</a:t>
            </a:r>
            <a:r>
              <a:rPr lang="en-US" altLang="zh-CN" dirty="0" err="1"/>
              <a:t>Piguet</a:t>
            </a:r>
            <a:r>
              <a:rPr lang="en-US" altLang="zh-CN" dirty="0"/>
              <a:t>, </a:t>
            </a:r>
            <a:r>
              <a:rPr lang="en-US" altLang="zh-CN" dirty="0" err="1"/>
              <a:t>Christian.Low</a:t>
            </a:r>
            <a:r>
              <a:rPr lang="en-US" altLang="zh-CN" dirty="0"/>
              <a:t> Power SoC Design[A].Topical Workshop on Electronics for Particle Physics[C],2009</a:t>
            </a:r>
          </a:p>
          <a:p>
            <a:pPr algn="just"/>
            <a:r>
              <a:rPr lang="en-US" altLang="zh-CN" dirty="0"/>
              <a:t>[2]</a:t>
            </a:r>
            <a:r>
              <a:rPr lang="en-US" altLang="zh-CN" dirty="0" err="1"/>
              <a:t>Benini</a:t>
            </a:r>
            <a:r>
              <a:rPr lang="en-US" altLang="zh-CN" dirty="0"/>
              <a:t>, L.*;De </a:t>
            </a:r>
            <a:r>
              <a:rPr lang="en-US" altLang="zh-CN" dirty="0" err="1"/>
              <a:t>Micheli</a:t>
            </a:r>
            <a:r>
              <a:rPr lang="en-US" altLang="zh-CN" dirty="0"/>
              <a:t>, </a:t>
            </a:r>
            <a:r>
              <a:rPr lang="en-US" altLang="zh-CN" dirty="0" err="1"/>
              <a:t>G..Networks</a:t>
            </a:r>
            <a:r>
              <a:rPr lang="en-US" altLang="zh-CN" dirty="0"/>
              <a:t> on chips: a new SoC paradigm[J].Comp-</a:t>
            </a:r>
            <a:r>
              <a:rPr lang="en-US" altLang="zh-CN" dirty="0" err="1"/>
              <a:t>uter</a:t>
            </a:r>
            <a:r>
              <a:rPr lang="en-US" altLang="zh-CN" dirty="0"/>
              <a:t> ,2002,Vol.35(1): 70-78</a:t>
            </a:r>
          </a:p>
          <a:p>
            <a:pPr algn="just"/>
            <a:r>
              <a:rPr lang="en-US" altLang="zh-CN" dirty="0"/>
              <a:t>[3]</a:t>
            </a:r>
            <a:r>
              <a:rPr lang="en-US" altLang="zh-CN" dirty="0" err="1"/>
              <a:t>Chandrakasan</a:t>
            </a:r>
            <a:r>
              <a:rPr lang="en-US" altLang="zh-CN" dirty="0"/>
              <a:t>, </a:t>
            </a:r>
            <a:r>
              <a:rPr lang="en-US" altLang="zh-CN" dirty="0" err="1"/>
              <a:t>A.P.;Sheng</a:t>
            </a:r>
            <a:r>
              <a:rPr lang="en-US" altLang="zh-CN" dirty="0"/>
              <a:t>, S.;</a:t>
            </a:r>
            <a:r>
              <a:rPr lang="en-US" altLang="zh-CN" dirty="0" err="1"/>
              <a:t>Brodersen</a:t>
            </a:r>
            <a:r>
              <a:rPr lang="en-US" altLang="zh-CN" dirty="0"/>
              <a:t>, </a:t>
            </a:r>
            <a:r>
              <a:rPr lang="en-US" altLang="zh-CN" dirty="0" err="1"/>
              <a:t>R.W..Low</a:t>
            </a:r>
            <a:r>
              <a:rPr lang="en-US" altLang="zh-CN" dirty="0"/>
              <a:t> Power CMOS Digital Design[J].IEEE JOURNAL OF SOLID STATE CIRCUITS,1995,Vol.27(4): 473-484</a:t>
            </a:r>
          </a:p>
          <a:p>
            <a:pPr algn="just"/>
            <a:r>
              <a:rPr lang="en-US" altLang="zh-CN" dirty="0"/>
              <a:t>[4]Roy, </a:t>
            </a:r>
            <a:r>
              <a:rPr lang="en-US" altLang="zh-CN" dirty="0" err="1"/>
              <a:t>K;Mukhopadhyay</a:t>
            </a:r>
            <a:r>
              <a:rPr lang="en-US" altLang="zh-CN" dirty="0"/>
              <a:t>, </a:t>
            </a:r>
            <a:r>
              <a:rPr lang="en-US" altLang="zh-CN" dirty="0" err="1"/>
              <a:t>S;Mahmoodi-Meimand</a:t>
            </a:r>
            <a:r>
              <a:rPr lang="en-US" altLang="zh-CN" dirty="0"/>
              <a:t>, </a:t>
            </a:r>
            <a:r>
              <a:rPr lang="en-US" altLang="zh-CN" dirty="0" err="1"/>
              <a:t>H.Leakage</a:t>
            </a:r>
            <a:r>
              <a:rPr lang="en-US" altLang="zh-CN" dirty="0"/>
              <a:t> current mechanisms and leakage reduction techniques in deep-</a:t>
            </a:r>
            <a:r>
              <a:rPr lang="en-US" altLang="zh-CN" dirty="0" err="1"/>
              <a:t>submicrometer</a:t>
            </a:r>
            <a:r>
              <a:rPr lang="en-US" altLang="zh-CN" dirty="0"/>
              <a:t> CMOS circuits[J].Proceedings of the IEEE,2003,Vol.91(2): 303-304</a:t>
            </a:r>
          </a:p>
          <a:p>
            <a:pPr algn="just"/>
            <a:r>
              <a:rPr lang="en-US" altLang="zh-CN" dirty="0"/>
              <a:t>[5]</a:t>
            </a:r>
            <a:r>
              <a:rPr lang="en-US" altLang="zh-CN" dirty="0" err="1"/>
              <a:t>Kangmin</a:t>
            </a:r>
            <a:r>
              <a:rPr lang="en-US" altLang="zh-CN" dirty="0"/>
              <a:t> </a:t>
            </a:r>
            <a:r>
              <a:rPr lang="en-US" altLang="zh-CN" dirty="0" err="1"/>
              <a:t>Lee;Se-Joong</a:t>
            </a:r>
            <a:r>
              <a:rPr lang="en-US" altLang="zh-CN" dirty="0"/>
              <a:t> </a:t>
            </a:r>
            <a:r>
              <a:rPr lang="en-US" altLang="zh-CN" dirty="0" err="1"/>
              <a:t>Lee;Hoi-Jun</a:t>
            </a:r>
            <a:r>
              <a:rPr lang="en-US" altLang="zh-CN" dirty="0"/>
              <a:t> </a:t>
            </a:r>
            <a:r>
              <a:rPr lang="en-US" altLang="zh-CN" dirty="0" err="1"/>
              <a:t>Yoo.Low</a:t>
            </a:r>
            <a:r>
              <a:rPr lang="en-US" altLang="zh-CN" dirty="0"/>
              <a:t>-power network-on-chip for high-performance SoC design[J].Very Large Scale Integration Systems, IEEE Transactions on,2006,Vol.14(2): 148-160</a:t>
            </a:r>
          </a:p>
          <a:p>
            <a:pPr algn="just"/>
            <a:r>
              <a:rPr lang="en-US" altLang="zh-CN" dirty="0"/>
              <a:t>[6]BONE: Network-on-Chip Protocol [Online]. </a:t>
            </a:r>
            <a:r>
              <a:rPr lang="en-US" altLang="zh-CN" dirty="0" err="1"/>
              <a:t>Available:http</a:t>
            </a:r>
            <a:r>
              <a:rPr lang="en-US" altLang="zh-CN" dirty="0"/>
              <a:t>://ssl.kaist.ac.kr/</a:t>
            </a:r>
            <a:r>
              <a:rPr lang="en-US" altLang="zh-CN" dirty="0" err="1"/>
              <a:t>ocn</a:t>
            </a:r>
            <a:endParaRPr lang="en-US" altLang="zh-CN" dirty="0"/>
          </a:p>
          <a:p>
            <a:pPr algn="just"/>
            <a:r>
              <a:rPr lang="en-US" altLang="zh-CN" dirty="0"/>
              <a:t>[7]Ho, </a:t>
            </a:r>
            <a:r>
              <a:rPr lang="en-US" altLang="zh-CN" dirty="0" err="1"/>
              <a:t>R.;Mai</a:t>
            </a:r>
            <a:r>
              <a:rPr lang="en-US" altLang="zh-CN" dirty="0"/>
              <a:t>, </a:t>
            </a:r>
            <a:r>
              <a:rPr lang="en-US" altLang="zh-CN" dirty="0" err="1"/>
              <a:t>K.;Horowitz</a:t>
            </a:r>
            <a:r>
              <a:rPr lang="en-US" altLang="zh-CN" dirty="0"/>
              <a:t>, </a:t>
            </a:r>
            <a:r>
              <a:rPr lang="en-US" altLang="zh-CN" dirty="0" err="1"/>
              <a:t>M..Efficient</a:t>
            </a:r>
            <a:r>
              <a:rPr lang="en-US" altLang="zh-CN" dirty="0"/>
              <a:t> on-chip global interconnects[A].2003 Symposium on VLSI Circuits. Digest of Technical Papers (IEEE Cat. No.03CH37408)[C],2003</a:t>
            </a:r>
          </a:p>
        </p:txBody>
      </p:sp>
      <p:sp>
        <p:nvSpPr>
          <p:cNvPr id="4" name="矩形 3">
            <a:extLst>
              <a:ext uri="{FF2B5EF4-FFF2-40B4-BE49-F238E27FC236}">
                <a16:creationId xmlns:a16="http://schemas.microsoft.com/office/drawing/2014/main" id="{708F49EE-9A8D-4130-3D0D-D13779C23320}"/>
              </a:ext>
            </a:extLst>
          </p:cNvPr>
          <p:cNvSpPr/>
          <p:nvPr/>
        </p:nvSpPr>
        <p:spPr>
          <a:xfrm>
            <a:off x="5288902" y="2734040"/>
            <a:ext cx="1614194" cy="523220"/>
          </a:xfrm>
          <a:prstGeom prst="rect">
            <a:avLst/>
          </a:prstGeom>
        </p:spPr>
        <p:txBody>
          <a:bodyPr wrap="square">
            <a:spAutoFit/>
          </a:bodyPr>
          <a:lstStyle/>
          <a:p>
            <a:r>
              <a:rPr lang="zh-CN" altLang="en-US" sz="2800" b="1" dirty="0">
                <a:solidFill>
                  <a:srgbClr val="1974A2"/>
                </a:solidFill>
                <a:latin typeface="思源黑体 CN Bold" panose="020B0800000000000000" pitchFamily="34" charset="-122"/>
                <a:ea typeface="思源黑体 CN Bold" panose="020B0800000000000000" pitchFamily="34" charset="-122"/>
              </a:rPr>
              <a:t>参考文献</a:t>
            </a:r>
          </a:p>
        </p:txBody>
      </p:sp>
    </p:spTree>
    <p:extLst>
      <p:ext uri="{BB962C8B-B14F-4D97-AF65-F5344CB8AC3E}">
        <p14:creationId xmlns:p14="http://schemas.microsoft.com/office/powerpoint/2010/main" val="2586739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1DD06F86-4458-4DED-991B-46E94D9B2680}"/>
              </a:ext>
            </a:extLst>
          </p:cNvPr>
          <p:cNvSpPr/>
          <p:nvPr/>
        </p:nvSpPr>
        <p:spPr>
          <a:xfrm>
            <a:off x="3645147" y="3526541"/>
            <a:ext cx="184731" cy="830997"/>
          </a:xfrm>
          <a:prstGeom prst="rect">
            <a:avLst/>
          </a:prstGeom>
        </p:spPr>
        <p:txBody>
          <a:bodyPr wrap="none">
            <a:spAutoFit/>
          </a:bodyPr>
          <a:lstStyle/>
          <a:p>
            <a:endParaRPr lang="zh-CN" altLang="en-US" sz="4800" b="1" dirty="0">
              <a:solidFill>
                <a:srgbClr val="1974A2"/>
              </a:solidFill>
              <a:latin typeface="思源黑体 CN Bold" panose="020B0800000000000000" pitchFamily="34" charset="-122"/>
              <a:ea typeface="思源黑体 CN Bold" panose="020B0800000000000000" pitchFamily="34" charset="-122"/>
            </a:endParaRPr>
          </a:p>
        </p:txBody>
      </p:sp>
      <p:sp>
        <p:nvSpPr>
          <p:cNvPr id="35" name="矩形 34">
            <a:extLst>
              <a:ext uri="{FF2B5EF4-FFF2-40B4-BE49-F238E27FC236}">
                <a16:creationId xmlns:a16="http://schemas.microsoft.com/office/drawing/2014/main" id="{98A78281-952D-41F8-906A-5A851FCE6BE7}"/>
              </a:ext>
            </a:extLst>
          </p:cNvPr>
          <p:cNvSpPr/>
          <p:nvPr/>
        </p:nvSpPr>
        <p:spPr>
          <a:xfrm>
            <a:off x="5080337" y="2510904"/>
            <a:ext cx="2031325" cy="1200329"/>
          </a:xfrm>
          <a:prstGeom prst="rect">
            <a:avLst/>
          </a:prstGeom>
        </p:spPr>
        <p:txBody>
          <a:bodyPr wrap="none">
            <a:spAutoFit/>
          </a:bodyPr>
          <a:lstStyle/>
          <a:p>
            <a:r>
              <a:rPr lang="zh-CN" altLang="en-US" sz="7200" b="1" dirty="0">
                <a:solidFill>
                  <a:srgbClr val="1974A2"/>
                </a:solidFill>
                <a:latin typeface="思源黑体 CN Bold" panose="020B0800000000000000" pitchFamily="34" charset="-122"/>
                <a:ea typeface="思源黑体 CN Bold" panose="020B0800000000000000" pitchFamily="34" charset="-122"/>
              </a:rPr>
              <a:t>谢谢</a:t>
            </a:r>
            <a:endParaRPr lang="zh-CN" altLang="en-US" sz="6000" b="1" dirty="0">
              <a:solidFill>
                <a:srgbClr val="1974A2"/>
              </a:solidFill>
              <a:latin typeface="思源黑体 CN Bold" panose="020B0800000000000000" pitchFamily="34" charset="-122"/>
              <a:ea typeface="思源黑体 CN Bold" panose="020B0800000000000000" pitchFamily="34" charset="-122"/>
            </a:endParaRPr>
          </a:p>
        </p:txBody>
      </p:sp>
      <p:grpSp>
        <p:nvGrpSpPr>
          <p:cNvPr id="2" name="组合 1">
            <a:extLst>
              <a:ext uri="{FF2B5EF4-FFF2-40B4-BE49-F238E27FC236}">
                <a16:creationId xmlns:a16="http://schemas.microsoft.com/office/drawing/2014/main" id="{7FD56C18-0132-4D01-B021-7E587E54E9BA}"/>
              </a:ext>
            </a:extLst>
          </p:cNvPr>
          <p:cNvGrpSpPr/>
          <p:nvPr/>
        </p:nvGrpSpPr>
        <p:grpSpPr>
          <a:xfrm>
            <a:off x="5861494" y="1855119"/>
            <a:ext cx="469010" cy="354830"/>
            <a:chOff x="5967956" y="1536834"/>
            <a:chExt cx="469010" cy="354830"/>
          </a:xfrm>
        </p:grpSpPr>
        <p:grpSp>
          <p:nvGrpSpPr>
            <p:cNvPr id="64" name="组合 63">
              <a:extLst>
                <a:ext uri="{FF2B5EF4-FFF2-40B4-BE49-F238E27FC236}">
                  <a16:creationId xmlns:a16="http://schemas.microsoft.com/office/drawing/2014/main" id="{E3DC4BB0-46B0-4170-B583-2D9BE6720223}"/>
                </a:ext>
              </a:extLst>
            </p:cNvPr>
            <p:cNvGrpSpPr/>
            <p:nvPr/>
          </p:nvGrpSpPr>
          <p:grpSpPr>
            <a:xfrm>
              <a:off x="5967956" y="1536834"/>
              <a:ext cx="387438" cy="354830"/>
              <a:chOff x="4941356" y="961075"/>
              <a:chExt cx="526684" cy="482356"/>
            </a:xfrm>
          </p:grpSpPr>
          <p:sp>
            <p:nvSpPr>
              <p:cNvPr id="60" name="任意多边形: 形状 59">
                <a:extLst>
                  <a:ext uri="{FF2B5EF4-FFF2-40B4-BE49-F238E27FC236}">
                    <a16:creationId xmlns:a16="http://schemas.microsoft.com/office/drawing/2014/main" id="{488B5DAA-2707-48B8-BABE-0768EB36D330}"/>
                  </a:ext>
                </a:extLst>
              </p:cNvPr>
              <p:cNvSpPr/>
              <p:nvPr/>
            </p:nvSpPr>
            <p:spPr>
              <a:xfrm>
                <a:off x="4941356" y="961075"/>
                <a:ext cx="526684" cy="277537"/>
              </a:xfrm>
              <a:custGeom>
                <a:avLst/>
                <a:gdLst>
                  <a:gd name="connsiteX0" fmla="*/ 845205 w 1691059"/>
                  <a:gd name="connsiteY0" fmla="*/ 891755 h 891108"/>
                  <a:gd name="connsiteX1" fmla="*/ 823298 w 1691059"/>
                  <a:gd name="connsiteY1" fmla="*/ 886040 h 891108"/>
                  <a:gd name="connsiteX2" fmla="*/ 24150 w 1691059"/>
                  <a:gd name="connsiteY2" fmla="*/ 459320 h 891108"/>
                  <a:gd name="connsiteX3" fmla="*/ 338 w 1691059"/>
                  <a:gd name="connsiteY3" fmla="*/ 417410 h 891108"/>
                  <a:gd name="connsiteX4" fmla="*/ 27960 w 1691059"/>
                  <a:gd name="connsiteY4" fmla="*/ 377405 h 891108"/>
                  <a:gd name="connsiteX5" fmla="*/ 881400 w 1691059"/>
                  <a:gd name="connsiteY5" fmla="*/ 4025 h 891108"/>
                  <a:gd name="connsiteX6" fmla="*/ 922358 w 1691059"/>
                  <a:gd name="connsiteY6" fmla="*/ 5930 h 891108"/>
                  <a:gd name="connsiteX7" fmla="*/ 1669118 w 1691059"/>
                  <a:gd name="connsiteY7" fmla="*/ 432650 h 891108"/>
                  <a:gd name="connsiteX8" fmla="*/ 1691978 w 1691059"/>
                  <a:gd name="connsiteY8" fmla="*/ 474560 h 891108"/>
                  <a:gd name="connsiteX9" fmla="*/ 1665308 w 1691059"/>
                  <a:gd name="connsiteY9" fmla="*/ 514565 h 891108"/>
                  <a:gd name="connsiteX10" fmla="*/ 865208 w 1691059"/>
                  <a:gd name="connsiteY10" fmla="*/ 887945 h 891108"/>
                  <a:gd name="connsiteX11" fmla="*/ 845205 w 1691059"/>
                  <a:gd name="connsiteY11" fmla="*/ 891755 h 891108"/>
                  <a:gd name="connsiteX12" fmla="*/ 149880 w 1691059"/>
                  <a:gd name="connsiteY12" fmla="*/ 423125 h 891108"/>
                  <a:gd name="connsiteX13" fmla="*/ 846158 w 1691059"/>
                  <a:gd name="connsiteY13" fmla="*/ 794600 h 891108"/>
                  <a:gd name="connsiteX14" fmla="*/ 1545293 w 1691059"/>
                  <a:gd name="connsiteY14" fmla="*/ 468845 h 891108"/>
                  <a:gd name="connsiteX15" fmla="*/ 895688 w 1691059"/>
                  <a:gd name="connsiteY15" fmla="*/ 97370 h 891108"/>
                  <a:gd name="connsiteX16" fmla="*/ 149880 w 1691059"/>
                  <a:gd name="connsiteY16" fmla="*/ 423125 h 89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91059" h="891108">
                    <a:moveTo>
                      <a:pt x="845205" y="891755"/>
                    </a:moveTo>
                    <a:cubicBezTo>
                      <a:pt x="837585" y="891755"/>
                      <a:pt x="829965" y="889850"/>
                      <a:pt x="823298" y="886040"/>
                    </a:cubicBezTo>
                    <a:lnTo>
                      <a:pt x="24150" y="459320"/>
                    </a:lnTo>
                    <a:cubicBezTo>
                      <a:pt x="8910" y="450748"/>
                      <a:pt x="-615" y="434555"/>
                      <a:pt x="338" y="417410"/>
                    </a:cubicBezTo>
                    <a:cubicBezTo>
                      <a:pt x="1290" y="400265"/>
                      <a:pt x="11768" y="384073"/>
                      <a:pt x="27960" y="377405"/>
                    </a:cubicBezTo>
                    <a:lnTo>
                      <a:pt x="881400" y="4025"/>
                    </a:lnTo>
                    <a:cubicBezTo>
                      <a:pt x="894735" y="-1690"/>
                      <a:pt x="909975" y="-737"/>
                      <a:pt x="922358" y="5930"/>
                    </a:cubicBezTo>
                    <a:lnTo>
                      <a:pt x="1669118" y="432650"/>
                    </a:lnTo>
                    <a:cubicBezTo>
                      <a:pt x="1684358" y="441223"/>
                      <a:pt x="1692930" y="457415"/>
                      <a:pt x="1691978" y="474560"/>
                    </a:cubicBezTo>
                    <a:cubicBezTo>
                      <a:pt x="1691026" y="491705"/>
                      <a:pt x="1681501" y="506945"/>
                      <a:pt x="1665308" y="514565"/>
                    </a:cubicBezTo>
                    <a:lnTo>
                      <a:pt x="865208" y="887945"/>
                    </a:lnTo>
                    <a:cubicBezTo>
                      <a:pt x="858540" y="889850"/>
                      <a:pt x="851873" y="891755"/>
                      <a:pt x="845205" y="891755"/>
                    </a:cubicBezTo>
                    <a:close/>
                    <a:moveTo>
                      <a:pt x="149880" y="423125"/>
                    </a:moveTo>
                    <a:lnTo>
                      <a:pt x="846158" y="794600"/>
                    </a:lnTo>
                    <a:lnTo>
                      <a:pt x="1545293" y="468845"/>
                    </a:lnTo>
                    <a:lnTo>
                      <a:pt x="895688" y="97370"/>
                    </a:lnTo>
                    <a:lnTo>
                      <a:pt x="149880" y="423125"/>
                    </a:ln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sp>
            <p:nvSpPr>
              <p:cNvPr id="61" name="任意多边形: 形状 60">
                <a:extLst>
                  <a:ext uri="{FF2B5EF4-FFF2-40B4-BE49-F238E27FC236}">
                    <a16:creationId xmlns:a16="http://schemas.microsoft.com/office/drawing/2014/main" id="{A746AD4E-F400-42A1-A14A-B979AA18249E}"/>
                  </a:ext>
                </a:extLst>
              </p:cNvPr>
              <p:cNvSpPr/>
              <p:nvPr/>
            </p:nvSpPr>
            <p:spPr>
              <a:xfrm>
                <a:off x="5023053" y="1236002"/>
                <a:ext cx="363290" cy="207429"/>
              </a:xfrm>
              <a:custGeom>
                <a:avLst/>
                <a:gdLst>
                  <a:gd name="connsiteX0" fmla="*/ 590823 w 1166440"/>
                  <a:gd name="connsiteY0" fmla="*/ 667023 h 666005"/>
                  <a:gd name="connsiteX1" fmla="*/ 25990 w 1166440"/>
                  <a:gd name="connsiteY1" fmla="*/ 547960 h 666005"/>
                  <a:gd name="connsiteX2" fmla="*/ 273 w 1166440"/>
                  <a:gd name="connsiteY2" fmla="*/ 507003 h 666005"/>
                  <a:gd name="connsiteX3" fmla="*/ 273 w 1166440"/>
                  <a:gd name="connsiteY3" fmla="*/ 45992 h 666005"/>
                  <a:gd name="connsiteX4" fmla="*/ 45993 w 1166440"/>
                  <a:gd name="connsiteY4" fmla="*/ 273 h 666005"/>
                  <a:gd name="connsiteX5" fmla="*/ 91713 w 1166440"/>
                  <a:gd name="connsiteY5" fmla="*/ 45992 h 666005"/>
                  <a:gd name="connsiteX6" fmla="*/ 91713 w 1166440"/>
                  <a:gd name="connsiteY6" fmla="*/ 477475 h 666005"/>
                  <a:gd name="connsiteX7" fmla="*/ 1075645 w 1166440"/>
                  <a:gd name="connsiteY7" fmla="*/ 477475 h 666005"/>
                  <a:gd name="connsiteX8" fmla="*/ 1075645 w 1166440"/>
                  <a:gd name="connsiteY8" fmla="*/ 97428 h 666005"/>
                  <a:gd name="connsiteX9" fmla="*/ 1121365 w 1166440"/>
                  <a:gd name="connsiteY9" fmla="*/ 51708 h 666005"/>
                  <a:gd name="connsiteX10" fmla="*/ 1167085 w 1166440"/>
                  <a:gd name="connsiteY10" fmla="*/ 97428 h 666005"/>
                  <a:gd name="connsiteX11" fmla="*/ 1167085 w 1166440"/>
                  <a:gd name="connsiteY11" fmla="*/ 507003 h 666005"/>
                  <a:gd name="connsiteX12" fmla="*/ 1140415 w 1166440"/>
                  <a:gd name="connsiteY12" fmla="*/ 548913 h 666005"/>
                  <a:gd name="connsiteX13" fmla="*/ 590823 w 1166440"/>
                  <a:gd name="connsiteY13" fmla="*/ 667023 h 6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6440" h="666005">
                    <a:moveTo>
                      <a:pt x="590823" y="667023"/>
                    </a:moveTo>
                    <a:cubicBezTo>
                      <a:pt x="269830" y="667023"/>
                      <a:pt x="40278" y="554628"/>
                      <a:pt x="25990" y="547960"/>
                    </a:cubicBezTo>
                    <a:cubicBezTo>
                      <a:pt x="10750" y="540340"/>
                      <a:pt x="273" y="524148"/>
                      <a:pt x="273" y="507003"/>
                    </a:cubicBezTo>
                    <a:lnTo>
                      <a:pt x="273" y="45992"/>
                    </a:lnTo>
                    <a:cubicBezTo>
                      <a:pt x="273" y="21228"/>
                      <a:pt x="20275" y="273"/>
                      <a:pt x="45993" y="273"/>
                    </a:cubicBezTo>
                    <a:cubicBezTo>
                      <a:pt x="71710" y="273"/>
                      <a:pt x="91713" y="20275"/>
                      <a:pt x="91713" y="45992"/>
                    </a:cubicBezTo>
                    <a:lnTo>
                      <a:pt x="91713" y="477475"/>
                    </a:lnTo>
                    <a:cubicBezTo>
                      <a:pt x="197440" y="521290"/>
                      <a:pt x="619398" y="671785"/>
                      <a:pt x="1075645" y="477475"/>
                    </a:cubicBezTo>
                    <a:lnTo>
                      <a:pt x="1075645" y="97428"/>
                    </a:lnTo>
                    <a:cubicBezTo>
                      <a:pt x="1075645" y="72662"/>
                      <a:pt x="1095648" y="51708"/>
                      <a:pt x="1121365" y="51708"/>
                    </a:cubicBezTo>
                    <a:cubicBezTo>
                      <a:pt x="1147083" y="51708"/>
                      <a:pt x="1167085" y="71710"/>
                      <a:pt x="1167085" y="97428"/>
                    </a:cubicBezTo>
                    <a:lnTo>
                      <a:pt x="1167085" y="507003"/>
                    </a:lnTo>
                    <a:cubicBezTo>
                      <a:pt x="1167085" y="525100"/>
                      <a:pt x="1156608" y="541293"/>
                      <a:pt x="1140415" y="548913"/>
                    </a:cubicBezTo>
                    <a:cubicBezTo>
                      <a:pt x="944200" y="637495"/>
                      <a:pt x="755605" y="667023"/>
                      <a:pt x="590823" y="667023"/>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sp>
          <p:nvSpPr>
            <p:cNvPr id="62" name="任意多边形: 形状 61">
              <a:extLst>
                <a:ext uri="{FF2B5EF4-FFF2-40B4-BE49-F238E27FC236}">
                  <a16:creationId xmlns:a16="http://schemas.microsoft.com/office/drawing/2014/main" id="{7516A9E1-74EA-4E10-9C90-1E52664DE8D6}"/>
                </a:ext>
              </a:extLst>
            </p:cNvPr>
            <p:cNvSpPr/>
            <p:nvPr/>
          </p:nvSpPr>
          <p:spPr>
            <a:xfrm>
              <a:off x="6408575" y="1780417"/>
              <a:ext cx="28391" cy="111247"/>
            </a:xfrm>
            <a:custGeom>
              <a:avLst/>
              <a:gdLst>
                <a:gd name="connsiteX0" fmla="*/ 45992 w 91157"/>
                <a:gd name="connsiteY0" fmla="*/ 358412 h 357187"/>
                <a:gd name="connsiteX1" fmla="*/ 273 w 91157"/>
                <a:gd name="connsiteY1" fmla="*/ 312692 h 357187"/>
                <a:gd name="connsiteX2" fmla="*/ 273 w 91157"/>
                <a:gd name="connsiteY2" fmla="*/ 45992 h 357187"/>
                <a:gd name="connsiteX3" fmla="*/ 45992 w 91157"/>
                <a:gd name="connsiteY3" fmla="*/ 273 h 357187"/>
                <a:gd name="connsiteX4" fmla="*/ 91713 w 91157"/>
                <a:gd name="connsiteY4" fmla="*/ 45992 h 357187"/>
                <a:gd name="connsiteX5" fmla="*/ 91713 w 91157"/>
                <a:gd name="connsiteY5" fmla="*/ 312692 h 357187"/>
                <a:gd name="connsiteX6" fmla="*/ 45992 w 91157"/>
                <a:gd name="connsiteY6" fmla="*/ 358412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57" h="357187">
                  <a:moveTo>
                    <a:pt x="45992" y="358412"/>
                  </a:moveTo>
                  <a:cubicBezTo>
                    <a:pt x="20275" y="358412"/>
                    <a:pt x="273" y="338410"/>
                    <a:pt x="273" y="312692"/>
                  </a:cubicBezTo>
                  <a:lnTo>
                    <a:pt x="273" y="45992"/>
                  </a:lnTo>
                  <a:cubicBezTo>
                    <a:pt x="273" y="21227"/>
                    <a:pt x="20275" y="273"/>
                    <a:pt x="45992" y="273"/>
                  </a:cubicBezTo>
                  <a:cubicBezTo>
                    <a:pt x="71710" y="273"/>
                    <a:pt x="91713" y="20275"/>
                    <a:pt x="91713" y="45992"/>
                  </a:cubicBezTo>
                  <a:lnTo>
                    <a:pt x="91713" y="312692"/>
                  </a:lnTo>
                  <a:cubicBezTo>
                    <a:pt x="91713" y="337458"/>
                    <a:pt x="71710" y="358412"/>
                    <a:pt x="45992" y="358412"/>
                  </a:cubicBezTo>
                  <a:close/>
                </a:path>
              </a:pathLst>
            </a:custGeom>
            <a:solidFill>
              <a:srgbClr val="1974A2"/>
            </a:solidFill>
            <a:ln w="22225" cap="flat">
              <a:solidFill>
                <a:srgbClr val="1974A2"/>
              </a:solidFill>
              <a:prstDash val="solid"/>
              <a:miter/>
            </a:ln>
          </p:spPr>
          <p:txBody>
            <a:bodyPr rtlCol="0" anchor="ctr"/>
            <a:lstStyle/>
            <a:p>
              <a:endParaRPr lang="zh-CN" altLang="en-US">
                <a:latin typeface="Segoe UI" panose="020B0502040204020203" pitchFamily="34" charset="0"/>
                <a:ea typeface="微软雅黑" panose="020B0503020204020204" pitchFamily="34" charset="-122"/>
                <a:sym typeface="Segoe UI" panose="020B0502040204020203" pitchFamily="34" charset="0"/>
              </a:endParaRPr>
            </a:p>
          </p:txBody>
        </p:sp>
      </p:grpSp>
      <p:grpSp>
        <p:nvGrpSpPr>
          <p:cNvPr id="15" name="组合 14">
            <a:extLst>
              <a:ext uri="{FF2B5EF4-FFF2-40B4-BE49-F238E27FC236}">
                <a16:creationId xmlns:a16="http://schemas.microsoft.com/office/drawing/2014/main" id="{4D052973-8712-B560-BF09-F022BBC4EB90}"/>
              </a:ext>
            </a:extLst>
          </p:cNvPr>
          <p:cNvGrpSpPr/>
          <p:nvPr/>
        </p:nvGrpSpPr>
        <p:grpSpPr>
          <a:xfrm>
            <a:off x="4412059" y="3933923"/>
            <a:ext cx="1410615" cy="684827"/>
            <a:chOff x="3718718" y="4493461"/>
            <a:chExt cx="1410615" cy="684827"/>
          </a:xfrm>
        </p:grpSpPr>
        <p:sp>
          <p:nvSpPr>
            <p:cNvPr id="16" name="矩形: 圆角 15">
              <a:extLst>
                <a:ext uri="{FF2B5EF4-FFF2-40B4-BE49-F238E27FC236}">
                  <a16:creationId xmlns:a16="http://schemas.microsoft.com/office/drawing/2014/main" id="{87CAC6C7-7A1C-F923-C4FE-BBE7B937CF51}"/>
                </a:ext>
              </a:extLst>
            </p:cNvPr>
            <p:cNvSpPr/>
            <p:nvPr/>
          </p:nvSpPr>
          <p:spPr>
            <a:xfrm>
              <a:off x="3718718" y="4569661"/>
              <a:ext cx="111127" cy="439350"/>
            </a:xfrm>
            <a:prstGeom prst="roundRect">
              <a:avLst>
                <a:gd name="adj" fmla="val 50000"/>
              </a:avLst>
            </a:prstGeom>
            <a:solidFill>
              <a:srgbClr val="7FC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87357C5D-FF2A-5EC2-F674-DCB353408CC5}"/>
                </a:ext>
              </a:extLst>
            </p:cNvPr>
            <p:cNvSpPr/>
            <p:nvPr/>
          </p:nvSpPr>
          <p:spPr>
            <a:xfrm>
              <a:off x="3918745" y="4493461"/>
              <a:ext cx="1210588" cy="400110"/>
            </a:xfrm>
            <a:prstGeom prst="rect">
              <a:avLst/>
            </a:prstGeom>
          </p:spPr>
          <p:txBody>
            <a:bodyPr wrap="none">
              <a:spAutoFit/>
            </a:bodyPr>
            <a:lstStyle/>
            <a:p>
              <a:r>
                <a:rPr lang="zh-CN" altLang="en-US" sz="2000" b="1" dirty="0">
                  <a:solidFill>
                    <a:srgbClr val="1974A2"/>
                  </a:solidFill>
                  <a:latin typeface="思源黑体 CN Bold" panose="020B0800000000000000" pitchFamily="34" charset="-122"/>
                  <a:ea typeface="思源黑体 CN Bold" panose="020B0800000000000000" pitchFamily="34" charset="-122"/>
                </a:rPr>
                <a:t>汇报人：</a:t>
              </a:r>
            </a:p>
          </p:txBody>
        </p:sp>
        <p:sp>
          <p:nvSpPr>
            <p:cNvPr id="18" name="矩形 17">
              <a:extLst>
                <a:ext uri="{FF2B5EF4-FFF2-40B4-BE49-F238E27FC236}">
                  <a16:creationId xmlns:a16="http://schemas.microsoft.com/office/drawing/2014/main" id="{03B2CEC5-0465-0AA6-714A-2D3E195F9CCD}"/>
                </a:ext>
              </a:extLst>
            </p:cNvPr>
            <p:cNvSpPr/>
            <p:nvPr/>
          </p:nvSpPr>
          <p:spPr>
            <a:xfrm>
              <a:off x="3774281" y="4839734"/>
              <a:ext cx="1328569" cy="338554"/>
            </a:xfrm>
            <a:prstGeom prst="rect">
              <a:avLst/>
            </a:prstGeom>
          </p:spPr>
          <p:txBody>
            <a:bodyPr wrap="none">
              <a:spAutoFit/>
            </a:bodyPr>
            <a:lstStyle/>
            <a:p>
              <a:pPr algn="ctr"/>
              <a:r>
                <a:rPr lang="en-US" altLang="zh-CN" sz="1600" i="1" dirty="0">
                  <a:solidFill>
                    <a:srgbClr val="7FCFED">
                      <a:alpha val="80000"/>
                    </a:srgbClr>
                  </a:solidFill>
                  <a:latin typeface="思源黑体 CN Normal" panose="020B0400000000000000" pitchFamily="34" charset="-122"/>
                  <a:ea typeface="思源黑体 CN Normal" panose="020B0400000000000000" pitchFamily="34" charset="-122"/>
                </a:rPr>
                <a:t>Respondent</a:t>
              </a:r>
              <a:endParaRPr lang="zh-CN" altLang="en-US" sz="1600" i="1" dirty="0">
                <a:solidFill>
                  <a:srgbClr val="7FCFED">
                    <a:alpha val="80000"/>
                  </a:srgbClr>
                </a:solidFill>
                <a:latin typeface="思源黑体 CN Normal" panose="020B0400000000000000" pitchFamily="34" charset="-122"/>
                <a:ea typeface="思源黑体 CN Normal" panose="020B0400000000000000" pitchFamily="34" charset="-122"/>
              </a:endParaRPr>
            </a:p>
          </p:txBody>
        </p:sp>
      </p:grpSp>
    </p:spTree>
    <p:extLst>
      <p:ext uri="{BB962C8B-B14F-4D97-AF65-F5344CB8AC3E}">
        <p14:creationId xmlns:p14="http://schemas.microsoft.com/office/powerpoint/2010/main" val="2887300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TotalTime>
  <Words>1436</Words>
  <Application>Microsoft Office PowerPoint</Application>
  <PresentationFormat>宽屏</PresentationFormat>
  <Paragraphs>101</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等线</vt:lpstr>
      <vt:lpstr>黑体</vt:lpstr>
      <vt:lpstr>思源黑体 CN Bold</vt:lpstr>
      <vt:lpstr>思源黑体 CN Normal</vt:lpstr>
      <vt:lpstr>Arial</vt:lpstr>
      <vt:lpstr>Segoe UI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58263148@qq.com</dc:creator>
  <cp:lastModifiedBy>LF Kristin</cp:lastModifiedBy>
  <cp:revision>270</cp:revision>
  <dcterms:created xsi:type="dcterms:W3CDTF">2021-05-28T07:09:29Z</dcterms:created>
  <dcterms:modified xsi:type="dcterms:W3CDTF">2024-12-29T09:53:03Z</dcterms:modified>
</cp:coreProperties>
</file>