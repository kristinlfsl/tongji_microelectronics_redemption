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7"/>
  </p:notesMasterIdLst>
  <p:handoutMasterIdLst>
    <p:handoutMasterId r:id="rId8"/>
  </p:handoutMasterIdLst>
  <p:sldIdLst>
    <p:sldId id="1232" r:id="rId2"/>
    <p:sldId id="1233" r:id="rId3"/>
    <p:sldId id="1234" r:id="rId4"/>
    <p:sldId id="1235" r:id="rId5"/>
    <p:sldId id="123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90941" autoAdjust="0"/>
  </p:normalViewPr>
  <p:slideViewPr>
    <p:cSldViewPr snapToGrid="0">
      <p:cViewPr varScale="1">
        <p:scale>
          <a:sx n="74" d="100"/>
          <a:sy n="74" d="100"/>
        </p:scale>
        <p:origin x="466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73CF0A4-E610-495A-919B-CA480C71DE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00D9AB-51EC-4401-AC4D-6157E0C75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BE80A-4039-40DC-A2BA-410E82E5F961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22726D-C38F-45D2-9673-CCF05BC1E4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10E6D5-A087-490B-BC7C-33021FE63D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8A59E-43ED-4AA1-B0F5-93878C5DD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8161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847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4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3.wmf"/><Relationship Id="rId22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5.bin"/><Relationship Id="rId3" Type="http://schemas.openxmlformats.org/officeDocument/2006/relationships/image" Target="../media/image18.wmf"/><Relationship Id="rId21" Type="http://schemas.openxmlformats.org/officeDocument/2006/relationships/image" Target="../media/image27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5.w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6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D095E2-5873-46A8-B8F7-078AF9511F47}"/>
              </a:ext>
            </a:extLst>
          </p:cNvPr>
          <p:cNvSpPr/>
          <p:nvPr/>
        </p:nvSpPr>
        <p:spPr>
          <a:xfrm>
            <a:off x="2557341" y="1491331"/>
            <a:ext cx="707731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小注入条件下双极输运方程的应用例子</a:t>
            </a:r>
            <a:r>
              <a:rPr lang="en-US" altLang="zh-C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6.4</a:t>
            </a:r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：过剩载流子浓度的时间和空间相关性</a:t>
            </a:r>
            <a:endParaRPr lang="en-US" altLang="zh-C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DA0312-2E5E-4D35-B163-BF59B81B426E}"/>
              </a:ext>
            </a:extLst>
          </p:cNvPr>
          <p:cNvSpPr/>
          <p:nvPr/>
        </p:nvSpPr>
        <p:spPr>
          <a:xfrm>
            <a:off x="4791796" y="3245657"/>
            <a:ext cx="2169184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姓名：</a:t>
            </a:r>
            <a:endParaRPr lang="en-US" altLang="zh-CN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学号：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自评：</a:t>
            </a:r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9.5</a:t>
            </a:r>
            <a:r>
              <a:rPr lang="en-US" altLang="zh-C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/1</a:t>
            </a:r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  <a:p>
            <a:r>
              <a:rPr lang="zh-CN" alt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时间：</a:t>
            </a:r>
            <a:endParaRPr lang="zh-CN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31EF5B-60C8-4BAE-BF23-75CAA65B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115B22-8194-4FC8-9614-86C592EEABA0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D0F7C5-8873-4EE5-B042-38AAD1BA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99853F-7B0F-49BD-8E37-26E3F9FD5342}"/>
              </a:ext>
            </a:extLst>
          </p:cNvPr>
          <p:cNvSpPr/>
          <p:nvPr/>
        </p:nvSpPr>
        <p:spPr>
          <a:xfrm>
            <a:off x="538193" y="431953"/>
            <a:ext cx="1826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问题描述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0AD8F9-223F-4983-A353-C03A19EA256A}"/>
              </a:ext>
            </a:extLst>
          </p:cNvPr>
          <p:cNvSpPr txBox="1"/>
          <p:nvPr/>
        </p:nvSpPr>
        <p:spPr>
          <a:xfrm>
            <a:off x="675409" y="1016728"/>
            <a:ext cx="10978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/>
              <a:t>        假设</a:t>
            </a:r>
            <a:r>
              <a:rPr lang="en-US" altLang="zh-CN" dirty="0"/>
              <a:t>n</a:t>
            </a:r>
            <a:r>
              <a:rPr lang="zh-CN" altLang="en-US" dirty="0"/>
              <a:t>型半导体在</a:t>
            </a:r>
            <a:r>
              <a:rPr lang="en-US" altLang="zh-CN" dirty="0"/>
              <a:t>x=0</a:t>
            </a:r>
            <a:r>
              <a:rPr lang="zh-CN" altLang="en-US" dirty="0"/>
              <a:t>处且</a:t>
            </a:r>
            <a:r>
              <a:rPr lang="en-US" altLang="zh-CN" dirty="0"/>
              <a:t>t=0</a:t>
            </a:r>
            <a:r>
              <a:rPr lang="zh-CN" altLang="en-US" dirty="0"/>
              <a:t>时瞬间产生了有限数量的电子</a:t>
            </a:r>
            <a:r>
              <a:rPr lang="en-US" altLang="zh-CN" dirty="0"/>
              <a:t>-</a:t>
            </a:r>
            <a:r>
              <a:rPr lang="zh-CN" altLang="en-US" dirty="0"/>
              <a:t>空穴对，而</a:t>
            </a:r>
            <a:r>
              <a:rPr lang="en-US" altLang="zh-CN" dirty="0"/>
              <a:t>t&gt;0</a:t>
            </a:r>
            <a:r>
              <a:rPr lang="zh-CN" altLang="en-US" dirty="0"/>
              <a:t>时</a:t>
            </a:r>
            <a:r>
              <a:rPr lang="en-US" altLang="zh-CN" dirty="0"/>
              <a:t>g’=0</a:t>
            </a:r>
            <a:r>
              <a:rPr lang="zh-CN" altLang="en-US" dirty="0"/>
              <a:t>。半导体外加一个</a:t>
            </a:r>
            <a:r>
              <a:rPr lang="en-US" altLang="zh-CN" dirty="0"/>
              <a:t>+x</a:t>
            </a:r>
            <a:r>
              <a:rPr lang="zh-CN" altLang="en-US" dirty="0"/>
              <a:t>方向的恒定电场</a:t>
            </a:r>
            <a:r>
              <a:rPr lang="en-US" altLang="zh-CN" dirty="0"/>
              <a:t>E</a:t>
            </a:r>
            <a:r>
              <a:rPr lang="en-US" altLang="zh-CN" baseline="-25000" dirty="0"/>
              <a:t>0</a:t>
            </a:r>
            <a:r>
              <a:rPr lang="zh-CN" altLang="en-US" dirty="0"/>
              <a:t>。计算过剩载流子浓度随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变化的函数。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72557F-D657-4FC1-B0FC-6420C1974B16}"/>
              </a:ext>
            </a:extLst>
          </p:cNvPr>
          <p:cNvSpPr/>
          <p:nvPr/>
        </p:nvSpPr>
        <p:spPr>
          <a:xfrm>
            <a:off x="538193" y="1601503"/>
            <a:ext cx="1826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问题解答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5271BF-3249-4A8F-8806-14A4E0674D84}"/>
              </a:ext>
            </a:extLst>
          </p:cNvPr>
          <p:cNvSpPr txBox="1"/>
          <p:nvPr/>
        </p:nvSpPr>
        <p:spPr>
          <a:xfrm>
            <a:off x="675409" y="2158834"/>
            <a:ext cx="109783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+mn-ea"/>
              </a:rPr>
              <a:t>    </a:t>
            </a:r>
            <a:r>
              <a:rPr lang="zh-CN" altLang="en-US" dirty="0"/>
              <a:t>根据之前对双极输运方程的推导，小注入</a:t>
            </a:r>
            <a:r>
              <a:rPr lang="en-US" altLang="zh-CN" dirty="0"/>
              <a:t>n</a:t>
            </a:r>
            <a:r>
              <a:rPr lang="zh-CN" altLang="en-US" dirty="0"/>
              <a:t>型半导体的双极输运方程可以写为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由于</a:t>
            </a:r>
            <a:r>
              <a:rPr lang="en-US" altLang="zh-CN" dirty="0"/>
              <a:t>g’=0</a:t>
            </a:r>
            <a:r>
              <a:rPr lang="zh-CN" altLang="en-US" dirty="0"/>
              <a:t>，外加电场为</a:t>
            </a:r>
            <a:r>
              <a:rPr lang="en-US" altLang="zh-CN" dirty="0"/>
              <a:t>E</a:t>
            </a:r>
            <a:r>
              <a:rPr lang="en-US" altLang="zh-CN" baseline="-25000" dirty="0"/>
              <a:t>0</a:t>
            </a:r>
            <a:r>
              <a:rPr lang="zh-CN" altLang="en-US" dirty="0"/>
              <a:t>，则上式可写为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由题可知，过剩载流子的产生既不均匀，也未达到稳定状态，过剩载流子的浓度与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均相关，且要以时间常数</a:t>
            </a:r>
            <a:r>
              <a:rPr lang="el-GR" altLang="zh-CN" dirty="0">
                <a:ea typeface="宋体" panose="02010600030101010101" pitchFamily="2" charset="-122"/>
              </a:rPr>
              <a:t>τ</a:t>
            </a:r>
            <a:r>
              <a:rPr lang="en-US" altLang="zh-CN" baseline="-25000" dirty="0">
                <a:ea typeface="宋体" panose="02010600030101010101" pitchFamily="2" charset="-122"/>
              </a:rPr>
              <a:t>p0</a:t>
            </a:r>
            <a:r>
              <a:rPr lang="zh-CN" altLang="en-US" dirty="0">
                <a:ea typeface="宋体" panose="02010600030101010101" pitchFamily="2" charset="-122"/>
              </a:rPr>
              <a:t>的速度衰减，因此，该偏微分方程解的形式是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7DC95A0-BB24-4F78-A188-35E981F868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939567"/>
              </p:ext>
            </p:extLst>
          </p:nvPr>
        </p:nvGraphicFramePr>
        <p:xfrm>
          <a:off x="3911228" y="2832609"/>
          <a:ext cx="4506760" cy="790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480" imgH="469800" progId="Equation.DSMT4">
                  <p:embed/>
                </p:oleObj>
              </mc:Choice>
              <mc:Fallback>
                <p:oleObj name="Equation" r:id="rId2" imgW="26794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11228" y="2832609"/>
                        <a:ext cx="4506760" cy="790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43B291C-9862-45D8-A772-A13FE81AE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256234"/>
              </p:ext>
            </p:extLst>
          </p:nvPr>
        </p:nvGraphicFramePr>
        <p:xfrm>
          <a:off x="11115963" y="3105727"/>
          <a:ext cx="323273" cy="323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203040" progId="Equation.DSMT4">
                  <p:embed/>
                </p:oleObj>
              </mc:Choice>
              <mc:Fallback>
                <p:oleObj name="Equation" r:id="rId4" imgW="203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15963" y="3105727"/>
                        <a:ext cx="323273" cy="3232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634C6E8-7174-4985-92E9-082890ED44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017646"/>
              </p:ext>
            </p:extLst>
          </p:nvPr>
        </p:nvGraphicFramePr>
        <p:xfrm>
          <a:off x="4013492" y="3940604"/>
          <a:ext cx="4165016" cy="790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76440" imgH="469800" progId="Equation.DSMT4">
                  <p:embed/>
                </p:oleObj>
              </mc:Choice>
              <mc:Fallback>
                <p:oleObj name="Equation" r:id="rId6" imgW="24764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13492" y="3940604"/>
                        <a:ext cx="4165016" cy="790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F9B686C-A111-49D8-B531-F8BD62869F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27137"/>
              </p:ext>
            </p:extLst>
          </p:nvPr>
        </p:nvGraphicFramePr>
        <p:xfrm>
          <a:off x="11115963" y="4170517"/>
          <a:ext cx="371764" cy="330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203040" progId="Equation.DSMT4">
                  <p:embed/>
                </p:oleObj>
              </mc:Choice>
              <mc:Fallback>
                <p:oleObj name="Equation" r:id="rId8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115963" y="4170517"/>
                        <a:ext cx="371764" cy="330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829754B-9186-44A2-9DD7-005C0FE717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984478"/>
              </p:ext>
            </p:extLst>
          </p:nvPr>
        </p:nvGraphicFramePr>
        <p:xfrm>
          <a:off x="4991894" y="5298155"/>
          <a:ext cx="2345427" cy="6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880" imgH="368280" progId="Equation.DSMT4">
                  <p:embed/>
                </p:oleObj>
              </mc:Choice>
              <mc:Fallback>
                <p:oleObj name="Equation" r:id="rId10" imgW="130788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91894" y="5298155"/>
                        <a:ext cx="2345427" cy="660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EC60B0C-FC52-40DC-9F7A-6D1C1E46CF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935249"/>
              </p:ext>
            </p:extLst>
          </p:nvPr>
        </p:nvGraphicFramePr>
        <p:xfrm>
          <a:off x="11115963" y="5598104"/>
          <a:ext cx="372243" cy="350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203040" progId="Equation.DSMT4">
                  <p:embed/>
                </p:oleObj>
              </mc:Choice>
              <mc:Fallback>
                <p:oleObj name="Equation" r:id="rId12" imgW="215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115963" y="5598104"/>
                        <a:ext cx="372243" cy="3503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994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F5B5C2-F0EA-4AE1-AA5B-47A6797E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B56765-F551-4DC3-9820-5D4FB2F7D78E}"/>
              </a:ext>
            </a:extLst>
          </p:cNvPr>
          <p:cNvSpPr/>
          <p:nvPr/>
        </p:nvSpPr>
        <p:spPr>
          <a:xfrm>
            <a:off x="319984" y="448112"/>
            <a:ext cx="1826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问题解答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2FA28D-57B4-4681-86C1-2D12B67EE1D2}"/>
              </a:ext>
            </a:extLst>
          </p:cNvPr>
          <p:cNvSpPr txBox="1"/>
          <p:nvPr/>
        </p:nvSpPr>
        <p:spPr>
          <a:xfrm>
            <a:off x="457200" y="1032887"/>
            <a:ext cx="112221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将式</a:t>
            </a:r>
            <a:r>
              <a:rPr lang="en-US" altLang="zh-CN" dirty="0"/>
              <a:t>(3)</a:t>
            </a:r>
            <a:r>
              <a:rPr lang="zh-CN" altLang="en-US" dirty="0"/>
              <a:t>代入式</a:t>
            </a:r>
            <a:r>
              <a:rPr lang="en-US" altLang="zh-CN" dirty="0"/>
              <a:t>(2)</a:t>
            </a:r>
            <a:r>
              <a:rPr lang="zh-CN" altLang="en-US" dirty="0"/>
              <a:t>可得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</a:t>
            </a:r>
            <a:r>
              <a:rPr lang="en-US" altLang="zh-CN" dirty="0"/>
              <a:t>x</a:t>
            </a:r>
            <a:r>
              <a:rPr lang="zh-CN" altLang="en-US" dirty="0"/>
              <a:t>进行傅里叶变换，记</a:t>
            </a:r>
            <a:r>
              <a:rPr lang="en-US" altLang="zh-CN" dirty="0"/>
              <a:t>F[u(</a:t>
            </a:r>
            <a:r>
              <a:rPr lang="en-US" altLang="zh-CN" dirty="0" err="1"/>
              <a:t>x,t</a:t>
            </a:r>
            <a:r>
              <a:rPr lang="en-US" altLang="zh-CN" dirty="0"/>
              <a:t>)]=v(</a:t>
            </a:r>
            <a:r>
              <a:rPr lang="en-US" altLang="zh-CN" dirty="0" err="1"/>
              <a:t>λ,t</a:t>
            </a:r>
            <a:r>
              <a:rPr lang="en-US" altLang="zh-CN" dirty="0"/>
              <a:t>)</a:t>
            </a:r>
            <a:r>
              <a:rPr lang="zh-CN" altLang="en-US" dirty="0"/>
              <a:t>，代入式</a:t>
            </a:r>
            <a:r>
              <a:rPr lang="en-US" altLang="zh-CN" dirty="0"/>
              <a:t>(4)</a:t>
            </a:r>
            <a:r>
              <a:rPr lang="zh-CN" altLang="en-US" dirty="0"/>
              <a:t>，利用傅里叶变换的导数性质可得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整理可得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此时可看作是</a:t>
            </a:r>
            <a:r>
              <a:rPr lang="en-US" altLang="zh-CN" dirty="0"/>
              <a:t>v</a:t>
            </a:r>
            <a:r>
              <a:rPr lang="zh-CN" altLang="en-US" dirty="0"/>
              <a:t>关于</a:t>
            </a:r>
            <a:r>
              <a:rPr lang="en-US" altLang="zh-CN" dirty="0"/>
              <a:t>t</a:t>
            </a:r>
            <a:r>
              <a:rPr lang="zh-CN" altLang="en-US" dirty="0"/>
              <a:t>的常微分方程，则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可得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A5F1EF0-16FC-46B1-9E72-40B6CD2EE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541031"/>
              </p:ext>
            </p:extLst>
          </p:nvPr>
        </p:nvGraphicFramePr>
        <p:xfrm>
          <a:off x="4185261" y="1642434"/>
          <a:ext cx="3821478" cy="689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23800" imgH="419040" progId="Equation.DSMT4">
                  <p:embed/>
                </p:oleObj>
              </mc:Choice>
              <mc:Fallback>
                <p:oleObj name="Equation" r:id="rId3" imgW="2323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85261" y="1642434"/>
                        <a:ext cx="3821478" cy="689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7680945-3CD4-4041-8185-E5F8C238AC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355127"/>
              </p:ext>
            </p:extLst>
          </p:nvPr>
        </p:nvGraphicFramePr>
        <p:xfrm>
          <a:off x="11108238" y="1836449"/>
          <a:ext cx="338723" cy="30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" imgH="203040" progId="Equation.DSMT4">
                  <p:embed/>
                </p:oleObj>
              </mc:Choice>
              <mc:Fallback>
                <p:oleObj name="Equation" r:id="rId5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08238" y="1836449"/>
                        <a:ext cx="338723" cy="30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212EA44-82F6-4C81-9513-7FC589AD3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629732"/>
              </p:ext>
            </p:extLst>
          </p:nvPr>
        </p:nvGraphicFramePr>
        <p:xfrm>
          <a:off x="3928609" y="2787686"/>
          <a:ext cx="4334781" cy="689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76440" imgH="393480" progId="Equation.DSMT4">
                  <p:embed/>
                </p:oleObj>
              </mc:Choice>
              <mc:Fallback>
                <p:oleObj name="Equation" r:id="rId7" imgW="24764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8609" y="2787686"/>
                        <a:ext cx="4334781" cy="689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23D977C-A6DC-495C-9F08-1F000BB187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381515"/>
              </p:ext>
            </p:extLst>
          </p:nvPr>
        </p:nvGraphicFramePr>
        <p:xfrm>
          <a:off x="11127056" y="2981701"/>
          <a:ext cx="319905" cy="30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640" imgH="203040" progId="Equation.DSMT4">
                  <p:embed/>
                </p:oleObj>
              </mc:Choice>
              <mc:Fallback>
                <p:oleObj name="Equation" r:id="rId9" imgW="215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27056" y="2981701"/>
                        <a:ext cx="319905" cy="30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0830CE9-E474-45B1-8ECF-08EA1C2302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397081"/>
              </p:ext>
            </p:extLst>
          </p:nvPr>
        </p:nvGraphicFramePr>
        <p:xfrm>
          <a:off x="4006415" y="3895209"/>
          <a:ext cx="4179167" cy="689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87520" imgH="393480" progId="Equation.DSMT4">
                  <p:embed/>
                </p:oleObj>
              </mc:Choice>
              <mc:Fallback>
                <p:oleObj name="Equation" r:id="rId11" imgW="23875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06415" y="3895209"/>
                        <a:ext cx="4179167" cy="6891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05D0427-AE1F-4739-84DF-4AADD762BF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575374"/>
              </p:ext>
            </p:extLst>
          </p:nvPr>
        </p:nvGraphicFramePr>
        <p:xfrm>
          <a:off x="11085399" y="4067530"/>
          <a:ext cx="384399" cy="34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600" imgH="203040" progId="Equation.DSMT4">
                  <p:embed/>
                </p:oleObj>
              </mc:Choice>
              <mc:Fallback>
                <p:oleObj name="Equation" r:id="rId13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085399" y="4067530"/>
                        <a:ext cx="384399" cy="341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05B5840-291C-455F-A682-4BC6A3BFFD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654279"/>
              </p:ext>
            </p:extLst>
          </p:nvPr>
        </p:nvGraphicFramePr>
        <p:xfrm>
          <a:off x="4778066" y="5004878"/>
          <a:ext cx="2635867" cy="454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73120" imgH="253800" progId="Equation.DSMT4">
                  <p:embed/>
                </p:oleObj>
              </mc:Choice>
              <mc:Fallback>
                <p:oleObj name="Equation" r:id="rId15" imgW="14731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78066" y="5004878"/>
                        <a:ext cx="2635867" cy="454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DD1DA87-9735-41A7-87EF-28CA81A768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647602"/>
              </p:ext>
            </p:extLst>
          </p:nvPr>
        </p:nvGraphicFramePr>
        <p:xfrm>
          <a:off x="11087643" y="5152647"/>
          <a:ext cx="382155" cy="339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8600" imgH="203040" progId="Equation.DSMT4">
                  <p:embed/>
                </p:oleObj>
              </mc:Choice>
              <mc:Fallback>
                <p:oleObj name="Equation" r:id="rId17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087643" y="5152647"/>
                        <a:ext cx="382155" cy="3396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B63FD389-AC59-44F0-9543-16781A54ED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042665"/>
              </p:ext>
            </p:extLst>
          </p:nvPr>
        </p:nvGraphicFramePr>
        <p:xfrm>
          <a:off x="4829092" y="5825113"/>
          <a:ext cx="2478397" cy="510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95280" imgH="266400" progId="Equation.DSMT4">
                  <p:embed/>
                </p:oleObj>
              </mc:Choice>
              <mc:Fallback>
                <p:oleObj name="Equation" r:id="rId19" imgW="12952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29092" y="5825113"/>
                        <a:ext cx="2478397" cy="5102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5BAECCA7-204F-46F0-8972-32024E9E0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375265"/>
              </p:ext>
            </p:extLst>
          </p:nvPr>
        </p:nvGraphicFramePr>
        <p:xfrm>
          <a:off x="11127055" y="5925484"/>
          <a:ext cx="319905" cy="30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5640" imgH="203040" progId="Equation.DSMT4">
                  <p:embed/>
                </p:oleObj>
              </mc:Choice>
              <mc:Fallback>
                <p:oleObj name="Equation" r:id="rId21" imgW="215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127055" y="5925484"/>
                        <a:ext cx="319905" cy="30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6989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EFE789-422B-4EAD-A7E2-FB1BDF09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E12C65-0C19-41E8-BF7E-DBB59E6142E2}"/>
              </a:ext>
            </a:extLst>
          </p:cNvPr>
          <p:cNvSpPr/>
          <p:nvPr/>
        </p:nvSpPr>
        <p:spPr>
          <a:xfrm>
            <a:off x="319984" y="448112"/>
            <a:ext cx="1826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问题解答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EA31A5-E30F-4406-AFDC-B9E685E9ADBD}"/>
              </a:ext>
            </a:extLst>
          </p:cNvPr>
          <p:cNvSpPr txBox="1"/>
          <p:nvPr/>
        </p:nvSpPr>
        <p:spPr>
          <a:xfrm>
            <a:off x="488373" y="955964"/>
            <a:ext cx="111078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得到</a:t>
            </a:r>
            <a:r>
              <a:rPr lang="en-US" altLang="zh-CN" dirty="0"/>
              <a:t>v(</a:t>
            </a:r>
            <a:r>
              <a:rPr lang="en-US" altLang="zh-CN" dirty="0" err="1"/>
              <a:t>λ,t</a:t>
            </a:r>
            <a:r>
              <a:rPr lang="en-US" altLang="zh-CN" dirty="0"/>
              <a:t>)</a:t>
            </a:r>
            <a:r>
              <a:rPr lang="zh-CN" altLang="en-US" dirty="0"/>
              <a:t>后，反变换即可得到</a:t>
            </a:r>
            <a:r>
              <a:rPr lang="en-US" altLang="zh-CN" dirty="0"/>
              <a:t>u(</a:t>
            </a:r>
            <a:r>
              <a:rPr lang="en-US" altLang="zh-CN" dirty="0" err="1"/>
              <a:t>x,t</a:t>
            </a:r>
            <a:r>
              <a:rPr lang="en-US" altLang="zh-CN" dirty="0"/>
              <a:t>)</a:t>
            </a:r>
            <a:r>
              <a:rPr lang="zh-CN" altLang="en-US" dirty="0"/>
              <a:t>，反变换为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配凑指数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根据积分表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再对式</a:t>
            </a:r>
            <a:r>
              <a:rPr lang="en-US" altLang="zh-CN" dirty="0"/>
              <a:t>(9)</a:t>
            </a:r>
            <a:r>
              <a:rPr lang="zh-CN" altLang="en-US" dirty="0"/>
              <a:t>进行积分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此即解得</a:t>
            </a:r>
            <a:r>
              <a:rPr lang="en-US" altLang="zh-CN" dirty="0"/>
              <a:t>u(</a:t>
            </a:r>
            <a:r>
              <a:rPr lang="en-US" altLang="zh-CN" dirty="0" err="1"/>
              <a:t>x,t</a:t>
            </a:r>
            <a:r>
              <a:rPr lang="en-US" altLang="zh-CN" dirty="0"/>
              <a:t>)</a:t>
            </a:r>
            <a:r>
              <a:rPr lang="zh-CN" altLang="en-US" dirty="0"/>
              <a:t>，将式</a:t>
            </a:r>
            <a:r>
              <a:rPr lang="en-US" altLang="zh-CN" dirty="0"/>
              <a:t>(12)</a:t>
            </a:r>
            <a:r>
              <a:rPr lang="zh-CN" altLang="en-US" dirty="0"/>
              <a:t>代入式</a:t>
            </a:r>
            <a:r>
              <a:rPr lang="en-US" altLang="zh-CN" dirty="0"/>
              <a:t>(3)</a:t>
            </a:r>
            <a:r>
              <a:rPr lang="zh-CN" altLang="en-US" dirty="0"/>
              <a:t>，可得</a:t>
            </a:r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D18E880-B016-439C-9AB2-F6FE2DD0B0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519249"/>
              </p:ext>
            </p:extLst>
          </p:nvPr>
        </p:nvGraphicFramePr>
        <p:xfrm>
          <a:off x="3041650" y="1325563"/>
          <a:ext cx="611028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5720" imgH="393480" progId="Equation.DSMT4">
                  <p:embed/>
                </p:oleObj>
              </mc:Choice>
              <mc:Fallback>
                <p:oleObj name="Equation" r:id="rId2" imgW="35557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1650" y="1325563"/>
                        <a:ext cx="6110288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CD08F9A-A555-4345-857D-512F2956B7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711449"/>
              </p:ext>
            </p:extLst>
          </p:nvPr>
        </p:nvGraphicFramePr>
        <p:xfrm>
          <a:off x="11768244" y="1507942"/>
          <a:ext cx="377854" cy="311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03040" progId="Equation.DSMT4">
                  <p:embed/>
                </p:oleObj>
              </mc:Choice>
              <mc:Fallback>
                <p:oleObj name="Equation" r:id="rId4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768244" y="1507942"/>
                        <a:ext cx="377854" cy="3115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CEDEA15-CD4E-4A5C-84A5-75BCB76DA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915426"/>
              </p:ext>
            </p:extLst>
          </p:nvPr>
        </p:nvGraphicFramePr>
        <p:xfrm>
          <a:off x="1035473" y="2371437"/>
          <a:ext cx="10013682" cy="969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6960" imgH="380880" progId="Equation.DSMT4">
                  <p:embed/>
                </p:oleObj>
              </mc:Choice>
              <mc:Fallback>
                <p:oleObj name="Equation" r:id="rId6" imgW="3936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35473" y="2371437"/>
                        <a:ext cx="10013682" cy="969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B212FA1-1BBC-42BF-B352-82E3AFDD88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015798"/>
              </p:ext>
            </p:extLst>
          </p:nvPr>
        </p:nvGraphicFramePr>
        <p:xfrm>
          <a:off x="11740733" y="2705404"/>
          <a:ext cx="432876" cy="301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1960" imgH="203040" progId="Equation.DSMT4">
                  <p:embed/>
                </p:oleObj>
              </mc:Choice>
              <mc:Fallback>
                <p:oleObj name="Equation" r:id="rId8" imgW="291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740733" y="2705404"/>
                        <a:ext cx="432876" cy="301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E7F1B9A-700D-4F7E-B89E-1318D941F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663239"/>
              </p:ext>
            </p:extLst>
          </p:nvPr>
        </p:nvGraphicFramePr>
        <p:xfrm>
          <a:off x="5180800" y="3429000"/>
          <a:ext cx="1723028" cy="65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80" imgH="330120" progId="Equation.DSMT4">
                  <p:embed/>
                </p:oleObj>
              </mc:Choice>
              <mc:Fallback>
                <p:oleObj name="Equation" r:id="rId10" imgW="8632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80800" y="3429000"/>
                        <a:ext cx="1723028" cy="658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CF2ACAF-F7B5-4C35-8035-D4F459E361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067765"/>
              </p:ext>
            </p:extLst>
          </p:nvPr>
        </p:nvGraphicFramePr>
        <p:xfrm>
          <a:off x="11745273" y="3602643"/>
          <a:ext cx="428336" cy="311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203040" progId="Equation.DSMT4">
                  <p:embed/>
                </p:oleObj>
              </mc:Choice>
              <mc:Fallback>
                <p:oleObj name="Equation" r:id="rId12" imgW="279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745273" y="3602643"/>
                        <a:ext cx="428336" cy="311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567C459-1CAD-4FA2-8F39-73D4F892A4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512328"/>
              </p:ext>
            </p:extLst>
          </p:nvPr>
        </p:nvGraphicFramePr>
        <p:xfrm>
          <a:off x="454726" y="4299272"/>
          <a:ext cx="11175175" cy="969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883200" imgH="596880" progId="Equation.DSMT4">
                  <p:embed/>
                </p:oleObj>
              </mc:Choice>
              <mc:Fallback>
                <p:oleObj name="Equation" r:id="rId14" imgW="68832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4726" y="4299272"/>
                        <a:ext cx="11175175" cy="969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7CD348F-C3DB-4B93-920B-D8F330B23A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611176"/>
              </p:ext>
            </p:extLst>
          </p:nvPr>
        </p:nvGraphicFramePr>
        <p:xfrm>
          <a:off x="11731146" y="4697413"/>
          <a:ext cx="460854" cy="320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1960" imgH="203040" progId="Equation.DSMT4">
                  <p:embed/>
                </p:oleObj>
              </mc:Choice>
              <mc:Fallback>
                <p:oleObj name="Equation" r:id="rId16" imgW="291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731146" y="4697413"/>
                        <a:ext cx="460854" cy="320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48F8292-D33B-484B-912F-DA0C7B4455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683098"/>
              </p:ext>
            </p:extLst>
          </p:nvPr>
        </p:nvGraphicFramePr>
        <p:xfrm>
          <a:off x="3878396" y="5631867"/>
          <a:ext cx="4327833" cy="85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77960" imgH="507960" progId="Equation.DSMT4">
                  <p:embed/>
                </p:oleObj>
              </mc:Choice>
              <mc:Fallback>
                <p:oleObj name="Equation" r:id="rId18" imgW="25779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78396" y="5631867"/>
                        <a:ext cx="4327833" cy="85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4BF96B6-9CFB-4B2D-8608-F9F2C1F35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633343"/>
              </p:ext>
            </p:extLst>
          </p:nvPr>
        </p:nvGraphicFramePr>
        <p:xfrm>
          <a:off x="11705281" y="5897957"/>
          <a:ext cx="440817" cy="320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203040" progId="Equation.DSMT4">
                  <p:embed/>
                </p:oleObj>
              </mc:Choice>
              <mc:Fallback>
                <p:oleObj name="Equation" r:id="rId20" imgW="279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705281" y="5897957"/>
                        <a:ext cx="440817" cy="320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13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92F4C1-2F1B-4CDD-A38C-F5608A78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0ADD88-3F71-4F56-99DE-A120E7B13214}"/>
              </a:ext>
            </a:extLst>
          </p:cNvPr>
          <p:cNvSpPr/>
          <p:nvPr/>
        </p:nvSpPr>
        <p:spPr>
          <a:xfrm>
            <a:off x="319984" y="448112"/>
            <a:ext cx="1826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问题解答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E2DC84-2FFD-461A-9CE0-E0D5F6634880}"/>
              </a:ext>
            </a:extLst>
          </p:cNvPr>
          <p:cNvSpPr txBox="1"/>
          <p:nvPr/>
        </p:nvSpPr>
        <p:spPr>
          <a:xfrm>
            <a:off x="405245" y="1080655"/>
            <a:ext cx="11253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则过剩少子空穴的浓度为式</a:t>
            </a:r>
            <a:r>
              <a:rPr lang="en-US" altLang="zh-CN" dirty="0"/>
              <a:t>(13)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799456C-EE79-4345-A9AA-A9AEFF478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393996"/>
              </p:ext>
            </p:extLst>
          </p:nvPr>
        </p:nvGraphicFramePr>
        <p:xfrm>
          <a:off x="3932237" y="1449987"/>
          <a:ext cx="432752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27876" imgH="853079" progId="Equation.DSMT4">
                  <p:embed/>
                </p:oleObj>
              </mc:Choice>
              <mc:Fallback>
                <p:oleObj name="Equation" r:id="rId2" imgW="4327876" imgH="85307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32237" y="1449987"/>
                        <a:ext cx="4327525" cy="85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FB99036-FE2C-4DC3-85D0-3AB65A96A682}"/>
              </a:ext>
            </a:extLst>
          </p:cNvPr>
          <p:cNvSpPr/>
          <p:nvPr/>
        </p:nvSpPr>
        <p:spPr>
          <a:xfrm>
            <a:off x="2361740" y="3105834"/>
            <a:ext cx="74685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备注：本</a:t>
            </a:r>
            <a:r>
              <a:rPr lang="en-US" altLang="zh-CN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ppt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公式输入使用</a:t>
            </a:r>
            <a:r>
              <a:rPr lang="en-US" altLang="zh-CN" sz="36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MathType</a:t>
            </a:r>
            <a:endParaRPr lang="zh-CN" alt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43919833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3497</TotalTime>
  <Words>337</Words>
  <Application>Microsoft Office PowerPoint</Application>
  <PresentationFormat>宽屏</PresentationFormat>
  <Paragraphs>63</Paragraphs>
  <Slides>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黑体</vt:lpstr>
      <vt:lpstr>宋体</vt:lpstr>
      <vt:lpstr>Times New Roman</vt:lpstr>
      <vt:lpstr>1_默认设计模板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LF Kristin</cp:lastModifiedBy>
  <cp:revision>320</cp:revision>
  <dcterms:created xsi:type="dcterms:W3CDTF">2020-08-13T13:39:53Z</dcterms:created>
  <dcterms:modified xsi:type="dcterms:W3CDTF">2024-12-29T10:01:10Z</dcterms:modified>
</cp:coreProperties>
</file>