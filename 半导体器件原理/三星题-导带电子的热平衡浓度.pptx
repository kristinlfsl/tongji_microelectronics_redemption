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10"/>
  </p:notesMasterIdLst>
  <p:handoutMasterIdLst>
    <p:handoutMasterId r:id="rId11"/>
  </p:handoutMasterIdLst>
  <p:sldIdLst>
    <p:sldId id="1232" r:id="rId2"/>
    <p:sldId id="1233" r:id="rId3"/>
    <p:sldId id="1234" r:id="rId4"/>
    <p:sldId id="1235" r:id="rId5"/>
    <p:sldId id="1236" r:id="rId6"/>
    <p:sldId id="1237" r:id="rId7"/>
    <p:sldId id="1238" r:id="rId8"/>
    <p:sldId id="1239"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rry" initials="L" lastIdx="1" clrIdx="0">
    <p:extLst>
      <p:ext uri="{19B8F6BF-5375-455C-9EA6-DF929625EA0E}">
        <p15:presenceInfo xmlns:p15="http://schemas.microsoft.com/office/powerpoint/2012/main" userId="Larry"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844" autoAdjust="0"/>
    <p:restoredTop sz="90941" autoAdjust="0"/>
  </p:normalViewPr>
  <p:slideViewPr>
    <p:cSldViewPr snapToGrid="0">
      <p:cViewPr varScale="1">
        <p:scale>
          <a:sx n="74" d="100"/>
          <a:sy n="74" d="100"/>
        </p:scale>
        <p:origin x="466" y="67"/>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73CF0A4-E610-495A-919B-CA480C71DED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A700D9AB-51EC-4401-AC4D-6157E0C7595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A8BE80A-4039-40DC-A2BA-410E82E5F961}" type="datetimeFigureOut">
              <a:rPr lang="zh-CN" altLang="en-US" smtClean="0"/>
              <a:t>2024/12/29</a:t>
            </a:fld>
            <a:endParaRPr lang="zh-CN" altLang="en-US"/>
          </a:p>
        </p:txBody>
      </p:sp>
      <p:sp>
        <p:nvSpPr>
          <p:cNvPr id="4" name="页脚占位符 3">
            <a:extLst>
              <a:ext uri="{FF2B5EF4-FFF2-40B4-BE49-F238E27FC236}">
                <a16:creationId xmlns:a16="http://schemas.microsoft.com/office/drawing/2014/main" id="{C022726D-C38F-45D2-9673-CCF05BC1E45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AF10E6D5-A087-490B-BC7C-33021FE63DE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A38A59E-43ED-4AA1-B0F5-93878C5DD5EC}" type="slidenum">
              <a:rPr lang="zh-CN" altLang="en-US" smtClean="0"/>
              <a:t>‹#›</a:t>
            </a:fld>
            <a:endParaRPr lang="zh-CN" altLang="en-US"/>
          </a:p>
        </p:txBody>
      </p:sp>
    </p:spTree>
    <p:extLst>
      <p:ext uri="{BB962C8B-B14F-4D97-AF65-F5344CB8AC3E}">
        <p14:creationId xmlns:p14="http://schemas.microsoft.com/office/powerpoint/2010/main" val="409381615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F4E512-F0DE-40DA-A281-500184A3244D}" type="datetimeFigureOut">
              <a:rPr lang="zh-CN" altLang="en-US" smtClean="0"/>
              <a:t>2024/12/29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490452-1689-4497-A9A0-B842EEA687A2}" type="slidenum">
              <a:rPr lang="zh-CN" altLang="en-US" smtClean="0"/>
              <a:t>‹#›</a:t>
            </a:fld>
            <a:endParaRPr lang="zh-CN" altLang="en-US"/>
          </a:p>
        </p:txBody>
      </p:sp>
    </p:spTree>
    <p:extLst>
      <p:ext uri="{BB962C8B-B14F-4D97-AF65-F5344CB8AC3E}">
        <p14:creationId xmlns:p14="http://schemas.microsoft.com/office/powerpoint/2010/main" val="246275524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E115B22-8194-4FC8-9614-86C592EEABA0}" type="slidenum">
              <a:rPr lang="en-US" altLang="zh-CN"/>
              <a:pPr>
                <a:defRPr/>
              </a:pPr>
              <a:t>‹#›</a:t>
            </a:fld>
            <a:endParaRPr lang="en-US" altLang="zh-CN"/>
          </a:p>
        </p:txBody>
      </p:sp>
    </p:spTree>
    <p:extLst>
      <p:ext uri="{BB962C8B-B14F-4D97-AF65-F5344CB8AC3E}">
        <p14:creationId xmlns:p14="http://schemas.microsoft.com/office/powerpoint/2010/main" val="4146460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B5F2CA6-A39B-48F7-84D1-AF91BD07D67D}" type="slidenum">
              <a:rPr lang="en-US" altLang="zh-CN"/>
              <a:pPr>
                <a:defRPr/>
              </a:pPr>
              <a:t>‹#›</a:t>
            </a:fld>
            <a:endParaRPr lang="en-US" altLang="zh-CN"/>
          </a:p>
        </p:txBody>
      </p:sp>
    </p:spTree>
    <p:extLst>
      <p:ext uri="{BB962C8B-B14F-4D97-AF65-F5344CB8AC3E}">
        <p14:creationId xmlns:p14="http://schemas.microsoft.com/office/powerpoint/2010/main" val="1418223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AC41597-7941-4461-A03D-7D307C3317F5}" type="slidenum">
              <a:rPr lang="en-US" altLang="zh-CN"/>
              <a:pPr>
                <a:defRPr/>
              </a:pPr>
              <a:t>‹#›</a:t>
            </a:fld>
            <a:endParaRPr lang="en-US" altLang="zh-CN"/>
          </a:p>
        </p:txBody>
      </p:sp>
    </p:spTree>
    <p:extLst>
      <p:ext uri="{BB962C8B-B14F-4D97-AF65-F5344CB8AC3E}">
        <p14:creationId xmlns:p14="http://schemas.microsoft.com/office/powerpoint/2010/main" val="1967330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E7E5104-8735-46A8-9820-8BD5C44B645E}" type="slidenum">
              <a:rPr lang="en-US" altLang="zh-CN"/>
              <a:pPr>
                <a:defRPr/>
              </a:pPr>
              <a:t>‹#›</a:t>
            </a:fld>
            <a:endParaRPr lang="en-US" altLang="zh-CN"/>
          </a:p>
        </p:txBody>
      </p:sp>
    </p:spTree>
    <p:extLst>
      <p:ext uri="{BB962C8B-B14F-4D97-AF65-F5344CB8AC3E}">
        <p14:creationId xmlns:p14="http://schemas.microsoft.com/office/powerpoint/2010/main" val="1099038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C8BB04D0-EC69-4E34-9026-1132273F6FE6}" type="slidenum">
              <a:rPr lang="en-US" altLang="zh-CN"/>
              <a:pPr>
                <a:defRPr/>
              </a:pPr>
              <a:t>‹#›</a:t>
            </a:fld>
            <a:endParaRPr lang="en-US" altLang="zh-CN"/>
          </a:p>
        </p:txBody>
      </p:sp>
    </p:spTree>
    <p:extLst>
      <p:ext uri="{BB962C8B-B14F-4D97-AF65-F5344CB8AC3E}">
        <p14:creationId xmlns:p14="http://schemas.microsoft.com/office/powerpoint/2010/main" val="2959773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7F34D7FE-E00D-4DCA-A0A7-A306174DC0C2}" type="slidenum">
              <a:rPr lang="en-US" altLang="zh-CN"/>
              <a:pPr>
                <a:defRPr/>
              </a:pPr>
              <a:t>‹#›</a:t>
            </a:fld>
            <a:endParaRPr lang="en-US" altLang="zh-CN"/>
          </a:p>
        </p:txBody>
      </p:sp>
    </p:spTree>
    <p:extLst>
      <p:ext uri="{BB962C8B-B14F-4D97-AF65-F5344CB8AC3E}">
        <p14:creationId xmlns:p14="http://schemas.microsoft.com/office/powerpoint/2010/main" val="873834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DFE46EFE-F103-4F45-8883-0DE6C66B1B8E}" type="slidenum">
              <a:rPr lang="en-US" altLang="zh-CN"/>
              <a:pPr>
                <a:defRPr/>
              </a:pPr>
              <a:t>‹#›</a:t>
            </a:fld>
            <a:endParaRPr lang="en-US" altLang="zh-CN"/>
          </a:p>
        </p:txBody>
      </p:sp>
    </p:spTree>
    <p:extLst>
      <p:ext uri="{BB962C8B-B14F-4D97-AF65-F5344CB8AC3E}">
        <p14:creationId xmlns:p14="http://schemas.microsoft.com/office/powerpoint/2010/main" val="1468583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0675AF18-52E2-4048-A908-642605843CBF}" type="slidenum">
              <a:rPr lang="en-US" altLang="zh-CN"/>
              <a:pPr>
                <a:defRPr/>
              </a:pPr>
              <a:t>‹#›</a:t>
            </a:fld>
            <a:endParaRPr lang="en-US" altLang="zh-CN"/>
          </a:p>
        </p:txBody>
      </p:sp>
    </p:spTree>
    <p:extLst>
      <p:ext uri="{BB962C8B-B14F-4D97-AF65-F5344CB8AC3E}">
        <p14:creationId xmlns:p14="http://schemas.microsoft.com/office/powerpoint/2010/main" val="2851156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72A61F9-4BE0-4887-A67C-4D288CA56997}" type="slidenum">
              <a:rPr lang="en-US" altLang="zh-CN"/>
              <a:pPr>
                <a:defRPr/>
              </a:pPr>
              <a:t>‹#›</a:t>
            </a:fld>
            <a:endParaRPr lang="en-US" altLang="zh-CN"/>
          </a:p>
        </p:txBody>
      </p:sp>
    </p:spTree>
    <p:extLst>
      <p:ext uri="{BB962C8B-B14F-4D97-AF65-F5344CB8AC3E}">
        <p14:creationId xmlns:p14="http://schemas.microsoft.com/office/powerpoint/2010/main" val="702731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37B2B09-852B-4EAA-A08A-0953A9F63347}" type="slidenum">
              <a:rPr lang="en-US" altLang="zh-CN"/>
              <a:pPr>
                <a:defRPr/>
              </a:pPr>
              <a:t>‹#›</a:t>
            </a:fld>
            <a:endParaRPr lang="en-US" altLang="zh-CN"/>
          </a:p>
        </p:txBody>
      </p:sp>
    </p:spTree>
    <p:extLst>
      <p:ext uri="{BB962C8B-B14F-4D97-AF65-F5344CB8AC3E}">
        <p14:creationId xmlns:p14="http://schemas.microsoft.com/office/powerpoint/2010/main" val="1354775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609600"/>
            <a:ext cx="25908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14400" y="609600"/>
            <a:ext cx="75692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61CDC42-DFEF-458F-BD1B-2EFAEEF68015}" type="slidenum">
              <a:rPr lang="en-US" altLang="zh-CN"/>
              <a:pPr>
                <a:defRPr/>
              </a:pPr>
              <a:t>‹#›</a:t>
            </a:fld>
            <a:endParaRPr lang="en-US" altLang="zh-CN"/>
          </a:p>
        </p:txBody>
      </p:sp>
    </p:spTree>
    <p:extLst>
      <p:ext uri="{BB962C8B-B14F-4D97-AF65-F5344CB8AC3E}">
        <p14:creationId xmlns:p14="http://schemas.microsoft.com/office/powerpoint/2010/main" val="2500059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a:defRPr/>
            </a:pPr>
            <a:endParaRPr lang="en-US" altLang="zh-CN"/>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ltLang="zh-CN"/>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a:defRPr/>
            </a:pPr>
            <a:fld id="{FF534AEE-0681-4001-91D8-DF8F111160F4}" type="slidenum">
              <a:rPr lang="en-US" altLang="zh-CN"/>
              <a:pPr>
                <a:defRPr/>
              </a:pPr>
              <a:t>‹#›</a:t>
            </a:fld>
            <a:endParaRPr lang="en-US" altLang="zh-CN"/>
          </a:p>
        </p:txBody>
      </p:sp>
      <p:pic>
        <p:nvPicPr>
          <p:cNvPr id="7" name="Picture 2">
            <a:extLst>
              <a:ext uri="{FF2B5EF4-FFF2-40B4-BE49-F238E27FC236}">
                <a16:creationId xmlns:a16="http://schemas.microsoft.com/office/drawing/2014/main" id="{D90EEA7F-39F9-4B97-AF58-835331598C9A}"/>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0762268" y="5786"/>
            <a:ext cx="1183064" cy="1183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9806544"/>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2.wmf"/><Relationship Id="rId7"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3.wmf"/><Relationship Id="rId4" Type="http://schemas.openxmlformats.org/officeDocument/2006/relationships/oleObject" Target="../embeddings/oleObject2.bin"/><Relationship Id="rId9" Type="http://schemas.openxmlformats.org/officeDocument/2006/relationships/image" Target="../media/image5.wmf"/></Relationships>
</file>

<file path=ppt/slides/_rels/slide3.xml.rels><?xml version="1.0" encoding="UTF-8" standalone="yes"?>
<Relationships xmlns="http://schemas.openxmlformats.org/package/2006/relationships"><Relationship Id="rId8" Type="http://schemas.openxmlformats.org/officeDocument/2006/relationships/image" Target="../media/image9.wmf"/><Relationship Id="rId13" Type="http://schemas.openxmlformats.org/officeDocument/2006/relationships/oleObject" Target="../embeddings/oleObject10.bin"/><Relationship Id="rId3" Type="http://schemas.openxmlformats.org/officeDocument/2006/relationships/image" Target="../media/image6.wmf"/><Relationship Id="rId7" Type="http://schemas.openxmlformats.org/officeDocument/2006/relationships/oleObject" Target="../embeddings/oleObject7.bin"/><Relationship Id="rId12" Type="http://schemas.openxmlformats.org/officeDocument/2006/relationships/image" Target="../media/image11.wmf"/><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oleObject" Target="../embeddings/oleObject9.bin"/><Relationship Id="rId5" Type="http://schemas.openxmlformats.org/officeDocument/2006/relationships/image" Target="../media/image7.wmf"/><Relationship Id="rId10" Type="http://schemas.openxmlformats.org/officeDocument/2006/relationships/image" Target="../media/image10.wmf"/><Relationship Id="rId4" Type="http://schemas.openxmlformats.org/officeDocument/2006/relationships/oleObject" Target="../embeddings/oleObject6.bin"/><Relationship Id="rId9" Type="http://schemas.openxmlformats.org/officeDocument/2006/relationships/oleObject" Target="../embeddings/oleObject8.bin"/><Relationship Id="rId14" Type="http://schemas.openxmlformats.org/officeDocument/2006/relationships/image" Target="../media/image12.w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image" Target="../media/image13.wmf"/><Relationship Id="rId7" Type="http://schemas.openxmlformats.org/officeDocument/2006/relationships/image" Target="../media/image15.wmf"/><Relationship Id="rId2" Type="http://schemas.openxmlformats.org/officeDocument/2006/relationships/oleObject" Target="../embeddings/oleObject11.bin"/><Relationship Id="rId1" Type="http://schemas.openxmlformats.org/officeDocument/2006/relationships/slideLayout" Target="../slideLayouts/slideLayout2.xml"/><Relationship Id="rId6" Type="http://schemas.openxmlformats.org/officeDocument/2006/relationships/oleObject" Target="../embeddings/oleObject13.bin"/><Relationship Id="rId5" Type="http://schemas.openxmlformats.org/officeDocument/2006/relationships/image" Target="../media/image14.wmf"/><Relationship Id="rId4" Type="http://schemas.openxmlformats.org/officeDocument/2006/relationships/oleObject" Target="../embeddings/oleObject12.bin"/><Relationship Id="rId9" Type="http://schemas.openxmlformats.org/officeDocument/2006/relationships/image" Target="../media/image16.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9.wmf"/><Relationship Id="rId5" Type="http://schemas.openxmlformats.org/officeDocument/2006/relationships/oleObject" Target="../embeddings/oleObject16.bin"/><Relationship Id="rId4" Type="http://schemas.openxmlformats.org/officeDocument/2006/relationships/image" Target="../media/image18.wmf"/></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20.bin"/><Relationship Id="rId13" Type="http://schemas.openxmlformats.org/officeDocument/2006/relationships/image" Target="../media/image25.wmf"/><Relationship Id="rId3" Type="http://schemas.openxmlformats.org/officeDocument/2006/relationships/image" Target="../media/image20.wmf"/><Relationship Id="rId7" Type="http://schemas.openxmlformats.org/officeDocument/2006/relationships/image" Target="../media/image22.wmf"/><Relationship Id="rId12" Type="http://schemas.openxmlformats.org/officeDocument/2006/relationships/oleObject" Target="../embeddings/oleObject22.bin"/><Relationship Id="rId17" Type="http://schemas.openxmlformats.org/officeDocument/2006/relationships/image" Target="../media/image27.wmf"/><Relationship Id="rId2" Type="http://schemas.openxmlformats.org/officeDocument/2006/relationships/oleObject" Target="../embeddings/oleObject17.bin"/><Relationship Id="rId16" Type="http://schemas.openxmlformats.org/officeDocument/2006/relationships/oleObject" Target="../embeddings/oleObject24.bin"/><Relationship Id="rId1" Type="http://schemas.openxmlformats.org/officeDocument/2006/relationships/slideLayout" Target="../slideLayouts/slideLayout2.xml"/><Relationship Id="rId6" Type="http://schemas.openxmlformats.org/officeDocument/2006/relationships/oleObject" Target="../embeddings/oleObject19.bin"/><Relationship Id="rId11" Type="http://schemas.openxmlformats.org/officeDocument/2006/relationships/image" Target="../media/image24.wmf"/><Relationship Id="rId5" Type="http://schemas.openxmlformats.org/officeDocument/2006/relationships/image" Target="../media/image21.wmf"/><Relationship Id="rId15" Type="http://schemas.openxmlformats.org/officeDocument/2006/relationships/image" Target="../media/image26.wmf"/><Relationship Id="rId10" Type="http://schemas.openxmlformats.org/officeDocument/2006/relationships/oleObject" Target="../embeddings/oleObject21.bin"/><Relationship Id="rId4" Type="http://schemas.openxmlformats.org/officeDocument/2006/relationships/oleObject" Target="../embeddings/oleObject18.bin"/><Relationship Id="rId9" Type="http://schemas.openxmlformats.org/officeDocument/2006/relationships/image" Target="../media/image23.wmf"/><Relationship Id="rId14" Type="http://schemas.openxmlformats.org/officeDocument/2006/relationships/oleObject" Target="../embeddings/oleObject23.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28.bin"/><Relationship Id="rId13" Type="http://schemas.openxmlformats.org/officeDocument/2006/relationships/image" Target="../media/image33.wmf"/><Relationship Id="rId3" Type="http://schemas.openxmlformats.org/officeDocument/2006/relationships/image" Target="../media/image28.wmf"/><Relationship Id="rId7" Type="http://schemas.openxmlformats.org/officeDocument/2006/relationships/image" Target="../media/image30.wmf"/><Relationship Id="rId12" Type="http://schemas.openxmlformats.org/officeDocument/2006/relationships/oleObject" Target="../embeddings/oleObject30.bin"/><Relationship Id="rId17" Type="http://schemas.openxmlformats.org/officeDocument/2006/relationships/image" Target="../media/image35.wmf"/><Relationship Id="rId2" Type="http://schemas.openxmlformats.org/officeDocument/2006/relationships/oleObject" Target="../embeddings/oleObject25.bin"/><Relationship Id="rId16" Type="http://schemas.openxmlformats.org/officeDocument/2006/relationships/oleObject" Target="../embeddings/oleObject32.bin"/><Relationship Id="rId1" Type="http://schemas.openxmlformats.org/officeDocument/2006/relationships/slideLayout" Target="../slideLayouts/slideLayout2.xml"/><Relationship Id="rId6" Type="http://schemas.openxmlformats.org/officeDocument/2006/relationships/oleObject" Target="../embeddings/oleObject27.bin"/><Relationship Id="rId11" Type="http://schemas.openxmlformats.org/officeDocument/2006/relationships/image" Target="../media/image32.wmf"/><Relationship Id="rId5" Type="http://schemas.openxmlformats.org/officeDocument/2006/relationships/image" Target="../media/image29.wmf"/><Relationship Id="rId15" Type="http://schemas.openxmlformats.org/officeDocument/2006/relationships/image" Target="../media/image34.wmf"/><Relationship Id="rId10" Type="http://schemas.openxmlformats.org/officeDocument/2006/relationships/oleObject" Target="../embeddings/oleObject29.bin"/><Relationship Id="rId4" Type="http://schemas.openxmlformats.org/officeDocument/2006/relationships/oleObject" Target="../embeddings/oleObject26.bin"/><Relationship Id="rId9" Type="http://schemas.openxmlformats.org/officeDocument/2006/relationships/image" Target="../media/image31.wmf"/><Relationship Id="rId14" Type="http://schemas.openxmlformats.org/officeDocument/2006/relationships/oleObject" Target="../embeddings/oleObject31.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BD095E2-5873-46A8-B8F7-078AF9511F47}"/>
              </a:ext>
            </a:extLst>
          </p:cNvPr>
          <p:cNvSpPr/>
          <p:nvPr/>
        </p:nvSpPr>
        <p:spPr>
          <a:xfrm>
            <a:off x="3695341" y="2146453"/>
            <a:ext cx="4801315" cy="646331"/>
          </a:xfrm>
          <a:prstGeom prst="rect">
            <a:avLst/>
          </a:prstGeom>
          <a:noFill/>
        </p:spPr>
        <p:txBody>
          <a:bodyPr wrap="none" lIns="91440" tIns="45720" rIns="91440" bIns="45720">
            <a:spAutoFit/>
          </a:bodyPr>
          <a:lstStyle/>
          <a:p>
            <a:pPr algn="ctr"/>
            <a:r>
              <a:rPr lang="zh-CN" altLang="en-US" sz="3600">
                <a:ln w="0"/>
                <a:effectLst>
                  <a:outerShdw blurRad="38100" dist="19050" dir="2700000" algn="tl" rotWithShape="0">
                    <a:schemeClr val="dk1">
                      <a:alpha val="40000"/>
                    </a:schemeClr>
                  </a:outerShdw>
                </a:effectLst>
              </a:rPr>
              <a:t>导带电子的热平衡浓度</a:t>
            </a:r>
            <a:endParaRPr lang="en-US" altLang="zh-CN" sz="3600" dirty="0">
              <a:ln w="0"/>
              <a:effectLst>
                <a:outerShdw blurRad="38100" dist="19050" dir="2700000" algn="tl" rotWithShape="0">
                  <a:schemeClr val="dk1">
                    <a:alpha val="40000"/>
                  </a:schemeClr>
                </a:outerShdw>
              </a:effectLst>
            </a:endParaRPr>
          </a:p>
        </p:txBody>
      </p:sp>
      <p:sp>
        <p:nvSpPr>
          <p:cNvPr id="5" name="矩形 4">
            <a:extLst>
              <a:ext uri="{FF2B5EF4-FFF2-40B4-BE49-F238E27FC236}">
                <a16:creationId xmlns:a16="http://schemas.microsoft.com/office/drawing/2014/main" id="{E8DA0312-2E5E-4D35-B163-BF59B81B426E}"/>
              </a:ext>
            </a:extLst>
          </p:cNvPr>
          <p:cNvSpPr/>
          <p:nvPr/>
        </p:nvSpPr>
        <p:spPr>
          <a:xfrm>
            <a:off x="4791796" y="3245657"/>
            <a:ext cx="1899879" cy="1815882"/>
          </a:xfrm>
          <a:prstGeom prst="rect">
            <a:avLst/>
          </a:prstGeom>
          <a:noFill/>
        </p:spPr>
        <p:txBody>
          <a:bodyPr wrap="none" lIns="91440" tIns="45720" rIns="91440" bIns="45720">
            <a:spAutoFit/>
          </a:bodyPr>
          <a:lstStyle/>
          <a:p>
            <a:r>
              <a:rPr lang="zh-CN" altLang="en-US" sz="2800" b="0" cap="none" spc="0" dirty="0">
                <a:ln w="0"/>
                <a:solidFill>
                  <a:schemeClr val="tx1"/>
                </a:solidFill>
                <a:effectLst>
                  <a:outerShdw blurRad="38100" dist="19050" dir="2700000" algn="tl" rotWithShape="0">
                    <a:schemeClr val="dk1">
                      <a:alpha val="40000"/>
                    </a:schemeClr>
                  </a:outerShdw>
                </a:effectLst>
              </a:rPr>
              <a:t>姓名：</a:t>
            </a:r>
            <a:endParaRPr lang="en-US" altLang="zh-CN" sz="2800" b="0" cap="none" spc="0" dirty="0">
              <a:ln w="0"/>
              <a:solidFill>
                <a:schemeClr val="tx1"/>
              </a:solidFill>
              <a:effectLst>
                <a:outerShdw blurRad="38100" dist="19050" dir="2700000" algn="tl" rotWithShape="0">
                  <a:schemeClr val="dk1">
                    <a:alpha val="40000"/>
                  </a:schemeClr>
                </a:outerShdw>
              </a:effectLst>
            </a:endParaRPr>
          </a:p>
          <a:p>
            <a:r>
              <a:rPr lang="zh-CN" altLang="en-US" sz="2800" dirty="0">
                <a:ln w="0"/>
                <a:effectLst>
                  <a:outerShdw blurRad="38100" dist="19050" dir="2700000" algn="tl" rotWithShape="0">
                    <a:schemeClr val="dk1">
                      <a:alpha val="40000"/>
                    </a:schemeClr>
                  </a:outerShdw>
                </a:effectLst>
              </a:rPr>
              <a:t>学号：</a:t>
            </a:r>
            <a:endParaRPr lang="en-US" altLang="zh-CN" sz="2800" dirty="0">
              <a:ln w="0"/>
              <a:effectLst>
                <a:outerShdw blurRad="38100" dist="19050" dir="2700000" algn="tl" rotWithShape="0">
                  <a:schemeClr val="dk1">
                    <a:alpha val="40000"/>
                  </a:schemeClr>
                </a:outerShdw>
              </a:effectLst>
            </a:endParaRPr>
          </a:p>
          <a:p>
            <a:r>
              <a:rPr lang="zh-CN" altLang="en-US" sz="2800" b="0" cap="none" spc="0" dirty="0">
                <a:ln w="0"/>
                <a:solidFill>
                  <a:schemeClr val="tx1"/>
                </a:solidFill>
                <a:effectLst>
                  <a:outerShdw blurRad="38100" dist="19050" dir="2700000" algn="tl" rotWithShape="0">
                    <a:schemeClr val="dk1">
                      <a:alpha val="40000"/>
                    </a:schemeClr>
                  </a:outerShdw>
                </a:effectLst>
              </a:rPr>
              <a:t>自评：</a:t>
            </a:r>
            <a:r>
              <a:rPr lang="en-US" altLang="zh-CN" sz="2800" dirty="0">
                <a:ln w="0"/>
                <a:effectLst>
                  <a:outerShdw blurRad="38100" dist="19050" dir="2700000" algn="tl" rotWithShape="0">
                    <a:schemeClr val="dk1">
                      <a:alpha val="40000"/>
                    </a:schemeClr>
                  </a:outerShdw>
                </a:effectLst>
              </a:rPr>
              <a:t>9</a:t>
            </a:r>
            <a:r>
              <a:rPr lang="en-US" altLang="zh-CN" sz="2800" b="0" cap="none" spc="0" dirty="0">
                <a:ln w="0"/>
                <a:solidFill>
                  <a:schemeClr val="tx1"/>
                </a:solidFill>
                <a:effectLst>
                  <a:outerShdw blurRad="38100" dist="19050" dir="2700000" algn="tl" rotWithShape="0">
                    <a:schemeClr val="dk1">
                      <a:alpha val="40000"/>
                    </a:schemeClr>
                  </a:outerShdw>
                </a:effectLst>
              </a:rPr>
              <a:t>/1</a:t>
            </a:r>
            <a:r>
              <a:rPr lang="en-US" altLang="zh-CN" sz="2800" dirty="0">
                <a:ln w="0"/>
                <a:effectLst>
                  <a:outerShdw blurRad="38100" dist="19050" dir="2700000" algn="tl" rotWithShape="0">
                    <a:schemeClr val="dk1">
                      <a:alpha val="40000"/>
                    </a:schemeClr>
                  </a:outerShdw>
                </a:effectLst>
              </a:rPr>
              <a:t>0</a:t>
            </a:r>
          </a:p>
          <a:p>
            <a:r>
              <a:rPr lang="zh-CN" altLang="en-US" sz="2800" b="0" cap="none" spc="0">
                <a:ln w="0"/>
                <a:solidFill>
                  <a:schemeClr val="tx1"/>
                </a:solidFill>
                <a:effectLst>
                  <a:outerShdw blurRad="38100" dist="19050" dir="2700000" algn="tl" rotWithShape="0">
                    <a:schemeClr val="dk1">
                      <a:alpha val="40000"/>
                    </a:schemeClr>
                  </a:outerShdw>
                </a:effectLst>
              </a:rPr>
              <a:t>时间：</a:t>
            </a:r>
            <a:endParaRPr lang="zh-CN"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9" name="灯片编号占位符 8">
            <a:extLst>
              <a:ext uri="{FF2B5EF4-FFF2-40B4-BE49-F238E27FC236}">
                <a16:creationId xmlns:a16="http://schemas.microsoft.com/office/drawing/2014/main" id="{3D31EF5B-60C8-4BAE-BF23-75CAA65BBB11}"/>
              </a:ext>
            </a:extLst>
          </p:cNvPr>
          <p:cNvSpPr>
            <a:spLocks noGrp="1"/>
          </p:cNvSpPr>
          <p:nvPr>
            <p:ph type="sldNum" sz="quarter" idx="12"/>
          </p:nvPr>
        </p:nvSpPr>
        <p:spPr/>
        <p:txBody>
          <a:bodyPr/>
          <a:lstStyle/>
          <a:p>
            <a:pPr>
              <a:defRPr/>
            </a:pPr>
            <a:fld id="{7E115B22-8194-4FC8-9614-86C592EEABA0}" type="slidenum">
              <a:rPr lang="en-US" altLang="zh-CN" smtClean="0"/>
              <a:pPr>
                <a:defRPr/>
              </a:pPr>
              <a:t>1</a:t>
            </a:fld>
            <a:endParaRPr lang="en-US" altLang="zh-CN"/>
          </a:p>
        </p:txBody>
      </p:sp>
    </p:spTree>
    <p:extLst>
      <p:ext uri="{BB962C8B-B14F-4D97-AF65-F5344CB8AC3E}">
        <p14:creationId xmlns:p14="http://schemas.microsoft.com/office/powerpoint/2010/main" val="75989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9D9426D-AF78-418E-92C7-DD758AC5180E}"/>
              </a:ext>
            </a:extLst>
          </p:cNvPr>
          <p:cNvSpPr>
            <a:spLocks noGrp="1"/>
          </p:cNvSpPr>
          <p:nvPr>
            <p:ph type="sldNum" sz="quarter" idx="12"/>
          </p:nvPr>
        </p:nvSpPr>
        <p:spPr/>
        <p:txBody>
          <a:bodyPr/>
          <a:lstStyle/>
          <a:p>
            <a:pPr>
              <a:defRPr/>
            </a:pPr>
            <a:fld id="{DB5F2CA6-A39B-48F7-84D1-AF91BD07D67D}" type="slidenum">
              <a:rPr lang="en-US" altLang="zh-CN" smtClean="0"/>
              <a:pPr>
                <a:defRPr/>
              </a:pPr>
              <a:t>2</a:t>
            </a:fld>
            <a:endParaRPr lang="en-US" altLang="zh-CN"/>
          </a:p>
        </p:txBody>
      </p:sp>
      <p:sp>
        <p:nvSpPr>
          <p:cNvPr id="5" name="矩形 4">
            <a:extLst>
              <a:ext uri="{FF2B5EF4-FFF2-40B4-BE49-F238E27FC236}">
                <a16:creationId xmlns:a16="http://schemas.microsoft.com/office/drawing/2014/main" id="{70929736-1371-487B-9751-B3AEF19C09D1}"/>
              </a:ext>
            </a:extLst>
          </p:cNvPr>
          <p:cNvSpPr/>
          <p:nvPr/>
        </p:nvSpPr>
        <p:spPr>
          <a:xfrm>
            <a:off x="333157" y="192962"/>
            <a:ext cx="3877985" cy="584775"/>
          </a:xfrm>
          <a:prstGeom prst="rect">
            <a:avLst/>
          </a:prstGeom>
          <a:noFill/>
        </p:spPr>
        <p:txBody>
          <a:bodyPr wrap="none" lIns="91440" tIns="45720" rIns="91440" bIns="45720">
            <a:spAutoFit/>
          </a:bodyPr>
          <a:lstStyle/>
          <a:p>
            <a:pPr algn="ctr"/>
            <a:r>
              <a:rPr lang="zh-CN" altLang="en-US" sz="3200" b="0" cap="none" spc="0" dirty="0">
                <a:ln w="0"/>
                <a:solidFill>
                  <a:schemeClr val="tx1"/>
                </a:solidFill>
                <a:effectLst>
                  <a:outerShdw blurRad="38100" dist="19050" dir="2700000" algn="tl" rotWithShape="0">
                    <a:schemeClr val="dk1">
                      <a:alpha val="40000"/>
                    </a:schemeClr>
                  </a:outerShdw>
                </a:effectLst>
              </a:rPr>
              <a:t>导带电子的平衡分布</a:t>
            </a:r>
          </a:p>
        </p:txBody>
      </p:sp>
      <p:sp>
        <p:nvSpPr>
          <p:cNvPr id="6" name="文本框 5">
            <a:extLst>
              <a:ext uri="{FF2B5EF4-FFF2-40B4-BE49-F238E27FC236}">
                <a16:creationId xmlns:a16="http://schemas.microsoft.com/office/drawing/2014/main" id="{C37FCC01-180B-4633-BED8-F41A208D3C55}"/>
              </a:ext>
            </a:extLst>
          </p:cNvPr>
          <p:cNvSpPr txBox="1"/>
          <p:nvPr/>
        </p:nvSpPr>
        <p:spPr>
          <a:xfrm>
            <a:off x="529936" y="1039346"/>
            <a:ext cx="10747664" cy="923330"/>
          </a:xfrm>
          <a:prstGeom prst="rect">
            <a:avLst/>
          </a:prstGeom>
          <a:noFill/>
        </p:spPr>
        <p:txBody>
          <a:bodyPr wrap="square" rtlCol="0">
            <a:spAutoFit/>
          </a:bodyPr>
          <a:lstStyle/>
          <a:p>
            <a:r>
              <a:rPr lang="zh-CN" altLang="en-US" dirty="0"/>
              <a:t>        在探讨导带电子的热平衡浓度之前，我们首先需要清楚导带中的电子是如何分布的。依据之前学习过的</a:t>
            </a:r>
            <a:r>
              <a:rPr lang="zh-CN" altLang="en-US" dirty="0">
                <a:solidFill>
                  <a:srgbClr val="FF0000"/>
                </a:solidFill>
              </a:rPr>
              <a:t>费米分布函数</a:t>
            </a:r>
            <a:r>
              <a:rPr lang="zh-CN" altLang="en-US" dirty="0"/>
              <a:t>以及</a:t>
            </a:r>
            <a:r>
              <a:rPr lang="zh-CN" altLang="en-US" dirty="0">
                <a:solidFill>
                  <a:srgbClr val="FF0000"/>
                </a:solidFill>
              </a:rPr>
              <a:t>状态密度函数</a:t>
            </a:r>
            <a:r>
              <a:rPr lang="zh-CN" altLang="en-US" dirty="0"/>
              <a:t>可知，导带电子（关于能量）的分布为导带中允许量子态的密度与某个量子态被电子占据的概率的乘积。则其表达为</a:t>
            </a:r>
          </a:p>
        </p:txBody>
      </p:sp>
      <p:graphicFrame>
        <p:nvGraphicFramePr>
          <p:cNvPr id="7" name="对象 6">
            <a:extLst>
              <a:ext uri="{FF2B5EF4-FFF2-40B4-BE49-F238E27FC236}">
                <a16:creationId xmlns:a16="http://schemas.microsoft.com/office/drawing/2014/main" id="{3B96F7E8-FACD-4D29-93E6-DE75698AEA28}"/>
              </a:ext>
            </a:extLst>
          </p:cNvPr>
          <p:cNvGraphicFramePr>
            <a:graphicFrameLocks noChangeAspect="1"/>
          </p:cNvGraphicFramePr>
          <p:nvPr>
            <p:extLst>
              <p:ext uri="{D42A27DB-BD31-4B8C-83A1-F6EECF244321}">
                <p14:modId xmlns:p14="http://schemas.microsoft.com/office/powerpoint/2010/main" val="2140453325"/>
              </p:ext>
            </p:extLst>
          </p:nvPr>
        </p:nvGraphicFramePr>
        <p:xfrm>
          <a:off x="4863658" y="1962676"/>
          <a:ext cx="2464684" cy="457364"/>
        </p:xfrm>
        <a:graphic>
          <a:graphicData uri="http://schemas.openxmlformats.org/presentationml/2006/ole">
            <mc:AlternateContent xmlns:mc="http://schemas.openxmlformats.org/markup-compatibility/2006">
              <mc:Choice xmlns:v="urn:schemas-microsoft-com:vml" Requires="v">
                <p:oleObj name="Equation" r:id="rId2" imgW="1231560" imgH="228600" progId="Equation.DSMT4">
                  <p:embed/>
                </p:oleObj>
              </mc:Choice>
              <mc:Fallback>
                <p:oleObj name="Equation" r:id="rId2" imgW="1231560" imgH="228600" progId="Equation.DSMT4">
                  <p:embed/>
                  <p:pic>
                    <p:nvPicPr>
                      <p:cNvPr id="0" name=""/>
                      <p:cNvPicPr/>
                      <p:nvPr/>
                    </p:nvPicPr>
                    <p:blipFill>
                      <a:blip r:embed="rId3"/>
                      <a:stretch>
                        <a:fillRect/>
                      </a:stretch>
                    </p:blipFill>
                    <p:spPr>
                      <a:xfrm>
                        <a:off x="4863658" y="1962676"/>
                        <a:ext cx="2464684" cy="457364"/>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BCF0EF5B-1E8E-48FB-A144-E8433F01EA8B}"/>
              </a:ext>
            </a:extLst>
          </p:cNvPr>
          <p:cNvGraphicFramePr>
            <a:graphicFrameLocks noChangeAspect="1"/>
          </p:cNvGraphicFramePr>
          <p:nvPr>
            <p:extLst>
              <p:ext uri="{D42A27DB-BD31-4B8C-83A1-F6EECF244321}">
                <p14:modId xmlns:p14="http://schemas.microsoft.com/office/powerpoint/2010/main" val="3726839362"/>
              </p:ext>
            </p:extLst>
          </p:nvPr>
        </p:nvGraphicFramePr>
        <p:xfrm>
          <a:off x="10925031" y="2048000"/>
          <a:ext cx="352569" cy="352569"/>
        </p:xfrm>
        <a:graphic>
          <a:graphicData uri="http://schemas.openxmlformats.org/presentationml/2006/ole">
            <mc:AlternateContent xmlns:mc="http://schemas.openxmlformats.org/markup-compatibility/2006">
              <mc:Choice xmlns:v="urn:schemas-microsoft-com:vml" Requires="v">
                <p:oleObj name="Equation" r:id="rId4" imgW="203040" imgH="203040" progId="Equation.DSMT4">
                  <p:embed/>
                </p:oleObj>
              </mc:Choice>
              <mc:Fallback>
                <p:oleObj name="Equation" r:id="rId4" imgW="203040" imgH="203040" progId="Equation.DSMT4">
                  <p:embed/>
                  <p:pic>
                    <p:nvPicPr>
                      <p:cNvPr id="0" name=""/>
                      <p:cNvPicPr/>
                      <p:nvPr/>
                    </p:nvPicPr>
                    <p:blipFill>
                      <a:blip r:embed="rId5"/>
                      <a:stretch>
                        <a:fillRect/>
                      </a:stretch>
                    </p:blipFill>
                    <p:spPr>
                      <a:xfrm>
                        <a:off x="10925031" y="2048000"/>
                        <a:ext cx="352569" cy="352569"/>
                      </a:xfrm>
                      <a:prstGeom prst="rect">
                        <a:avLst/>
                      </a:prstGeom>
                    </p:spPr>
                  </p:pic>
                </p:oleObj>
              </mc:Fallback>
            </mc:AlternateContent>
          </a:graphicData>
        </a:graphic>
      </p:graphicFrame>
      <p:sp>
        <p:nvSpPr>
          <p:cNvPr id="9" name="文本框 8">
            <a:extLst>
              <a:ext uri="{FF2B5EF4-FFF2-40B4-BE49-F238E27FC236}">
                <a16:creationId xmlns:a16="http://schemas.microsoft.com/office/drawing/2014/main" id="{2803405B-56FD-4468-96E7-5BF9117C1D90}"/>
              </a:ext>
            </a:extLst>
          </p:cNvPr>
          <p:cNvSpPr txBox="1"/>
          <p:nvPr/>
        </p:nvSpPr>
        <p:spPr>
          <a:xfrm>
            <a:off x="623455" y="2400569"/>
            <a:ext cx="10654145" cy="646331"/>
          </a:xfrm>
          <a:prstGeom prst="rect">
            <a:avLst/>
          </a:prstGeom>
          <a:noFill/>
        </p:spPr>
        <p:txBody>
          <a:bodyPr wrap="square" rtlCol="0">
            <a:spAutoFit/>
          </a:bodyPr>
          <a:lstStyle/>
          <a:p>
            <a:r>
              <a:rPr lang="zh-CN" altLang="en-US" dirty="0"/>
              <a:t>其中</a:t>
            </a:r>
            <a:r>
              <a:rPr lang="en-US" altLang="zh-CN" dirty="0" err="1"/>
              <a:t>f</a:t>
            </a:r>
            <a:r>
              <a:rPr lang="en-US" altLang="zh-CN" baseline="-25000" dirty="0" err="1"/>
              <a:t>F</a:t>
            </a:r>
            <a:r>
              <a:rPr lang="en-US" altLang="zh-CN" dirty="0"/>
              <a:t>(E)</a:t>
            </a:r>
            <a:r>
              <a:rPr lang="zh-CN" altLang="en-US" dirty="0"/>
              <a:t>是费米分布函数，</a:t>
            </a:r>
            <a:r>
              <a:rPr lang="en-US" altLang="zh-CN" dirty="0" err="1"/>
              <a:t>gc</a:t>
            </a:r>
            <a:r>
              <a:rPr lang="en-US" altLang="zh-CN" dirty="0"/>
              <a:t>(E)</a:t>
            </a:r>
            <a:r>
              <a:rPr lang="zh-CN" altLang="en-US" dirty="0"/>
              <a:t>是导带中的量子态密度。在整个导带能量范围对</a:t>
            </a:r>
            <a:r>
              <a:rPr lang="en-US" altLang="zh-CN" dirty="0"/>
              <a:t>(1)</a:t>
            </a:r>
            <a:r>
              <a:rPr lang="zh-CN" altLang="en-US" dirty="0"/>
              <a:t>式积分，便可得到导带中单位体积的总电子浓度。即</a:t>
            </a:r>
          </a:p>
        </p:txBody>
      </p:sp>
      <p:sp>
        <p:nvSpPr>
          <p:cNvPr id="11" name="矩形 10">
            <a:extLst>
              <a:ext uri="{FF2B5EF4-FFF2-40B4-BE49-F238E27FC236}">
                <a16:creationId xmlns:a16="http://schemas.microsoft.com/office/drawing/2014/main" id="{F7F397FA-674E-4756-A4F5-E9A1A9E7320F}"/>
              </a:ext>
            </a:extLst>
          </p:cNvPr>
          <p:cNvSpPr/>
          <p:nvPr/>
        </p:nvSpPr>
        <p:spPr>
          <a:xfrm>
            <a:off x="529936" y="3924375"/>
            <a:ext cx="2212465" cy="523220"/>
          </a:xfrm>
          <a:prstGeom prst="rect">
            <a:avLst/>
          </a:prstGeom>
          <a:noFill/>
        </p:spPr>
        <p:txBody>
          <a:bodyPr wrap="none" lIns="91440" tIns="45720" rIns="91440" bIns="45720">
            <a:spAutoFit/>
          </a:bodyPr>
          <a:lstStyle/>
          <a:p>
            <a:pPr algn="ctr"/>
            <a:r>
              <a:rPr lang="zh-CN" altLang="en-US" sz="2800" b="0" cap="none" spc="0" dirty="0">
                <a:ln w="0"/>
                <a:solidFill>
                  <a:schemeClr val="accent1"/>
                </a:solidFill>
                <a:effectLst>
                  <a:outerShdw blurRad="38100" dist="25400" dir="5400000" algn="ctr" rotWithShape="0">
                    <a:srgbClr val="6E747A">
                      <a:alpha val="43000"/>
                    </a:srgbClr>
                  </a:outerShdw>
                </a:effectLst>
              </a:rPr>
              <a:t>费米能级</a:t>
            </a:r>
            <a:r>
              <a:rPr lang="en-US" altLang="zh-CN" sz="2800" b="0" cap="none" spc="0" dirty="0">
                <a:ln w="0"/>
                <a:solidFill>
                  <a:schemeClr val="accent1"/>
                </a:solidFill>
                <a:effectLst>
                  <a:outerShdw blurRad="38100" dist="25400" dir="5400000" algn="ctr" rotWithShape="0">
                    <a:srgbClr val="6E747A">
                      <a:alpha val="43000"/>
                    </a:srgbClr>
                  </a:outerShdw>
                </a:effectLst>
              </a:rPr>
              <a:t>E</a:t>
            </a:r>
            <a:r>
              <a:rPr lang="en-US" altLang="zh-CN" sz="2800" b="0" cap="none" spc="0" baseline="-25000" dirty="0">
                <a:ln w="0"/>
                <a:solidFill>
                  <a:schemeClr val="accent1"/>
                </a:solidFill>
                <a:effectLst>
                  <a:outerShdw blurRad="38100" dist="25400" dir="5400000" algn="ctr" rotWithShape="0">
                    <a:srgbClr val="6E747A">
                      <a:alpha val="43000"/>
                    </a:srgbClr>
                  </a:outerShdw>
                </a:effectLst>
              </a:rPr>
              <a:t>F</a:t>
            </a:r>
            <a:r>
              <a:rPr lang="zh-CN" altLang="en-US" sz="2800" b="0" cap="none" spc="0" baseline="30000" dirty="0">
                <a:ln w="0"/>
                <a:solidFill>
                  <a:schemeClr val="accent1"/>
                </a:solidFill>
                <a:effectLst>
                  <a:outerShdw blurRad="38100" dist="25400" dir="5400000" algn="ctr" rotWithShape="0">
                    <a:srgbClr val="6E747A">
                      <a:alpha val="43000"/>
                    </a:srgbClr>
                  </a:outerShdw>
                </a:effectLst>
              </a:rPr>
              <a:t>：</a:t>
            </a:r>
            <a:endParaRPr lang="zh-CN" altLang="en-US" sz="2800" b="0" cap="none" spc="0" dirty="0">
              <a:ln w="0"/>
              <a:solidFill>
                <a:schemeClr val="accent1"/>
              </a:solidFill>
              <a:effectLst>
                <a:outerShdw blurRad="38100" dist="25400" dir="5400000" algn="ctr" rotWithShape="0">
                  <a:srgbClr val="6E747A">
                    <a:alpha val="43000"/>
                  </a:srgbClr>
                </a:outerShdw>
              </a:effectLst>
            </a:endParaRPr>
          </a:p>
        </p:txBody>
      </p:sp>
      <p:sp>
        <p:nvSpPr>
          <p:cNvPr id="12" name="文本框 11">
            <a:extLst>
              <a:ext uri="{FF2B5EF4-FFF2-40B4-BE49-F238E27FC236}">
                <a16:creationId xmlns:a16="http://schemas.microsoft.com/office/drawing/2014/main" id="{9245D306-8A40-4A57-A702-2EB60AFF5FC4}"/>
              </a:ext>
            </a:extLst>
          </p:cNvPr>
          <p:cNvSpPr txBox="1"/>
          <p:nvPr/>
        </p:nvSpPr>
        <p:spPr>
          <a:xfrm>
            <a:off x="623455" y="4447595"/>
            <a:ext cx="10654145" cy="923330"/>
          </a:xfrm>
          <a:prstGeom prst="rect">
            <a:avLst/>
          </a:prstGeom>
          <a:noFill/>
        </p:spPr>
        <p:txBody>
          <a:bodyPr wrap="square" rtlCol="0">
            <a:spAutoFit/>
          </a:bodyPr>
          <a:lstStyle/>
          <a:p>
            <a:r>
              <a:rPr lang="en-US" altLang="zh-CN" dirty="0"/>
              <a:t>        </a:t>
            </a:r>
            <a:r>
              <a:rPr lang="zh-CN" altLang="en-US" dirty="0"/>
              <a:t>考虑本征半导体的情况。理想本征半导体是晶体中不含杂质和晶格缺陷的纯净半导体，如纯净的硅晶体。在热力学温度为</a:t>
            </a:r>
            <a:r>
              <a:rPr lang="en-US" altLang="zh-CN" dirty="0"/>
              <a:t>T=0K</a:t>
            </a:r>
            <a:r>
              <a:rPr lang="zh-CN" altLang="en-US" dirty="0"/>
              <a:t>时，本征半导体中价带的所有量子态都被电子填满，并且导带的所有量子态都未被电子占据，因此</a:t>
            </a:r>
            <a:r>
              <a:rPr lang="zh-CN" altLang="en-US" dirty="0">
                <a:solidFill>
                  <a:srgbClr val="FF0000"/>
                </a:solidFill>
              </a:rPr>
              <a:t>费米能级一定位于禁带中</a:t>
            </a:r>
            <a:r>
              <a:rPr lang="en-US" altLang="zh-CN" dirty="0" err="1">
                <a:solidFill>
                  <a:srgbClr val="FF0000"/>
                </a:solidFill>
              </a:rPr>
              <a:t>E</a:t>
            </a:r>
            <a:r>
              <a:rPr lang="en-US" altLang="zh-CN" baseline="-25000" dirty="0" err="1">
                <a:solidFill>
                  <a:srgbClr val="FF0000"/>
                </a:solidFill>
              </a:rPr>
              <a:t>c</a:t>
            </a:r>
            <a:r>
              <a:rPr lang="zh-CN" altLang="en-US" dirty="0">
                <a:solidFill>
                  <a:srgbClr val="FF0000"/>
                </a:solidFill>
              </a:rPr>
              <a:t>和</a:t>
            </a:r>
            <a:r>
              <a:rPr lang="en-US" altLang="zh-CN" dirty="0" err="1">
                <a:solidFill>
                  <a:srgbClr val="FF0000"/>
                </a:solidFill>
              </a:rPr>
              <a:t>E</a:t>
            </a:r>
            <a:r>
              <a:rPr lang="en-US" altLang="zh-CN" baseline="-25000" dirty="0" err="1">
                <a:solidFill>
                  <a:srgbClr val="FF0000"/>
                </a:solidFill>
              </a:rPr>
              <a:t>v</a:t>
            </a:r>
            <a:r>
              <a:rPr lang="zh-CN" altLang="en-US" dirty="0">
                <a:solidFill>
                  <a:srgbClr val="FF0000"/>
                </a:solidFill>
              </a:rPr>
              <a:t>之间的某处</a:t>
            </a:r>
            <a:r>
              <a:rPr lang="zh-CN" altLang="en-US" dirty="0"/>
              <a:t>。</a:t>
            </a:r>
          </a:p>
        </p:txBody>
      </p:sp>
      <p:graphicFrame>
        <p:nvGraphicFramePr>
          <p:cNvPr id="13" name="对象 12">
            <a:extLst>
              <a:ext uri="{FF2B5EF4-FFF2-40B4-BE49-F238E27FC236}">
                <a16:creationId xmlns:a16="http://schemas.microsoft.com/office/drawing/2014/main" id="{0EBAC41A-094B-4D26-8448-7DCA858BF246}"/>
              </a:ext>
            </a:extLst>
          </p:cNvPr>
          <p:cNvGraphicFramePr>
            <a:graphicFrameLocks noChangeAspect="1"/>
          </p:cNvGraphicFramePr>
          <p:nvPr>
            <p:extLst>
              <p:ext uri="{D42A27DB-BD31-4B8C-83A1-F6EECF244321}">
                <p14:modId xmlns:p14="http://schemas.microsoft.com/office/powerpoint/2010/main" val="634836870"/>
              </p:ext>
            </p:extLst>
          </p:nvPr>
        </p:nvGraphicFramePr>
        <p:xfrm>
          <a:off x="4466903" y="3046900"/>
          <a:ext cx="2967247" cy="646331"/>
        </p:xfrm>
        <a:graphic>
          <a:graphicData uri="http://schemas.openxmlformats.org/presentationml/2006/ole">
            <mc:AlternateContent xmlns:mc="http://schemas.openxmlformats.org/markup-compatibility/2006">
              <mc:Choice xmlns:v="urn:schemas-microsoft-com:vml" Requires="v">
                <p:oleObj name="Equation" r:id="rId6" imgW="1282680" imgH="279360" progId="Equation.DSMT4">
                  <p:embed/>
                </p:oleObj>
              </mc:Choice>
              <mc:Fallback>
                <p:oleObj name="Equation" r:id="rId6" imgW="1282680" imgH="279360" progId="Equation.DSMT4">
                  <p:embed/>
                  <p:pic>
                    <p:nvPicPr>
                      <p:cNvPr id="0" name=""/>
                      <p:cNvPicPr/>
                      <p:nvPr/>
                    </p:nvPicPr>
                    <p:blipFill>
                      <a:blip r:embed="rId7"/>
                      <a:stretch>
                        <a:fillRect/>
                      </a:stretch>
                    </p:blipFill>
                    <p:spPr>
                      <a:xfrm>
                        <a:off x="4466903" y="3046900"/>
                        <a:ext cx="2967247" cy="646331"/>
                      </a:xfrm>
                      <a:prstGeom prst="rect">
                        <a:avLst/>
                      </a:prstGeom>
                    </p:spPr>
                  </p:pic>
                </p:oleObj>
              </mc:Fallback>
            </mc:AlternateContent>
          </a:graphicData>
        </a:graphic>
      </p:graphicFrame>
      <p:graphicFrame>
        <p:nvGraphicFramePr>
          <p:cNvPr id="2" name="对象 1">
            <a:extLst>
              <a:ext uri="{FF2B5EF4-FFF2-40B4-BE49-F238E27FC236}">
                <a16:creationId xmlns:a16="http://schemas.microsoft.com/office/drawing/2014/main" id="{6AF09C96-C774-4EF3-B3DB-073A2D52B697}"/>
              </a:ext>
            </a:extLst>
          </p:cNvPr>
          <p:cNvGraphicFramePr>
            <a:graphicFrameLocks noChangeAspect="1"/>
          </p:cNvGraphicFramePr>
          <p:nvPr>
            <p:extLst>
              <p:ext uri="{D42A27DB-BD31-4B8C-83A1-F6EECF244321}">
                <p14:modId xmlns:p14="http://schemas.microsoft.com/office/powerpoint/2010/main" val="2272539785"/>
              </p:ext>
            </p:extLst>
          </p:nvPr>
        </p:nvGraphicFramePr>
        <p:xfrm>
          <a:off x="10925031" y="3278044"/>
          <a:ext cx="352569" cy="313395"/>
        </p:xfrm>
        <a:graphic>
          <a:graphicData uri="http://schemas.openxmlformats.org/presentationml/2006/ole">
            <mc:AlternateContent xmlns:mc="http://schemas.openxmlformats.org/markup-compatibility/2006">
              <mc:Choice xmlns:v="urn:schemas-microsoft-com:vml" Requires="v">
                <p:oleObj name="Equation" r:id="rId8" imgW="228600" imgH="203040" progId="Equation.DSMT4">
                  <p:embed/>
                </p:oleObj>
              </mc:Choice>
              <mc:Fallback>
                <p:oleObj name="Equation" r:id="rId8" imgW="228600" imgH="203040" progId="Equation.DSMT4">
                  <p:embed/>
                  <p:pic>
                    <p:nvPicPr>
                      <p:cNvPr id="0" name=""/>
                      <p:cNvPicPr/>
                      <p:nvPr/>
                    </p:nvPicPr>
                    <p:blipFill>
                      <a:blip r:embed="rId9"/>
                      <a:stretch>
                        <a:fillRect/>
                      </a:stretch>
                    </p:blipFill>
                    <p:spPr>
                      <a:xfrm>
                        <a:off x="10925031" y="3278044"/>
                        <a:ext cx="352569" cy="313395"/>
                      </a:xfrm>
                      <a:prstGeom prst="rect">
                        <a:avLst/>
                      </a:prstGeom>
                    </p:spPr>
                  </p:pic>
                </p:oleObj>
              </mc:Fallback>
            </mc:AlternateContent>
          </a:graphicData>
        </a:graphic>
      </p:graphicFrame>
    </p:spTree>
    <p:extLst>
      <p:ext uri="{BB962C8B-B14F-4D97-AF65-F5344CB8AC3E}">
        <p14:creationId xmlns:p14="http://schemas.microsoft.com/office/powerpoint/2010/main" val="1146368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F73E1B1-89F6-4035-BECF-5027A32024C6}"/>
              </a:ext>
            </a:extLst>
          </p:cNvPr>
          <p:cNvSpPr>
            <a:spLocks noGrp="1"/>
          </p:cNvSpPr>
          <p:nvPr>
            <p:ph type="sldNum" sz="quarter" idx="12"/>
          </p:nvPr>
        </p:nvSpPr>
        <p:spPr/>
        <p:txBody>
          <a:bodyPr/>
          <a:lstStyle/>
          <a:p>
            <a:pPr>
              <a:defRPr/>
            </a:pPr>
            <a:fld id="{DB5F2CA6-A39B-48F7-84D1-AF91BD07D67D}" type="slidenum">
              <a:rPr lang="en-US" altLang="zh-CN" smtClean="0"/>
              <a:pPr>
                <a:defRPr/>
              </a:pPr>
              <a:t>3</a:t>
            </a:fld>
            <a:endParaRPr lang="en-US" altLang="zh-CN"/>
          </a:p>
        </p:txBody>
      </p:sp>
      <p:sp>
        <p:nvSpPr>
          <p:cNvPr id="5" name="矩形 4">
            <a:extLst>
              <a:ext uri="{FF2B5EF4-FFF2-40B4-BE49-F238E27FC236}">
                <a16:creationId xmlns:a16="http://schemas.microsoft.com/office/drawing/2014/main" id="{580227F6-ECBF-4A7B-9F69-45DD231322B5}"/>
              </a:ext>
            </a:extLst>
          </p:cNvPr>
          <p:cNvSpPr/>
          <p:nvPr/>
        </p:nvSpPr>
        <p:spPr>
          <a:xfrm>
            <a:off x="353297" y="574970"/>
            <a:ext cx="3376245" cy="523220"/>
          </a:xfrm>
          <a:prstGeom prst="rect">
            <a:avLst/>
          </a:prstGeom>
          <a:noFill/>
        </p:spPr>
        <p:txBody>
          <a:bodyPr wrap="none" lIns="91440" tIns="45720" rIns="91440" bIns="45720">
            <a:spAutoFit/>
          </a:bodyPr>
          <a:lstStyle/>
          <a:p>
            <a:pPr algn="ctr"/>
            <a:r>
              <a:rPr lang="zh-CN" altLang="en-US" sz="2800" b="0" cap="none" spc="0" dirty="0">
                <a:ln w="0"/>
                <a:solidFill>
                  <a:schemeClr val="accent1"/>
                </a:solidFill>
                <a:effectLst>
                  <a:outerShdw blurRad="38100" dist="25400" dir="5400000" algn="ctr" rotWithShape="0">
                    <a:srgbClr val="6E747A">
                      <a:alpha val="43000"/>
                    </a:srgbClr>
                  </a:outerShdw>
                </a:effectLst>
              </a:rPr>
              <a:t>导带状态密度</a:t>
            </a:r>
            <a:r>
              <a:rPr lang="en-US" altLang="zh-CN" sz="2800" b="0" cap="none" spc="0" dirty="0" err="1">
                <a:ln w="0"/>
                <a:solidFill>
                  <a:schemeClr val="accent1"/>
                </a:solidFill>
                <a:effectLst>
                  <a:outerShdw blurRad="38100" dist="25400" dir="5400000" algn="ctr" rotWithShape="0">
                    <a:srgbClr val="6E747A">
                      <a:alpha val="43000"/>
                    </a:srgbClr>
                  </a:outerShdw>
                </a:effectLst>
              </a:rPr>
              <a:t>g</a:t>
            </a:r>
            <a:r>
              <a:rPr lang="en-US" altLang="zh-CN" sz="2800" b="0" cap="none" spc="0" baseline="-25000" dirty="0" err="1">
                <a:ln w="0"/>
                <a:solidFill>
                  <a:schemeClr val="accent1"/>
                </a:solidFill>
                <a:effectLst>
                  <a:outerShdw blurRad="38100" dist="25400" dir="5400000" algn="ctr" rotWithShape="0">
                    <a:srgbClr val="6E747A">
                      <a:alpha val="43000"/>
                    </a:srgbClr>
                  </a:outerShdw>
                </a:effectLst>
              </a:rPr>
              <a:t>c</a:t>
            </a:r>
            <a:r>
              <a:rPr lang="en-US" altLang="zh-CN" sz="2800" dirty="0">
                <a:ln w="0"/>
                <a:solidFill>
                  <a:schemeClr val="accent1"/>
                </a:solidFill>
                <a:effectLst>
                  <a:outerShdw blurRad="38100" dist="25400" dir="5400000" algn="ctr" rotWithShape="0">
                    <a:srgbClr val="6E747A">
                      <a:alpha val="43000"/>
                    </a:srgbClr>
                  </a:outerShdw>
                </a:effectLst>
              </a:rPr>
              <a:t>(</a:t>
            </a:r>
            <a:r>
              <a:rPr lang="en-US" altLang="zh-CN" sz="2800" b="0" cap="none" spc="0" dirty="0">
                <a:ln w="0"/>
                <a:solidFill>
                  <a:schemeClr val="accent1"/>
                </a:solidFill>
                <a:effectLst>
                  <a:outerShdw blurRad="38100" dist="25400" dir="5400000" algn="ctr" rotWithShape="0">
                    <a:srgbClr val="6E747A">
                      <a:alpha val="43000"/>
                    </a:srgbClr>
                  </a:outerShdw>
                </a:effectLst>
              </a:rPr>
              <a:t>E)</a:t>
            </a:r>
            <a:r>
              <a:rPr lang="zh-CN" altLang="en-US" sz="2800" b="0" cap="none" spc="0" baseline="30000" dirty="0">
                <a:ln w="0"/>
                <a:solidFill>
                  <a:schemeClr val="accent1"/>
                </a:solidFill>
                <a:effectLst>
                  <a:outerShdw blurRad="38100" dist="25400" dir="5400000" algn="ctr" rotWithShape="0">
                    <a:srgbClr val="6E747A">
                      <a:alpha val="43000"/>
                    </a:srgbClr>
                  </a:outerShdw>
                </a:effectLst>
              </a:rPr>
              <a:t>：</a:t>
            </a:r>
            <a:endParaRPr lang="zh-CN" altLang="en-US" sz="2800" b="0" cap="none" spc="0" dirty="0">
              <a:ln w="0"/>
              <a:solidFill>
                <a:schemeClr val="accent1"/>
              </a:solidFill>
              <a:effectLst>
                <a:outerShdw blurRad="38100" dist="25400" dir="5400000" algn="ctr" rotWithShape="0">
                  <a:srgbClr val="6E747A">
                    <a:alpha val="43000"/>
                  </a:srgbClr>
                </a:outerShdw>
              </a:effectLst>
            </a:endParaRPr>
          </a:p>
        </p:txBody>
      </p:sp>
      <p:sp>
        <p:nvSpPr>
          <p:cNvPr id="6" name="文本框 5">
            <a:extLst>
              <a:ext uri="{FF2B5EF4-FFF2-40B4-BE49-F238E27FC236}">
                <a16:creationId xmlns:a16="http://schemas.microsoft.com/office/drawing/2014/main" id="{CA718C95-54BE-47CD-8E13-00FBB9332FC0}"/>
              </a:ext>
            </a:extLst>
          </p:cNvPr>
          <p:cNvSpPr txBox="1"/>
          <p:nvPr/>
        </p:nvSpPr>
        <p:spPr>
          <a:xfrm>
            <a:off x="510886" y="1098190"/>
            <a:ext cx="11170227" cy="1200329"/>
          </a:xfrm>
          <a:prstGeom prst="rect">
            <a:avLst/>
          </a:prstGeom>
          <a:noFill/>
        </p:spPr>
        <p:txBody>
          <a:bodyPr wrap="square" rtlCol="0">
            <a:spAutoFit/>
          </a:bodyPr>
          <a:lstStyle/>
          <a:p>
            <a:r>
              <a:rPr lang="en-US" altLang="zh-CN" dirty="0"/>
              <a:t>        </a:t>
            </a:r>
            <a:r>
              <a:rPr lang="zh-CN" altLang="en-US" dirty="0"/>
              <a:t>前面我们利用被束缚在三维无限深势阱中质量为</a:t>
            </a:r>
            <a:r>
              <a:rPr lang="en-US" altLang="zh-CN" dirty="0"/>
              <a:t>m</a:t>
            </a:r>
            <a:r>
              <a:rPr lang="zh-CN" altLang="en-US" dirty="0"/>
              <a:t>的电子的模型，推导出了有效量子态密度的一般表达式。下面将这种一般模型扩展到整个半导体，从而确定出导带中的量子态密度。由于电子被半导体晶体束缚，因此再次利用之前的无限深势阱模型。</a:t>
            </a:r>
            <a:endParaRPr lang="en-US" altLang="zh-CN" dirty="0"/>
          </a:p>
          <a:p>
            <a:r>
              <a:rPr lang="en-US" altLang="zh-CN" dirty="0"/>
              <a:t>        </a:t>
            </a:r>
            <a:r>
              <a:rPr lang="zh-CN" altLang="en-US" dirty="0"/>
              <a:t>已知自由电子能量与动量之间的抛物线关系为</a:t>
            </a:r>
          </a:p>
        </p:txBody>
      </p:sp>
      <p:graphicFrame>
        <p:nvGraphicFramePr>
          <p:cNvPr id="2" name="对象 1">
            <a:extLst>
              <a:ext uri="{FF2B5EF4-FFF2-40B4-BE49-F238E27FC236}">
                <a16:creationId xmlns:a16="http://schemas.microsoft.com/office/drawing/2014/main" id="{EDAE60F9-8F2B-480C-B5E8-572645B43A66}"/>
              </a:ext>
            </a:extLst>
          </p:cNvPr>
          <p:cNvGraphicFramePr>
            <a:graphicFrameLocks noChangeAspect="1"/>
          </p:cNvGraphicFramePr>
          <p:nvPr>
            <p:extLst>
              <p:ext uri="{D42A27DB-BD31-4B8C-83A1-F6EECF244321}">
                <p14:modId xmlns:p14="http://schemas.microsoft.com/office/powerpoint/2010/main" val="231846134"/>
              </p:ext>
            </p:extLst>
          </p:nvPr>
        </p:nvGraphicFramePr>
        <p:xfrm>
          <a:off x="5340518" y="2298519"/>
          <a:ext cx="1510962" cy="647555"/>
        </p:xfrm>
        <a:graphic>
          <a:graphicData uri="http://schemas.openxmlformats.org/presentationml/2006/ole">
            <mc:AlternateContent xmlns:mc="http://schemas.openxmlformats.org/markup-compatibility/2006">
              <mc:Choice xmlns:v="urn:schemas-microsoft-com:vml" Requires="v">
                <p:oleObj name="Equation" r:id="rId2" imgW="977760" imgH="419040" progId="Equation.DSMT4">
                  <p:embed/>
                </p:oleObj>
              </mc:Choice>
              <mc:Fallback>
                <p:oleObj name="Equation" r:id="rId2" imgW="977760" imgH="419040" progId="Equation.DSMT4">
                  <p:embed/>
                  <p:pic>
                    <p:nvPicPr>
                      <p:cNvPr id="0" name=""/>
                      <p:cNvPicPr/>
                      <p:nvPr/>
                    </p:nvPicPr>
                    <p:blipFill>
                      <a:blip r:embed="rId3"/>
                      <a:stretch>
                        <a:fillRect/>
                      </a:stretch>
                    </p:blipFill>
                    <p:spPr>
                      <a:xfrm>
                        <a:off x="5340518" y="2298519"/>
                        <a:ext cx="1510962" cy="647555"/>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6706DA58-24DE-49BA-9F9B-AD027F5B8958}"/>
              </a:ext>
            </a:extLst>
          </p:cNvPr>
          <p:cNvGraphicFramePr>
            <a:graphicFrameLocks noChangeAspect="1"/>
          </p:cNvGraphicFramePr>
          <p:nvPr>
            <p:extLst>
              <p:ext uri="{D42A27DB-BD31-4B8C-83A1-F6EECF244321}">
                <p14:modId xmlns:p14="http://schemas.microsoft.com/office/powerpoint/2010/main" val="3688395244"/>
              </p:ext>
            </p:extLst>
          </p:nvPr>
        </p:nvGraphicFramePr>
        <p:xfrm>
          <a:off x="11090348" y="2446059"/>
          <a:ext cx="374503" cy="352473"/>
        </p:xfrm>
        <a:graphic>
          <a:graphicData uri="http://schemas.openxmlformats.org/presentationml/2006/ole">
            <mc:AlternateContent xmlns:mc="http://schemas.openxmlformats.org/markup-compatibility/2006">
              <mc:Choice xmlns:v="urn:schemas-microsoft-com:vml" Requires="v">
                <p:oleObj name="Equation" r:id="rId4" imgW="215640" imgH="203040" progId="Equation.DSMT4">
                  <p:embed/>
                </p:oleObj>
              </mc:Choice>
              <mc:Fallback>
                <p:oleObj name="Equation" r:id="rId4" imgW="215640" imgH="203040" progId="Equation.DSMT4">
                  <p:embed/>
                  <p:pic>
                    <p:nvPicPr>
                      <p:cNvPr id="0" name=""/>
                      <p:cNvPicPr/>
                      <p:nvPr/>
                    </p:nvPicPr>
                    <p:blipFill>
                      <a:blip r:embed="rId5"/>
                      <a:stretch>
                        <a:fillRect/>
                      </a:stretch>
                    </p:blipFill>
                    <p:spPr>
                      <a:xfrm>
                        <a:off x="11090348" y="2446059"/>
                        <a:ext cx="374503" cy="352473"/>
                      </a:xfrm>
                      <a:prstGeom prst="rect">
                        <a:avLst/>
                      </a:prstGeom>
                    </p:spPr>
                  </p:pic>
                </p:oleObj>
              </mc:Fallback>
            </mc:AlternateContent>
          </a:graphicData>
        </a:graphic>
      </p:graphicFrame>
      <p:pic>
        <p:nvPicPr>
          <p:cNvPr id="7" name="图片 6">
            <a:extLst>
              <a:ext uri="{FF2B5EF4-FFF2-40B4-BE49-F238E27FC236}">
                <a16:creationId xmlns:a16="http://schemas.microsoft.com/office/drawing/2014/main" id="{2ED0BA75-2C14-4476-9E0F-F5EB71678A60}"/>
              </a:ext>
            </a:extLst>
          </p:cNvPr>
          <p:cNvPicPr>
            <a:picLocks noChangeAspect="1"/>
          </p:cNvPicPr>
          <p:nvPr/>
        </p:nvPicPr>
        <p:blipFill>
          <a:blip r:embed="rId6"/>
          <a:stretch>
            <a:fillRect/>
          </a:stretch>
        </p:blipFill>
        <p:spPr>
          <a:xfrm>
            <a:off x="510885" y="2951019"/>
            <a:ext cx="2763981" cy="2046522"/>
          </a:xfrm>
          <a:prstGeom prst="rect">
            <a:avLst/>
          </a:prstGeom>
        </p:spPr>
      </p:pic>
      <p:sp>
        <p:nvSpPr>
          <p:cNvPr id="8" name="文本框 7">
            <a:extLst>
              <a:ext uri="{FF2B5EF4-FFF2-40B4-BE49-F238E27FC236}">
                <a16:creationId xmlns:a16="http://schemas.microsoft.com/office/drawing/2014/main" id="{7D162FD3-2EEF-45BA-84C8-DF1C056B1FA9}"/>
              </a:ext>
            </a:extLst>
          </p:cNvPr>
          <p:cNvSpPr txBox="1"/>
          <p:nvPr/>
        </p:nvSpPr>
        <p:spPr>
          <a:xfrm>
            <a:off x="3512127" y="2980122"/>
            <a:ext cx="8032173" cy="646331"/>
          </a:xfrm>
          <a:prstGeom prst="rect">
            <a:avLst/>
          </a:prstGeom>
          <a:noFill/>
        </p:spPr>
        <p:txBody>
          <a:bodyPr wrap="square" rtlCol="0">
            <a:spAutoFit/>
          </a:bodyPr>
          <a:lstStyle/>
          <a:p>
            <a:r>
              <a:rPr lang="zh-CN" altLang="en-US" dirty="0"/>
              <a:t>如左图为简约</a:t>
            </a:r>
            <a:r>
              <a:rPr lang="en-US" altLang="zh-CN" dirty="0"/>
              <a:t>k</a:t>
            </a:r>
            <a:r>
              <a:rPr lang="zh-CN" altLang="en-US" dirty="0"/>
              <a:t>空间的导带，因为</a:t>
            </a:r>
            <a:r>
              <a:rPr lang="en-US" altLang="zh-CN" dirty="0"/>
              <a:t>E-k</a:t>
            </a:r>
            <a:r>
              <a:rPr lang="zh-CN" altLang="en-US" dirty="0"/>
              <a:t>关系曲线</a:t>
            </a:r>
            <a:r>
              <a:rPr lang="en-US" altLang="zh-CN" dirty="0"/>
              <a:t>k=0</a:t>
            </a:r>
            <a:r>
              <a:rPr lang="zh-CN" altLang="en-US" dirty="0"/>
              <a:t>附近的图形形似抛物线，所以有</a:t>
            </a:r>
            <a:endParaRPr lang="en-US" altLang="zh-CN" dirty="0"/>
          </a:p>
        </p:txBody>
      </p:sp>
      <p:sp>
        <p:nvSpPr>
          <p:cNvPr id="9" name="矩形 8">
            <a:extLst>
              <a:ext uri="{FF2B5EF4-FFF2-40B4-BE49-F238E27FC236}">
                <a16:creationId xmlns:a16="http://schemas.microsoft.com/office/drawing/2014/main" id="{0F3B98CD-01F0-48C7-994D-745E89810FB2}"/>
              </a:ext>
            </a:extLst>
          </p:cNvPr>
          <p:cNvSpPr/>
          <p:nvPr/>
        </p:nvSpPr>
        <p:spPr>
          <a:xfrm>
            <a:off x="569436" y="4997541"/>
            <a:ext cx="2646878" cy="276999"/>
          </a:xfrm>
          <a:prstGeom prst="rect">
            <a:avLst/>
          </a:prstGeom>
          <a:noFill/>
        </p:spPr>
        <p:txBody>
          <a:bodyPr wrap="none" lIns="91440" tIns="45720" rIns="91440" bIns="45720">
            <a:spAutoFit/>
          </a:bodyPr>
          <a:lstStyle/>
          <a:p>
            <a:pPr algn="ctr"/>
            <a:r>
              <a:rPr lang="zh-CN" altLang="en-US" sz="1200" b="1" cap="none" spc="0" dirty="0">
                <a:ln w="0"/>
                <a:solidFill>
                  <a:schemeClr val="tx1"/>
                </a:solidFill>
                <a:effectLst>
                  <a:outerShdw blurRad="38100" dist="19050" dir="2700000" algn="tl" rotWithShape="0">
                    <a:schemeClr val="dk1">
                      <a:alpha val="40000"/>
                    </a:schemeClr>
                  </a:outerShdw>
                </a:effectLst>
              </a:rPr>
              <a:t>图</a:t>
            </a:r>
            <a:r>
              <a:rPr lang="en-US" altLang="zh-CN" sz="1200" b="1" cap="none" spc="0" dirty="0">
                <a:ln w="0"/>
                <a:solidFill>
                  <a:schemeClr val="tx1"/>
                </a:solidFill>
                <a:effectLst>
                  <a:outerShdw blurRad="38100" dist="19050" dir="2700000" algn="tl" rotWithShape="0">
                    <a:schemeClr val="dk1">
                      <a:alpha val="40000"/>
                    </a:schemeClr>
                  </a:outerShdw>
                </a:effectLst>
              </a:rPr>
              <a:t>1</a:t>
            </a:r>
            <a:r>
              <a:rPr lang="zh-CN" altLang="en-US" sz="1200" b="1" cap="none" spc="0" dirty="0">
                <a:ln w="0"/>
                <a:solidFill>
                  <a:schemeClr val="tx1"/>
                </a:solidFill>
                <a:effectLst>
                  <a:outerShdw blurRad="38100" dist="19050" dir="2700000" algn="tl" rotWithShape="0">
                    <a:schemeClr val="dk1">
                      <a:alpha val="40000"/>
                    </a:schemeClr>
                  </a:outerShdw>
                </a:effectLst>
              </a:rPr>
              <a:t>：简约</a:t>
            </a:r>
            <a:r>
              <a:rPr lang="en-US" altLang="zh-CN" sz="1200" b="1" cap="none" spc="0" dirty="0">
                <a:ln w="0"/>
                <a:solidFill>
                  <a:schemeClr val="tx1"/>
                </a:solidFill>
                <a:effectLst>
                  <a:outerShdw blurRad="38100" dist="19050" dir="2700000" algn="tl" rotWithShape="0">
                    <a:schemeClr val="dk1">
                      <a:alpha val="40000"/>
                    </a:schemeClr>
                  </a:outerShdw>
                </a:effectLst>
              </a:rPr>
              <a:t>k</a:t>
            </a:r>
            <a:r>
              <a:rPr lang="zh-CN" altLang="en-US" sz="1200" b="1" cap="none" spc="0" dirty="0">
                <a:ln w="0"/>
                <a:solidFill>
                  <a:schemeClr val="tx1"/>
                </a:solidFill>
                <a:effectLst>
                  <a:outerShdw blurRad="38100" dist="19050" dir="2700000" algn="tl" rotWithShape="0">
                    <a:schemeClr val="dk1">
                      <a:alpha val="40000"/>
                    </a:schemeClr>
                  </a:outerShdw>
                </a:effectLst>
              </a:rPr>
              <a:t>空间导带及其抛物线近似</a:t>
            </a:r>
          </a:p>
        </p:txBody>
      </p:sp>
      <p:graphicFrame>
        <p:nvGraphicFramePr>
          <p:cNvPr id="10" name="对象 9">
            <a:extLst>
              <a:ext uri="{FF2B5EF4-FFF2-40B4-BE49-F238E27FC236}">
                <a16:creationId xmlns:a16="http://schemas.microsoft.com/office/drawing/2014/main" id="{9688E26B-99F7-4C4D-9AD5-D0F41067296E}"/>
              </a:ext>
            </a:extLst>
          </p:cNvPr>
          <p:cNvGraphicFramePr>
            <a:graphicFrameLocks noChangeAspect="1"/>
          </p:cNvGraphicFramePr>
          <p:nvPr>
            <p:extLst>
              <p:ext uri="{D42A27DB-BD31-4B8C-83A1-F6EECF244321}">
                <p14:modId xmlns:p14="http://schemas.microsoft.com/office/powerpoint/2010/main" val="2087213118"/>
              </p:ext>
            </p:extLst>
          </p:nvPr>
        </p:nvGraphicFramePr>
        <p:xfrm>
          <a:off x="5340518" y="3626453"/>
          <a:ext cx="1572254" cy="797199"/>
        </p:xfrm>
        <a:graphic>
          <a:graphicData uri="http://schemas.openxmlformats.org/presentationml/2006/ole">
            <mc:AlternateContent xmlns:mc="http://schemas.openxmlformats.org/markup-compatibility/2006">
              <mc:Choice xmlns:v="urn:schemas-microsoft-com:vml" Requires="v">
                <p:oleObj name="Equation" r:id="rId7" imgW="901440" imgH="457200" progId="Equation.DSMT4">
                  <p:embed/>
                </p:oleObj>
              </mc:Choice>
              <mc:Fallback>
                <p:oleObj name="Equation" r:id="rId7" imgW="901440" imgH="457200" progId="Equation.DSMT4">
                  <p:embed/>
                  <p:pic>
                    <p:nvPicPr>
                      <p:cNvPr id="0" name=""/>
                      <p:cNvPicPr/>
                      <p:nvPr/>
                    </p:nvPicPr>
                    <p:blipFill>
                      <a:blip r:embed="rId8"/>
                      <a:stretch>
                        <a:fillRect/>
                      </a:stretch>
                    </p:blipFill>
                    <p:spPr>
                      <a:xfrm>
                        <a:off x="5340518" y="3626453"/>
                        <a:ext cx="1572254" cy="797199"/>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DD34311F-4C74-4857-A7D4-61473D0B48B5}"/>
              </a:ext>
            </a:extLst>
          </p:cNvPr>
          <p:cNvGraphicFramePr>
            <a:graphicFrameLocks noChangeAspect="1"/>
          </p:cNvGraphicFramePr>
          <p:nvPr>
            <p:extLst>
              <p:ext uri="{D42A27DB-BD31-4B8C-83A1-F6EECF244321}">
                <p14:modId xmlns:p14="http://schemas.microsoft.com/office/powerpoint/2010/main" val="121241587"/>
              </p:ext>
            </p:extLst>
          </p:nvPr>
        </p:nvGraphicFramePr>
        <p:xfrm>
          <a:off x="11082228" y="3860801"/>
          <a:ext cx="382623" cy="340109"/>
        </p:xfrm>
        <a:graphic>
          <a:graphicData uri="http://schemas.openxmlformats.org/presentationml/2006/ole">
            <mc:AlternateContent xmlns:mc="http://schemas.openxmlformats.org/markup-compatibility/2006">
              <mc:Choice xmlns:v="urn:schemas-microsoft-com:vml" Requires="v">
                <p:oleObj name="Equation" r:id="rId9" imgW="228600" imgH="203040" progId="Equation.DSMT4">
                  <p:embed/>
                </p:oleObj>
              </mc:Choice>
              <mc:Fallback>
                <p:oleObj name="Equation" r:id="rId9" imgW="228600" imgH="203040" progId="Equation.DSMT4">
                  <p:embed/>
                  <p:pic>
                    <p:nvPicPr>
                      <p:cNvPr id="0" name=""/>
                      <p:cNvPicPr/>
                      <p:nvPr/>
                    </p:nvPicPr>
                    <p:blipFill>
                      <a:blip r:embed="rId10"/>
                      <a:stretch>
                        <a:fillRect/>
                      </a:stretch>
                    </p:blipFill>
                    <p:spPr>
                      <a:xfrm>
                        <a:off x="11082228" y="3860801"/>
                        <a:ext cx="382623" cy="340109"/>
                      </a:xfrm>
                      <a:prstGeom prst="rect">
                        <a:avLst/>
                      </a:prstGeom>
                    </p:spPr>
                  </p:pic>
                </p:oleObj>
              </mc:Fallback>
            </mc:AlternateContent>
          </a:graphicData>
        </a:graphic>
      </p:graphicFrame>
      <p:sp>
        <p:nvSpPr>
          <p:cNvPr id="12" name="文本框 11">
            <a:extLst>
              <a:ext uri="{FF2B5EF4-FFF2-40B4-BE49-F238E27FC236}">
                <a16:creationId xmlns:a16="http://schemas.microsoft.com/office/drawing/2014/main" id="{FE939295-D5AC-48DE-8645-8CB22EFDC76F}"/>
              </a:ext>
            </a:extLst>
          </p:cNvPr>
          <p:cNvSpPr txBox="1"/>
          <p:nvPr/>
        </p:nvSpPr>
        <p:spPr>
          <a:xfrm>
            <a:off x="3512127" y="4446446"/>
            <a:ext cx="8032173" cy="369332"/>
          </a:xfrm>
          <a:prstGeom prst="rect">
            <a:avLst/>
          </a:prstGeom>
          <a:noFill/>
        </p:spPr>
        <p:txBody>
          <a:bodyPr wrap="square" rtlCol="0">
            <a:spAutoFit/>
          </a:bodyPr>
          <a:lstStyle/>
          <a:p>
            <a:r>
              <a:rPr lang="zh-CN" altLang="en-US" dirty="0"/>
              <a:t>其中，</a:t>
            </a:r>
            <a:r>
              <a:rPr lang="en-US" altLang="zh-CN" dirty="0" err="1"/>
              <a:t>Ec</a:t>
            </a:r>
            <a:r>
              <a:rPr lang="zh-CN" altLang="en-US" dirty="0"/>
              <a:t>是导带底的能量，</a:t>
            </a:r>
            <a:r>
              <a:rPr lang="en-US" altLang="zh-CN" dirty="0" err="1"/>
              <a:t>m</a:t>
            </a:r>
            <a:r>
              <a:rPr lang="en-US" altLang="zh-CN" baseline="-25000" dirty="0" err="1"/>
              <a:t>n</a:t>
            </a:r>
            <a:r>
              <a:rPr lang="en-US" altLang="zh-CN" baseline="30000" dirty="0"/>
              <a:t>*</a:t>
            </a:r>
            <a:r>
              <a:rPr lang="zh-CN" altLang="en-US" dirty="0"/>
              <a:t>是电子的</a:t>
            </a:r>
            <a:r>
              <a:rPr lang="zh-CN" altLang="en-US" dirty="0">
                <a:solidFill>
                  <a:srgbClr val="FF0000"/>
                </a:solidFill>
              </a:rPr>
              <a:t>有效质量</a:t>
            </a:r>
            <a:r>
              <a:rPr lang="zh-CN" altLang="en-US" dirty="0"/>
              <a:t>。上式还可以写成</a:t>
            </a:r>
            <a:endParaRPr lang="zh-CN" altLang="en-US" dirty="0">
              <a:solidFill>
                <a:srgbClr val="FF0000"/>
              </a:solidFill>
            </a:endParaRPr>
          </a:p>
        </p:txBody>
      </p:sp>
      <p:graphicFrame>
        <p:nvGraphicFramePr>
          <p:cNvPr id="13" name="对象 12">
            <a:extLst>
              <a:ext uri="{FF2B5EF4-FFF2-40B4-BE49-F238E27FC236}">
                <a16:creationId xmlns:a16="http://schemas.microsoft.com/office/drawing/2014/main" id="{B9F4BCE8-1B13-4119-8E59-01CEE385478C}"/>
              </a:ext>
            </a:extLst>
          </p:cNvPr>
          <p:cNvGraphicFramePr>
            <a:graphicFrameLocks noChangeAspect="1"/>
          </p:cNvGraphicFramePr>
          <p:nvPr>
            <p:extLst>
              <p:ext uri="{D42A27DB-BD31-4B8C-83A1-F6EECF244321}">
                <p14:modId xmlns:p14="http://schemas.microsoft.com/office/powerpoint/2010/main" val="811763002"/>
              </p:ext>
            </p:extLst>
          </p:nvPr>
        </p:nvGraphicFramePr>
        <p:xfrm>
          <a:off x="5365480" y="4812510"/>
          <a:ext cx="1522329" cy="771885"/>
        </p:xfrm>
        <a:graphic>
          <a:graphicData uri="http://schemas.openxmlformats.org/presentationml/2006/ole">
            <mc:AlternateContent xmlns:mc="http://schemas.openxmlformats.org/markup-compatibility/2006">
              <mc:Choice xmlns:v="urn:schemas-microsoft-com:vml" Requires="v">
                <p:oleObj name="Equation" r:id="rId11" imgW="901440" imgH="457200" progId="Equation.DSMT4">
                  <p:embed/>
                </p:oleObj>
              </mc:Choice>
              <mc:Fallback>
                <p:oleObj name="Equation" r:id="rId11" imgW="901440" imgH="457200" progId="Equation.DSMT4">
                  <p:embed/>
                  <p:pic>
                    <p:nvPicPr>
                      <p:cNvPr id="0" name=""/>
                      <p:cNvPicPr/>
                      <p:nvPr/>
                    </p:nvPicPr>
                    <p:blipFill>
                      <a:blip r:embed="rId12"/>
                      <a:stretch>
                        <a:fillRect/>
                      </a:stretch>
                    </p:blipFill>
                    <p:spPr>
                      <a:xfrm>
                        <a:off x="5365480" y="4812510"/>
                        <a:ext cx="1522329" cy="771885"/>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B65D67DE-EBD7-4A10-BA9F-FC52E9B11E55}"/>
              </a:ext>
            </a:extLst>
          </p:cNvPr>
          <p:cNvGraphicFramePr>
            <a:graphicFrameLocks noChangeAspect="1"/>
          </p:cNvGraphicFramePr>
          <p:nvPr>
            <p:extLst>
              <p:ext uri="{D42A27DB-BD31-4B8C-83A1-F6EECF244321}">
                <p14:modId xmlns:p14="http://schemas.microsoft.com/office/powerpoint/2010/main" val="955098882"/>
              </p:ext>
            </p:extLst>
          </p:nvPr>
        </p:nvGraphicFramePr>
        <p:xfrm>
          <a:off x="11067677" y="5087634"/>
          <a:ext cx="397174" cy="373811"/>
        </p:xfrm>
        <a:graphic>
          <a:graphicData uri="http://schemas.openxmlformats.org/presentationml/2006/ole">
            <mc:AlternateContent xmlns:mc="http://schemas.openxmlformats.org/markup-compatibility/2006">
              <mc:Choice xmlns:v="urn:schemas-microsoft-com:vml" Requires="v">
                <p:oleObj name="Equation" r:id="rId13" imgW="215640" imgH="203040" progId="Equation.DSMT4">
                  <p:embed/>
                </p:oleObj>
              </mc:Choice>
              <mc:Fallback>
                <p:oleObj name="Equation" r:id="rId13" imgW="215640" imgH="203040" progId="Equation.DSMT4">
                  <p:embed/>
                  <p:pic>
                    <p:nvPicPr>
                      <p:cNvPr id="0" name=""/>
                      <p:cNvPicPr/>
                      <p:nvPr/>
                    </p:nvPicPr>
                    <p:blipFill>
                      <a:blip r:embed="rId14"/>
                      <a:stretch>
                        <a:fillRect/>
                      </a:stretch>
                    </p:blipFill>
                    <p:spPr>
                      <a:xfrm>
                        <a:off x="11067677" y="5087634"/>
                        <a:ext cx="397174" cy="373811"/>
                      </a:xfrm>
                      <a:prstGeom prst="rect">
                        <a:avLst/>
                      </a:prstGeom>
                    </p:spPr>
                  </p:pic>
                </p:oleObj>
              </mc:Fallback>
            </mc:AlternateContent>
          </a:graphicData>
        </a:graphic>
      </p:graphicFrame>
    </p:spTree>
    <p:extLst>
      <p:ext uri="{BB962C8B-B14F-4D97-AF65-F5344CB8AC3E}">
        <p14:creationId xmlns:p14="http://schemas.microsoft.com/office/powerpoint/2010/main" val="4172149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F73E1B1-89F6-4035-BECF-5027A32024C6}"/>
              </a:ext>
            </a:extLst>
          </p:cNvPr>
          <p:cNvSpPr>
            <a:spLocks noGrp="1"/>
          </p:cNvSpPr>
          <p:nvPr>
            <p:ph type="sldNum" sz="quarter" idx="12"/>
          </p:nvPr>
        </p:nvSpPr>
        <p:spPr/>
        <p:txBody>
          <a:bodyPr/>
          <a:lstStyle/>
          <a:p>
            <a:pPr>
              <a:defRPr/>
            </a:pPr>
            <a:fld id="{DB5F2CA6-A39B-48F7-84D1-AF91BD07D67D}" type="slidenum">
              <a:rPr lang="en-US" altLang="zh-CN" smtClean="0"/>
              <a:pPr>
                <a:defRPr/>
              </a:pPr>
              <a:t>4</a:t>
            </a:fld>
            <a:endParaRPr lang="en-US" altLang="zh-CN"/>
          </a:p>
        </p:txBody>
      </p:sp>
      <p:sp>
        <p:nvSpPr>
          <p:cNvPr id="5" name="矩形 4">
            <a:extLst>
              <a:ext uri="{FF2B5EF4-FFF2-40B4-BE49-F238E27FC236}">
                <a16:creationId xmlns:a16="http://schemas.microsoft.com/office/drawing/2014/main" id="{580227F6-ECBF-4A7B-9F69-45DD231322B5}"/>
              </a:ext>
            </a:extLst>
          </p:cNvPr>
          <p:cNvSpPr/>
          <p:nvPr/>
        </p:nvSpPr>
        <p:spPr>
          <a:xfrm>
            <a:off x="353297" y="574970"/>
            <a:ext cx="3376245" cy="523220"/>
          </a:xfrm>
          <a:prstGeom prst="rect">
            <a:avLst/>
          </a:prstGeom>
          <a:noFill/>
        </p:spPr>
        <p:txBody>
          <a:bodyPr wrap="none" lIns="91440" tIns="45720" rIns="91440" bIns="45720">
            <a:spAutoFit/>
          </a:bodyPr>
          <a:lstStyle/>
          <a:p>
            <a:pPr algn="ctr"/>
            <a:r>
              <a:rPr lang="zh-CN" altLang="en-US" sz="2800" b="0" cap="none" spc="0" dirty="0">
                <a:ln w="0"/>
                <a:solidFill>
                  <a:schemeClr val="accent1"/>
                </a:solidFill>
                <a:effectLst>
                  <a:outerShdw blurRad="38100" dist="25400" dir="5400000" algn="ctr" rotWithShape="0">
                    <a:srgbClr val="6E747A">
                      <a:alpha val="43000"/>
                    </a:srgbClr>
                  </a:outerShdw>
                </a:effectLst>
              </a:rPr>
              <a:t>导带状态密度</a:t>
            </a:r>
            <a:r>
              <a:rPr lang="en-US" altLang="zh-CN" sz="2800" b="0" cap="none" spc="0" dirty="0" err="1">
                <a:ln w="0"/>
                <a:solidFill>
                  <a:schemeClr val="accent1"/>
                </a:solidFill>
                <a:effectLst>
                  <a:outerShdw blurRad="38100" dist="25400" dir="5400000" algn="ctr" rotWithShape="0">
                    <a:srgbClr val="6E747A">
                      <a:alpha val="43000"/>
                    </a:srgbClr>
                  </a:outerShdw>
                </a:effectLst>
              </a:rPr>
              <a:t>g</a:t>
            </a:r>
            <a:r>
              <a:rPr lang="en-US" altLang="zh-CN" sz="2800" b="0" cap="none" spc="0" baseline="-25000" dirty="0" err="1">
                <a:ln w="0"/>
                <a:solidFill>
                  <a:schemeClr val="accent1"/>
                </a:solidFill>
                <a:effectLst>
                  <a:outerShdw blurRad="38100" dist="25400" dir="5400000" algn="ctr" rotWithShape="0">
                    <a:srgbClr val="6E747A">
                      <a:alpha val="43000"/>
                    </a:srgbClr>
                  </a:outerShdw>
                </a:effectLst>
              </a:rPr>
              <a:t>c</a:t>
            </a:r>
            <a:r>
              <a:rPr lang="en-US" altLang="zh-CN" sz="2800" dirty="0">
                <a:ln w="0"/>
                <a:solidFill>
                  <a:schemeClr val="accent1"/>
                </a:solidFill>
                <a:effectLst>
                  <a:outerShdw blurRad="38100" dist="25400" dir="5400000" algn="ctr" rotWithShape="0">
                    <a:srgbClr val="6E747A">
                      <a:alpha val="43000"/>
                    </a:srgbClr>
                  </a:outerShdw>
                </a:effectLst>
              </a:rPr>
              <a:t>(</a:t>
            </a:r>
            <a:r>
              <a:rPr lang="en-US" altLang="zh-CN" sz="2800" b="0" cap="none" spc="0" dirty="0">
                <a:ln w="0"/>
                <a:solidFill>
                  <a:schemeClr val="accent1"/>
                </a:solidFill>
                <a:effectLst>
                  <a:outerShdw blurRad="38100" dist="25400" dir="5400000" algn="ctr" rotWithShape="0">
                    <a:srgbClr val="6E747A">
                      <a:alpha val="43000"/>
                    </a:srgbClr>
                  </a:outerShdw>
                </a:effectLst>
              </a:rPr>
              <a:t>E)</a:t>
            </a:r>
            <a:r>
              <a:rPr lang="zh-CN" altLang="en-US" sz="2800" b="0" cap="none" spc="0" baseline="30000" dirty="0">
                <a:ln w="0"/>
                <a:solidFill>
                  <a:schemeClr val="accent1"/>
                </a:solidFill>
                <a:effectLst>
                  <a:outerShdw blurRad="38100" dist="25400" dir="5400000" algn="ctr" rotWithShape="0">
                    <a:srgbClr val="6E747A">
                      <a:alpha val="43000"/>
                    </a:srgbClr>
                  </a:outerShdw>
                </a:effectLst>
              </a:rPr>
              <a:t>：</a:t>
            </a:r>
            <a:endParaRPr lang="zh-CN" altLang="en-US" sz="2800" b="0" cap="none" spc="0" dirty="0">
              <a:ln w="0"/>
              <a:solidFill>
                <a:schemeClr val="accent1"/>
              </a:solidFill>
              <a:effectLst>
                <a:outerShdw blurRad="38100" dist="25400" dir="5400000" algn="ctr" rotWithShape="0">
                  <a:srgbClr val="6E747A">
                    <a:alpha val="43000"/>
                  </a:srgbClr>
                </a:outerShdw>
              </a:effectLst>
            </a:endParaRPr>
          </a:p>
        </p:txBody>
      </p:sp>
      <p:sp>
        <p:nvSpPr>
          <p:cNvPr id="15" name="文本框 14">
            <a:extLst>
              <a:ext uri="{FF2B5EF4-FFF2-40B4-BE49-F238E27FC236}">
                <a16:creationId xmlns:a16="http://schemas.microsoft.com/office/drawing/2014/main" id="{55BE9878-6039-4C18-845E-2652293E47DF}"/>
              </a:ext>
            </a:extLst>
          </p:cNvPr>
          <p:cNvSpPr txBox="1"/>
          <p:nvPr/>
        </p:nvSpPr>
        <p:spPr>
          <a:xfrm>
            <a:off x="467591" y="1098190"/>
            <a:ext cx="11076709" cy="2308324"/>
          </a:xfrm>
          <a:prstGeom prst="rect">
            <a:avLst/>
          </a:prstGeom>
          <a:noFill/>
        </p:spPr>
        <p:txBody>
          <a:bodyPr wrap="square" rtlCol="0">
            <a:spAutoFit/>
          </a:bodyPr>
          <a:lstStyle/>
          <a:p>
            <a:pPr algn="just"/>
            <a:r>
              <a:rPr lang="en-US" altLang="zh-CN" dirty="0"/>
              <a:t>        </a:t>
            </a:r>
            <a:r>
              <a:rPr lang="zh-CN" altLang="en-US" dirty="0"/>
              <a:t>导带底电子的</a:t>
            </a:r>
            <a:r>
              <a:rPr lang="en-US" altLang="zh-CN" dirty="0"/>
              <a:t>E-k</a:t>
            </a:r>
            <a:r>
              <a:rPr lang="zh-CN" altLang="en-US" dirty="0"/>
              <a:t>关系的一般形式与自由电子类似，只是电子的质量变成了有效质量。这里我们回顾一下</a:t>
            </a:r>
            <a:r>
              <a:rPr lang="zh-CN" altLang="en-US" dirty="0">
                <a:solidFill>
                  <a:srgbClr val="FF0000"/>
                </a:solidFill>
              </a:rPr>
              <a:t>有效质量</a:t>
            </a:r>
            <a:r>
              <a:rPr lang="zh-CN" altLang="en-US" dirty="0"/>
              <a:t>的重要概念</a:t>
            </a:r>
            <a:r>
              <a:rPr lang="en-US" altLang="zh-CN" dirty="0"/>
              <a:t>——</a:t>
            </a:r>
          </a:p>
          <a:p>
            <a:pPr algn="just"/>
            <a:r>
              <a:rPr lang="en-US" altLang="zh-CN" dirty="0"/>
              <a:t>        </a:t>
            </a:r>
            <a:r>
              <a:rPr lang="zh-CN" altLang="en-US" dirty="0"/>
              <a:t>晶体中的电子在外电场的作用下，受到的外力除了外电场的作用，应该还有原子核的作用以及其他大量电子的作用，想找出具体的形式是非常困难的，因此我们将内部势场的作用用有效质量概括，而有效质量我们可以通过回旋共振实验测得，这样在研究半导体中的电子运动规律时就可以</a:t>
            </a:r>
            <a:r>
              <a:rPr lang="zh-CN" altLang="en-US" dirty="0">
                <a:solidFill>
                  <a:srgbClr val="FF0000"/>
                </a:solidFill>
              </a:rPr>
              <a:t>不涉及内部势场</a:t>
            </a:r>
            <a:r>
              <a:rPr lang="zh-CN" altLang="en-US" dirty="0"/>
              <a:t>的作用，从而将外力与加速度直接联系起来。</a:t>
            </a:r>
            <a:endParaRPr lang="en-US" altLang="zh-CN" dirty="0"/>
          </a:p>
          <a:p>
            <a:pPr algn="just"/>
            <a:r>
              <a:rPr lang="en-US" altLang="zh-CN" dirty="0"/>
              <a:t>        </a:t>
            </a:r>
            <a:r>
              <a:rPr lang="zh-CN" altLang="en-US" dirty="0"/>
              <a:t>此时，导带底的电子就可以被看成具有特殊质量的“自由电子”。式</a:t>
            </a:r>
            <a:r>
              <a:rPr lang="en-US" altLang="zh-CN" dirty="0"/>
              <a:t>(5)</a:t>
            </a:r>
            <a:r>
              <a:rPr lang="zh-CN" altLang="en-US" dirty="0"/>
              <a:t>和式</a:t>
            </a:r>
            <a:r>
              <a:rPr lang="en-US" altLang="zh-CN" dirty="0"/>
              <a:t>(3)</a:t>
            </a:r>
            <a:r>
              <a:rPr lang="zh-CN" altLang="en-US" dirty="0"/>
              <a:t>的右边具有相同的形式，而且都用于状态密度函数的推导。以有效量子态密度函数为基础</a:t>
            </a:r>
          </a:p>
        </p:txBody>
      </p:sp>
      <p:graphicFrame>
        <p:nvGraphicFramePr>
          <p:cNvPr id="17" name="对象 16">
            <a:extLst>
              <a:ext uri="{FF2B5EF4-FFF2-40B4-BE49-F238E27FC236}">
                <a16:creationId xmlns:a16="http://schemas.microsoft.com/office/drawing/2014/main" id="{5E6CC357-675C-476A-9FCF-ACB60DAE0BBF}"/>
              </a:ext>
            </a:extLst>
          </p:cNvPr>
          <p:cNvGraphicFramePr>
            <a:graphicFrameLocks noChangeAspect="1"/>
          </p:cNvGraphicFramePr>
          <p:nvPr>
            <p:extLst>
              <p:ext uri="{D42A27DB-BD31-4B8C-83A1-F6EECF244321}">
                <p14:modId xmlns:p14="http://schemas.microsoft.com/office/powerpoint/2010/main" val="3709999508"/>
              </p:ext>
            </p:extLst>
          </p:nvPr>
        </p:nvGraphicFramePr>
        <p:xfrm>
          <a:off x="4943414" y="3406514"/>
          <a:ext cx="2305172" cy="697896"/>
        </p:xfrm>
        <a:graphic>
          <a:graphicData uri="http://schemas.openxmlformats.org/presentationml/2006/ole">
            <mc:AlternateContent xmlns:mc="http://schemas.openxmlformats.org/markup-compatibility/2006">
              <mc:Choice xmlns:v="urn:schemas-microsoft-com:vml" Requires="v">
                <p:oleObj name="Equation" r:id="rId2" imgW="1384200" imgH="419040" progId="Equation.DSMT4">
                  <p:embed/>
                </p:oleObj>
              </mc:Choice>
              <mc:Fallback>
                <p:oleObj name="Equation" r:id="rId2" imgW="1384200" imgH="419040" progId="Equation.DSMT4">
                  <p:embed/>
                  <p:pic>
                    <p:nvPicPr>
                      <p:cNvPr id="0" name=""/>
                      <p:cNvPicPr/>
                      <p:nvPr/>
                    </p:nvPicPr>
                    <p:blipFill>
                      <a:blip r:embed="rId3"/>
                      <a:stretch>
                        <a:fillRect/>
                      </a:stretch>
                    </p:blipFill>
                    <p:spPr>
                      <a:xfrm>
                        <a:off x="4943414" y="3406514"/>
                        <a:ext cx="2305172" cy="697896"/>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1B457640-38A6-4A28-B4D2-AF60E6745E53}"/>
              </a:ext>
            </a:extLst>
          </p:cNvPr>
          <p:cNvGraphicFramePr>
            <a:graphicFrameLocks noChangeAspect="1"/>
          </p:cNvGraphicFramePr>
          <p:nvPr>
            <p:extLst>
              <p:ext uri="{D42A27DB-BD31-4B8C-83A1-F6EECF244321}">
                <p14:modId xmlns:p14="http://schemas.microsoft.com/office/powerpoint/2010/main" val="1097891188"/>
              </p:ext>
            </p:extLst>
          </p:nvPr>
        </p:nvGraphicFramePr>
        <p:xfrm>
          <a:off x="11230893" y="3616170"/>
          <a:ext cx="313407" cy="278584"/>
        </p:xfrm>
        <a:graphic>
          <a:graphicData uri="http://schemas.openxmlformats.org/presentationml/2006/ole">
            <mc:AlternateContent xmlns:mc="http://schemas.openxmlformats.org/markup-compatibility/2006">
              <mc:Choice xmlns:v="urn:schemas-microsoft-com:vml" Requires="v">
                <p:oleObj name="Equation" r:id="rId4" imgW="228600" imgH="203040" progId="Equation.DSMT4">
                  <p:embed/>
                </p:oleObj>
              </mc:Choice>
              <mc:Fallback>
                <p:oleObj name="Equation" r:id="rId4" imgW="228600" imgH="203040" progId="Equation.DSMT4">
                  <p:embed/>
                  <p:pic>
                    <p:nvPicPr>
                      <p:cNvPr id="0" name=""/>
                      <p:cNvPicPr/>
                      <p:nvPr/>
                    </p:nvPicPr>
                    <p:blipFill>
                      <a:blip r:embed="rId5"/>
                      <a:stretch>
                        <a:fillRect/>
                      </a:stretch>
                    </p:blipFill>
                    <p:spPr>
                      <a:xfrm>
                        <a:off x="11230893" y="3616170"/>
                        <a:ext cx="313407" cy="278584"/>
                      </a:xfrm>
                      <a:prstGeom prst="rect">
                        <a:avLst/>
                      </a:prstGeom>
                    </p:spPr>
                  </p:pic>
                </p:oleObj>
              </mc:Fallback>
            </mc:AlternateContent>
          </a:graphicData>
        </a:graphic>
      </p:graphicFrame>
      <p:sp>
        <p:nvSpPr>
          <p:cNvPr id="19" name="文本框 18">
            <a:extLst>
              <a:ext uri="{FF2B5EF4-FFF2-40B4-BE49-F238E27FC236}">
                <a16:creationId xmlns:a16="http://schemas.microsoft.com/office/drawing/2014/main" id="{47189C40-DD01-4A7D-A70A-6AECBAE0DFA2}"/>
              </a:ext>
            </a:extLst>
          </p:cNvPr>
          <p:cNvSpPr txBox="1"/>
          <p:nvPr/>
        </p:nvSpPr>
        <p:spPr>
          <a:xfrm>
            <a:off x="353297" y="4091515"/>
            <a:ext cx="11076709" cy="369332"/>
          </a:xfrm>
          <a:prstGeom prst="rect">
            <a:avLst/>
          </a:prstGeom>
          <a:noFill/>
        </p:spPr>
        <p:txBody>
          <a:bodyPr wrap="square" rtlCol="0">
            <a:spAutoFit/>
          </a:bodyPr>
          <a:lstStyle/>
          <a:p>
            <a:r>
              <a:rPr lang="zh-CN" altLang="en-US" dirty="0"/>
              <a:t>可以总结出导带中的有效电子能态密度为</a:t>
            </a:r>
          </a:p>
        </p:txBody>
      </p:sp>
      <p:graphicFrame>
        <p:nvGraphicFramePr>
          <p:cNvPr id="20" name="对象 19">
            <a:extLst>
              <a:ext uri="{FF2B5EF4-FFF2-40B4-BE49-F238E27FC236}">
                <a16:creationId xmlns:a16="http://schemas.microsoft.com/office/drawing/2014/main" id="{F29CE4CE-BDC9-4631-8CB3-091E202AEC39}"/>
              </a:ext>
            </a:extLst>
          </p:cNvPr>
          <p:cNvGraphicFramePr>
            <a:graphicFrameLocks noChangeAspect="1"/>
          </p:cNvGraphicFramePr>
          <p:nvPr>
            <p:extLst>
              <p:ext uri="{D42A27DB-BD31-4B8C-83A1-F6EECF244321}">
                <p14:modId xmlns:p14="http://schemas.microsoft.com/office/powerpoint/2010/main" val="959782804"/>
              </p:ext>
            </p:extLst>
          </p:nvPr>
        </p:nvGraphicFramePr>
        <p:xfrm>
          <a:off x="4492137" y="4460847"/>
          <a:ext cx="3207725" cy="750744"/>
        </p:xfrm>
        <a:graphic>
          <a:graphicData uri="http://schemas.openxmlformats.org/presentationml/2006/ole">
            <mc:AlternateContent xmlns:mc="http://schemas.openxmlformats.org/markup-compatibility/2006">
              <mc:Choice xmlns:v="urn:schemas-microsoft-com:vml" Requires="v">
                <p:oleObj name="Equation" r:id="rId6" imgW="1790640" imgH="419040" progId="Equation.DSMT4">
                  <p:embed/>
                </p:oleObj>
              </mc:Choice>
              <mc:Fallback>
                <p:oleObj name="Equation" r:id="rId6" imgW="1790640" imgH="419040" progId="Equation.DSMT4">
                  <p:embed/>
                  <p:pic>
                    <p:nvPicPr>
                      <p:cNvPr id="0" name=""/>
                      <p:cNvPicPr/>
                      <p:nvPr/>
                    </p:nvPicPr>
                    <p:blipFill>
                      <a:blip r:embed="rId7"/>
                      <a:stretch>
                        <a:fillRect/>
                      </a:stretch>
                    </p:blipFill>
                    <p:spPr>
                      <a:xfrm>
                        <a:off x="4492137" y="4460847"/>
                        <a:ext cx="3207725" cy="750744"/>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C857DF93-DA7C-4EE7-A7A9-D63DE2E1B1D3}"/>
              </a:ext>
            </a:extLst>
          </p:cNvPr>
          <p:cNvGraphicFramePr>
            <a:graphicFrameLocks noChangeAspect="1"/>
          </p:cNvGraphicFramePr>
          <p:nvPr>
            <p:extLst>
              <p:ext uri="{D42A27DB-BD31-4B8C-83A1-F6EECF244321}">
                <p14:modId xmlns:p14="http://schemas.microsoft.com/office/powerpoint/2010/main" val="106519482"/>
              </p:ext>
            </p:extLst>
          </p:nvPr>
        </p:nvGraphicFramePr>
        <p:xfrm>
          <a:off x="11217607" y="4685118"/>
          <a:ext cx="339978" cy="302202"/>
        </p:xfrm>
        <a:graphic>
          <a:graphicData uri="http://schemas.openxmlformats.org/presentationml/2006/ole">
            <mc:AlternateContent xmlns:mc="http://schemas.openxmlformats.org/markup-compatibility/2006">
              <mc:Choice xmlns:v="urn:schemas-microsoft-com:vml" Requires="v">
                <p:oleObj name="Equation" r:id="rId8" imgW="228600" imgH="203040" progId="Equation.DSMT4">
                  <p:embed/>
                </p:oleObj>
              </mc:Choice>
              <mc:Fallback>
                <p:oleObj name="Equation" r:id="rId8" imgW="228600" imgH="203040" progId="Equation.DSMT4">
                  <p:embed/>
                  <p:pic>
                    <p:nvPicPr>
                      <p:cNvPr id="0" name=""/>
                      <p:cNvPicPr/>
                      <p:nvPr/>
                    </p:nvPicPr>
                    <p:blipFill>
                      <a:blip r:embed="rId9"/>
                      <a:stretch>
                        <a:fillRect/>
                      </a:stretch>
                    </p:blipFill>
                    <p:spPr>
                      <a:xfrm>
                        <a:off x="11217607" y="4685118"/>
                        <a:ext cx="339978" cy="302202"/>
                      </a:xfrm>
                      <a:prstGeom prst="rect">
                        <a:avLst/>
                      </a:prstGeom>
                    </p:spPr>
                  </p:pic>
                </p:oleObj>
              </mc:Fallback>
            </mc:AlternateContent>
          </a:graphicData>
        </a:graphic>
      </p:graphicFrame>
      <p:sp>
        <p:nvSpPr>
          <p:cNvPr id="22" name="文本框 21">
            <a:extLst>
              <a:ext uri="{FF2B5EF4-FFF2-40B4-BE49-F238E27FC236}">
                <a16:creationId xmlns:a16="http://schemas.microsoft.com/office/drawing/2014/main" id="{8822F005-0690-4BE9-A8F4-F28A303BD27E}"/>
              </a:ext>
            </a:extLst>
          </p:cNvPr>
          <p:cNvSpPr txBox="1"/>
          <p:nvPr/>
        </p:nvSpPr>
        <p:spPr>
          <a:xfrm>
            <a:off x="467591" y="5211591"/>
            <a:ext cx="11076709" cy="369332"/>
          </a:xfrm>
          <a:prstGeom prst="rect">
            <a:avLst/>
          </a:prstGeom>
          <a:noFill/>
        </p:spPr>
        <p:txBody>
          <a:bodyPr wrap="square" rtlCol="0">
            <a:spAutoFit/>
          </a:bodyPr>
          <a:lstStyle/>
          <a:p>
            <a:r>
              <a:rPr lang="zh-CN" altLang="en-US" dirty="0"/>
              <a:t>该式在</a:t>
            </a:r>
            <a:r>
              <a:rPr lang="en-US" altLang="zh-CN" dirty="0"/>
              <a:t>E</a:t>
            </a:r>
            <a:r>
              <a:rPr lang="zh-CN" altLang="en-US" dirty="0"/>
              <a:t>≥</a:t>
            </a:r>
            <a:r>
              <a:rPr lang="en-US" altLang="zh-CN" dirty="0" err="1"/>
              <a:t>E</a:t>
            </a:r>
            <a:r>
              <a:rPr lang="en-US" altLang="zh-CN" baseline="-25000" dirty="0" err="1"/>
              <a:t>c</a:t>
            </a:r>
            <a:r>
              <a:rPr lang="zh-CN" altLang="en-US" dirty="0"/>
              <a:t>的条件下有效。随着导带中电子能量的减弱，有效量子态数量也在减少。</a:t>
            </a:r>
          </a:p>
        </p:txBody>
      </p:sp>
    </p:spTree>
    <p:extLst>
      <p:ext uri="{BB962C8B-B14F-4D97-AF65-F5344CB8AC3E}">
        <p14:creationId xmlns:p14="http://schemas.microsoft.com/office/powerpoint/2010/main" val="215188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0ED979D1-E6BA-40EF-8D27-D36D3DD4A8DA}"/>
              </a:ext>
            </a:extLst>
          </p:cNvPr>
          <p:cNvSpPr>
            <a:spLocks noGrp="1"/>
          </p:cNvSpPr>
          <p:nvPr>
            <p:ph type="sldNum" sz="quarter" idx="12"/>
          </p:nvPr>
        </p:nvSpPr>
        <p:spPr>
          <a:xfrm>
            <a:off x="9267285" y="6416780"/>
            <a:ext cx="2540000" cy="457200"/>
          </a:xfrm>
        </p:spPr>
        <p:txBody>
          <a:bodyPr/>
          <a:lstStyle/>
          <a:p>
            <a:pPr>
              <a:defRPr/>
            </a:pPr>
            <a:fld id="{DB5F2CA6-A39B-48F7-84D1-AF91BD07D67D}" type="slidenum">
              <a:rPr lang="en-US" altLang="zh-CN" smtClean="0"/>
              <a:pPr>
                <a:defRPr/>
              </a:pPr>
              <a:t>5</a:t>
            </a:fld>
            <a:endParaRPr lang="en-US" altLang="zh-CN"/>
          </a:p>
        </p:txBody>
      </p:sp>
      <p:sp>
        <p:nvSpPr>
          <p:cNvPr id="5" name="矩形 4">
            <a:extLst>
              <a:ext uri="{FF2B5EF4-FFF2-40B4-BE49-F238E27FC236}">
                <a16:creationId xmlns:a16="http://schemas.microsoft.com/office/drawing/2014/main" id="{C48C09B5-ECB0-4B16-BB48-65FF2A11BBB7}"/>
              </a:ext>
            </a:extLst>
          </p:cNvPr>
          <p:cNvSpPr/>
          <p:nvPr/>
        </p:nvSpPr>
        <p:spPr>
          <a:xfrm>
            <a:off x="353297" y="574970"/>
            <a:ext cx="3376245" cy="523220"/>
          </a:xfrm>
          <a:prstGeom prst="rect">
            <a:avLst/>
          </a:prstGeom>
          <a:noFill/>
        </p:spPr>
        <p:txBody>
          <a:bodyPr wrap="none" lIns="91440" tIns="45720" rIns="91440" bIns="45720">
            <a:spAutoFit/>
          </a:bodyPr>
          <a:lstStyle/>
          <a:p>
            <a:pPr algn="ctr"/>
            <a:r>
              <a:rPr lang="zh-CN" altLang="en-US" sz="2800" b="0" cap="none" spc="0" dirty="0">
                <a:ln w="0"/>
                <a:solidFill>
                  <a:schemeClr val="accent1"/>
                </a:solidFill>
                <a:effectLst>
                  <a:outerShdw blurRad="38100" dist="25400" dir="5400000" algn="ctr" rotWithShape="0">
                    <a:srgbClr val="6E747A">
                      <a:alpha val="43000"/>
                    </a:srgbClr>
                  </a:outerShdw>
                </a:effectLst>
              </a:rPr>
              <a:t>导带状态密度</a:t>
            </a:r>
            <a:r>
              <a:rPr lang="en-US" altLang="zh-CN" sz="2800" b="0" cap="none" spc="0" dirty="0" err="1">
                <a:ln w="0"/>
                <a:solidFill>
                  <a:schemeClr val="accent1"/>
                </a:solidFill>
                <a:effectLst>
                  <a:outerShdw blurRad="38100" dist="25400" dir="5400000" algn="ctr" rotWithShape="0">
                    <a:srgbClr val="6E747A">
                      <a:alpha val="43000"/>
                    </a:srgbClr>
                  </a:outerShdw>
                </a:effectLst>
              </a:rPr>
              <a:t>g</a:t>
            </a:r>
            <a:r>
              <a:rPr lang="en-US" altLang="zh-CN" sz="2800" b="0" cap="none" spc="0" baseline="-25000" dirty="0" err="1">
                <a:ln w="0"/>
                <a:solidFill>
                  <a:schemeClr val="accent1"/>
                </a:solidFill>
                <a:effectLst>
                  <a:outerShdw blurRad="38100" dist="25400" dir="5400000" algn="ctr" rotWithShape="0">
                    <a:srgbClr val="6E747A">
                      <a:alpha val="43000"/>
                    </a:srgbClr>
                  </a:outerShdw>
                </a:effectLst>
              </a:rPr>
              <a:t>c</a:t>
            </a:r>
            <a:r>
              <a:rPr lang="en-US" altLang="zh-CN" sz="2800" dirty="0">
                <a:ln w="0"/>
                <a:solidFill>
                  <a:schemeClr val="accent1"/>
                </a:solidFill>
                <a:effectLst>
                  <a:outerShdw blurRad="38100" dist="25400" dir="5400000" algn="ctr" rotWithShape="0">
                    <a:srgbClr val="6E747A">
                      <a:alpha val="43000"/>
                    </a:srgbClr>
                  </a:outerShdw>
                </a:effectLst>
              </a:rPr>
              <a:t>(</a:t>
            </a:r>
            <a:r>
              <a:rPr lang="en-US" altLang="zh-CN" sz="2800" b="0" cap="none" spc="0" dirty="0">
                <a:ln w="0"/>
                <a:solidFill>
                  <a:schemeClr val="accent1"/>
                </a:solidFill>
                <a:effectLst>
                  <a:outerShdw blurRad="38100" dist="25400" dir="5400000" algn="ctr" rotWithShape="0">
                    <a:srgbClr val="6E747A">
                      <a:alpha val="43000"/>
                    </a:srgbClr>
                  </a:outerShdw>
                </a:effectLst>
              </a:rPr>
              <a:t>E)</a:t>
            </a:r>
            <a:r>
              <a:rPr lang="zh-CN" altLang="en-US" sz="2800" b="0" cap="none" spc="0" baseline="30000" dirty="0">
                <a:ln w="0"/>
                <a:solidFill>
                  <a:schemeClr val="accent1"/>
                </a:solidFill>
                <a:effectLst>
                  <a:outerShdw blurRad="38100" dist="25400" dir="5400000" algn="ctr" rotWithShape="0">
                    <a:srgbClr val="6E747A">
                      <a:alpha val="43000"/>
                    </a:srgbClr>
                  </a:outerShdw>
                </a:effectLst>
              </a:rPr>
              <a:t>：</a:t>
            </a:r>
            <a:endParaRPr lang="zh-CN" altLang="en-US" sz="2800" b="0" cap="none" spc="0" dirty="0">
              <a:ln w="0"/>
              <a:solidFill>
                <a:schemeClr val="accent1"/>
              </a:solidFill>
              <a:effectLst>
                <a:outerShdw blurRad="38100" dist="25400" dir="5400000" algn="ctr" rotWithShape="0">
                  <a:srgbClr val="6E747A">
                    <a:alpha val="43000"/>
                  </a:srgbClr>
                </a:outerShdw>
              </a:effectLst>
            </a:endParaRPr>
          </a:p>
        </p:txBody>
      </p:sp>
      <p:sp>
        <p:nvSpPr>
          <p:cNvPr id="6" name="文本框 5">
            <a:extLst>
              <a:ext uri="{FF2B5EF4-FFF2-40B4-BE49-F238E27FC236}">
                <a16:creationId xmlns:a16="http://schemas.microsoft.com/office/drawing/2014/main" id="{1CC4F845-DE77-4461-BC39-BADAF61C03F2}"/>
              </a:ext>
            </a:extLst>
          </p:cNvPr>
          <p:cNvSpPr txBox="1"/>
          <p:nvPr/>
        </p:nvSpPr>
        <p:spPr>
          <a:xfrm>
            <a:off x="519545" y="1098190"/>
            <a:ext cx="11076710" cy="646331"/>
          </a:xfrm>
          <a:prstGeom prst="rect">
            <a:avLst/>
          </a:prstGeom>
          <a:noFill/>
        </p:spPr>
        <p:txBody>
          <a:bodyPr wrap="square" rtlCol="0">
            <a:spAutoFit/>
          </a:bodyPr>
          <a:lstStyle/>
          <a:p>
            <a:r>
              <a:rPr lang="zh-CN" altLang="en-US" dirty="0"/>
              <a:t>        依据式</a:t>
            </a:r>
            <a:r>
              <a:rPr lang="en-US" altLang="zh-CN" dirty="0"/>
              <a:t>(7)</a:t>
            </a:r>
            <a:r>
              <a:rPr lang="zh-CN" altLang="en-US" dirty="0"/>
              <a:t>，我们即可画出导带状态密度函数</a:t>
            </a:r>
            <a:r>
              <a:rPr lang="en-US" altLang="zh-CN" dirty="0" err="1"/>
              <a:t>g</a:t>
            </a:r>
            <a:r>
              <a:rPr lang="en-US" altLang="zh-CN" baseline="-25000" dirty="0" err="1"/>
              <a:t>c</a:t>
            </a:r>
            <a:r>
              <a:rPr lang="en-US" altLang="zh-CN" dirty="0"/>
              <a:t>(E)</a:t>
            </a:r>
            <a:r>
              <a:rPr lang="zh-CN" altLang="en-US" dirty="0"/>
              <a:t>的曲线，以及</a:t>
            </a:r>
            <a:r>
              <a:rPr lang="en-US" altLang="zh-CN" dirty="0"/>
              <a:t>T&gt;0K</a:t>
            </a:r>
            <a:r>
              <a:rPr lang="zh-CN" altLang="en-US" dirty="0"/>
              <a:t>时</a:t>
            </a:r>
            <a:r>
              <a:rPr lang="en-US" altLang="zh-CN" dirty="0"/>
              <a:t>E</a:t>
            </a:r>
            <a:r>
              <a:rPr lang="en-US" altLang="zh-CN" baseline="-25000" dirty="0"/>
              <a:t>F</a:t>
            </a:r>
            <a:r>
              <a:rPr lang="zh-CN" altLang="en-US" dirty="0"/>
              <a:t>近似位于</a:t>
            </a:r>
            <a:r>
              <a:rPr lang="en-US" altLang="zh-CN" dirty="0" err="1"/>
              <a:t>E</a:t>
            </a:r>
            <a:r>
              <a:rPr lang="en-US" altLang="zh-CN" baseline="-25000" dirty="0" err="1"/>
              <a:t>c</a:t>
            </a:r>
            <a:r>
              <a:rPr lang="zh-CN" altLang="en-US" dirty="0"/>
              <a:t>和</a:t>
            </a:r>
            <a:r>
              <a:rPr lang="en-US" altLang="zh-CN" dirty="0" err="1"/>
              <a:t>E</a:t>
            </a:r>
            <a:r>
              <a:rPr lang="en-US" altLang="zh-CN" baseline="-25000" dirty="0" err="1"/>
              <a:t>v</a:t>
            </a:r>
            <a:r>
              <a:rPr lang="zh-CN" altLang="en-US" dirty="0"/>
              <a:t>之间二分之一处的费米分布函数，如图</a:t>
            </a:r>
            <a:r>
              <a:rPr lang="en-US" altLang="zh-CN" dirty="0"/>
              <a:t>2</a:t>
            </a:r>
            <a:r>
              <a:rPr lang="zh-CN" altLang="en-US" dirty="0"/>
              <a:t>。</a:t>
            </a:r>
          </a:p>
        </p:txBody>
      </p:sp>
      <p:pic>
        <p:nvPicPr>
          <p:cNvPr id="7" name="图片 6">
            <a:extLst>
              <a:ext uri="{FF2B5EF4-FFF2-40B4-BE49-F238E27FC236}">
                <a16:creationId xmlns:a16="http://schemas.microsoft.com/office/drawing/2014/main" id="{1023FCBF-0DF7-49DD-AC45-CF06D59DD649}"/>
              </a:ext>
            </a:extLst>
          </p:cNvPr>
          <p:cNvPicPr>
            <a:picLocks noChangeAspect="1"/>
          </p:cNvPicPr>
          <p:nvPr/>
        </p:nvPicPr>
        <p:blipFill>
          <a:blip r:embed="rId2"/>
          <a:stretch>
            <a:fillRect/>
          </a:stretch>
        </p:blipFill>
        <p:spPr>
          <a:xfrm>
            <a:off x="353297" y="1744521"/>
            <a:ext cx="3109229" cy="4092295"/>
          </a:xfrm>
          <a:prstGeom prst="rect">
            <a:avLst/>
          </a:prstGeom>
        </p:spPr>
      </p:pic>
      <p:sp>
        <p:nvSpPr>
          <p:cNvPr id="8" name="矩形 7">
            <a:extLst>
              <a:ext uri="{FF2B5EF4-FFF2-40B4-BE49-F238E27FC236}">
                <a16:creationId xmlns:a16="http://schemas.microsoft.com/office/drawing/2014/main" id="{E2FCB6AB-5BFE-41F1-975E-8E508D1D96FF}"/>
              </a:ext>
            </a:extLst>
          </p:cNvPr>
          <p:cNvSpPr/>
          <p:nvPr/>
        </p:nvSpPr>
        <p:spPr>
          <a:xfrm>
            <a:off x="213389" y="5836816"/>
            <a:ext cx="3389044" cy="461665"/>
          </a:xfrm>
          <a:prstGeom prst="rect">
            <a:avLst/>
          </a:prstGeom>
          <a:noFill/>
        </p:spPr>
        <p:txBody>
          <a:bodyPr wrap="square" lIns="91440" tIns="45720" rIns="91440" bIns="45720">
            <a:spAutoFit/>
          </a:bodyPr>
          <a:lstStyle/>
          <a:p>
            <a:pPr algn="ctr"/>
            <a:r>
              <a:rPr lang="zh-CN" altLang="en-US" sz="1200" b="1" cap="none" spc="0" dirty="0">
                <a:ln w="0"/>
                <a:solidFill>
                  <a:schemeClr val="tx1"/>
                </a:solidFill>
                <a:effectLst>
                  <a:outerShdw blurRad="38100" dist="19050" dir="2700000" algn="tl" rotWithShape="0">
                    <a:schemeClr val="dk1">
                      <a:alpha val="40000"/>
                    </a:schemeClr>
                  </a:outerShdw>
                </a:effectLst>
              </a:rPr>
              <a:t>图</a:t>
            </a:r>
            <a:r>
              <a:rPr lang="en-US" altLang="zh-CN" sz="1200" b="1" cap="none" spc="0" dirty="0">
                <a:ln w="0"/>
                <a:solidFill>
                  <a:schemeClr val="tx1"/>
                </a:solidFill>
                <a:effectLst>
                  <a:outerShdw blurRad="38100" dist="19050" dir="2700000" algn="tl" rotWithShape="0">
                    <a:schemeClr val="dk1">
                      <a:alpha val="40000"/>
                    </a:schemeClr>
                  </a:outerShdw>
                </a:effectLst>
              </a:rPr>
              <a:t>2</a:t>
            </a:r>
            <a:r>
              <a:rPr lang="zh-CN" altLang="en-US" sz="1200" b="1" cap="none" spc="0" dirty="0">
                <a:ln w="0"/>
                <a:solidFill>
                  <a:schemeClr val="tx1"/>
                </a:solidFill>
                <a:effectLst>
                  <a:outerShdw blurRad="38100" dist="19050" dir="2700000" algn="tl" rotWithShape="0">
                    <a:schemeClr val="dk1">
                      <a:alpha val="40000"/>
                    </a:schemeClr>
                  </a:outerShdw>
                </a:effectLst>
              </a:rPr>
              <a:t>：状态密度函数以及费米分布函数，以及</a:t>
            </a:r>
            <a:r>
              <a:rPr lang="en-US" altLang="zh-CN" sz="1200" b="1" cap="none" spc="0" dirty="0">
                <a:ln w="0"/>
                <a:solidFill>
                  <a:schemeClr val="tx1"/>
                </a:solidFill>
                <a:effectLst>
                  <a:outerShdw blurRad="38100" dist="19050" dir="2700000" algn="tl" rotWithShape="0">
                    <a:schemeClr val="dk1">
                      <a:alpha val="40000"/>
                    </a:schemeClr>
                  </a:outerShdw>
                </a:effectLst>
              </a:rPr>
              <a:t>E</a:t>
            </a:r>
            <a:r>
              <a:rPr lang="en-US" altLang="zh-CN" sz="1200" b="1" cap="none" spc="0" baseline="-25000" dirty="0">
                <a:ln w="0"/>
                <a:solidFill>
                  <a:schemeClr val="tx1"/>
                </a:solidFill>
                <a:effectLst>
                  <a:outerShdw blurRad="38100" dist="19050" dir="2700000" algn="tl" rotWithShape="0">
                    <a:schemeClr val="dk1">
                      <a:alpha val="40000"/>
                    </a:schemeClr>
                  </a:outerShdw>
                </a:effectLst>
              </a:rPr>
              <a:t>F</a:t>
            </a:r>
            <a:endParaRPr lang="en-US" altLang="zh-CN" sz="1200" b="1" cap="none" spc="0" dirty="0">
              <a:ln w="0"/>
              <a:solidFill>
                <a:schemeClr val="tx1"/>
              </a:solidFill>
              <a:effectLst>
                <a:outerShdw blurRad="38100" dist="19050" dir="2700000" algn="tl" rotWithShape="0">
                  <a:schemeClr val="dk1">
                    <a:alpha val="40000"/>
                  </a:schemeClr>
                </a:outerShdw>
              </a:effectLst>
            </a:endParaRPr>
          </a:p>
          <a:p>
            <a:pPr algn="ctr"/>
            <a:r>
              <a:rPr lang="zh-CN" altLang="en-US" sz="1200" b="1" cap="none" spc="0" dirty="0">
                <a:ln w="0"/>
                <a:solidFill>
                  <a:schemeClr val="tx1"/>
                </a:solidFill>
                <a:effectLst>
                  <a:outerShdw blurRad="38100" dist="19050" dir="2700000" algn="tl" rotWithShape="0">
                    <a:schemeClr val="dk1">
                      <a:alpha val="40000"/>
                    </a:schemeClr>
                  </a:outerShdw>
                </a:effectLst>
              </a:rPr>
              <a:t>位于禁带中线时表示电子和空穴浓度的面积</a:t>
            </a:r>
          </a:p>
        </p:txBody>
      </p:sp>
      <p:sp>
        <p:nvSpPr>
          <p:cNvPr id="9" name="文本框 8">
            <a:extLst>
              <a:ext uri="{FF2B5EF4-FFF2-40B4-BE49-F238E27FC236}">
                <a16:creationId xmlns:a16="http://schemas.microsoft.com/office/drawing/2014/main" id="{592501C2-6B4F-4827-877D-6B1A5C9EEB8B}"/>
              </a:ext>
            </a:extLst>
          </p:cNvPr>
          <p:cNvSpPr txBox="1"/>
          <p:nvPr/>
        </p:nvSpPr>
        <p:spPr>
          <a:xfrm>
            <a:off x="3813464" y="1744521"/>
            <a:ext cx="7782791" cy="2031325"/>
          </a:xfrm>
          <a:prstGeom prst="rect">
            <a:avLst/>
          </a:prstGeom>
          <a:noFill/>
        </p:spPr>
        <p:txBody>
          <a:bodyPr wrap="square" rtlCol="0">
            <a:spAutoFit/>
          </a:bodyPr>
          <a:lstStyle/>
          <a:p>
            <a:pPr algn="just"/>
            <a:r>
              <a:rPr lang="zh-CN" altLang="en-US" dirty="0"/>
              <a:t>        导带电子分布</a:t>
            </a:r>
            <a:r>
              <a:rPr lang="en-US" altLang="zh-CN" dirty="0"/>
              <a:t>n(E)</a:t>
            </a:r>
            <a:r>
              <a:rPr lang="zh-CN" altLang="en-US" dirty="0"/>
              <a:t>等于</a:t>
            </a:r>
            <a:r>
              <a:rPr lang="en-US" altLang="zh-CN" dirty="0" err="1"/>
              <a:t>f</a:t>
            </a:r>
            <a:r>
              <a:rPr lang="en-US" altLang="zh-CN" baseline="-25000" dirty="0" err="1"/>
              <a:t>F</a:t>
            </a:r>
            <a:r>
              <a:rPr lang="en-US" altLang="zh-CN" dirty="0"/>
              <a:t>(E)</a:t>
            </a:r>
            <a:r>
              <a:rPr lang="zh-CN" altLang="en-US" dirty="0"/>
              <a:t>和</a:t>
            </a:r>
            <a:r>
              <a:rPr lang="en-US" altLang="zh-CN" dirty="0" err="1"/>
              <a:t>g</a:t>
            </a:r>
            <a:r>
              <a:rPr lang="en-US" altLang="zh-CN" baseline="-25000" dirty="0" err="1"/>
              <a:t>c</a:t>
            </a:r>
            <a:r>
              <a:rPr lang="en-US" altLang="zh-CN" dirty="0"/>
              <a:t>(E)</a:t>
            </a:r>
            <a:r>
              <a:rPr lang="zh-CN" altLang="en-US" dirty="0"/>
              <a:t>的乘积，价带空穴分布</a:t>
            </a:r>
            <a:r>
              <a:rPr lang="en-US" altLang="zh-CN" dirty="0"/>
              <a:t>p(E)</a:t>
            </a:r>
            <a:r>
              <a:rPr lang="zh-CN" altLang="en-US" dirty="0"/>
              <a:t>等于</a:t>
            </a:r>
            <a:r>
              <a:rPr lang="en-US" altLang="zh-CN" dirty="0" err="1"/>
              <a:t>g</a:t>
            </a:r>
            <a:r>
              <a:rPr lang="en-US" altLang="zh-CN" baseline="-25000" dirty="0" err="1"/>
              <a:t>v</a:t>
            </a:r>
            <a:r>
              <a:rPr lang="en-US" altLang="zh-CN" dirty="0"/>
              <a:t>(E)</a:t>
            </a:r>
            <a:r>
              <a:rPr lang="zh-CN" altLang="en-US" dirty="0"/>
              <a:t>和</a:t>
            </a:r>
            <a:r>
              <a:rPr lang="en-US" altLang="zh-CN" dirty="0"/>
              <a:t>[1-f</a:t>
            </a:r>
            <a:r>
              <a:rPr lang="en-US" altLang="zh-CN" baseline="-25000" dirty="0"/>
              <a:t>F</a:t>
            </a:r>
            <a:r>
              <a:rPr lang="en-US" altLang="zh-CN" dirty="0"/>
              <a:t>(E)]</a:t>
            </a:r>
            <a:r>
              <a:rPr lang="zh-CN" altLang="en-US" dirty="0"/>
              <a:t>的乘积。图</a:t>
            </a:r>
            <a:r>
              <a:rPr lang="en-US" altLang="zh-CN" dirty="0"/>
              <a:t>2</a:t>
            </a:r>
            <a:r>
              <a:rPr lang="zh-CN" altLang="en-US" dirty="0"/>
              <a:t>分别显示了这两个乘积，曲线下包围的面积分别代表导带电子总浓度和价带空穴总浓度。</a:t>
            </a:r>
            <a:endParaRPr lang="en-US" altLang="zh-CN" dirty="0"/>
          </a:p>
          <a:p>
            <a:pPr algn="just"/>
            <a:r>
              <a:rPr lang="en-US" altLang="zh-CN" dirty="0"/>
              <a:t>        </a:t>
            </a:r>
            <a:r>
              <a:rPr lang="zh-CN" altLang="en-US" dirty="0"/>
              <a:t>由此可以看出，如果</a:t>
            </a:r>
            <a:r>
              <a:rPr lang="en-US" altLang="zh-CN" dirty="0" err="1"/>
              <a:t>g</a:t>
            </a:r>
            <a:r>
              <a:rPr lang="en-US" altLang="zh-CN" baseline="-25000" dirty="0" err="1"/>
              <a:t>c</a:t>
            </a:r>
            <a:r>
              <a:rPr lang="en-US" altLang="zh-CN" dirty="0"/>
              <a:t>(E)</a:t>
            </a:r>
            <a:r>
              <a:rPr lang="zh-CN" altLang="en-US" dirty="0"/>
              <a:t>和</a:t>
            </a:r>
            <a:r>
              <a:rPr lang="en-US" altLang="zh-CN" dirty="0" err="1"/>
              <a:t>g</a:t>
            </a:r>
            <a:r>
              <a:rPr lang="en-US" altLang="zh-CN" baseline="-25000" dirty="0" err="1"/>
              <a:t>v</a:t>
            </a:r>
            <a:r>
              <a:rPr lang="en-US" altLang="zh-CN" dirty="0"/>
              <a:t>(E)</a:t>
            </a:r>
            <a:r>
              <a:rPr lang="zh-CN" altLang="en-US" dirty="0"/>
              <a:t>对称，那么为了获得相等的电子和空穴浓度，费米能级必然位于禁带中。如果电子和空穴的有效质量并不精确相等，那么有效状态密度</a:t>
            </a:r>
            <a:r>
              <a:rPr lang="en-US" altLang="zh-CN" dirty="0" err="1"/>
              <a:t>g</a:t>
            </a:r>
            <a:r>
              <a:rPr lang="en-US" altLang="zh-CN" baseline="-25000" dirty="0" err="1"/>
              <a:t>c</a:t>
            </a:r>
            <a:r>
              <a:rPr lang="en-US" altLang="zh-CN" dirty="0"/>
              <a:t>(E)</a:t>
            </a:r>
            <a:r>
              <a:rPr lang="zh-CN" altLang="en-US" dirty="0"/>
              <a:t>和</a:t>
            </a:r>
            <a:r>
              <a:rPr lang="en-US" altLang="zh-CN" dirty="0" err="1"/>
              <a:t>g</a:t>
            </a:r>
            <a:r>
              <a:rPr lang="en-US" altLang="zh-CN" baseline="-25000" dirty="0" err="1"/>
              <a:t>v</a:t>
            </a:r>
            <a:r>
              <a:rPr lang="en-US" altLang="zh-CN" dirty="0"/>
              <a:t>(E)</a:t>
            </a:r>
            <a:r>
              <a:rPr lang="zh-CN" altLang="en-US" dirty="0"/>
              <a:t>将不会关于禁带中央精确对称。本征半导体的费米能级将从禁带中央稍微移动，以保持电子和空穴浓度相等。</a:t>
            </a:r>
          </a:p>
        </p:txBody>
      </p:sp>
      <p:sp>
        <p:nvSpPr>
          <p:cNvPr id="10" name="矩形 9">
            <a:extLst>
              <a:ext uri="{FF2B5EF4-FFF2-40B4-BE49-F238E27FC236}">
                <a16:creationId xmlns:a16="http://schemas.microsoft.com/office/drawing/2014/main" id="{ABF2B6AB-1E63-45BB-AC65-BEFB62039F33}"/>
              </a:ext>
            </a:extLst>
          </p:cNvPr>
          <p:cNvSpPr/>
          <p:nvPr/>
        </p:nvSpPr>
        <p:spPr>
          <a:xfrm>
            <a:off x="3813464" y="3774265"/>
            <a:ext cx="4629794" cy="584775"/>
          </a:xfrm>
          <a:prstGeom prst="rect">
            <a:avLst/>
          </a:prstGeom>
          <a:noFill/>
        </p:spPr>
        <p:txBody>
          <a:bodyPr wrap="none" lIns="91440" tIns="45720" rIns="91440" bIns="45720">
            <a:spAutoFit/>
          </a:bodyPr>
          <a:lstStyle/>
          <a:p>
            <a:pPr algn="ctr"/>
            <a:r>
              <a:rPr lang="zh-CN" altLang="en-US" sz="3200" b="0" cap="none" spc="0" dirty="0">
                <a:ln w="0"/>
                <a:solidFill>
                  <a:srgbClr val="FF0000"/>
                </a:solidFill>
                <a:effectLst>
                  <a:outerShdw blurRad="38100" dist="19050" dir="2700000" algn="tl" rotWithShape="0">
                    <a:schemeClr val="dk1">
                      <a:alpha val="40000"/>
                    </a:schemeClr>
                  </a:outerShdw>
                </a:effectLst>
              </a:rPr>
              <a:t>导带电子的热平衡浓度</a:t>
            </a:r>
            <a:r>
              <a:rPr lang="en-US" altLang="zh-CN" sz="3200" b="0" cap="none" spc="0" dirty="0">
                <a:ln w="0"/>
                <a:solidFill>
                  <a:srgbClr val="FF0000"/>
                </a:solidFill>
                <a:effectLst>
                  <a:outerShdw blurRad="38100" dist="19050" dir="2700000" algn="tl" rotWithShape="0">
                    <a:schemeClr val="dk1">
                      <a:alpha val="40000"/>
                    </a:schemeClr>
                  </a:outerShdw>
                </a:effectLst>
              </a:rPr>
              <a:t>n</a:t>
            </a:r>
            <a:r>
              <a:rPr lang="en-US" altLang="zh-CN" sz="3200" b="0" cap="none" spc="0" baseline="-25000" dirty="0">
                <a:ln w="0"/>
                <a:solidFill>
                  <a:srgbClr val="FF0000"/>
                </a:solidFill>
                <a:effectLst>
                  <a:outerShdw blurRad="38100" dist="19050" dir="2700000" algn="tl" rotWithShape="0">
                    <a:schemeClr val="dk1">
                      <a:alpha val="40000"/>
                    </a:schemeClr>
                  </a:outerShdw>
                </a:effectLst>
              </a:rPr>
              <a:t>0</a:t>
            </a:r>
            <a:endParaRPr lang="zh-CN" altLang="en-US" sz="3200" b="0" cap="none" spc="0" dirty="0">
              <a:ln w="0"/>
              <a:solidFill>
                <a:srgbClr val="FF0000"/>
              </a:solidFill>
              <a:effectLst>
                <a:outerShdw blurRad="38100" dist="19050" dir="2700000" algn="tl" rotWithShape="0">
                  <a:schemeClr val="dk1">
                    <a:alpha val="40000"/>
                  </a:schemeClr>
                </a:outerShdw>
              </a:effectLst>
            </a:endParaRPr>
          </a:p>
        </p:txBody>
      </p:sp>
      <p:sp>
        <p:nvSpPr>
          <p:cNvPr id="11" name="文本框 10">
            <a:extLst>
              <a:ext uri="{FF2B5EF4-FFF2-40B4-BE49-F238E27FC236}">
                <a16:creationId xmlns:a16="http://schemas.microsoft.com/office/drawing/2014/main" id="{223D4D6D-DEFA-487F-A0FE-8708F4CC78C5}"/>
              </a:ext>
            </a:extLst>
          </p:cNvPr>
          <p:cNvSpPr txBox="1"/>
          <p:nvPr/>
        </p:nvSpPr>
        <p:spPr>
          <a:xfrm>
            <a:off x="3979718" y="4359040"/>
            <a:ext cx="7616537" cy="1200329"/>
          </a:xfrm>
          <a:prstGeom prst="rect">
            <a:avLst/>
          </a:prstGeom>
          <a:noFill/>
        </p:spPr>
        <p:txBody>
          <a:bodyPr wrap="square" rtlCol="0">
            <a:spAutoFit/>
          </a:bodyPr>
          <a:lstStyle/>
          <a:p>
            <a:pPr algn="just"/>
            <a:r>
              <a:rPr lang="en-US" altLang="zh-CN" dirty="0"/>
              <a:t>        </a:t>
            </a:r>
            <a:r>
              <a:rPr lang="zh-CN" altLang="en-US" dirty="0"/>
              <a:t>在得到导带状态密度函数以及证明本征半导体的费米能级位于禁带中央能量附近后，在推导热平衡电子浓度</a:t>
            </a:r>
            <a:r>
              <a:rPr lang="en-US" altLang="zh-CN" dirty="0"/>
              <a:t>n</a:t>
            </a:r>
            <a:r>
              <a:rPr lang="en-US" altLang="zh-CN" baseline="-25000" dirty="0"/>
              <a:t>0</a:t>
            </a:r>
            <a:r>
              <a:rPr lang="zh-CN" altLang="en-US" dirty="0"/>
              <a:t>时就可以进行简化，假设费米能级始终位于禁带中，依据式</a:t>
            </a:r>
            <a:r>
              <a:rPr lang="en-US" altLang="zh-CN" dirty="0"/>
              <a:t>2</a:t>
            </a:r>
            <a:r>
              <a:rPr lang="zh-CN" altLang="en-US" dirty="0"/>
              <a:t>，在导带能量范围内积分，可得热平衡时的电子浓度为</a:t>
            </a:r>
            <a:endParaRPr lang="zh-CN" altLang="en-US" baseline="-25000" dirty="0"/>
          </a:p>
        </p:txBody>
      </p:sp>
      <p:graphicFrame>
        <p:nvGraphicFramePr>
          <p:cNvPr id="12" name="对象 11">
            <a:extLst>
              <a:ext uri="{FF2B5EF4-FFF2-40B4-BE49-F238E27FC236}">
                <a16:creationId xmlns:a16="http://schemas.microsoft.com/office/drawing/2014/main" id="{10BE3A5D-917D-450F-A3D2-BF1FE2BFFFBA}"/>
              </a:ext>
            </a:extLst>
          </p:cNvPr>
          <p:cNvGraphicFramePr>
            <a:graphicFrameLocks noChangeAspect="1"/>
          </p:cNvGraphicFramePr>
          <p:nvPr>
            <p:extLst>
              <p:ext uri="{D42A27DB-BD31-4B8C-83A1-F6EECF244321}">
                <p14:modId xmlns:p14="http://schemas.microsoft.com/office/powerpoint/2010/main" val="3910336987"/>
              </p:ext>
            </p:extLst>
          </p:nvPr>
        </p:nvGraphicFramePr>
        <p:xfrm>
          <a:off x="6686552" y="5446685"/>
          <a:ext cx="2202868" cy="457199"/>
        </p:xfrm>
        <a:graphic>
          <a:graphicData uri="http://schemas.openxmlformats.org/presentationml/2006/ole">
            <mc:AlternateContent xmlns:mc="http://schemas.openxmlformats.org/markup-compatibility/2006">
              <mc:Choice xmlns:v="urn:schemas-microsoft-com:vml" Requires="v">
                <p:oleObj name="Equation" r:id="rId3" imgW="1346040" imgH="279360" progId="Equation.DSMT4">
                  <p:embed/>
                </p:oleObj>
              </mc:Choice>
              <mc:Fallback>
                <p:oleObj name="Equation" r:id="rId3" imgW="1346040" imgH="279360" progId="Equation.DSMT4">
                  <p:embed/>
                  <p:pic>
                    <p:nvPicPr>
                      <p:cNvPr id="0" name=""/>
                      <p:cNvPicPr/>
                      <p:nvPr/>
                    </p:nvPicPr>
                    <p:blipFill>
                      <a:blip r:embed="rId4"/>
                      <a:stretch>
                        <a:fillRect/>
                      </a:stretch>
                    </p:blipFill>
                    <p:spPr>
                      <a:xfrm>
                        <a:off x="6686552" y="5446685"/>
                        <a:ext cx="2202868" cy="457199"/>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4923B9ED-AE32-42FF-884D-F7313C626B55}"/>
              </a:ext>
            </a:extLst>
          </p:cNvPr>
          <p:cNvGraphicFramePr>
            <a:graphicFrameLocks noChangeAspect="1"/>
          </p:cNvGraphicFramePr>
          <p:nvPr>
            <p:extLst>
              <p:ext uri="{D42A27DB-BD31-4B8C-83A1-F6EECF244321}">
                <p14:modId xmlns:p14="http://schemas.microsoft.com/office/powerpoint/2010/main" val="3877343679"/>
              </p:ext>
            </p:extLst>
          </p:nvPr>
        </p:nvGraphicFramePr>
        <p:xfrm>
          <a:off x="11100088" y="5559369"/>
          <a:ext cx="355024" cy="334140"/>
        </p:xfrm>
        <a:graphic>
          <a:graphicData uri="http://schemas.openxmlformats.org/presentationml/2006/ole">
            <mc:AlternateContent xmlns:mc="http://schemas.openxmlformats.org/markup-compatibility/2006">
              <mc:Choice xmlns:v="urn:schemas-microsoft-com:vml" Requires="v">
                <p:oleObj name="Equation" r:id="rId5" imgW="215640" imgH="203040" progId="Equation.DSMT4">
                  <p:embed/>
                </p:oleObj>
              </mc:Choice>
              <mc:Fallback>
                <p:oleObj name="Equation" r:id="rId5" imgW="215640" imgH="203040" progId="Equation.DSMT4">
                  <p:embed/>
                  <p:pic>
                    <p:nvPicPr>
                      <p:cNvPr id="0" name=""/>
                      <p:cNvPicPr/>
                      <p:nvPr/>
                    </p:nvPicPr>
                    <p:blipFill>
                      <a:blip r:embed="rId6"/>
                      <a:stretch>
                        <a:fillRect/>
                      </a:stretch>
                    </p:blipFill>
                    <p:spPr>
                      <a:xfrm>
                        <a:off x="11100088" y="5559369"/>
                        <a:ext cx="355024" cy="334140"/>
                      </a:xfrm>
                      <a:prstGeom prst="rect">
                        <a:avLst/>
                      </a:prstGeom>
                    </p:spPr>
                  </p:pic>
                </p:oleObj>
              </mc:Fallback>
            </mc:AlternateContent>
          </a:graphicData>
        </a:graphic>
      </p:graphicFrame>
      <p:sp>
        <p:nvSpPr>
          <p:cNvPr id="14" name="文本框 13">
            <a:extLst>
              <a:ext uri="{FF2B5EF4-FFF2-40B4-BE49-F238E27FC236}">
                <a16:creationId xmlns:a16="http://schemas.microsoft.com/office/drawing/2014/main" id="{817A1282-556B-41F1-89FD-B8660348565C}"/>
              </a:ext>
            </a:extLst>
          </p:cNvPr>
          <p:cNvSpPr txBox="1"/>
          <p:nvPr/>
        </p:nvSpPr>
        <p:spPr>
          <a:xfrm>
            <a:off x="3813464" y="5893509"/>
            <a:ext cx="7782790" cy="646331"/>
          </a:xfrm>
          <a:prstGeom prst="rect">
            <a:avLst/>
          </a:prstGeom>
          <a:noFill/>
        </p:spPr>
        <p:txBody>
          <a:bodyPr wrap="square" rtlCol="0">
            <a:spAutoFit/>
          </a:bodyPr>
          <a:lstStyle/>
          <a:p>
            <a:pPr algn="just"/>
            <a:r>
              <a:rPr lang="zh-CN" altLang="en-US" dirty="0"/>
              <a:t>积分下限为</a:t>
            </a:r>
            <a:r>
              <a:rPr lang="en-US" altLang="zh-CN" dirty="0" err="1"/>
              <a:t>E</a:t>
            </a:r>
            <a:r>
              <a:rPr lang="en-US" altLang="zh-CN" baseline="-25000" dirty="0" err="1"/>
              <a:t>c</a:t>
            </a:r>
            <a:r>
              <a:rPr lang="zh-CN" altLang="en-US" dirty="0"/>
              <a:t>，积分上限为允许的导带能量的最大值。但是由图</a:t>
            </a:r>
            <a:r>
              <a:rPr lang="en-US" altLang="zh-CN" dirty="0"/>
              <a:t>2</a:t>
            </a:r>
            <a:r>
              <a:rPr lang="zh-CN" altLang="en-US" dirty="0"/>
              <a:t>可知，费米分布函数随能量增加而迅速趋近于</a:t>
            </a:r>
            <a:r>
              <a:rPr lang="en-US" altLang="zh-CN" dirty="0"/>
              <a:t>0</a:t>
            </a:r>
            <a:r>
              <a:rPr lang="zh-CN" altLang="en-US" dirty="0"/>
              <a:t>，因此可以将积分上限设为无穷大</a:t>
            </a:r>
          </a:p>
        </p:txBody>
      </p:sp>
    </p:spTree>
    <p:extLst>
      <p:ext uri="{BB962C8B-B14F-4D97-AF65-F5344CB8AC3E}">
        <p14:creationId xmlns:p14="http://schemas.microsoft.com/office/powerpoint/2010/main" val="3523552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BBC39CD-0456-4C8E-952C-911EBF822D63}"/>
              </a:ext>
            </a:extLst>
          </p:cNvPr>
          <p:cNvSpPr>
            <a:spLocks noGrp="1"/>
          </p:cNvSpPr>
          <p:nvPr>
            <p:ph type="sldNum" sz="quarter" idx="12"/>
          </p:nvPr>
        </p:nvSpPr>
        <p:spPr/>
        <p:txBody>
          <a:bodyPr/>
          <a:lstStyle/>
          <a:p>
            <a:pPr>
              <a:defRPr/>
            </a:pPr>
            <a:fld id="{DB5F2CA6-A39B-48F7-84D1-AF91BD07D67D}" type="slidenum">
              <a:rPr lang="en-US" altLang="zh-CN" smtClean="0"/>
              <a:pPr>
                <a:defRPr/>
              </a:pPr>
              <a:t>6</a:t>
            </a:fld>
            <a:endParaRPr lang="en-US" altLang="zh-CN"/>
          </a:p>
        </p:txBody>
      </p:sp>
      <p:sp>
        <p:nvSpPr>
          <p:cNvPr id="5" name="矩形 4">
            <a:extLst>
              <a:ext uri="{FF2B5EF4-FFF2-40B4-BE49-F238E27FC236}">
                <a16:creationId xmlns:a16="http://schemas.microsoft.com/office/drawing/2014/main" id="{AF8B3E49-8854-463A-9CAA-CA4BF5204E87}"/>
              </a:ext>
            </a:extLst>
          </p:cNvPr>
          <p:cNvSpPr/>
          <p:nvPr/>
        </p:nvSpPr>
        <p:spPr>
          <a:xfrm>
            <a:off x="280555" y="386829"/>
            <a:ext cx="4629794" cy="584775"/>
          </a:xfrm>
          <a:prstGeom prst="rect">
            <a:avLst/>
          </a:prstGeom>
          <a:noFill/>
        </p:spPr>
        <p:txBody>
          <a:bodyPr wrap="none" lIns="91440" tIns="45720" rIns="91440" bIns="45720">
            <a:spAutoFit/>
          </a:bodyPr>
          <a:lstStyle/>
          <a:p>
            <a:pPr algn="ctr"/>
            <a:r>
              <a:rPr lang="zh-CN" altLang="en-US" sz="3200" b="0" cap="none" spc="0" dirty="0">
                <a:ln w="0"/>
                <a:solidFill>
                  <a:srgbClr val="FF0000"/>
                </a:solidFill>
                <a:effectLst>
                  <a:outerShdw blurRad="38100" dist="19050" dir="2700000" algn="tl" rotWithShape="0">
                    <a:schemeClr val="dk1">
                      <a:alpha val="40000"/>
                    </a:schemeClr>
                  </a:outerShdw>
                </a:effectLst>
              </a:rPr>
              <a:t>导带电子的热平衡浓度</a:t>
            </a:r>
            <a:r>
              <a:rPr lang="en-US" altLang="zh-CN" sz="3200" b="0" cap="none" spc="0" dirty="0">
                <a:ln w="0"/>
                <a:solidFill>
                  <a:srgbClr val="FF0000"/>
                </a:solidFill>
                <a:effectLst>
                  <a:outerShdw blurRad="38100" dist="19050" dir="2700000" algn="tl" rotWithShape="0">
                    <a:schemeClr val="dk1">
                      <a:alpha val="40000"/>
                    </a:schemeClr>
                  </a:outerShdw>
                </a:effectLst>
              </a:rPr>
              <a:t>n</a:t>
            </a:r>
            <a:r>
              <a:rPr lang="en-US" altLang="zh-CN" sz="3200" b="0" cap="none" spc="0" baseline="-25000" dirty="0">
                <a:ln w="0"/>
                <a:solidFill>
                  <a:srgbClr val="FF0000"/>
                </a:solidFill>
                <a:effectLst>
                  <a:outerShdw blurRad="38100" dist="19050" dir="2700000" algn="tl" rotWithShape="0">
                    <a:schemeClr val="dk1">
                      <a:alpha val="40000"/>
                    </a:schemeClr>
                  </a:outerShdw>
                </a:effectLst>
              </a:rPr>
              <a:t>0</a:t>
            </a:r>
            <a:endParaRPr lang="zh-CN" altLang="en-US" sz="3200" b="0" cap="none" spc="0" dirty="0">
              <a:ln w="0"/>
              <a:solidFill>
                <a:srgbClr val="FF0000"/>
              </a:solidFill>
              <a:effectLst>
                <a:outerShdw blurRad="38100" dist="19050" dir="2700000" algn="tl" rotWithShape="0">
                  <a:schemeClr val="dk1">
                    <a:alpha val="40000"/>
                  </a:schemeClr>
                </a:outerShdw>
              </a:effectLst>
            </a:endParaRPr>
          </a:p>
        </p:txBody>
      </p:sp>
      <p:sp>
        <p:nvSpPr>
          <p:cNvPr id="6" name="文本框 5">
            <a:extLst>
              <a:ext uri="{FF2B5EF4-FFF2-40B4-BE49-F238E27FC236}">
                <a16:creationId xmlns:a16="http://schemas.microsoft.com/office/drawing/2014/main" id="{CAE8B89E-094F-4FAC-ACD8-A6FB2856D3F0}"/>
              </a:ext>
            </a:extLst>
          </p:cNvPr>
          <p:cNvSpPr txBox="1"/>
          <p:nvPr/>
        </p:nvSpPr>
        <p:spPr>
          <a:xfrm>
            <a:off x="353291" y="1039091"/>
            <a:ext cx="11367654" cy="646331"/>
          </a:xfrm>
          <a:prstGeom prst="rect">
            <a:avLst/>
          </a:prstGeom>
          <a:noFill/>
        </p:spPr>
        <p:txBody>
          <a:bodyPr wrap="square" rtlCol="0">
            <a:spAutoFit/>
          </a:bodyPr>
          <a:lstStyle/>
          <a:p>
            <a:pPr algn="just"/>
            <a:r>
              <a:rPr lang="zh-CN" altLang="en-US" dirty="0"/>
              <a:t>        假设费米能级处于禁带中，已知禁带中的电子能量</a:t>
            </a:r>
            <a:r>
              <a:rPr lang="en-US" altLang="zh-CN" dirty="0"/>
              <a:t>E&gt;</a:t>
            </a:r>
            <a:r>
              <a:rPr lang="en-US" altLang="zh-CN" dirty="0" err="1"/>
              <a:t>E</a:t>
            </a:r>
            <a:r>
              <a:rPr lang="en-US" altLang="zh-CN" baseline="-25000" dirty="0" err="1"/>
              <a:t>c</a:t>
            </a:r>
            <a:r>
              <a:rPr lang="zh-CN" altLang="en-US" dirty="0"/>
              <a:t>。若</a:t>
            </a:r>
            <a:r>
              <a:rPr lang="en-US" altLang="zh-CN" dirty="0"/>
              <a:t>(</a:t>
            </a:r>
            <a:r>
              <a:rPr lang="en-US" altLang="zh-CN" dirty="0" err="1"/>
              <a:t>E</a:t>
            </a:r>
            <a:r>
              <a:rPr lang="en-US" altLang="zh-CN" baseline="-25000" dirty="0" err="1"/>
              <a:t>c</a:t>
            </a:r>
            <a:r>
              <a:rPr lang="en-US" altLang="zh-CN" dirty="0"/>
              <a:t>-E</a:t>
            </a:r>
            <a:r>
              <a:rPr lang="en-US" altLang="zh-CN" baseline="-25000" dirty="0"/>
              <a:t>F</a:t>
            </a:r>
            <a:r>
              <a:rPr lang="en-US" altLang="zh-CN" dirty="0"/>
              <a:t>)&gt;&gt;</a:t>
            </a:r>
            <a:r>
              <a:rPr lang="en-US" altLang="zh-CN" dirty="0" err="1"/>
              <a:t>kT</a:t>
            </a:r>
            <a:r>
              <a:rPr lang="zh-CN" altLang="en-US" dirty="0"/>
              <a:t>，则</a:t>
            </a:r>
            <a:r>
              <a:rPr lang="en-US" altLang="zh-CN" dirty="0"/>
              <a:t>(E-E</a:t>
            </a:r>
            <a:r>
              <a:rPr lang="en-US" altLang="zh-CN" baseline="-25000" dirty="0"/>
              <a:t>F</a:t>
            </a:r>
            <a:r>
              <a:rPr lang="en-US" altLang="zh-CN" dirty="0"/>
              <a:t>)&gt;&gt;</a:t>
            </a:r>
            <a:r>
              <a:rPr lang="en-US" altLang="zh-CN" dirty="0" err="1"/>
              <a:t>kT</a:t>
            </a:r>
            <a:r>
              <a:rPr lang="zh-CN" altLang="en-US" dirty="0"/>
              <a:t>，所以费米分布就简化为了玻尔兹曼分布：</a:t>
            </a:r>
          </a:p>
        </p:txBody>
      </p:sp>
      <p:graphicFrame>
        <p:nvGraphicFramePr>
          <p:cNvPr id="7" name="对象 6">
            <a:extLst>
              <a:ext uri="{FF2B5EF4-FFF2-40B4-BE49-F238E27FC236}">
                <a16:creationId xmlns:a16="http://schemas.microsoft.com/office/drawing/2014/main" id="{134F2EF0-5981-4855-8B55-A7D57EB693E6}"/>
              </a:ext>
            </a:extLst>
          </p:cNvPr>
          <p:cNvGraphicFramePr>
            <a:graphicFrameLocks noChangeAspect="1"/>
          </p:cNvGraphicFramePr>
          <p:nvPr>
            <p:extLst>
              <p:ext uri="{D42A27DB-BD31-4B8C-83A1-F6EECF244321}">
                <p14:modId xmlns:p14="http://schemas.microsoft.com/office/powerpoint/2010/main" val="493613338"/>
              </p:ext>
            </p:extLst>
          </p:nvPr>
        </p:nvGraphicFramePr>
        <p:xfrm>
          <a:off x="3878506" y="1685422"/>
          <a:ext cx="4434988" cy="969509"/>
        </p:xfrm>
        <a:graphic>
          <a:graphicData uri="http://schemas.openxmlformats.org/presentationml/2006/ole">
            <mc:AlternateContent xmlns:mc="http://schemas.openxmlformats.org/markup-compatibility/2006">
              <mc:Choice xmlns:v="urn:schemas-microsoft-com:vml" Requires="v">
                <p:oleObj name="Equation" r:id="rId2" imgW="2730240" imgH="596880" progId="Equation.DSMT4">
                  <p:embed/>
                </p:oleObj>
              </mc:Choice>
              <mc:Fallback>
                <p:oleObj name="Equation" r:id="rId2" imgW="2730240" imgH="596880" progId="Equation.DSMT4">
                  <p:embed/>
                  <p:pic>
                    <p:nvPicPr>
                      <p:cNvPr id="0" name=""/>
                      <p:cNvPicPr/>
                      <p:nvPr/>
                    </p:nvPicPr>
                    <p:blipFill>
                      <a:blip r:embed="rId3"/>
                      <a:stretch>
                        <a:fillRect/>
                      </a:stretch>
                    </p:blipFill>
                    <p:spPr>
                      <a:xfrm>
                        <a:off x="3878506" y="1685422"/>
                        <a:ext cx="4434988" cy="969509"/>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03117220-2DC7-49DE-8DD4-586FB9E66A04}"/>
              </a:ext>
            </a:extLst>
          </p:cNvPr>
          <p:cNvGraphicFramePr>
            <a:graphicFrameLocks noChangeAspect="1"/>
          </p:cNvGraphicFramePr>
          <p:nvPr>
            <p:extLst>
              <p:ext uri="{D42A27DB-BD31-4B8C-83A1-F6EECF244321}">
                <p14:modId xmlns:p14="http://schemas.microsoft.com/office/powerpoint/2010/main" val="610174371"/>
              </p:ext>
            </p:extLst>
          </p:nvPr>
        </p:nvGraphicFramePr>
        <p:xfrm>
          <a:off x="11069850" y="2014674"/>
          <a:ext cx="415499" cy="369332"/>
        </p:xfrm>
        <a:graphic>
          <a:graphicData uri="http://schemas.openxmlformats.org/presentationml/2006/ole">
            <mc:AlternateContent xmlns:mc="http://schemas.openxmlformats.org/markup-compatibility/2006">
              <mc:Choice xmlns:v="urn:schemas-microsoft-com:vml" Requires="v">
                <p:oleObj name="Equation" r:id="rId4" imgW="228600" imgH="203040" progId="Equation.DSMT4">
                  <p:embed/>
                </p:oleObj>
              </mc:Choice>
              <mc:Fallback>
                <p:oleObj name="Equation" r:id="rId4" imgW="228600" imgH="203040" progId="Equation.DSMT4">
                  <p:embed/>
                  <p:pic>
                    <p:nvPicPr>
                      <p:cNvPr id="0" name=""/>
                      <p:cNvPicPr/>
                      <p:nvPr/>
                    </p:nvPicPr>
                    <p:blipFill>
                      <a:blip r:embed="rId5"/>
                      <a:stretch>
                        <a:fillRect/>
                      </a:stretch>
                    </p:blipFill>
                    <p:spPr>
                      <a:xfrm>
                        <a:off x="11069850" y="2014674"/>
                        <a:ext cx="415499" cy="369332"/>
                      </a:xfrm>
                      <a:prstGeom prst="rect">
                        <a:avLst/>
                      </a:prstGeom>
                    </p:spPr>
                  </p:pic>
                </p:oleObj>
              </mc:Fallback>
            </mc:AlternateContent>
          </a:graphicData>
        </a:graphic>
      </p:graphicFrame>
      <p:sp>
        <p:nvSpPr>
          <p:cNvPr id="9" name="文本框 8">
            <a:extLst>
              <a:ext uri="{FF2B5EF4-FFF2-40B4-BE49-F238E27FC236}">
                <a16:creationId xmlns:a16="http://schemas.microsoft.com/office/drawing/2014/main" id="{F2296B07-8F4B-46A7-977A-A4B154A1EBEC}"/>
              </a:ext>
            </a:extLst>
          </p:cNvPr>
          <p:cNvSpPr txBox="1"/>
          <p:nvPr/>
        </p:nvSpPr>
        <p:spPr>
          <a:xfrm>
            <a:off x="353291" y="2675713"/>
            <a:ext cx="11249890" cy="369332"/>
          </a:xfrm>
          <a:prstGeom prst="rect">
            <a:avLst/>
          </a:prstGeom>
          <a:noFill/>
        </p:spPr>
        <p:txBody>
          <a:bodyPr wrap="square" rtlCol="0">
            <a:spAutoFit/>
          </a:bodyPr>
          <a:lstStyle/>
          <a:p>
            <a:r>
              <a:rPr lang="zh-CN" altLang="en-US" dirty="0"/>
              <a:t>将式</a:t>
            </a:r>
            <a:r>
              <a:rPr lang="en-US" altLang="zh-CN" dirty="0"/>
              <a:t>(7)</a:t>
            </a:r>
            <a:r>
              <a:rPr lang="zh-CN" altLang="en-US" dirty="0"/>
              <a:t>和式</a:t>
            </a:r>
            <a:r>
              <a:rPr lang="en-US" altLang="zh-CN" dirty="0"/>
              <a:t>(9)</a:t>
            </a:r>
            <a:r>
              <a:rPr lang="zh-CN" altLang="en-US" dirty="0"/>
              <a:t>代入式</a:t>
            </a:r>
            <a:r>
              <a:rPr lang="en-US" altLang="zh-CN" dirty="0"/>
              <a:t>(8)</a:t>
            </a:r>
            <a:r>
              <a:rPr lang="zh-CN" altLang="en-US" dirty="0"/>
              <a:t>，可得导带电子的热平衡浓度为</a:t>
            </a:r>
          </a:p>
        </p:txBody>
      </p:sp>
      <p:graphicFrame>
        <p:nvGraphicFramePr>
          <p:cNvPr id="10" name="对象 9">
            <a:extLst>
              <a:ext uri="{FF2B5EF4-FFF2-40B4-BE49-F238E27FC236}">
                <a16:creationId xmlns:a16="http://schemas.microsoft.com/office/drawing/2014/main" id="{5D1E75A1-0688-4FA2-84F7-9630BB9242D8}"/>
              </a:ext>
            </a:extLst>
          </p:cNvPr>
          <p:cNvGraphicFramePr>
            <a:graphicFrameLocks noChangeAspect="1"/>
          </p:cNvGraphicFramePr>
          <p:nvPr>
            <p:extLst>
              <p:ext uri="{D42A27DB-BD31-4B8C-83A1-F6EECF244321}">
                <p14:modId xmlns:p14="http://schemas.microsoft.com/office/powerpoint/2010/main" val="1956161543"/>
              </p:ext>
            </p:extLst>
          </p:nvPr>
        </p:nvGraphicFramePr>
        <p:xfrm>
          <a:off x="3593437" y="3070567"/>
          <a:ext cx="4887361" cy="734153"/>
        </p:xfrm>
        <a:graphic>
          <a:graphicData uri="http://schemas.openxmlformats.org/presentationml/2006/ole">
            <mc:AlternateContent xmlns:mc="http://schemas.openxmlformats.org/markup-compatibility/2006">
              <mc:Choice xmlns:v="urn:schemas-microsoft-com:vml" Requires="v">
                <p:oleObj name="Equation" r:id="rId6" imgW="2958840" imgH="444240" progId="Equation.DSMT4">
                  <p:embed/>
                </p:oleObj>
              </mc:Choice>
              <mc:Fallback>
                <p:oleObj name="Equation" r:id="rId6" imgW="2958840" imgH="444240" progId="Equation.DSMT4">
                  <p:embed/>
                  <p:pic>
                    <p:nvPicPr>
                      <p:cNvPr id="0" name=""/>
                      <p:cNvPicPr/>
                      <p:nvPr/>
                    </p:nvPicPr>
                    <p:blipFill>
                      <a:blip r:embed="rId7"/>
                      <a:stretch>
                        <a:fillRect/>
                      </a:stretch>
                    </p:blipFill>
                    <p:spPr>
                      <a:xfrm>
                        <a:off x="3593437" y="3070567"/>
                        <a:ext cx="4887361" cy="734153"/>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1B102C1E-6638-496F-AC5E-912A7BB02E67}"/>
              </a:ext>
            </a:extLst>
          </p:cNvPr>
          <p:cNvGraphicFramePr>
            <a:graphicFrameLocks noChangeAspect="1"/>
          </p:cNvGraphicFramePr>
          <p:nvPr>
            <p:extLst>
              <p:ext uri="{D42A27DB-BD31-4B8C-83A1-F6EECF244321}">
                <p14:modId xmlns:p14="http://schemas.microsoft.com/office/powerpoint/2010/main" val="3868391543"/>
              </p:ext>
            </p:extLst>
          </p:nvPr>
        </p:nvGraphicFramePr>
        <p:xfrm>
          <a:off x="11015289" y="3379928"/>
          <a:ext cx="524619" cy="364952"/>
        </p:xfrm>
        <a:graphic>
          <a:graphicData uri="http://schemas.openxmlformats.org/presentationml/2006/ole">
            <mc:AlternateContent xmlns:mc="http://schemas.openxmlformats.org/markup-compatibility/2006">
              <mc:Choice xmlns:v="urn:schemas-microsoft-com:vml" Requires="v">
                <p:oleObj name="Equation" r:id="rId8" imgW="291960" imgH="203040" progId="Equation.DSMT4">
                  <p:embed/>
                </p:oleObj>
              </mc:Choice>
              <mc:Fallback>
                <p:oleObj name="Equation" r:id="rId8" imgW="291960" imgH="203040" progId="Equation.DSMT4">
                  <p:embed/>
                  <p:pic>
                    <p:nvPicPr>
                      <p:cNvPr id="0" name=""/>
                      <p:cNvPicPr/>
                      <p:nvPr/>
                    </p:nvPicPr>
                    <p:blipFill>
                      <a:blip r:embed="rId9"/>
                      <a:stretch>
                        <a:fillRect/>
                      </a:stretch>
                    </p:blipFill>
                    <p:spPr>
                      <a:xfrm>
                        <a:off x="11015289" y="3379928"/>
                        <a:ext cx="524619" cy="364952"/>
                      </a:xfrm>
                      <a:prstGeom prst="rect">
                        <a:avLst/>
                      </a:prstGeom>
                    </p:spPr>
                  </p:pic>
                </p:oleObj>
              </mc:Fallback>
            </mc:AlternateContent>
          </a:graphicData>
        </a:graphic>
      </p:graphicFrame>
      <p:sp>
        <p:nvSpPr>
          <p:cNvPr id="12" name="文本框 11">
            <a:extLst>
              <a:ext uri="{FF2B5EF4-FFF2-40B4-BE49-F238E27FC236}">
                <a16:creationId xmlns:a16="http://schemas.microsoft.com/office/drawing/2014/main" id="{F3A2A691-B1FE-4611-8986-0316CBE80013}"/>
              </a:ext>
            </a:extLst>
          </p:cNvPr>
          <p:cNvSpPr txBox="1"/>
          <p:nvPr/>
        </p:nvSpPr>
        <p:spPr>
          <a:xfrm>
            <a:off x="353291" y="3830242"/>
            <a:ext cx="11249890" cy="369332"/>
          </a:xfrm>
          <a:prstGeom prst="rect">
            <a:avLst/>
          </a:prstGeom>
          <a:noFill/>
        </p:spPr>
        <p:txBody>
          <a:bodyPr wrap="square" rtlCol="0">
            <a:spAutoFit/>
          </a:bodyPr>
          <a:lstStyle/>
          <a:p>
            <a:r>
              <a:rPr lang="zh-CN" altLang="en-US" dirty="0"/>
              <a:t>变量代换简化求解。设</a:t>
            </a:r>
          </a:p>
        </p:txBody>
      </p:sp>
      <p:graphicFrame>
        <p:nvGraphicFramePr>
          <p:cNvPr id="13" name="对象 12">
            <a:extLst>
              <a:ext uri="{FF2B5EF4-FFF2-40B4-BE49-F238E27FC236}">
                <a16:creationId xmlns:a16="http://schemas.microsoft.com/office/drawing/2014/main" id="{B2B85C99-E658-48FD-87BA-F469728B68D7}"/>
              </a:ext>
            </a:extLst>
          </p:cNvPr>
          <p:cNvGraphicFramePr>
            <a:graphicFrameLocks noChangeAspect="1"/>
          </p:cNvGraphicFramePr>
          <p:nvPr>
            <p:extLst>
              <p:ext uri="{D42A27DB-BD31-4B8C-83A1-F6EECF244321}">
                <p14:modId xmlns:p14="http://schemas.microsoft.com/office/powerpoint/2010/main" val="2986932940"/>
              </p:ext>
            </p:extLst>
          </p:nvPr>
        </p:nvGraphicFramePr>
        <p:xfrm>
          <a:off x="5340553" y="4197704"/>
          <a:ext cx="1275365" cy="718842"/>
        </p:xfrm>
        <a:graphic>
          <a:graphicData uri="http://schemas.openxmlformats.org/presentationml/2006/ole">
            <mc:AlternateContent xmlns:mc="http://schemas.openxmlformats.org/markup-compatibility/2006">
              <mc:Choice xmlns:v="urn:schemas-microsoft-com:vml" Requires="v">
                <p:oleObj name="Equation" r:id="rId10" imgW="698400" imgH="393480" progId="Equation.DSMT4">
                  <p:embed/>
                </p:oleObj>
              </mc:Choice>
              <mc:Fallback>
                <p:oleObj name="Equation" r:id="rId10" imgW="698400" imgH="393480" progId="Equation.DSMT4">
                  <p:embed/>
                  <p:pic>
                    <p:nvPicPr>
                      <p:cNvPr id="0" name=""/>
                      <p:cNvPicPr/>
                      <p:nvPr/>
                    </p:nvPicPr>
                    <p:blipFill>
                      <a:blip r:embed="rId11"/>
                      <a:stretch>
                        <a:fillRect/>
                      </a:stretch>
                    </p:blipFill>
                    <p:spPr>
                      <a:xfrm>
                        <a:off x="5340553" y="4197704"/>
                        <a:ext cx="1275365" cy="718842"/>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5195D8B4-1CEC-49DA-9E0F-E6E36D3B47E4}"/>
              </a:ext>
            </a:extLst>
          </p:cNvPr>
          <p:cNvGraphicFramePr>
            <a:graphicFrameLocks noChangeAspect="1"/>
          </p:cNvGraphicFramePr>
          <p:nvPr>
            <p:extLst>
              <p:ext uri="{D42A27DB-BD31-4B8C-83A1-F6EECF244321}">
                <p14:modId xmlns:p14="http://schemas.microsoft.com/office/powerpoint/2010/main" val="3317294626"/>
              </p:ext>
            </p:extLst>
          </p:nvPr>
        </p:nvGraphicFramePr>
        <p:xfrm>
          <a:off x="11023683" y="4373394"/>
          <a:ext cx="507830" cy="369331"/>
        </p:xfrm>
        <a:graphic>
          <a:graphicData uri="http://schemas.openxmlformats.org/presentationml/2006/ole">
            <mc:AlternateContent xmlns:mc="http://schemas.openxmlformats.org/markup-compatibility/2006">
              <mc:Choice xmlns:v="urn:schemas-microsoft-com:vml" Requires="v">
                <p:oleObj name="Equation" r:id="rId12" imgW="279360" imgH="203040" progId="Equation.DSMT4">
                  <p:embed/>
                </p:oleObj>
              </mc:Choice>
              <mc:Fallback>
                <p:oleObj name="Equation" r:id="rId12" imgW="279360" imgH="203040" progId="Equation.DSMT4">
                  <p:embed/>
                  <p:pic>
                    <p:nvPicPr>
                      <p:cNvPr id="0" name=""/>
                      <p:cNvPicPr/>
                      <p:nvPr/>
                    </p:nvPicPr>
                    <p:blipFill>
                      <a:blip r:embed="rId13"/>
                      <a:stretch>
                        <a:fillRect/>
                      </a:stretch>
                    </p:blipFill>
                    <p:spPr>
                      <a:xfrm>
                        <a:off x="11023683" y="4373394"/>
                        <a:ext cx="507830" cy="369331"/>
                      </a:xfrm>
                      <a:prstGeom prst="rect">
                        <a:avLst/>
                      </a:prstGeom>
                    </p:spPr>
                  </p:pic>
                </p:oleObj>
              </mc:Fallback>
            </mc:AlternateContent>
          </a:graphicData>
        </a:graphic>
      </p:graphicFrame>
      <p:sp>
        <p:nvSpPr>
          <p:cNvPr id="15" name="文本框 14">
            <a:extLst>
              <a:ext uri="{FF2B5EF4-FFF2-40B4-BE49-F238E27FC236}">
                <a16:creationId xmlns:a16="http://schemas.microsoft.com/office/drawing/2014/main" id="{D491F8B4-38DB-4CD7-9FE6-60638191A1A6}"/>
              </a:ext>
            </a:extLst>
          </p:cNvPr>
          <p:cNvSpPr txBox="1"/>
          <p:nvPr/>
        </p:nvSpPr>
        <p:spPr>
          <a:xfrm>
            <a:off x="382730" y="4938053"/>
            <a:ext cx="11191009" cy="369332"/>
          </a:xfrm>
          <a:prstGeom prst="rect">
            <a:avLst/>
          </a:prstGeom>
          <a:noFill/>
        </p:spPr>
        <p:txBody>
          <a:bodyPr wrap="square" rtlCol="0">
            <a:spAutoFit/>
          </a:bodyPr>
          <a:lstStyle/>
          <a:p>
            <a:r>
              <a:rPr lang="zh-CN" altLang="en-US" dirty="0"/>
              <a:t>则式</a:t>
            </a:r>
            <a:r>
              <a:rPr lang="en-US" altLang="zh-CN" dirty="0"/>
              <a:t>(10)</a:t>
            </a:r>
            <a:r>
              <a:rPr lang="zh-CN" altLang="en-US" dirty="0"/>
              <a:t>变为</a:t>
            </a:r>
          </a:p>
        </p:txBody>
      </p:sp>
      <p:graphicFrame>
        <p:nvGraphicFramePr>
          <p:cNvPr id="16" name="对象 15">
            <a:extLst>
              <a:ext uri="{FF2B5EF4-FFF2-40B4-BE49-F238E27FC236}">
                <a16:creationId xmlns:a16="http://schemas.microsoft.com/office/drawing/2014/main" id="{1F9F78EF-B1F6-49AF-8BE4-09601FB384F4}"/>
              </a:ext>
            </a:extLst>
          </p:cNvPr>
          <p:cNvGraphicFramePr>
            <a:graphicFrameLocks noChangeAspect="1"/>
          </p:cNvGraphicFramePr>
          <p:nvPr>
            <p:extLst>
              <p:ext uri="{D42A27DB-BD31-4B8C-83A1-F6EECF244321}">
                <p14:modId xmlns:p14="http://schemas.microsoft.com/office/powerpoint/2010/main" val="444706393"/>
              </p:ext>
            </p:extLst>
          </p:nvPr>
        </p:nvGraphicFramePr>
        <p:xfrm>
          <a:off x="3436297" y="5328892"/>
          <a:ext cx="5083874" cy="671455"/>
        </p:xfrm>
        <a:graphic>
          <a:graphicData uri="http://schemas.openxmlformats.org/presentationml/2006/ole">
            <mc:AlternateContent xmlns:mc="http://schemas.openxmlformats.org/markup-compatibility/2006">
              <mc:Choice xmlns:v="urn:schemas-microsoft-com:vml" Requires="v">
                <p:oleObj name="Equation" r:id="rId14" imgW="3365280" imgH="444240" progId="Equation.DSMT4">
                  <p:embed/>
                </p:oleObj>
              </mc:Choice>
              <mc:Fallback>
                <p:oleObj name="Equation" r:id="rId14" imgW="3365280" imgH="444240" progId="Equation.DSMT4">
                  <p:embed/>
                  <p:pic>
                    <p:nvPicPr>
                      <p:cNvPr id="0" name=""/>
                      <p:cNvPicPr/>
                      <p:nvPr/>
                    </p:nvPicPr>
                    <p:blipFill>
                      <a:blip r:embed="rId15"/>
                      <a:stretch>
                        <a:fillRect/>
                      </a:stretch>
                    </p:blipFill>
                    <p:spPr>
                      <a:xfrm>
                        <a:off x="3436297" y="5328892"/>
                        <a:ext cx="5083874" cy="671455"/>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9A790BD7-1ECF-4A20-BF56-CB68A8C8C71D}"/>
              </a:ext>
            </a:extLst>
          </p:cNvPr>
          <p:cNvGraphicFramePr>
            <a:graphicFrameLocks noChangeAspect="1"/>
          </p:cNvGraphicFramePr>
          <p:nvPr>
            <p:extLst>
              <p:ext uri="{D42A27DB-BD31-4B8C-83A1-F6EECF244321}">
                <p14:modId xmlns:p14="http://schemas.microsoft.com/office/powerpoint/2010/main" val="925659736"/>
              </p:ext>
            </p:extLst>
          </p:nvPr>
        </p:nvGraphicFramePr>
        <p:xfrm>
          <a:off x="11000600" y="5483901"/>
          <a:ext cx="530913" cy="369331"/>
        </p:xfrm>
        <a:graphic>
          <a:graphicData uri="http://schemas.openxmlformats.org/presentationml/2006/ole">
            <mc:AlternateContent xmlns:mc="http://schemas.openxmlformats.org/markup-compatibility/2006">
              <mc:Choice xmlns:v="urn:schemas-microsoft-com:vml" Requires="v">
                <p:oleObj name="Equation" r:id="rId16" imgW="291960" imgH="203040" progId="Equation.DSMT4">
                  <p:embed/>
                </p:oleObj>
              </mc:Choice>
              <mc:Fallback>
                <p:oleObj name="Equation" r:id="rId16" imgW="291960" imgH="203040" progId="Equation.DSMT4">
                  <p:embed/>
                  <p:pic>
                    <p:nvPicPr>
                      <p:cNvPr id="0" name=""/>
                      <p:cNvPicPr/>
                      <p:nvPr/>
                    </p:nvPicPr>
                    <p:blipFill>
                      <a:blip r:embed="rId17"/>
                      <a:stretch>
                        <a:fillRect/>
                      </a:stretch>
                    </p:blipFill>
                    <p:spPr>
                      <a:xfrm>
                        <a:off x="11000600" y="5483901"/>
                        <a:ext cx="530913" cy="369331"/>
                      </a:xfrm>
                      <a:prstGeom prst="rect">
                        <a:avLst/>
                      </a:prstGeom>
                    </p:spPr>
                  </p:pic>
                </p:oleObj>
              </mc:Fallback>
            </mc:AlternateContent>
          </a:graphicData>
        </a:graphic>
      </p:graphicFrame>
    </p:spTree>
    <p:extLst>
      <p:ext uri="{BB962C8B-B14F-4D97-AF65-F5344CB8AC3E}">
        <p14:creationId xmlns:p14="http://schemas.microsoft.com/office/powerpoint/2010/main" val="3573093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BBC39CD-0456-4C8E-952C-911EBF822D63}"/>
              </a:ext>
            </a:extLst>
          </p:cNvPr>
          <p:cNvSpPr>
            <a:spLocks noGrp="1"/>
          </p:cNvSpPr>
          <p:nvPr>
            <p:ph type="sldNum" sz="quarter" idx="12"/>
          </p:nvPr>
        </p:nvSpPr>
        <p:spPr/>
        <p:txBody>
          <a:bodyPr/>
          <a:lstStyle/>
          <a:p>
            <a:pPr>
              <a:defRPr/>
            </a:pPr>
            <a:fld id="{DB5F2CA6-A39B-48F7-84D1-AF91BD07D67D}" type="slidenum">
              <a:rPr lang="en-US" altLang="zh-CN" smtClean="0"/>
              <a:pPr>
                <a:defRPr/>
              </a:pPr>
              <a:t>7</a:t>
            </a:fld>
            <a:endParaRPr lang="en-US" altLang="zh-CN"/>
          </a:p>
        </p:txBody>
      </p:sp>
      <p:sp>
        <p:nvSpPr>
          <p:cNvPr id="5" name="矩形 4">
            <a:extLst>
              <a:ext uri="{FF2B5EF4-FFF2-40B4-BE49-F238E27FC236}">
                <a16:creationId xmlns:a16="http://schemas.microsoft.com/office/drawing/2014/main" id="{AF8B3E49-8854-463A-9CAA-CA4BF5204E87}"/>
              </a:ext>
            </a:extLst>
          </p:cNvPr>
          <p:cNvSpPr/>
          <p:nvPr/>
        </p:nvSpPr>
        <p:spPr>
          <a:xfrm>
            <a:off x="280555" y="386829"/>
            <a:ext cx="4629794" cy="584775"/>
          </a:xfrm>
          <a:prstGeom prst="rect">
            <a:avLst/>
          </a:prstGeom>
          <a:noFill/>
        </p:spPr>
        <p:txBody>
          <a:bodyPr wrap="none" lIns="91440" tIns="45720" rIns="91440" bIns="45720">
            <a:spAutoFit/>
          </a:bodyPr>
          <a:lstStyle/>
          <a:p>
            <a:pPr algn="ctr"/>
            <a:r>
              <a:rPr lang="zh-CN" altLang="en-US" sz="3200" b="0" cap="none" spc="0" dirty="0">
                <a:ln w="0"/>
                <a:solidFill>
                  <a:srgbClr val="FF0000"/>
                </a:solidFill>
                <a:effectLst>
                  <a:outerShdw blurRad="38100" dist="19050" dir="2700000" algn="tl" rotWithShape="0">
                    <a:schemeClr val="dk1">
                      <a:alpha val="40000"/>
                    </a:schemeClr>
                  </a:outerShdw>
                </a:effectLst>
              </a:rPr>
              <a:t>导带电子的热平衡浓度</a:t>
            </a:r>
            <a:r>
              <a:rPr lang="en-US" altLang="zh-CN" sz="3200" b="0" cap="none" spc="0" dirty="0">
                <a:ln w="0"/>
                <a:solidFill>
                  <a:srgbClr val="FF0000"/>
                </a:solidFill>
                <a:effectLst>
                  <a:outerShdw blurRad="38100" dist="19050" dir="2700000" algn="tl" rotWithShape="0">
                    <a:schemeClr val="dk1">
                      <a:alpha val="40000"/>
                    </a:schemeClr>
                  </a:outerShdw>
                </a:effectLst>
              </a:rPr>
              <a:t>n</a:t>
            </a:r>
            <a:r>
              <a:rPr lang="en-US" altLang="zh-CN" sz="3200" b="0" cap="none" spc="0" baseline="-25000" dirty="0">
                <a:ln w="0"/>
                <a:solidFill>
                  <a:srgbClr val="FF0000"/>
                </a:solidFill>
                <a:effectLst>
                  <a:outerShdw blurRad="38100" dist="19050" dir="2700000" algn="tl" rotWithShape="0">
                    <a:schemeClr val="dk1">
                      <a:alpha val="40000"/>
                    </a:schemeClr>
                  </a:outerShdw>
                </a:effectLst>
              </a:rPr>
              <a:t>0</a:t>
            </a:r>
            <a:endParaRPr lang="zh-CN" altLang="en-US" sz="3200" b="0" cap="none" spc="0" dirty="0">
              <a:ln w="0"/>
              <a:solidFill>
                <a:srgbClr val="FF0000"/>
              </a:solidFill>
              <a:effectLst>
                <a:outerShdw blurRad="38100" dist="19050" dir="2700000" algn="tl" rotWithShape="0">
                  <a:schemeClr val="dk1">
                    <a:alpha val="40000"/>
                  </a:schemeClr>
                </a:outerShdw>
              </a:effectLst>
            </a:endParaRPr>
          </a:p>
        </p:txBody>
      </p:sp>
      <p:sp>
        <p:nvSpPr>
          <p:cNvPr id="2" name="文本框 1">
            <a:extLst>
              <a:ext uri="{FF2B5EF4-FFF2-40B4-BE49-F238E27FC236}">
                <a16:creationId xmlns:a16="http://schemas.microsoft.com/office/drawing/2014/main" id="{A381BACD-198C-4CFB-8F25-F2FD7A77C80F}"/>
              </a:ext>
            </a:extLst>
          </p:cNvPr>
          <p:cNvSpPr txBox="1"/>
          <p:nvPr/>
        </p:nvSpPr>
        <p:spPr>
          <a:xfrm>
            <a:off x="457199" y="922220"/>
            <a:ext cx="10619509" cy="369332"/>
          </a:xfrm>
          <a:prstGeom prst="rect">
            <a:avLst/>
          </a:prstGeom>
          <a:noFill/>
        </p:spPr>
        <p:txBody>
          <a:bodyPr wrap="square" rtlCol="0">
            <a:spAutoFit/>
          </a:bodyPr>
          <a:lstStyle/>
          <a:p>
            <a:r>
              <a:rPr lang="zh-CN" altLang="en-US" dirty="0"/>
              <a:t>查积分表可知</a:t>
            </a:r>
          </a:p>
        </p:txBody>
      </p:sp>
      <p:graphicFrame>
        <p:nvGraphicFramePr>
          <p:cNvPr id="3" name="对象 2">
            <a:extLst>
              <a:ext uri="{FF2B5EF4-FFF2-40B4-BE49-F238E27FC236}">
                <a16:creationId xmlns:a16="http://schemas.microsoft.com/office/drawing/2014/main" id="{1516BB4E-3531-490D-A187-796B86BB2E3B}"/>
              </a:ext>
            </a:extLst>
          </p:cNvPr>
          <p:cNvGraphicFramePr>
            <a:graphicFrameLocks noChangeAspect="1"/>
          </p:cNvGraphicFramePr>
          <p:nvPr>
            <p:extLst>
              <p:ext uri="{D42A27DB-BD31-4B8C-83A1-F6EECF244321}">
                <p14:modId xmlns:p14="http://schemas.microsoft.com/office/powerpoint/2010/main" val="296299038"/>
              </p:ext>
            </p:extLst>
          </p:nvPr>
        </p:nvGraphicFramePr>
        <p:xfrm>
          <a:off x="4283336" y="1291552"/>
          <a:ext cx="2967233" cy="724285"/>
        </p:xfrm>
        <a:graphic>
          <a:graphicData uri="http://schemas.openxmlformats.org/presentationml/2006/ole">
            <mc:AlternateContent xmlns:mc="http://schemas.openxmlformats.org/markup-compatibility/2006">
              <mc:Choice xmlns:v="urn:schemas-microsoft-com:vml" Requires="v">
                <p:oleObj name="Equation" r:id="rId2" imgW="1612800" imgH="393480" progId="Equation.DSMT4">
                  <p:embed/>
                </p:oleObj>
              </mc:Choice>
              <mc:Fallback>
                <p:oleObj name="Equation" r:id="rId2" imgW="1612800" imgH="393480" progId="Equation.DSMT4">
                  <p:embed/>
                  <p:pic>
                    <p:nvPicPr>
                      <p:cNvPr id="0" name=""/>
                      <p:cNvPicPr/>
                      <p:nvPr/>
                    </p:nvPicPr>
                    <p:blipFill>
                      <a:blip r:embed="rId3"/>
                      <a:stretch>
                        <a:fillRect/>
                      </a:stretch>
                    </p:blipFill>
                    <p:spPr>
                      <a:xfrm>
                        <a:off x="4283336" y="1291552"/>
                        <a:ext cx="2967233" cy="724285"/>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039862B5-4131-419C-8482-65D08545C4AD}"/>
              </a:ext>
            </a:extLst>
          </p:cNvPr>
          <p:cNvGraphicFramePr>
            <a:graphicFrameLocks noChangeAspect="1"/>
          </p:cNvGraphicFramePr>
          <p:nvPr>
            <p:extLst>
              <p:ext uri="{D42A27DB-BD31-4B8C-83A1-F6EECF244321}">
                <p14:modId xmlns:p14="http://schemas.microsoft.com/office/powerpoint/2010/main" val="3014444896"/>
              </p:ext>
            </p:extLst>
          </p:nvPr>
        </p:nvGraphicFramePr>
        <p:xfrm>
          <a:off x="11042352" y="1484765"/>
          <a:ext cx="470495" cy="342178"/>
        </p:xfrm>
        <a:graphic>
          <a:graphicData uri="http://schemas.openxmlformats.org/presentationml/2006/ole">
            <mc:AlternateContent xmlns:mc="http://schemas.openxmlformats.org/markup-compatibility/2006">
              <mc:Choice xmlns:v="urn:schemas-microsoft-com:vml" Requires="v">
                <p:oleObj name="Equation" r:id="rId4" imgW="279360" imgH="203040" progId="Equation.DSMT4">
                  <p:embed/>
                </p:oleObj>
              </mc:Choice>
              <mc:Fallback>
                <p:oleObj name="Equation" r:id="rId4" imgW="279360" imgH="203040" progId="Equation.DSMT4">
                  <p:embed/>
                  <p:pic>
                    <p:nvPicPr>
                      <p:cNvPr id="0" name=""/>
                      <p:cNvPicPr/>
                      <p:nvPr/>
                    </p:nvPicPr>
                    <p:blipFill>
                      <a:blip r:embed="rId5"/>
                      <a:stretch>
                        <a:fillRect/>
                      </a:stretch>
                    </p:blipFill>
                    <p:spPr>
                      <a:xfrm>
                        <a:off x="11042352" y="1484765"/>
                        <a:ext cx="470495" cy="342178"/>
                      </a:xfrm>
                      <a:prstGeom prst="rect">
                        <a:avLst/>
                      </a:prstGeom>
                    </p:spPr>
                  </p:pic>
                </p:oleObj>
              </mc:Fallback>
            </mc:AlternateContent>
          </a:graphicData>
        </a:graphic>
      </p:graphicFrame>
      <p:sp>
        <p:nvSpPr>
          <p:cNvPr id="19" name="文本框 18">
            <a:extLst>
              <a:ext uri="{FF2B5EF4-FFF2-40B4-BE49-F238E27FC236}">
                <a16:creationId xmlns:a16="http://schemas.microsoft.com/office/drawing/2014/main" id="{4E792C8C-3FB9-4487-B703-E9894625D689}"/>
              </a:ext>
            </a:extLst>
          </p:cNvPr>
          <p:cNvSpPr txBox="1"/>
          <p:nvPr/>
        </p:nvSpPr>
        <p:spPr>
          <a:xfrm>
            <a:off x="457199" y="1966453"/>
            <a:ext cx="11128664" cy="369332"/>
          </a:xfrm>
          <a:prstGeom prst="rect">
            <a:avLst/>
          </a:prstGeom>
          <a:noFill/>
        </p:spPr>
        <p:txBody>
          <a:bodyPr wrap="square" rtlCol="0">
            <a:spAutoFit/>
          </a:bodyPr>
          <a:lstStyle/>
          <a:p>
            <a:r>
              <a:rPr lang="zh-CN" altLang="en-US" dirty="0"/>
              <a:t>则式</a:t>
            </a:r>
            <a:r>
              <a:rPr lang="en-US" altLang="zh-CN" dirty="0"/>
              <a:t>(12)</a:t>
            </a:r>
            <a:r>
              <a:rPr lang="zh-CN" altLang="en-US" dirty="0"/>
              <a:t>变为</a:t>
            </a:r>
          </a:p>
        </p:txBody>
      </p:sp>
      <p:graphicFrame>
        <p:nvGraphicFramePr>
          <p:cNvPr id="20" name="对象 19">
            <a:extLst>
              <a:ext uri="{FF2B5EF4-FFF2-40B4-BE49-F238E27FC236}">
                <a16:creationId xmlns:a16="http://schemas.microsoft.com/office/drawing/2014/main" id="{07B76FB2-E31F-4A0B-A8AE-E1EF614C572B}"/>
              </a:ext>
            </a:extLst>
          </p:cNvPr>
          <p:cNvGraphicFramePr>
            <a:graphicFrameLocks noChangeAspect="1"/>
          </p:cNvGraphicFramePr>
          <p:nvPr>
            <p:extLst>
              <p:ext uri="{D42A27DB-BD31-4B8C-83A1-F6EECF244321}">
                <p14:modId xmlns:p14="http://schemas.microsoft.com/office/powerpoint/2010/main" val="1171008218"/>
              </p:ext>
            </p:extLst>
          </p:nvPr>
        </p:nvGraphicFramePr>
        <p:xfrm>
          <a:off x="3764579" y="2335785"/>
          <a:ext cx="4004746" cy="787450"/>
        </p:xfrm>
        <a:graphic>
          <a:graphicData uri="http://schemas.openxmlformats.org/presentationml/2006/ole">
            <mc:AlternateContent xmlns:mc="http://schemas.openxmlformats.org/markup-compatibility/2006">
              <mc:Choice xmlns:v="urn:schemas-microsoft-com:vml" Requires="v">
                <p:oleObj name="Equation" r:id="rId6" imgW="2260440" imgH="444240" progId="Equation.DSMT4">
                  <p:embed/>
                </p:oleObj>
              </mc:Choice>
              <mc:Fallback>
                <p:oleObj name="Equation" r:id="rId6" imgW="2260440" imgH="444240" progId="Equation.DSMT4">
                  <p:embed/>
                  <p:pic>
                    <p:nvPicPr>
                      <p:cNvPr id="0" name=""/>
                      <p:cNvPicPr/>
                      <p:nvPr/>
                    </p:nvPicPr>
                    <p:blipFill>
                      <a:blip r:embed="rId7"/>
                      <a:stretch>
                        <a:fillRect/>
                      </a:stretch>
                    </p:blipFill>
                    <p:spPr>
                      <a:xfrm>
                        <a:off x="3764579" y="2335785"/>
                        <a:ext cx="4004746" cy="787450"/>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62D27196-78F8-4D68-8BC0-D6FC30829D44}"/>
              </a:ext>
            </a:extLst>
          </p:cNvPr>
          <p:cNvGraphicFramePr>
            <a:graphicFrameLocks noChangeAspect="1"/>
          </p:cNvGraphicFramePr>
          <p:nvPr>
            <p:extLst>
              <p:ext uri="{D42A27DB-BD31-4B8C-83A1-F6EECF244321}">
                <p14:modId xmlns:p14="http://schemas.microsoft.com/office/powerpoint/2010/main" val="1751262720"/>
              </p:ext>
            </p:extLst>
          </p:nvPr>
        </p:nvGraphicFramePr>
        <p:xfrm>
          <a:off x="11011178" y="2544173"/>
          <a:ext cx="532842" cy="370673"/>
        </p:xfrm>
        <a:graphic>
          <a:graphicData uri="http://schemas.openxmlformats.org/presentationml/2006/ole">
            <mc:AlternateContent xmlns:mc="http://schemas.openxmlformats.org/markup-compatibility/2006">
              <mc:Choice xmlns:v="urn:schemas-microsoft-com:vml" Requires="v">
                <p:oleObj name="Equation" r:id="rId8" imgW="291960" imgH="203040" progId="Equation.DSMT4">
                  <p:embed/>
                </p:oleObj>
              </mc:Choice>
              <mc:Fallback>
                <p:oleObj name="Equation" r:id="rId8" imgW="291960" imgH="203040" progId="Equation.DSMT4">
                  <p:embed/>
                  <p:pic>
                    <p:nvPicPr>
                      <p:cNvPr id="0" name=""/>
                      <p:cNvPicPr/>
                      <p:nvPr/>
                    </p:nvPicPr>
                    <p:blipFill>
                      <a:blip r:embed="rId9"/>
                      <a:stretch>
                        <a:fillRect/>
                      </a:stretch>
                    </p:blipFill>
                    <p:spPr>
                      <a:xfrm>
                        <a:off x="11011178" y="2544173"/>
                        <a:ext cx="532842" cy="370673"/>
                      </a:xfrm>
                      <a:prstGeom prst="rect">
                        <a:avLst/>
                      </a:prstGeom>
                    </p:spPr>
                  </p:pic>
                </p:oleObj>
              </mc:Fallback>
            </mc:AlternateContent>
          </a:graphicData>
        </a:graphic>
      </p:graphicFrame>
      <p:sp>
        <p:nvSpPr>
          <p:cNvPr id="22" name="文本框 21">
            <a:extLst>
              <a:ext uri="{FF2B5EF4-FFF2-40B4-BE49-F238E27FC236}">
                <a16:creationId xmlns:a16="http://schemas.microsoft.com/office/drawing/2014/main" id="{63DB2046-488B-4D3A-97C4-926D0C7C85BD}"/>
              </a:ext>
            </a:extLst>
          </p:cNvPr>
          <p:cNvSpPr txBox="1"/>
          <p:nvPr/>
        </p:nvSpPr>
        <p:spPr>
          <a:xfrm>
            <a:off x="457199" y="3103675"/>
            <a:ext cx="10962129" cy="369332"/>
          </a:xfrm>
          <a:prstGeom prst="rect">
            <a:avLst/>
          </a:prstGeom>
          <a:noFill/>
        </p:spPr>
        <p:txBody>
          <a:bodyPr wrap="square" rtlCol="0">
            <a:spAutoFit/>
          </a:bodyPr>
          <a:lstStyle/>
          <a:p>
            <a:r>
              <a:rPr lang="zh-CN" altLang="en-US" dirty="0"/>
              <a:t>定义参数</a:t>
            </a:r>
            <a:r>
              <a:rPr lang="en-US" altLang="zh-CN" dirty="0"/>
              <a:t>N</a:t>
            </a:r>
            <a:r>
              <a:rPr lang="en-US" altLang="zh-CN" baseline="-25000" dirty="0"/>
              <a:t>c</a:t>
            </a:r>
            <a:r>
              <a:rPr lang="zh-CN" altLang="en-US" dirty="0"/>
              <a:t>为</a:t>
            </a:r>
          </a:p>
        </p:txBody>
      </p:sp>
      <p:graphicFrame>
        <p:nvGraphicFramePr>
          <p:cNvPr id="23" name="对象 22">
            <a:extLst>
              <a:ext uri="{FF2B5EF4-FFF2-40B4-BE49-F238E27FC236}">
                <a16:creationId xmlns:a16="http://schemas.microsoft.com/office/drawing/2014/main" id="{59BF0018-C0FC-4B99-BFAA-FB398F471FE5}"/>
              </a:ext>
            </a:extLst>
          </p:cNvPr>
          <p:cNvGraphicFramePr>
            <a:graphicFrameLocks noChangeAspect="1"/>
          </p:cNvGraphicFramePr>
          <p:nvPr>
            <p:extLst>
              <p:ext uri="{D42A27DB-BD31-4B8C-83A1-F6EECF244321}">
                <p14:modId xmlns:p14="http://schemas.microsoft.com/office/powerpoint/2010/main" val="3331777981"/>
              </p:ext>
            </p:extLst>
          </p:nvPr>
        </p:nvGraphicFramePr>
        <p:xfrm>
          <a:off x="4644011" y="3429000"/>
          <a:ext cx="2245882" cy="772022"/>
        </p:xfrm>
        <a:graphic>
          <a:graphicData uri="http://schemas.openxmlformats.org/presentationml/2006/ole">
            <mc:AlternateContent xmlns:mc="http://schemas.openxmlformats.org/markup-compatibility/2006">
              <mc:Choice xmlns:v="urn:schemas-microsoft-com:vml" Requires="v">
                <p:oleObj name="Equation" r:id="rId10" imgW="1218960" imgH="419040" progId="Equation.DSMT4">
                  <p:embed/>
                </p:oleObj>
              </mc:Choice>
              <mc:Fallback>
                <p:oleObj name="Equation" r:id="rId10" imgW="1218960" imgH="419040" progId="Equation.DSMT4">
                  <p:embed/>
                  <p:pic>
                    <p:nvPicPr>
                      <p:cNvPr id="0" name=""/>
                      <p:cNvPicPr/>
                      <p:nvPr/>
                    </p:nvPicPr>
                    <p:blipFill>
                      <a:blip r:embed="rId11"/>
                      <a:stretch>
                        <a:fillRect/>
                      </a:stretch>
                    </p:blipFill>
                    <p:spPr>
                      <a:xfrm>
                        <a:off x="4644011" y="3429000"/>
                        <a:ext cx="2245882" cy="772022"/>
                      </a:xfrm>
                      <a:prstGeom prst="rect">
                        <a:avLst/>
                      </a:prstGeom>
                    </p:spPr>
                  </p:pic>
                </p:oleObj>
              </mc:Fallback>
            </mc:AlternateContent>
          </a:graphicData>
        </a:graphic>
      </p:graphicFrame>
      <p:graphicFrame>
        <p:nvGraphicFramePr>
          <p:cNvPr id="24" name="对象 23">
            <a:extLst>
              <a:ext uri="{FF2B5EF4-FFF2-40B4-BE49-F238E27FC236}">
                <a16:creationId xmlns:a16="http://schemas.microsoft.com/office/drawing/2014/main" id="{EE55B95F-3EAE-4C5A-8C9E-5035451962C2}"/>
              </a:ext>
            </a:extLst>
          </p:cNvPr>
          <p:cNvGraphicFramePr>
            <a:graphicFrameLocks noChangeAspect="1"/>
          </p:cNvGraphicFramePr>
          <p:nvPr>
            <p:extLst>
              <p:ext uri="{D42A27DB-BD31-4B8C-83A1-F6EECF244321}">
                <p14:modId xmlns:p14="http://schemas.microsoft.com/office/powerpoint/2010/main" val="4076999204"/>
              </p:ext>
            </p:extLst>
          </p:nvPr>
        </p:nvGraphicFramePr>
        <p:xfrm>
          <a:off x="11005017" y="3630345"/>
          <a:ext cx="507830" cy="369331"/>
        </p:xfrm>
        <a:graphic>
          <a:graphicData uri="http://schemas.openxmlformats.org/presentationml/2006/ole">
            <mc:AlternateContent xmlns:mc="http://schemas.openxmlformats.org/markup-compatibility/2006">
              <mc:Choice xmlns:v="urn:schemas-microsoft-com:vml" Requires="v">
                <p:oleObj name="Equation" r:id="rId12" imgW="279360" imgH="203040" progId="Equation.DSMT4">
                  <p:embed/>
                </p:oleObj>
              </mc:Choice>
              <mc:Fallback>
                <p:oleObj name="Equation" r:id="rId12" imgW="279360" imgH="203040" progId="Equation.DSMT4">
                  <p:embed/>
                  <p:pic>
                    <p:nvPicPr>
                      <p:cNvPr id="0" name=""/>
                      <p:cNvPicPr/>
                      <p:nvPr/>
                    </p:nvPicPr>
                    <p:blipFill>
                      <a:blip r:embed="rId13"/>
                      <a:stretch>
                        <a:fillRect/>
                      </a:stretch>
                    </p:blipFill>
                    <p:spPr>
                      <a:xfrm>
                        <a:off x="11005017" y="3630345"/>
                        <a:ext cx="507830" cy="369331"/>
                      </a:xfrm>
                      <a:prstGeom prst="rect">
                        <a:avLst/>
                      </a:prstGeom>
                    </p:spPr>
                  </p:pic>
                </p:oleObj>
              </mc:Fallback>
            </mc:AlternateContent>
          </a:graphicData>
        </a:graphic>
      </p:graphicFrame>
      <p:sp>
        <p:nvSpPr>
          <p:cNvPr id="25" name="文本框 24">
            <a:extLst>
              <a:ext uri="{FF2B5EF4-FFF2-40B4-BE49-F238E27FC236}">
                <a16:creationId xmlns:a16="http://schemas.microsoft.com/office/drawing/2014/main" id="{B710F3E2-70B3-4991-9F15-41B3E355FEC2}"/>
              </a:ext>
            </a:extLst>
          </p:cNvPr>
          <p:cNvSpPr txBox="1"/>
          <p:nvPr/>
        </p:nvSpPr>
        <p:spPr>
          <a:xfrm>
            <a:off x="457199" y="4195497"/>
            <a:ext cx="11128664" cy="369332"/>
          </a:xfrm>
          <a:prstGeom prst="rect">
            <a:avLst/>
          </a:prstGeom>
          <a:noFill/>
        </p:spPr>
        <p:txBody>
          <a:bodyPr wrap="square" rtlCol="0">
            <a:spAutoFit/>
          </a:bodyPr>
          <a:lstStyle/>
          <a:p>
            <a:r>
              <a:rPr lang="zh-CN" altLang="en-US" dirty="0"/>
              <a:t>其中</a:t>
            </a:r>
            <a:r>
              <a:rPr lang="en-US" altLang="zh-CN" dirty="0" err="1"/>
              <a:t>m</a:t>
            </a:r>
            <a:r>
              <a:rPr lang="en-US" altLang="zh-CN" baseline="-25000" dirty="0" err="1"/>
              <a:t>n</a:t>
            </a:r>
            <a:r>
              <a:rPr lang="en-US" altLang="zh-CN" baseline="30000" dirty="0"/>
              <a:t>*</a:t>
            </a:r>
            <a:r>
              <a:rPr lang="zh-CN" altLang="en-US" dirty="0"/>
              <a:t>是电子的有效质量。所以，导带电子的热平衡浓度可以表示为</a:t>
            </a:r>
          </a:p>
        </p:txBody>
      </p:sp>
      <p:graphicFrame>
        <p:nvGraphicFramePr>
          <p:cNvPr id="26" name="对象 25">
            <a:extLst>
              <a:ext uri="{FF2B5EF4-FFF2-40B4-BE49-F238E27FC236}">
                <a16:creationId xmlns:a16="http://schemas.microsoft.com/office/drawing/2014/main" id="{C992E195-9827-43F0-8F98-6F9D5F859543}"/>
              </a:ext>
            </a:extLst>
          </p:cNvPr>
          <p:cNvGraphicFramePr>
            <a:graphicFrameLocks noChangeAspect="1"/>
          </p:cNvGraphicFramePr>
          <p:nvPr>
            <p:extLst>
              <p:ext uri="{D42A27DB-BD31-4B8C-83A1-F6EECF244321}">
                <p14:modId xmlns:p14="http://schemas.microsoft.com/office/powerpoint/2010/main" val="89182599"/>
              </p:ext>
            </p:extLst>
          </p:nvPr>
        </p:nvGraphicFramePr>
        <p:xfrm>
          <a:off x="4350086" y="4561944"/>
          <a:ext cx="2833732" cy="770775"/>
        </p:xfrm>
        <a:graphic>
          <a:graphicData uri="http://schemas.openxmlformats.org/presentationml/2006/ole">
            <mc:AlternateContent xmlns:mc="http://schemas.openxmlformats.org/markup-compatibility/2006">
              <mc:Choice xmlns:v="urn:schemas-microsoft-com:vml" Requires="v">
                <p:oleObj name="Equation" r:id="rId14" imgW="1587240" imgH="431640" progId="Equation.DSMT4">
                  <p:embed/>
                </p:oleObj>
              </mc:Choice>
              <mc:Fallback>
                <p:oleObj name="Equation" r:id="rId14" imgW="1587240" imgH="431640" progId="Equation.DSMT4">
                  <p:embed/>
                  <p:pic>
                    <p:nvPicPr>
                      <p:cNvPr id="0" name=""/>
                      <p:cNvPicPr/>
                      <p:nvPr/>
                    </p:nvPicPr>
                    <p:blipFill>
                      <a:blip r:embed="rId15"/>
                      <a:stretch>
                        <a:fillRect/>
                      </a:stretch>
                    </p:blipFill>
                    <p:spPr>
                      <a:xfrm>
                        <a:off x="4350086" y="4561944"/>
                        <a:ext cx="2833732" cy="770775"/>
                      </a:xfrm>
                      <a:prstGeom prst="rect">
                        <a:avLst/>
                      </a:prstGeom>
                    </p:spPr>
                  </p:pic>
                </p:oleObj>
              </mc:Fallback>
            </mc:AlternateContent>
          </a:graphicData>
        </a:graphic>
      </p:graphicFrame>
      <p:graphicFrame>
        <p:nvGraphicFramePr>
          <p:cNvPr id="27" name="对象 26">
            <a:extLst>
              <a:ext uri="{FF2B5EF4-FFF2-40B4-BE49-F238E27FC236}">
                <a16:creationId xmlns:a16="http://schemas.microsoft.com/office/drawing/2014/main" id="{703D8F8A-807B-4822-8AEA-678100D75D7B}"/>
              </a:ext>
            </a:extLst>
          </p:cNvPr>
          <p:cNvGraphicFramePr>
            <a:graphicFrameLocks noChangeAspect="1"/>
          </p:cNvGraphicFramePr>
          <p:nvPr>
            <p:extLst>
              <p:ext uri="{D42A27DB-BD31-4B8C-83A1-F6EECF244321}">
                <p14:modId xmlns:p14="http://schemas.microsoft.com/office/powerpoint/2010/main" val="504395338"/>
              </p:ext>
            </p:extLst>
          </p:nvPr>
        </p:nvGraphicFramePr>
        <p:xfrm>
          <a:off x="11013105" y="4760650"/>
          <a:ext cx="530915" cy="369332"/>
        </p:xfrm>
        <a:graphic>
          <a:graphicData uri="http://schemas.openxmlformats.org/presentationml/2006/ole">
            <mc:AlternateContent xmlns:mc="http://schemas.openxmlformats.org/markup-compatibility/2006">
              <mc:Choice xmlns:v="urn:schemas-microsoft-com:vml" Requires="v">
                <p:oleObj name="Equation" r:id="rId16" imgW="291960" imgH="203040" progId="Equation.DSMT4">
                  <p:embed/>
                </p:oleObj>
              </mc:Choice>
              <mc:Fallback>
                <p:oleObj name="Equation" r:id="rId16" imgW="291960" imgH="203040" progId="Equation.DSMT4">
                  <p:embed/>
                  <p:pic>
                    <p:nvPicPr>
                      <p:cNvPr id="0" name=""/>
                      <p:cNvPicPr/>
                      <p:nvPr/>
                    </p:nvPicPr>
                    <p:blipFill>
                      <a:blip r:embed="rId17"/>
                      <a:stretch>
                        <a:fillRect/>
                      </a:stretch>
                    </p:blipFill>
                    <p:spPr>
                      <a:xfrm>
                        <a:off x="11013105" y="4760650"/>
                        <a:ext cx="530915" cy="369332"/>
                      </a:xfrm>
                      <a:prstGeom prst="rect">
                        <a:avLst/>
                      </a:prstGeom>
                    </p:spPr>
                  </p:pic>
                </p:oleObj>
              </mc:Fallback>
            </mc:AlternateContent>
          </a:graphicData>
        </a:graphic>
      </p:graphicFrame>
      <p:sp>
        <p:nvSpPr>
          <p:cNvPr id="29" name="文本框 28">
            <a:extLst>
              <a:ext uri="{FF2B5EF4-FFF2-40B4-BE49-F238E27FC236}">
                <a16:creationId xmlns:a16="http://schemas.microsoft.com/office/drawing/2014/main" id="{7A9F8B9E-B25C-41A7-BA45-EB285BD5DD17}"/>
              </a:ext>
            </a:extLst>
          </p:cNvPr>
          <p:cNvSpPr txBox="1"/>
          <p:nvPr/>
        </p:nvSpPr>
        <p:spPr>
          <a:xfrm>
            <a:off x="457199" y="5325803"/>
            <a:ext cx="11263746" cy="923330"/>
          </a:xfrm>
          <a:prstGeom prst="rect">
            <a:avLst/>
          </a:prstGeom>
          <a:noFill/>
        </p:spPr>
        <p:txBody>
          <a:bodyPr wrap="square" rtlCol="0">
            <a:spAutoFit/>
          </a:bodyPr>
          <a:lstStyle/>
          <a:p>
            <a:r>
              <a:rPr lang="zh-CN" altLang="en-US" dirty="0"/>
              <a:t>参数</a:t>
            </a:r>
            <a:r>
              <a:rPr lang="en-US" altLang="zh-CN" dirty="0"/>
              <a:t>N</a:t>
            </a:r>
            <a:r>
              <a:rPr lang="en-US" altLang="zh-CN" baseline="-25000" dirty="0"/>
              <a:t>c</a:t>
            </a:r>
            <a:r>
              <a:rPr lang="zh-CN" altLang="en-US" dirty="0"/>
              <a:t>为导带有效状态密度。若假设</a:t>
            </a:r>
            <a:r>
              <a:rPr lang="en-US" altLang="zh-CN" dirty="0" err="1"/>
              <a:t>m</a:t>
            </a:r>
            <a:r>
              <a:rPr lang="en-US" altLang="zh-CN" baseline="-25000" dirty="0" err="1"/>
              <a:t>n</a:t>
            </a:r>
            <a:r>
              <a:rPr lang="en-US" altLang="zh-CN" baseline="30000" dirty="0"/>
              <a:t>* </a:t>
            </a:r>
            <a:r>
              <a:rPr lang="en-US" altLang="zh-CN" dirty="0"/>
              <a:t>=m</a:t>
            </a:r>
            <a:r>
              <a:rPr lang="en-US" altLang="zh-CN" baseline="-25000" dirty="0"/>
              <a:t>0</a:t>
            </a:r>
            <a:r>
              <a:rPr lang="zh-CN" altLang="en-US" dirty="0"/>
              <a:t>，则</a:t>
            </a:r>
            <a:r>
              <a:rPr lang="en-US" altLang="zh-CN" dirty="0"/>
              <a:t>T=300K</a:t>
            </a:r>
            <a:r>
              <a:rPr lang="zh-CN" altLang="en-US" dirty="0"/>
              <a:t>时有效状态密度函数值</a:t>
            </a:r>
            <a:r>
              <a:rPr lang="en-US" altLang="zh-CN" dirty="0"/>
              <a:t>N</a:t>
            </a:r>
            <a:r>
              <a:rPr lang="en-US" altLang="zh-CN" baseline="-25000" dirty="0"/>
              <a:t>c</a:t>
            </a:r>
            <a:r>
              <a:rPr lang="en-US" altLang="zh-CN" dirty="0"/>
              <a:t>=2.5×10</a:t>
            </a:r>
            <a:r>
              <a:rPr lang="en-US" altLang="zh-CN" baseline="30000" dirty="0"/>
              <a:t>19</a:t>
            </a:r>
            <a:r>
              <a:rPr lang="en-US" altLang="zh-CN" dirty="0"/>
              <a:t>cm</a:t>
            </a:r>
            <a:r>
              <a:rPr lang="en-US" altLang="zh-CN" baseline="30000" dirty="0"/>
              <a:t>-3</a:t>
            </a:r>
            <a:r>
              <a:rPr lang="zh-CN" altLang="en-US" dirty="0"/>
              <a:t>，这是大多数半导体中</a:t>
            </a:r>
            <a:r>
              <a:rPr lang="en-US" altLang="zh-CN" dirty="0"/>
              <a:t>N</a:t>
            </a:r>
            <a:r>
              <a:rPr lang="en-US" altLang="zh-CN" baseline="-25000" dirty="0"/>
              <a:t>c</a:t>
            </a:r>
            <a:r>
              <a:rPr lang="zh-CN" altLang="en-US" dirty="0"/>
              <a:t>的数量级。如果电子的有效质量大于或小于</a:t>
            </a:r>
            <a:r>
              <a:rPr lang="en-US" altLang="zh-CN" dirty="0"/>
              <a:t>m</a:t>
            </a:r>
            <a:r>
              <a:rPr lang="en-US" altLang="zh-CN" baseline="-25000" dirty="0"/>
              <a:t>0</a:t>
            </a:r>
            <a:r>
              <a:rPr lang="zh-CN" altLang="en-US" dirty="0"/>
              <a:t>，这有效状态密度函数值</a:t>
            </a:r>
            <a:r>
              <a:rPr lang="en-US" altLang="zh-CN" dirty="0"/>
              <a:t>N</a:t>
            </a:r>
            <a:r>
              <a:rPr lang="en-US" altLang="zh-CN" baseline="-25000" dirty="0"/>
              <a:t>c</a:t>
            </a:r>
            <a:r>
              <a:rPr lang="zh-CN" altLang="en-US" dirty="0"/>
              <a:t>也会相应地变化，但其数量级不变。</a:t>
            </a:r>
          </a:p>
        </p:txBody>
      </p:sp>
    </p:spTree>
    <p:extLst>
      <p:ext uri="{BB962C8B-B14F-4D97-AF65-F5344CB8AC3E}">
        <p14:creationId xmlns:p14="http://schemas.microsoft.com/office/powerpoint/2010/main" val="1184479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A82722A-C973-4113-9157-0AE1D7819A10}"/>
              </a:ext>
            </a:extLst>
          </p:cNvPr>
          <p:cNvSpPr>
            <a:spLocks noGrp="1"/>
          </p:cNvSpPr>
          <p:nvPr>
            <p:ph type="sldNum" sz="quarter" idx="12"/>
          </p:nvPr>
        </p:nvSpPr>
        <p:spPr/>
        <p:txBody>
          <a:bodyPr/>
          <a:lstStyle/>
          <a:p>
            <a:pPr>
              <a:defRPr/>
            </a:pPr>
            <a:fld id="{DB5F2CA6-A39B-48F7-84D1-AF91BD07D67D}" type="slidenum">
              <a:rPr lang="en-US" altLang="zh-CN" smtClean="0"/>
              <a:pPr>
                <a:defRPr/>
              </a:pPr>
              <a:t>8</a:t>
            </a:fld>
            <a:endParaRPr lang="en-US" altLang="zh-CN"/>
          </a:p>
        </p:txBody>
      </p:sp>
      <p:sp>
        <p:nvSpPr>
          <p:cNvPr id="5" name="矩形 4">
            <a:extLst>
              <a:ext uri="{FF2B5EF4-FFF2-40B4-BE49-F238E27FC236}">
                <a16:creationId xmlns:a16="http://schemas.microsoft.com/office/drawing/2014/main" id="{D2A15828-CE32-4C80-BAD1-69C7B08085AE}"/>
              </a:ext>
            </a:extLst>
          </p:cNvPr>
          <p:cNvSpPr/>
          <p:nvPr/>
        </p:nvSpPr>
        <p:spPr>
          <a:xfrm>
            <a:off x="707444" y="3105834"/>
            <a:ext cx="10777117" cy="646331"/>
          </a:xfrm>
          <a:prstGeom prst="rect">
            <a:avLst/>
          </a:prstGeom>
          <a:noFill/>
        </p:spPr>
        <p:txBody>
          <a:bodyPr wrap="none" lIns="91440" tIns="45720" rIns="91440" bIns="45720">
            <a:spAutoFit/>
          </a:bodyPr>
          <a:lstStyle/>
          <a:p>
            <a:pPr algn="ctr"/>
            <a:r>
              <a:rPr lang="zh-CN" altLang="en-US" sz="3600" b="0" cap="none" spc="0" dirty="0">
                <a:ln w="0"/>
                <a:solidFill>
                  <a:srgbClr val="FF0000"/>
                </a:solidFill>
                <a:effectLst>
                  <a:outerShdw blurRad="38100" dist="19050" dir="2700000" algn="tl" rotWithShape="0">
                    <a:schemeClr val="dk1">
                      <a:alpha val="40000"/>
                    </a:schemeClr>
                  </a:outerShdw>
                </a:effectLst>
              </a:rPr>
              <a:t>备注：本</a:t>
            </a:r>
            <a:r>
              <a:rPr lang="en-US" altLang="zh-CN" sz="3600" b="0" cap="none" spc="0" dirty="0">
                <a:ln w="0"/>
                <a:solidFill>
                  <a:srgbClr val="FF0000"/>
                </a:solidFill>
                <a:effectLst>
                  <a:outerShdw blurRad="38100" dist="19050" dir="2700000" algn="tl" rotWithShape="0">
                    <a:schemeClr val="dk1">
                      <a:alpha val="40000"/>
                    </a:schemeClr>
                  </a:outerShdw>
                </a:effectLst>
              </a:rPr>
              <a:t>ppt</a:t>
            </a:r>
            <a:r>
              <a:rPr lang="zh-CN" altLang="en-US" sz="3600" b="0" cap="none" spc="0" dirty="0">
                <a:ln w="0"/>
                <a:solidFill>
                  <a:srgbClr val="FF0000"/>
                </a:solidFill>
                <a:effectLst>
                  <a:outerShdw blurRad="38100" dist="19050" dir="2700000" algn="tl" rotWithShape="0">
                    <a:schemeClr val="dk1">
                      <a:alpha val="40000"/>
                    </a:schemeClr>
                  </a:outerShdw>
                </a:effectLst>
              </a:rPr>
              <a:t>公式输入使用</a:t>
            </a:r>
            <a:r>
              <a:rPr lang="en-US" altLang="zh-CN" sz="3600" b="0" cap="none" spc="0" dirty="0" err="1">
                <a:ln w="0"/>
                <a:solidFill>
                  <a:srgbClr val="FF0000"/>
                </a:solidFill>
                <a:effectLst>
                  <a:outerShdw blurRad="38100" dist="19050" dir="2700000" algn="tl" rotWithShape="0">
                    <a:schemeClr val="dk1">
                      <a:alpha val="40000"/>
                    </a:schemeClr>
                  </a:outerShdw>
                </a:effectLst>
              </a:rPr>
              <a:t>MathType</a:t>
            </a:r>
            <a:r>
              <a:rPr lang="zh-CN" altLang="en-US" sz="3600" b="0" cap="none" spc="0" dirty="0">
                <a:ln w="0"/>
                <a:solidFill>
                  <a:srgbClr val="FF0000"/>
                </a:solidFill>
                <a:effectLst>
                  <a:outerShdw blurRad="38100" dist="19050" dir="2700000" algn="tl" rotWithShape="0">
                    <a:schemeClr val="dk1">
                      <a:alpha val="40000"/>
                    </a:schemeClr>
                  </a:outerShdw>
                </a:effectLst>
              </a:rPr>
              <a:t>，作图来源课本</a:t>
            </a:r>
          </a:p>
        </p:txBody>
      </p:sp>
    </p:spTree>
    <p:extLst>
      <p:ext uri="{BB962C8B-B14F-4D97-AF65-F5344CB8AC3E}">
        <p14:creationId xmlns:p14="http://schemas.microsoft.com/office/powerpoint/2010/main" val="2318492594"/>
      </p:ext>
    </p:extLst>
  </p:cSld>
  <p:clrMapOvr>
    <a:masterClrMapping/>
  </p:clrMapOvr>
</p:sld>
</file>

<file path=ppt/theme/theme1.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3035</TotalTime>
  <Words>1101</Words>
  <Application>Microsoft Office PowerPoint</Application>
  <PresentationFormat>宽屏</PresentationFormat>
  <Paragraphs>51</Paragraphs>
  <Slides>8</Slides>
  <Notes>0</Notes>
  <HiddenSlides>0</HiddenSlides>
  <MMClips>0</MMClips>
  <ScaleCrop>false</ScaleCrop>
  <HeadingPairs>
    <vt:vector size="8" baseType="variant">
      <vt:variant>
        <vt:lpstr>已用的字体</vt:lpstr>
      </vt:variant>
      <vt:variant>
        <vt:i4>2</vt:i4>
      </vt:variant>
      <vt:variant>
        <vt:lpstr>主题</vt:lpstr>
      </vt:variant>
      <vt:variant>
        <vt:i4>1</vt:i4>
      </vt:variant>
      <vt:variant>
        <vt:lpstr>嵌入 OLE 服务器</vt:lpstr>
      </vt:variant>
      <vt:variant>
        <vt:i4>1</vt:i4>
      </vt:variant>
      <vt:variant>
        <vt:lpstr>幻灯片标题</vt:lpstr>
      </vt:variant>
      <vt:variant>
        <vt:i4>8</vt:i4>
      </vt:variant>
    </vt:vector>
  </HeadingPairs>
  <TitlesOfParts>
    <vt:vector size="12" baseType="lpstr">
      <vt:lpstr>等线</vt:lpstr>
      <vt:lpstr>Times New Roman</vt:lpstr>
      <vt:lpstr>1_默认设计模板</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 Y</dc:creator>
  <cp:lastModifiedBy>LF Kristin</cp:lastModifiedBy>
  <cp:revision>287</cp:revision>
  <dcterms:created xsi:type="dcterms:W3CDTF">2020-08-13T13:39:53Z</dcterms:created>
  <dcterms:modified xsi:type="dcterms:W3CDTF">2024-12-29T10:01:26Z</dcterms:modified>
</cp:coreProperties>
</file>