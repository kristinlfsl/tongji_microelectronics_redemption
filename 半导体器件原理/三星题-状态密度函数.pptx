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9"/>
  </p:notesMasterIdLst>
  <p:handoutMasterIdLst>
    <p:handoutMasterId r:id="rId10"/>
  </p:handoutMasterIdLst>
  <p:sldIdLst>
    <p:sldId id="1232" r:id="rId2"/>
    <p:sldId id="1233" r:id="rId3"/>
    <p:sldId id="1234" r:id="rId4"/>
    <p:sldId id="1235" r:id="rId5"/>
    <p:sldId id="1236" r:id="rId6"/>
    <p:sldId id="1237" r:id="rId7"/>
    <p:sldId id="1238"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rry" initials="L" lastIdx="1" clrIdx="0">
    <p:extLst>
      <p:ext uri="{19B8F6BF-5375-455C-9EA6-DF929625EA0E}">
        <p15:presenceInfo xmlns:p15="http://schemas.microsoft.com/office/powerpoint/2012/main" userId="Larry" providerId="None"/>
      </p:ext>
    </p:extLst>
  </p:cmAuthor>
  <p:cmAuthor id="2" name="AW" initials="A" lastIdx="2" clrIdx="1">
    <p:extLst>
      <p:ext uri="{19B8F6BF-5375-455C-9EA6-DF929625EA0E}">
        <p15:presenceInfo xmlns:p15="http://schemas.microsoft.com/office/powerpoint/2012/main" userId="3a9c846bd157d73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44" autoAdjust="0"/>
    <p:restoredTop sz="90941" autoAdjust="0"/>
  </p:normalViewPr>
  <p:slideViewPr>
    <p:cSldViewPr snapToGrid="0">
      <p:cViewPr varScale="1">
        <p:scale>
          <a:sx n="74" d="100"/>
          <a:sy n="74" d="100"/>
        </p:scale>
        <p:origin x="466"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73CF0A4-E610-495A-919B-CA480C71DE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A700D9AB-51EC-4401-AC4D-6157E0C759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8BE80A-4039-40DC-A2BA-410E82E5F961}" type="datetimeFigureOut">
              <a:rPr lang="zh-CN" altLang="en-US" smtClean="0"/>
              <a:t>2024/12/29</a:t>
            </a:fld>
            <a:endParaRPr lang="zh-CN" altLang="en-US"/>
          </a:p>
        </p:txBody>
      </p:sp>
      <p:sp>
        <p:nvSpPr>
          <p:cNvPr id="4" name="页脚占位符 3">
            <a:extLst>
              <a:ext uri="{FF2B5EF4-FFF2-40B4-BE49-F238E27FC236}">
                <a16:creationId xmlns:a16="http://schemas.microsoft.com/office/drawing/2014/main" id="{C022726D-C38F-45D2-9673-CCF05BC1E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F10E6D5-A087-490B-BC7C-33021FE63D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38A59E-43ED-4AA1-B0F5-93878C5DD5EC}" type="slidenum">
              <a:rPr lang="zh-CN" altLang="en-US" smtClean="0"/>
              <a:t>‹#›</a:t>
            </a:fld>
            <a:endParaRPr lang="zh-CN" altLang="en-US"/>
          </a:p>
        </p:txBody>
      </p:sp>
    </p:spTree>
    <p:extLst>
      <p:ext uri="{BB962C8B-B14F-4D97-AF65-F5344CB8AC3E}">
        <p14:creationId xmlns:p14="http://schemas.microsoft.com/office/powerpoint/2010/main" val="40938161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4E512-F0DE-40DA-A281-500184A3244D}" type="datetimeFigureOut">
              <a:rPr lang="zh-CN" altLang="en-US" smtClean="0"/>
              <a:t>2024/12/29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90452-1689-4497-A9A0-B842EEA687A2}" type="slidenum">
              <a:rPr lang="zh-CN" altLang="en-US" smtClean="0"/>
              <a:t>‹#›</a:t>
            </a:fld>
            <a:endParaRPr lang="zh-CN" altLang="en-US"/>
          </a:p>
        </p:txBody>
      </p:sp>
    </p:spTree>
    <p:extLst>
      <p:ext uri="{BB962C8B-B14F-4D97-AF65-F5344CB8AC3E}">
        <p14:creationId xmlns:p14="http://schemas.microsoft.com/office/powerpoint/2010/main" val="2462755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E115B22-8194-4FC8-9614-86C592EEABA0}" type="slidenum">
              <a:rPr lang="en-US" altLang="zh-CN"/>
              <a:pPr>
                <a:defRPr/>
              </a:pPr>
              <a:t>‹#›</a:t>
            </a:fld>
            <a:endParaRPr lang="en-US" altLang="zh-CN"/>
          </a:p>
        </p:txBody>
      </p:sp>
    </p:spTree>
    <p:extLst>
      <p:ext uri="{BB962C8B-B14F-4D97-AF65-F5344CB8AC3E}">
        <p14:creationId xmlns:p14="http://schemas.microsoft.com/office/powerpoint/2010/main" val="4146460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B5F2CA6-A39B-48F7-84D1-AF91BD07D67D}" type="slidenum">
              <a:rPr lang="en-US" altLang="zh-CN"/>
              <a:pPr>
                <a:defRPr/>
              </a:pPr>
              <a:t>‹#›</a:t>
            </a:fld>
            <a:endParaRPr lang="en-US" altLang="zh-CN"/>
          </a:p>
        </p:txBody>
      </p:sp>
    </p:spTree>
    <p:extLst>
      <p:ext uri="{BB962C8B-B14F-4D97-AF65-F5344CB8AC3E}">
        <p14:creationId xmlns:p14="http://schemas.microsoft.com/office/powerpoint/2010/main" val="1418223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AC41597-7941-4461-A03D-7D307C3317F5}" type="slidenum">
              <a:rPr lang="en-US" altLang="zh-CN"/>
              <a:pPr>
                <a:defRPr/>
              </a:pPr>
              <a:t>‹#›</a:t>
            </a:fld>
            <a:endParaRPr lang="en-US" altLang="zh-CN"/>
          </a:p>
        </p:txBody>
      </p:sp>
    </p:spTree>
    <p:extLst>
      <p:ext uri="{BB962C8B-B14F-4D97-AF65-F5344CB8AC3E}">
        <p14:creationId xmlns:p14="http://schemas.microsoft.com/office/powerpoint/2010/main" val="1967330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E7E5104-8735-46A8-9820-8BD5C44B645E}" type="slidenum">
              <a:rPr lang="en-US" altLang="zh-CN"/>
              <a:pPr>
                <a:defRPr/>
              </a:pPr>
              <a:t>‹#›</a:t>
            </a:fld>
            <a:endParaRPr lang="en-US" altLang="zh-CN"/>
          </a:p>
        </p:txBody>
      </p:sp>
    </p:spTree>
    <p:extLst>
      <p:ext uri="{BB962C8B-B14F-4D97-AF65-F5344CB8AC3E}">
        <p14:creationId xmlns:p14="http://schemas.microsoft.com/office/powerpoint/2010/main" val="109903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C8BB04D0-EC69-4E34-9026-1132273F6FE6}" type="slidenum">
              <a:rPr lang="en-US" altLang="zh-CN"/>
              <a:pPr>
                <a:defRPr/>
              </a:pPr>
              <a:t>‹#›</a:t>
            </a:fld>
            <a:endParaRPr lang="en-US" altLang="zh-CN"/>
          </a:p>
        </p:txBody>
      </p:sp>
    </p:spTree>
    <p:extLst>
      <p:ext uri="{BB962C8B-B14F-4D97-AF65-F5344CB8AC3E}">
        <p14:creationId xmlns:p14="http://schemas.microsoft.com/office/powerpoint/2010/main" val="2959773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F34D7FE-E00D-4DCA-A0A7-A306174DC0C2}" type="slidenum">
              <a:rPr lang="en-US" altLang="zh-CN"/>
              <a:pPr>
                <a:defRPr/>
              </a:pPr>
              <a:t>‹#›</a:t>
            </a:fld>
            <a:endParaRPr lang="en-US" altLang="zh-CN"/>
          </a:p>
        </p:txBody>
      </p:sp>
    </p:spTree>
    <p:extLst>
      <p:ext uri="{BB962C8B-B14F-4D97-AF65-F5344CB8AC3E}">
        <p14:creationId xmlns:p14="http://schemas.microsoft.com/office/powerpoint/2010/main" val="873834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FE46EFE-F103-4F45-8883-0DE6C66B1B8E}" type="slidenum">
              <a:rPr lang="en-US" altLang="zh-CN"/>
              <a:pPr>
                <a:defRPr/>
              </a:pPr>
              <a:t>‹#›</a:t>
            </a:fld>
            <a:endParaRPr lang="en-US" altLang="zh-CN"/>
          </a:p>
        </p:txBody>
      </p:sp>
    </p:spTree>
    <p:extLst>
      <p:ext uri="{BB962C8B-B14F-4D97-AF65-F5344CB8AC3E}">
        <p14:creationId xmlns:p14="http://schemas.microsoft.com/office/powerpoint/2010/main" val="146858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675AF18-52E2-4048-A908-642605843CBF}" type="slidenum">
              <a:rPr lang="en-US" altLang="zh-CN"/>
              <a:pPr>
                <a:defRPr/>
              </a:pPr>
              <a:t>‹#›</a:t>
            </a:fld>
            <a:endParaRPr lang="en-US" altLang="zh-CN"/>
          </a:p>
        </p:txBody>
      </p:sp>
    </p:spTree>
    <p:extLst>
      <p:ext uri="{BB962C8B-B14F-4D97-AF65-F5344CB8AC3E}">
        <p14:creationId xmlns:p14="http://schemas.microsoft.com/office/powerpoint/2010/main" val="285115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72A61F9-4BE0-4887-A67C-4D288CA56997}" type="slidenum">
              <a:rPr lang="en-US" altLang="zh-CN"/>
              <a:pPr>
                <a:defRPr/>
              </a:pPr>
              <a:t>‹#›</a:t>
            </a:fld>
            <a:endParaRPr lang="en-US" altLang="zh-CN"/>
          </a:p>
        </p:txBody>
      </p:sp>
    </p:spTree>
    <p:extLst>
      <p:ext uri="{BB962C8B-B14F-4D97-AF65-F5344CB8AC3E}">
        <p14:creationId xmlns:p14="http://schemas.microsoft.com/office/powerpoint/2010/main" val="70273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37B2B09-852B-4EAA-A08A-0953A9F63347}" type="slidenum">
              <a:rPr lang="en-US" altLang="zh-CN"/>
              <a:pPr>
                <a:defRPr/>
              </a:pPr>
              <a:t>‹#›</a:t>
            </a:fld>
            <a:endParaRPr lang="en-US" altLang="zh-CN"/>
          </a:p>
        </p:txBody>
      </p:sp>
    </p:spTree>
    <p:extLst>
      <p:ext uri="{BB962C8B-B14F-4D97-AF65-F5344CB8AC3E}">
        <p14:creationId xmlns:p14="http://schemas.microsoft.com/office/powerpoint/2010/main" val="1354775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61CDC42-DFEF-458F-BD1B-2EFAEEF68015}" type="slidenum">
              <a:rPr lang="en-US" altLang="zh-CN"/>
              <a:pPr>
                <a:defRPr/>
              </a:pPr>
              <a:t>‹#›</a:t>
            </a:fld>
            <a:endParaRPr lang="en-US" altLang="zh-CN"/>
          </a:p>
        </p:txBody>
      </p:sp>
    </p:spTree>
    <p:extLst>
      <p:ext uri="{BB962C8B-B14F-4D97-AF65-F5344CB8AC3E}">
        <p14:creationId xmlns:p14="http://schemas.microsoft.com/office/powerpoint/2010/main" val="250005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FF534AEE-0681-4001-91D8-DF8F111160F4}" type="slidenum">
              <a:rPr lang="en-US" altLang="zh-CN"/>
              <a:pPr>
                <a:defRPr/>
              </a:pPr>
              <a:t>‹#›</a:t>
            </a:fld>
            <a:endParaRPr lang="en-US" altLang="zh-CN"/>
          </a:p>
        </p:txBody>
      </p:sp>
      <p:pic>
        <p:nvPicPr>
          <p:cNvPr id="7" name="Picture 2">
            <a:extLst>
              <a:ext uri="{FF2B5EF4-FFF2-40B4-BE49-F238E27FC236}">
                <a16:creationId xmlns:a16="http://schemas.microsoft.com/office/drawing/2014/main" id="{D90EEA7F-39F9-4B97-AF58-835331598C9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762268" y="5786"/>
            <a:ext cx="1183064" cy="1183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80654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 Id="rId9" Type="http://schemas.openxmlformats.org/officeDocument/2006/relationships/image" Target="../media/image5.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7.wmf"/><Relationship Id="rId4" Type="http://schemas.openxmlformats.org/officeDocument/2006/relationships/oleObject" Target="../embeddings/oleObject6.bin"/><Relationship Id="rId9" Type="http://schemas.openxmlformats.org/officeDocument/2006/relationships/image" Target="../media/image9.wmf"/></Relationships>
</file>

<file path=ppt/slides/_rels/slide4.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10.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2.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7.wmf"/><Relationship Id="rId12" Type="http://schemas.openxmlformats.org/officeDocument/2006/relationships/oleObject" Target="../embeddings/oleObject18.bin"/><Relationship Id="rId17" Type="http://schemas.openxmlformats.org/officeDocument/2006/relationships/image" Target="../media/image22.wmf"/><Relationship Id="rId2" Type="http://schemas.openxmlformats.org/officeDocument/2006/relationships/oleObject" Target="../embeddings/oleObject13.bin"/><Relationship Id="rId16"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15.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21.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18.wmf"/><Relationship Id="rId14" Type="http://schemas.openxmlformats.org/officeDocument/2006/relationships/oleObject" Target="../embeddings/oleObject19.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28.wmf"/><Relationship Id="rId3" Type="http://schemas.openxmlformats.org/officeDocument/2006/relationships/image" Target="../media/image23.wmf"/><Relationship Id="rId7" Type="http://schemas.openxmlformats.org/officeDocument/2006/relationships/image" Target="../media/image25.wmf"/><Relationship Id="rId12" Type="http://schemas.openxmlformats.org/officeDocument/2006/relationships/oleObject" Target="../embeddings/oleObject26.bin"/><Relationship Id="rId17" Type="http://schemas.openxmlformats.org/officeDocument/2006/relationships/image" Target="../media/image30.wmf"/><Relationship Id="rId2" Type="http://schemas.openxmlformats.org/officeDocument/2006/relationships/oleObject" Target="../embeddings/oleObject21.bin"/><Relationship Id="rId16"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23.bin"/><Relationship Id="rId11" Type="http://schemas.openxmlformats.org/officeDocument/2006/relationships/image" Target="../media/image27.wmf"/><Relationship Id="rId5" Type="http://schemas.openxmlformats.org/officeDocument/2006/relationships/image" Target="../media/image24.wmf"/><Relationship Id="rId15" Type="http://schemas.openxmlformats.org/officeDocument/2006/relationships/image" Target="../media/image29.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26.wmf"/><Relationship Id="rId14" Type="http://schemas.openxmlformats.org/officeDocument/2006/relationships/oleObject" Target="../embeddings/oleObject27.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BD095E2-5873-46A8-B8F7-078AF9511F47}"/>
              </a:ext>
            </a:extLst>
          </p:cNvPr>
          <p:cNvSpPr/>
          <p:nvPr/>
        </p:nvSpPr>
        <p:spPr>
          <a:xfrm>
            <a:off x="4618672" y="2136063"/>
            <a:ext cx="2954656" cy="646331"/>
          </a:xfrm>
          <a:prstGeom prst="rect">
            <a:avLst/>
          </a:prstGeom>
          <a:noFill/>
        </p:spPr>
        <p:txBody>
          <a:bodyPr wrap="none" lIns="91440" tIns="45720" rIns="91440" bIns="45720">
            <a:spAutoFit/>
          </a:bodyPr>
          <a:lstStyle/>
          <a:p>
            <a:pPr algn="ctr"/>
            <a:r>
              <a:rPr lang="zh-CN" altLang="en-US" sz="3600" dirty="0">
                <a:ln w="0"/>
                <a:effectLst>
                  <a:outerShdw blurRad="38100" dist="19050" dir="2700000" algn="tl" rotWithShape="0">
                    <a:schemeClr val="dk1">
                      <a:alpha val="40000"/>
                    </a:schemeClr>
                  </a:outerShdw>
                </a:effectLst>
              </a:rPr>
              <a:t>状态密度函数</a:t>
            </a:r>
            <a:endParaRPr lang="en-US" altLang="zh-CN" sz="3600" dirty="0">
              <a:ln w="0"/>
              <a:effectLst>
                <a:outerShdw blurRad="38100" dist="19050" dir="2700000" algn="tl" rotWithShape="0">
                  <a:schemeClr val="dk1">
                    <a:alpha val="40000"/>
                  </a:schemeClr>
                </a:outerShdw>
              </a:effectLst>
            </a:endParaRPr>
          </a:p>
        </p:txBody>
      </p:sp>
      <p:sp>
        <p:nvSpPr>
          <p:cNvPr id="5" name="矩形 4">
            <a:extLst>
              <a:ext uri="{FF2B5EF4-FFF2-40B4-BE49-F238E27FC236}">
                <a16:creationId xmlns:a16="http://schemas.microsoft.com/office/drawing/2014/main" id="{E8DA0312-2E5E-4D35-B163-BF59B81B426E}"/>
              </a:ext>
            </a:extLst>
          </p:cNvPr>
          <p:cNvSpPr/>
          <p:nvPr/>
        </p:nvSpPr>
        <p:spPr>
          <a:xfrm>
            <a:off x="4791796" y="3245657"/>
            <a:ext cx="2178802" cy="1815882"/>
          </a:xfrm>
          <a:prstGeom prst="rect">
            <a:avLst/>
          </a:prstGeom>
          <a:noFill/>
        </p:spPr>
        <p:txBody>
          <a:bodyPr wrap="none" lIns="91440" tIns="45720" rIns="91440" bIns="45720">
            <a:spAutoFit/>
          </a:bodyPr>
          <a:lstStyle/>
          <a:p>
            <a:r>
              <a:rPr lang="zh-CN" altLang="en-US" sz="2800" b="0" cap="none" spc="0" dirty="0">
                <a:ln w="0"/>
                <a:solidFill>
                  <a:schemeClr val="tx1"/>
                </a:solidFill>
                <a:effectLst>
                  <a:outerShdw blurRad="38100" dist="19050" dir="2700000" algn="tl" rotWithShape="0">
                    <a:schemeClr val="dk1">
                      <a:alpha val="40000"/>
                    </a:schemeClr>
                  </a:outerShdw>
                </a:effectLst>
              </a:rPr>
              <a:t>姓名：</a:t>
            </a:r>
            <a:endParaRPr lang="en-US" altLang="zh-CN" sz="2800" b="0" cap="none" spc="0" dirty="0">
              <a:ln w="0"/>
              <a:solidFill>
                <a:schemeClr val="tx1"/>
              </a:solidFill>
              <a:effectLst>
                <a:outerShdw blurRad="38100" dist="19050" dir="2700000" algn="tl" rotWithShape="0">
                  <a:schemeClr val="dk1">
                    <a:alpha val="40000"/>
                  </a:schemeClr>
                </a:outerShdw>
              </a:effectLst>
            </a:endParaRPr>
          </a:p>
          <a:p>
            <a:r>
              <a:rPr lang="zh-CN" altLang="en-US" sz="2800" dirty="0">
                <a:ln w="0"/>
                <a:effectLst>
                  <a:outerShdw blurRad="38100" dist="19050" dir="2700000" algn="tl" rotWithShape="0">
                    <a:schemeClr val="dk1">
                      <a:alpha val="40000"/>
                    </a:schemeClr>
                  </a:outerShdw>
                </a:effectLst>
              </a:rPr>
              <a:t>学号：</a:t>
            </a:r>
            <a:endParaRPr lang="en-US" altLang="zh-CN" sz="2800" dirty="0">
              <a:ln w="0"/>
              <a:effectLst>
                <a:outerShdw blurRad="38100" dist="19050" dir="2700000" algn="tl" rotWithShape="0">
                  <a:schemeClr val="dk1">
                    <a:alpha val="40000"/>
                  </a:schemeClr>
                </a:outerShdw>
              </a:effectLst>
            </a:endParaRPr>
          </a:p>
          <a:p>
            <a:r>
              <a:rPr lang="zh-CN" altLang="en-US" sz="2800" b="0" cap="none" spc="0" dirty="0">
                <a:ln w="0"/>
                <a:solidFill>
                  <a:schemeClr val="tx1"/>
                </a:solidFill>
                <a:effectLst>
                  <a:outerShdw blurRad="38100" dist="19050" dir="2700000" algn="tl" rotWithShape="0">
                    <a:schemeClr val="dk1">
                      <a:alpha val="40000"/>
                    </a:schemeClr>
                  </a:outerShdw>
                </a:effectLst>
              </a:rPr>
              <a:t>自评：</a:t>
            </a:r>
            <a:r>
              <a:rPr lang="en-US" altLang="zh-CN" sz="2800" b="0" cap="none" spc="0" dirty="0">
                <a:ln w="0"/>
                <a:solidFill>
                  <a:schemeClr val="tx1"/>
                </a:solidFill>
                <a:effectLst>
                  <a:outerShdw blurRad="38100" dist="19050" dir="2700000" algn="tl" rotWithShape="0">
                    <a:schemeClr val="dk1">
                      <a:alpha val="40000"/>
                    </a:schemeClr>
                  </a:outerShdw>
                </a:effectLst>
              </a:rPr>
              <a:t>8.5/1</a:t>
            </a:r>
            <a:r>
              <a:rPr lang="en-US" altLang="zh-CN" sz="2800" dirty="0">
                <a:ln w="0"/>
                <a:effectLst>
                  <a:outerShdw blurRad="38100" dist="19050" dir="2700000" algn="tl" rotWithShape="0">
                    <a:schemeClr val="dk1">
                      <a:alpha val="40000"/>
                    </a:schemeClr>
                  </a:outerShdw>
                </a:effectLst>
              </a:rPr>
              <a:t>0</a:t>
            </a:r>
          </a:p>
          <a:p>
            <a:r>
              <a:rPr lang="zh-CN" altLang="en-US" sz="2800" b="0" cap="none" spc="0">
                <a:ln w="0"/>
                <a:solidFill>
                  <a:schemeClr val="tx1"/>
                </a:solidFill>
                <a:effectLst>
                  <a:outerShdw blurRad="38100" dist="19050" dir="2700000" algn="tl" rotWithShape="0">
                    <a:schemeClr val="dk1">
                      <a:alpha val="40000"/>
                    </a:schemeClr>
                  </a:outerShdw>
                </a:effectLst>
              </a:rPr>
              <a:t>时间：</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9" name="灯片编号占位符 8">
            <a:extLst>
              <a:ext uri="{FF2B5EF4-FFF2-40B4-BE49-F238E27FC236}">
                <a16:creationId xmlns:a16="http://schemas.microsoft.com/office/drawing/2014/main" id="{3D31EF5B-60C8-4BAE-BF23-75CAA65BBB11}"/>
              </a:ext>
            </a:extLst>
          </p:cNvPr>
          <p:cNvSpPr>
            <a:spLocks noGrp="1"/>
          </p:cNvSpPr>
          <p:nvPr>
            <p:ph type="sldNum" sz="quarter" idx="12"/>
          </p:nvPr>
        </p:nvSpPr>
        <p:spPr/>
        <p:txBody>
          <a:bodyPr/>
          <a:lstStyle/>
          <a:p>
            <a:pPr>
              <a:defRPr/>
            </a:pPr>
            <a:fld id="{7E115B22-8194-4FC8-9614-86C592EEABA0}" type="slidenum">
              <a:rPr lang="en-US" altLang="zh-CN" smtClean="0"/>
              <a:pPr>
                <a:defRPr/>
              </a:pPr>
              <a:t>1</a:t>
            </a:fld>
            <a:endParaRPr lang="en-US" altLang="zh-CN"/>
          </a:p>
        </p:txBody>
      </p:sp>
    </p:spTree>
    <p:extLst>
      <p:ext uri="{BB962C8B-B14F-4D97-AF65-F5344CB8AC3E}">
        <p14:creationId xmlns:p14="http://schemas.microsoft.com/office/powerpoint/2010/main" val="75989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77B0320-E97C-4F1E-B1AA-D87C8D592135}"/>
              </a:ext>
            </a:extLst>
          </p:cNvPr>
          <p:cNvSpPr>
            <a:spLocks noGrp="1"/>
          </p:cNvSpPr>
          <p:nvPr>
            <p:ph type="sldNum" sz="quarter" idx="12"/>
          </p:nvPr>
        </p:nvSpPr>
        <p:spPr/>
        <p:txBody>
          <a:bodyPr/>
          <a:lstStyle/>
          <a:p>
            <a:pPr>
              <a:defRPr/>
            </a:pPr>
            <a:fld id="{DB5F2CA6-A39B-48F7-84D1-AF91BD07D67D}" type="slidenum">
              <a:rPr lang="en-US" altLang="zh-CN" smtClean="0"/>
              <a:pPr>
                <a:defRPr/>
              </a:pPr>
              <a:t>2</a:t>
            </a:fld>
            <a:endParaRPr lang="en-US" altLang="zh-CN" dirty="0"/>
          </a:p>
        </p:txBody>
      </p:sp>
      <p:sp>
        <p:nvSpPr>
          <p:cNvPr id="5" name="矩形 4">
            <a:extLst>
              <a:ext uri="{FF2B5EF4-FFF2-40B4-BE49-F238E27FC236}">
                <a16:creationId xmlns:a16="http://schemas.microsoft.com/office/drawing/2014/main" id="{C7A6A22C-93BB-4360-8613-43F97EC8077A}"/>
              </a:ext>
            </a:extLst>
          </p:cNvPr>
          <p:cNvSpPr/>
          <p:nvPr/>
        </p:nvSpPr>
        <p:spPr>
          <a:xfrm>
            <a:off x="593440" y="442344"/>
            <a:ext cx="2339102" cy="523220"/>
          </a:xfrm>
          <a:prstGeom prst="rect">
            <a:avLst/>
          </a:prstGeom>
          <a:noFill/>
        </p:spPr>
        <p:txBody>
          <a:bodyPr wrap="none" lIns="91440" tIns="45720" rIns="91440" bIns="45720">
            <a:spAutoFit/>
          </a:bodyPr>
          <a:lstStyle/>
          <a:p>
            <a:pPr algn="ctr"/>
            <a:r>
              <a:rPr lang="zh-CN" altLang="en-US" sz="2800" dirty="0">
                <a:ln w="0"/>
                <a:effectLst>
                  <a:outerShdw blurRad="38100" dist="19050" dir="2700000" algn="tl" rotWithShape="0">
                    <a:schemeClr val="dk1">
                      <a:alpha val="40000"/>
                    </a:schemeClr>
                  </a:outerShdw>
                </a:effectLst>
              </a:rPr>
              <a:t>状态密度函数</a:t>
            </a:r>
            <a:endParaRPr lang="en-US" altLang="zh-CN" sz="2800" dirty="0">
              <a:ln w="0"/>
              <a:effectLst>
                <a:outerShdw blurRad="38100" dist="19050" dir="2700000" algn="tl" rotWithShape="0">
                  <a:schemeClr val="dk1">
                    <a:alpha val="40000"/>
                  </a:schemeClr>
                </a:outerShdw>
              </a:effectLst>
            </a:endParaRPr>
          </a:p>
        </p:txBody>
      </p:sp>
      <p:sp>
        <p:nvSpPr>
          <p:cNvPr id="6" name="文本框 5">
            <a:extLst>
              <a:ext uri="{FF2B5EF4-FFF2-40B4-BE49-F238E27FC236}">
                <a16:creationId xmlns:a16="http://schemas.microsoft.com/office/drawing/2014/main" id="{ECAAEEEB-F622-42B4-BE4F-3DCCCE0171C2}"/>
              </a:ext>
            </a:extLst>
          </p:cNvPr>
          <p:cNvSpPr txBox="1"/>
          <p:nvPr/>
        </p:nvSpPr>
        <p:spPr>
          <a:xfrm>
            <a:off x="593440" y="1102415"/>
            <a:ext cx="10546773" cy="2308324"/>
          </a:xfrm>
          <a:prstGeom prst="rect">
            <a:avLst/>
          </a:prstGeom>
          <a:noFill/>
        </p:spPr>
        <p:txBody>
          <a:bodyPr wrap="square" rtlCol="0">
            <a:spAutoFit/>
          </a:bodyPr>
          <a:lstStyle/>
          <a:p>
            <a:pPr algn="just"/>
            <a:r>
              <a:rPr lang="zh-CN" altLang="en-US" dirty="0"/>
              <a:t>       在研究物质的电子性质时，我们不仅需要知道在给定温度下电子占据某个能级的可能性，也就是</a:t>
            </a:r>
            <a:r>
              <a:rPr lang="zh-CN" altLang="en-US" dirty="0">
                <a:solidFill>
                  <a:srgbClr val="FF0000"/>
                </a:solidFill>
              </a:rPr>
              <a:t>费米</a:t>
            </a:r>
            <a:r>
              <a:rPr lang="en-US" altLang="zh-CN" dirty="0">
                <a:solidFill>
                  <a:srgbClr val="FF0000"/>
                </a:solidFill>
              </a:rPr>
              <a:t>-</a:t>
            </a:r>
            <a:r>
              <a:rPr lang="zh-CN" altLang="en-US" dirty="0">
                <a:solidFill>
                  <a:srgbClr val="FF0000"/>
                </a:solidFill>
              </a:rPr>
              <a:t>狄拉克分布</a:t>
            </a:r>
            <a:r>
              <a:rPr lang="zh-CN" altLang="en-US" dirty="0"/>
              <a:t>，还需要知道在特定能量范围内有多少</a:t>
            </a:r>
            <a:r>
              <a:rPr lang="zh-CN" altLang="en-US" dirty="0">
                <a:solidFill>
                  <a:srgbClr val="FF0000"/>
                </a:solidFill>
              </a:rPr>
              <a:t>可占据的电子状态</a:t>
            </a:r>
            <a:r>
              <a:rPr lang="zh-CN" altLang="en-US" dirty="0"/>
              <a:t>。这就引入了状态密度函数的概念。状态密度函数描述了在每个能量级上有多少电子状态可供占据。它是半导体物理中的一个关键参数，对于理解和计算许多电子性质（如电导率、热容等）非常重要。</a:t>
            </a:r>
            <a:endParaRPr lang="en-US" altLang="zh-CN" dirty="0"/>
          </a:p>
          <a:p>
            <a:pPr algn="just"/>
            <a:r>
              <a:rPr lang="zh-CN" altLang="en-US" dirty="0"/>
              <a:t>        根据</a:t>
            </a:r>
            <a:r>
              <a:rPr lang="zh-CN" altLang="en-US" dirty="0">
                <a:solidFill>
                  <a:srgbClr val="FF0000"/>
                </a:solidFill>
              </a:rPr>
              <a:t>泡利不相容原理</a:t>
            </a:r>
            <a:r>
              <a:rPr lang="zh-CN" altLang="en-US" dirty="0"/>
              <a:t>，一个状态只能被一个电子所占据</a:t>
            </a:r>
            <a:r>
              <a:rPr lang="en-US" altLang="zh-CN" dirty="0"/>
              <a:t>,</a:t>
            </a:r>
            <a:r>
              <a:rPr lang="zh-CN" altLang="en-US" dirty="0"/>
              <a:t>于是对导电过程起作用的载流子的数量就变成了有效能量或量子状态数量的函数。在我们讨论能级分裂为允带和带时，就曾指出能量的允带实际上是由分立的能级组成的。我们需要用一个能量函数来确定这些能量状态的密度，从而计算电子和空穴的浓度。</a:t>
            </a:r>
          </a:p>
        </p:txBody>
      </p:sp>
      <p:sp>
        <p:nvSpPr>
          <p:cNvPr id="8" name="矩形 7">
            <a:extLst>
              <a:ext uri="{FF2B5EF4-FFF2-40B4-BE49-F238E27FC236}">
                <a16:creationId xmlns:a16="http://schemas.microsoft.com/office/drawing/2014/main" id="{D8786F99-836D-4DD5-A817-C79BF037501C}"/>
              </a:ext>
            </a:extLst>
          </p:cNvPr>
          <p:cNvSpPr/>
          <p:nvPr/>
        </p:nvSpPr>
        <p:spPr>
          <a:xfrm>
            <a:off x="558804" y="3447262"/>
            <a:ext cx="1723549" cy="461665"/>
          </a:xfrm>
          <a:prstGeom prst="rect">
            <a:avLst/>
          </a:prstGeom>
          <a:noFill/>
        </p:spPr>
        <p:txBody>
          <a:bodyPr wrap="none" lIns="91440" tIns="45720" rIns="91440" bIns="45720">
            <a:spAutoFit/>
          </a:bodyPr>
          <a:lstStyle/>
          <a:p>
            <a:pPr algn="ctr"/>
            <a:r>
              <a:rPr lang="zh-CN" altLang="en-US" sz="2400" b="0" cap="none" spc="0" dirty="0">
                <a:ln w="0"/>
                <a:solidFill>
                  <a:srgbClr val="00B050"/>
                </a:solidFill>
                <a:effectLst>
                  <a:outerShdw blurRad="38100" dist="19050" dir="2700000" algn="tl" rotWithShape="0">
                    <a:schemeClr val="dk1">
                      <a:alpha val="40000"/>
                    </a:schemeClr>
                  </a:outerShdw>
                </a:effectLst>
              </a:rPr>
              <a:t>推导过程：</a:t>
            </a:r>
          </a:p>
        </p:txBody>
      </p:sp>
      <p:sp>
        <p:nvSpPr>
          <p:cNvPr id="9" name="文本框 8">
            <a:extLst>
              <a:ext uri="{FF2B5EF4-FFF2-40B4-BE49-F238E27FC236}">
                <a16:creationId xmlns:a16="http://schemas.microsoft.com/office/drawing/2014/main" id="{F5E0F03E-7260-4DA2-BAFA-F50260CB91BF}"/>
              </a:ext>
            </a:extLst>
          </p:cNvPr>
          <p:cNvSpPr txBox="1"/>
          <p:nvPr/>
        </p:nvSpPr>
        <p:spPr>
          <a:xfrm>
            <a:off x="593440" y="3908927"/>
            <a:ext cx="10546773" cy="646331"/>
          </a:xfrm>
          <a:prstGeom prst="rect">
            <a:avLst/>
          </a:prstGeom>
          <a:noFill/>
        </p:spPr>
        <p:txBody>
          <a:bodyPr wrap="square" rtlCol="0">
            <a:spAutoFit/>
          </a:bodyPr>
          <a:lstStyle/>
          <a:p>
            <a:r>
              <a:rPr lang="en-US" altLang="zh-CN" dirty="0"/>
              <a:t>        </a:t>
            </a:r>
            <a:r>
              <a:rPr lang="zh-CN" altLang="en-US" dirty="0"/>
              <a:t>电子可以相对自由地在半导体导带中运动</a:t>
            </a:r>
            <a:r>
              <a:rPr lang="en-US" altLang="zh-CN" dirty="0"/>
              <a:t>,</a:t>
            </a:r>
            <a:r>
              <a:rPr lang="zh-CN" altLang="en-US" dirty="0"/>
              <a:t>但它仍然被限定在晶体中</a:t>
            </a:r>
            <a:r>
              <a:rPr lang="zh-CN" altLang="en-US" dirty="0">
                <a:solidFill>
                  <a:srgbClr val="FF0000"/>
                </a:solidFill>
              </a:rPr>
              <a:t>（这就是电子的共有化运动）</a:t>
            </a:r>
            <a:r>
              <a:rPr lang="zh-CN" altLang="en-US" dirty="0"/>
              <a:t>。首先讨论一个被束缚在三维无限深势阱中的电子，而这个势阱就代表晶体。无限深势阱定义为</a:t>
            </a:r>
          </a:p>
        </p:txBody>
      </p:sp>
      <p:graphicFrame>
        <p:nvGraphicFramePr>
          <p:cNvPr id="11" name="对象 10">
            <a:extLst>
              <a:ext uri="{FF2B5EF4-FFF2-40B4-BE49-F238E27FC236}">
                <a16:creationId xmlns:a16="http://schemas.microsoft.com/office/drawing/2014/main" id="{B4521BF7-B9BD-4801-AAEF-77722FE493FB}"/>
              </a:ext>
            </a:extLst>
          </p:cNvPr>
          <p:cNvGraphicFramePr>
            <a:graphicFrameLocks noChangeAspect="1"/>
          </p:cNvGraphicFramePr>
          <p:nvPr>
            <p:extLst>
              <p:ext uri="{D42A27DB-BD31-4B8C-83A1-F6EECF244321}">
                <p14:modId xmlns:p14="http://schemas.microsoft.com/office/powerpoint/2010/main" val="2733519353"/>
              </p:ext>
            </p:extLst>
          </p:nvPr>
        </p:nvGraphicFramePr>
        <p:xfrm>
          <a:off x="4034487" y="4577409"/>
          <a:ext cx="1896032" cy="459644"/>
        </p:xfrm>
        <a:graphic>
          <a:graphicData uri="http://schemas.openxmlformats.org/presentationml/2006/ole">
            <mc:AlternateContent xmlns:mc="http://schemas.openxmlformats.org/markup-compatibility/2006">
              <mc:Choice xmlns:v="urn:schemas-microsoft-com:vml" Requires="v">
                <p:oleObj name="Equation" r:id="rId2" imgW="838080" imgH="203040" progId="Equation.DSMT4">
                  <p:embed/>
                </p:oleObj>
              </mc:Choice>
              <mc:Fallback>
                <p:oleObj name="Equation" r:id="rId2" imgW="838080" imgH="203040" progId="Equation.DSMT4">
                  <p:embed/>
                  <p:pic>
                    <p:nvPicPr>
                      <p:cNvPr id="0" name=""/>
                      <p:cNvPicPr/>
                      <p:nvPr/>
                    </p:nvPicPr>
                    <p:blipFill>
                      <a:blip r:embed="rId3"/>
                      <a:stretch>
                        <a:fillRect/>
                      </a:stretch>
                    </p:blipFill>
                    <p:spPr>
                      <a:xfrm>
                        <a:off x="4034487" y="4577409"/>
                        <a:ext cx="1896032" cy="459644"/>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AC4A22A6-C4AE-4588-884B-FE0460C1468B}"/>
              </a:ext>
            </a:extLst>
          </p:cNvPr>
          <p:cNvGraphicFramePr>
            <a:graphicFrameLocks noChangeAspect="1"/>
          </p:cNvGraphicFramePr>
          <p:nvPr>
            <p:extLst>
              <p:ext uri="{D42A27DB-BD31-4B8C-83A1-F6EECF244321}">
                <p14:modId xmlns:p14="http://schemas.microsoft.com/office/powerpoint/2010/main" val="657634738"/>
              </p:ext>
            </p:extLst>
          </p:nvPr>
        </p:nvGraphicFramePr>
        <p:xfrm>
          <a:off x="6096000" y="4577409"/>
          <a:ext cx="1343782" cy="1461299"/>
        </p:xfrm>
        <a:graphic>
          <a:graphicData uri="http://schemas.openxmlformats.org/presentationml/2006/ole">
            <mc:AlternateContent xmlns:mc="http://schemas.openxmlformats.org/markup-compatibility/2006">
              <mc:Choice xmlns:v="urn:schemas-microsoft-com:vml" Requires="v">
                <p:oleObj name="Equation" r:id="rId4" imgW="583920" imgH="634680" progId="Equation.DSMT4">
                  <p:embed/>
                </p:oleObj>
              </mc:Choice>
              <mc:Fallback>
                <p:oleObj name="Equation" r:id="rId4" imgW="583920" imgH="634680" progId="Equation.DSMT4">
                  <p:embed/>
                  <p:pic>
                    <p:nvPicPr>
                      <p:cNvPr id="0" name=""/>
                      <p:cNvPicPr/>
                      <p:nvPr/>
                    </p:nvPicPr>
                    <p:blipFill>
                      <a:blip r:embed="rId5"/>
                      <a:stretch>
                        <a:fillRect/>
                      </a:stretch>
                    </p:blipFill>
                    <p:spPr>
                      <a:xfrm>
                        <a:off x="6096000" y="4577409"/>
                        <a:ext cx="1343782" cy="1461299"/>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F47AA465-00E3-4C2A-85D6-218EB4D4EF5C}"/>
              </a:ext>
            </a:extLst>
          </p:cNvPr>
          <p:cNvGraphicFramePr>
            <a:graphicFrameLocks noChangeAspect="1"/>
          </p:cNvGraphicFramePr>
          <p:nvPr>
            <p:extLst>
              <p:ext uri="{D42A27DB-BD31-4B8C-83A1-F6EECF244321}">
                <p14:modId xmlns:p14="http://schemas.microsoft.com/office/powerpoint/2010/main" val="1623714769"/>
              </p:ext>
            </p:extLst>
          </p:nvPr>
        </p:nvGraphicFramePr>
        <p:xfrm>
          <a:off x="4034487" y="6060859"/>
          <a:ext cx="2540000" cy="449791"/>
        </p:xfrm>
        <a:graphic>
          <a:graphicData uri="http://schemas.openxmlformats.org/presentationml/2006/ole">
            <mc:AlternateContent xmlns:mc="http://schemas.openxmlformats.org/markup-compatibility/2006">
              <mc:Choice xmlns:v="urn:schemas-microsoft-com:vml" Requires="v">
                <p:oleObj name="Equation" r:id="rId6" imgW="1218960" imgH="215640" progId="Equation.DSMT4">
                  <p:embed/>
                </p:oleObj>
              </mc:Choice>
              <mc:Fallback>
                <p:oleObj name="Equation" r:id="rId6" imgW="1218960" imgH="215640" progId="Equation.DSMT4">
                  <p:embed/>
                  <p:pic>
                    <p:nvPicPr>
                      <p:cNvPr id="0" name=""/>
                      <p:cNvPicPr/>
                      <p:nvPr/>
                    </p:nvPicPr>
                    <p:blipFill>
                      <a:blip r:embed="rId7"/>
                      <a:stretch>
                        <a:fillRect/>
                      </a:stretch>
                    </p:blipFill>
                    <p:spPr>
                      <a:xfrm>
                        <a:off x="4034487" y="6060859"/>
                        <a:ext cx="2540000" cy="449791"/>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12FEE10E-765E-4935-BBCC-1CD88EFBE30C}"/>
              </a:ext>
            </a:extLst>
          </p:cNvPr>
          <p:cNvGraphicFramePr>
            <a:graphicFrameLocks noChangeAspect="1"/>
          </p:cNvGraphicFramePr>
          <p:nvPr>
            <p:extLst>
              <p:ext uri="{D42A27DB-BD31-4B8C-83A1-F6EECF244321}">
                <p14:modId xmlns:p14="http://schemas.microsoft.com/office/powerpoint/2010/main" val="3133616920"/>
              </p:ext>
            </p:extLst>
          </p:nvPr>
        </p:nvGraphicFramePr>
        <p:xfrm>
          <a:off x="10718803" y="5053446"/>
          <a:ext cx="421410" cy="421410"/>
        </p:xfrm>
        <a:graphic>
          <a:graphicData uri="http://schemas.openxmlformats.org/presentationml/2006/ole">
            <mc:AlternateContent xmlns:mc="http://schemas.openxmlformats.org/markup-compatibility/2006">
              <mc:Choice xmlns:v="urn:schemas-microsoft-com:vml" Requires="v">
                <p:oleObj name="Equation" r:id="rId8" imgW="203040" imgH="203040" progId="Equation.DSMT4">
                  <p:embed/>
                </p:oleObj>
              </mc:Choice>
              <mc:Fallback>
                <p:oleObj name="Equation" r:id="rId8" imgW="203040" imgH="203040" progId="Equation.DSMT4">
                  <p:embed/>
                  <p:pic>
                    <p:nvPicPr>
                      <p:cNvPr id="0" name=""/>
                      <p:cNvPicPr/>
                      <p:nvPr/>
                    </p:nvPicPr>
                    <p:blipFill>
                      <a:blip r:embed="rId9"/>
                      <a:stretch>
                        <a:fillRect/>
                      </a:stretch>
                    </p:blipFill>
                    <p:spPr>
                      <a:xfrm>
                        <a:off x="10718803" y="5053446"/>
                        <a:ext cx="421410" cy="421410"/>
                      </a:xfrm>
                      <a:prstGeom prst="rect">
                        <a:avLst/>
                      </a:prstGeom>
                    </p:spPr>
                  </p:pic>
                </p:oleObj>
              </mc:Fallback>
            </mc:AlternateContent>
          </a:graphicData>
        </a:graphic>
      </p:graphicFrame>
    </p:spTree>
    <p:extLst>
      <p:ext uri="{BB962C8B-B14F-4D97-AF65-F5344CB8AC3E}">
        <p14:creationId xmlns:p14="http://schemas.microsoft.com/office/powerpoint/2010/main" val="2029366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77B0320-E97C-4F1E-B1AA-D87C8D592135}"/>
              </a:ext>
            </a:extLst>
          </p:cNvPr>
          <p:cNvSpPr>
            <a:spLocks noGrp="1"/>
          </p:cNvSpPr>
          <p:nvPr>
            <p:ph type="sldNum" sz="quarter" idx="12"/>
          </p:nvPr>
        </p:nvSpPr>
        <p:spPr/>
        <p:txBody>
          <a:bodyPr/>
          <a:lstStyle/>
          <a:p>
            <a:pPr>
              <a:defRPr/>
            </a:pPr>
            <a:fld id="{DB5F2CA6-A39B-48F7-84D1-AF91BD07D67D}" type="slidenum">
              <a:rPr lang="en-US" altLang="zh-CN" smtClean="0"/>
              <a:pPr>
                <a:defRPr/>
              </a:pPr>
              <a:t>3</a:t>
            </a:fld>
            <a:endParaRPr lang="en-US" altLang="zh-CN" dirty="0"/>
          </a:p>
        </p:txBody>
      </p:sp>
      <p:sp>
        <p:nvSpPr>
          <p:cNvPr id="5" name="矩形 4">
            <a:extLst>
              <a:ext uri="{FF2B5EF4-FFF2-40B4-BE49-F238E27FC236}">
                <a16:creationId xmlns:a16="http://schemas.microsoft.com/office/drawing/2014/main" id="{C7A6A22C-93BB-4360-8613-43F97EC8077A}"/>
              </a:ext>
            </a:extLst>
          </p:cNvPr>
          <p:cNvSpPr/>
          <p:nvPr/>
        </p:nvSpPr>
        <p:spPr>
          <a:xfrm>
            <a:off x="593440" y="442344"/>
            <a:ext cx="2339102" cy="523220"/>
          </a:xfrm>
          <a:prstGeom prst="rect">
            <a:avLst/>
          </a:prstGeom>
          <a:noFill/>
        </p:spPr>
        <p:txBody>
          <a:bodyPr wrap="none" lIns="91440" tIns="45720" rIns="91440" bIns="45720">
            <a:spAutoFit/>
          </a:bodyPr>
          <a:lstStyle/>
          <a:p>
            <a:pPr algn="ctr"/>
            <a:r>
              <a:rPr lang="zh-CN" altLang="en-US" sz="2800" dirty="0">
                <a:ln w="0"/>
                <a:effectLst>
                  <a:outerShdw blurRad="38100" dist="19050" dir="2700000" algn="tl" rotWithShape="0">
                    <a:schemeClr val="dk1">
                      <a:alpha val="40000"/>
                    </a:schemeClr>
                  </a:outerShdw>
                </a:effectLst>
              </a:rPr>
              <a:t>状态密度函数</a:t>
            </a:r>
            <a:endParaRPr lang="en-US" altLang="zh-CN" sz="2800" dirty="0">
              <a:ln w="0"/>
              <a:effectLst>
                <a:outerShdw blurRad="38100" dist="19050" dir="2700000" algn="tl" rotWithShape="0">
                  <a:schemeClr val="dk1">
                    <a:alpha val="40000"/>
                  </a:schemeClr>
                </a:outerShdw>
              </a:effectLst>
            </a:endParaRPr>
          </a:p>
        </p:txBody>
      </p:sp>
      <p:sp>
        <p:nvSpPr>
          <p:cNvPr id="3" name="文本框 2">
            <a:extLst>
              <a:ext uri="{FF2B5EF4-FFF2-40B4-BE49-F238E27FC236}">
                <a16:creationId xmlns:a16="http://schemas.microsoft.com/office/drawing/2014/main" id="{3B85E006-4CE2-4A33-9339-27BE4AF128EC}"/>
              </a:ext>
            </a:extLst>
          </p:cNvPr>
          <p:cNvSpPr txBox="1"/>
          <p:nvPr/>
        </p:nvSpPr>
        <p:spPr>
          <a:xfrm>
            <a:off x="593440" y="965564"/>
            <a:ext cx="10684160" cy="646331"/>
          </a:xfrm>
          <a:prstGeom prst="rect">
            <a:avLst/>
          </a:prstGeom>
          <a:noFill/>
        </p:spPr>
        <p:txBody>
          <a:bodyPr wrap="square" rtlCol="0">
            <a:spAutoFit/>
          </a:bodyPr>
          <a:lstStyle/>
          <a:p>
            <a:r>
              <a:rPr lang="zh-CN" altLang="en-US" dirty="0"/>
              <a:t>        在此假定晶体为边长是</a:t>
            </a:r>
            <a:r>
              <a:rPr lang="en-US" altLang="zh-CN" dirty="0"/>
              <a:t>a</a:t>
            </a:r>
            <a:r>
              <a:rPr lang="zh-CN" altLang="en-US" dirty="0"/>
              <a:t>的立方体。三维薛定谔波动方程可以利用分离变量法求解。根据一维无限深势阱的结果：</a:t>
            </a:r>
          </a:p>
        </p:txBody>
      </p:sp>
      <p:graphicFrame>
        <p:nvGraphicFramePr>
          <p:cNvPr id="7" name="对象 6">
            <a:extLst>
              <a:ext uri="{FF2B5EF4-FFF2-40B4-BE49-F238E27FC236}">
                <a16:creationId xmlns:a16="http://schemas.microsoft.com/office/drawing/2014/main" id="{58762D52-7886-45ED-834E-FC80D76F2025}"/>
              </a:ext>
            </a:extLst>
          </p:cNvPr>
          <p:cNvGraphicFramePr>
            <a:graphicFrameLocks noChangeAspect="1"/>
          </p:cNvGraphicFramePr>
          <p:nvPr>
            <p:extLst>
              <p:ext uri="{D42A27DB-BD31-4B8C-83A1-F6EECF244321}">
                <p14:modId xmlns:p14="http://schemas.microsoft.com/office/powerpoint/2010/main" val="1762794134"/>
              </p:ext>
            </p:extLst>
          </p:nvPr>
        </p:nvGraphicFramePr>
        <p:xfrm>
          <a:off x="4960144" y="1585913"/>
          <a:ext cx="2271712" cy="842962"/>
        </p:xfrm>
        <a:graphic>
          <a:graphicData uri="http://schemas.openxmlformats.org/presentationml/2006/ole">
            <mc:AlternateContent xmlns:mc="http://schemas.openxmlformats.org/markup-compatibility/2006">
              <mc:Choice xmlns:v="urn:schemas-microsoft-com:vml" Requires="v">
                <p:oleObj name="Equation" r:id="rId2" imgW="1130040" imgH="419040" progId="Equation.DSMT4">
                  <p:embed/>
                </p:oleObj>
              </mc:Choice>
              <mc:Fallback>
                <p:oleObj name="Equation" r:id="rId2" imgW="1130040" imgH="419040" progId="Equation.DSMT4">
                  <p:embed/>
                  <p:pic>
                    <p:nvPicPr>
                      <p:cNvPr id="0" name=""/>
                      <p:cNvPicPr/>
                      <p:nvPr/>
                    </p:nvPicPr>
                    <p:blipFill>
                      <a:blip r:embed="rId3"/>
                      <a:stretch>
                        <a:fillRect/>
                      </a:stretch>
                    </p:blipFill>
                    <p:spPr>
                      <a:xfrm>
                        <a:off x="4960144" y="1585913"/>
                        <a:ext cx="2271712" cy="84296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5D3DE97B-45EB-40BF-A125-CF96E11CE9FA}"/>
              </a:ext>
            </a:extLst>
          </p:cNvPr>
          <p:cNvGraphicFramePr>
            <a:graphicFrameLocks noChangeAspect="1"/>
          </p:cNvGraphicFramePr>
          <p:nvPr>
            <p:extLst>
              <p:ext uri="{D42A27DB-BD31-4B8C-83A1-F6EECF244321}">
                <p14:modId xmlns:p14="http://schemas.microsoft.com/office/powerpoint/2010/main" val="985857749"/>
              </p:ext>
            </p:extLst>
          </p:nvPr>
        </p:nvGraphicFramePr>
        <p:xfrm>
          <a:off x="10817890" y="1802788"/>
          <a:ext cx="459710" cy="408631"/>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p:nvPr/>
                    </p:nvPicPr>
                    <p:blipFill>
                      <a:blip r:embed="rId5"/>
                      <a:stretch>
                        <a:fillRect/>
                      </a:stretch>
                    </p:blipFill>
                    <p:spPr>
                      <a:xfrm>
                        <a:off x="10817890" y="1802788"/>
                        <a:ext cx="459710" cy="408631"/>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37D87831-2D7F-4AC9-89F7-40469340FDC8}"/>
              </a:ext>
            </a:extLst>
          </p:cNvPr>
          <p:cNvSpPr txBox="1"/>
          <p:nvPr/>
        </p:nvSpPr>
        <p:spPr>
          <a:xfrm>
            <a:off x="593440" y="2534711"/>
            <a:ext cx="10785764" cy="923330"/>
          </a:xfrm>
          <a:prstGeom prst="rect">
            <a:avLst/>
          </a:prstGeom>
          <a:noFill/>
        </p:spPr>
        <p:txBody>
          <a:bodyPr wrap="square" rtlCol="0">
            <a:spAutoFit/>
          </a:bodyPr>
          <a:lstStyle/>
          <a:p>
            <a:r>
              <a:rPr lang="zh-CN" altLang="en-US" dirty="0"/>
              <a:t>        一维无限深势阱的薛定谔方程的解显示，粒子的能量只能取一系列</a:t>
            </a:r>
            <a:r>
              <a:rPr lang="zh-CN" altLang="en-US" b="1" dirty="0"/>
              <a:t>离散的值</a:t>
            </a:r>
            <a:r>
              <a:rPr lang="zh-CN" altLang="en-US" dirty="0"/>
              <a:t>。其中，</a:t>
            </a:r>
            <a:r>
              <a:rPr lang="en-US" altLang="zh-CN" dirty="0"/>
              <a:t>n </a:t>
            </a:r>
            <a:r>
              <a:rPr lang="zh-CN" altLang="en-US" dirty="0"/>
              <a:t>是正整数，表示能级的序号，</a:t>
            </a:r>
            <a:r>
              <a:rPr lang="en-US" altLang="zh-CN" dirty="0"/>
              <a:t>m </a:t>
            </a:r>
            <a:r>
              <a:rPr lang="zh-CN" altLang="en-US" dirty="0"/>
              <a:t>是粒子的质量，</a:t>
            </a:r>
            <a:r>
              <a:rPr lang="en-US" altLang="zh-CN" dirty="0"/>
              <a:t>ħ </a:t>
            </a:r>
            <a:r>
              <a:rPr lang="zh-CN" altLang="en-US" dirty="0"/>
              <a:t>是约化普朗克常数，</a:t>
            </a:r>
            <a:r>
              <a:rPr lang="en-US" altLang="zh-CN" dirty="0"/>
              <a:t>k </a:t>
            </a:r>
            <a:r>
              <a:rPr lang="zh-CN" altLang="en-US" dirty="0"/>
              <a:t>是波数</a:t>
            </a:r>
            <a:endParaRPr lang="en-US" altLang="zh-CN" dirty="0"/>
          </a:p>
          <a:p>
            <a:r>
              <a:rPr lang="zh-CN" altLang="en-US" dirty="0"/>
              <a:t>        根据</a:t>
            </a:r>
            <a:r>
              <a:rPr lang="en-US" altLang="zh-CN" dirty="0"/>
              <a:t>(2)</a:t>
            </a:r>
            <a:r>
              <a:rPr lang="zh-CN" altLang="en-US" dirty="0"/>
              <a:t>三维薛定谔波动方程求解时，可得：</a:t>
            </a:r>
          </a:p>
        </p:txBody>
      </p:sp>
      <p:graphicFrame>
        <p:nvGraphicFramePr>
          <p:cNvPr id="15" name="对象 14">
            <a:extLst>
              <a:ext uri="{FF2B5EF4-FFF2-40B4-BE49-F238E27FC236}">
                <a16:creationId xmlns:a16="http://schemas.microsoft.com/office/drawing/2014/main" id="{2D48C93D-D058-4A5F-BEEB-B536EE3840A4}"/>
              </a:ext>
            </a:extLst>
          </p:cNvPr>
          <p:cNvGraphicFramePr>
            <a:graphicFrameLocks noChangeAspect="1"/>
          </p:cNvGraphicFramePr>
          <p:nvPr>
            <p:extLst>
              <p:ext uri="{D42A27DB-BD31-4B8C-83A1-F6EECF244321}">
                <p14:modId xmlns:p14="http://schemas.microsoft.com/office/powerpoint/2010/main" val="3208804984"/>
              </p:ext>
            </p:extLst>
          </p:nvPr>
        </p:nvGraphicFramePr>
        <p:xfrm>
          <a:off x="3805299" y="3639182"/>
          <a:ext cx="4581402" cy="693515"/>
        </p:xfrm>
        <a:graphic>
          <a:graphicData uri="http://schemas.openxmlformats.org/presentationml/2006/ole">
            <mc:AlternateContent xmlns:mc="http://schemas.openxmlformats.org/markup-compatibility/2006">
              <mc:Choice xmlns:v="urn:schemas-microsoft-com:vml" Requires="v">
                <p:oleObj name="Equation" r:id="rId6" imgW="2768400" imgH="419040" progId="Equation.DSMT4">
                  <p:embed/>
                </p:oleObj>
              </mc:Choice>
              <mc:Fallback>
                <p:oleObj name="Equation" r:id="rId6" imgW="2768400" imgH="419040" progId="Equation.DSMT4">
                  <p:embed/>
                  <p:pic>
                    <p:nvPicPr>
                      <p:cNvPr id="0" name=""/>
                      <p:cNvPicPr/>
                      <p:nvPr/>
                    </p:nvPicPr>
                    <p:blipFill>
                      <a:blip r:embed="rId7"/>
                      <a:stretch>
                        <a:fillRect/>
                      </a:stretch>
                    </p:blipFill>
                    <p:spPr>
                      <a:xfrm>
                        <a:off x="3805299" y="3639182"/>
                        <a:ext cx="4581402" cy="693515"/>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F25EFC64-3B4A-47CB-A20A-F0C4CB6A108B}"/>
              </a:ext>
            </a:extLst>
          </p:cNvPr>
          <p:cNvGraphicFramePr>
            <a:graphicFrameLocks noChangeAspect="1"/>
          </p:cNvGraphicFramePr>
          <p:nvPr>
            <p:extLst>
              <p:ext uri="{D42A27DB-BD31-4B8C-83A1-F6EECF244321}">
                <p14:modId xmlns:p14="http://schemas.microsoft.com/office/powerpoint/2010/main" val="3689025623"/>
              </p:ext>
            </p:extLst>
          </p:nvPr>
        </p:nvGraphicFramePr>
        <p:xfrm>
          <a:off x="10817890" y="3781333"/>
          <a:ext cx="434787" cy="409211"/>
        </p:xfrm>
        <a:graphic>
          <a:graphicData uri="http://schemas.openxmlformats.org/presentationml/2006/ole">
            <mc:AlternateContent xmlns:mc="http://schemas.openxmlformats.org/markup-compatibility/2006">
              <mc:Choice xmlns:v="urn:schemas-microsoft-com:vml" Requires="v">
                <p:oleObj name="Equation" r:id="rId8" imgW="215640" imgH="203040" progId="Equation.DSMT4">
                  <p:embed/>
                </p:oleObj>
              </mc:Choice>
              <mc:Fallback>
                <p:oleObj name="Equation" r:id="rId8" imgW="215640" imgH="203040" progId="Equation.DSMT4">
                  <p:embed/>
                  <p:pic>
                    <p:nvPicPr>
                      <p:cNvPr id="0" name=""/>
                      <p:cNvPicPr/>
                      <p:nvPr/>
                    </p:nvPicPr>
                    <p:blipFill>
                      <a:blip r:embed="rId9"/>
                      <a:stretch>
                        <a:fillRect/>
                      </a:stretch>
                    </p:blipFill>
                    <p:spPr>
                      <a:xfrm>
                        <a:off x="10817890" y="3781333"/>
                        <a:ext cx="434787" cy="409211"/>
                      </a:xfrm>
                      <a:prstGeom prst="rect">
                        <a:avLst/>
                      </a:prstGeom>
                    </p:spPr>
                  </p:pic>
                </p:oleObj>
              </mc:Fallback>
            </mc:AlternateContent>
          </a:graphicData>
        </a:graphic>
      </p:graphicFrame>
      <p:sp>
        <p:nvSpPr>
          <p:cNvPr id="18" name="文本框 17">
            <a:extLst>
              <a:ext uri="{FF2B5EF4-FFF2-40B4-BE49-F238E27FC236}">
                <a16:creationId xmlns:a16="http://schemas.microsoft.com/office/drawing/2014/main" id="{42C2EB8E-C1A5-45FA-A07F-2C49A00D3EB1}"/>
              </a:ext>
            </a:extLst>
          </p:cNvPr>
          <p:cNvSpPr txBox="1"/>
          <p:nvPr/>
        </p:nvSpPr>
        <p:spPr>
          <a:xfrm>
            <a:off x="593440" y="4615328"/>
            <a:ext cx="10785764" cy="646331"/>
          </a:xfrm>
          <a:prstGeom prst="rect">
            <a:avLst/>
          </a:prstGeom>
          <a:noFill/>
        </p:spPr>
        <p:txBody>
          <a:bodyPr wrap="square" rtlCol="0">
            <a:spAutoFit/>
          </a:bodyPr>
          <a:lstStyle/>
          <a:p>
            <a:r>
              <a:rPr lang="zh-CN" altLang="en-US" dirty="0"/>
              <a:t>其中</a:t>
            </a:r>
            <a:r>
              <a:rPr lang="en-US" altLang="zh-CN" dirty="0" err="1"/>
              <a:t>n</a:t>
            </a:r>
            <a:r>
              <a:rPr lang="en-US" altLang="zh-CN" baseline="-25000" dirty="0" err="1"/>
              <a:t>x</a:t>
            </a:r>
            <a:r>
              <a:rPr lang="zh-CN" altLang="en-US" dirty="0"/>
              <a:t>，</a:t>
            </a:r>
            <a:r>
              <a:rPr lang="en-US" altLang="zh-CN" dirty="0" err="1"/>
              <a:t>n</a:t>
            </a:r>
            <a:r>
              <a:rPr lang="en-US" altLang="zh-CN" baseline="-25000" dirty="0" err="1"/>
              <a:t>y</a:t>
            </a:r>
            <a:r>
              <a:rPr lang="zh-CN" altLang="en-US" dirty="0"/>
              <a:t>和</a:t>
            </a:r>
            <a:r>
              <a:rPr lang="en-US" altLang="zh-CN" dirty="0" err="1"/>
              <a:t>n</a:t>
            </a:r>
            <a:r>
              <a:rPr lang="en-US" altLang="zh-CN" baseline="-25000" dirty="0" err="1"/>
              <a:t>z</a:t>
            </a:r>
            <a:r>
              <a:rPr lang="zh-CN" altLang="en-US" dirty="0"/>
              <a:t>为正整数（</a:t>
            </a:r>
            <a:r>
              <a:rPr lang="en-US" altLang="zh-CN" dirty="0"/>
              <a:t> </a:t>
            </a:r>
            <a:r>
              <a:rPr lang="en-US" altLang="zh-CN" dirty="0" err="1"/>
              <a:t>n</a:t>
            </a:r>
            <a:r>
              <a:rPr lang="en-US" altLang="zh-CN" baseline="-25000" dirty="0" err="1"/>
              <a:t>x</a:t>
            </a:r>
            <a:r>
              <a:rPr lang="zh-CN" altLang="en-US" dirty="0"/>
              <a:t>，</a:t>
            </a:r>
            <a:r>
              <a:rPr lang="en-US" altLang="zh-CN" dirty="0" err="1"/>
              <a:t>n</a:t>
            </a:r>
            <a:r>
              <a:rPr lang="en-US" altLang="zh-CN" baseline="-25000" dirty="0" err="1"/>
              <a:t>y</a:t>
            </a:r>
            <a:r>
              <a:rPr lang="zh-CN" altLang="en-US" dirty="0"/>
              <a:t>和</a:t>
            </a:r>
            <a:r>
              <a:rPr lang="en-US" altLang="zh-CN" dirty="0" err="1"/>
              <a:t>n</a:t>
            </a:r>
            <a:r>
              <a:rPr lang="en-US" altLang="zh-CN" baseline="-25000" dirty="0" err="1"/>
              <a:t>z</a:t>
            </a:r>
            <a:r>
              <a:rPr lang="en-US" altLang="zh-CN" baseline="-25000" dirty="0"/>
              <a:t> </a:t>
            </a:r>
            <a:r>
              <a:rPr lang="zh-CN" altLang="en-US" dirty="0"/>
              <a:t>的负值与对应的正值产生的势函数只有符号上的区别，而得到的概率函数和能量都是相同的，所以符号</a:t>
            </a:r>
            <a:r>
              <a:rPr lang="zh-CN" altLang="en-US" dirty="0">
                <a:solidFill>
                  <a:srgbClr val="FF0000"/>
                </a:solidFill>
              </a:rPr>
              <a:t>并不能</a:t>
            </a:r>
            <a:r>
              <a:rPr lang="zh-CN" altLang="en-US" dirty="0"/>
              <a:t>代表不同的量子状态）。</a:t>
            </a:r>
            <a:endParaRPr lang="en-US" altLang="zh-CN" dirty="0"/>
          </a:p>
        </p:txBody>
      </p:sp>
    </p:spTree>
    <p:extLst>
      <p:ext uri="{BB962C8B-B14F-4D97-AF65-F5344CB8AC3E}">
        <p14:creationId xmlns:p14="http://schemas.microsoft.com/office/powerpoint/2010/main" val="1856114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77B0320-E97C-4F1E-B1AA-D87C8D592135}"/>
              </a:ext>
            </a:extLst>
          </p:cNvPr>
          <p:cNvSpPr>
            <a:spLocks noGrp="1"/>
          </p:cNvSpPr>
          <p:nvPr>
            <p:ph type="sldNum" sz="quarter" idx="12"/>
          </p:nvPr>
        </p:nvSpPr>
        <p:spPr/>
        <p:txBody>
          <a:bodyPr/>
          <a:lstStyle/>
          <a:p>
            <a:pPr>
              <a:defRPr/>
            </a:pPr>
            <a:fld id="{DB5F2CA6-A39B-48F7-84D1-AF91BD07D67D}" type="slidenum">
              <a:rPr lang="en-US" altLang="zh-CN" smtClean="0"/>
              <a:pPr>
                <a:defRPr/>
              </a:pPr>
              <a:t>4</a:t>
            </a:fld>
            <a:endParaRPr lang="en-US" altLang="zh-CN" dirty="0"/>
          </a:p>
        </p:txBody>
      </p:sp>
      <p:sp>
        <p:nvSpPr>
          <p:cNvPr id="5" name="矩形 4">
            <a:extLst>
              <a:ext uri="{FF2B5EF4-FFF2-40B4-BE49-F238E27FC236}">
                <a16:creationId xmlns:a16="http://schemas.microsoft.com/office/drawing/2014/main" id="{C7A6A22C-93BB-4360-8613-43F97EC8077A}"/>
              </a:ext>
            </a:extLst>
          </p:cNvPr>
          <p:cNvSpPr/>
          <p:nvPr/>
        </p:nvSpPr>
        <p:spPr>
          <a:xfrm>
            <a:off x="593440" y="442344"/>
            <a:ext cx="2339102" cy="523220"/>
          </a:xfrm>
          <a:prstGeom prst="rect">
            <a:avLst/>
          </a:prstGeom>
          <a:noFill/>
        </p:spPr>
        <p:txBody>
          <a:bodyPr wrap="none" lIns="91440" tIns="45720" rIns="91440" bIns="45720">
            <a:spAutoFit/>
          </a:bodyPr>
          <a:lstStyle/>
          <a:p>
            <a:pPr algn="ctr"/>
            <a:r>
              <a:rPr lang="zh-CN" altLang="en-US" sz="2800" dirty="0">
                <a:ln w="0"/>
                <a:effectLst>
                  <a:outerShdw blurRad="38100" dist="19050" dir="2700000" algn="tl" rotWithShape="0">
                    <a:schemeClr val="dk1">
                      <a:alpha val="40000"/>
                    </a:schemeClr>
                  </a:outerShdw>
                </a:effectLst>
              </a:rPr>
              <a:t>状态密度函数</a:t>
            </a:r>
            <a:endParaRPr lang="en-US" altLang="zh-CN" sz="2800" dirty="0">
              <a:ln w="0"/>
              <a:effectLst>
                <a:outerShdw blurRad="38100" dist="19050" dir="2700000" algn="tl" rotWithShape="0">
                  <a:schemeClr val="dk1">
                    <a:alpha val="40000"/>
                  </a:schemeClr>
                </a:outerShdw>
              </a:effectLst>
            </a:endParaRPr>
          </a:p>
        </p:txBody>
      </p:sp>
      <p:sp>
        <p:nvSpPr>
          <p:cNvPr id="2" name="文本框 1">
            <a:extLst>
              <a:ext uri="{FF2B5EF4-FFF2-40B4-BE49-F238E27FC236}">
                <a16:creationId xmlns:a16="http://schemas.microsoft.com/office/drawing/2014/main" id="{30C7D8FF-BF79-4D71-AFD7-8FE0ED48D6C6}"/>
              </a:ext>
            </a:extLst>
          </p:cNvPr>
          <p:cNvSpPr txBox="1"/>
          <p:nvPr/>
        </p:nvSpPr>
        <p:spPr>
          <a:xfrm>
            <a:off x="737755" y="965564"/>
            <a:ext cx="10068790" cy="1200329"/>
          </a:xfrm>
          <a:prstGeom prst="rect">
            <a:avLst/>
          </a:prstGeom>
          <a:noFill/>
        </p:spPr>
        <p:txBody>
          <a:bodyPr wrap="square" rtlCol="0">
            <a:spAutoFit/>
          </a:bodyPr>
          <a:lstStyle/>
          <a:p>
            <a:r>
              <a:rPr lang="zh-CN" altLang="en-US" dirty="0"/>
              <a:t>        我们可以画出</a:t>
            </a:r>
            <a:r>
              <a:rPr lang="en-US" altLang="zh-CN" dirty="0"/>
              <a:t>k</a:t>
            </a:r>
            <a:r>
              <a:rPr lang="zh-CN" altLang="en-US" dirty="0"/>
              <a:t>空间的有效量子状态。图</a:t>
            </a:r>
            <a:r>
              <a:rPr lang="en-US" altLang="zh-CN" dirty="0"/>
              <a:t>1(a)</a:t>
            </a:r>
            <a:r>
              <a:rPr lang="zh-CN" altLang="en-US" dirty="0"/>
              <a:t>所示为二维的</a:t>
            </a:r>
            <a:r>
              <a:rPr lang="en-US" altLang="zh-CN" dirty="0" err="1"/>
              <a:t>k</a:t>
            </a:r>
            <a:r>
              <a:rPr lang="en-US" altLang="zh-CN" baseline="-25000" dirty="0" err="1"/>
              <a:t>x</a:t>
            </a:r>
            <a:r>
              <a:rPr lang="zh-CN" altLang="en-US" dirty="0"/>
              <a:t>和</a:t>
            </a:r>
            <a:r>
              <a:rPr lang="en-US" altLang="zh-CN" dirty="0" err="1"/>
              <a:t>k</a:t>
            </a:r>
            <a:r>
              <a:rPr lang="en-US" altLang="zh-CN" baseline="-25000" dirty="0" err="1"/>
              <a:t>y</a:t>
            </a:r>
            <a:r>
              <a:rPr lang="zh-CN" altLang="en-US" dirty="0"/>
              <a:t>的函数图形，其中每一个点代表不同的正整数</a:t>
            </a:r>
            <a:r>
              <a:rPr lang="en-US" altLang="zh-CN" dirty="0" err="1"/>
              <a:t>n</a:t>
            </a:r>
            <a:r>
              <a:rPr lang="en-US" altLang="zh-CN" baseline="-25000" dirty="0" err="1"/>
              <a:t>x</a:t>
            </a:r>
            <a:r>
              <a:rPr lang="zh-CN" altLang="en-US" dirty="0"/>
              <a:t>和</a:t>
            </a:r>
            <a:r>
              <a:rPr lang="en-US" altLang="zh-CN" dirty="0" err="1"/>
              <a:t>n</a:t>
            </a:r>
            <a:r>
              <a:rPr lang="en-US" altLang="zh-CN" baseline="-25000" dirty="0" err="1"/>
              <a:t>y</a:t>
            </a:r>
            <a:r>
              <a:rPr lang="zh-CN" altLang="en-US" dirty="0"/>
              <a:t>对应的有效量子态。</a:t>
            </a:r>
            <a:r>
              <a:rPr lang="en-US" altLang="zh-CN" dirty="0" err="1"/>
              <a:t>k</a:t>
            </a:r>
            <a:r>
              <a:rPr lang="en-US" altLang="zh-CN" baseline="-25000" dirty="0" err="1"/>
              <a:t>x</a:t>
            </a:r>
            <a:r>
              <a:rPr lang="zh-CN" altLang="en-US" dirty="0"/>
              <a:t>，</a:t>
            </a:r>
            <a:r>
              <a:rPr lang="en-US" altLang="zh-CN" dirty="0" err="1"/>
              <a:t>k</a:t>
            </a:r>
            <a:r>
              <a:rPr lang="en-US" altLang="zh-CN" baseline="-25000" dirty="0" err="1"/>
              <a:t>y</a:t>
            </a:r>
            <a:r>
              <a:rPr lang="zh-CN" altLang="en-US" dirty="0"/>
              <a:t>或</a:t>
            </a:r>
            <a:r>
              <a:rPr lang="en-US" altLang="zh-CN" dirty="0" err="1"/>
              <a:t>k</a:t>
            </a:r>
            <a:r>
              <a:rPr lang="en-US" altLang="zh-CN" baseline="-25000" dirty="0" err="1"/>
              <a:t>z</a:t>
            </a:r>
            <a:r>
              <a:rPr lang="zh-CN" altLang="en-US" dirty="0"/>
              <a:t>的正负值具有相同的能量，代表相同的能量状态。因为</a:t>
            </a:r>
            <a:r>
              <a:rPr lang="en-US" altLang="zh-CN" dirty="0" err="1"/>
              <a:t>k</a:t>
            </a:r>
            <a:r>
              <a:rPr lang="en-US" altLang="zh-CN" baseline="-25000" dirty="0" err="1"/>
              <a:t>x</a:t>
            </a:r>
            <a:r>
              <a:rPr lang="zh-CN" altLang="en-US" dirty="0"/>
              <a:t>，</a:t>
            </a:r>
            <a:r>
              <a:rPr lang="en-US" altLang="zh-CN" dirty="0" err="1"/>
              <a:t>k</a:t>
            </a:r>
            <a:r>
              <a:rPr lang="en-US" altLang="zh-CN" baseline="-25000" dirty="0" err="1"/>
              <a:t>y</a:t>
            </a:r>
            <a:r>
              <a:rPr lang="zh-CN" altLang="en-US" dirty="0"/>
              <a:t>或</a:t>
            </a:r>
            <a:r>
              <a:rPr lang="en-US" altLang="zh-CN" dirty="0" err="1"/>
              <a:t>k</a:t>
            </a:r>
            <a:r>
              <a:rPr lang="en-US" altLang="zh-CN" baseline="-25000" dirty="0" err="1"/>
              <a:t>z</a:t>
            </a:r>
            <a:r>
              <a:rPr lang="zh-CN" altLang="en-US" dirty="0"/>
              <a:t>的负值都不代表独立的量子态，所以仅用</a:t>
            </a:r>
            <a:r>
              <a:rPr lang="en-US" altLang="zh-CN" dirty="0"/>
              <a:t>k</a:t>
            </a:r>
            <a:r>
              <a:rPr lang="zh-CN" altLang="en-US" dirty="0"/>
              <a:t>空间的正坐标的</a:t>
            </a:r>
            <a:r>
              <a:rPr lang="en-US" altLang="zh-CN" dirty="0"/>
              <a:t>1/8</a:t>
            </a:r>
            <a:r>
              <a:rPr lang="zh-CN" altLang="en-US" dirty="0"/>
              <a:t>个球体就可以确定量子态的密度，如图</a:t>
            </a:r>
            <a:r>
              <a:rPr lang="en-US" altLang="zh-CN" dirty="0"/>
              <a:t>1(b)</a:t>
            </a:r>
            <a:r>
              <a:rPr lang="zh-CN" altLang="en-US" dirty="0"/>
              <a:t>所示。</a:t>
            </a:r>
            <a:endParaRPr lang="en-US" altLang="zh-CN" dirty="0"/>
          </a:p>
        </p:txBody>
      </p:sp>
      <p:sp>
        <p:nvSpPr>
          <p:cNvPr id="3" name="文本框 2">
            <a:extLst>
              <a:ext uri="{FF2B5EF4-FFF2-40B4-BE49-F238E27FC236}">
                <a16:creationId xmlns:a16="http://schemas.microsoft.com/office/drawing/2014/main" id="{35FC52BE-2202-45E6-9725-3D4F61560791}"/>
              </a:ext>
            </a:extLst>
          </p:cNvPr>
          <p:cNvSpPr txBox="1"/>
          <p:nvPr/>
        </p:nvSpPr>
        <p:spPr>
          <a:xfrm>
            <a:off x="593440" y="4264229"/>
            <a:ext cx="10099964" cy="369332"/>
          </a:xfrm>
          <a:prstGeom prst="rect">
            <a:avLst/>
          </a:prstGeom>
          <a:noFill/>
        </p:spPr>
        <p:txBody>
          <a:bodyPr wrap="square" rtlCol="0">
            <a:spAutoFit/>
          </a:bodyPr>
          <a:lstStyle/>
          <a:p>
            <a:r>
              <a:rPr lang="zh-CN" altLang="en-US" dirty="0"/>
              <a:t>        例如，在</a:t>
            </a:r>
            <a:r>
              <a:rPr lang="en-US" altLang="zh-CN" dirty="0" err="1"/>
              <a:t>k</a:t>
            </a:r>
            <a:r>
              <a:rPr lang="en-US" altLang="zh-CN" baseline="-25000" dirty="0" err="1"/>
              <a:t>x</a:t>
            </a:r>
            <a:r>
              <a:rPr lang="zh-CN" altLang="en-US" dirty="0"/>
              <a:t>方向，两个量子态之间的距离是：</a:t>
            </a:r>
          </a:p>
        </p:txBody>
      </p:sp>
      <p:pic>
        <p:nvPicPr>
          <p:cNvPr id="6" name="图片 5">
            <a:extLst>
              <a:ext uri="{FF2B5EF4-FFF2-40B4-BE49-F238E27FC236}">
                <a16:creationId xmlns:a16="http://schemas.microsoft.com/office/drawing/2014/main" id="{99B96E6E-263E-4F2F-8A7F-7FFCDBC6C077}"/>
              </a:ext>
            </a:extLst>
          </p:cNvPr>
          <p:cNvPicPr>
            <a:picLocks noChangeAspect="1"/>
          </p:cNvPicPr>
          <p:nvPr/>
        </p:nvPicPr>
        <p:blipFill>
          <a:blip r:embed="rId2"/>
          <a:stretch>
            <a:fillRect/>
          </a:stretch>
        </p:blipFill>
        <p:spPr>
          <a:xfrm>
            <a:off x="4404213" y="2165892"/>
            <a:ext cx="3383573" cy="1821338"/>
          </a:xfrm>
          <a:prstGeom prst="rect">
            <a:avLst/>
          </a:prstGeom>
        </p:spPr>
      </p:pic>
      <p:sp>
        <p:nvSpPr>
          <p:cNvPr id="8" name="矩形 7">
            <a:extLst>
              <a:ext uri="{FF2B5EF4-FFF2-40B4-BE49-F238E27FC236}">
                <a16:creationId xmlns:a16="http://schemas.microsoft.com/office/drawing/2014/main" id="{C8ACAAB9-B8FF-40D8-B7E7-8F10850164DD}"/>
              </a:ext>
            </a:extLst>
          </p:cNvPr>
          <p:cNvSpPr/>
          <p:nvPr/>
        </p:nvSpPr>
        <p:spPr>
          <a:xfrm>
            <a:off x="3882893" y="3987230"/>
            <a:ext cx="4426212" cy="276999"/>
          </a:xfrm>
          <a:prstGeom prst="rect">
            <a:avLst/>
          </a:prstGeom>
          <a:noFill/>
        </p:spPr>
        <p:txBody>
          <a:bodyPr wrap="none" lIns="91440" tIns="45720" rIns="91440" bIns="45720">
            <a:spAutoFit/>
          </a:bodyPr>
          <a:lstStyle/>
          <a:p>
            <a:pPr algn="ctr"/>
            <a:r>
              <a:rPr lang="zh-CN" altLang="en-US" sz="1200" b="0" cap="none" spc="0" dirty="0">
                <a:ln w="0"/>
                <a:solidFill>
                  <a:schemeClr val="tx1"/>
                </a:solidFill>
                <a:effectLst>
                  <a:outerShdw blurRad="38100" dist="19050" dir="2700000" algn="tl" rotWithShape="0">
                    <a:schemeClr val="dk1">
                      <a:alpha val="40000"/>
                    </a:schemeClr>
                  </a:outerShdw>
                </a:effectLst>
              </a:rPr>
              <a:t>图</a:t>
            </a:r>
            <a:r>
              <a:rPr lang="en-US" altLang="zh-CN" sz="1200" b="0" cap="none" spc="0" dirty="0">
                <a:ln w="0"/>
                <a:solidFill>
                  <a:schemeClr val="tx1"/>
                </a:solidFill>
                <a:effectLst>
                  <a:outerShdw blurRad="38100" dist="19050" dir="2700000" algn="tl" rotWithShape="0">
                    <a:schemeClr val="dk1">
                      <a:alpha val="40000"/>
                    </a:schemeClr>
                  </a:outerShdw>
                </a:effectLst>
              </a:rPr>
              <a:t>1</a:t>
            </a:r>
            <a:r>
              <a:rPr lang="zh-CN" altLang="en-US" sz="1200" b="0" cap="none" spc="0" dirty="0">
                <a:ln w="0"/>
                <a:solidFill>
                  <a:schemeClr val="tx1"/>
                </a:solidFill>
                <a:effectLst>
                  <a:outerShdw blurRad="38100" dist="19050" dir="2700000" algn="tl" rotWithShape="0">
                    <a:schemeClr val="dk1">
                      <a:alpha val="40000"/>
                    </a:schemeClr>
                  </a:outerShdw>
                </a:effectLst>
              </a:rPr>
              <a:t>：</a:t>
            </a:r>
            <a:r>
              <a:rPr lang="en-US" altLang="zh-CN" sz="1200" b="0" cap="none" spc="0" dirty="0">
                <a:ln w="0"/>
                <a:solidFill>
                  <a:schemeClr val="tx1"/>
                </a:solidFill>
                <a:effectLst>
                  <a:outerShdw blurRad="38100" dist="19050" dir="2700000" algn="tl" rotWithShape="0">
                    <a:schemeClr val="dk1">
                      <a:alpha val="40000"/>
                    </a:schemeClr>
                  </a:outerShdw>
                </a:effectLst>
              </a:rPr>
              <a:t>k</a:t>
            </a:r>
            <a:r>
              <a:rPr lang="zh-CN" altLang="en-US" sz="1200" b="0" cap="none" spc="0" dirty="0">
                <a:ln w="0"/>
                <a:solidFill>
                  <a:schemeClr val="tx1"/>
                </a:solidFill>
                <a:effectLst>
                  <a:outerShdw blurRad="38100" dist="19050" dir="2700000" algn="tl" rotWithShape="0">
                    <a:schemeClr val="dk1">
                      <a:alpha val="40000"/>
                    </a:schemeClr>
                  </a:outerShdw>
                </a:effectLst>
              </a:rPr>
              <a:t>空间的有效量子态的二维阵列</a:t>
            </a:r>
            <a:r>
              <a:rPr lang="en-US" altLang="zh-CN" sz="1200" b="0" cap="none" spc="0" dirty="0">
                <a:ln w="0"/>
                <a:solidFill>
                  <a:schemeClr val="tx1"/>
                </a:solidFill>
                <a:effectLst>
                  <a:outerShdw blurRad="38100" dist="19050" dir="2700000" algn="tl" rotWithShape="0">
                    <a:schemeClr val="dk1">
                      <a:alpha val="40000"/>
                    </a:schemeClr>
                  </a:outerShdw>
                </a:effectLst>
              </a:rPr>
              <a:t>;</a:t>
            </a:r>
            <a:r>
              <a:rPr lang="zh-CN" altLang="en-US" sz="1200" b="0" cap="none" spc="0" dirty="0">
                <a:ln w="0"/>
                <a:solidFill>
                  <a:schemeClr val="tx1"/>
                </a:solidFill>
                <a:effectLst>
                  <a:outerShdw blurRad="38100" dist="19050" dir="2700000" algn="tl" rotWithShape="0">
                    <a:schemeClr val="dk1">
                      <a:alpha val="40000"/>
                    </a:schemeClr>
                  </a:outerShdw>
                </a:effectLst>
              </a:rPr>
              <a:t>空间的正坐标的</a:t>
            </a:r>
            <a:r>
              <a:rPr lang="en-US" altLang="zh-CN" sz="1200" b="0" cap="none" spc="0" dirty="0">
                <a:ln w="0"/>
                <a:solidFill>
                  <a:schemeClr val="tx1"/>
                </a:solidFill>
                <a:effectLst>
                  <a:outerShdw blurRad="38100" dist="19050" dir="2700000" algn="tl" rotWithShape="0">
                    <a:schemeClr val="dk1">
                      <a:alpha val="40000"/>
                    </a:schemeClr>
                  </a:outerShdw>
                </a:effectLst>
              </a:rPr>
              <a:t>1/8</a:t>
            </a:r>
            <a:r>
              <a:rPr lang="zh-CN" altLang="en-US" sz="1200" b="0" cap="none" spc="0" dirty="0">
                <a:ln w="0"/>
                <a:solidFill>
                  <a:schemeClr val="tx1"/>
                </a:solidFill>
                <a:effectLst>
                  <a:outerShdw blurRad="38100" dist="19050" dir="2700000" algn="tl" rotWithShape="0">
                    <a:schemeClr val="dk1">
                      <a:alpha val="40000"/>
                    </a:schemeClr>
                  </a:outerShdw>
                </a:effectLst>
              </a:rPr>
              <a:t>个球体</a:t>
            </a:r>
          </a:p>
        </p:txBody>
      </p:sp>
      <p:graphicFrame>
        <p:nvGraphicFramePr>
          <p:cNvPr id="9" name="对象 8">
            <a:extLst>
              <a:ext uri="{FF2B5EF4-FFF2-40B4-BE49-F238E27FC236}">
                <a16:creationId xmlns:a16="http://schemas.microsoft.com/office/drawing/2014/main" id="{C3034F79-7C11-418B-9FC6-A0B85400B1ED}"/>
              </a:ext>
            </a:extLst>
          </p:cNvPr>
          <p:cNvGraphicFramePr>
            <a:graphicFrameLocks noChangeAspect="1"/>
          </p:cNvGraphicFramePr>
          <p:nvPr>
            <p:extLst>
              <p:ext uri="{D42A27DB-BD31-4B8C-83A1-F6EECF244321}">
                <p14:modId xmlns:p14="http://schemas.microsoft.com/office/powerpoint/2010/main" val="4175229981"/>
              </p:ext>
            </p:extLst>
          </p:nvPr>
        </p:nvGraphicFramePr>
        <p:xfrm>
          <a:off x="4495138" y="4611604"/>
          <a:ext cx="3201721" cy="597912"/>
        </p:xfrm>
        <a:graphic>
          <a:graphicData uri="http://schemas.openxmlformats.org/presentationml/2006/ole">
            <mc:AlternateContent xmlns:mc="http://schemas.openxmlformats.org/markup-compatibility/2006">
              <mc:Choice xmlns:v="urn:schemas-microsoft-com:vml" Requires="v">
                <p:oleObj name="Equation" r:id="rId3" imgW="2108160" imgH="393480" progId="Equation.DSMT4">
                  <p:embed/>
                </p:oleObj>
              </mc:Choice>
              <mc:Fallback>
                <p:oleObj name="Equation" r:id="rId3" imgW="2108160" imgH="393480" progId="Equation.DSMT4">
                  <p:embed/>
                  <p:pic>
                    <p:nvPicPr>
                      <p:cNvPr id="0" name=""/>
                      <p:cNvPicPr/>
                      <p:nvPr/>
                    </p:nvPicPr>
                    <p:blipFill>
                      <a:blip r:embed="rId4"/>
                      <a:stretch>
                        <a:fillRect/>
                      </a:stretch>
                    </p:blipFill>
                    <p:spPr>
                      <a:xfrm>
                        <a:off x="4495138" y="4611604"/>
                        <a:ext cx="3201721" cy="59791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BB60595A-DA90-4694-954D-46EE14E03D9F}"/>
              </a:ext>
            </a:extLst>
          </p:cNvPr>
          <p:cNvGraphicFramePr>
            <a:graphicFrameLocks noChangeAspect="1"/>
          </p:cNvGraphicFramePr>
          <p:nvPr>
            <p:extLst>
              <p:ext uri="{D42A27DB-BD31-4B8C-83A1-F6EECF244321}">
                <p14:modId xmlns:p14="http://schemas.microsoft.com/office/powerpoint/2010/main" val="2061544975"/>
              </p:ext>
            </p:extLst>
          </p:nvPr>
        </p:nvGraphicFramePr>
        <p:xfrm>
          <a:off x="10500929" y="4739471"/>
          <a:ext cx="384950" cy="342178"/>
        </p:xfrm>
        <a:graphic>
          <a:graphicData uri="http://schemas.openxmlformats.org/presentationml/2006/ole">
            <mc:AlternateContent xmlns:mc="http://schemas.openxmlformats.org/markup-compatibility/2006">
              <mc:Choice xmlns:v="urn:schemas-microsoft-com:vml" Requires="v">
                <p:oleObj name="Equation" r:id="rId5" imgW="228600" imgH="203040" progId="Equation.DSMT4">
                  <p:embed/>
                </p:oleObj>
              </mc:Choice>
              <mc:Fallback>
                <p:oleObj name="Equation" r:id="rId5" imgW="228600" imgH="203040" progId="Equation.DSMT4">
                  <p:embed/>
                  <p:pic>
                    <p:nvPicPr>
                      <p:cNvPr id="0" name=""/>
                      <p:cNvPicPr/>
                      <p:nvPr/>
                    </p:nvPicPr>
                    <p:blipFill>
                      <a:blip r:embed="rId6"/>
                      <a:stretch>
                        <a:fillRect/>
                      </a:stretch>
                    </p:blipFill>
                    <p:spPr>
                      <a:xfrm>
                        <a:off x="10500929" y="4739471"/>
                        <a:ext cx="384950" cy="342178"/>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595E9E7D-6748-4FA2-AEDE-CECB6AE2F478}"/>
              </a:ext>
            </a:extLst>
          </p:cNvPr>
          <p:cNvSpPr txBox="1"/>
          <p:nvPr/>
        </p:nvSpPr>
        <p:spPr>
          <a:xfrm>
            <a:off x="737755" y="5156476"/>
            <a:ext cx="10148124" cy="369332"/>
          </a:xfrm>
          <a:prstGeom prst="rect">
            <a:avLst/>
          </a:prstGeom>
          <a:noFill/>
        </p:spPr>
        <p:txBody>
          <a:bodyPr wrap="square" rtlCol="0">
            <a:spAutoFit/>
          </a:bodyPr>
          <a:lstStyle/>
          <a:p>
            <a:r>
              <a:rPr lang="zh-CN" altLang="en-US" dirty="0"/>
              <a:t>将这个结果推广到三维情形，一个量子态所占空间</a:t>
            </a:r>
            <a:r>
              <a:rPr lang="en-US" altLang="zh-CN" dirty="0" err="1"/>
              <a:t>V</a:t>
            </a:r>
            <a:r>
              <a:rPr lang="en-US" altLang="zh-CN" baseline="-25000" dirty="0" err="1"/>
              <a:t>k</a:t>
            </a:r>
            <a:r>
              <a:rPr lang="zh-CN" altLang="en-US" dirty="0"/>
              <a:t>为</a:t>
            </a:r>
          </a:p>
        </p:txBody>
      </p:sp>
      <p:graphicFrame>
        <p:nvGraphicFramePr>
          <p:cNvPr id="12" name="对象 11">
            <a:extLst>
              <a:ext uri="{FF2B5EF4-FFF2-40B4-BE49-F238E27FC236}">
                <a16:creationId xmlns:a16="http://schemas.microsoft.com/office/drawing/2014/main" id="{F519C606-EAF8-4F27-A50C-A8453788405E}"/>
              </a:ext>
            </a:extLst>
          </p:cNvPr>
          <p:cNvGraphicFramePr>
            <a:graphicFrameLocks noChangeAspect="1"/>
          </p:cNvGraphicFramePr>
          <p:nvPr>
            <p:extLst>
              <p:ext uri="{D42A27DB-BD31-4B8C-83A1-F6EECF244321}">
                <p14:modId xmlns:p14="http://schemas.microsoft.com/office/powerpoint/2010/main" val="789853196"/>
              </p:ext>
            </p:extLst>
          </p:nvPr>
        </p:nvGraphicFramePr>
        <p:xfrm>
          <a:off x="5279234" y="5574094"/>
          <a:ext cx="985832" cy="636683"/>
        </p:xfrm>
        <a:graphic>
          <a:graphicData uri="http://schemas.openxmlformats.org/presentationml/2006/ole">
            <mc:AlternateContent xmlns:mc="http://schemas.openxmlformats.org/markup-compatibility/2006">
              <mc:Choice xmlns:v="urn:schemas-microsoft-com:vml" Requires="v">
                <p:oleObj name="Equation" r:id="rId7" imgW="609480" imgH="393480" progId="Equation.DSMT4">
                  <p:embed/>
                </p:oleObj>
              </mc:Choice>
              <mc:Fallback>
                <p:oleObj name="Equation" r:id="rId7" imgW="609480" imgH="393480" progId="Equation.DSMT4">
                  <p:embed/>
                  <p:pic>
                    <p:nvPicPr>
                      <p:cNvPr id="0" name=""/>
                      <p:cNvPicPr/>
                      <p:nvPr/>
                    </p:nvPicPr>
                    <p:blipFill>
                      <a:blip r:embed="rId8"/>
                      <a:stretch>
                        <a:fillRect/>
                      </a:stretch>
                    </p:blipFill>
                    <p:spPr>
                      <a:xfrm>
                        <a:off x="5279234" y="5574094"/>
                        <a:ext cx="985832" cy="63668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F115A626-E798-42FE-B9D0-9C3866C77737}"/>
              </a:ext>
            </a:extLst>
          </p:cNvPr>
          <p:cNvGraphicFramePr>
            <a:graphicFrameLocks noChangeAspect="1"/>
          </p:cNvGraphicFramePr>
          <p:nvPr>
            <p:extLst>
              <p:ext uri="{D42A27DB-BD31-4B8C-83A1-F6EECF244321}">
                <p14:modId xmlns:p14="http://schemas.microsoft.com/office/powerpoint/2010/main" val="3890720949"/>
              </p:ext>
            </p:extLst>
          </p:nvPr>
        </p:nvGraphicFramePr>
        <p:xfrm>
          <a:off x="10500929" y="5726541"/>
          <a:ext cx="352524" cy="331787"/>
        </p:xfrm>
        <a:graphic>
          <a:graphicData uri="http://schemas.openxmlformats.org/presentationml/2006/ole">
            <mc:AlternateContent xmlns:mc="http://schemas.openxmlformats.org/markup-compatibility/2006">
              <mc:Choice xmlns:v="urn:schemas-microsoft-com:vml" Requires="v">
                <p:oleObj name="Equation" r:id="rId9" imgW="215640" imgH="203040" progId="Equation.DSMT4">
                  <p:embed/>
                </p:oleObj>
              </mc:Choice>
              <mc:Fallback>
                <p:oleObj name="Equation" r:id="rId9" imgW="215640" imgH="203040" progId="Equation.DSMT4">
                  <p:embed/>
                  <p:pic>
                    <p:nvPicPr>
                      <p:cNvPr id="0" name=""/>
                      <p:cNvPicPr/>
                      <p:nvPr/>
                    </p:nvPicPr>
                    <p:blipFill>
                      <a:blip r:embed="rId10"/>
                      <a:stretch>
                        <a:fillRect/>
                      </a:stretch>
                    </p:blipFill>
                    <p:spPr>
                      <a:xfrm>
                        <a:off x="10500929" y="5726541"/>
                        <a:ext cx="352524" cy="331787"/>
                      </a:xfrm>
                      <a:prstGeom prst="rect">
                        <a:avLst/>
                      </a:prstGeom>
                    </p:spPr>
                  </p:pic>
                </p:oleObj>
              </mc:Fallback>
            </mc:AlternateContent>
          </a:graphicData>
        </a:graphic>
      </p:graphicFrame>
    </p:spTree>
    <p:extLst>
      <p:ext uri="{BB962C8B-B14F-4D97-AF65-F5344CB8AC3E}">
        <p14:creationId xmlns:p14="http://schemas.microsoft.com/office/powerpoint/2010/main" val="3690980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77B0320-E97C-4F1E-B1AA-D87C8D592135}"/>
              </a:ext>
            </a:extLst>
          </p:cNvPr>
          <p:cNvSpPr>
            <a:spLocks noGrp="1"/>
          </p:cNvSpPr>
          <p:nvPr>
            <p:ph type="sldNum" sz="quarter" idx="12"/>
          </p:nvPr>
        </p:nvSpPr>
        <p:spPr/>
        <p:txBody>
          <a:bodyPr/>
          <a:lstStyle/>
          <a:p>
            <a:pPr>
              <a:defRPr/>
            </a:pPr>
            <a:fld id="{DB5F2CA6-A39B-48F7-84D1-AF91BD07D67D}" type="slidenum">
              <a:rPr lang="en-US" altLang="zh-CN" smtClean="0"/>
              <a:pPr>
                <a:defRPr/>
              </a:pPr>
              <a:t>5</a:t>
            </a:fld>
            <a:endParaRPr lang="en-US" altLang="zh-CN" dirty="0"/>
          </a:p>
        </p:txBody>
      </p:sp>
      <p:sp>
        <p:nvSpPr>
          <p:cNvPr id="5" name="矩形 4">
            <a:extLst>
              <a:ext uri="{FF2B5EF4-FFF2-40B4-BE49-F238E27FC236}">
                <a16:creationId xmlns:a16="http://schemas.microsoft.com/office/drawing/2014/main" id="{C7A6A22C-93BB-4360-8613-43F97EC8077A}"/>
              </a:ext>
            </a:extLst>
          </p:cNvPr>
          <p:cNvSpPr/>
          <p:nvPr/>
        </p:nvSpPr>
        <p:spPr>
          <a:xfrm>
            <a:off x="593440" y="442344"/>
            <a:ext cx="2339102" cy="523220"/>
          </a:xfrm>
          <a:prstGeom prst="rect">
            <a:avLst/>
          </a:prstGeom>
          <a:noFill/>
        </p:spPr>
        <p:txBody>
          <a:bodyPr wrap="none" lIns="91440" tIns="45720" rIns="91440" bIns="45720">
            <a:spAutoFit/>
          </a:bodyPr>
          <a:lstStyle/>
          <a:p>
            <a:pPr algn="ctr"/>
            <a:r>
              <a:rPr lang="zh-CN" altLang="en-US" sz="2800" dirty="0">
                <a:ln w="0"/>
                <a:effectLst>
                  <a:outerShdw blurRad="38100" dist="19050" dir="2700000" algn="tl" rotWithShape="0">
                    <a:schemeClr val="dk1">
                      <a:alpha val="40000"/>
                    </a:schemeClr>
                  </a:outerShdw>
                </a:effectLst>
              </a:rPr>
              <a:t>状态密度函数</a:t>
            </a:r>
            <a:endParaRPr lang="en-US" altLang="zh-CN" sz="2800" dirty="0">
              <a:ln w="0"/>
              <a:effectLst>
                <a:outerShdw blurRad="38100" dist="19050" dir="2700000" algn="tl" rotWithShape="0">
                  <a:schemeClr val="dk1">
                    <a:alpha val="40000"/>
                  </a:schemeClr>
                </a:outerShdw>
              </a:effectLst>
            </a:endParaRPr>
          </a:p>
        </p:txBody>
      </p:sp>
      <p:sp>
        <p:nvSpPr>
          <p:cNvPr id="2" name="文本框 1">
            <a:extLst>
              <a:ext uri="{FF2B5EF4-FFF2-40B4-BE49-F238E27FC236}">
                <a16:creationId xmlns:a16="http://schemas.microsoft.com/office/drawing/2014/main" id="{9753D007-5004-48B9-9F70-01B7F805724F}"/>
              </a:ext>
            </a:extLst>
          </p:cNvPr>
          <p:cNvSpPr txBox="1"/>
          <p:nvPr/>
        </p:nvSpPr>
        <p:spPr>
          <a:xfrm>
            <a:off x="727364" y="1070264"/>
            <a:ext cx="10550236" cy="646331"/>
          </a:xfrm>
          <a:prstGeom prst="rect">
            <a:avLst/>
          </a:prstGeom>
          <a:noFill/>
        </p:spPr>
        <p:txBody>
          <a:bodyPr wrap="square" rtlCol="0">
            <a:spAutoFit/>
          </a:bodyPr>
          <a:lstStyle/>
          <a:p>
            <a:r>
              <a:rPr lang="zh-CN" altLang="en-US" dirty="0"/>
              <a:t>现在就可以确定</a:t>
            </a:r>
            <a:r>
              <a:rPr lang="en-US" altLang="zh-CN" dirty="0"/>
              <a:t>k</a:t>
            </a:r>
            <a:r>
              <a:rPr lang="zh-CN" altLang="en-US" dirty="0"/>
              <a:t>空间的量子态密度了。</a:t>
            </a:r>
            <a:r>
              <a:rPr lang="en-US" altLang="zh-CN" dirty="0"/>
              <a:t>k</a:t>
            </a:r>
            <a:r>
              <a:rPr lang="zh-CN" altLang="en-US" dirty="0"/>
              <a:t>空间中的体积微元是</a:t>
            </a:r>
            <a:r>
              <a:rPr lang="en-US" altLang="zh-CN" dirty="0"/>
              <a:t>4</a:t>
            </a:r>
            <a:r>
              <a:rPr lang="el-GR" altLang="zh-CN" dirty="0">
                <a:ea typeface="宋体" panose="02010600030101010101" pitchFamily="2" charset="-122"/>
              </a:rPr>
              <a:t>π</a:t>
            </a:r>
            <a:r>
              <a:rPr lang="en-US" altLang="zh-CN" dirty="0">
                <a:ea typeface="宋体" panose="02010600030101010101" pitchFamily="2" charset="-122"/>
              </a:rPr>
              <a:t>k</a:t>
            </a:r>
            <a:r>
              <a:rPr lang="en-US" altLang="zh-CN" baseline="30000" dirty="0">
                <a:ea typeface="宋体" panose="02010600030101010101" pitchFamily="2" charset="-122"/>
              </a:rPr>
              <a:t>2</a:t>
            </a:r>
            <a:r>
              <a:rPr lang="en-US" altLang="zh-CN" dirty="0">
                <a:ea typeface="宋体" panose="02010600030101010101" pitchFamily="2" charset="-122"/>
              </a:rPr>
              <a:t>dk</a:t>
            </a:r>
            <a:r>
              <a:rPr lang="zh-CN" altLang="en-US" dirty="0">
                <a:ea typeface="宋体" panose="02010600030101010101" pitchFamily="2" charset="-122"/>
              </a:rPr>
              <a:t>，如图</a:t>
            </a:r>
            <a:r>
              <a:rPr lang="en-US" altLang="zh-CN" dirty="0">
                <a:ea typeface="宋体" panose="02010600030101010101" pitchFamily="2" charset="-122"/>
              </a:rPr>
              <a:t>1(b)</a:t>
            </a:r>
            <a:r>
              <a:rPr lang="zh-CN" altLang="en-US" dirty="0">
                <a:ea typeface="宋体" panose="02010600030101010101" pitchFamily="2" charset="-122"/>
              </a:rPr>
              <a:t>所示。因此</a:t>
            </a:r>
            <a:r>
              <a:rPr lang="en-US" altLang="zh-CN" dirty="0">
                <a:ea typeface="宋体" panose="02010600030101010101" pitchFamily="2" charset="-122"/>
              </a:rPr>
              <a:t>k</a:t>
            </a:r>
            <a:r>
              <a:rPr lang="zh-CN" altLang="en-US" dirty="0">
                <a:ea typeface="宋体" panose="02010600030101010101" pitchFamily="2" charset="-122"/>
              </a:rPr>
              <a:t>空间的量子态密度的微分为</a:t>
            </a:r>
            <a:endParaRPr lang="zh-CN" altLang="en-US" dirty="0"/>
          </a:p>
        </p:txBody>
      </p:sp>
      <p:graphicFrame>
        <p:nvGraphicFramePr>
          <p:cNvPr id="3" name="对象 2">
            <a:extLst>
              <a:ext uri="{FF2B5EF4-FFF2-40B4-BE49-F238E27FC236}">
                <a16:creationId xmlns:a16="http://schemas.microsoft.com/office/drawing/2014/main" id="{C560AB9D-8F07-4963-B836-6B630B74A8B8}"/>
              </a:ext>
            </a:extLst>
          </p:cNvPr>
          <p:cNvGraphicFramePr>
            <a:graphicFrameLocks noChangeAspect="1"/>
          </p:cNvGraphicFramePr>
          <p:nvPr>
            <p:extLst>
              <p:ext uri="{D42A27DB-BD31-4B8C-83A1-F6EECF244321}">
                <p14:modId xmlns:p14="http://schemas.microsoft.com/office/powerpoint/2010/main" val="1658709218"/>
              </p:ext>
            </p:extLst>
          </p:nvPr>
        </p:nvGraphicFramePr>
        <p:xfrm>
          <a:off x="4783138" y="1716088"/>
          <a:ext cx="2438400" cy="992187"/>
        </p:xfrm>
        <a:graphic>
          <a:graphicData uri="http://schemas.openxmlformats.org/presentationml/2006/ole">
            <mc:AlternateContent xmlns:mc="http://schemas.openxmlformats.org/markup-compatibility/2006">
              <mc:Choice xmlns:v="urn:schemas-microsoft-com:vml" Requires="v">
                <p:oleObj name="Equation" r:id="rId2" imgW="1498320" imgH="609480" progId="Equation.DSMT4">
                  <p:embed/>
                </p:oleObj>
              </mc:Choice>
              <mc:Fallback>
                <p:oleObj name="Equation" r:id="rId2" imgW="1498320" imgH="609480" progId="Equation.DSMT4">
                  <p:embed/>
                  <p:pic>
                    <p:nvPicPr>
                      <p:cNvPr id="0" name=""/>
                      <p:cNvPicPr/>
                      <p:nvPr/>
                    </p:nvPicPr>
                    <p:blipFill>
                      <a:blip r:embed="rId3"/>
                      <a:stretch>
                        <a:fillRect/>
                      </a:stretch>
                    </p:blipFill>
                    <p:spPr>
                      <a:xfrm>
                        <a:off x="4783138" y="1716088"/>
                        <a:ext cx="2438400" cy="992187"/>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EB1D6326-84B7-4727-8B7B-0723B6A62068}"/>
              </a:ext>
            </a:extLst>
          </p:cNvPr>
          <p:cNvGraphicFramePr>
            <a:graphicFrameLocks noChangeAspect="1"/>
          </p:cNvGraphicFramePr>
          <p:nvPr>
            <p:extLst>
              <p:ext uri="{D42A27DB-BD31-4B8C-83A1-F6EECF244321}">
                <p14:modId xmlns:p14="http://schemas.microsoft.com/office/powerpoint/2010/main" val="1461168966"/>
              </p:ext>
            </p:extLst>
          </p:nvPr>
        </p:nvGraphicFramePr>
        <p:xfrm>
          <a:off x="10880960" y="2036404"/>
          <a:ext cx="396640" cy="352569"/>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p:nvPr/>
                    </p:nvPicPr>
                    <p:blipFill>
                      <a:blip r:embed="rId5"/>
                      <a:stretch>
                        <a:fillRect/>
                      </a:stretch>
                    </p:blipFill>
                    <p:spPr>
                      <a:xfrm>
                        <a:off x="10880960" y="2036404"/>
                        <a:ext cx="396640" cy="352569"/>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9462CDE3-0D9B-4326-BBC7-4124172416BE}"/>
              </a:ext>
            </a:extLst>
          </p:cNvPr>
          <p:cNvSpPr txBox="1"/>
          <p:nvPr/>
        </p:nvSpPr>
        <p:spPr>
          <a:xfrm>
            <a:off x="748146" y="2844800"/>
            <a:ext cx="10550236" cy="646331"/>
          </a:xfrm>
          <a:prstGeom prst="rect">
            <a:avLst/>
          </a:prstGeom>
          <a:noFill/>
        </p:spPr>
        <p:txBody>
          <a:bodyPr wrap="square" rtlCol="0">
            <a:spAutoFit/>
          </a:bodyPr>
          <a:lstStyle/>
          <a:p>
            <a:r>
              <a:rPr lang="zh-CN" altLang="en-US" dirty="0"/>
              <a:t>其中第一个因子“</a:t>
            </a:r>
            <a:r>
              <a:rPr lang="en-US" altLang="zh-CN" dirty="0"/>
              <a:t>2</a:t>
            </a:r>
            <a:r>
              <a:rPr lang="zh-CN" altLang="en-US" dirty="0"/>
              <a:t>”代表每个量子态的两种自旋状态。第二个因子“</a:t>
            </a:r>
            <a:r>
              <a:rPr lang="en-US" altLang="zh-CN" dirty="0"/>
              <a:t>1/8</a:t>
            </a:r>
            <a:r>
              <a:rPr lang="zh-CN" altLang="en-US" dirty="0"/>
              <a:t>”代表的只是</a:t>
            </a:r>
            <a:r>
              <a:rPr lang="en-US" altLang="zh-CN" dirty="0" err="1"/>
              <a:t>kx</a:t>
            </a:r>
            <a:r>
              <a:rPr lang="zh-CN" altLang="en-US" dirty="0"/>
              <a:t>，</a:t>
            </a:r>
            <a:r>
              <a:rPr lang="en-US" altLang="zh-CN" dirty="0" err="1"/>
              <a:t>ky</a:t>
            </a:r>
            <a:r>
              <a:rPr lang="zh-CN" altLang="en-US" dirty="0"/>
              <a:t>和</a:t>
            </a:r>
            <a:r>
              <a:rPr lang="en-US" altLang="zh-CN" dirty="0" err="1"/>
              <a:t>kz</a:t>
            </a:r>
            <a:r>
              <a:rPr lang="zh-CN" altLang="en-US" dirty="0"/>
              <a:t>的正值。前面提到的因子</a:t>
            </a:r>
            <a:r>
              <a:rPr lang="en-US" altLang="zh-CN" dirty="0"/>
              <a:t>4</a:t>
            </a:r>
            <a:r>
              <a:rPr lang="el-GR" altLang="zh-CN" dirty="0">
                <a:ea typeface="宋体" panose="02010600030101010101" pitchFamily="2" charset="-122"/>
              </a:rPr>
              <a:t>π</a:t>
            </a:r>
            <a:r>
              <a:rPr lang="en-US" altLang="zh-CN" dirty="0">
                <a:ea typeface="宋体" panose="02010600030101010101" pitchFamily="2" charset="-122"/>
              </a:rPr>
              <a:t>k</a:t>
            </a:r>
            <a:r>
              <a:rPr lang="en-US" altLang="zh-CN" baseline="30000" dirty="0">
                <a:ea typeface="宋体" panose="02010600030101010101" pitchFamily="2" charset="-122"/>
              </a:rPr>
              <a:t>2</a:t>
            </a:r>
            <a:r>
              <a:rPr lang="en-US" altLang="zh-CN" dirty="0">
                <a:ea typeface="宋体" panose="02010600030101010101" pitchFamily="2" charset="-122"/>
              </a:rPr>
              <a:t>dk</a:t>
            </a:r>
            <a:r>
              <a:rPr lang="zh-CN" altLang="en-US" dirty="0">
                <a:ea typeface="宋体" panose="02010600030101010101" pitchFamily="2" charset="-122"/>
              </a:rPr>
              <a:t>代表体积微元，因子</a:t>
            </a:r>
            <a:r>
              <a:rPr lang="en-US" altLang="zh-CN" dirty="0">
                <a:ea typeface="宋体" panose="02010600030101010101" pitchFamily="2" charset="-122"/>
              </a:rPr>
              <a:t>(</a:t>
            </a:r>
            <a:r>
              <a:rPr lang="el-GR" altLang="zh-CN" dirty="0">
                <a:ea typeface="宋体" panose="02010600030101010101" pitchFamily="2" charset="-122"/>
              </a:rPr>
              <a:t>π</a:t>
            </a:r>
            <a:r>
              <a:rPr lang="en-US" altLang="zh-CN" dirty="0">
                <a:ea typeface="宋体" panose="02010600030101010101" pitchFamily="2" charset="-122"/>
              </a:rPr>
              <a:t>/a)</a:t>
            </a:r>
            <a:r>
              <a:rPr lang="en-US" altLang="zh-CN" baseline="30000" dirty="0">
                <a:ea typeface="宋体" panose="02010600030101010101" pitchFamily="2" charset="-122"/>
              </a:rPr>
              <a:t>3</a:t>
            </a:r>
            <a:r>
              <a:rPr lang="zh-CN" altLang="en-US" dirty="0">
                <a:ea typeface="宋体" panose="02010600030101010101" pitchFamily="2" charset="-122"/>
              </a:rPr>
              <a:t>代表一个量子态的体积，上式可简化为</a:t>
            </a:r>
            <a:endParaRPr lang="zh-CN" altLang="en-US" dirty="0"/>
          </a:p>
        </p:txBody>
      </p:sp>
      <p:graphicFrame>
        <p:nvGraphicFramePr>
          <p:cNvPr id="8" name="对象 7">
            <a:extLst>
              <a:ext uri="{FF2B5EF4-FFF2-40B4-BE49-F238E27FC236}">
                <a16:creationId xmlns:a16="http://schemas.microsoft.com/office/drawing/2014/main" id="{8A73677D-3FAC-40B4-B777-5E70FF83F671}"/>
              </a:ext>
            </a:extLst>
          </p:cNvPr>
          <p:cNvGraphicFramePr>
            <a:graphicFrameLocks noChangeAspect="1"/>
          </p:cNvGraphicFramePr>
          <p:nvPr>
            <p:extLst>
              <p:ext uri="{D42A27DB-BD31-4B8C-83A1-F6EECF244321}">
                <p14:modId xmlns:p14="http://schemas.microsoft.com/office/powerpoint/2010/main" val="2800101891"/>
              </p:ext>
            </p:extLst>
          </p:nvPr>
        </p:nvGraphicFramePr>
        <p:xfrm>
          <a:off x="5062537" y="3429000"/>
          <a:ext cx="2066925" cy="682625"/>
        </p:xfrm>
        <a:graphic>
          <a:graphicData uri="http://schemas.openxmlformats.org/presentationml/2006/ole">
            <mc:AlternateContent xmlns:mc="http://schemas.openxmlformats.org/markup-compatibility/2006">
              <mc:Choice xmlns:v="urn:schemas-microsoft-com:vml" Requires="v">
                <p:oleObj name="Equation" r:id="rId6" imgW="1269720" imgH="419040" progId="Equation.DSMT4">
                  <p:embed/>
                </p:oleObj>
              </mc:Choice>
              <mc:Fallback>
                <p:oleObj name="Equation" r:id="rId6" imgW="1269720" imgH="419040" progId="Equation.DSMT4">
                  <p:embed/>
                  <p:pic>
                    <p:nvPicPr>
                      <p:cNvPr id="3" name="对象 2">
                        <a:extLst>
                          <a:ext uri="{FF2B5EF4-FFF2-40B4-BE49-F238E27FC236}">
                            <a16:creationId xmlns:a16="http://schemas.microsoft.com/office/drawing/2014/main" id="{C560AB9D-8F07-4963-B836-6B630B74A8B8}"/>
                          </a:ext>
                        </a:extLst>
                      </p:cNvPr>
                      <p:cNvPicPr/>
                      <p:nvPr/>
                    </p:nvPicPr>
                    <p:blipFill>
                      <a:blip r:embed="rId7"/>
                      <a:stretch>
                        <a:fillRect/>
                      </a:stretch>
                    </p:blipFill>
                    <p:spPr>
                      <a:xfrm>
                        <a:off x="5062537" y="3429000"/>
                        <a:ext cx="2066925" cy="68262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E6F4E53-53D7-4A0B-B2DE-6BC6D8876418}"/>
              </a:ext>
            </a:extLst>
          </p:cNvPr>
          <p:cNvGraphicFramePr>
            <a:graphicFrameLocks noChangeAspect="1"/>
          </p:cNvGraphicFramePr>
          <p:nvPr>
            <p:extLst>
              <p:ext uri="{D42A27DB-BD31-4B8C-83A1-F6EECF244321}">
                <p14:modId xmlns:p14="http://schemas.microsoft.com/office/powerpoint/2010/main" val="3313418439"/>
              </p:ext>
            </p:extLst>
          </p:nvPr>
        </p:nvGraphicFramePr>
        <p:xfrm>
          <a:off x="10878687" y="3592369"/>
          <a:ext cx="398913" cy="354589"/>
        </p:xfrm>
        <a:graphic>
          <a:graphicData uri="http://schemas.openxmlformats.org/presentationml/2006/ole">
            <mc:AlternateContent xmlns:mc="http://schemas.openxmlformats.org/markup-compatibility/2006">
              <mc:Choice xmlns:v="urn:schemas-microsoft-com:vml" Requires="v">
                <p:oleObj name="Equation" r:id="rId8" imgW="228600" imgH="203040" progId="Equation.DSMT4">
                  <p:embed/>
                </p:oleObj>
              </mc:Choice>
              <mc:Fallback>
                <p:oleObj name="Equation" r:id="rId8" imgW="228600" imgH="203040" progId="Equation.DSMT4">
                  <p:embed/>
                  <p:pic>
                    <p:nvPicPr>
                      <p:cNvPr id="0" name=""/>
                      <p:cNvPicPr/>
                      <p:nvPr/>
                    </p:nvPicPr>
                    <p:blipFill>
                      <a:blip r:embed="rId9"/>
                      <a:stretch>
                        <a:fillRect/>
                      </a:stretch>
                    </p:blipFill>
                    <p:spPr>
                      <a:xfrm>
                        <a:off x="10878687" y="3592369"/>
                        <a:ext cx="398913" cy="354589"/>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E4704BA3-327F-4454-A76B-B7A37830360E}"/>
              </a:ext>
            </a:extLst>
          </p:cNvPr>
          <p:cNvSpPr txBox="1"/>
          <p:nvPr/>
        </p:nvSpPr>
        <p:spPr>
          <a:xfrm>
            <a:off x="748146" y="4150951"/>
            <a:ext cx="10456718" cy="646331"/>
          </a:xfrm>
          <a:prstGeom prst="rect">
            <a:avLst/>
          </a:prstGeom>
          <a:noFill/>
        </p:spPr>
        <p:txBody>
          <a:bodyPr wrap="square" rtlCol="0">
            <a:spAutoFit/>
          </a:bodyPr>
          <a:lstStyle/>
          <a:p>
            <a:r>
              <a:rPr lang="zh-CN" altLang="en-US" dirty="0"/>
              <a:t>        上式给出了量子态密度函数，这实际是有关动量的函数，其中动量用参数</a:t>
            </a:r>
            <a:r>
              <a:rPr lang="en-US" altLang="zh-CN" dirty="0"/>
              <a:t>k</a:t>
            </a:r>
            <a:r>
              <a:rPr lang="zh-CN" altLang="en-US" dirty="0"/>
              <a:t>代替。还可以将量子态密度函数用能量</a:t>
            </a:r>
            <a:r>
              <a:rPr lang="en-US" altLang="zh-CN" dirty="0"/>
              <a:t>E</a:t>
            </a:r>
            <a:r>
              <a:rPr lang="zh-CN" altLang="en-US" dirty="0"/>
              <a:t>的函数表示。对于自由粒子来说，参数</a:t>
            </a:r>
            <a:r>
              <a:rPr lang="en-US" altLang="zh-CN" dirty="0">
                <a:solidFill>
                  <a:srgbClr val="FF0000"/>
                </a:solidFill>
              </a:rPr>
              <a:t>E</a:t>
            </a:r>
            <a:r>
              <a:rPr lang="zh-CN" altLang="en-US" dirty="0">
                <a:solidFill>
                  <a:srgbClr val="FF0000"/>
                </a:solidFill>
              </a:rPr>
              <a:t>和</a:t>
            </a:r>
            <a:r>
              <a:rPr lang="en-US" altLang="zh-CN" dirty="0">
                <a:solidFill>
                  <a:srgbClr val="FF0000"/>
                </a:solidFill>
              </a:rPr>
              <a:t>k</a:t>
            </a:r>
            <a:r>
              <a:rPr lang="zh-CN" altLang="en-US" dirty="0">
                <a:solidFill>
                  <a:srgbClr val="FF0000"/>
                </a:solidFill>
              </a:rPr>
              <a:t>的关系</a:t>
            </a:r>
            <a:r>
              <a:rPr lang="en-US" altLang="zh-CN" dirty="0">
                <a:solidFill>
                  <a:srgbClr val="FF0000"/>
                </a:solidFill>
              </a:rPr>
              <a:t>(2)</a:t>
            </a:r>
            <a:r>
              <a:rPr lang="zh-CN" altLang="en-US" dirty="0"/>
              <a:t>为</a:t>
            </a:r>
          </a:p>
        </p:txBody>
      </p:sp>
      <p:graphicFrame>
        <p:nvGraphicFramePr>
          <p:cNvPr id="11" name="对象 10">
            <a:extLst>
              <a:ext uri="{FF2B5EF4-FFF2-40B4-BE49-F238E27FC236}">
                <a16:creationId xmlns:a16="http://schemas.microsoft.com/office/drawing/2014/main" id="{FE71D21B-F31F-4D0C-B3E7-E0325D6DA2C9}"/>
              </a:ext>
            </a:extLst>
          </p:cNvPr>
          <p:cNvGraphicFramePr>
            <a:graphicFrameLocks noChangeAspect="1"/>
          </p:cNvGraphicFramePr>
          <p:nvPr>
            <p:extLst>
              <p:ext uri="{D42A27DB-BD31-4B8C-83A1-F6EECF244321}">
                <p14:modId xmlns:p14="http://schemas.microsoft.com/office/powerpoint/2010/main" val="762862214"/>
              </p:ext>
            </p:extLst>
          </p:nvPr>
        </p:nvGraphicFramePr>
        <p:xfrm>
          <a:off x="5507205" y="4797282"/>
          <a:ext cx="1177588" cy="702024"/>
        </p:xfrm>
        <a:graphic>
          <a:graphicData uri="http://schemas.openxmlformats.org/presentationml/2006/ole">
            <mc:AlternateContent xmlns:mc="http://schemas.openxmlformats.org/markup-compatibility/2006">
              <mc:Choice xmlns:v="urn:schemas-microsoft-com:vml" Requires="v">
                <p:oleObj name="Equation" r:id="rId10" imgW="660240" imgH="393480" progId="Equation.DSMT4">
                  <p:embed/>
                </p:oleObj>
              </mc:Choice>
              <mc:Fallback>
                <p:oleObj name="Equation" r:id="rId10" imgW="660240" imgH="393480" progId="Equation.DSMT4">
                  <p:embed/>
                  <p:pic>
                    <p:nvPicPr>
                      <p:cNvPr id="0" name=""/>
                      <p:cNvPicPr/>
                      <p:nvPr/>
                    </p:nvPicPr>
                    <p:blipFill>
                      <a:blip r:embed="rId11"/>
                      <a:stretch>
                        <a:fillRect/>
                      </a:stretch>
                    </p:blipFill>
                    <p:spPr>
                      <a:xfrm>
                        <a:off x="5507205" y="4797282"/>
                        <a:ext cx="1177588" cy="702024"/>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BFF77197-3BC1-4A9D-ADEA-7CF5877F7E11}"/>
              </a:ext>
            </a:extLst>
          </p:cNvPr>
          <p:cNvGraphicFramePr>
            <a:graphicFrameLocks noChangeAspect="1"/>
          </p:cNvGraphicFramePr>
          <p:nvPr>
            <p:extLst>
              <p:ext uri="{D42A27DB-BD31-4B8C-83A1-F6EECF244321}">
                <p14:modId xmlns:p14="http://schemas.microsoft.com/office/powerpoint/2010/main" val="3854183280"/>
              </p:ext>
            </p:extLst>
          </p:nvPr>
        </p:nvGraphicFramePr>
        <p:xfrm>
          <a:off x="10794778" y="5001275"/>
          <a:ext cx="570135" cy="396225"/>
        </p:xfrm>
        <a:graphic>
          <a:graphicData uri="http://schemas.openxmlformats.org/presentationml/2006/ole">
            <mc:AlternateContent xmlns:mc="http://schemas.openxmlformats.org/markup-compatibility/2006">
              <mc:Choice xmlns:v="urn:schemas-microsoft-com:vml" Requires="v">
                <p:oleObj name="Equation" r:id="rId12" imgW="291960" imgH="203040" progId="Equation.DSMT4">
                  <p:embed/>
                </p:oleObj>
              </mc:Choice>
              <mc:Fallback>
                <p:oleObj name="Equation" r:id="rId12" imgW="291960" imgH="203040" progId="Equation.DSMT4">
                  <p:embed/>
                  <p:pic>
                    <p:nvPicPr>
                      <p:cNvPr id="0" name=""/>
                      <p:cNvPicPr/>
                      <p:nvPr/>
                    </p:nvPicPr>
                    <p:blipFill>
                      <a:blip r:embed="rId13"/>
                      <a:stretch>
                        <a:fillRect/>
                      </a:stretch>
                    </p:blipFill>
                    <p:spPr>
                      <a:xfrm>
                        <a:off x="10794778" y="5001275"/>
                        <a:ext cx="570135" cy="396225"/>
                      </a:xfrm>
                      <a:prstGeom prst="rect">
                        <a:avLst/>
                      </a:prstGeom>
                    </p:spPr>
                  </p:pic>
                </p:oleObj>
              </mc:Fallback>
            </mc:AlternateContent>
          </a:graphicData>
        </a:graphic>
      </p:graphicFrame>
      <p:sp>
        <p:nvSpPr>
          <p:cNvPr id="13" name="文本框 12">
            <a:extLst>
              <a:ext uri="{FF2B5EF4-FFF2-40B4-BE49-F238E27FC236}">
                <a16:creationId xmlns:a16="http://schemas.microsoft.com/office/drawing/2014/main" id="{2B7EFD13-262F-44C1-8C21-511483D43C12}"/>
              </a:ext>
            </a:extLst>
          </p:cNvPr>
          <p:cNvSpPr txBox="1"/>
          <p:nvPr/>
        </p:nvSpPr>
        <p:spPr>
          <a:xfrm>
            <a:off x="748146" y="5499306"/>
            <a:ext cx="1007918" cy="369332"/>
          </a:xfrm>
          <a:prstGeom prst="rect">
            <a:avLst/>
          </a:prstGeom>
          <a:noFill/>
        </p:spPr>
        <p:txBody>
          <a:bodyPr wrap="square" rtlCol="0">
            <a:spAutoFit/>
          </a:bodyPr>
          <a:lstStyle/>
          <a:p>
            <a:r>
              <a:rPr lang="zh-CN" altLang="en-US" dirty="0"/>
              <a:t>或</a:t>
            </a:r>
          </a:p>
        </p:txBody>
      </p:sp>
      <p:graphicFrame>
        <p:nvGraphicFramePr>
          <p:cNvPr id="14" name="对象 13">
            <a:extLst>
              <a:ext uri="{FF2B5EF4-FFF2-40B4-BE49-F238E27FC236}">
                <a16:creationId xmlns:a16="http://schemas.microsoft.com/office/drawing/2014/main" id="{65634E82-A131-4CB9-9685-D11AD9228948}"/>
              </a:ext>
            </a:extLst>
          </p:cNvPr>
          <p:cNvGraphicFramePr>
            <a:graphicFrameLocks noChangeAspect="1"/>
          </p:cNvGraphicFramePr>
          <p:nvPr>
            <p:extLst>
              <p:ext uri="{D42A27DB-BD31-4B8C-83A1-F6EECF244321}">
                <p14:modId xmlns:p14="http://schemas.microsoft.com/office/powerpoint/2010/main" val="3265754233"/>
              </p:ext>
            </p:extLst>
          </p:nvPr>
        </p:nvGraphicFramePr>
        <p:xfrm>
          <a:off x="5355359" y="5865594"/>
          <a:ext cx="1481282" cy="717113"/>
        </p:xfrm>
        <a:graphic>
          <a:graphicData uri="http://schemas.openxmlformats.org/presentationml/2006/ole">
            <mc:AlternateContent xmlns:mc="http://schemas.openxmlformats.org/markup-compatibility/2006">
              <mc:Choice xmlns:v="urn:schemas-microsoft-com:vml" Requires="v">
                <p:oleObj name="Equation" r:id="rId14" imgW="812520" imgH="393480" progId="Equation.DSMT4">
                  <p:embed/>
                </p:oleObj>
              </mc:Choice>
              <mc:Fallback>
                <p:oleObj name="Equation" r:id="rId14" imgW="812520" imgH="393480" progId="Equation.DSMT4">
                  <p:embed/>
                  <p:pic>
                    <p:nvPicPr>
                      <p:cNvPr id="0" name=""/>
                      <p:cNvPicPr/>
                      <p:nvPr/>
                    </p:nvPicPr>
                    <p:blipFill>
                      <a:blip r:embed="rId15"/>
                      <a:stretch>
                        <a:fillRect/>
                      </a:stretch>
                    </p:blipFill>
                    <p:spPr>
                      <a:xfrm>
                        <a:off x="5355359" y="5865594"/>
                        <a:ext cx="1481282" cy="717113"/>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E6F845B8-C2E1-43EB-96CF-2B4B2541EFE1}"/>
              </a:ext>
            </a:extLst>
          </p:cNvPr>
          <p:cNvGraphicFramePr>
            <a:graphicFrameLocks noChangeAspect="1"/>
          </p:cNvGraphicFramePr>
          <p:nvPr>
            <p:extLst>
              <p:ext uri="{D42A27DB-BD31-4B8C-83A1-F6EECF244321}">
                <p14:modId xmlns:p14="http://schemas.microsoft.com/office/powerpoint/2010/main" val="2378574657"/>
              </p:ext>
            </p:extLst>
          </p:nvPr>
        </p:nvGraphicFramePr>
        <p:xfrm>
          <a:off x="10796952" y="6000122"/>
          <a:ext cx="629483" cy="419655"/>
        </p:xfrm>
        <a:graphic>
          <a:graphicData uri="http://schemas.openxmlformats.org/presentationml/2006/ole">
            <mc:AlternateContent xmlns:mc="http://schemas.openxmlformats.org/markup-compatibility/2006">
              <mc:Choice xmlns:v="urn:schemas-microsoft-com:vml" Requires="v">
                <p:oleObj name="Equation" r:id="rId16" imgW="304560" imgH="203040" progId="Equation.DSMT4">
                  <p:embed/>
                </p:oleObj>
              </mc:Choice>
              <mc:Fallback>
                <p:oleObj name="Equation" r:id="rId16" imgW="304560" imgH="203040" progId="Equation.DSMT4">
                  <p:embed/>
                  <p:pic>
                    <p:nvPicPr>
                      <p:cNvPr id="0" name=""/>
                      <p:cNvPicPr/>
                      <p:nvPr/>
                    </p:nvPicPr>
                    <p:blipFill>
                      <a:blip r:embed="rId17"/>
                      <a:stretch>
                        <a:fillRect/>
                      </a:stretch>
                    </p:blipFill>
                    <p:spPr>
                      <a:xfrm>
                        <a:off x="10796952" y="6000122"/>
                        <a:ext cx="629483" cy="419655"/>
                      </a:xfrm>
                      <a:prstGeom prst="rect">
                        <a:avLst/>
                      </a:prstGeom>
                    </p:spPr>
                  </p:pic>
                </p:oleObj>
              </mc:Fallback>
            </mc:AlternateContent>
          </a:graphicData>
        </a:graphic>
      </p:graphicFrame>
    </p:spTree>
    <p:extLst>
      <p:ext uri="{BB962C8B-B14F-4D97-AF65-F5344CB8AC3E}">
        <p14:creationId xmlns:p14="http://schemas.microsoft.com/office/powerpoint/2010/main" val="4123642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77B0320-E97C-4F1E-B1AA-D87C8D592135}"/>
              </a:ext>
            </a:extLst>
          </p:cNvPr>
          <p:cNvSpPr>
            <a:spLocks noGrp="1"/>
          </p:cNvSpPr>
          <p:nvPr>
            <p:ph type="sldNum" sz="quarter" idx="12"/>
          </p:nvPr>
        </p:nvSpPr>
        <p:spPr/>
        <p:txBody>
          <a:bodyPr/>
          <a:lstStyle/>
          <a:p>
            <a:pPr>
              <a:defRPr/>
            </a:pPr>
            <a:fld id="{DB5F2CA6-A39B-48F7-84D1-AF91BD07D67D}" type="slidenum">
              <a:rPr lang="en-US" altLang="zh-CN" smtClean="0"/>
              <a:pPr>
                <a:defRPr/>
              </a:pPr>
              <a:t>6</a:t>
            </a:fld>
            <a:endParaRPr lang="en-US" altLang="zh-CN" dirty="0"/>
          </a:p>
        </p:txBody>
      </p:sp>
      <p:sp>
        <p:nvSpPr>
          <p:cNvPr id="5" name="矩形 4">
            <a:extLst>
              <a:ext uri="{FF2B5EF4-FFF2-40B4-BE49-F238E27FC236}">
                <a16:creationId xmlns:a16="http://schemas.microsoft.com/office/drawing/2014/main" id="{C7A6A22C-93BB-4360-8613-43F97EC8077A}"/>
              </a:ext>
            </a:extLst>
          </p:cNvPr>
          <p:cNvSpPr/>
          <p:nvPr/>
        </p:nvSpPr>
        <p:spPr>
          <a:xfrm>
            <a:off x="593440" y="442344"/>
            <a:ext cx="2339102" cy="523220"/>
          </a:xfrm>
          <a:prstGeom prst="rect">
            <a:avLst/>
          </a:prstGeom>
          <a:noFill/>
        </p:spPr>
        <p:txBody>
          <a:bodyPr wrap="none" lIns="91440" tIns="45720" rIns="91440" bIns="45720">
            <a:spAutoFit/>
          </a:bodyPr>
          <a:lstStyle/>
          <a:p>
            <a:pPr algn="ctr"/>
            <a:r>
              <a:rPr lang="zh-CN" altLang="en-US" sz="2800" dirty="0">
                <a:ln w="0"/>
                <a:effectLst>
                  <a:outerShdw blurRad="38100" dist="19050" dir="2700000" algn="tl" rotWithShape="0">
                    <a:schemeClr val="dk1">
                      <a:alpha val="40000"/>
                    </a:schemeClr>
                  </a:outerShdw>
                </a:effectLst>
              </a:rPr>
              <a:t>状态密度函数</a:t>
            </a:r>
            <a:endParaRPr lang="en-US" altLang="zh-CN" sz="2800" dirty="0">
              <a:ln w="0"/>
              <a:effectLst>
                <a:outerShdw blurRad="38100" dist="19050" dir="2700000" algn="tl" rotWithShape="0">
                  <a:schemeClr val="dk1">
                    <a:alpha val="40000"/>
                  </a:schemeClr>
                </a:outerShdw>
              </a:effectLst>
            </a:endParaRPr>
          </a:p>
        </p:txBody>
      </p:sp>
      <p:sp>
        <p:nvSpPr>
          <p:cNvPr id="16" name="文本框 15">
            <a:extLst>
              <a:ext uri="{FF2B5EF4-FFF2-40B4-BE49-F238E27FC236}">
                <a16:creationId xmlns:a16="http://schemas.microsoft.com/office/drawing/2014/main" id="{7D73C290-B48D-4F00-829E-22B281F57AD3}"/>
              </a:ext>
            </a:extLst>
          </p:cNvPr>
          <p:cNvSpPr txBox="1"/>
          <p:nvPr/>
        </p:nvSpPr>
        <p:spPr>
          <a:xfrm>
            <a:off x="706582" y="965564"/>
            <a:ext cx="3522518" cy="369332"/>
          </a:xfrm>
          <a:prstGeom prst="rect">
            <a:avLst/>
          </a:prstGeom>
          <a:noFill/>
        </p:spPr>
        <p:txBody>
          <a:bodyPr wrap="square" rtlCol="0">
            <a:spAutoFit/>
          </a:bodyPr>
          <a:lstStyle/>
          <a:p>
            <a:r>
              <a:rPr lang="zh-CN" altLang="en-US" dirty="0"/>
              <a:t>从而微分</a:t>
            </a:r>
            <a:r>
              <a:rPr lang="en-US" altLang="zh-CN" dirty="0"/>
              <a:t>dk</a:t>
            </a:r>
            <a:r>
              <a:rPr lang="zh-CN" altLang="en-US" dirty="0"/>
              <a:t>为</a:t>
            </a:r>
          </a:p>
        </p:txBody>
      </p:sp>
      <p:graphicFrame>
        <p:nvGraphicFramePr>
          <p:cNvPr id="18" name="对象 17">
            <a:extLst>
              <a:ext uri="{FF2B5EF4-FFF2-40B4-BE49-F238E27FC236}">
                <a16:creationId xmlns:a16="http://schemas.microsoft.com/office/drawing/2014/main" id="{48AD6DFE-6EE4-4292-820A-95F1AE6F4422}"/>
              </a:ext>
            </a:extLst>
          </p:cNvPr>
          <p:cNvGraphicFramePr>
            <a:graphicFrameLocks noChangeAspect="1"/>
          </p:cNvGraphicFramePr>
          <p:nvPr>
            <p:extLst>
              <p:ext uri="{D42A27DB-BD31-4B8C-83A1-F6EECF244321}">
                <p14:modId xmlns:p14="http://schemas.microsoft.com/office/powerpoint/2010/main" val="2294156280"/>
              </p:ext>
            </p:extLst>
          </p:nvPr>
        </p:nvGraphicFramePr>
        <p:xfrm>
          <a:off x="5236686" y="1334896"/>
          <a:ext cx="1718627" cy="781194"/>
        </p:xfrm>
        <a:graphic>
          <a:graphicData uri="http://schemas.openxmlformats.org/presentationml/2006/ole">
            <mc:AlternateContent xmlns:mc="http://schemas.openxmlformats.org/markup-compatibility/2006">
              <mc:Choice xmlns:v="urn:schemas-microsoft-com:vml" Requires="v">
                <p:oleObj name="Equation" r:id="rId2" imgW="977760" imgH="444240" progId="Equation.DSMT4">
                  <p:embed/>
                </p:oleObj>
              </mc:Choice>
              <mc:Fallback>
                <p:oleObj name="Equation" r:id="rId2" imgW="977760" imgH="444240" progId="Equation.DSMT4">
                  <p:embed/>
                  <p:pic>
                    <p:nvPicPr>
                      <p:cNvPr id="14" name="对象 13">
                        <a:extLst>
                          <a:ext uri="{FF2B5EF4-FFF2-40B4-BE49-F238E27FC236}">
                            <a16:creationId xmlns:a16="http://schemas.microsoft.com/office/drawing/2014/main" id="{65634E82-A131-4CB9-9685-D11AD9228948}"/>
                          </a:ext>
                        </a:extLst>
                      </p:cNvPr>
                      <p:cNvPicPr/>
                      <p:nvPr/>
                    </p:nvPicPr>
                    <p:blipFill>
                      <a:blip r:embed="rId3"/>
                      <a:stretch>
                        <a:fillRect/>
                      </a:stretch>
                    </p:blipFill>
                    <p:spPr>
                      <a:xfrm>
                        <a:off x="5236686" y="1334896"/>
                        <a:ext cx="1718627" cy="781194"/>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5B09BDE8-B4E5-4B83-9ED8-C04EE67B009B}"/>
              </a:ext>
            </a:extLst>
          </p:cNvPr>
          <p:cNvGraphicFramePr>
            <a:graphicFrameLocks noChangeAspect="1"/>
          </p:cNvGraphicFramePr>
          <p:nvPr>
            <p:extLst>
              <p:ext uri="{D42A27DB-BD31-4B8C-83A1-F6EECF244321}">
                <p14:modId xmlns:p14="http://schemas.microsoft.com/office/powerpoint/2010/main" val="3196066898"/>
              </p:ext>
            </p:extLst>
          </p:nvPr>
        </p:nvGraphicFramePr>
        <p:xfrm>
          <a:off x="10880960" y="1549208"/>
          <a:ext cx="396640" cy="352569"/>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p:nvPr/>
                    </p:nvPicPr>
                    <p:blipFill>
                      <a:blip r:embed="rId5"/>
                      <a:stretch>
                        <a:fillRect/>
                      </a:stretch>
                    </p:blipFill>
                    <p:spPr>
                      <a:xfrm>
                        <a:off x="10880960" y="1549208"/>
                        <a:ext cx="396640" cy="352569"/>
                      </a:xfrm>
                      <a:prstGeom prst="rect">
                        <a:avLst/>
                      </a:prstGeom>
                    </p:spPr>
                  </p:pic>
                </p:oleObj>
              </mc:Fallback>
            </mc:AlternateContent>
          </a:graphicData>
        </a:graphic>
      </p:graphicFrame>
      <p:sp>
        <p:nvSpPr>
          <p:cNvPr id="20" name="文本框 19">
            <a:extLst>
              <a:ext uri="{FF2B5EF4-FFF2-40B4-BE49-F238E27FC236}">
                <a16:creationId xmlns:a16="http://schemas.microsoft.com/office/drawing/2014/main" id="{2143295C-0DF1-4B6B-BBE1-F4DD215F6F6B}"/>
              </a:ext>
            </a:extLst>
          </p:cNvPr>
          <p:cNvSpPr txBox="1"/>
          <p:nvPr/>
        </p:nvSpPr>
        <p:spPr>
          <a:xfrm>
            <a:off x="706582" y="2116090"/>
            <a:ext cx="10370127" cy="369332"/>
          </a:xfrm>
          <a:prstGeom prst="rect">
            <a:avLst/>
          </a:prstGeom>
          <a:noFill/>
        </p:spPr>
        <p:txBody>
          <a:bodyPr wrap="square" rtlCol="0">
            <a:spAutoFit/>
          </a:bodyPr>
          <a:lstStyle/>
          <a:p>
            <a:r>
              <a:rPr lang="zh-CN" altLang="en-US" dirty="0"/>
              <a:t>将</a:t>
            </a:r>
            <a:r>
              <a:rPr lang="en-US" altLang="zh-CN" dirty="0"/>
              <a:t>k</a:t>
            </a:r>
            <a:r>
              <a:rPr lang="en-US" altLang="zh-CN" baseline="30000" dirty="0"/>
              <a:t>2</a:t>
            </a:r>
            <a:r>
              <a:rPr lang="zh-CN" altLang="en-US" dirty="0"/>
              <a:t>和</a:t>
            </a:r>
            <a:r>
              <a:rPr lang="en-US" altLang="zh-CN" dirty="0"/>
              <a:t>dk</a:t>
            </a:r>
            <a:r>
              <a:rPr lang="zh-CN" altLang="en-US" dirty="0"/>
              <a:t>的表达式代入</a:t>
            </a:r>
            <a:r>
              <a:rPr lang="en-US" altLang="zh-CN" dirty="0"/>
              <a:t>(7)</a:t>
            </a:r>
            <a:r>
              <a:rPr lang="zh-CN" altLang="en-US" dirty="0"/>
              <a:t>，就可以得出</a:t>
            </a:r>
            <a:r>
              <a:rPr lang="en-US" altLang="zh-CN" dirty="0"/>
              <a:t>E</a:t>
            </a:r>
            <a:r>
              <a:rPr lang="zh-CN" altLang="en-US" dirty="0"/>
              <a:t>和</a:t>
            </a:r>
            <a:r>
              <a:rPr lang="en-US" altLang="zh-CN" dirty="0"/>
              <a:t>E+</a:t>
            </a:r>
            <a:r>
              <a:rPr lang="el-GR" altLang="zh-CN" dirty="0">
                <a:ea typeface="宋体" panose="02010600030101010101" pitchFamily="2" charset="-122"/>
              </a:rPr>
              <a:t>Δ</a:t>
            </a:r>
            <a:r>
              <a:rPr lang="en-US" altLang="zh-CN" dirty="0">
                <a:ea typeface="宋体" panose="02010600030101010101" pitchFamily="2" charset="-122"/>
              </a:rPr>
              <a:t>E</a:t>
            </a:r>
            <a:r>
              <a:rPr lang="zh-CN" altLang="en-US" dirty="0">
                <a:ea typeface="宋体" panose="02010600030101010101" pitchFamily="2" charset="-122"/>
              </a:rPr>
              <a:t>之间的能量状态数：</a:t>
            </a:r>
            <a:endParaRPr lang="zh-CN" altLang="en-US" dirty="0"/>
          </a:p>
        </p:txBody>
      </p:sp>
      <p:graphicFrame>
        <p:nvGraphicFramePr>
          <p:cNvPr id="21" name="对象 20">
            <a:extLst>
              <a:ext uri="{FF2B5EF4-FFF2-40B4-BE49-F238E27FC236}">
                <a16:creationId xmlns:a16="http://schemas.microsoft.com/office/drawing/2014/main" id="{15F28BD4-FE6C-411C-9390-1D8277AEADFC}"/>
              </a:ext>
            </a:extLst>
          </p:cNvPr>
          <p:cNvGraphicFramePr>
            <a:graphicFrameLocks noChangeAspect="1"/>
          </p:cNvGraphicFramePr>
          <p:nvPr>
            <p:extLst>
              <p:ext uri="{D42A27DB-BD31-4B8C-83A1-F6EECF244321}">
                <p14:modId xmlns:p14="http://schemas.microsoft.com/office/powerpoint/2010/main" val="1869985195"/>
              </p:ext>
            </p:extLst>
          </p:nvPr>
        </p:nvGraphicFramePr>
        <p:xfrm>
          <a:off x="4209973" y="2485422"/>
          <a:ext cx="3772051" cy="781194"/>
        </p:xfrm>
        <a:graphic>
          <a:graphicData uri="http://schemas.openxmlformats.org/presentationml/2006/ole">
            <mc:AlternateContent xmlns:mc="http://schemas.openxmlformats.org/markup-compatibility/2006">
              <mc:Choice xmlns:v="urn:schemas-microsoft-com:vml" Requires="v">
                <p:oleObj name="Equation" r:id="rId6" imgW="2145960" imgH="444240" progId="Equation.DSMT4">
                  <p:embed/>
                </p:oleObj>
              </mc:Choice>
              <mc:Fallback>
                <p:oleObj name="Equation" r:id="rId6" imgW="2145960" imgH="444240" progId="Equation.DSMT4">
                  <p:embed/>
                  <p:pic>
                    <p:nvPicPr>
                      <p:cNvPr id="0" name=""/>
                      <p:cNvPicPr/>
                      <p:nvPr/>
                    </p:nvPicPr>
                    <p:blipFill>
                      <a:blip r:embed="rId7"/>
                      <a:stretch>
                        <a:fillRect/>
                      </a:stretch>
                    </p:blipFill>
                    <p:spPr>
                      <a:xfrm>
                        <a:off x="4209973" y="2485422"/>
                        <a:ext cx="3772051" cy="781194"/>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F4697C1B-61C7-4F08-AE85-EBBBA9D99719}"/>
              </a:ext>
            </a:extLst>
          </p:cNvPr>
          <p:cNvGraphicFramePr>
            <a:graphicFrameLocks noChangeAspect="1"/>
          </p:cNvGraphicFramePr>
          <p:nvPr>
            <p:extLst>
              <p:ext uri="{D42A27DB-BD31-4B8C-83A1-F6EECF244321}">
                <p14:modId xmlns:p14="http://schemas.microsoft.com/office/powerpoint/2010/main" val="4212916187"/>
              </p:ext>
            </p:extLst>
          </p:nvPr>
        </p:nvGraphicFramePr>
        <p:xfrm>
          <a:off x="10820400" y="2699735"/>
          <a:ext cx="512618" cy="356604"/>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0" name=""/>
                      <p:cNvPicPr/>
                      <p:nvPr/>
                    </p:nvPicPr>
                    <p:blipFill>
                      <a:blip r:embed="rId9"/>
                      <a:stretch>
                        <a:fillRect/>
                      </a:stretch>
                    </p:blipFill>
                    <p:spPr>
                      <a:xfrm>
                        <a:off x="10820400" y="2699735"/>
                        <a:ext cx="512618" cy="356604"/>
                      </a:xfrm>
                      <a:prstGeom prst="rect">
                        <a:avLst/>
                      </a:prstGeom>
                    </p:spPr>
                  </p:pic>
                </p:oleObj>
              </mc:Fallback>
            </mc:AlternateContent>
          </a:graphicData>
        </a:graphic>
      </p:graphicFrame>
      <p:sp>
        <p:nvSpPr>
          <p:cNvPr id="23" name="文本框 22">
            <a:extLst>
              <a:ext uri="{FF2B5EF4-FFF2-40B4-BE49-F238E27FC236}">
                <a16:creationId xmlns:a16="http://schemas.microsoft.com/office/drawing/2014/main" id="{FB5108D3-73C7-469B-9D64-3B121E7ADD05}"/>
              </a:ext>
            </a:extLst>
          </p:cNvPr>
          <p:cNvSpPr txBox="1"/>
          <p:nvPr/>
        </p:nvSpPr>
        <p:spPr>
          <a:xfrm>
            <a:off x="706581" y="3266616"/>
            <a:ext cx="7949045" cy="369332"/>
          </a:xfrm>
          <a:prstGeom prst="rect">
            <a:avLst/>
          </a:prstGeom>
          <a:noFill/>
        </p:spPr>
        <p:txBody>
          <a:bodyPr wrap="square" rtlCol="0">
            <a:spAutoFit/>
          </a:bodyPr>
          <a:lstStyle/>
          <a:p>
            <a:r>
              <a:rPr lang="zh-CN" altLang="en-US" dirty="0"/>
              <a:t>因为</a:t>
            </a:r>
            <a:r>
              <a:rPr lang="en-US" altLang="zh-CN" dirty="0"/>
              <a:t>ħ=h/2</a:t>
            </a:r>
            <a:r>
              <a:rPr lang="el-GR" altLang="zh-CN" dirty="0">
                <a:ea typeface="宋体" panose="02010600030101010101" pitchFamily="2" charset="-122"/>
              </a:rPr>
              <a:t>π</a:t>
            </a:r>
            <a:r>
              <a:rPr lang="zh-CN" altLang="en-US" dirty="0">
                <a:ea typeface="宋体" panose="02010600030101010101" pitchFamily="2" charset="-122"/>
              </a:rPr>
              <a:t>，上式变为</a:t>
            </a:r>
            <a:endParaRPr lang="zh-CN" altLang="en-US" dirty="0"/>
          </a:p>
        </p:txBody>
      </p:sp>
      <p:graphicFrame>
        <p:nvGraphicFramePr>
          <p:cNvPr id="24" name="对象 23">
            <a:extLst>
              <a:ext uri="{FF2B5EF4-FFF2-40B4-BE49-F238E27FC236}">
                <a16:creationId xmlns:a16="http://schemas.microsoft.com/office/drawing/2014/main" id="{3786E314-C360-4527-946E-3DFB9C2DC4F7}"/>
              </a:ext>
            </a:extLst>
          </p:cNvPr>
          <p:cNvGraphicFramePr>
            <a:graphicFrameLocks noChangeAspect="1"/>
          </p:cNvGraphicFramePr>
          <p:nvPr>
            <p:extLst>
              <p:ext uri="{D42A27DB-BD31-4B8C-83A1-F6EECF244321}">
                <p14:modId xmlns:p14="http://schemas.microsoft.com/office/powerpoint/2010/main" val="3257452614"/>
              </p:ext>
            </p:extLst>
          </p:nvPr>
        </p:nvGraphicFramePr>
        <p:xfrm>
          <a:off x="4205288" y="3632200"/>
          <a:ext cx="3779837" cy="784225"/>
        </p:xfrm>
        <a:graphic>
          <a:graphicData uri="http://schemas.openxmlformats.org/presentationml/2006/ole">
            <mc:AlternateContent xmlns:mc="http://schemas.openxmlformats.org/markup-compatibility/2006">
              <mc:Choice xmlns:v="urn:schemas-microsoft-com:vml" Requires="v">
                <p:oleObj name="Equation" r:id="rId10" imgW="2019240" imgH="419040" progId="Equation.DSMT4">
                  <p:embed/>
                </p:oleObj>
              </mc:Choice>
              <mc:Fallback>
                <p:oleObj name="Equation" r:id="rId10" imgW="2019240" imgH="419040" progId="Equation.DSMT4">
                  <p:embed/>
                  <p:pic>
                    <p:nvPicPr>
                      <p:cNvPr id="0" name=""/>
                      <p:cNvPicPr/>
                      <p:nvPr/>
                    </p:nvPicPr>
                    <p:blipFill>
                      <a:blip r:embed="rId11"/>
                      <a:stretch>
                        <a:fillRect/>
                      </a:stretch>
                    </p:blipFill>
                    <p:spPr>
                      <a:xfrm>
                        <a:off x="4205288" y="3632200"/>
                        <a:ext cx="3779837" cy="784225"/>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6F0790F8-5F43-4BFA-AB24-3EF5AB806672}"/>
              </a:ext>
            </a:extLst>
          </p:cNvPr>
          <p:cNvGraphicFramePr>
            <a:graphicFrameLocks noChangeAspect="1"/>
          </p:cNvGraphicFramePr>
          <p:nvPr>
            <p:extLst>
              <p:ext uri="{D42A27DB-BD31-4B8C-83A1-F6EECF244321}">
                <p14:modId xmlns:p14="http://schemas.microsoft.com/office/powerpoint/2010/main" val="3189054300"/>
              </p:ext>
            </p:extLst>
          </p:nvPr>
        </p:nvGraphicFramePr>
        <p:xfrm>
          <a:off x="10820399" y="3834491"/>
          <a:ext cx="512619" cy="372814"/>
        </p:xfrm>
        <a:graphic>
          <a:graphicData uri="http://schemas.openxmlformats.org/presentationml/2006/ole">
            <mc:AlternateContent xmlns:mc="http://schemas.openxmlformats.org/markup-compatibility/2006">
              <mc:Choice xmlns:v="urn:schemas-microsoft-com:vml" Requires="v">
                <p:oleObj name="Equation" r:id="rId12" imgW="279360" imgH="203040" progId="Equation.DSMT4">
                  <p:embed/>
                </p:oleObj>
              </mc:Choice>
              <mc:Fallback>
                <p:oleObj name="Equation" r:id="rId12" imgW="279360" imgH="203040" progId="Equation.DSMT4">
                  <p:embed/>
                  <p:pic>
                    <p:nvPicPr>
                      <p:cNvPr id="0" name=""/>
                      <p:cNvPicPr/>
                      <p:nvPr/>
                    </p:nvPicPr>
                    <p:blipFill>
                      <a:blip r:embed="rId13"/>
                      <a:stretch>
                        <a:fillRect/>
                      </a:stretch>
                    </p:blipFill>
                    <p:spPr>
                      <a:xfrm>
                        <a:off x="10820399" y="3834491"/>
                        <a:ext cx="512619" cy="372814"/>
                      </a:xfrm>
                      <a:prstGeom prst="rect">
                        <a:avLst/>
                      </a:prstGeom>
                    </p:spPr>
                  </p:pic>
                </p:oleObj>
              </mc:Fallback>
            </mc:AlternateContent>
          </a:graphicData>
        </a:graphic>
      </p:graphicFrame>
      <p:sp>
        <p:nvSpPr>
          <p:cNvPr id="26" name="文本框 25">
            <a:extLst>
              <a:ext uri="{FF2B5EF4-FFF2-40B4-BE49-F238E27FC236}">
                <a16:creationId xmlns:a16="http://schemas.microsoft.com/office/drawing/2014/main" id="{99602BAF-6496-4E09-8D68-19E1CA14280B}"/>
              </a:ext>
            </a:extLst>
          </p:cNvPr>
          <p:cNvSpPr txBox="1"/>
          <p:nvPr/>
        </p:nvSpPr>
        <p:spPr>
          <a:xfrm>
            <a:off x="831272" y="4417142"/>
            <a:ext cx="10629899" cy="646331"/>
          </a:xfrm>
          <a:prstGeom prst="rect">
            <a:avLst/>
          </a:prstGeom>
          <a:noFill/>
        </p:spPr>
        <p:txBody>
          <a:bodyPr wrap="square" rtlCol="0">
            <a:spAutoFit/>
          </a:bodyPr>
          <a:lstStyle/>
          <a:p>
            <a:r>
              <a:rPr lang="zh-CN" altLang="en-US" dirty="0"/>
              <a:t>上式给出了体积为</a:t>
            </a:r>
            <a:r>
              <a:rPr lang="en-US" altLang="zh-CN" dirty="0"/>
              <a:t>a</a:t>
            </a:r>
            <a:r>
              <a:rPr lang="en-US" altLang="zh-CN" baseline="30000" dirty="0"/>
              <a:t>3</a:t>
            </a:r>
            <a:r>
              <a:rPr lang="zh-CN" altLang="en-US" dirty="0"/>
              <a:t>的晶体中能量</a:t>
            </a:r>
            <a:r>
              <a:rPr lang="en-US" altLang="zh-CN" dirty="0"/>
              <a:t>E</a:t>
            </a:r>
            <a:r>
              <a:rPr lang="zh-CN" altLang="en-US" dirty="0"/>
              <a:t>和</a:t>
            </a:r>
            <a:r>
              <a:rPr lang="en-US" altLang="zh-CN" dirty="0"/>
              <a:t>E+</a:t>
            </a:r>
            <a:r>
              <a:rPr lang="el-GR" altLang="zh-CN" dirty="0">
                <a:ea typeface="宋体" panose="02010600030101010101" pitchFamily="2" charset="-122"/>
              </a:rPr>
              <a:t>Δ</a:t>
            </a:r>
            <a:r>
              <a:rPr lang="en-US" altLang="zh-CN" dirty="0">
                <a:ea typeface="宋体" panose="02010600030101010101" pitchFamily="2" charset="-122"/>
              </a:rPr>
              <a:t>E</a:t>
            </a:r>
            <a:r>
              <a:rPr lang="zh-CN" altLang="en-US" dirty="0">
                <a:ea typeface="宋体" panose="02010600030101010101" pitchFamily="2" charset="-122"/>
              </a:rPr>
              <a:t>之间的量子状态总数。如果将结果除以</a:t>
            </a:r>
            <a:r>
              <a:rPr lang="en-US" altLang="zh-CN" dirty="0">
                <a:ea typeface="宋体" panose="02010600030101010101" pitchFamily="2" charset="-122"/>
              </a:rPr>
              <a:t>a</a:t>
            </a:r>
            <a:r>
              <a:rPr lang="en-US" altLang="zh-CN" baseline="30000" dirty="0">
                <a:ea typeface="宋体" panose="02010600030101010101" pitchFamily="2" charset="-122"/>
              </a:rPr>
              <a:t>3</a:t>
            </a:r>
            <a:r>
              <a:rPr lang="zh-CN" altLang="en-US" dirty="0">
                <a:ea typeface="宋体" panose="02010600030101010101" pitchFamily="2" charset="-122"/>
              </a:rPr>
              <a:t>，就得到了单位体积的量子态密度。即</a:t>
            </a:r>
            <a:endParaRPr lang="zh-CN" altLang="en-US" dirty="0"/>
          </a:p>
        </p:txBody>
      </p:sp>
      <p:graphicFrame>
        <p:nvGraphicFramePr>
          <p:cNvPr id="27" name="对象 26">
            <a:extLst>
              <a:ext uri="{FF2B5EF4-FFF2-40B4-BE49-F238E27FC236}">
                <a16:creationId xmlns:a16="http://schemas.microsoft.com/office/drawing/2014/main" id="{FBC86DD8-2BAD-4593-82BB-1EF97FCEA5D7}"/>
              </a:ext>
            </a:extLst>
          </p:cNvPr>
          <p:cNvGraphicFramePr>
            <a:graphicFrameLocks noChangeAspect="1"/>
          </p:cNvGraphicFramePr>
          <p:nvPr>
            <p:extLst>
              <p:ext uri="{D42A27DB-BD31-4B8C-83A1-F6EECF244321}">
                <p14:modId xmlns:p14="http://schemas.microsoft.com/office/powerpoint/2010/main" val="2019982843"/>
              </p:ext>
            </p:extLst>
          </p:nvPr>
        </p:nvGraphicFramePr>
        <p:xfrm>
          <a:off x="4803349" y="5063473"/>
          <a:ext cx="2583713" cy="782225"/>
        </p:xfrm>
        <a:graphic>
          <a:graphicData uri="http://schemas.openxmlformats.org/presentationml/2006/ole">
            <mc:AlternateContent xmlns:mc="http://schemas.openxmlformats.org/markup-compatibility/2006">
              <mc:Choice xmlns:v="urn:schemas-microsoft-com:vml" Requires="v">
                <p:oleObj name="Equation" r:id="rId14" imgW="1384200" imgH="419040" progId="Equation.DSMT4">
                  <p:embed/>
                </p:oleObj>
              </mc:Choice>
              <mc:Fallback>
                <p:oleObj name="Equation" r:id="rId14" imgW="1384200" imgH="419040" progId="Equation.DSMT4">
                  <p:embed/>
                  <p:pic>
                    <p:nvPicPr>
                      <p:cNvPr id="0" name=""/>
                      <p:cNvPicPr/>
                      <p:nvPr/>
                    </p:nvPicPr>
                    <p:blipFill>
                      <a:blip r:embed="rId15"/>
                      <a:stretch>
                        <a:fillRect/>
                      </a:stretch>
                    </p:blipFill>
                    <p:spPr>
                      <a:xfrm>
                        <a:off x="4803349" y="5063473"/>
                        <a:ext cx="2583713" cy="782225"/>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DFFC3F31-FA80-4CD2-BBF8-1B45EC9E6D6D}"/>
              </a:ext>
            </a:extLst>
          </p:cNvPr>
          <p:cNvGraphicFramePr>
            <a:graphicFrameLocks noChangeAspect="1"/>
          </p:cNvGraphicFramePr>
          <p:nvPr>
            <p:extLst>
              <p:ext uri="{D42A27DB-BD31-4B8C-83A1-F6EECF244321}">
                <p14:modId xmlns:p14="http://schemas.microsoft.com/office/powerpoint/2010/main" val="3895735849"/>
              </p:ext>
            </p:extLst>
          </p:nvPr>
        </p:nvGraphicFramePr>
        <p:xfrm>
          <a:off x="10808748" y="5297751"/>
          <a:ext cx="535920" cy="372814"/>
        </p:xfrm>
        <a:graphic>
          <a:graphicData uri="http://schemas.openxmlformats.org/presentationml/2006/ole">
            <mc:AlternateContent xmlns:mc="http://schemas.openxmlformats.org/markup-compatibility/2006">
              <mc:Choice xmlns:v="urn:schemas-microsoft-com:vml" Requires="v">
                <p:oleObj name="Equation" r:id="rId16" imgW="291960" imgH="203040" progId="Equation.DSMT4">
                  <p:embed/>
                </p:oleObj>
              </mc:Choice>
              <mc:Fallback>
                <p:oleObj name="Equation" r:id="rId16" imgW="291960" imgH="203040" progId="Equation.DSMT4">
                  <p:embed/>
                  <p:pic>
                    <p:nvPicPr>
                      <p:cNvPr id="0" name=""/>
                      <p:cNvPicPr/>
                      <p:nvPr/>
                    </p:nvPicPr>
                    <p:blipFill>
                      <a:blip r:embed="rId17"/>
                      <a:stretch>
                        <a:fillRect/>
                      </a:stretch>
                    </p:blipFill>
                    <p:spPr>
                      <a:xfrm>
                        <a:off x="10808748" y="5297751"/>
                        <a:ext cx="535920" cy="372814"/>
                      </a:xfrm>
                      <a:prstGeom prst="rect">
                        <a:avLst/>
                      </a:prstGeom>
                    </p:spPr>
                  </p:pic>
                </p:oleObj>
              </mc:Fallback>
            </mc:AlternateContent>
          </a:graphicData>
        </a:graphic>
      </p:graphicFrame>
      <p:sp>
        <p:nvSpPr>
          <p:cNvPr id="29" name="文本框 28">
            <a:extLst>
              <a:ext uri="{FF2B5EF4-FFF2-40B4-BE49-F238E27FC236}">
                <a16:creationId xmlns:a16="http://schemas.microsoft.com/office/drawing/2014/main" id="{B46624D3-23E4-41A8-8AA6-828D1296450C}"/>
              </a:ext>
            </a:extLst>
          </p:cNvPr>
          <p:cNvSpPr txBox="1"/>
          <p:nvPr/>
        </p:nvSpPr>
        <p:spPr>
          <a:xfrm>
            <a:off x="831271" y="5837821"/>
            <a:ext cx="10629901" cy="646331"/>
          </a:xfrm>
          <a:prstGeom prst="rect">
            <a:avLst/>
          </a:prstGeom>
          <a:noFill/>
        </p:spPr>
        <p:txBody>
          <a:bodyPr wrap="square" rtlCol="0">
            <a:spAutoFit/>
          </a:bodyPr>
          <a:lstStyle/>
          <a:p>
            <a:r>
              <a:rPr lang="zh-CN" altLang="en-US" dirty="0"/>
              <a:t>量子态密度是能量</a:t>
            </a:r>
            <a:r>
              <a:rPr lang="en-US" altLang="zh-CN" dirty="0"/>
              <a:t>E</a:t>
            </a:r>
            <a:r>
              <a:rPr lang="zh-CN" altLang="en-US" dirty="0"/>
              <a:t>的函数。随着自由粒子能量的减弱，有效量子态的数量也逐渐减少。而且这个密度函数实际是双重密度，也就是说，密度是在单位能量和单位体积中求得的。</a:t>
            </a:r>
          </a:p>
        </p:txBody>
      </p:sp>
    </p:spTree>
    <p:extLst>
      <p:ext uri="{BB962C8B-B14F-4D97-AF65-F5344CB8AC3E}">
        <p14:creationId xmlns:p14="http://schemas.microsoft.com/office/powerpoint/2010/main" val="2805232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352BAAE-EB4A-4FD7-B504-42A5E461A534}"/>
              </a:ext>
            </a:extLst>
          </p:cNvPr>
          <p:cNvSpPr>
            <a:spLocks noGrp="1"/>
          </p:cNvSpPr>
          <p:nvPr>
            <p:ph type="sldNum" sz="quarter" idx="12"/>
          </p:nvPr>
        </p:nvSpPr>
        <p:spPr/>
        <p:txBody>
          <a:bodyPr/>
          <a:lstStyle/>
          <a:p>
            <a:pPr>
              <a:defRPr/>
            </a:pPr>
            <a:fld id="{DB5F2CA6-A39B-48F7-84D1-AF91BD07D67D}" type="slidenum">
              <a:rPr lang="en-US" altLang="zh-CN" smtClean="0"/>
              <a:pPr>
                <a:defRPr/>
              </a:pPr>
              <a:t>7</a:t>
            </a:fld>
            <a:endParaRPr lang="en-US" altLang="zh-CN"/>
          </a:p>
        </p:txBody>
      </p:sp>
      <p:sp>
        <p:nvSpPr>
          <p:cNvPr id="5" name="矩形 4">
            <a:extLst>
              <a:ext uri="{FF2B5EF4-FFF2-40B4-BE49-F238E27FC236}">
                <a16:creationId xmlns:a16="http://schemas.microsoft.com/office/drawing/2014/main" id="{B794ACD3-DB90-4750-A4D7-454E74389F96}"/>
              </a:ext>
            </a:extLst>
          </p:cNvPr>
          <p:cNvSpPr/>
          <p:nvPr/>
        </p:nvSpPr>
        <p:spPr>
          <a:xfrm>
            <a:off x="2361740" y="3105834"/>
            <a:ext cx="7468519" cy="646331"/>
          </a:xfrm>
          <a:prstGeom prst="rect">
            <a:avLst/>
          </a:prstGeom>
          <a:noFill/>
        </p:spPr>
        <p:txBody>
          <a:bodyPr wrap="none" lIns="91440" tIns="45720" rIns="91440" bIns="45720">
            <a:spAutoFit/>
          </a:bodyPr>
          <a:lstStyle/>
          <a:p>
            <a:pPr algn="ctr"/>
            <a:r>
              <a:rPr lang="zh-CN" altLang="en-US" sz="3600" b="0" cap="none" spc="0" dirty="0">
                <a:ln w="0"/>
                <a:solidFill>
                  <a:srgbClr val="FF0000"/>
                </a:solidFill>
                <a:effectLst>
                  <a:outerShdw blurRad="38100" dist="19050" dir="2700000" algn="tl" rotWithShape="0">
                    <a:schemeClr val="dk1">
                      <a:alpha val="40000"/>
                    </a:schemeClr>
                  </a:outerShdw>
                </a:effectLst>
              </a:rPr>
              <a:t>备注：本</a:t>
            </a:r>
            <a:r>
              <a:rPr lang="en-US" altLang="zh-CN" sz="3600" b="0" cap="none" spc="0" dirty="0">
                <a:ln w="0"/>
                <a:solidFill>
                  <a:srgbClr val="FF0000"/>
                </a:solidFill>
                <a:effectLst>
                  <a:outerShdw blurRad="38100" dist="19050" dir="2700000" algn="tl" rotWithShape="0">
                    <a:schemeClr val="dk1">
                      <a:alpha val="40000"/>
                    </a:schemeClr>
                  </a:outerShdw>
                </a:effectLst>
              </a:rPr>
              <a:t>ppt</a:t>
            </a:r>
            <a:r>
              <a:rPr lang="zh-CN" altLang="en-US" sz="3600" b="0" cap="none" spc="0" dirty="0">
                <a:ln w="0"/>
                <a:solidFill>
                  <a:srgbClr val="FF0000"/>
                </a:solidFill>
                <a:effectLst>
                  <a:outerShdw blurRad="38100" dist="19050" dir="2700000" algn="tl" rotWithShape="0">
                    <a:schemeClr val="dk1">
                      <a:alpha val="40000"/>
                    </a:schemeClr>
                  </a:outerShdw>
                </a:effectLst>
              </a:rPr>
              <a:t>公式输入使用</a:t>
            </a:r>
            <a:r>
              <a:rPr lang="en-US" altLang="zh-CN" sz="3600" b="0" cap="none" spc="0" dirty="0" err="1">
                <a:ln w="0"/>
                <a:solidFill>
                  <a:srgbClr val="FF0000"/>
                </a:solidFill>
                <a:effectLst>
                  <a:outerShdw blurRad="38100" dist="19050" dir="2700000" algn="tl" rotWithShape="0">
                    <a:schemeClr val="dk1">
                      <a:alpha val="40000"/>
                    </a:schemeClr>
                  </a:outerShdw>
                </a:effectLst>
              </a:rPr>
              <a:t>MathType</a:t>
            </a:r>
            <a:endParaRPr lang="zh-CN" altLang="en-US" sz="3600" b="0" cap="none" spc="0" dirty="0">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57557980"/>
      </p:ext>
    </p:extLst>
  </p:cSld>
  <p:clrMapOvr>
    <a:masterClrMapping/>
  </p:clrMapOvr>
</p:sld>
</file>

<file path=ppt/theme/theme1.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3072</TotalTime>
  <Words>877</Words>
  <Application>Microsoft Office PowerPoint</Application>
  <PresentationFormat>宽屏</PresentationFormat>
  <Paragraphs>39</Paragraphs>
  <Slides>7</Slides>
  <Notes>0</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7</vt:i4>
      </vt:variant>
    </vt:vector>
  </HeadingPairs>
  <TitlesOfParts>
    <vt:vector size="12" baseType="lpstr">
      <vt:lpstr>等线</vt:lpstr>
      <vt:lpstr>宋体</vt:lpstr>
      <vt:lpstr>Times New Roman</vt:lpstr>
      <vt:lpstr>1_默认设计模板</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 Y</dc:creator>
  <cp:lastModifiedBy>LF Kristin</cp:lastModifiedBy>
  <cp:revision>280</cp:revision>
  <dcterms:created xsi:type="dcterms:W3CDTF">2020-08-13T13:39:53Z</dcterms:created>
  <dcterms:modified xsi:type="dcterms:W3CDTF">2024-12-29T10:01:43Z</dcterms:modified>
</cp:coreProperties>
</file>