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6"/>
  </p:notesMasterIdLst>
  <p:handoutMasterIdLst>
    <p:handoutMasterId r:id="rId7"/>
  </p:handoutMasterIdLst>
  <p:sldIdLst>
    <p:sldId id="1232" r:id="rId2"/>
    <p:sldId id="1236" r:id="rId3"/>
    <p:sldId id="1237" r:id="rId4"/>
    <p:sldId id="123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90941" autoAdjust="0"/>
  </p:normalViewPr>
  <p:slideViewPr>
    <p:cSldViewPr snapToGrid="0">
      <p:cViewPr varScale="1">
        <p:scale>
          <a:sx n="74" d="100"/>
          <a:sy n="74" d="100"/>
        </p:scale>
        <p:origin x="466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73CF0A4-E610-495A-919B-CA480C71DE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00D9AB-51EC-4401-AC4D-6157E0C759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BE80A-4039-40DC-A2BA-410E82E5F961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22726D-C38F-45D2-9673-CCF05BC1E4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F10E6D5-A087-490B-BC7C-33021FE63D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38A59E-43ED-4AA1-B0F5-93878C5DD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8161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BD095E2-5873-46A8-B8F7-078AF9511F47}"/>
              </a:ext>
            </a:extLst>
          </p:cNvPr>
          <p:cNvSpPr/>
          <p:nvPr/>
        </p:nvSpPr>
        <p:spPr>
          <a:xfrm>
            <a:off x="1848682" y="2146453"/>
            <a:ext cx="849463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不同温度下的费米概率函数与能量的关系</a:t>
            </a:r>
            <a:endParaRPr lang="en-US" altLang="zh-CN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DA0312-2E5E-4D35-B163-BF59B81B426E}"/>
              </a:ext>
            </a:extLst>
          </p:cNvPr>
          <p:cNvSpPr/>
          <p:nvPr/>
        </p:nvSpPr>
        <p:spPr>
          <a:xfrm>
            <a:off x="4791796" y="3245657"/>
            <a:ext cx="1899879" cy="181588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姓名：</a:t>
            </a:r>
            <a:endParaRPr lang="en-US" altLang="zh-CN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学号：</a:t>
            </a:r>
            <a:endParaRPr lang="en-US" altLang="zh-CN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自评：</a:t>
            </a:r>
            <a:r>
              <a:rPr lang="en-US" altLang="zh-CN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r>
              <a:rPr lang="en-US" altLang="zh-CN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/1</a:t>
            </a:r>
            <a:r>
              <a:rPr lang="en-US" altLang="zh-CN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  <a:p>
            <a:r>
              <a:rPr lang="zh-CN" altLang="en-US" sz="28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时间：</a:t>
            </a:r>
            <a:endParaRPr lang="zh-CN" alt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D31EF5B-60C8-4BAE-BF23-75CAA65BB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115B22-8194-4FC8-9614-86C592EEABA0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989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1EBE6C-E28C-4B76-AE9A-B8545FCE8788}"/>
              </a:ext>
            </a:extLst>
          </p:cNvPr>
          <p:cNvSpPr/>
          <p:nvPr/>
        </p:nvSpPr>
        <p:spPr>
          <a:xfrm>
            <a:off x="430365" y="483908"/>
            <a:ext cx="364287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费米</a:t>
            </a:r>
            <a:r>
              <a:rPr lang="en-US" altLang="zh-C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  <a:r>
              <a:rPr lang="zh-CN" alt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狄拉克分布</a:t>
            </a:r>
            <a:endParaRPr lang="zh-CN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56D48E-BA17-4380-9031-40DB52FF4D5A}"/>
              </a:ext>
            </a:extLst>
          </p:cNvPr>
          <p:cNvSpPr txBox="1"/>
          <p:nvPr/>
        </p:nvSpPr>
        <p:spPr>
          <a:xfrm>
            <a:off x="561109" y="1130239"/>
            <a:ext cx="10889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 费米</a:t>
            </a:r>
            <a:r>
              <a:rPr lang="en-US" altLang="zh-CN" dirty="0"/>
              <a:t>-</a:t>
            </a:r>
            <a:r>
              <a:rPr lang="zh-CN" altLang="en-US" dirty="0"/>
              <a:t>狄拉克分布（</a:t>
            </a:r>
            <a:r>
              <a:rPr lang="en-US" altLang="zh-CN" dirty="0"/>
              <a:t>Fermi-Dirac distribution</a:t>
            </a:r>
            <a:r>
              <a:rPr lang="zh-CN" altLang="en-US" dirty="0"/>
              <a:t>）描述了在给定温度下，费米子（比如电子）占据某一特定能级的概率。这个分布函数可以用以下公式表示：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D0D7B15-390A-490D-9B44-DDF7081C60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6834334"/>
              </p:ext>
            </p:extLst>
          </p:nvPr>
        </p:nvGraphicFramePr>
        <p:xfrm>
          <a:off x="4536406" y="1850030"/>
          <a:ext cx="2939077" cy="1145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98320" imgH="583920" progId="Equation.DSMT4">
                  <p:embed/>
                </p:oleObj>
              </mc:Choice>
              <mc:Fallback>
                <p:oleObj name="Equation" r:id="rId2" imgW="149832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36406" y="1850030"/>
                        <a:ext cx="2939077" cy="11457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EB0BE222-6CFF-4816-9CF3-1EAD6BAE67D9}"/>
              </a:ext>
            </a:extLst>
          </p:cNvPr>
          <p:cNvSpPr txBox="1"/>
          <p:nvPr/>
        </p:nvSpPr>
        <p:spPr>
          <a:xfrm>
            <a:off x="604404" y="2995772"/>
            <a:ext cx="109831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其中，</a:t>
            </a:r>
            <a:r>
              <a:rPr lang="en-US" altLang="zh-CN" dirty="0"/>
              <a:t>E </a:t>
            </a:r>
            <a:r>
              <a:rPr lang="zh-CN" altLang="en-US" dirty="0"/>
              <a:t>是能级，</a:t>
            </a:r>
            <a:r>
              <a:rPr lang="en-US" altLang="zh-CN" dirty="0"/>
              <a:t> E</a:t>
            </a:r>
            <a:r>
              <a:rPr lang="en-US" altLang="zh-CN" baseline="-25000" dirty="0"/>
              <a:t>F</a:t>
            </a:r>
            <a:r>
              <a:rPr lang="zh-CN" altLang="en-US" dirty="0"/>
              <a:t>是费米能级，</a:t>
            </a:r>
            <a:r>
              <a:rPr lang="en-US" altLang="zh-CN" dirty="0"/>
              <a:t>k </a:t>
            </a:r>
            <a:r>
              <a:rPr lang="zh-CN" altLang="en-US" dirty="0"/>
              <a:t>是玻尔兹曼常数，</a:t>
            </a:r>
            <a:r>
              <a:rPr lang="en-US" altLang="zh-CN" dirty="0"/>
              <a:t>T </a:t>
            </a:r>
            <a:r>
              <a:rPr lang="zh-CN" altLang="en-US" dirty="0"/>
              <a:t>是热力学温度。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当温度变化时，费米</a:t>
            </a:r>
            <a:r>
              <a:rPr lang="en-US" altLang="zh-CN" dirty="0"/>
              <a:t>-</a:t>
            </a:r>
            <a:r>
              <a:rPr lang="zh-CN" altLang="en-US" dirty="0"/>
              <a:t>狄拉克分布会有所改变：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当 </a:t>
            </a:r>
            <a:r>
              <a:rPr lang="en-US" altLang="zh-CN" dirty="0"/>
              <a:t>T = 0</a:t>
            </a:r>
            <a:r>
              <a:rPr lang="zh-CN" altLang="en-US" dirty="0"/>
              <a:t>（绝对零度）时，所有能级 </a:t>
            </a:r>
            <a:r>
              <a:rPr lang="en-US" altLang="zh-CN" dirty="0"/>
              <a:t>E ≤ E</a:t>
            </a:r>
            <a:r>
              <a:rPr lang="en-US" altLang="zh-CN" baseline="-25000" dirty="0"/>
              <a:t>F</a:t>
            </a:r>
            <a:r>
              <a:rPr lang="en-US" altLang="zh-CN" dirty="0"/>
              <a:t> </a:t>
            </a:r>
            <a:r>
              <a:rPr lang="zh-CN" altLang="en-US" dirty="0"/>
              <a:t>的状态都被占据，所有能级 </a:t>
            </a:r>
            <a:r>
              <a:rPr lang="en-US" altLang="zh-CN" dirty="0"/>
              <a:t>E &gt; E</a:t>
            </a:r>
            <a:r>
              <a:rPr lang="en-US" altLang="zh-CN" baseline="-25000" dirty="0"/>
              <a:t>F</a:t>
            </a:r>
            <a:r>
              <a:rPr lang="en-US" altLang="zh-CN" dirty="0"/>
              <a:t> </a:t>
            </a:r>
            <a:r>
              <a:rPr lang="zh-CN" altLang="en-US" dirty="0"/>
              <a:t>的状态都是空的。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当 </a:t>
            </a:r>
            <a:r>
              <a:rPr lang="en-US" altLang="zh-CN" dirty="0"/>
              <a:t>T &gt; 0 </a:t>
            </a:r>
            <a:r>
              <a:rPr lang="zh-CN" altLang="en-US" dirty="0"/>
              <a:t>时，一些能级 </a:t>
            </a:r>
            <a:r>
              <a:rPr lang="en-US" altLang="zh-CN" dirty="0"/>
              <a:t>E &gt; E</a:t>
            </a:r>
            <a:r>
              <a:rPr lang="en-US" altLang="zh-CN" baseline="-25000" dirty="0"/>
              <a:t>F</a:t>
            </a:r>
            <a:r>
              <a:rPr lang="en-US" altLang="zh-CN" dirty="0"/>
              <a:t> </a:t>
            </a:r>
            <a:r>
              <a:rPr lang="zh-CN" altLang="en-US" dirty="0"/>
              <a:t>的状态会被占据，一些能级 </a:t>
            </a:r>
            <a:r>
              <a:rPr lang="en-US" altLang="zh-CN" dirty="0"/>
              <a:t>E ≤ E</a:t>
            </a:r>
            <a:r>
              <a:rPr lang="en-US" altLang="zh-CN" baseline="-25000" dirty="0"/>
              <a:t>F</a:t>
            </a:r>
            <a:r>
              <a:rPr lang="en-US" altLang="zh-CN" dirty="0"/>
              <a:t> </a:t>
            </a:r>
            <a:r>
              <a:rPr lang="zh-CN" altLang="en-US" dirty="0"/>
              <a:t>的状态会是空的。这是因为有一些费米子从低能级跃迁到了高能级。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当 </a:t>
            </a:r>
            <a:r>
              <a:rPr lang="en-US" altLang="zh-CN" dirty="0"/>
              <a:t>T </a:t>
            </a:r>
            <a:r>
              <a:rPr lang="zh-CN" altLang="en-US" dirty="0"/>
              <a:t>趋于无穷大时，费米</a:t>
            </a:r>
            <a:r>
              <a:rPr lang="en-US" altLang="zh-CN" dirty="0"/>
              <a:t>-</a:t>
            </a:r>
            <a:r>
              <a:rPr lang="zh-CN" altLang="en-US" dirty="0"/>
              <a:t>狄拉克分布趋近于经典的玻尔兹曼分布。</a:t>
            </a:r>
          </a:p>
          <a:p>
            <a:endParaRPr lang="zh-CN" altLang="en-US" dirty="0"/>
          </a:p>
          <a:p>
            <a:r>
              <a:rPr lang="zh-CN" altLang="en-US" dirty="0"/>
              <a:t>因此，温度的变化会影响费米子占据能级的概率分布。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75B797F8-953A-489C-93F0-4FDC66526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4637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EA7FE50-6699-4120-88F2-2C6E8D6E6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66680"/>
            <a:ext cx="5060118" cy="392464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EA71B18-C455-40C3-99B0-D74D9BA9A86A}"/>
              </a:ext>
            </a:extLst>
          </p:cNvPr>
          <p:cNvSpPr/>
          <p:nvPr/>
        </p:nvSpPr>
        <p:spPr>
          <a:xfrm>
            <a:off x="278193" y="527824"/>
            <a:ext cx="664797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不同温度下的费米概率函数与能量的关系</a:t>
            </a:r>
            <a:endParaRPr lang="en-US" altLang="zh-CN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90599DA-D2F7-4C75-89CE-5593DF86C2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1080094"/>
              </p:ext>
            </p:extLst>
          </p:nvPr>
        </p:nvGraphicFramePr>
        <p:xfrm>
          <a:off x="2060885" y="1884152"/>
          <a:ext cx="2992385" cy="1166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98320" imgH="583920" progId="Equation.DSMT4">
                  <p:embed/>
                </p:oleObj>
              </mc:Choice>
              <mc:Fallback>
                <p:oleObj name="Equation" r:id="rId3" imgW="149832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60885" y="1884152"/>
                        <a:ext cx="2992385" cy="11665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728C859-CC48-4471-A230-D40BEEC25E1C}"/>
              </a:ext>
            </a:extLst>
          </p:cNvPr>
          <p:cNvSpPr txBox="1"/>
          <p:nvPr/>
        </p:nvSpPr>
        <p:spPr>
          <a:xfrm>
            <a:off x="1035882" y="1911763"/>
            <a:ext cx="945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依据：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755D98E-6070-4A0E-A30D-50001A9E8CF4}"/>
              </a:ext>
            </a:extLst>
          </p:cNvPr>
          <p:cNvSpPr txBox="1"/>
          <p:nvPr/>
        </p:nvSpPr>
        <p:spPr>
          <a:xfrm>
            <a:off x="938470" y="3883784"/>
            <a:ext cx="411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借助</a:t>
            </a:r>
            <a:r>
              <a:rPr lang="en-US" altLang="zh-CN" sz="2400" dirty="0" err="1"/>
              <a:t>Matlab</a:t>
            </a:r>
            <a:r>
              <a:rPr lang="zh-CN" altLang="en-US" sz="2400" dirty="0"/>
              <a:t>，实现不同温度下的费米概率函数与能量的关系的可视化，如右图：</a:t>
            </a: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C79498E4-A370-4A2F-AE76-F05841F4E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1296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39C710F-27C6-4E3B-B5FD-8418E1113667}"/>
              </a:ext>
            </a:extLst>
          </p:cNvPr>
          <p:cNvSpPr txBox="1"/>
          <p:nvPr/>
        </p:nvSpPr>
        <p:spPr>
          <a:xfrm>
            <a:off x="987136" y="706079"/>
            <a:ext cx="2202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附</a:t>
            </a:r>
            <a:r>
              <a:rPr lang="en-US" altLang="zh-CN" dirty="0" err="1"/>
              <a:t>Matlab</a:t>
            </a:r>
            <a:r>
              <a:rPr lang="zh-CN" altLang="en-US" dirty="0"/>
              <a:t>源代码：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1342547-3A14-4A08-9854-8F18B80DB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136" y="1233576"/>
            <a:ext cx="6344689" cy="454080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CA6DBE3-2CE5-41CA-961D-C0A6DC382416}"/>
              </a:ext>
            </a:extLst>
          </p:cNvPr>
          <p:cNvSpPr/>
          <p:nvPr/>
        </p:nvSpPr>
        <p:spPr>
          <a:xfrm>
            <a:off x="987136" y="5932548"/>
            <a:ext cx="997561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备注：本</a:t>
            </a:r>
            <a:r>
              <a:rPr lang="en-US" altLang="zh-CN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ppt</a:t>
            </a:r>
            <a:r>
              <a:rPr lang="zh-CN" altLang="en-US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作图使用</a:t>
            </a:r>
            <a:r>
              <a:rPr lang="en-US" altLang="zh-CN" sz="3600" b="0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Matlab</a:t>
            </a:r>
            <a:r>
              <a:rPr lang="zh-CN" altLang="en-US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，公式使用</a:t>
            </a:r>
            <a:r>
              <a:rPr lang="en-US" altLang="zh-CN" sz="3600" b="0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MathType</a:t>
            </a:r>
            <a:endParaRPr lang="zh-CN" altLang="en-US" sz="3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7538890-2C17-419D-8DC5-DCE4BA0D4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31230626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2767</TotalTime>
  <Words>251</Words>
  <Application>Microsoft Office PowerPoint</Application>
  <PresentationFormat>宽屏</PresentationFormat>
  <Paragraphs>24</Paragraphs>
  <Slides>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Arial</vt:lpstr>
      <vt:lpstr>Times New Roman</vt:lpstr>
      <vt:lpstr>1_默认设计模板</vt:lpstr>
      <vt:lpstr>Equation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LF Kristin</cp:lastModifiedBy>
  <cp:revision>262</cp:revision>
  <dcterms:created xsi:type="dcterms:W3CDTF">2020-08-13T13:39:53Z</dcterms:created>
  <dcterms:modified xsi:type="dcterms:W3CDTF">2024-12-29T10:00:32Z</dcterms:modified>
</cp:coreProperties>
</file>