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8"/>
  </p:notesMasterIdLst>
  <p:handoutMasterIdLst>
    <p:handoutMasterId r:id="rId9"/>
  </p:handoutMasterIdLst>
  <p:sldIdLst>
    <p:sldId id="1232" r:id="rId2"/>
    <p:sldId id="1233" r:id="rId3"/>
    <p:sldId id="1234" r:id="rId4"/>
    <p:sldId id="1235" r:id="rId5"/>
    <p:sldId id="1236" r:id="rId6"/>
    <p:sldId id="123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0941" autoAdjust="0"/>
  </p:normalViewPr>
  <p:slideViewPr>
    <p:cSldViewPr snapToGrid="0">
      <p:cViewPr varScale="1">
        <p:scale>
          <a:sx n="74" d="100"/>
          <a:sy n="74" d="100"/>
        </p:scale>
        <p:origin x="466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3CF0A4-E610-495A-919B-CA480C71DE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00D9AB-51EC-4401-AC4D-6157E0C75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BE80A-4039-40DC-A2BA-410E82E5F961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2726D-C38F-45D2-9673-CCF05BC1E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10E6D5-A087-490B-BC7C-33021FE63D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A59E-43ED-4AA1-B0F5-93878C5DD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816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wmf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w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D095E2-5873-46A8-B8F7-078AF9511F47}"/>
              </a:ext>
            </a:extLst>
          </p:cNvPr>
          <p:cNvSpPr/>
          <p:nvPr/>
        </p:nvSpPr>
        <p:spPr>
          <a:xfrm>
            <a:off x="2557341" y="2218695"/>
            <a:ext cx="707731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能带理论</a:t>
            </a: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DA0312-2E5E-4D35-B163-BF59B81B426E}"/>
              </a:ext>
            </a:extLst>
          </p:cNvPr>
          <p:cNvSpPr/>
          <p:nvPr/>
        </p:nvSpPr>
        <p:spPr>
          <a:xfrm>
            <a:off x="4791796" y="3245657"/>
            <a:ext cx="1899879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姓名：</a:t>
            </a:r>
            <a:endParaRPr lang="en-US" altLang="zh-CN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学号：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自评：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/1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  <a:p>
            <a:r>
              <a:rPr lang="zh-CN" alt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时间：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1EF5B-60C8-4BAE-BF23-75CAA65B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115B22-8194-4FC8-9614-86C592EEABA0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FB073-23AB-4FC9-9E8B-F86D370A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64854B-0261-4E1C-8471-B73AE5BEFD92}"/>
              </a:ext>
            </a:extLst>
          </p:cNvPr>
          <p:cNvSpPr/>
          <p:nvPr/>
        </p:nvSpPr>
        <p:spPr>
          <a:xfrm>
            <a:off x="417456" y="525471"/>
            <a:ext cx="24416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空间能带图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918C22-FEC2-484A-9C3D-B25B57C22D48}"/>
              </a:ext>
            </a:extLst>
          </p:cNvPr>
          <p:cNvSpPr txBox="1"/>
          <p:nvPr/>
        </p:nvSpPr>
        <p:spPr>
          <a:xfrm>
            <a:off x="394855" y="1163782"/>
            <a:ext cx="112949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根据克勒尼希</a:t>
            </a:r>
            <a:r>
              <a:rPr lang="en-US" altLang="zh-CN" dirty="0"/>
              <a:t>-</a:t>
            </a:r>
            <a:r>
              <a:rPr lang="zh-CN" altLang="en-US" dirty="0"/>
              <a:t>彭尼模型，我们得到了薛定谔波动方程有一个解的条件，即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该式给出了参数</a:t>
            </a:r>
            <a:r>
              <a:rPr lang="en-US" altLang="zh-CN" dirty="0"/>
              <a:t>k</a:t>
            </a:r>
            <a:r>
              <a:rPr lang="zh-CN" altLang="en-US" dirty="0"/>
              <a:t>（即运动常量）、总能量</a:t>
            </a:r>
            <a:r>
              <a:rPr lang="en-US" altLang="zh-CN" dirty="0"/>
              <a:t>E</a:t>
            </a:r>
            <a:r>
              <a:rPr lang="zh-CN" altLang="en-US" dirty="0"/>
              <a:t>（通过参数</a:t>
            </a:r>
            <a:r>
              <a:rPr lang="en-US" altLang="zh-CN" dirty="0"/>
              <a:t>α</a:t>
            </a:r>
            <a:r>
              <a:rPr lang="zh-CN" altLang="en-US" dirty="0"/>
              <a:t>）和势垒</a:t>
            </a:r>
            <a:r>
              <a:rPr lang="en-US" altLang="zh-CN" dirty="0"/>
              <a:t>bV</a:t>
            </a:r>
            <a:r>
              <a:rPr lang="en-US" altLang="zh-CN" baseline="-25000" dirty="0"/>
              <a:t>0</a:t>
            </a:r>
            <a:r>
              <a:rPr lang="zh-CN" altLang="en-US" dirty="0"/>
              <a:t>之间的关系。若假设晶体无限大，则</a:t>
            </a:r>
            <a:r>
              <a:rPr lang="en-US" altLang="zh-CN" dirty="0"/>
              <a:t>k</a:t>
            </a:r>
            <a:r>
              <a:rPr lang="zh-CN" altLang="en-US" dirty="0"/>
              <a:t>就可以假设为连续值，并且是实值，并且在该式中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为了理解薛定谔波动方程的解的本质，首先要考虑</a:t>
            </a:r>
            <a:r>
              <a:rPr lang="en-US" altLang="zh-CN" dirty="0"/>
              <a:t>V</a:t>
            </a:r>
            <a:r>
              <a:rPr lang="en-US" altLang="zh-CN" baseline="-25000" dirty="0"/>
              <a:t>0</a:t>
            </a:r>
            <a:r>
              <a:rPr lang="en-US" altLang="zh-CN" dirty="0"/>
              <a:t>=0</a:t>
            </a:r>
            <a:r>
              <a:rPr lang="zh-CN" altLang="en-US" dirty="0"/>
              <a:t>的特殊情况。此时</a:t>
            </a:r>
            <a:r>
              <a:rPr lang="en-US" altLang="zh-CN" dirty="0"/>
              <a:t>P’=0</a:t>
            </a:r>
            <a:r>
              <a:rPr lang="zh-CN" altLang="en-US" dirty="0"/>
              <a:t>，对应的是没有势垒的自由粒子，则此时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已知</a:t>
            </a:r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A05494E-9C1D-4D85-949F-D51855B7B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831872"/>
              </p:ext>
            </p:extLst>
          </p:nvPr>
        </p:nvGraphicFramePr>
        <p:xfrm>
          <a:off x="4626469" y="1533114"/>
          <a:ext cx="2831689" cy="665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393480" progId="Equation.DSMT4">
                  <p:embed/>
                </p:oleObj>
              </mc:Choice>
              <mc:Fallback>
                <p:oleObj name="Equation" r:id="rId2" imgW="1676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6469" y="1533114"/>
                        <a:ext cx="2831689" cy="665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FD00752-B958-4914-A84D-A7DB84727E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323038"/>
              </p:ext>
            </p:extLst>
          </p:nvPr>
        </p:nvGraphicFramePr>
        <p:xfrm>
          <a:off x="11118850" y="1706873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03040" progId="Equation.DSMT4">
                  <p:embed/>
                </p:oleObj>
              </mc:Choice>
              <mc:Fallback>
                <p:oleObj name="Equation" r:id="rId4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18850" y="1706873"/>
                        <a:ext cx="3175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8995AF1-4BD6-4D2C-963B-F793EFA22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00487"/>
              </p:ext>
            </p:extLst>
          </p:nvPr>
        </p:nvGraphicFramePr>
        <p:xfrm>
          <a:off x="5398748" y="2918108"/>
          <a:ext cx="1287130" cy="66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393480" progId="Equation.DSMT4">
                  <p:embed/>
                </p:oleObj>
              </mc:Choice>
              <mc:Fallback>
                <p:oleObj name="Equation" r:id="rId6" imgW="761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98748" y="2918108"/>
                        <a:ext cx="1287130" cy="665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1EC297D-DB0C-4334-8C80-545494DAF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748424"/>
              </p:ext>
            </p:extLst>
          </p:nvPr>
        </p:nvGraphicFramePr>
        <p:xfrm>
          <a:off x="11091718" y="3085387"/>
          <a:ext cx="371764" cy="330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03040" progId="Equation.DSMT4">
                  <p:embed/>
                </p:oleObj>
              </mc:Choice>
              <mc:Fallback>
                <p:oleObj name="Equation" r:id="rId8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091718" y="3085387"/>
                        <a:ext cx="371764" cy="330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B29B7F0-5D96-4C9F-8599-56B7BC0596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702553"/>
              </p:ext>
            </p:extLst>
          </p:nvPr>
        </p:nvGraphicFramePr>
        <p:xfrm>
          <a:off x="5201104" y="4300844"/>
          <a:ext cx="1682417" cy="309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160" imgH="177480" progId="Equation.DSMT4">
                  <p:embed/>
                </p:oleObj>
              </mc:Choice>
              <mc:Fallback>
                <p:oleObj name="Equation" r:id="rId10" imgW="9651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1104" y="4300844"/>
                        <a:ext cx="1682417" cy="309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29FF54A-BD23-4E9E-A979-DED642940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159349"/>
              </p:ext>
            </p:extLst>
          </p:nvPr>
        </p:nvGraphicFramePr>
        <p:xfrm>
          <a:off x="11107062" y="4281855"/>
          <a:ext cx="329288" cy="30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203040" progId="Equation.DSMT4">
                  <p:embed/>
                </p:oleObj>
              </mc:Choice>
              <mc:Fallback>
                <p:oleObj name="Equation" r:id="rId12" imgW="215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107062" y="4281855"/>
                        <a:ext cx="329288" cy="309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02FB919-708F-4AC2-8BA3-974D5907CB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191897"/>
              </p:ext>
            </p:extLst>
          </p:nvPr>
        </p:nvGraphicFramePr>
        <p:xfrm>
          <a:off x="5710257" y="4857101"/>
          <a:ext cx="664110" cy="30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80" imgH="177480" progId="Equation.DSMT4">
                  <p:embed/>
                </p:oleObj>
              </mc:Choice>
              <mc:Fallback>
                <p:oleObj name="Equation" r:id="rId14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10257" y="4857101"/>
                        <a:ext cx="664110" cy="309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901A250-0140-4B83-B3A1-473DFE364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532664"/>
              </p:ext>
            </p:extLst>
          </p:nvPr>
        </p:nvGraphicFramePr>
        <p:xfrm>
          <a:off x="11118850" y="4857101"/>
          <a:ext cx="348658" cy="30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600" imgH="203040" progId="Equation.DSMT4">
                  <p:embed/>
                </p:oleObj>
              </mc:Choice>
              <mc:Fallback>
                <p:oleObj name="Equation" r:id="rId16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118850" y="4857101"/>
                        <a:ext cx="348658" cy="309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B31AA98-8469-45F7-9ED5-D22C6424CB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278860"/>
              </p:ext>
            </p:extLst>
          </p:nvPr>
        </p:nvGraphicFramePr>
        <p:xfrm>
          <a:off x="5463103" y="5694218"/>
          <a:ext cx="1158417" cy="66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85800" imgH="393480" progId="Equation.DSMT4">
                  <p:embed/>
                </p:oleObj>
              </mc:Choice>
              <mc:Fallback>
                <p:oleObj name="Equation" r:id="rId18" imgW="6858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463103" y="5694218"/>
                        <a:ext cx="1158417" cy="665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3093129-5D37-458A-BCE3-0F271FC683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987818"/>
              </p:ext>
            </p:extLst>
          </p:nvPr>
        </p:nvGraphicFramePr>
        <p:xfrm>
          <a:off x="11107062" y="5871767"/>
          <a:ext cx="329288" cy="309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5640" imgH="203040" progId="Equation.DSMT4">
                  <p:embed/>
                </p:oleObj>
              </mc:Choice>
              <mc:Fallback>
                <p:oleObj name="Equation" r:id="rId20" imgW="215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107062" y="5871767"/>
                        <a:ext cx="329288" cy="309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580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D15FA7-0B87-4AF2-A98B-7C58C917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08D02A-B43E-446F-999F-F5BF01A8A2E1}"/>
              </a:ext>
            </a:extLst>
          </p:cNvPr>
          <p:cNvSpPr/>
          <p:nvPr/>
        </p:nvSpPr>
        <p:spPr>
          <a:xfrm>
            <a:off x="417456" y="525471"/>
            <a:ext cx="24416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空间能带图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07CEE3-3090-4B9E-BE47-4D90CC71114F}"/>
              </a:ext>
            </a:extLst>
          </p:cNvPr>
          <p:cNvSpPr txBox="1"/>
          <p:nvPr/>
        </p:nvSpPr>
        <p:spPr>
          <a:xfrm>
            <a:off x="509155" y="1110246"/>
            <a:ext cx="111390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由于此时假定势场为零，总能量</a:t>
            </a:r>
            <a:r>
              <a:rPr lang="en-US" altLang="zh-CN" dirty="0"/>
              <a:t>E</a:t>
            </a:r>
            <a:r>
              <a:rPr lang="zh-CN" altLang="en-US" dirty="0"/>
              <a:t>就等于动能，则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其中，</a:t>
            </a:r>
            <a:r>
              <a:rPr lang="en-US" altLang="zh-CN" dirty="0"/>
              <a:t>p</a:t>
            </a:r>
            <a:r>
              <a:rPr lang="zh-CN" altLang="en-US" dirty="0"/>
              <a:t>是粒子动量。对于自由粒子来说，运动常量参数</a:t>
            </a:r>
            <a:r>
              <a:rPr lang="en-US" altLang="zh-CN" dirty="0"/>
              <a:t>k</a:t>
            </a:r>
            <a:r>
              <a:rPr lang="zh-CN" altLang="en-US" dirty="0"/>
              <a:t>与粒子动量有关。参数</a:t>
            </a:r>
            <a:r>
              <a:rPr lang="en-US" altLang="zh-CN" dirty="0"/>
              <a:t>k</a:t>
            </a:r>
            <a:r>
              <a:rPr lang="zh-CN" altLang="en-US" dirty="0"/>
              <a:t>也代表波数。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而将能量与动量联系起来有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显示了式</a:t>
            </a:r>
            <a:r>
              <a:rPr lang="en-US" altLang="zh-CN" dirty="0"/>
              <a:t>(7)</a:t>
            </a:r>
            <a:r>
              <a:rPr lang="zh-CN" altLang="en-US" dirty="0"/>
              <a:t>中自由粒子的能量</a:t>
            </a:r>
            <a:r>
              <a:rPr lang="en-US" altLang="zh-CN" dirty="0"/>
              <a:t>E</a:t>
            </a:r>
            <a:r>
              <a:rPr lang="zh-CN" altLang="en-US" dirty="0"/>
              <a:t>与动量</a:t>
            </a:r>
            <a:r>
              <a:rPr lang="en-US" altLang="zh-CN" dirty="0"/>
              <a:t>p</a:t>
            </a:r>
            <a:r>
              <a:rPr lang="zh-CN" altLang="en-US" dirty="0"/>
              <a:t>之间的抛物线关系。由于动量与波数之间是线性相关的，因此也是自由粒子的</a:t>
            </a:r>
            <a:r>
              <a:rPr lang="en-US" altLang="zh-CN" dirty="0"/>
              <a:t>E-k</a:t>
            </a:r>
            <a:r>
              <a:rPr lang="zh-CN" altLang="en-US" dirty="0"/>
              <a:t>关系曲线。</a:t>
            </a:r>
            <a:endParaRPr lang="en-US" altLang="zh-CN" dirty="0"/>
          </a:p>
          <a:p>
            <a:pPr algn="just"/>
            <a:r>
              <a:rPr lang="en-US" altLang="zh-CN" dirty="0"/>
              <a:t>        </a:t>
            </a:r>
            <a:r>
              <a:rPr lang="zh-CN" altLang="en-US" dirty="0"/>
              <a:t>现根据式</a:t>
            </a:r>
            <a:r>
              <a:rPr lang="en-US" altLang="zh-CN" dirty="0"/>
              <a:t>(1)</a:t>
            </a:r>
            <a:r>
              <a:rPr lang="zh-CN" altLang="en-US" dirty="0"/>
              <a:t>考虑单晶晶格中粒子的</a:t>
            </a:r>
            <a:r>
              <a:rPr lang="en-US" altLang="zh-CN" dirty="0"/>
              <a:t>E-k</a:t>
            </a:r>
            <a:r>
              <a:rPr lang="zh-CN" altLang="en-US" dirty="0"/>
              <a:t>关系。随着参数</a:t>
            </a:r>
            <a:r>
              <a:rPr lang="en-US" altLang="zh-CN" dirty="0"/>
              <a:t>P’</a:t>
            </a:r>
            <a:r>
              <a:rPr lang="zh-CN" altLang="en-US" dirty="0"/>
              <a:t>的增大，粒子受到势阱或原子的束缚更加强烈。现定义式</a:t>
            </a:r>
            <a:r>
              <a:rPr lang="en-US" altLang="zh-CN" dirty="0"/>
              <a:t>(1)</a:t>
            </a:r>
            <a:r>
              <a:rPr lang="zh-CN" altLang="en-US" dirty="0"/>
              <a:t>中等号的左边为函数</a:t>
            </a:r>
            <a:r>
              <a:rPr lang="en-US" altLang="zh-CN" dirty="0"/>
              <a:t>f(αa)</a:t>
            </a:r>
            <a:r>
              <a:rPr lang="zh-CN" altLang="en-US" dirty="0"/>
              <a:t>，即</a:t>
            </a:r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05F6732-52E2-42F8-8B64-887F6EBEF8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988251"/>
              </p:ext>
            </p:extLst>
          </p:nvPr>
        </p:nvGraphicFramePr>
        <p:xfrm>
          <a:off x="4027117" y="1479578"/>
          <a:ext cx="4137765" cy="114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609480" progId="Equation.DSMT4">
                  <p:embed/>
                </p:oleObj>
              </mc:Choice>
              <mc:Fallback>
                <p:oleObj name="Equation" r:id="rId2" imgW="21970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27117" y="1479578"/>
                        <a:ext cx="4137765" cy="1148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0FBE598-BE24-459A-B12F-6063A91A7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487613"/>
              </p:ext>
            </p:extLst>
          </p:nvPr>
        </p:nvGraphicFramePr>
        <p:xfrm>
          <a:off x="11102109" y="1897611"/>
          <a:ext cx="350982" cy="311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03040" progId="Equation.DSMT4">
                  <p:embed/>
                </p:oleObj>
              </mc:Choice>
              <mc:Fallback>
                <p:oleObj name="Equation" r:id="rId4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02109" y="1897611"/>
                        <a:ext cx="350982" cy="3119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6E5770D-24EF-45A9-BBAE-97ABC7274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146949"/>
              </p:ext>
            </p:extLst>
          </p:nvPr>
        </p:nvGraphicFramePr>
        <p:xfrm>
          <a:off x="5284951" y="3418570"/>
          <a:ext cx="1587462" cy="68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419040" progId="Equation.DSMT4">
                  <p:embed/>
                </p:oleObj>
              </mc:Choice>
              <mc:Fallback>
                <p:oleObj name="Equation" r:id="rId6" imgW="9777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84951" y="3418570"/>
                        <a:ext cx="1587462" cy="680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0AAA9D8-7607-4D6C-BBAD-2871696E6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470321"/>
              </p:ext>
            </p:extLst>
          </p:nvPr>
        </p:nvGraphicFramePr>
        <p:xfrm>
          <a:off x="11126038" y="3624019"/>
          <a:ext cx="303123" cy="269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03040" progId="Equation.DSMT4">
                  <p:embed/>
                </p:oleObj>
              </mc:Choice>
              <mc:Fallback>
                <p:oleObj name="Equation" r:id="rId8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126038" y="3624019"/>
                        <a:ext cx="303123" cy="269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4565008-740D-4A01-9D87-02A892FE9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80154"/>
              </p:ext>
            </p:extLst>
          </p:nvPr>
        </p:nvGraphicFramePr>
        <p:xfrm>
          <a:off x="4635716" y="5357563"/>
          <a:ext cx="2885932" cy="667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720" imgH="393480" progId="Equation.DSMT4">
                  <p:embed/>
                </p:oleObj>
              </mc:Choice>
              <mc:Fallback>
                <p:oleObj name="Equation" r:id="rId10" imgW="17017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5716" y="5357563"/>
                        <a:ext cx="2885932" cy="667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6B47643-24EE-423B-A14B-4D98FA153B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663657"/>
              </p:ext>
            </p:extLst>
          </p:nvPr>
        </p:nvGraphicFramePr>
        <p:xfrm>
          <a:off x="11087970" y="5512909"/>
          <a:ext cx="379257" cy="356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203040" progId="Equation.DSMT4">
                  <p:embed/>
                </p:oleObj>
              </mc:Choice>
              <mc:Fallback>
                <p:oleObj name="Equation" r:id="rId12" imgW="215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087970" y="5512909"/>
                        <a:ext cx="379257" cy="356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624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F48B4D-6C1D-4F16-A8F8-A90B2201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AEE982-85EE-4E1F-98DF-CE1DA1E4EF62}"/>
              </a:ext>
            </a:extLst>
          </p:cNvPr>
          <p:cNvSpPr/>
          <p:nvPr/>
        </p:nvSpPr>
        <p:spPr>
          <a:xfrm>
            <a:off x="417456" y="525471"/>
            <a:ext cx="24416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空间能带图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8C507B-F4A6-407B-8403-A028010CD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56" y="1110246"/>
            <a:ext cx="4568202" cy="372064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26AC9F8-6784-4AEE-9A8B-22BB597274CD}"/>
              </a:ext>
            </a:extLst>
          </p:cNvPr>
          <p:cNvSpPr/>
          <p:nvPr/>
        </p:nvSpPr>
        <p:spPr>
          <a:xfrm>
            <a:off x="1178543" y="4830888"/>
            <a:ext cx="304602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：自由粒子的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E-k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关系抛物线曲线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CBCA3E-901C-42EF-A6F2-20646AB36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255" y="1110991"/>
            <a:ext cx="4868690" cy="371989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7A1866C-021E-442E-9055-918A6572215C}"/>
              </a:ext>
            </a:extLst>
          </p:cNvPr>
          <p:cNvSpPr/>
          <p:nvPr/>
        </p:nvSpPr>
        <p:spPr>
          <a:xfrm>
            <a:off x="6292882" y="4830888"/>
            <a:ext cx="488948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：式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(8)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的图形。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式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(8)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的第一项；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式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(8)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的第二项；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(c)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整个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f(αa)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函数。突出部分表示对应实数值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(αa)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的有效值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BA231F-3566-48A9-8D3A-65139E190E3B}"/>
              </a:ext>
            </a:extLst>
          </p:cNvPr>
          <p:cNvSpPr txBox="1"/>
          <p:nvPr/>
        </p:nvSpPr>
        <p:spPr>
          <a:xfrm>
            <a:off x="417456" y="5354108"/>
            <a:ext cx="11230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2(a)</a:t>
            </a:r>
            <a:r>
              <a:rPr lang="zh-CN" altLang="en-US" dirty="0"/>
              <a:t>显示了式</a:t>
            </a:r>
            <a:r>
              <a:rPr lang="en-US" altLang="zh-CN" dirty="0"/>
              <a:t>(8)</a:t>
            </a:r>
            <a:r>
              <a:rPr lang="zh-CN" altLang="en-US" dirty="0"/>
              <a:t>中第一项相对于</a:t>
            </a:r>
            <a:r>
              <a:rPr lang="en-US" altLang="zh-CN" dirty="0"/>
              <a:t>αa</a:t>
            </a:r>
            <a:r>
              <a:rPr lang="zh-CN" altLang="en-US" dirty="0"/>
              <a:t>的图形，图</a:t>
            </a:r>
            <a:r>
              <a:rPr lang="en-US" altLang="zh-CN" dirty="0"/>
              <a:t>2(b)</a:t>
            </a:r>
            <a:r>
              <a:rPr lang="zh-CN" altLang="en-US" dirty="0"/>
              <a:t>显示了</a:t>
            </a:r>
            <a:r>
              <a:rPr lang="en-US" altLang="zh-CN" dirty="0"/>
              <a:t>cosαa</a:t>
            </a:r>
            <a:r>
              <a:rPr lang="zh-CN" altLang="en-US" dirty="0"/>
              <a:t>的图形，图</a:t>
            </a:r>
            <a:r>
              <a:rPr lang="en-US" altLang="zh-CN" dirty="0"/>
              <a:t>2(c)</a:t>
            </a:r>
            <a:r>
              <a:rPr lang="zh-CN" altLang="en-US" dirty="0"/>
              <a:t>则显示了两项之和</a:t>
            </a:r>
            <a:r>
              <a:rPr lang="en-US" altLang="zh-CN" dirty="0"/>
              <a:t>f(αa)</a:t>
            </a:r>
            <a:r>
              <a:rPr lang="zh-CN" altLang="en-US" dirty="0"/>
              <a:t>的图形。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现根据式</a:t>
            </a:r>
            <a:r>
              <a:rPr lang="en-US" altLang="zh-CN" dirty="0"/>
              <a:t>(1)</a:t>
            </a:r>
            <a:r>
              <a:rPr lang="zh-CN" altLang="en-US" dirty="0"/>
              <a:t>，还有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206854F-AA16-4206-B222-64AD372D4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501514"/>
              </p:ext>
            </p:extLst>
          </p:nvPr>
        </p:nvGraphicFramePr>
        <p:xfrm>
          <a:off x="5038555" y="6000439"/>
          <a:ext cx="1988554" cy="418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03040" progId="Equation.DSMT4">
                  <p:embed/>
                </p:oleObj>
              </mc:Choice>
              <mc:Fallback>
                <p:oleObj name="Equation" r:id="rId4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8555" y="6000439"/>
                        <a:ext cx="1988554" cy="418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F2E3E0E-4344-477F-9F84-332957D5B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72003"/>
              </p:ext>
            </p:extLst>
          </p:nvPr>
        </p:nvGraphicFramePr>
        <p:xfrm>
          <a:off x="10991159" y="6049062"/>
          <a:ext cx="361571" cy="321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203040" progId="Equation.DSMT4">
                  <p:embed/>
                </p:oleObj>
              </mc:Choice>
              <mc:Fallback>
                <p:oleObj name="Equation" r:id="rId6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91159" y="6049062"/>
                        <a:ext cx="361571" cy="321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170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837CC6-9A6D-4226-8985-8B64739C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B76EF2-734B-4799-B00B-D572414A5B19}"/>
              </a:ext>
            </a:extLst>
          </p:cNvPr>
          <p:cNvSpPr/>
          <p:nvPr/>
        </p:nvSpPr>
        <p:spPr>
          <a:xfrm>
            <a:off x="417456" y="525471"/>
            <a:ext cx="24416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空间能带图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658261-C713-492B-A169-E704C783B2C2}"/>
              </a:ext>
            </a:extLst>
          </p:cNvPr>
          <p:cNvSpPr txBox="1"/>
          <p:nvPr/>
        </p:nvSpPr>
        <p:spPr>
          <a:xfrm>
            <a:off x="519545" y="997527"/>
            <a:ext cx="11107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为了使式</a:t>
            </a:r>
            <a:r>
              <a:rPr lang="en-US" altLang="zh-CN" dirty="0"/>
              <a:t>(9)</a:t>
            </a:r>
            <a:r>
              <a:rPr lang="zh-CN" altLang="en-US" dirty="0"/>
              <a:t>有效，函数</a:t>
            </a:r>
            <a:r>
              <a:rPr lang="en-US" altLang="zh-CN" dirty="0"/>
              <a:t>f(αa)</a:t>
            </a:r>
            <a:r>
              <a:rPr lang="zh-CN" altLang="en-US" dirty="0"/>
              <a:t>的值必须被限制在</a:t>
            </a:r>
            <a:r>
              <a:rPr lang="en-US" altLang="zh-CN" dirty="0"/>
              <a:t>+1</a:t>
            </a:r>
            <a:r>
              <a:rPr lang="zh-CN" altLang="en-US" dirty="0"/>
              <a:t>和</a:t>
            </a:r>
            <a:r>
              <a:rPr lang="en-US" altLang="zh-CN" dirty="0"/>
              <a:t>-1</a:t>
            </a:r>
            <a:r>
              <a:rPr lang="zh-CN" altLang="en-US" dirty="0"/>
              <a:t>之间。图</a:t>
            </a:r>
            <a:r>
              <a:rPr lang="en-US" altLang="zh-CN" dirty="0"/>
              <a:t>2(c)</a:t>
            </a:r>
            <a:r>
              <a:rPr lang="zh-CN" altLang="en-US" dirty="0"/>
              <a:t>突出了</a:t>
            </a:r>
            <a:r>
              <a:rPr lang="en-US" altLang="zh-CN" dirty="0"/>
              <a:t>f(αa)</a:t>
            </a:r>
            <a:r>
              <a:rPr lang="zh-CN" altLang="en-US" dirty="0"/>
              <a:t>和</a:t>
            </a:r>
            <a:r>
              <a:rPr lang="en-US" altLang="zh-CN" dirty="0"/>
              <a:t>αa</a:t>
            </a:r>
            <a:r>
              <a:rPr lang="zh-CN" altLang="en-US" dirty="0"/>
              <a:t>的有效值。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由式</a:t>
            </a:r>
            <a:r>
              <a:rPr lang="en-US" altLang="zh-CN" dirty="0"/>
              <a:t>(5)</a:t>
            </a:r>
            <a:r>
              <a:rPr lang="zh-CN" altLang="en-US" dirty="0"/>
              <a:t>可知，参数</a:t>
            </a:r>
            <a:r>
              <a:rPr lang="en-US" altLang="zh-CN" dirty="0"/>
              <a:t>α</a:t>
            </a:r>
            <a:r>
              <a:rPr lang="zh-CN" altLang="en-US" dirty="0"/>
              <a:t>与粒子总能量</a:t>
            </a:r>
            <a:r>
              <a:rPr lang="en-US" altLang="zh-CN" dirty="0"/>
              <a:t>E</a:t>
            </a:r>
            <a:r>
              <a:rPr lang="zh-CN" altLang="en-US" dirty="0"/>
              <a:t>有关。于是根据图</a:t>
            </a:r>
            <a:r>
              <a:rPr lang="en-US" altLang="zh-CN" dirty="0"/>
              <a:t>2(c)</a:t>
            </a:r>
            <a:r>
              <a:rPr lang="zh-CN" altLang="en-US" dirty="0"/>
              <a:t>得到粒子能量</a:t>
            </a:r>
            <a:r>
              <a:rPr lang="en-US" altLang="zh-CN" dirty="0"/>
              <a:t>E</a:t>
            </a:r>
            <a:r>
              <a:rPr lang="zh-CN" altLang="en-US" dirty="0"/>
              <a:t>对应波数</a:t>
            </a:r>
            <a:r>
              <a:rPr lang="en-US" altLang="zh-CN" dirty="0"/>
              <a:t>k</a:t>
            </a:r>
            <a:r>
              <a:rPr lang="zh-CN" altLang="en-US" dirty="0"/>
              <a:t>的函数的图形，即图</a:t>
            </a:r>
            <a:r>
              <a:rPr lang="en-US" altLang="zh-CN" dirty="0"/>
              <a:t>3</a:t>
            </a:r>
            <a:r>
              <a:rPr lang="zh-CN" altLang="en-US" dirty="0"/>
              <a:t>，同时显示了粒子在晶格中传播能量允带的概念。从图上可知能量</a:t>
            </a:r>
            <a:r>
              <a:rPr lang="en-US" altLang="zh-CN" dirty="0"/>
              <a:t>E</a:t>
            </a:r>
            <a:r>
              <a:rPr lang="zh-CN" altLang="en-US" dirty="0"/>
              <a:t>是不连续的，也就有了晶体中粒子的禁带概念。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1491A20-C3F0-44E1-824C-3E97A177F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234" y="1949605"/>
            <a:ext cx="4720503" cy="45470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C5A7AA-3281-4B84-BD48-83A1D656707F}"/>
              </a:ext>
            </a:extLst>
          </p:cNvPr>
          <p:cNvSpPr/>
          <p:nvPr/>
        </p:nvSpPr>
        <p:spPr>
          <a:xfrm>
            <a:off x="4191404" y="6342762"/>
            <a:ext cx="376417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</a:t>
            </a:r>
            <a:r>
              <a:rPr lang="en-US" altLang="zh-C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E-k</a:t>
            </a:r>
            <a:r>
              <a:rPr lang="zh-CN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关系图。图中显示了允带与禁带能隙</a:t>
            </a:r>
            <a:endParaRPr lang="zh-CN" alt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C1A190-9039-4CF7-B08B-E4C0F51B8162}"/>
              </a:ext>
            </a:extLst>
          </p:cNvPr>
          <p:cNvSpPr/>
          <p:nvPr/>
        </p:nvSpPr>
        <p:spPr>
          <a:xfrm>
            <a:off x="8066697" y="3429000"/>
            <a:ext cx="3881806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由图</a:t>
            </a:r>
            <a:r>
              <a:rPr lang="en-US" altLang="zh-CN" sz="2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可以看出，禁带宽度应随着</a:t>
            </a:r>
            <a:r>
              <a:rPr lang="en-US" altLang="zh-CN" sz="2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zh-CN" altLang="en-U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的增大而增大，比较图</a:t>
            </a:r>
            <a:r>
              <a:rPr lang="en-US" altLang="zh-CN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中第一段禁带宽度和第三段禁带宽度可以较为清晰的看出，书中的图示在该处有问题</a:t>
            </a:r>
            <a:endParaRPr lang="zh-CN" alt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140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AC3D51-3993-402B-9189-FA338654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BF54F7-A984-449D-8A70-E6AECD35B0DF}"/>
              </a:ext>
            </a:extLst>
          </p:cNvPr>
          <p:cNvSpPr/>
          <p:nvPr/>
        </p:nvSpPr>
        <p:spPr>
          <a:xfrm>
            <a:off x="1569857" y="2828835"/>
            <a:ext cx="905228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备注：本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</a:t>
            </a:r>
            <a:r>
              <a:rPr lang="en-US" altLang="zh-CN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、图</a:t>
            </a:r>
            <a:r>
              <a:rPr lang="en-US" altLang="zh-CN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作图，</a:t>
            </a:r>
            <a:endParaRPr lang="en-US" altLang="zh-CN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Origin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作图，公式输入使用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MathType</a:t>
            </a:r>
            <a:endParaRPr lang="zh-CN" alt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8628189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</TotalTime>
  <Words>606</Words>
  <Application>Microsoft Office PowerPoint</Application>
  <PresentationFormat>宽屏</PresentationFormat>
  <Paragraphs>53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Times New Roman</vt:lpstr>
      <vt:lpstr>1_默认设计模板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LF Kristin</cp:lastModifiedBy>
  <cp:revision>324</cp:revision>
  <dcterms:created xsi:type="dcterms:W3CDTF">2020-08-13T13:39:53Z</dcterms:created>
  <dcterms:modified xsi:type="dcterms:W3CDTF">2024-12-29T10:00:54Z</dcterms:modified>
</cp:coreProperties>
</file>