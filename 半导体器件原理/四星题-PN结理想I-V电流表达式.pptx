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22"/>
  </p:notesMasterIdLst>
  <p:handoutMasterIdLst>
    <p:handoutMasterId r:id="rId23"/>
  </p:handoutMasterIdLst>
  <p:sldIdLst>
    <p:sldId id="1232" r:id="rId2"/>
    <p:sldId id="1233" r:id="rId3"/>
    <p:sldId id="1234" r:id="rId4"/>
    <p:sldId id="1235" r:id="rId5"/>
    <p:sldId id="1236" r:id="rId6"/>
    <p:sldId id="1237" r:id="rId7"/>
    <p:sldId id="1238" r:id="rId8"/>
    <p:sldId id="1239" r:id="rId9"/>
    <p:sldId id="1240" r:id="rId10"/>
    <p:sldId id="1241" r:id="rId11"/>
    <p:sldId id="1242" r:id="rId12"/>
    <p:sldId id="1243" r:id="rId13"/>
    <p:sldId id="1244" r:id="rId14"/>
    <p:sldId id="1245" r:id="rId15"/>
    <p:sldId id="1246" r:id="rId16"/>
    <p:sldId id="1247" r:id="rId17"/>
    <p:sldId id="1248" r:id="rId18"/>
    <p:sldId id="1249" r:id="rId19"/>
    <p:sldId id="1250" r:id="rId20"/>
    <p:sldId id="1251"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rry" initials="L" lastIdx="1" clrIdx="0">
    <p:extLst>
      <p:ext uri="{19B8F6BF-5375-455C-9EA6-DF929625EA0E}">
        <p15:presenceInfo xmlns:p15="http://schemas.microsoft.com/office/powerpoint/2012/main" userId="Larr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844" autoAdjust="0"/>
    <p:restoredTop sz="90941" autoAdjust="0"/>
  </p:normalViewPr>
  <p:slideViewPr>
    <p:cSldViewPr snapToGrid="0">
      <p:cViewPr varScale="1">
        <p:scale>
          <a:sx n="74" d="100"/>
          <a:sy n="74" d="100"/>
        </p:scale>
        <p:origin x="466" y="67"/>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73CF0A4-E610-495A-919B-CA480C71DED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A700D9AB-51EC-4401-AC4D-6157E0C7595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8BE80A-4039-40DC-A2BA-410E82E5F961}" type="datetimeFigureOut">
              <a:rPr lang="zh-CN" altLang="en-US" smtClean="0"/>
              <a:t>2024/12/29</a:t>
            </a:fld>
            <a:endParaRPr lang="zh-CN" altLang="en-US"/>
          </a:p>
        </p:txBody>
      </p:sp>
      <p:sp>
        <p:nvSpPr>
          <p:cNvPr id="4" name="页脚占位符 3">
            <a:extLst>
              <a:ext uri="{FF2B5EF4-FFF2-40B4-BE49-F238E27FC236}">
                <a16:creationId xmlns:a16="http://schemas.microsoft.com/office/drawing/2014/main" id="{C022726D-C38F-45D2-9673-CCF05BC1E4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AF10E6D5-A087-490B-BC7C-33021FE63D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38A59E-43ED-4AA1-B0F5-93878C5DD5EC}" type="slidenum">
              <a:rPr lang="zh-CN" altLang="en-US" smtClean="0"/>
              <a:t>‹#›</a:t>
            </a:fld>
            <a:endParaRPr lang="zh-CN" altLang="en-US"/>
          </a:p>
        </p:txBody>
      </p:sp>
    </p:spTree>
    <p:extLst>
      <p:ext uri="{BB962C8B-B14F-4D97-AF65-F5344CB8AC3E}">
        <p14:creationId xmlns:p14="http://schemas.microsoft.com/office/powerpoint/2010/main" val="40938161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4E512-F0DE-40DA-A281-500184A3244D}" type="datetimeFigureOut">
              <a:rPr lang="zh-CN" altLang="en-US" smtClean="0"/>
              <a:t>2024/12/29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490452-1689-4497-A9A0-B842EEA687A2}" type="slidenum">
              <a:rPr lang="zh-CN" altLang="en-US" smtClean="0"/>
              <a:t>‹#›</a:t>
            </a:fld>
            <a:endParaRPr lang="zh-CN" altLang="en-US"/>
          </a:p>
        </p:txBody>
      </p:sp>
    </p:spTree>
    <p:extLst>
      <p:ext uri="{BB962C8B-B14F-4D97-AF65-F5344CB8AC3E}">
        <p14:creationId xmlns:p14="http://schemas.microsoft.com/office/powerpoint/2010/main" val="24627552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E115B22-8194-4FC8-9614-86C592EEABA0}" type="slidenum">
              <a:rPr lang="en-US" altLang="zh-CN"/>
              <a:pPr>
                <a:defRPr/>
              </a:pPr>
              <a:t>‹#›</a:t>
            </a:fld>
            <a:endParaRPr lang="en-US" altLang="zh-CN"/>
          </a:p>
        </p:txBody>
      </p:sp>
    </p:spTree>
    <p:extLst>
      <p:ext uri="{BB962C8B-B14F-4D97-AF65-F5344CB8AC3E}">
        <p14:creationId xmlns:p14="http://schemas.microsoft.com/office/powerpoint/2010/main" val="4146460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B5F2CA6-A39B-48F7-84D1-AF91BD07D67D}" type="slidenum">
              <a:rPr lang="en-US" altLang="zh-CN"/>
              <a:pPr>
                <a:defRPr/>
              </a:pPr>
              <a:t>‹#›</a:t>
            </a:fld>
            <a:endParaRPr lang="en-US" altLang="zh-CN"/>
          </a:p>
        </p:txBody>
      </p:sp>
    </p:spTree>
    <p:extLst>
      <p:ext uri="{BB962C8B-B14F-4D97-AF65-F5344CB8AC3E}">
        <p14:creationId xmlns:p14="http://schemas.microsoft.com/office/powerpoint/2010/main" val="1418223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AC41597-7941-4461-A03D-7D307C3317F5}" type="slidenum">
              <a:rPr lang="en-US" altLang="zh-CN"/>
              <a:pPr>
                <a:defRPr/>
              </a:pPr>
              <a:t>‹#›</a:t>
            </a:fld>
            <a:endParaRPr lang="en-US" altLang="zh-CN"/>
          </a:p>
        </p:txBody>
      </p:sp>
    </p:spTree>
    <p:extLst>
      <p:ext uri="{BB962C8B-B14F-4D97-AF65-F5344CB8AC3E}">
        <p14:creationId xmlns:p14="http://schemas.microsoft.com/office/powerpoint/2010/main" val="1967330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E7E5104-8735-46A8-9820-8BD5C44B645E}" type="slidenum">
              <a:rPr lang="en-US" altLang="zh-CN"/>
              <a:pPr>
                <a:defRPr/>
              </a:pPr>
              <a:t>‹#›</a:t>
            </a:fld>
            <a:endParaRPr lang="en-US" altLang="zh-CN"/>
          </a:p>
        </p:txBody>
      </p:sp>
    </p:spTree>
    <p:extLst>
      <p:ext uri="{BB962C8B-B14F-4D97-AF65-F5344CB8AC3E}">
        <p14:creationId xmlns:p14="http://schemas.microsoft.com/office/powerpoint/2010/main" val="1099038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C8BB04D0-EC69-4E34-9026-1132273F6FE6}" type="slidenum">
              <a:rPr lang="en-US" altLang="zh-CN"/>
              <a:pPr>
                <a:defRPr/>
              </a:pPr>
              <a:t>‹#›</a:t>
            </a:fld>
            <a:endParaRPr lang="en-US" altLang="zh-CN"/>
          </a:p>
        </p:txBody>
      </p:sp>
    </p:spTree>
    <p:extLst>
      <p:ext uri="{BB962C8B-B14F-4D97-AF65-F5344CB8AC3E}">
        <p14:creationId xmlns:p14="http://schemas.microsoft.com/office/powerpoint/2010/main" val="2959773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7F34D7FE-E00D-4DCA-A0A7-A306174DC0C2}" type="slidenum">
              <a:rPr lang="en-US" altLang="zh-CN"/>
              <a:pPr>
                <a:defRPr/>
              </a:pPr>
              <a:t>‹#›</a:t>
            </a:fld>
            <a:endParaRPr lang="en-US" altLang="zh-CN"/>
          </a:p>
        </p:txBody>
      </p:sp>
    </p:spTree>
    <p:extLst>
      <p:ext uri="{BB962C8B-B14F-4D97-AF65-F5344CB8AC3E}">
        <p14:creationId xmlns:p14="http://schemas.microsoft.com/office/powerpoint/2010/main" val="873834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DFE46EFE-F103-4F45-8883-0DE6C66B1B8E}" type="slidenum">
              <a:rPr lang="en-US" altLang="zh-CN"/>
              <a:pPr>
                <a:defRPr/>
              </a:pPr>
              <a:t>‹#›</a:t>
            </a:fld>
            <a:endParaRPr lang="en-US" altLang="zh-CN"/>
          </a:p>
        </p:txBody>
      </p:sp>
    </p:spTree>
    <p:extLst>
      <p:ext uri="{BB962C8B-B14F-4D97-AF65-F5344CB8AC3E}">
        <p14:creationId xmlns:p14="http://schemas.microsoft.com/office/powerpoint/2010/main" val="1468583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675AF18-52E2-4048-A908-642605843CBF}" type="slidenum">
              <a:rPr lang="en-US" altLang="zh-CN"/>
              <a:pPr>
                <a:defRPr/>
              </a:pPr>
              <a:t>‹#›</a:t>
            </a:fld>
            <a:endParaRPr lang="en-US" altLang="zh-CN"/>
          </a:p>
        </p:txBody>
      </p:sp>
    </p:spTree>
    <p:extLst>
      <p:ext uri="{BB962C8B-B14F-4D97-AF65-F5344CB8AC3E}">
        <p14:creationId xmlns:p14="http://schemas.microsoft.com/office/powerpoint/2010/main" val="2851156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72A61F9-4BE0-4887-A67C-4D288CA56997}" type="slidenum">
              <a:rPr lang="en-US" altLang="zh-CN"/>
              <a:pPr>
                <a:defRPr/>
              </a:pPr>
              <a:t>‹#›</a:t>
            </a:fld>
            <a:endParaRPr lang="en-US" altLang="zh-CN"/>
          </a:p>
        </p:txBody>
      </p:sp>
    </p:spTree>
    <p:extLst>
      <p:ext uri="{BB962C8B-B14F-4D97-AF65-F5344CB8AC3E}">
        <p14:creationId xmlns:p14="http://schemas.microsoft.com/office/powerpoint/2010/main" val="70273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37B2B09-852B-4EAA-A08A-0953A9F63347}" type="slidenum">
              <a:rPr lang="en-US" altLang="zh-CN"/>
              <a:pPr>
                <a:defRPr/>
              </a:pPr>
              <a:t>‹#›</a:t>
            </a:fld>
            <a:endParaRPr lang="en-US" altLang="zh-CN"/>
          </a:p>
        </p:txBody>
      </p:sp>
    </p:spTree>
    <p:extLst>
      <p:ext uri="{BB962C8B-B14F-4D97-AF65-F5344CB8AC3E}">
        <p14:creationId xmlns:p14="http://schemas.microsoft.com/office/powerpoint/2010/main" val="1354775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61CDC42-DFEF-458F-BD1B-2EFAEEF68015}" type="slidenum">
              <a:rPr lang="en-US" altLang="zh-CN"/>
              <a:pPr>
                <a:defRPr/>
              </a:pPr>
              <a:t>‹#›</a:t>
            </a:fld>
            <a:endParaRPr lang="en-US" altLang="zh-CN"/>
          </a:p>
        </p:txBody>
      </p:sp>
    </p:spTree>
    <p:extLst>
      <p:ext uri="{BB962C8B-B14F-4D97-AF65-F5344CB8AC3E}">
        <p14:creationId xmlns:p14="http://schemas.microsoft.com/office/powerpoint/2010/main" val="2500059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a:defRPr/>
            </a:pPr>
            <a:fld id="{FF534AEE-0681-4001-91D8-DF8F111160F4}" type="slidenum">
              <a:rPr lang="en-US" altLang="zh-CN"/>
              <a:pPr>
                <a:defRPr/>
              </a:pPr>
              <a:t>‹#›</a:t>
            </a:fld>
            <a:endParaRPr lang="en-US" altLang="zh-CN"/>
          </a:p>
        </p:txBody>
      </p:sp>
      <p:pic>
        <p:nvPicPr>
          <p:cNvPr id="7" name="Picture 2">
            <a:extLst>
              <a:ext uri="{FF2B5EF4-FFF2-40B4-BE49-F238E27FC236}">
                <a16:creationId xmlns:a16="http://schemas.microsoft.com/office/drawing/2014/main" id="{D90EEA7F-39F9-4B97-AF58-835331598C9A}"/>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762268" y="5786"/>
            <a:ext cx="1183064" cy="1183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980654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6.bin"/><Relationship Id="rId18" Type="http://schemas.openxmlformats.org/officeDocument/2006/relationships/image" Target="../media/image11.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8.wmf"/><Relationship Id="rId17" Type="http://schemas.openxmlformats.org/officeDocument/2006/relationships/oleObject" Target="../embeddings/oleObject8.bin"/><Relationship Id="rId2" Type="http://schemas.openxmlformats.org/officeDocument/2006/relationships/image" Target="../media/image3.png"/><Relationship Id="rId16" Type="http://schemas.openxmlformats.org/officeDocument/2006/relationships/image" Target="../media/image10.wmf"/><Relationship Id="rId20" Type="http://schemas.openxmlformats.org/officeDocument/2006/relationships/image" Target="../media/image12.wmf"/><Relationship Id="rId1" Type="http://schemas.openxmlformats.org/officeDocument/2006/relationships/slideLayout" Target="../slideLayouts/slideLayout2.xml"/><Relationship Id="rId6" Type="http://schemas.openxmlformats.org/officeDocument/2006/relationships/image" Target="../media/image5.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7.wmf"/><Relationship Id="rId19" Type="http://schemas.openxmlformats.org/officeDocument/2006/relationships/oleObject" Target="../embeddings/oleObject9.bin"/><Relationship Id="rId4" Type="http://schemas.openxmlformats.org/officeDocument/2006/relationships/image" Target="../media/image4.wmf"/><Relationship Id="rId9" Type="http://schemas.openxmlformats.org/officeDocument/2006/relationships/oleObject" Target="../embeddings/oleObject4.bin"/><Relationship Id="rId14" Type="http://schemas.openxmlformats.org/officeDocument/2006/relationships/image" Target="../media/image9.wmf"/></Relationships>
</file>

<file path=ppt/slides/_rels/slide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wmf"/><Relationship Id="rId4" Type="http://schemas.openxmlformats.org/officeDocument/2006/relationships/oleObject" Target="../embeddings/oleObject11.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21.wmf"/><Relationship Id="rId3" Type="http://schemas.openxmlformats.org/officeDocument/2006/relationships/image" Target="../media/image16.wmf"/><Relationship Id="rId7" Type="http://schemas.openxmlformats.org/officeDocument/2006/relationships/image" Target="../media/image18.wmf"/><Relationship Id="rId12" Type="http://schemas.openxmlformats.org/officeDocument/2006/relationships/oleObject" Target="../embeddings/oleObject17.bin"/><Relationship Id="rId2"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oleObject" Target="../embeddings/oleObject14.bin"/><Relationship Id="rId11" Type="http://schemas.openxmlformats.org/officeDocument/2006/relationships/image" Target="../media/image20.wmf"/><Relationship Id="rId5" Type="http://schemas.openxmlformats.org/officeDocument/2006/relationships/image" Target="../media/image17.wmf"/><Relationship Id="rId15" Type="http://schemas.openxmlformats.org/officeDocument/2006/relationships/image" Target="../media/image22.w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19.wmf"/><Relationship Id="rId14" Type="http://schemas.openxmlformats.org/officeDocument/2006/relationships/oleObject" Target="../embeddings/oleObject18.bin"/></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29.wmf"/><Relationship Id="rId18" Type="http://schemas.openxmlformats.org/officeDocument/2006/relationships/oleObject" Target="../embeddings/oleObject27.bin"/><Relationship Id="rId3" Type="http://schemas.openxmlformats.org/officeDocument/2006/relationships/image" Target="../media/image24.wmf"/><Relationship Id="rId21" Type="http://schemas.openxmlformats.org/officeDocument/2006/relationships/image" Target="../media/image33.wmf"/><Relationship Id="rId7" Type="http://schemas.openxmlformats.org/officeDocument/2006/relationships/image" Target="../media/image26.wmf"/><Relationship Id="rId12" Type="http://schemas.openxmlformats.org/officeDocument/2006/relationships/oleObject" Target="../embeddings/oleObject24.bin"/><Relationship Id="rId17" Type="http://schemas.openxmlformats.org/officeDocument/2006/relationships/image" Target="../media/image31.wmf"/><Relationship Id="rId2" Type="http://schemas.openxmlformats.org/officeDocument/2006/relationships/oleObject" Target="../embeddings/oleObject19.bin"/><Relationship Id="rId16" Type="http://schemas.openxmlformats.org/officeDocument/2006/relationships/oleObject" Target="../embeddings/oleObject26.bin"/><Relationship Id="rId20"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21.bin"/><Relationship Id="rId11" Type="http://schemas.openxmlformats.org/officeDocument/2006/relationships/image" Target="../media/image28.wmf"/><Relationship Id="rId5" Type="http://schemas.openxmlformats.org/officeDocument/2006/relationships/image" Target="../media/image25.wmf"/><Relationship Id="rId15" Type="http://schemas.openxmlformats.org/officeDocument/2006/relationships/image" Target="../media/image30.wmf"/><Relationship Id="rId10" Type="http://schemas.openxmlformats.org/officeDocument/2006/relationships/oleObject" Target="../embeddings/oleObject23.bin"/><Relationship Id="rId19" Type="http://schemas.openxmlformats.org/officeDocument/2006/relationships/image" Target="../media/image32.wmf"/><Relationship Id="rId4" Type="http://schemas.openxmlformats.org/officeDocument/2006/relationships/oleObject" Target="../embeddings/oleObject20.bin"/><Relationship Id="rId9" Type="http://schemas.openxmlformats.org/officeDocument/2006/relationships/image" Target="../media/image27.wmf"/><Relationship Id="rId14" Type="http://schemas.openxmlformats.org/officeDocument/2006/relationships/oleObject" Target="../embeddings/oleObject25.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39.wmf"/><Relationship Id="rId3" Type="http://schemas.openxmlformats.org/officeDocument/2006/relationships/image" Target="../media/image34.wmf"/><Relationship Id="rId7" Type="http://schemas.openxmlformats.org/officeDocument/2006/relationships/image" Target="../media/image36.wmf"/><Relationship Id="rId12" Type="http://schemas.openxmlformats.org/officeDocument/2006/relationships/oleObject" Target="../embeddings/oleObject34.bin"/><Relationship Id="rId2" Type="http://schemas.openxmlformats.org/officeDocument/2006/relationships/oleObject" Target="../embeddings/oleObject29.bin"/><Relationship Id="rId1" Type="http://schemas.openxmlformats.org/officeDocument/2006/relationships/slideLayout" Target="../slideLayouts/slideLayout2.xml"/><Relationship Id="rId6" Type="http://schemas.openxmlformats.org/officeDocument/2006/relationships/oleObject" Target="../embeddings/oleObject31.bin"/><Relationship Id="rId11" Type="http://schemas.openxmlformats.org/officeDocument/2006/relationships/image" Target="../media/image38.wmf"/><Relationship Id="rId5" Type="http://schemas.openxmlformats.org/officeDocument/2006/relationships/image" Target="../media/image35.wmf"/><Relationship Id="rId10" Type="http://schemas.openxmlformats.org/officeDocument/2006/relationships/oleObject" Target="../embeddings/oleObject33.bin"/><Relationship Id="rId4" Type="http://schemas.openxmlformats.org/officeDocument/2006/relationships/oleObject" Target="../embeddings/oleObject30.bin"/><Relationship Id="rId9" Type="http://schemas.openxmlformats.org/officeDocument/2006/relationships/image" Target="../media/image37.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image" Target="../media/image40.wmf"/><Relationship Id="rId7" Type="http://schemas.openxmlformats.org/officeDocument/2006/relationships/image" Target="../media/image42.wmf"/><Relationship Id="rId2" Type="http://schemas.openxmlformats.org/officeDocument/2006/relationships/oleObject" Target="../embeddings/oleObject35.bin"/><Relationship Id="rId1" Type="http://schemas.openxmlformats.org/officeDocument/2006/relationships/slideLayout" Target="../slideLayouts/slideLayout2.xml"/><Relationship Id="rId6" Type="http://schemas.openxmlformats.org/officeDocument/2006/relationships/oleObject" Target="../embeddings/oleObject37.bin"/><Relationship Id="rId5" Type="http://schemas.openxmlformats.org/officeDocument/2006/relationships/image" Target="../media/image41.wmf"/><Relationship Id="rId10" Type="http://schemas.openxmlformats.org/officeDocument/2006/relationships/image" Target="../media/image44.png"/><Relationship Id="rId4" Type="http://schemas.openxmlformats.org/officeDocument/2006/relationships/oleObject" Target="../embeddings/oleObject36.bin"/><Relationship Id="rId9" Type="http://schemas.openxmlformats.org/officeDocument/2006/relationships/image" Target="../media/image43.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image" Target="../media/image45.wmf"/><Relationship Id="rId7" Type="http://schemas.openxmlformats.org/officeDocument/2006/relationships/image" Target="../media/image47.wmf"/><Relationship Id="rId2" Type="http://schemas.openxmlformats.org/officeDocument/2006/relationships/oleObject" Target="../embeddings/oleObject39.bin"/><Relationship Id="rId1" Type="http://schemas.openxmlformats.org/officeDocument/2006/relationships/slideLayout" Target="../slideLayouts/slideLayout2.xml"/><Relationship Id="rId6" Type="http://schemas.openxmlformats.org/officeDocument/2006/relationships/oleObject" Target="../embeddings/oleObject41.bin"/><Relationship Id="rId5" Type="http://schemas.openxmlformats.org/officeDocument/2006/relationships/image" Target="../media/image46.wmf"/><Relationship Id="rId10" Type="http://schemas.openxmlformats.org/officeDocument/2006/relationships/image" Target="../media/image49.png"/><Relationship Id="rId4" Type="http://schemas.openxmlformats.org/officeDocument/2006/relationships/oleObject" Target="../embeddings/oleObject40.bin"/><Relationship Id="rId9" Type="http://schemas.openxmlformats.org/officeDocument/2006/relationships/image" Target="../media/image48.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image" Target="../media/image50.wmf"/><Relationship Id="rId7" Type="http://schemas.openxmlformats.org/officeDocument/2006/relationships/image" Target="../media/image52.wmf"/><Relationship Id="rId2" Type="http://schemas.openxmlformats.org/officeDocument/2006/relationships/oleObject" Target="../embeddings/oleObject43.bin"/><Relationship Id="rId1" Type="http://schemas.openxmlformats.org/officeDocument/2006/relationships/slideLayout" Target="../slideLayouts/slideLayout2.xml"/><Relationship Id="rId6" Type="http://schemas.openxmlformats.org/officeDocument/2006/relationships/oleObject" Target="../embeddings/oleObject45.bin"/><Relationship Id="rId5" Type="http://schemas.openxmlformats.org/officeDocument/2006/relationships/image" Target="../media/image51.wmf"/><Relationship Id="rId4" Type="http://schemas.openxmlformats.org/officeDocument/2006/relationships/oleObject" Target="../embeddings/oleObject44.bin"/><Relationship Id="rId9" Type="http://schemas.openxmlformats.org/officeDocument/2006/relationships/image" Target="../media/image53.wmf"/></Relationships>
</file>

<file path=ppt/slides/_rels/slide1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50.bin"/><Relationship Id="rId13" Type="http://schemas.openxmlformats.org/officeDocument/2006/relationships/image" Target="../media/image60.wmf"/><Relationship Id="rId3" Type="http://schemas.openxmlformats.org/officeDocument/2006/relationships/image" Target="../media/image55.wmf"/><Relationship Id="rId7" Type="http://schemas.openxmlformats.org/officeDocument/2006/relationships/image" Target="../media/image57.wmf"/><Relationship Id="rId12" Type="http://schemas.openxmlformats.org/officeDocument/2006/relationships/oleObject" Target="../embeddings/oleObject52.bin"/><Relationship Id="rId17" Type="http://schemas.openxmlformats.org/officeDocument/2006/relationships/image" Target="../media/image62.wmf"/><Relationship Id="rId2" Type="http://schemas.openxmlformats.org/officeDocument/2006/relationships/oleObject" Target="../embeddings/oleObject47.bin"/><Relationship Id="rId16" Type="http://schemas.openxmlformats.org/officeDocument/2006/relationships/oleObject" Target="../embeddings/oleObject54.bin"/><Relationship Id="rId1" Type="http://schemas.openxmlformats.org/officeDocument/2006/relationships/slideLayout" Target="../slideLayouts/slideLayout2.xml"/><Relationship Id="rId6" Type="http://schemas.openxmlformats.org/officeDocument/2006/relationships/oleObject" Target="../embeddings/oleObject49.bin"/><Relationship Id="rId11" Type="http://schemas.openxmlformats.org/officeDocument/2006/relationships/image" Target="../media/image59.wmf"/><Relationship Id="rId5" Type="http://schemas.openxmlformats.org/officeDocument/2006/relationships/image" Target="../media/image56.wmf"/><Relationship Id="rId15" Type="http://schemas.openxmlformats.org/officeDocument/2006/relationships/image" Target="../media/image61.wmf"/><Relationship Id="rId10" Type="http://schemas.openxmlformats.org/officeDocument/2006/relationships/oleObject" Target="../embeddings/oleObject51.bin"/><Relationship Id="rId4" Type="http://schemas.openxmlformats.org/officeDocument/2006/relationships/oleObject" Target="../embeddings/oleObject48.bin"/><Relationship Id="rId9" Type="http://schemas.openxmlformats.org/officeDocument/2006/relationships/image" Target="../media/image58.wmf"/><Relationship Id="rId14" Type="http://schemas.openxmlformats.org/officeDocument/2006/relationships/oleObject" Target="../embeddings/oleObject53.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58.bin"/><Relationship Id="rId13" Type="http://schemas.openxmlformats.org/officeDocument/2006/relationships/image" Target="../media/image68.wmf"/><Relationship Id="rId3" Type="http://schemas.openxmlformats.org/officeDocument/2006/relationships/image" Target="../media/image63.wmf"/><Relationship Id="rId7" Type="http://schemas.openxmlformats.org/officeDocument/2006/relationships/image" Target="../media/image65.wmf"/><Relationship Id="rId12" Type="http://schemas.openxmlformats.org/officeDocument/2006/relationships/oleObject" Target="../embeddings/oleObject60.bin"/><Relationship Id="rId2" Type="http://schemas.openxmlformats.org/officeDocument/2006/relationships/oleObject" Target="../embeddings/oleObject55.bin"/><Relationship Id="rId1" Type="http://schemas.openxmlformats.org/officeDocument/2006/relationships/slideLayout" Target="../slideLayouts/slideLayout2.xml"/><Relationship Id="rId6" Type="http://schemas.openxmlformats.org/officeDocument/2006/relationships/oleObject" Target="../embeddings/oleObject57.bin"/><Relationship Id="rId11" Type="http://schemas.openxmlformats.org/officeDocument/2006/relationships/image" Target="../media/image67.wmf"/><Relationship Id="rId5" Type="http://schemas.openxmlformats.org/officeDocument/2006/relationships/image" Target="../media/image64.wmf"/><Relationship Id="rId10" Type="http://schemas.openxmlformats.org/officeDocument/2006/relationships/oleObject" Target="../embeddings/oleObject59.bin"/><Relationship Id="rId4" Type="http://schemas.openxmlformats.org/officeDocument/2006/relationships/oleObject" Target="../embeddings/oleObject56.bin"/><Relationship Id="rId9" Type="http://schemas.openxmlformats.org/officeDocument/2006/relationships/image" Target="../media/image66.wmf"/></Relationships>
</file>

<file path=ppt/slides/_rels/slide17.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oleObject" Target="../embeddings/oleObject61.bin"/><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wmf"/><Relationship Id="rId4" Type="http://schemas.openxmlformats.org/officeDocument/2006/relationships/oleObject" Target="../embeddings/oleObject62.bin"/></Relationships>
</file>

<file path=ppt/slides/_rels/slide18.xml.rels><?xml version="1.0" encoding="UTF-8" standalone="yes"?>
<Relationships xmlns="http://schemas.openxmlformats.org/package/2006/relationships"><Relationship Id="rId8" Type="http://schemas.openxmlformats.org/officeDocument/2006/relationships/image" Target="../media/image75.wmf"/><Relationship Id="rId3" Type="http://schemas.openxmlformats.org/officeDocument/2006/relationships/oleObject" Target="../embeddings/oleObject63.bin"/><Relationship Id="rId7" Type="http://schemas.openxmlformats.org/officeDocument/2006/relationships/oleObject" Target="../embeddings/oleObject65.bin"/><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4.wmf"/><Relationship Id="rId5" Type="http://schemas.openxmlformats.org/officeDocument/2006/relationships/oleObject" Target="../embeddings/oleObject64.bin"/><Relationship Id="rId10" Type="http://schemas.openxmlformats.org/officeDocument/2006/relationships/image" Target="../media/image76.wmf"/><Relationship Id="rId4" Type="http://schemas.openxmlformats.org/officeDocument/2006/relationships/image" Target="../media/image73.wmf"/><Relationship Id="rId9" Type="http://schemas.openxmlformats.org/officeDocument/2006/relationships/oleObject" Target="../embeddings/oleObject66.bin"/></Relationships>
</file>

<file path=ppt/slides/_rels/slide1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BD095E2-5873-46A8-B8F7-078AF9511F47}"/>
              </a:ext>
            </a:extLst>
          </p:cNvPr>
          <p:cNvSpPr/>
          <p:nvPr/>
        </p:nvSpPr>
        <p:spPr>
          <a:xfrm>
            <a:off x="3541453" y="2146453"/>
            <a:ext cx="5109092" cy="646331"/>
          </a:xfrm>
          <a:prstGeom prst="rect">
            <a:avLst/>
          </a:prstGeom>
          <a:noFill/>
        </p:spPr>
        <p:txBody>
          <a:bodyPr wrap="none" lIns="91440" tIns="45720" rIns="91440" bIns="45720">
            <a:spAutoFit/>
          </a:bodyPr>
          <a:lstStyle/>
          <a:p>
            <a:pPr algn="ctr"/>
            <a:r>
              <a:rPr lang="en-US" altLang="zh-CN" sz="3600" dirty="0">
                <a:ln w="0"/>
                <a:effectLst>
                  <a:outerShdw blurRad="38100" dist="19050" dir="2700000" algn="tl" rotWithShape="0">
                    <a:schemeClr val="dk1">
                      <a:alpha val="40000"/>
                    </a:schemeClr>
                  </a:outerShdw>
                </a:effectLst>
              </a:rPr>
              <a:t>PN</a:t>
            </a:r>
            <a:r>
              <a:rPr lang="zh-CN" altLang="en-US" sz="3600" dirty="0">
                <a:ln w="0"/>
                <a:effectLst>
                  <a:outerShdw blurRad="38100" dist="19050" dir="2700000" algn="tl" rotWithShape="0">
                    <a:schemeClr val="dk1">
                      <a:alpha val="40000"/>
                    </a:schemeClr>
                  </a:outerShdw>
                </a:effectLst>
              </a:rPr>
              <a:t>结理想</a:t>
            </a:r>
            <a:r>
              <a:rPr lang="en-US" altLang="zh-CN" sz="3600" dirty="0">
                <a:ln w="0"/>
                <a:effectLst>
                  <a:outerShdw blurRad="38100" dist="19050" dir="2700000" algn="tl" rotWithShape="0">
                    <a:schemeClr val="dk1">
                      <a:alpha val="40000"/>
                    </a:schemeClr>
                  </a:outerShdw>
                </a:effectLst>
              </a:rPr>
              <a:t>I-V</a:t>
            </a:r>
            <a:r>
              <a:rPr lang="zh-CN" altLang="en-US" sz="3600">
                <a:ln w="0"/>
                <a:effectLst>
                  <a:outerShdw blurRad="38100" dist="19050" dir="2700000" algn="tl" rotWithShape="0">
                    <a:schemeClr val="dk1">
                      <a:alpha val="40000"/>
                    </a:schemeClr>
                  </a:outerShdw>
                </a:effectLst>
              </a:rPr>
              <a:t>电流表达式</a:t>
            </a:r>
            <a:endParaRPr lang="en-US" altLang="zh-CN" sz="3600" dirty="0">
              <a:ln w="0"/>
              <a:effectLst>
                <a:outerShdw blurRad="38100" dist="19050" dir="2700000" algn="tl" rotWithShape="0">
                  <a:schemeClr val="dk1">
                    <a:alpha val="40000"/>
                  </a:schemeClr>
                </a:outerShdw>
              </a:effectLst>
            </a:endParaRPr>
          </a:p>
        </p:txBody>
      </p:sp>
      <p:sp>
        <p:nvSpPr>
          <p:cNvPr id="5" name="矩形 4">
            <a:extLst>
              <a:ext uri="{FF2B5EF4-FFF2-40B4-BE49-F238E27FC236}">
                <a16:creationId xmlns:a16="http://schemas.microsoft.com/office/drawing/2014/main" id="{E8DA0312-2E5E-4D35-B163-BF59B81B426E}"/>
              </a:ext>
            </a:extLst>
          </p:cNvPr>
          <p:cNvSpPr/>
          <p:nvPr/>
        </p:nvSpPr>
        <p:spPr>
          <a:xfrm>
            <a:off x="4791796" y="3245657"/>
            <a:ext cx="1899879" cy="1815882"/>
          </a:xfrm>
          <a:prstGeom prst="rect">
            <a:avLst/>
          </a:prstGeom>
          <a:noFill/>
        </p:spPr>
        <p:txBody>
          <a:bodyPr wrap="none" lIns="91440" tIns="45720" rIns="91440" bIns="45720">
            <a:spAutoFit/>
          </a:bodyPr>
          <a:lstStyle/>
          <a:p>
            <a:r>
              <a:rPr lang="zh-CN" altLang="en-US" sz="2800" b="0" cap="none" spc="0" dirty="0">
                <a:ln w="0"/>
                <a:solidFill>
                  <a:schemeClr val="tx1"/>
                </a:solidFill>
                <a:effectLst>
                  <a:outerShdw blurRad="38100" dist="19050" dir="2700000" algn="tl" rotWithShape="0">
                    <a:schemeClr val="dk1">
                      <a:alpha val="40000"/>
                    </a:schemeClr>
                  </a:outerShdw>
                </a:effectLst>
              </a:rPr>
              <a:t>姓名：</a:t>
            </a:r>
            <a:endParaRPr lang="en-US" altLang="zh-CN" sz="2800" b="0" cap="none" spc="0" dirty="0">
              <a:ln w="0"/>
              <a:solidFill>
                <a:schemeClr val="tx1"/>
              </a:solidFill>
              <a:effectLst>
                <a:outerShdw blurRad="38100" dist="19050" dir="2700000" algn="tl" rotWithShape="0">
                  <a:schemeClr val="dk1">
                    <a:alpha val="40000"/>
                  </a:schemeClr>
                </a:outerShdw>
              </a:effectLst>
            </a:endParaRPr>
          </a:p>
          <a:p>
            <a:r>
              <a:rPr lang="zh-CN" altLang="en-US" sz="2800" dirty="0">
                <a:ln w="0"/>
                <a:effectLst>
                  <a:outerShdw blurRad="38100" dist="19050" dir="2700000" algn="tl" rotWithShape="0">
                    <a:schemeClr val="dk1">
                      <a:alpha val="40000"/>
                    </a:schemeClr>
                  </a:outerShdw>
                </a:effectLst>
              </a:rPr>
              <a:t>学号：</a:t>
            </a:r>
            <a:endParaRPr lang="en-US" altLang="zh-CN" sz="2800" dirty="0">
              <a:ln w="0"/>
              <a:effectLst>
                <a:outerShdw blurRad="38100" dist="19050" dir="2700000" algn="tl" rotWithShape="0">
                  <a:schemeClr val="dk1">
                    <a:alpha val="40000"/>
                  </a:schemeClr>
                </a:outerShdw>
              </a:effectLst>
            </a:endParaRPr>
          </a:p>
          <a:p>
            <a:r>
              <a:rPr lang="zh-CN" altLang="en-US" sz="2800" b="0" cap="none" spc="0" dirty="0">
                <a:ln w="0"/>
                <a:solidFill>
                  <a:schemeClr val="tx1"/>
                </a:solidFill>
                <a:effectLst>
                  <a:outerShdw blurRad="38100" dist="19050" dir="2700000" algn="tl" rotWithShape="0">
                    <a:schemeClr val="dk1">
                      <a:alpha val="40000"/>
                    </a:schemeClr>
                  </a:outerShdw>
                </a:effectLst>
              </a:rPr>
              <a:t>自评：</a:t>
            </a:r>
            <a:r>
              <a:rPr lang="en-US" altLang="zh-CN" sz="2800" dirty="0">
                <a:ln w="0"/>
                <a:effectLst>
                  <a:outerShdw blurRad="38100" dist="19050" dir="2700000" algn="tl" rotWithShape="0">
                    <a:schemeClr val="dk1">
                      <a:alpha val="40000"/>
                    </a:schemeClr>
                  </a:outerShdw>
                </a:effectLst>
              </a:rPr>
              <a:t>9</a:t>
            </a:r>
            <a:r>
              <a:rPr lang="en-US" altLang="zh-CN" sz="2800" b="0" cap="none" spc="0" dirty="0">
                <a:ln w="0"/>
                <a:solidFill>
                  <a:schemeClr val="tx1"/>
                </a:solidFill>
                <a:effectLst>
                  <a:outerShdw blurRad="38100" dist="19050" dir="2700000" algn="tl" rotWithShape="0">
                    <a:schemeClr val="dk1">
                      <a:alpha val="40000"/>
                    </a:schemeClr>
                  </a:outerShdw>
                </a:effectLst>
              </a:rPr>
              <a:t>/1</a:t>
            </a:r>
            <a:r>
              <a:rPr lang="en-US" altLang="zh-CN" sz="2800" dirty="0">
                <a:ln w="0"/>
                <a:effectLst>
                  <a:outerShdw blurRad="38100" dist="19050" dir="2700000" algn="tl" rotWithShape="0">
                    <a:schemeClr val="dk1">
                      <a:alpha val="40000"/>
                    </a:schemeClr>
                  </a:outerShdw>
                </a:effectLst>
              </a:rPr>
              <a:t>0</a:t>
            </a:r>
          </a:p>
          <a:p>
            <a:r>
              <a:rPr lang="zh-CN" altLang="en-US" sz="2800" b="0" cap="none" spc="0">
                <a:ln w="0"/>
                <a:solidFill>
                  <a:schemeClr val="tx1"/>
                </a:solidFill>
                <a:effectLst>
                  <a:outerShdw blurRad="38100" dist="19050" dir="2700000" algn="tl" rotWithShape="0">
                    <a:schemeClr val="dk1">
                      <a:alpha val="40000"/>
                    </a:schemeClr>
                  </a:outerShdw>
                </a:effectLst>
              </a:rPr>
              <a:t>时间：</a:t>
            </a:r>
            <a:endParaRPr lang="zh-CN"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9" name="灯片编号占位符 8">
            <a:extLst>
              <a:ext uri="{FF2B5EF4-FFF2-40B4-BE49-F238E27FC236}">
                <a16:creationId xmlns:a16="http://schemas.microsoft.com/office/drawing/2014/main" id="{3D31EF5B-60C8-4BAE-BF23-75CAA65BBB11}"/>
              </a:ext>
            </a:extLst>
          </p:cNvPr>
          <p:cNvSpPr>
            <a:spLocks noGrp="1"/>
          </p:cNvSpPr>
          <p:nvPr>
            <p:ph type="sldNum" sz="quarter" idx="12"/>
          </p:nvPr>
        </p:nvSpPr>
        <p:spPr/>
        <p:txBody>
          <a:bodyPr/>
          <a:lstStyle/>
          <a:p>
            <a:pPr>
              <a:defRPr/>
            </a:pPr>
            <a:fld id="{7E115B22-8194-4FC8-9614-86C592EEABA0}" type="slidenum">
              <a:rPr lang="en-US" altLang="zh-CN" smtClean="0"/>
              <a:pPr>
                <a:defRPr/>
              </a:pPr>
              <a:t>1</a:t>
            </a:fld>
            <a:endParaRPr lang="en-US" altLang="zh-CN"/>
          </a:p>
        </p:txBody>
      </p:sp>
    </p:spTree>
    <p:extLst>
      <p:ext uri="{BB962C8B-B14F-4D97-AF65-F5344CB8AC3E}">
        <p14:creationId xmlns:p14="http://schemas.microsoft.com/office/powerpoint/2010/main" val="75989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8B59205-9FAD-4623-8B86-3785969BB51F}"/>
              </a:ext>
            </a:extLst>
          </p:cNvPr>
          <p:cNvSpPr>
            <a:spLocks noGrp="1"/>
          </p:cNvSpPr>
          <p:nvPr>
            <p:ph type="sldNum" sz="quarter" idx="12"/>
          </p:nvPr>
        </p:nvSpPr>
        <p:spPr/>
        <p:txBody>
          <a:bodyPr/>
          <a:lstStyle/>
          <a:p>
            <a:pPr>
              <a:defRPr/>
            </a:pPr>
            <a:fld id="{DB5F2CA6-A39B-48F7-84D1-AF91BD07D67D}" type="slidenum">
              <a:rPr lang="en-US" altLang="zh-CN" smtClean="0"/>
              <a:pPr>
                <a:defRPr/>
              </a:pPr>
              <a:t>2</a:t>
            </a:fld>
            <a:endParaRPr lang="en-US" altLang="zh-CN"/>
          </a:p>
        </p:txBody>
      </p:sp>
      <p:sp>
        <p:nvSpPr>
          <p:cNvPr id="5" name="矩形 4">
            <a:extLst>
              <a:ext uri="{FF2B5EF4-FFF2-40B4-BE49-F238E27FC236}">
                <a16:creationId xmlns:a16="http://schemas.microsoft.com/office/drawing/2014/main" id="{428388C0-3DCB-4511-A38E-C9421659CA69}"/>
              </a:ext>
            </a:extLst>
          </p:cNvPr>
          <p:cNvSpPr/>
          <p:nvPr/>
        </p:nvSpPr>
        <p:spPr>
          <a:xfrm>
            <a:off x="312375" y="286480"/>
            <a:ext cx="3877985" cy="584775"/>
          </a:xfrm>
          <a:prstGeom prst="rect">
            <a:avLst/>
          </a:prstGeom>
          <a:noFill/>
        </p:spPr>
        <p:txBody>
          <a:bodyPr wrap="none" lIns="91440" tIns="45720" rIns="91440" bIns="45720">
            <a:spAutoFit/>
          </a:bodyPr>
          <a:lstStyle/>
          <a:p>
            <a:pPr algn="ctr"/>
            <a:r>
              <a:rPr lang="en-US" altLang="zh-CN" sz="3200" dirty="0" err="1">
                <a:ln w="0"/>
                <a:effectLst>
                  <a:outerShdw blurRad="38100" dist="19050" dir="2700000" algn="tl" rotWithShape="0">
                    <a:schemeClr val="dk1">
                      <a:alpha val="40000"/>
                    </a:schemeClr>
                  </a:outerShdw>
                </a:effectLst>
              </a:rPr>
              <a:t>pn</a:t>
            </a:r>
            <a:r>
              <a:rPr lang="zh-CN" altLang="en-US" sz="3200" dirty="0">
                <a:ln w="0"/>
                <a:effectLst>
                  <a:outerShdw blurRad="38100" dist="19050" dir="2700000" algn="tl" rotWithShape="0">
                    <a:schemeClr val="dk1">
                      <a:alpha val="40000"/>
                    </a:schemeClr>
                  </a:outerShdw>
                </a:effectLst>
              </a:rPr>
              <a:t>结电流的形成机制</a:t>
            </a:r>
            <a:endParaRPr lang="zh-CN" altLang="en-US" sz="3200" b="0" cap="none" spc="0" dirty="0">
              <a:ln w="0"/>
              <a:solidFill>
                <a:schemeClr val="tx1"/>
              </a:solidFill>
              <a:effectLst>
                <a:outerShdw blurRad="38100" dist="19050" dir="2700000" algn="tl" rotWithShape="0">
                  <a:schemeClr val="dk1">
                    <a:alpha val="40000"/>
                  </a:schemeClr>
                </a:outerShdw>
              </a:effectLst>
            </a:endParaRPr>
          </a:p>
        </p:txBody>
      </p:sp>
      <p:sp>
        <p:nvSpPr>
          <p:cNvPr id="6" name="文本框 5">
            <a:extLst>
              <a:ext uri="{FF2B5EF4-FFF2-40B4-BE49-F238E27FC236}">
                <a16:creationId xmlns:a16="http://schemas.microsoft.com/office/drawing/2014/main" id="{D75649CB-B5DB-41B4-AA6E-2EECC477D452}"/>
              </a:ext>
            </a:extLst>
          </p:cNvPr>
          <p:cNvSpPr txBox="1"/>
          <p:nvPr/>
        </p:nvSpPr>
        <p:spPr>
          <a:xfrm>
            <a:off x="446809" y="955964"/>
            <a:ext cx="11222182" cy="646331"/>
          </a:xfrm>
          <a:prstGeom prst="rect">
            <a:avLst/>
          </a:prstGeom>
          <a:noFill/>
        </p:spPr>
        <p:txBody>
          <a:bodyPr wrap="square" rtlCol="0">
            <a:spAutoFit/>
          </a:bodyPr>
          <a:lstStyle/>
          <a:p>
            <a:r>
              <a:rPr lang="en-US" altLang="zh-CN" dirty="0"/>
              <a:t>        </a:t>
            </a:r>
            <a:r>
              <a:rPr lang="zh-CN" altLang="en-US" dirty="0"/>
              <a:t>在讨论</a:t>
            </a:r>
            <a:r>
              <a:rPr lang="en-US" altLang="zh-CN" dirty="0" err="1"/>
              <a:t>pn</a:t>
            </a:r>
            <a:r>
              <a:rPr lang="zh-CN" altLang="en-US" dirty="0"/>
              <a:t>结理想</a:t>
            </a:r>
            <a:r>
              <a:rPr lang="en-US" altLang="zh-CN" dirty="0"/>
              <a:t>I-V</a:t>
            </a:r>
            <a:r>
              <a:rPr lang="zh-CN" altLang="en-US" dirty="0"/>
              <a:t>电流表达式之前，我们先对</a:t>
            </a:r>
            <a:r>
              <a:rPr lang="en-US" altLang="zh-CN" dirty="0" err="1"/>
              <a:t>pn</a:t>
            </a:r>
            <a:r>
              <a:rPr lang="zh-CN" altLang="en-US" dirty="0"/>
              <a:t>结电流的形成做一个定性分析。</a:t>
            </a:r>
            <a:endParaRPr lang="en-US" altLang="zh-CN" dirty="0"/>
          </a:p>
          <a:p>
            <a:r>
              <a:rPr lang="en-US" altLang="zh-CN" dirty="0"/>
              <a:t>        </a:t>
            </a:r>
            <a:r>
              <a:rPr lang="zh-CN" altLang="en-US" dirty="0"/>
              <a:t>通过</a:t>
            </a:r>
            <a:r>
              <a:rPr lang="en-US" altLang="zh-CN" dirty="0" err="1"/>
              <a:t>pn</a:t>
            </a:r>
            <a:r>
              <a:rPr lang="zh-CN" altLang="en-US" dirty="0"/>
              <a:t>结的能带图，我们可以定性地了解</a:t>
            </a:r>
            <a:r>
              <a:rPr lang="en-US" altLang="zh-CN" dirty="0" err="1"/>
              <a:t>pn</a:t>
            </a:r>
            <a:r>
              <a:rPr lang="zh-CN" altLang="en-US" dirty="0"/>
              <a:t>结电流的形成机制。如图</a:t>
            </a:r>
            <a:r>
              <a:rPr lang="en-US" altLang="zh-CN" dirty="0"/>
              <a:t>1</a:t>
            </a:r>
            <a:r>
              <a:rPr lang="zh-CN" altLang="en-US" dirty="0"/>
              <a:t>所示</a:t>
            </a:r>
          </a:p>
        </p:txBody>
      </p:sp>
      <p:pic>
        <p:nvPicPr>
          <p:cNvPr id="7" name="图片 6">
            <a:extLst>
              <a:ext uri="{FF2B5EF4-FFF2-40B4-BE49-F238E27FC236}">
                <a16:creationId xmlns:a16="http://schemas.microsoft.com/office/drawing/2014/main" id="{2AFFC6B1-3AB0-446E-A627-557F5B9FD291}"/>
              </a:ext>
            </a:extLst>
          </p:cNvPr>
          <p:cNvPicPr>
            <a:picLocks noChangeAspect="1"/>
          </p:cNvPicPr>
          <p:nvPr/>
        </p:nvPicPr>
        <p:blipFill>
          <a:blip r:embed="rId2"/>
          <a:stretch>
            <a:fillRect/>
          </a:stretch>
        </p:blipFill>
        <p:spPr>
          <a:xfrm>
            <a:off x="2295575" y="1602295"/>
            <a:ext cx="7600849" cy="4045614"/>
          </a:xfrm>
          <a:prstGeom prst="rect">
            <a:avLst/>
          </a:prstGeom>
        </p:spPr>
      </p:pic>
      <p:sp>
        <p:nvSpPr>
          <p:cNvPr id="8" name="矩形 7">
            <a:extLst>
              <a:ext uri="{FF2B5EF4-FFF2-40B4-BE49-F238E27FC236}">
                <a16:creationId xmlns:a16="http://schemas.microsoft.com/office/drawing/2014/main" id="{3AD824B8-63DE-4D09-97A8-197F30DFA0EB}"/>
              </a:ext>
            </a:extLst>
          </p:cNvPr>
          <p:cNvSpPr/>
          <p:nvPr/>
        </p:nvSpPr>
        <p:spPr>
          <a:xfrm>
            <a:off x="3628817" y="5748147"/>
            <a:ext cx="4934364" cy="307777"/>
          </a:xfrm>
          <a:prstGeom prst="rect">
            <a:avLst/>
          </a:prstGeom>
          <a:noFill/>
        </p:spPr>
        <p:txBody>
          <a:bodyPr wrap="none" lIns="91440" tIns="45720" rIns="91440" bIns="45720">
            <a:spAutoFit/>
          </a:bodyPr>
          <a:lstStyle/>
          <a:p>
            <a:pPr algn="ctr"/>
            <a:r>
              <a:rPr lang="zh-CN" altLang="en-US" sz="1400" b="0" cap="none" spc="0" dirty="0">
                <a:ln w="0"/>
                <a:solidFill>
                  <a:schemeClr val="tx1"/>
                </a:solidFill>
                <a:effectLst>
                  <a:outerShdw blurRad="38100" dist="19050" dir="2700000" algn="tl" rotWithShape="0">
                    <a:schemeClr val="dk1">
                      <a:alpha val="40000"/>
                    </a:schemeClr>
                  </a:outerShdw>
                </a:effectLst>
              </a:rPr>
              <a:t>图</a:t>
            </a:r>
            <a:r>
              <a:rPr lang="en-US" altLang="zh-CN" sz="1400" b="0" cap="none" spc="0" dirty="0">
                <a:ln w="0"/>
                <a:solidFill>
                  <a:schemeClr val="tx1"/>
                </a:solidFill>
                <a:effectLst>
                  <a:outerShdw blurRad="38100" dist="19050" dir="2700000" algn="tl" rotWithShape="0">
                    <a:schemeClr val="dk1">
                      <a:alpha val="40000"/>
                    </a:schemeClr>
                  </a:outerShdw>
                </a:effectLst>
              </a:rPr>
              <a:t>1</a:t>
            </a:r>
            <a:r>
              <a:rPr lang="en-US" altLang="zh-CN" sz="1400" b="0" cap="none" spc="0" dirty="0">
                <a:ln w="0"/>
                <a:solidFill>
                  <a:schemeClr val="tx1"/>
                </a:solidFill>
                <a:effectLst>
                  <a:outerShdw blurRad="38100" dist="19050" dir="2700000" algn="tl" rotWithShape="0">
                    <a:schemeClr val="dk1">
                      <a:alpha val="40000"/>
                    </a:schemeClr>
                  </a:outerShdw>
                </a:effectLst>
                <a:sym typeface="Wingdings" panose="05000000000000000000" pitchFamily="2" charset="2"/>
              </a:rPr>
              <a:t>: (</a:t>
            </a:r>
            <a:r>
              <a:rPr lang="en-US" altLang="zh-CN" sz="1400" dirty="0">
                <a:ln w="0"/>
                <a:effectLst>
                  <a:outerShdw blurRad="38100" dist="19050" dir="2700000" algn="tl" rotWithShape="0">
                    <a:schemeClr val="dk1">
                      <a:alpha val="40000"/>
                    </a:schemeClr>
                  </a:outerShdw>
                </a:effectLst>
              </a:rPr>
              <a:t>a)</a:t>
            </a:r>
            <a:r>
              <a:rPr lang="zh-CN" altLang="en-US" sz="1400" dirty="0">
                <a:ln w="0"/>
                <a:effectLst>
                  <a:outerShdw blurRad="38100" dist="19050" dir="2700000" algn="tl" rotWithShape="0">
                    <a:schemeClr val="dk1">
                      <a:alpha val="40000"/>
                    </a:schemeClr>
                  </a:outerShdw>
                </a:effectLst>
              </a:rPr>
              <a:t>零偏</a:t>
            </a:r>
            <a:r>
              <a:rPr lang="en-US" altLang="zh-CN" sz="1400" dirty="0">
                <a:ln w="0"/>
                <a:effectLst>
                  <a:outerShdw blurRad="38100" dist="19050" dir="2700000" algn="tl" rotWithShape="0">
                    <a:schemeClr val="dk1">
                      <a:alpha val="40000"/>
                    </a:schemeClr>
                  </a:outerShdw>
                </a:effectLst>
              </a:rPr>
              <a:t>; (b)</a:t>
            </a:r>
            <a:r>
              <a:rPr lang="zh-CN" altLang="en-US" sz="1400" dirty="0">
                <a:ln w="0"/>
                <a:effectLst>
                  <a:outerShdw blurRad="38100" dist="19050" dir="2700000" algn="tl" rotWithShape="0">
                    <a:schemeClr val="dk1">
                      <a:alpha val="40000"/>
                    </a:schemeClr>
                  </a:outerShdw>
                </a:effectLst>
              </a:rPr>
              <a:t>反偏</a:t>
            </a:r>
            <a:r>
              <a:rPr lang="en-US" altLang="zh-CN" sz="1400" dirty="0">
                <a:ln w="0"/>
                <a:effectLst>
                  <a:outerShdw blurRad="38100" dist="19050" dir="2700000" algn="tl" rotWithShape="0">
                    <a:schemeClr val="dk1">
                      <a:alpha val="40000"/>
                    </a:schemeClr>
                  </a:outerShdw>
                </a:effectLst>
              </a:rPr>
              <a:t>; (c)</a:t>
            </a:r>
            <a:r>
              <a:rPr lang="zh-CN" altLang="en-US" sz="1400" dirty="0">
                <a:ln w="0"/>
                <a:effectLst>
                  <a:outerShdw blurRad="38100" dist="19050" dir="2700000" algn="tl" rotWithShape="0">
                    <a:schemeClr val="dk1">
                      <a:alpha val="40000"/>
                    </a:schemeClr>
                  </a:outerShdw>
                </a:effectLst>
              </a:rPr>
              <a:t>正偏条件下的</a:t>
            </a:r>
            <a:r>
              <a:rPr lang="en-US" altLang="zh-CN" sz="1400" dirty="0" err="1">
                <a:ln w="0"/>
                <a:effectLst>
                  <a:outerShdw blurRad="38100" dist="19050" dir="2700000" algn="tl" rotWithShape="0">
                    <a:schemeClr val="dk1">
                      <a:alpha val="40000"/>
                    </a:schemeClr>
                  </a:outerShdw>
                </a:effectLst>
              </a:rPr>
              <a:t>pn</a:t>
            </a:r>
            <a:r>
              <a:rPr lang="en-US" altLang="zh-CN" sz="1400" dirty="0">
                <a:ln w="0"/>
                <a:effectLst>
                  <a:outerShdw blurRad="38100" dist="19050" dir="2700000" algn="tl" rotWithShape="0">
                    <a:schemeClr val="dk1">
                      <a:alpha val="40000"/>
                    </a:schemeClr>
                  </a:outerShdw>
                </a:effectLst>
              </a:rPr>
              <a:t> </a:t>
            </a:r>
            <a:r>
              <a:rPr lang="zh-CN" altLang="en-US" sz="1400" dirty="0">
                <a:ln w="0"/>
                <a:effectLst>
                  <a:outerShdw blurRad="38100" dist="19050" dir="2700000" algn="tl" rotWithShape="0">
                    <a:schemeClr val="dk1">
                      <a:alpha val="40000"/>
                    </a:schemeClr>
                  </a:outerShdw>
                </a:effectLst>
              </a:rPr>
              <a:t>结及其对应的能带图</a:t>
            </a:r>
            <a:endParaRPr lang="zh-CN" altLang="en-US" sz="1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52930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8B59205-9FAD-4623-8B86-3785969BB51F}"/>
              </a:ext>
            </a:extLst>
          </p:cNvPr>
          <p:cNvSpPr>
            <a:spLocks noGrp="1"/>
          </p:cNvSpPr>
          <p:nvPr>
            <p:ph type="sldNum" sz="quarter" idx="12"/>
          </p:nvPr>
        </p:nvSpPr>
        <p:spPr/>
        <p:txBody>
          <a:bodyPr/>
          <a:lstStyle/>
          <a:p>
            <a:pPr>
              <a:defRPr/>
            </a:pPr>
            <a:fld id="{DB5F2CA6-A39B-48F7-84D1-AF91BD07D67D}" type="slidenum">
              <a:rPr lang="en-US" altLang="zh-CN" smtClean="0"/>
              <a:pPr>
                <a:defRPr/>
              </a:pPr>
              <a:t>3</a:t>
            </a:fld>
            <a:endParaRPr lang="en-US" altLang="zh-CN"/>
          </a:p>
        </p:txBody>
      </p:sp>
      <p:sp>
        <p:nvSpPr>
          <p:cNvPr id="3" name="矩形 2">
            <a:extLst>
              <a:ext uri="{FF2B5EF4-FFF2-40B4-BE49-F238E27FC236}">
                <a16:creationId xmlns:a16="http://schemas.microsoft.com/office/drawing/2014/main" id="{A5E086D0-FD1D-4296-8554-6415C80070B0}"/>
              </a:ext>
            </a:extLst>
          </p:cNvPr>
          <p:cNvSpPr/>
          <p:nvPr/>
        </p:nvSpPr>
        <p:spPr>
          <a:xfrm>
            <a:off x="312375" y="286480"/>
            <a:ext cx="3877985" cy="584775"/>
          </a:xfrm>
          <a:prstGeom prst="rect">
            <a:avLst/>
          </a:prstGeom>
          <a:noFill/>
        </p:spPr>
        <p:txBody>
          <a:bodyPr wrap="none" lIns="91440" tIns="45720" rIns="91440" bIns="45720">
            <a:spAutoFit/>
          </a:bodyPr>
          <a:lstStyle/>
          <a:p>
            <a:pPr algn="ctr"/>
            <a:r>
              <a:rPr lang="en-US" altLang="zh-CN" sz="3200" dirty="0" err="1">
                <a:ln w="0"/>
                <a:effectLst>
                  <a:outerShdw blurRad="38100" dist="19050" dir="2700000" algn="tl" rotWithShape="0">
                    <a:schemeClr val="dk1">
                      <a:alpha val="40000"/>
                    </a:schemeClr>
                  </a:outerShdw>
                </a:effectLst>
              </a:rPr>
              <a:t>pn</a:t>
            </a:r>
            <a:r>
              <a:rPr lang="zh-CN" altLang="en-US" sz="3200" dirty="0">
                <a:ln w="0"/>
                <a:effectLst>
                  <a:outerShdw blurRad="38100" dist="19050" dir="2700000" algn="tl" rotWithShape="0">
                    <a:schemeClr val="dk1">
                      <a:alpha val="40000"/>
                    </a:schemeClr>
                  </a:outerShdw>
                </a:effectLst>
              </a:rPr>
              <a:t>结电流的形成机制</a:t>
            </a:r>
            <a:endParaRPr lang="zh-CN" altLang="en-US" sz="3200" b="0" cap="none" spc="0" dirty="0">
              <a:ln w="0"/>
              <a:solidFill>
                <a:schemeClr val="tx1"/>
              </a:solidFill>
              <a:effectLst>
                <a:outerShdw blurRad="38100" dist="19050" dir="2700000" algn="tl" rotWithShape="0">
                  <a:schemeClr val="dk1">
                    <a:alpha val="40000"/>
                  </a:schemeClr>
                </a:outerShdw>
              </a:effectLst>
            </a:endParaRPr>
          </a:p>
        </p:txBody>
      </p:sp>
      <p:sp>
        <p:nvSpPr>
          <p:cNvPr id="2" name="文本框 1">
            <a:extLst>
              <a:ext uri="{FF2B5EF4-FFF2-40B4-BE49-F238E27FC236}">
                <a16:creationId xmlns:a16="http://schemas.microsoft.com/office/drawing/2014/main" id="{AF4B2983-24B5-4B1D-A34D-059D49FE85D3}"/>
              </a:ext>
            </a:extLst>
          </p:cNvPr>
          <p:cNvSpPr txBox="1"/>
          <p:nvPr/>
        </p:nvSpPr>
        <p:spPr>
          <a:xfrm>
            <a:off x="453736" y="1402370"/>
            <a:ext cx="11284527" cy="4524315"/>
          </a:xfrm>
          <a:prstGeom prst="rect">
            <a:avLst/>
          </a:prstGeom>
          <a:noFill/>
        </p:spPr>
        <p:txBody>
          <a:bodyPr wrap="square" rtlCol="0">
            <a:spAutoFit/>
          </a:bodyPr>
          <a:lstStyle/>
          <a:p>
            <a:pPr algn="just"/>
            <a:r>
              <a:rPr lang="zh-CN" altLang="en-US" dirty="0"/>
              <a:t>        图</a:t>
            </a:r>
            <a:r>
              <a:rPr lang="en-US" altLang="zh-CN" dirty="0"/>
              <a:t>1(a)</a:t>
            </a:r>
            <a:r>
              <a:rPr lang="zh-CN" altLang="en-US" dirty="0"/>
              <a:t>所示为</a:t>
            </a:r>
            <a:r>
              <a:rPr lang="zh-CN" altLang="en-US" dirty="0">
                <a:solidFill>
                  <a:srgbClr val="FF0000"/>
                </a:solidFill>
              </a:rPr>
              <a:t>平衡状态</a:t>
            </a:r>
            <a:r>
              <a:rPr lang="zh-CN" altLang="en-US" dirty="0"/>
              <a:t>下</a:t>
            </a:r>
            <a:r>
              <a:rPr lang="en-US" altLang="zh-CN" dirty="0" err="1"/>
              <a:t>pn</a:t>
            </a:r>
            <a:r>
              <a:rPr lang="zh-CN" altLang="en-US" dirty="0"/>
              <a:t>结的能带图。前一章我们已经说过</a:t>
            </a:r>
            <a:r>
              <a:rPr lang="en-US" altLang="zh-CN" dirty="0"/>
              <a:t>,</a:t>
            </a:r>
            <a:r>
              <a:rPr lang="zh-CN" altLang="en-US" dirty="0"/>
              <a:t>电子在扩散过程中“遇到”的势垒阻止了高浓度电子流流向</a:t>
            </a:r>
            <a:r>
              <a:rPr lang="en-US" altLang="zh-CN" dirty="0"/>
              <a:t>p</a:t>
            </a:r>
            <a:r>
              <a:rPr lang="zh-CN" altLang="en-US" dirty="0"/>
              <a:t>区并使其滞留在</a:t>
            </a:r>
            <a:r>
              <a:rPr lang="en-US" altLang="zh-CN" dirty="0"/>
              <a:t>n</a:t>
            </a:r>
            <a:r>
              <a:rPr lang="zh-CN" altLang="en-US" dirty="0"/>
              <a:t>区内。同样</a:t>
            </a:r>
            <a:r>
              <a:rPr lang="en-US" altLang="zh-CN" dirty="0"/>
              <a:t>,</a:t>
            </a:r>
            <a:r>
              <a:rPr lang="zh-CN" altLang="en-US" dirty="0"/>
              <a:t>空穴在扩散过程中“遇到”的势垒阻止了高浓度的空穴流流向</a:t>
            </a:r>
            <a:r>
              <a:rPr lang="en-US" altLang="zh-CN" dirty="0"/>
              <a:t>n</a:t>
            </a:r>
            <a:r>
              <a:rPr lang="zh-CN" altLang="en-US" dirty="0"/>
              <a:t>区并使其滞留在</a:t>
            </a:r>
            <a:r>
              <a:rPr lang="en-US" altLang="zh-CN" dirty="0"/>
              <a:t>p</a:t>
            </a:r>
            <a:r>
              <a:rPr lang="zh-CN" altLang="en-US" dirty="0"/>
              <a:t>区内。换言之，势垒维持了热平衡。</a:t>
            </a:r>
            <a:endParaRPr lang="en-US" altLang="zh-CN" dirty="0"/>
          </a:p>
          <a:p>
            <a:pPr algn="just"/>
            <a:endParaRPr lang="en-US" altLang="zh-CN" dirty="0"/>
          </a:p>
          <a:p>
            <a:pPr algn="just"/>
            <a:r>
              <a:rPr lang="en-US" altLang="zh-CN" dirty="0"/>
              <a:t>        </a:t>
            </a:r>
            <a:r>
              <a:rPr lang="zh-CN" altLang="en-US" dirty="0"/>
              <a:t>图</a:t>
            </a:r>
            <a:r>
              <a:rPr lang="en-US" altLang="zh-CN" dirty="0"/>
              <a:t>1(b)</a:t>
            </a:r>
            <a:r>
              <a:rPr lang="zh-CN" altLang="en-US" dirty="0"/>
              <a:t>所示为</a:t>
            </a:r>
            <a:r>
              <a:rPr lang="zh-CN" altLang="en-US" dirty="0">
                <a:solidFill>
                  <a:srgbClr val="FF0000"/>
                </a:solidFill>
              </a:rPr>
              <a:t>反偏状态</a:t>
            </a:r>
            <a:r>
              <a:rPr lang="zh-CN" altLang="en-US" dirty="0"/>
              <a:t>下</a:t>
            </a:r>
            <a:r>
              <a:rPr lang="en-US" altLang="zh-CN" dirty="0" err="1"/>
              <a:t>pn</a:t>
            </a:r>
            <a:r>
              <a:rPr lang="zh-CN" altLang="en-US" dirty="0"/>
              <a:t>结的能带图。此时</a:t>
            </a:r>
            <a:r>
              <a:rPr lang="en-US" altLang="zh-CN" dirty="0"/>
              <a:t>,n</a:t>
            </a:r>
            <a:r>
              <a:rPr lang="zh-CN" altLang="en-US" dirty="0"/>
              <a:t>区相对于</a:t>
            </a:r>
            <a:r>
              <a:rPr lang="en-US" altLang="zh-CN" dirty="0"/>
              <a:t>p</a:t>
            </a:r>
            <a:r>
              <a:rPr lang="zh-CN" altLang="en-US" dirty="0"/>
              <a:t>区的电势为正，所以</a:t>
            </a:r>
            <a:r>
              <a:rPr lang="en-US" altLang="zh-CN" dirty="0"/>
              <a:t>n</a:t>
            </a:r>
            <a:r>
              <a:rPr lang="zh-CN" altLang="en-US" dirty="0"/>
              <a:t>区内的费米能级要低于</a:t>
            </a:r>
            <a:r>
              <a:rPr lang="en-US" altLang="zh-CN" dirty="0"/>
              <a:t>p</a:t>
            </a:r>
            <a:r>
              <a:rPr lang="zh-CN" altLang="en-US" dirty="0"/>
              <a:t>区内的费米能级。总势垒要高于零偏置下的势垒。上一章中我们曾提出</a:t>
            </a:r>
            <a:r>
              <a:rPr lang="en-US" altLang="zh-CN" dirty="0"/>
              <a:t>:</a:t>
            </a:r>
            <a:r>
              <a:rPr lang="zh-CN" altLang="en-US" dirty="0"/>
              <a:t>增加了的势垒高度继续阻止电子与空穴的流动</a:t>
            </a:r>
            <a:r>
              <a:rPr lang="en-US" altLang="zh-CN" dirty="0"/>
              <a:t>,</a:t>
            </a:r>
            <a:r>
              <a:rPr lang="zh-CN" altLang="en-US" dirty="0"/>
              <a:t>因此</a:t>
            </a:r>
            <a:r>
              <a:rPr lang="en-US" altLang="zh-CN" dirty="0" err="1"/>
              <a:t>pn</a:t>
            </a:r>
            <a:r>
              <a:rPr lang="zh-CN" altLang="en-US" dirty="0"/>
              <a:t>结内基本上没有电荷的流动</a:t>
            </a:r>
            <a:r>
              <a:rPr lang="en-US" altLang="zh-CN" dirty="0"/>
              <a:t>,</a:t>
            </a:r>
            <a:r>
              <a:rPr lang="zh-CN" altLang="en-US" dirty="0"/>
              <a:t>也就基本上没有电流。</a:t>
            </a:r>
            <a:endParaRPr lang="en-US" altLang="zh-CN" dirty="0"/>
          </a:p>
          <a:p>
            <a:pPr algn="just"/>
            <a:endParaRPr lang="en-US" altLang="zh-CN" dirty="0"/>
          </a:p>
          <a:p>
            <a:pPr algn="just"/>
            <a:r>
              <a:rPr lang="zh-CN" altLang="en-US" dirty="0"/>
              <a:t>         图</a:t>
            </a:r>
            <a:r>
              <a:rPr lang="en-US" altLang="zh-CN" dirty="0"/>
              <a:t>1(c)</a:t>
            </a:r>
            <a:r>
              <a:rPr lang="zh-CN" altLang="en-US" dirty="0"/>
              <a:t>所示为</a:t>
            </a:r>
            <a:r>
              <a:rPr lang="en-US" altLang="zh-CN" dirty="0">
                <a:solidFill>
                  <a:srgbClr val="FF0000"/>
                </a:solidFill>
              </a:rPr>
              <a:t>p</a:t>
            </a:r>
            <a:r>
              <a:rPr lang="zh-CN" altLang="en-US" dirty="0">
                <a:solidFill>
                  <a:srgbClr val="FF0000"/>
                </a:solidFill>
              </a:rPr>
              <a:t>区相对于</a:t>
            </a:r>
            <a:r>
              <a:rPr lang="en-US" altLang="zh-CN" dirty="0">
                <a:solidFill>
                  <a:srgbClr val="FF0000"/>
                </a:solidFill>
              </a:rPr>
              <a:t>n</a:t>
            </a:r>
            <a:r>
              <a:rPr lang="zh-CN" altLang="en-US" dirty="0">
                <a:solidFill>
                  <a:srgbClr val="FF0000"/>
                </a:solidFill>
              </a:rPr>
              <a:t>区加正电压</a:t>
            </a:r>
            <a:r>
              <a:rPr lang="zh-CN" altLang="en-US" dirty="0"/>
              <a:t>时的</a:t>
            </a:r>
            <a:r>
              <a:rPr lang="en-US" altLang="zh-CN" dirty="0" err="1"/>
              <a:t>pn</a:t>
            </a:r>
            <a:r>
              <a:rPr lang="zh-CN" altLang="en-US" dirty="0"/>
              <a:t>结能带图。此时，</a:t>
            </a:r>
            <a:r>
              <a:rPr lang="en-US" altLang="zh-CN" dirty="0"/>
              <a:t>p</a:t>
            </a:r>
            <a:r>
              <a:rPr lang="zh-CN" altLang="en-US" dirty="0"/>
              <a:t>区的费米能级要低于</a:t>
            </a:r>
            <a:r>
              <a:rPr lang="en-US" altLang="zh-CN" dirty="0"/>
              <a:t>n</a:t>
            </a:r>
            <a:r>
              <a:rPr lang="zh-CN" altLang="en-US" dirty="0"/>
              <a:t>区的费米能级</a:t>
            </a:r>
            <a:r>
              <a:rPr lang="en-US" altLang="zh-CN" dirty="0"/>
              <a:t>,</a:t>
            </a:r>
            <a:r>
              <a:rPr lang="zh-CN" altLang="en-US" dirty="0"/>
              <a:t>总势垒高度现在降低了。降低了的势垒高度意味着耗尽区内的电场也随之减弱。减弱了的电场意味着电子与空穴不能分别滞留在</a:t>
            </a:r>
            <a:r>
              <a:rPr lang="en-US" altLang="zh-CN" dirty="0"/>
              <a:t>n</a:t>
            </a:r>
            <a:r>
              <a:rPr lang="zh-CN" altLang="en-US" dirty="0"/>
              <a:t>区与</a:t>
            </a:r>
            <a:r>
              <a:rPr lang="en-US" altLang="zh-CN" dirty="0"/>
              <a:t>p</a:t>
            </a:r>
            <a:r>
              <a:rPr lang="zh-CN" altLang="en-US" dirty="0"/>
              <a:t>区。于是</a:t>
            </a:r>
            <a:r>
              <a:rPr lang="en-US" altLang="zh-CN" dirty="0" err="1"/>
              <a:t>pn</a:t>
            </a:r>
            <a:r>
              <a:rPr lang="zh-CN" altLang="en-US" dirty="0"/>
              <a:t>结内就有了一股由</a:t>
            </a:r>
            <a:r>
              <a:rPr lang="en-US" altLang="zh-CN" dirty="0"/>
              <a:t>n</a:t>
            </a:r>
            <a:r>
              <a:rPr lang="zh-CN" altLang="en-US" dirty="0"/>
              <a:t>区经空间电荷区向</a:t>
            </a:r>
            <a:r>
              <a:rPr lang="en-US" altLang="zh-CN" dirty="0"/>
              <a:t>p</a:t>
            </a:r>
            <a:r>
              <a:rPr lang="zh-CN" altLang="en-US" dirty="0"/>
              <a:t>区扩散的电子流。同样，</a:t>
            </a:r>
            <a:r>
              <a:rPr lang="en-US" altLang="zh-CN" dirty="0" err="1"/>
              <a:t>pn</a:t>
            </a:r>
            <a:r>
              <a:rPr lang="zh-CN" altLang="en-US" dirty="0"/>
              <a:t>结内就有了一股由</a:t>
            </a:r>
            <a:r>
              <a:rPr lang="en-US" altLang="zh-CN" dirty="0"/>
              <a:t>p</a:t>
            </a:r>
            <a:r>
              <a:rPr lang="zh-CN" altLang="en-US" dirty="0"/>
              <a:t>区经空间电荷区向区扩散的空穴流。电荷的流动在</a:t>
            </a:r>
            <a:r>
              <a:rPr lang="en-US" altLang="zh-CN" dirty="0" err="1"/>
              <a:t>pn</a:t>
            </a:r>
            <a:r>
              <a:rPr lang="en-US" altLang="zh-CN" dirty="0"/>
              <a:t> </a:t>
            </a:r>
            <a:r>
              <a:rPr lang="zh-CN" altLang="en-US" dirty="0"/>
              <a:t>结内形成了电流。</a:t>
            </a:r>
            <a:endParaRPr lang="en-US" altLang="zh-CN" dirty="0"/>
          </a:p>
          <a:p>
            <a:pPr algn="just"/>
            <a:r>
              <a:rPr lang="en-US" altLang="zh-CN" dirty="0"/>
              <a:t>        </a:t>
            </a:r>
          </a:p>
          <a:p>
            <a:pPr algn="just"/>
            <a:r>
              <a:rPr lang="en-US" altLang="zh-CN" dirty="0"/>
              <a:t>        </a:t>
            </a:r>
            <a:r>
              <a:rPr lang="zh-CN" altLang="en-US" dirty="0"/>
              <a:t>注入</a:t>
            </a:r>
            <a:r>
              <a:rPr lang="en-US" altLang="zh-CN" dirty="0"/>
              <a:t>n</a:t>
            </a:r>
            <a:r>
              <a:rPr lang="zh-CN" altLang="en-US" dirty="0"/>
              <a:t>区内的空穴是</a:t>
            </a:r>
            <a:r>
              <a:rPr lang="en-US" altLang="zh-CN" dirty="0"/>
              <a:t>n</a:t>
            </a:r>
            <a:r>
              <a:rPr lang="zh-CN" altLang="en-US" dirty="0"/>
              <a:t>区的少数载流子；同样</a:t>
            </a:r>
            <a:r>
              <a:rPr lang="en-US" altLang="zh-CN" dirty="0"/>
              <a:t>,</a:t>
            </a:r>
            <a:r>
              <a:rPr lang="zh-CN" altLang="en-US" dirty="0"/>
              <a:t>注入</a:t>
            </a:r>
            <a:r>
              <a:rPr lang="en-US" altLang="zh-CN" dirty="0"/>
              <a:t>p</a:t>
            </a:r>
            <a:r>
              <a:rPr lang="zh-CN" altLang="en-US" dirty="0"/>
              <a:t>区内的电子是</a:t>
            </a:r>
            <a:r>
              <a:rPr lang="en-US" altLang="zh-CN" dirty="0"/>
              <a:t>p</a:t>
            </a:r>
            <a:r>
              <a:rPr lang="zh-CN" altLang="en-US" dirty="0"/>
              <a:t>区内的少数载流子。这些少数载流子的行为可以用双极输运方程来描述。在这些区域内存在过剩载流子的扩散与复合。载流子的扩散意味着扩散电流的存在。</a:t>
            </a:r>
          </a:p>
        </p:txBody>
      </p:sp>
    </p:spTree>
    <p:extLst>
      <p:ext uri="{BB962C8B-B14F-4D97-AF65-F5344CB8AC3E}">
        <p14:creationId xmlns:p14="http://schemas.microsoft.com/office/powerpoint/2010/main" val="3076728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8B59205-9FAD-4623-8B86-3785969BB51F}"/>
              </a:ext>
            </a:extLst>
          </p:cNvPr>
          <p:cNvSpPr>
            <a:spLocks noGrp="1"/>
          </p:cNvSpPr>
          <p:nvPr>
            <p:ph type="sldNum" sz="quarter" idx="12"/>
          </p:nvPr>
        </p:nvSpPr>
        <p:spPr/>
        <p:txBody>
          <a:bodyPr/>
          <a:lstStyle/>
          <a:p>
            <a:pPr>
              <a:defRPr/>
            </a:pPr>
            <a:fld id="{DB5F2CA6-A39B-48F7-84D1-AF91BD07D67D}" type="slidenum">
              <a:rPr lang="en-US" altLang="zh-CN" smtClean="0"/>
              <a:pPr>
                <a:defRPr/>
              </a:pPr>
              <a:t>4</a:t>
            </a:fld>
            <a:endParaRPr lang="en-US" altLang="zh-CN"/>
          </a:p>
        </p:txBody>
      </p:sp>
      <p:sp>
        <p:nvSpPr>
          <p:cNvPr id="3" name="矩形 2">
            <a:extLst>
              <a:ext uri="{FF2B5EF4-FFF2-40B4-BE49-F238E27FC236}">
                <a16:creationId xmlns:a16="http://schemas.microsoft.com/office/drawing/2014/main" id="{ED11141A-B746-4ED3-88AE-5EB50CC8C6DE}"/>
              </a:ext>
            </a:extLst>
          </p:cNvPr>
          <p:cNvSpPr/>
          <p:nvPr/>
        </p:nvSpPr>
        <p:spPr>
          <a:xfrm>
            <a:off x="312375" y="515080"/>
            <a:ext cx="3877985" cy="584775"/>
          </a:xfrm>
          <a:prstGeom prst="rect">
            <a:avLst/>
          </a:prstGeom>
          <a:noFill/>
        </p:spPr>
        <p:txBody>
          <a:bodyPr wrap="none" lIns="91440" tIns="45720" rIns="91440" bIns="45720">
            <a:spAutoFit/>
          </a:bodyPr>
          <a:lstStyle/>
          <a:p>
            <a:pPr algn="ctr"/>
            <a:r>
              <a:rPr lang="en-US" altLang="zh-CN" sz="3200" dirty="0" err="1">
                <a:ln w="0"/>
                <a:effectLst>
                  <a:outerShdw blurRad="38100" dist="19050" dir="2700000" algn="tl" rotWithShape="0">
                    <a:schemeClr val="dk1">
                      <a:alpha val="40000"/>
                    </a:schemeClr>
                  </a:outerShdw>
                </a:effectLst>
              </a:rPr>
              <a:t>pn</a:t>
            </a:r>
            <a:r>
              <a:rPr lang="zh-CN" altLang="en-US" sz="3200" dirty="0">
                <a:ln w="0"/>
                <a:effectLst>
                  <a:outerShdw blurRad="38100" dist="19050" dir="2700000" algn="tl" rotWithShape="0">
                    <a:schemeClr val="dk1">
                      <a:alpha val="40000"/>
                    </a:schemeClr>
                  </a:outerShdw>
                </a:effectLst>
              </a:rPr>
              <a:t>结电流的形成机制</a:t>
            </a:r>
            <a:endParaRPr lang="zh-CN" altLang="en-US" sz="3200" b="0" cap="none" spc="0" dirty="0">
              <a:ln w="0"/>
              <a:solidFill>
                <a:schemeClr val="tx1"/>
              </a:solidFill>
              <a:effectLst>
                <a:outerShdw blurRad="38100" dist="19050" dir="2700000" algn="tl" rotWithShape="0">
                  <a:schemeClr val="dk1">
                    <a:alpha val="40000"/>
                  </a:schemeClr>
                </a:outerShdw>
              </a:effectLst>
            </a:endParaRPr>
          </a:p>
        </p:txBody>
      </p:sp>
      <p:sp>
        <p:nvSpPr>
          <p:cNvPr id="2" name="文本框 1">
            <a:extLst>
              <a:ext uri="{FF2B5EF4-FFF2-40B4-BE49-F238E27FC236}">
                <a16:creationId xmlns:a16="http://schemas.microsoft.com/office/drawing/2014/main" id="{4CDBD72E-18EE-42AD-8030-5E0B70444054}"/>
              </a:ext>
            </a:extLst>
          </p:cNvPr>
          <p:cNvSpPr txBox="1"/>
          <p:nvPr/>
        </p:nvSpPr>
        <p:spPr>
          <a:xfrm>
            <a:off x="426027" y="1099855"/>
            <a:ext cx="11294918" cy="2031325"/>
          </a:xfrm>
          <a:prstGeom prst="rect">
            <a:avLst/>
          </a:prstGeom>
          <a:noFill/>
        </p:spPr>
        <p:txBody>
          <a:bodyPr wrap="square" rtlCol="0">
            <a:spAutoFit/>
          </a:bodyPr>
          <a:lstStyle/>
          <a:p>
            <a:r>
              <a:rPr lang="zh-CN" altLang="en-US" dirty="0"/>
              <a:t>        在探讨</a:t>
            </a:r>
            <a:r>
              <a:rPr lang="en-US" altLang="zh-CN" dirty="0" err="1"/>
              <a:t>pn</a:t>
            </a:r>
            <a:r>
              <a:rPr lang="zh-CN" altLang="en-US" dirty="0"/>
              <a:t>结的理想电流</a:t>
            </a:r>
            <a:r>
              <a:rPr lang="en-US" altLang="zh-CN" dirty="0"/>
              <a:t>-</a:t>
            </a:r>
            <a:r>
              <a:rPr lang="zh-CN" altLang="en-US" dirty="0"/>
              <a:t>电压关系时，我们需要引入一些基本的假设和边界条件，以简化问题并建立一个理论模型。这些边界条件虽然是对实际情况的简化，但却为我们提供了一个清晰的理论框架，让我们能够深入理解</a:t>
            </a:r>
            <a:r>
              <a:rPr lang="en-US" altLang="zh-CN" dirty="0" err="1"/>
              <a:t>pn</a:t>
            </a:r>
            <a:r>
              <a:rPr lang="zh-CN" altLang="en-US" dirty="0"/>
              <a:t>结的工作原理，并预测其在电路中的行为。</a:t>
            </a:r>
          </a:p>
          <a:p>
            <a:r>
              <a:rPr lang="zh-CN" altLang="en-US" dirty="0"/>
              <a:t>        这些边界条件包括了对</a:t>
            </a:r>
            <a:r>
              <a:rPr lang="en-US" altLang="zh-CN" dirty="0" err="1"/>
              <a:t>pn</a:t>
            </a:r>
            <a:r>
              <a:rPr lang="zh-CN" altLang="en-US" dirty="0"/>
              <a:t>结内部和外部环境的假设，如载流子浓度、电场分布、电流传输机制等。通过引入这些条件，我们可以建立一个数学模型，描述</a:t>
            </a:r>
            <a:r>
              <a:rPr lang="en-US" altLang="zh-CN" dirty="0" err="1"/>
              <a:t>pn</a:t>
            </a:r>
            <a:r>
              <a:rPr lang="zh-CN" altLang="en-US" dirty="0"/>
              <a:t>结在不同偏置条件下的电流</a:t>
            </a:r>
            <a:r>
              <a:rPr lang="en-US" altLang="zh-CN" dirty="0"/>
              <a:t>-</a:t>
            </a:r>
            <a:r>
              <a:rPr lang="zh-CN" altLang="en-US" dirty="0"/>
              <a:t>电压特性。</a:t>
            </a:r>
          </a:p>
          <a:p>
            <a:r>
              <a:rPr lang="zh-CN" altLang="en-US" dirty="0"/>
              <a:t>        接下来，让我们详细探讨这些条件，看看它们是如何影响</a:t>
            </a:r>
            <a:r>
              <a:rPr lang="en-US" altLang="zh-CN" dirty="0" err="1"/>
              <a:t>pn</a:t>
            </a:r>
            <a:r>
              <a:rPr lang="zh-CN" altLang="en-US" dirty="0"/>
              <a:t>结的理想电流</a:t>
            </a:r>
            <a:r>
              <a:rPr lang="en-US" altLang="zh-CN" dirty="0"/>
              <a:t>-</a:t>
            </a:r>
            <a:r>
              <a:rPr lang="zh-CN" altLang="en-US" dirty="0"/>
              <a:t>电压关系的。通过理解这些条件，我们将能够更好地掌握</a:t>
            </a:r>
            <a:r>
              <a:rPr lang="en-US" altLang="zh-CN" dirty="0" err="1"/>
              <a:t>pn</a:t>
            </a:r>
            <a:r>
              <a:rPr lang="zh-CN" altLang="en-US" dirty="0"/>
              <a:t>结的工作原理，为设计和优化半导体器件奠定基础。</a:t>
            </a:r>
          </a:p>
        </p:txBody>
      </p:sp>
      <p:sp>
        <p:nvSpPr>
          <p:cNvPr id="9" name="矩形 8">
            <a:extLst>
              <a:ext uri="{FF2B5EF4-FFF2-40B4-BE49-F238E27FC236}">
                <a16:creationId xmlns:a16="http://schemas.microsoft.com/office/drawing/2014/main" id="{3491DAFB-70E0-4280-B702-06662620F540}"/>
              </a:ext>
            </a:extLst>
          </p:cNvPr>
          <p:cNvSpPr/>
          <p:nvPr/>
        </p:nvSpPr>
        <p:spPr>
          <a:xfrm>
            <a:off x="312375" y="3447634"/>
            <a:ext cx="2339102" cy="523220"/>
          </a:xfrm>
          <a:prstGeom prst="rect">
            <a:avLst/>
          </a:prstGeom>
          <a:noFill/>
        </p:spPr>
        <p:txBody>
          <a:bodyPr wrap="none" lIns="91440" tIns="45720" rIns="91440" bIns="45720">
            <a:spAutoFit/>
          </a:bodyPr>
          <a:lstStyle/>
          <a:p>
            <a:pPr algn="ctr"/>
            <a:r>
              <a:rPr lang="zh-CN" altLang="en-US" sz="2800" b="0" cap="none" spc="0" dirty="0">
                <a:ln w="0"/>
                <a:solidFill>
                  <a:schemeClr val="accent1"/>
                </a:solidFill>
                <a:effectLst>
                  <a:outerShdw blurRad="38100" dist="25400" dir="5400000" algn="ctr" rotWithShape="0">
                    <a:srgbClr val="6E747A">
                      <a:alpha val="43000"/>
                    </a:srgbClr>
                  </a:outerShdw>
                </a:effectLst>
              </a:rPr>
              <a:t>理想</a:t>
            </a:r>
            <a:r>
              <a:rPr lang="en-US" altLang="zh-CN" sz="2800" b="0" cap="none" spc="0" dirty="0" err="1">
                <a:ln w="0"/>
                <a:solidFill>
                  <a:schemeClr val="accent1"/>
                </a:solidFill>
                <a:effectLst>
                  <a:outerShdw blurRad="38100" dist="25400" dir="5400000" algn="ctr" rotWithShape="0">
                    <a:srgbClr val="6E747A">
                      <a:alpha val="43000"/>
                    </a:srgbClr>
                  </a:outerShdw>
                </a:effectLst>
              </a:rPr>
              <a:t>pn</a:t>
            </a:r>
            <a:r>
              <a:rPr lang="zh-CN" altLang="en-US" sz="2800" b="0" cap="none" spc="0" dirty="0">
                <a:ln w="0"/>
                <a:solidFill>
                  <a:schemeClr val="accent1"/>
                </a:solidFill>
                <a:effectLst>
                  <a:outerShdw blurRad="38100" dist="25400" dir="5400000" algn="ctr" rotWithShape="0">
                    <a:srgbClr val="6E747A">
                      <a:alpha val="43000"/>
                    </a:srgbClr>
                  </a:outerShdw>
                </a:effectLst>
              </a:rPr>
              <a:t>结模型</a:t>
            </a:r>
          </a:p>
        </p:txBody>
      </p:sp>
      <p:sp>
        <p:nvSpPr>
          <p:cNvPr id="10" name="文本框 9">
            <a:extLst>
              <a:ext uri="{FF2B5EF4-FFF2-40B4-BE49-F238E27FC236}">
                <a16:creationId xmlns:a16="http://schemas.microsoft.com/office/drawing/2014/main" id="{F8AFF194-A817-4673-AAD4-D0AC7A4008AA}"/>
              </a:ext>
            </a:extLst>
          </p:cNvPr>
          <p:cNvSpPr txBox="1"/>
          <p:nvPr/>
        </p:nvSpPr>
        <p:spPr>
          <a:xfrm>
            <a:off x="426027" y="3970854"/>
            <a:ext cx="11294918" cy="1754326"/>
          </a:xfrm>
          <a:prstGeom prst="rect">
            <a:avLst/>
          </a:prstGeom>
          <a:noFill/>
        </p:spPr>
        <p:txBody>
          <a:bodyPr wrap="square" rtlCol="0">
            <a:spAutoFit/>
          </a:bodyPr>
          <a:lstStyle/>
          <a:p>
            <a:r>
              <a:rPr lang="zh-CN" altLang="en-US" dirty="0"/>
              <a:t>符合以下假设条件的</a:t>
            </a:r>
            <a:r>
              <a:rPr lang="en-US" altLang="zh-CN" dirty="0" err="1"/>
              <a:t>pn</a:t>
            </a:r>
            <a:r>
              <a:rPr lang="zh-CN" altLang="en-US" dirty="0"/>
              <a:t>结称为理想</a:t>
            </a:r>
            <a:r>
              <a:rPr lang="en-US" altLang="zh-CN" dirty="0" err="1"/>
              <a:t>pn</a:t>
            </a:r>
            <a:r>
              <a:rPr lang="zh-CN" altLang="en-US" dirty="0"/>
              <a:t>结模型：</a:t>
            </a:r>
            <a:endParaRPr lang="en-US" altLang="zh-CN" dirty="0"/>
          </a:p>
          <a:p>
            <a:pPr marL="285750" indent="-285750">
              <a:buFont typeface="Arial" panose="020B0604020202020204" pitchFamily="34" charset="0"/>
              <a:buChar char="•"/>
            </a:pPr>
            <a:r>
              <a:rPr lang="zh-CN" altLang="en-US" dirty="0"/>
              <a:t>小注入条件</a:t>
            </a:r>
            <a:r>
              <a:rPr lang="en-US" altLang="zh-CN" dirty="0"/>
              <a:t>——</a:t>
            </a:r>
            <a:r>
              <a:rPr lang="zh-CN" altLang="en-US" dirty="0"/>
              <a:t>注入的少数载流子浓度比平衡多数载流子浓度小得多；</a:t>
            </a:r>
            <a:endParaRPr lang="en-US" altLang="zh-CN" dirty="0"/>
          </a:p>
          <a:p>
            <a:pPr marL="285750" indent="-285750">
              <a:buFont typeface="Arial" panose="020B0604020202020204" pitchFamily="34" charset="0"/>
              <a:buChar char="•"/>
            </a:pPr>
            <a:r>
              <a:rPr lang="zh-CN" altLang="en-US" dirty="0"/>
              <a:t>突变耗尽层条件</a:t>
            </a:r>
            <a:r>
              <a:rPr lang="en-US" altLang="zh-CN" dirty="0"/>
              <a:t>——</a:t>
            </a:r>
            <a:r>
              <a:rPr lang="zh-CN" altLang="en-US" dirty="0"/>
              <a:t>外加电压和接触电势差都降落在耗尽层上，耗尽层中的电荷是由电离施主和电离受主的电荷组成，耗尽层外的半导体是电中性。因此，注入的少数载流子在</a:t>
            </a:r>
            <a:r>
              <a:rPr lang="en-US" altLang="zh-CN" dirty="0"/>
              <a:t>p</a:t>
            </a:r>
            <a:r>
              <a:rPr lang="zh-CN" altLang="en-US" dirty="0"/>
              <a:t>区和</a:t>
            </a:r>
            <a:r>
              <a:rPr lang="en-US" altLang="zh-CN" dirty="0"/>
              <a:t>n</a:t>
            </a:r>
            <a:r>
              <a:rPr lang="zh-CN" altLang="en-US" dirty="0"/>
              <a:t>区是纯扩散运动；</a:t>
            </a:r>
            <a:endParaRPr lang="en-US" altLang="zh-CN" dirty="0"/>
          </a:p>
          <a:p>
            <a:pPr marL="285750" indent="-285750">
              <a:buFont typeface="Arial" panose="020B0604020202020204" pitchFamily="34" charset="0"/>
              <a:buChar char="•"/>
            </a:pPr>
            <a:r>
              <a:rPr lang="zh-CN" altLang="en-US" dirty="0"/>
              <a:t>通过耗尽层的电子和空穴电流为常量，不考虑耗尽层中载流子的产生及复合作用；</a:t>
            </a:r>
            <a:endParaRPr lang="en-US" altLang="zh-CN" dirty="0"/>
          </a:p>
          <a:p>
            <a:pPr marL="285750" indent="-285750">
              <a:buFont typeface="Arial" panose="020B0604020202020204" pitchFamily="34" charset="0"/>
              <a:buChar char="•"/>
            </a:pPr>
            <a:r>
              <a:rPr lang="zh-CN" altLang="en-US" dirty="0"/>
              <a:t>玻尔兹曼边界条件</a:t>
            </a:r>
            <a:r>
              <a:rPr lang="en-US" altLang="zh-CN" dirty="0"/>
              <a:t>——</a:t>
            </a:r>
            <a:r>
              <a:rPr lang="zh-CN" altLang="en-US" dirty="0"/>
              <a:t>耗尽层两端，载流子分布满足玻尔兹曼统计分布。</a:t>
            </a:r>
          </a:p>
        </p:txBody>
      </p:sp>
    </p:spTree>
    <p:extLst>
      <p:ext uri="{BB962C8B-B14F-4D97-AF65-F5344CB8AC3E}">
        <p14:creationId xmlns:p14="http://schemas.microsoft.com/office/powerpoint/2010/main" val="3786774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8B59205-9FAD-4623-8B86-3785969BB51F}"/>
              </a:ext>
            </a:extLst>
          </p:cNvPr>
          <p:cNvSpPr>
            <a:spLocks noGrp="1"/>
          </p:cNvSpPr>
          <p:nvPr>
            <p:ph type="sldNum" sz="quarter" idx="12"/>
          </p:nvPr>
        </p:nvSpPr>
        <p:spPr/>
        <p:txBody>
          <a:bodyPr/>
          <a:lstStyle/>
          <a:p>
            <a:pPr>
              <a:defRPr/>
            </a:pPr>
            <a:fld id="{DB5F2CA6-A39B-48F7-84D1-AF91BD07D67D}" type="slidenum">
              <a:rPr lang="en-US" altLang="zh-CN" smtClean="0"/>
              <a:pPr>
                <a:defRPr/>
              </a:pPr>
              <a:t>5</a:t>
            </a:fld>
            <a:endParaRPr lang="en-US" altLang="zh-CN"/>
          </a:p>
        </p:txBody>
      </p:sp>
      <p:sp>
        <p:nvSpPr>
          <p:cNvPr id="3" name="矩形 2">
            <a:extLst>
              <a:ext uri="{FF2B5EF4-FFF2-40B4-BE49-F238E27FC236}">
                <a16:creationId xmlns:a16="http://schemas.microsoft.com/office/drawing/2014/main" id="{AEB5C491-71ED-4103-8AED-5B365C3DDAA9}"/>
              </a:ext>
            </a:extLst>
          </p:cNvPr>
          <p:cNvSpPr/>
          <p:nvPr/>
        </p:nvSpPr>
        <p:spPr>
          <a:xfrm>
            <a:off x="187684" y="732086"/>
            <a:ext cx="1620957" cy="523220"/>
          </a:xfrm>
          <a:prstGeom prst="rect">
            <a:avLst/>
          </a:prstGeom>
          <a:noFill/>
        </p:spPr>
        <p:txBody>
          <a:bodyPr wrap="none" lIns="91440" tIns="45720" rIns="91440" bIns="45720">
            <a:spAutoFit/>
          </a:bodyPr>
          <a:lstStyle/>
          <a:p>
            <a:pPr algn="ctr"/>
            <a:r>
              <a:rPr lang="zh-CN" altLang="en-US" sz="2800" dirty="0">
                <a:ln w="0"/>
                <a:solidFill>
                  <a:schemeClr val="accent1"/>
                </a:solidFill>
                <a:effectLst>
                  <a:outerShdw blurRad="38100" dist="25400" dir="5400000" algn="ctr" rotWithShape="0">
                    <a:srgbClr val="6E747A">
                      <a:alpha val="43000"/>
                    </a:srgbClr>
                  </a:outerShdw>
                </a:effectLst>
              </a:rPr>
              <a:t>边界条件</a:t>
            </a:r>
            <a:endParaRPr lang="zh-CN" altLang="en-US" sz="2800" b="0" cap="none" spc="0" dirty="0">
              <a:ln w="0"/>
              <a:solidFill>
                <a:schemeClr val="accent1"/>
              </a:solidFill>
              <a:effectLst>
                <a:outerShdw blurRad="38100" dist="25400" dir="5400000" algn="ctr" rotWithShape="0">
                  <a:srgbClr val="6E747A">
                    <a:alpha val="43000"/>
                  </a:srgbClr>
                </a:outerShdw>
              </a:effectLst>
            </a:endParaRPr>
          </a:p>
        </p:txBody>
      </p:sp>
      <p:pic>
        <p:nvPicPr>
          <p:cNvPr id="5" name="图片 4">
            <a:extLst>
              <a:ext uri="{FF2B5EF4-FFF2-40B4-BE49-F238E27FC236}">
                <a16:creationId xmlns:a16="http://schemas.microsoft.com/office/drawing/2014/main" id="{A0C4A9C0-9BEF-465B-972B-830AD36EDB96}"/>
              </a:ext>
            </a:extLst>
          </p:cNvPr>
          <p:cNvPicPr>
            <a:picLocks noChangeAspect="1"/>
          </p:cNvPicPr>
          <p:nvPr/>
        </p:nvPicPr>
        <p:blipFill>
          <a:blip r:embed="rId2"/>
          <a:stretch>
            <a:fillRect/>
          </a:stretch>
        </p:blipFill>
        <p:spPr>
          <a:xfrm>
            <a:off x="301336" y="1255306"/>
            <a:ext cx="4206796" cy="2279124"/>
          </a:xfrm>
          <a:prstGeom prst="rect">
            <a:avLst/>
          </a:prstGeom>
        </p:spPr>
      </p:pic>
      <p:sp>
        <p:nvSpPr>
          <p:cNvPr id="6" name="矩形 5">
            <a:extLst>
              <a:ext uri="{FF2B5EF4-FFF2-40B4-BE49-F238E27FC236}">
                <a16:creationId xmlns:a16="http://schemas.microsoft.com/office/drawing/2014/main" id="{E3A9E9A3-A01D-4DA8-864C-F7A715058193}"/>
              </a:ext>
            </a:extLst>
          </p:cNvPr>
          <p:cNvSpPr/>
          <p:nvPr/>
        </p:nvSpPr>
        <p:spPr>
          <a:xfrm>
            <a:off x="1459603" y="3534430"/>
            <a:ext cx="1890261" cy="307777"/>
          </a:xfrm>
          <a:prstGeom prst="rect">
            <a:avLst/>
          </a:prstGeom>
          <a:noFill/>
        </p:spPr>
        <p:txBody>
          <a:bodyPr wrap="none" lIns="91440" tIns="45720" rIns="91440" bIns="45720">
            <a:spAutoFit/>
          </a:bodyPr>
          <a:lstStyle/>
          <a:p>
            <a:pPr algn="ctr"/>
            <a:r>
              <a:rPr lang="zh-CN" altLang="en-US" sz="1400" b="0" cap="none" spc="0" dirty="0">
                <a:ln w="0"/>
                <a:solidFill>
                  <a:schemeClr val="tx1"/>
                </a:solidFill>
                <a:effectLst>
                  <a:outerShdw blurRad="38100" dist="19050" dir="2700000" algn="tl" rotWithShape="0">
                    <a:schemeClr val="dk1">
                      <a:alpha val="40000"/>
                    </a:schemeClr>
                  </a:outerShdw>
                </a:effectLst>
              </a:rPr>
              <a:t>图</a:t>
            </a:r>
            <a:r>
              <a:rPr lang="en-US" altLang="zh-CN" sz="1400" dirty="0">
                <a:ln w="0"/>
                <a:effectLst>
                  <a:outerShdw blurRad="38100" dist="19050" dir="2700000" algn="tl" rotWithShape="0">
                    <a:schemeClr val="dk1">
                      <a:alpha val="40000"/>
                    </a:schemeClr>
                  </a:outerShdw>
                </a:effectLst>
              </a:rPr>
              <a:t>2</a:t>
            </a:r>
            <a:r>
              <a:rPr lang="zh-CN" altLang="en-US" sz="1400" dirty="0">
                <a:ln w="0"/>
                <a:effectLst>
                  <a:outerShdw blurRad="38100" dist="19050" dir="2700000" algn="tl" rotWithShape="0">
                    <a:schemeClr val="dk1">
                      <a:alpha val="40000"/>
                    </a:schemeClr>
                  </a:outerShdw>
                </a:effectLst>
                <a:sym typeface="Wingdings" panose="05000000000000000000" pitchFamily="2" charset="2"/>
              </a:rPr>
              <a:t>：</a:t>
            </a:r>
            <a:r>
              <a:rPr lang="en-US" altLang="zh-CN" sz="1400" dirty="0" err="1">
                <a:ln w="0"/>
                <a:effectLst>
                  <a:outerShdw blurRad="38100" dist="19050" dir="2700000" algn="tl" rotWithShape="0">
                    <a:schemeClr val="dk1">
                      <a:alpha val="40000"/>
                    </a:schemeClr>
                  </a:outerShdw>
                </a:effectLst>
                <a:sym typeface="Wingdings" panose="05000000000000000000" pitchFamily="2" charset="2"/>
              </a:rPr>
              <a:t>pn</a:t>
            </a:r>
            <a:r>
              <a:rPr lang="zh-CN" altLang="en-US" sz="1400" dirty="0">
                <a:ln w="0"/>
                <a:effectLst>
                  <a:outerShdw blurRad="38100" dist="19050" dir="2700000" algn="tl" rotWithShape="0">
                    <a:schemeClr val="dk1">
                      <a:alpha val="40000"/>
                    </a:schemeClr>
                  </a:outerShdw>
                </a:effectLst>
                <a:sym typeface="Wingdings" panose="05000000000000000000" pitchFamily="2" charset="2"/>
              </a:rPr>
              <a:t>结导带的能量</a:t>
            </a:r>
            <a:endParaRPr lang="zh-CN" altLang="en-US" sz="1400" b="0" cap="none" spc="0" dirty="0">
              <a:ln w="0"/>
              <a:solidFill>
                <a:schemeClr val="tx1"/>
              </a:solidFill>
              <a:effectLst>
                <a:outerShdw blurRad="38100" dist="19050" dir="2700000" algn="tl" rotWithShape="0">
                  <a:schemeClr val="dk1">
                    <a:alpha val="40000"/>
                  </a:schemeClr>
                </a:outerShdw>
              </a:effectLst>
            </a:endParaRPr>
          </a:p>
        </p:txBody>
      </p:sp>
      <p:sp>
        <p:nvSpPr>
          <p:cNvPr id="7" name="文本框 6">
            <a:extLst>
              <a:ext uri="{FF2B5EF4-FFF2-40B4-BE49-F238E27FC236}">
                <a16:creationId xmlns:a16="http://schemas.microsoft.com/office/drawing/2014/main" id="{8CF888E0-A3CF-4EDD-8025-0092DF3E40C9}"/>
              </a:ext>
            </a:extLst>
          </p:cNvPr>
          <p:cNvSpPr txBox="1"/>
          <p:nvPr/>
        </p:nvSpPr>
        <p:spPr>
          <a:xfrm>
            <a:off x="4925291" y="1111828"/>
            <a:ext cx="6670963" cy="1200329"/>
          </a:xfrm>
          <a:prstGeom prst="rect">
            <a:avLst/>
          </a:prstGeom>
          <a:noFill/>
        </p:spPr>
        <p:txBody>
          <a:bodyPr wrap="square" rtlCol="0">
            <a:spAutoFit/>
          </a:bodyPr>
          <a:lstStyle/>
          <a:p>
            <a:pPr algn="just"/>
            <a:r>
              <a:rPr lang="en-US" altLang="zh-CN" dirty="0"/>
              <a:t>        </a:t>
            </a:r>
            <a:r>
              <a:rPr lang="zh-CN" altLang="en-US" dirty="0"/>
              <a:t>如图</a:t>
            </a:r>
            <a:r>
              <a:rPr lang="en-US" altLang="zh-CN" dirty="0"/>
              <a:t>2</a:t>
            </a:r>
            <a:r>
              <a:rPr lang="zh-CN" altLang="en-US" dirty="0"/>
              <a:t>所示是热平衡状态下</a:t>
            </a:r>
            <a:r>
              <a:rPr lang="en-US" altLang="zh-CN" dirty="0" err="1"/>
              <a:t>pn</a:t>
            </a:r>
            <a:r>
              <a:rPr lang="zh-CN" altLang="en-US" dirty="0"/>
              <a:t>结导带的能量图。导带内</a:t>
            </a:r>
            <a:r>
              <a:rPr lang="en-US" altLang="zh-CN" dirty="0"/>
              <a:t>n</a:t>
            </a:r>
            <a:r>
              <a:rPr lang="zh-CN" altLang="en-US" dirty="0"/>
              <a:t>区的电子数量远远大于</a:t>
            </a:r>
            <a:r>
              <a:rPr lang="en-US" altLang="zh-CN" dirty="0"/>
              <a:t>p</a:t>
            </a:r>
            <a:r>
              <a:rPr lang="zh-CN" altLang="en-US" dirty="0"/>
              <a:t>区；内建电势差阻止了</a:t>
            </a:r>
            <a:r>
              <a:rPr lang="en-US" altLang="zh-CN" dirty="0"/>
              <a:t>n</a:t>
            </a:r>
            <a:r>
              <a:rPr lang="zh-CN" altLang="en-US" dirty="0"/>
              <a:t>区电子向</a:t>
            </a:r>
            <a:r>
              <a:rPr lang="en-US" altLang="zh-CN" dirty="0"/>
              <a:t>p</a:t>
            </a:r>
            <a:r>
              <a:rPr lang="zh-CN" altLang="en-US" dirty="0"/>
              <a:t>区流动。换言之，内建电势差维持</a:t>
            </a:r>
            <a:r>
              <a:rPr lang="en-US" altLang="zh-CN" dirty="0" err="1"/>
              <a:t>pn</a:t>
            </a:r>
            <a:r>
              <a:rPr lang="zh-CN" altLang="en-US" dirty="0"/>
              <a:t>结两侧各区域载流子之间的分布平衡。</a:t>
            </a:r>
            <a:endParaRPr lang="en-US" altLang="zh-CN" dirty="0"/>
          </a:p>
          <a:p>
            <a:pPr algn="just"/>
            <a:r>
              <a:rPr lang="en-US" altLang="zh-CN" dirty="0"/>
              <a:t>        </a:t>
            </a:r>
            <a:r>
              <a:rPr lang="zh-CN" altLang="en-US" dirty="0"/>
              <a:t>回顾内建电势差的表达式，即</a:t>
            </a:r>
          </a:p>
        </p:txBody>
      </p:sp>
      <p:graphicFrame>
        <p:nvGraphicFramePr>
          <p:cNvPr id="2" name="对象 1">
            <a:extLst>
              <a:ext uri="{FF2B5EF4-FFF2-40B4-BE49-F238E27FC236}">
                <a16:creationId xmlns:a16="http://schemas.microsoft.com/office/drawing/2014/main" id="{4C167280-E67E-48F0-BD8A-136DD2E6AE36}"/>
              </a:ext>
            </a:extLst>
          </p:cNvPr>
          <p:cNvGraphicFramePr>
            <a:graphicFrameLocks noChangeAspect="1"/>
          </p:cNvGraphicFramePr>
          <p:nvPr>
            <p:extLst>
              <p:ext uri="{D42A27DB-BD31-4B8C-83A1-F6EECF244321}">
                <p14:modId xmlns:p14="http://schemas.microsoft.com/office/powerpoint/2010/main" val="1979624698"/>
              </p:ext>
            </p:extLst>
          </p:nvPr>
        </p:nvGraphicFramePr>
        <p:xfrm>
          <a:off x="7304510" y="2312157"/>
          <a:ext cx="1912524" cy="747423"/>
        </p:xfrm>
        <a:graphic>
          <a:graphicData uri="http://schemas.openxmlformats.org/presentationml/2006/ole">
            <mc:AlternateContent xmlns:mc="http://schemas.openxmlformats.org/markup-compatibility/2006">
              <mc:Choice xmlns:v="urn:schemas-microsoft-com:vml" Requires="v">
                <p:oleObj name="Equation" r:id="rId3" imgW="1104840" imgH="431640" progId="Equation.DSMT4">
                  <p:embed/>
                </p:oleObj>
              </mc:Choice>
              <mc:Fallback>
                <p:oleObj name="Equation" r:id="rId3" imgW="1104840" imgH="431640" progId="Equation.DSMT4">
                  <p:embed/>
                  <p:pic>
                    <p:nvPicPr>
                      <p:cNvPr id="0" name=""/>
                      <p:cNvPicPr/>
                      <p:nvPr/>
                    </p:nvPicPr>
                    <p:blipFill>
                      <a:blip r:embed="rId4"/>
                      <a:stretch>
                        <a:fillRect/>
                      </a:stretch>
                    </p:blipFill>
                    <p:spPr>
                      <a:xfrm>
                        <a:off x="7304510" y="2312157"/>
                        <a:ext cx="1912524" cy="747423"/>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7C530922-96F7-4C59-BD7F-F153C2EFEAF8}"/>
              </a:ext>
            </a:extLst>
          </p:cNvPr>
          <p:cNvGraphicFramePr>
            <a:graphicFrameLocks noChangeAspect="1"/>
          </p:cNvGraphicFramePr>
          <p:nvPr>
            <p:extLst>
              <p:ext uri="{D42A27DB-BD31-4B8C-83A1-F6EECF244321}">
                <p14:modId xmlns:p14="http://schemas.microsoft.com/office/powerpoint/2010/main" val="104594737"/>
              </p:ext>
            </p:extLst>
          </p:nvPr>
        </p:nvGraphicFramePr>
        <p:xfrm>
          <a:off x="11104616" y="2512884"/>
          <a:ext cx="345968" cy="345968"/>
        </p:xfrm>
        <a:graphic>
          <a:graphicData uri="http://schemas.openxmlformats.org/presentationml/2006/ole">
            <mc:AlternateContent xmlns:mc="http://schemas.openxmlformats.org/markup-compatibility/2006">
              <mc:Choice xmlns:v="urn:schemas-microsoft-com:vml" Requires="v">
                <p:oleObj name="Equation" r:id="rId5" imgW="203040" imgH="203040" progId="Equation.DSMT4">
                  <p:embed/>
                </p:oleObj>
              </mc:Choice>
              <mc:Fallback>
                <p:oleObj name="Equation" r:id="rId5" imgW="203040" imgH="203040" progId="Equation.DSMT4">
                  <p:embed/>
                  <p:pic>
                    <p:nvPicPr>
                      <p:cNvPr id="0" name=""/>
                      <p:cNvPicPr/>
                      <p:nvPr/>
                    </p:nvPicPr>
                    <p:blipFill>
                      <a:blip r:embed="rId6"/>
                      <a:stretch>
                        <a:fillRect/>
                      </a:stretch>
                    </p:blipFill>
                    <p:spPr>
                      <a:xfrm>
                        <a:off x="11104616" y="2512884"/>
                        <a:ext cx="345968" cy="345968"/>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4A9E66DD-A61F-4E7A-A815-793F57927F6B}"/>
              </a:ext>
            </a:extLst>
          </p:cNvPr>
          <p:cNvSpPr txBox="1"/>
          <p:nvPr/>
        </p:nvSpPr>
        <p:spPr>
          <a:xfrm>
            <a:off x="4925290" y="3109950"/>
            <a:ext cx="6670963" cy="369332"/>
          </a:xfrm>
          <a:prstGeom prst="rect">
            <a:avLst/>
          </a:prstGeom>
          <a:noFill/>
        </p:spPr>
        <p:txBody>
          <a:bodyPr wrap="square" rtlCol="0">
            <a:spAutoFit/>
          </a:bodyPr>
          <a:lstStyle/>
          <a:p>
            <a:r>
              <a:rPr lang="zh-CN" altLang="en-US" dirty="0"/>
              <a:t>将上式的两边除以</a:t>
            </a:r>
            <a:r>
              <a:rPr lang="en-US" altLang="zh-CN" dirty="0"/>
              <a:t>	   </a:t>
            </a:r>
            <a:r>
              <a:rPr lang="zh-CN" altLang="en-US" dirty="0"/>
              <a:t>，两边取对数，再取倒数，可得</a:t>
            </a:r>
          </a:p>
        </p:txBody>
      </p:sp>
      <p:graphicFrame>
        <p:nvGraphicFramePr>
          <p:cNvPr id="11" name="对象 10">
            <a:extLst>
              <a:ext uri="{FF2B5EF4-FFF2-40B4-BE49-F238E27FC236}">
                <a16:creationId xmlns:a16="http://schemas.microsoft.com/office/drawing/2014/main" id="{2D6AA07B-DC7A-4D9F-9B42-4F35DA11CE79}"/>
              </a:ext>
            </a:extLst>
          </p:cNvPr>
          <p:cNvGraphicFramePr>
            <a:graphicFrameLocks noChangeAspect="1"/>
          </p:cNvGraphicFramePr>
          <p:nvPr>
            <p:extLst>
              <p:ext uri="{D42A27DB-BD31-4B8C-83A1-F6EECF244321}">
                <p14:modId xmlns:p14="http://schemas.microsoft.com/office/powerpoint/2010/main" val="671572519"/>
              </p:ext>
            </p:extLst>
          </p:nvPr>
        </p:nvGraphicFramePr>
        <p:xfrm>
          <a:off x="6862617" y="3126012"/>
          <a:ext cx="1066959" cy="369332"/>
        </p:xfrm>
        <a:graphic>
          <a:graphicData uri="http://schemas.openxmlformats.org/presentationml/2006/ole">
            <mc:AlternateContent xmlns:mc="http://schemas.openxmlformats.org/markup-compatibility/2006">
              <mc:Choice xmlns:v="urn:schemas-microsoft-com:vml" Requires="v">
                <p:oleObj name="Equation" r:id="rId7" imgW="660240" imgH="228600" progId="Equation.DSMT4">
                  <p:embed/>
                </p:oleObj>
              </mc:Choice>
              <mc:Fallback>
                <p:oleObj name="Equation" r:id="rId7" imgW="660240" imgH="228600" progId="Equation.DSMT4">
                  <p:embed/>
                  <p:pic>
                    <p:nvPicPr>
                      <p:cNvPr id="0" name=""/>
                      <p:cNvPicPr/>
                      <p:nvPr/>
                    </p:nvPicPr>
                    <p:blipFill>
                      <a:blip r:embed="rId8"/>
                      <a:stretch>
                        <a:fillRect/>
                      </a:stretch>
                    </p:blipFill>
                    <p:spPr>
                      <a:xfrm>
                        <a:off x="6862617" y="3126012"/>
                        <a:ext cx="1066959" cy="369332"/>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C67C04E6-A313-47D1-8173-8B5CB130A319}"/>
              </a:ext>
            </a:extLst>
          </p:cNvPr>
          <p:cNvGraphicFramePr>
            <a:graphicFrameLocks noChangeAspect="1"/>
          </p:cNvGraphicFramePr>
          <p:nvPr>
            <p:extLst>
              <p:ext uri="{D42A27DB-BD31-4B8C-83A1-F6EECF244321}">
                <p14:modId xmlns:p14="http://schemas.microsoft.com/office/powerpoint/2010/main" val="1166539232"/>
              </p:ext>
            </p:extLst>
          </p:nvPr>
        </p:nvGraphicFramePr>
        <p:xfrm>
          <a:off x="7230896" y="3356669"/>
          <a:ext cx="2055411" cy="747422"/>
        </p:xfrm>
        <a:graphic>
          <a:graphicData uri="http://schemas.openxmlformats.org/presentationml/2006/ole">
            <mc:AlternateContent xmlns:mc="http://schemas.openxmlformats.org/markup-compatibility/2006">
              <mc:Choice xmlns:v="urn:schemas-microsoft-com:vml" Requires="v">
                <p:oleObj name="Equation" r:id="rId9" imgW="1257120" imgH="457200" progId="Equation.DSMT4">
                  <p:embed/>
                </p:oleObj>
              </mc:Choice>
              <mc:Fallback>
                <p:oleObj name="Equation" r:id="rId9" imgW="1257120" imgH="457200" progId="Equation.DSMT4">
                  <p:embed/>
                  <p:pic>
                    <p:nvPicPr>
                      <p:cNvPr id="0" name=""/>
                      <p:cNvPicPr/>
                      <p:nvPr/>
                    </p:nvPicPr>
                    <p:blipFill>
                      <a:blip r:embed="rId10"/>
                      <a:stretch>
                        <a:fillRect/>
                      </a:stretch>
                    </p:blipFill>
                    <p:spPr>
                      <a:xfrm>
                        <a:off x="7230896" y="3356669"/>
                        <a:ext cx="2055411" cy="747422"/>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F9F4CE1B-015A-4198-96DA-DA9FC15C5A8D}"/>
              </a:ext>
            </a:extLst>
          </p:cNvPr>
          <p:cNvGraphicFramePr>
            <a:graphicFrameLocks noChangeAspect="1"/>
          </p:cNvGraphicFramePr>
          <p:nvPr>
            <p:extLst>
              <p:ext uri="{D42A27DB-BD31-4B8C-83A1-F6EECF244321}">
                <p14:modId xmlns:p14="http://schemas.microsoft.com/office/powerpoint/2010/main" val="926173084"/>
              </p:ext>
            </p:extLst>
          </p:nvPr>
        </p:nvGraphicFramePr>
        <p:xfrm>
          <a:off x="11069850" y="3551786"/>
          <a:ext cx="415499" cy="369332"/>
        </p:xfrm>
        <a:graphic>
          <a:graphicData uri="http://schemas.openxmlformats.org/presentationml/2006/ole">
            <mc:AlternateContent xmlns:mc="http://schemas.openxmlformats.org/markup-compatibility/2006">
              <mc:Choice xmlns:v="urn:schemas-microsoft-com:vml" Requires="v">
                <p:oleObj name="Equation" r:id="rId11" imgW="228600" imgH="203040" progId="Equation.DSMT4">
                  <p:embed/>
                </p:oleObj>
              </mc:Choice>
              <mc:Fallback>
                <p:oleObj name="Equation" r:id="rId11" imgW="228600" imgH="203040" progId="Equation.DSMT4">
                  <p:embed/>
                  <p:pic>
                    <p:nvPicPr>
                      <p:cNvPr id="0" name=""/>
                      <p:cNvPicPr/>
                      <p:nvPr/>
                    </p:nvPicPr>
                    <p:blipFill>
                      <a:blip r:embed="rId12"/>
                      <a:stretch>
                        <a:fillRect/>
                      </a:stretch>
                    </p:blipFill>
                    <p:spPr>
                      <a:xfrm>
                        <a:off x="11069850" y="3551786"/>
                        <a:ext cx="415499" cy="369332"/>
                      </a:xfrm>
                      <a:prstGeom prst="rect">
                        <a:avLst/>
                      </a:prstGeom>
                    </p:spPr>
                  </p:pic>
                </p:oleObj>
              </mc:Fallback>
            </mc:AlternateContent>
          </a:graphicData>
        </a:graphic>
      </p:graphicFrame>
      <p:sp>
        <p:nvSpPr>
          <p:cNvPr id="14" name="文本框 13">
            <a:extLst>
              <a:ext uri="{FF2B5EF4-FFF2-40B4-BE49-F238E27FC236}">
                <a16:creationId xmlns:a16="http://schemas.microsoft.com/office/drawing/2014/main" id="{F2A3C8E9-C1CD-42F7-9E7A-ADDE71C8A5C4}"/>
              </a:ext>
            </a:extLst>
          </p:cNvPr>
          <p:cNvSpPr txBox="1"/>
          <p:nvPr/>
        </p:nvSpPr>
        <p:spPr>
          <a:xfrm>
            <a:off x="509155" y="4104091"/>
            <a:ext cx="11087098" cy="369332"/>
          </a:xfrm>
          <a:prstGeom prst="rect">
            <a:avLst/>
          </a:prstGeom>
          <a:noFill/>
        </p:spPr>
        <p:txBody>
          <a:bodyPr wrap="square" rtlCol="0">
            <a:spAutoFit/>
          </a:bodyPr>
          <a:lstStyle/>
          <a:p>
            <a:r>
              <a:rPr lang="zh-CN" altLang="en-US" dirty="0"/>
              <a:t>假设杂质完全电离，则有</a:t>
            </a:r>
          </a:p>
        </p:txBody>
      </p:sp>
      <p:graphicFrame>
        <p:nvGraphicFramePr>
          <p:cNvPr id="15" name="对象 14">
            <a:extLst>
              <a:ext uri="{FF2B5EF4-FFF2-40B4-BE49-F238E27FC236}">
                <a16:creationId xmlns:a16="http://schemas.microsoft.com/office/drawing/2014/main" id="{16DEF5C4-94D1-4EDE-9C38-B5674D59EE9F}"/>
              </a:ext>
            </a:extLst>
          </p:cNvPr>
          <p:cNvGraphicFramePr>
            <a:graphicFrameLocks noChangeAspect="1"/>
          </p:cNvGraphicFramePr>
          <p:nvPr>
            <p:extLst>
              <p:ext uri="{D42A27DB-BD31-4B8C-83A1-F6EECF244321}">
                <p14:modId xmlns:p14="http://schemas.microsoft.com/office/powerpoint/2010/main" val="1121808534"/>
              </p:ext>
            </p:extLst>
          </p:nvPr>
        </p:nvGraphicFramePr>
        <p:xfrm>
          <a:off x="5512376" y="4435353"/>
          <a:ext cx="1080655" cy="442086"/>
        </p:xfrm>
        <a:graphic>
          <a:graphicData uri="http://schemas.openxmlformats.org/presentationml/2006/ole">
            <mc:AlternateContent xmlns:mc="http://schemas.openxmlformats.org/markup-compatibility/2006">
              <mc:Choice xmlns:v="urn:schemas-microsoft-com:vml" Requires="v">
                <p:oleObj name="Equation" r:id="rId13" imgW="558720" imgH="228600" progId="Equation.DSMT4">
                  <p:embed/>
                </p:oleObj>
              </mc:Choice>
              <mc:Fallback>
                <p:oleObj name="Equation" r:id="rId13" imgW="558720" imgH="228600" progId="Equation.DSMT4">
                  <p:embed/>
                  <p:pic>
                    <p:nvPicPr>
                      <p:cNvPr id="0" name=""/>
                      <p:cNvPicPr/>
                      <p:nvPr/>
                    </p:nvPicPr>
                    <p:blipFill>
                      <a:blip r:embed="rId14"/>
                      <a:stretch>
                        <a:fillRect/>
                      </a:stretch>
                    </p:blipFill>
                    <p:spPr>
                      <a:xfrm>
                        <a:off x="5512376" y="4435353"/>
                        <a:ext cx="1080655" cy="442086"/>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D39347DF-84DF-469A-8560-BF07685831D9}"/>
              </a:ext>
            </a:extLst>
          </p:cNvPr>
          <p:cNvGraphicFramePr>
            <a:graphicFrameLocks noChangeAspect="1"/>
          </p:cNvGraphicFramePr>
          <p:nvPr>
            <p:extLst>
              <p:ext uri="{D42A27DB-BD31-4B8C-83A1-F6EECF244321}">
                <p14:modId xmlns:p14="http://schemas.microsoft.com/office/powerpoint/2010/main" val="1093996968"/>
              </p:ext>
            </p:extLst>
          </p:nvPr>
        </p:nvGraphicFramePr>
        <p:xfrm>
          <a:off x="11076708" y="4508108"/>
          <a:ext cx="392414" cy="369331"/>
        </p:xfrm>
        <a:graphic>
          <a:graphicData uri="http://schemas.openxmlformats.org/presentationml/2006/ole">
            <mc:AlternateContent xmlns:mc="http://schemas.openxmlformats.org/markup-compatibility/2006">
              <mc:Choice xmlns:v="urn:schemas-microsoft-com:vml" Requires="v">
                <p:oleObj name="Equation" r:id="rId15" imgW="215640" imgH="203040" progId="Equation.DSMT4">
                  <p:embed/>
                </p:oleObj>
              </mc:Choice>
              <mc:Fallback>
                <p:oleObj name="Equation" r:id="rId15" imgW="215640" imgH="203040" progId="Equation.DSMT4">
                  <p:embed/>
                  <p:pic>
                    <p:nvPicPr>
                      <p:cNvPr id="0" name=""/>
                      <p:cNvPicPr/>
                      <p:nvPr/>
                    </p:nvPicPr>
                    <p:blipFill>
                      <a:blip r:embed="rId16"/>
                      <a:stretch>
                        <a:fillRect/>
                      </a:stretch>
                    </p:blipFill>
                    <p:spPr>
                      <a:xfrm>
                        <a:off x="11076708" y="4508108"/>
                        <a:ext cx="392414" cy="369331"/>
                      </a:xfrm>
                      <a:prstGeom prst="rect">
                        <a:avLst/>
                      </a:prstGeom>
                    </p:spPr>
                  </p:pic>
                </p:oleObj>
              </mc:Fallback>
            </mc:AlternateContent>
          </a:graphicData>
        </a:graphic>
      </p:graphicFrame>
      <p:sp>
        <p:nvSpPr>
          <p:cNvPr id="17" name="文本框 16">
            <a:extLst>
              <a:ext uri="{FF2B5EF4-FFF2-40B4-BE49-F238E27FC236}">
                <a16:creationId xmlns:a16="http://schemas.microsoft.com/office/drawing/2014/main" id="{BA4E4CB5-84BC-485C-93A5-354B28AF7A27}"/>
              </a:ext>
            </a:extLst>
          </p:cNvPr>
          <p:cNvSpPr txBox="1"/>
          <p:nvPr/>
        </p:nvSpPr>
        <p:spPr>
          <a:xfrm>
            <a:off x="509155" y="4977245"/>
            <a:ext cx="11087098" cy="369332"/>
          </a:xfrm>
          <a:prstGeom prst="rect">
            <a:avLst/>
          </a:prstGeom>
          <a:noFill/>
        </p:spPr>
        <p:txBody>
          <a:bodyPr wrap="square" rtlCol="0">
            <a:spAutoFit/>
          </a:bodyPr>
          <a:lstStyle/>
          <a:p>
            <a:r>
              <a:rPr lang="zh-CN" altLang="en-US" dirty="0"/>
              <a:t>其中</a:t>
            </a:r>
            <a:r>
              <a:rPr lang="en-US" altLang="zh-CN" dirty="0"/>
              <a:t>n</a:t>
            </a:r>
            <a:r>
              <a:rPr lang="en-US" altLang="zh-CN" baseline="-25000" dirty="0"/>
              <a:t>n0</a:t>
            </a:r>
            <a:r>
              <a:rPr lang="zh-CN" altLang="en-US" dirty="0"/>
              <a:t>为</a:t>
            </a:r>
            <a:r>
              <a:rPr lang="en-US" altLang="zh-CN" dirty="0"/>
              <a:t>n</a:t>
            </a:r>
            <a:r>
              <a:rPr lang="zh-CN" altLang="en-US" dirty="0"/>
              <a:t>区内多子电子的热平衡浓度。在</a:t>
            </a:r>
            <a:r>
              <a:rPr lang="en-US" altLang="zh-CN" dirty="0"/>
              <a:t>p</a:t>
            </a:r>
            <a:r>
              <a:rPr lang="zh-CN" altLang="en-US" dirty="0"/>
              <a:t>区，可以写出</a:t>
            </a:r>
          </a:p>
        </p:txBody>
      </p:sp>
      <p:graphicFrame>
        <p:nvGraphicFramePr>
          <p:cNvPr id="18" name="对象 17">
            <a:extLst>
              <a:ext uri="{FF2B5EF4-FFF2-40B4-BE49-F238E27FC236}">
                <a16:creationId xmlns:a16="http://schemas.microsoft.com/office/drawing/2014/main" id="{2B6885AD-BAB2-4A2D-89F2-35A76C714419}"/>
              </a:ext>
            </a:extLst>
          </p:cNvPr>
          <p:cNvGraphicFramePr>
            <a:graphicFrameLocks noChangeAspect="1"/>
          </p:cNvGraphicFramePr>
          <p:nvPr>
            <p:extLst>
              <p:ext uri="{D42A27DB-BD31-4B8C-83A1-F6EECF244321}">
                <p14:modId xmlns:p14="http://schemas.microsoft.com/office/powerpoint/2010/main" val="1962331466"/>
              </p:ext>
            </p:extLst>
          </p:nvPr>
        </p:nvGraphicFramePr>
        <p:xfrm>
          <a:off x="5448761" y="5208701"/>
          <a:ext cx="1207883" cy="925187"/>
        </p:xfrm>
        <a:graphic>
          <a:graphicData uri="http://schemas.openxmlformats.org/presentationml/2006/ole">
            <mc:AlternateContent xmlns:mc="http://schemas.openxmlformats.org/markup-compatibility/2006">
              <mc:Choice xmlns:v="urn:schemas-microsoft-com:vml" Requires="v">
                <p:oleObj name="Equation" r:id="rId17" imgW="596880" imgH="457200" progId="Equation.DSMT4">
                  <p:embed/>
                </p:oleObj>
              </mc:Choice>
              <mc:Fallback>
                <p:oleObj name="Equation" r:id="rId17" imgW="596880" imgH="457200" progId="Equation.DSMT4">
                  <p:embed/>
                  <p:pic>
                    <p:nvPicPr>
                      <p:cNvPr id="0" name=""/>
                      <p:cNvPicPr/>
                      <p:nvPr/>
                    </p:nvPicPr>
                    <p:blipFill>
                      <a:blip r:embed="rId18"/>
                      <a:stretch>
                        <a:fillRect/>
                      </a:stretch>
                    </p:blipFill>
                    <p:spPr>
                      <a:xfrm>
                        <a:off x="5448761" y="5208701"/>
                        <a:ext cx="1207883" cy="925187"/>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8ADE48CE-6B07-4696-8529-3AC1FC09171C}"/>
              </a:ext>
            </a:extLst>
          </p:cNvPr>
          <p:cNvGraphicFramePr>
            <a:graphicFrameLocks noChangeAspect="1"/>
          </p:cNvGraphicFramePr>
          <p:nvPr>
            <p:extLst>
              <p:ext uri="{D42A27DB-BD31-4B8C-83A1-F6EECF244321}">
                <p14:modId xmlns:p14="http://schemas.microsoft.com/office/powerpoint/2010/main" val="4196281643"/>
              </p:ext>
            </p:extLst>
          </p:nvPr>
        </p:nvGraphicFramePr>
        <p:xfrm>
          <a:off x="11061120" y="5561506"/>
          <a:ext cx="415499" cy="369332"/>
        </p:xfrm>
        <a:graphic>
          <a:graphicData uri="http://schemas.openxmlformats.org/presentationml/2006/ole">
            <mc:AlternateContent xmlns:mc="http://schemas.openxmlformats.org/markup-compatibility/2006">
              <mc:Choice xmlns:v="urn:schemas-microsoft-com:vml" Requires="v">
                <p:oleObj name="Equation" r:id="rId19" imgW="228600" imgH="203040" progId="Equation.DSMT4">
                  <p:embed/>
                </p:oleObj>
              </mc:Choice>
              <mc:Fallback>
                <p:oleObj name="Equation" r:id="rId19" imgW="228600" imgH="203040" progId="Equation.DSMT4">
                  <p:embed/>
                  <p:pic>
                    <p:nvPicPr>
                      <p:cNvPr id="0" name=""/>
                      <p:cNvPicPr/>
                      <p:nvPr/>
                    </p:nvPicPr>
                    <p:blipFill>
                      <a:blip r:embed="rId20"/>
                      <a:stretch>
                        <a:fillRect/>
                      </a:stretch>
                    </p:blipFill>
                    <p:spPr>
                      <a:xfrm>
                        <a:off x="11061120" y="5561506"/>
                        <a:ext cx="415499" cy="369332"/>
                      </a:xfrm>
                      <a:prstGeom prst="rect">
                        <a:avLst/>
                      </a:prstGeom>
                    </p:spPr>
                  </p:pic>
                </p:oleObj>
              </mc:Fallback>
            </mc:AlternateContent>
          </a:graphicData>
        </a:graphic>
      </p:graphicFrame>
    </p:spTree>
    <p:extLst>
      <p:ext uri="{BB962C8B-B14F-4D97-AF65-F5344CB8AC3E}">
        <p14:creationId xmlns:p14="http://schemas.microsoft.com/office/powerpoint/2010/main" val="3682152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39B4BD2-F1DA-4A0B-AEDD-F8E041C08BD4}"/>
              </a:ext>
            </a:extLst>
          </p:cNvPr>
          <p:cNvSpPr>
            <a:spLocks noGrp="1"/>
          </p:cNvSpPr>
          <p:nvPr>
            <p:ph type="sldNum" sz="quarter" idx="12"/>
          </p:nvPr>
        </p:nvSpPr>
        <p:spPr/>
        <p:txBody>
          <a:bodyPr/>
          <a:lstStyle/>
          <a:p>
            <a:pPr>
              <a:defRPr/>
            </a:pPr>
            <a:fld id="{DB5F2CA6-A39B-48F7-84D1-AF91BD07D67D}" type="slidenum">
              <a:rPr lang="en-US" altLang="zh-CN" smtClean="0"/>
              <a:pPr>
                <a:defRPr/>
              </a:pPr>
              <a:t>6</a:t>
            </a:fld>
            <a:endParaRPr lang="en-US" altLang="zh-CN"/>
          </a:p>
        </p:txBody>
      </p:sp>
      <p:sp>
        <p:nvSpPr>
          <p:cNvPr id="5" name="矩形 4">
            <a:extLst>
              <a:ext uri="{FF2B5EF4-FFF2-40B4-BE49-F238E27FC236}">
                <a16:creationId xmlns:a16="http://schemas.microsoft.com/office/drawing/2014/main" id="{B3B13625-44DD-4AE7-A58A-364CC8073DEA}"/>
              </a:ext>
            </a:extLst>
          </p:cNvPr>
          <p:cNvSpPr/>
          <p:nvPr/>
        </p:nvSpPr>
        <p:spPr>
          <a:xfrm>
            <a:off x="187684" y="732086"/>
            <a:ext cx="1620957" cy="523220"/>
          </a:xfrm>
          <a:prstGeom prst="rect">
            <a:avLst/>
          </a:prstGeom>
          <a:noFill/>
        </p:spPr>
        <p:txBody>
          <a:bodyPr wrap="none" lIns="91440" tIns="45720" rIns="91440" bIns="45720">
            <a:spAutoFit/>
          </a:bodyPr>
          <a:lstStyle/>
          <a:p>
            <a:pPr algn="ctr"/>
            <a:r>
              <a:rPr lang="zh-CN" altLang="en-US" sz="2800" dirty="0">
                <a:ln w="0"/>
                <a:solidFill>
                  <a:schemeClr val="accent1"/>
                </a:solidFill>
                <a:effectLst>
                  <a:outerShdw blurRad="38100" dist="25400" dir="5400000" algn="ctr" rotWithShape="0">
                    <a:srgbClr val="6E747A">
                      <a:alpha val="43000"/>
                    </a:srgbClr>
                  </a:outerShdw>
                </a:effectLst>
              </a:rPr>
              <a:t>边界条件</a:t>
            </a:r>
            <a:endParaRPr lang="zh-CN" altLang="en-US" sz="2800" b="0" cap="none" spc="0" dirty="0">
              <a:ln w="0"/>
              <a:solidFill>
                <a:schemeClr val="accent1"/>
              </a:solidFill>
              <a:effectLst>
                <a:outerShdw blurRad="38100" dist="25400" dir="5400000" algn="ctr" rotWithShape="0">
                  <a:srgbClr val="6E747A">
                    <a:alpha val="43000"/>
                  </a:srgbClr>
                </a:outerShdw>
              </a:effectLst>
            </a:endParaRPr>
          </a:p>
        </p:txBody>
      </p:sp>
      <p:sp>
        <p:nvSpPr>
          <p:cNvPr id="6" name="文本框 5">
            <a:extLst>
              <a:ext uri="{FF2B5EF4-FFF2-40B4-BE49-F238E27FC236}">
                <a16:creationId xmlns:a16="http://schemas.microsoft.com/office/drawing/2014/main" id="{A26FD774-9B88-400D-A370-CD3393672174}"/>
              </a:ext>
            </a:extLst>
          </p:cNvPr>
          <p:cNvSpPr txBox="1"/>
          <p:nvPr/>
        </p:nvSpPr>
        <p:spPr>
          <a:xfrm>
            <a:off x="322118" y="1255306"/>
            <a:ext cx="11461173" cy="369332"/>
          </a:xfrm>
          <a:prstGeom prst="rect">
            <a:avLst/>
          </a:prstGeom>
          <a:noFill/>
        </p:spPr>
        <p:txBody>
          <a:bodyPr wrap="square" rtlCol="0">
            <a:spAutoFit/>
          </a:bodyPr>
          <a:lstStyle/>
          <a:p>
            <a:r>
              <a:rPr lang="zh-CN" altLang="en-US" dirty="0"/>
              <a:t>其中</a:t>
            </a:r>
            <a:r>
              <a:rPr lang="en-US" altLang="zh-CN" dirty="0"/>
              <a:t>n</a:t>
            </a:r>
            <a:r>
              <a:rPr lang="en-US" altLang="zh-CN" baseline="-25000" dirty="0"/>
              <a:t>p0</a:t>
            </a:r>
            <a:r>
              <a:rPr lang="zh-CN" altLang="en-US" dirty="0"/>
              <a:t>为</a:t>
            </a:r>
            <a:r>
              <a:rPr lang="en-US" altLang="zh-CN" dirty="0"/>
              <a:t>p</a:t>
            </a:r>
            <a:r>
              <a:rPr lang="zh-CN" altLang="en-US" dirty="0"/>
              <a:t>区内少子子电子的热平衡浓度。将式</a:t>
            </a:r>
            <a:r>
              <a:rPr lang="en-US" altLang="zh-CN" dirty="0"/>
              <a:t>(3)</a:t>
            </a:r>
            <a:r>
              <a:rPr lang="zh-CN" altLang="en-US" dirty="0"/>
              <a:t>和式</a:t>
            </a:r>
            <a:r>
              <a:rPr lang="en-US" altLang="zh-CN" dirty="0"/>
              <a:t>(4)</a:t>
            </a:r>
            <a:r>
              <a:rPr lang="zh-CN" altLang="en-US" dirty="0"/>
              <a:t>代入式</a:t>
            </a:r>
            <a:r>
              <a:rPr lang="en-US" altLang="zh-CN" dirty="0"/>
              <a:t>(2)</a:t>
            </a:r>
            <a:r>
              <a:rPr lang="zh-CN" altLang="en-US" dirty="0"/>
              <a:t>可得</a:t>
            </a:r>
          </a:p>
        </p:txBody>
      </p:sp>
      <p:graphicFrame>
        <p:nvGraphicFramePr>
          <p:cNvPr id="7" name="对象 6">
            <a:extLst>
              <a:ext uri="{FF2B5EF4-FFF2-40B4-BE49-F238E27FC236}">
                <a16:creationId xmlns:a16="http://schemas.microsoft.com/office/drawing/2014/main" id="{8D04F1C6-AED5-4136-8C43-A8E12B925A7A}"/>
              </a:ext>
            </a:extLst>
          </p:cNvPr>
          <p:cNvGraphicFramePr>
            <a:graphicFrameLocks noChangeAspect="1"/>
          </p:cNvGraphicFramePr>
          <p:nvPr>
            <p:extLst>
              <p:ext uri="{D42A27DB-BD31-4B8C-83A1-F6EECF244321}">
                <p14:modId xmlns:p14="http://schemas.microsoft.com/office/powerpoint/2010/main" val="3359787241"/>
              </p:ext>
            </p:extLst>
          </p:nvPr>
        </p:nvGraphicFramePr>
        <p:xfrm>
          <a:off x="4865989" y="1566536"/>
          <a:ext cx="2460022" cy="762607"/>
        </p:xfrm>
        <a:graphic>
          <a:graphicData uri="http://schemas.openxmlformats.org/presentationml/2006/ole">
            <mc:AlternateContent xmlns:mc="http://schemas.openxmlformats.org/markup-compatibility/2006">
              <mc:Choice xmlns:v="urn:schemas-microsoft-com:vml" Requires="v">
                <p:oleObj name="Equation" r:id="rId2" imgW="1269720" imgH="393480" progId="Equation.DSMT4">
                  <p:embed/>
                </p:oleObj>
              </mc:Choice>
              <mc:Fallback>
                <p:oleObj name="Equation" r:id="rId2" imgW="1269720" imgH="393480" progId="Equation.DSMT4">
                  <p:embed/>
                  <p:pic>
                    <p:nvPicPr>
                      <p:cNvPr id="0" name=""/>
                      <p:cNvPicPr/>
                      <p:nvPr/>
                    </p:nvPicPr>
                    <p:blipFill>
                      <a:blip r:embed="rId3"/>
                      <a:stretch>
                        <a:fillRect/>
                      </a:stretch>
                    </p:blipFill>
                    <p:spPr>
                      <a:xfrm>
                        <a:off x="4865989" y="1566536"/>
                        <a:ext cx="2460022" cy="762607"/>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669E4AA8-3B87-4705-8383-771B17164A9C}"/>
              </a:ext>
            </a:extLst>
          </p:cNvPr>
          <p:cNvGraphicFramePr>
            <a:graphicFrameLocks noChangeAspect="1"/>
          </p:cNvGraphicFramePr>
          <p:nvPr>
            <p:extLst>
              <p:ext uri="{D42A27DB-BD31-4B8C-83A1-F6EECF244321}">
                <p14:modId xmlns:p14="http://schemas.microsoft.com/office/powerpoint/2010/main" val="288347629"/>
              </p:ext>
            </p:extLst>
          </p:nvPr>
        </p:nvGraphicFramePr>
        <p:xfrm>
          <a:off x="11081392" y="1763173"/>
          <a:ext cx="392416" cy="369332"/>
        </p:xfrm>
        <a:graphic>
          <a:graphicData uri="http://schemas.openxmlformats.org/presentationml/2006/ole">
            <mc:AlternateContent xmlns:mc="http://schemas.openxmlformats.org/markup-compatibility/2006">
              <mc:Choice xmlns:v="urn:schemas-microsoft-com:vml" Requires="v">
                <p:oleObj name="Equation" r:id="rId4" imgW="215640" imgH="203040" progId="Equation.DSMT4">
                  <p:embed/>
                </p:oleObj>
              </mc:Choice>
              <mc:Fallback>
                <p:oleObj name="Equation" r:id="rId4" imgW="215640" imgH="203040" progId="Equation.DSMT4">
                  <p:embed/>
                  <p:pic>
                    <p:nvPicPr>
                      <p:cNvPr id="0" name=""/>
                      <p:cNvPicPr/>
                      <p:nvPr/>
                    </p:nvPicPr>
                    <p:blipFill>
                      <a:blip r:embed="rId5"/>
                      <a:stretch>
                        <a:fillRect/>
                      </a:stretch>
                    </p:blipFill>
                    <p:spPr>
                      <a:xfrm>
                        <a:off x="11081392" y="1763173"/>
                        <a:ext cx="392416" cy="369332"/>
                      </a:xfrm>
                      <a:prstGeom prst="rect">
                        <a:avLst/>
                      </a:prstGeom>
                    </p:spPr>
                  </p:pic>
                </p:oleObj>
              </mc:Fallback>
            </mc:AlternateContent>
          </a:graphicData>
        </a:graphic>
      </p:graphicFrame>
      <p:sp>
        <p:nvSpPr>
          <p:cNvPr id="9" name="文本框 8">
            <a:extLst>
              <a:ext uri="{FF2B5EF4-FFF2-40B4-BE49-F238E27FC236}">
                <a16:creationId xmlns:a16="http://schemas.microsoft.com/office/drawing/2014/main" id="{7B8F9ED4-CC6E-489A-AAA1-8B3CB563B0FA}"/>
              </a:ext>
            </a:extLst>
          </p:cNvPr>
          <p:cNvSpPr txBox="1"/>
          <p:nvPr/>
        </p:nvSpPr>
        <p:spPr>
          <a:xfrm>
            <a:off x="343523" y="2341902"/>
            <a:ext cx="11346873" cy="2031325"/>
          </a:xfrm>
          <a:prstGeom prst="rect">
            <a:avLst/>
          </a:prstGeom>
          <a:noFill/>
        </p:spPr>
        <p:txBody>
          <a:bodyPr wrap="square" rtlCol="0">
            <a:spAutoFit/>
          </a:bodyPr>
          <a:lstStyle/>
          <a:p>
            <a:r>
              <a:rPr lang="zh-CN" altLang="en-US" dirty="0"/>
              <a:t>上式将热平衡状态下</a:t>
            </a:r>
            <a:r>
              <a:rPr lang="en-US" altLang="zh-CN" dirty="0"/>
              <a:t>p</a:t>
            </a:r>
            <a:r>
              <a:rPr lang="zh-CN" altLang="en-US" dirty="0"/>
              <a:t>区内少子电子的浓度与</a:t>
            </a:r>
            <a:r>
              <a:rPr lang="en-US" altLang="zh-CN" dirty="0"/>
              <a:t>n</a:t>
            </a:r>
            <a:r>
              <a:rPr lang="zh-CN" altLang="en-US" dirty="0"/>
              <a:t>区内多子电子的浓度联系在了一起。</a:t>
            </a:r>
            <a:endParaRPr lang="en-US" altLang="zh-CN" dirty="0"/>
          </a:p>
          <a:p>
            <a:pPr algn="just"/>
            <a:r>
              <a:rPr lang="zh-CN" altLang="en-US" dirty="0"/>
              <a:t>        当</a:t>
            </a:r>
            <a:r>
              <a:rPr lang="en-US" altLang="zh-CN" dirty="0"/>
              <a:t>p</a:t>
            </a:r>
            <a:r>
              <a:rPr lang="zh-CN" altLang="en-US" dirty="0"/>
              <a:t>区相对于</a:t>
            </a:r>
            <a:r>
              <a:rPr lang="en-US" altLang="zh-CN" dirty="0"/>
              <a:t>n</a:t>
            </a:r>
            <a:r>
              <a:rPr lang="zh-CN" altLang="en-US" dirty="0"/>
              <a:t>区加正电压</a:t>
            </a:r>
            <a:r>
              <a:rPr lang="en-US" altLang="zh-CN" dirty="0"/>
              <a:t>,</a:t>
            </a:r>
            <a:r>
              <a:rPr lang="en-US" altLang="zh-CN" dirty="0" err="1"/>
              <a:t>pn</a:t>
            </a:r>
            <a:r>
              <a:rPr lang="zh-CN" altLang="en-US" dirty="0"/>
              <a:t>结内的势垒降低了。图</a:t>
            </a:r>
            <a:r>
              <a:rPr lang="en-US" altLang="zh-CN" dirty="0"/>
              <a:t>3(a)</a:t>
            </a:r>
            <a:r>
              <a:rPr lang="zh-CN" altLang="en-US" dirty="0"/>
              <a:t>所示为外加偏压为</a:t>
            </a:r>
            <a:r>
              <a:rPr lang="en-US" altLang="zh-CN" dirty="0" err="1"/>
              <a:t>V</a:t>
            </a:r>
            <a:r>
              <a:rPr lang="en-US" altLang="zh-CN" baseline="-25000" dirty="0" err="1"/>
              <a:t>a</a:t>
            </a:r>
            <a:r>
              <a:rPr lang="zh-CN" altLang="en-US" dirty="0"/>
              <a:t>时的</a:t>
            </a:r>
            <a:r>
              <a:rPr lang="en-US" altLang="zh-CN" dirty="0" err="1"/>
              <a:t>pn</a:t>
            </a:r>
            <a:r>
              <a:rPr lang="zh-CN" altLang="en-US" dirty="0"/>
              <a:t>结。电中性的</a:t>
            </a:r>
            <a:r>
              <a:rPr lang="en-US" altLang="zh-CN" dirty="0"/>
              <a:t>p</a:t>
            </a:r>
            <a:r>
              <a:rPr lang="zh-CN" altLang="en-US" dirty="0"/>
              <a:t>区与</a:t>
            </a:r>
            <a:r>
              <a:rPr lang="en-US" altLang="zh-CN" dirty="0"/>
              <a:t>n</a:t>
            </a:r>
            <a:r>
              <a:rPr lang="zh-CN" altLang="en-US" dirty="0"/>
              <a:t>区内的电场通常很小。所有的电压降都落在了</a:t>
            </a:r>
            <a:r>
              <a:rPr lang="en-US" altLang="zh-CN" dirty="0" err="1"/>
              <a:t>pn</a:t>
            </a:r>
            <a:r>
              <a:rPr lang="zh-CN" altLang="en-US" dirty="0"/>
              <a:t>结区域。外加电场</a:t>
            </a:r>
            <a:r>
              <a:rPr lang="en-US" altLang="zh-CN" dirty="0" err="1"/>
              <a:t>E</a:t>
            </a:r>
            <a:r>
              <a:rPr lang="en-US" altLang="zh-CN" baseline="-25000" dirty="0" err="1"/>
              <a:t>app</a:t>
            </a:r>
            <a:r>
              <a:rPr lang="zh-CN" altLang="en-US" dirty="0"/>
              <a:t>的方向与热平衡空间电荷区电场的方向相反，所以空间电荷区的净电场要低于热平衡状态的值。热平衡状态时扩散力与电场力的精确平衡被打乱了。阻止多数载流子穿越空间电荷区的电场被削弱；</a:t>
            </a:r>
            <a:r>
              <a:rPr lang="en-US" altLang="zh-CN" dirty="0"/>
              <a:t>n</a:t>
            </a:r>
            <a:r>
              <a:rPr lang="zh-CN" altLang="en-US" dirty="0"/>
              <a:t>区内的多子电子被注入</a:t>
            </a:r>
            <a:r>
              <a:rPr lang="en-US" altLang="zh-CN" dirty="0"/>
              <a:t>p</a:t>
            </a:r>
            <a:r>
              <a:rPr lang="zh-CN" altLang="en-US" dirty="0"/>
              <a:t>区，而</a:t>
            </a:r>
            <a:r>
              <a:rPr lang="en-US" altLang="zh-CN" dirty="0"/>
              <a:t>p</a:t>
            </a:r>
            <a:r>
              <a:rPr lang="zh-CN" altLang="en-US" dirty="0"/>
              <a:t>区内的多子空穴被注入</a:t>
            </a:r>
            <a:r>
              <a:rPr lang="en-US" altLang="zh-CN" dirty="0"/>
              <a:t>n</a:t>
            </a:r>
            <a:r>
              <a:rPr lang="zh-CN" altLang="en-US" dirty="0"/>
              <a:t>区。只要外加偏压</a:t>
            </a:r>
            <a:r>
              <a:rPr lang="en-US" altLang="zh-CN" dirty="0" err="1"/>
              <a:t>V</a:t>
            </a:r>
            <a:r>
              <a:rPr lang="en-US" altLang="zh-CN" baseline="-25000" dirty="0" err="1"/>
              <a:t>a</a:t>
            </a:r>
            <a:r>
              <a:rPr lang="zh-CN" altLang="en-US" dirty="0"/>
              <a:t>存在</a:t>
            </a:r>
            <a:r>
              <a:rPr lang="en-US" altLang="zh-CN" dirty="0"/>
              <a:t>,</a:t>
            </a:r>
            <a:r>
              <a:rPr lang="zh-CN" altLang="en-US" dirty="0"/>
              <a:t>穿越空间电荷区的载流子注入就一直持续，</a:t>
            </a:r>
            <a:r>
              <a:rPr lang="en-US" altLang="zh-CN" dirty="0" err="1"/>
              <a:t>pn</a:t>
            </a:r>
            <a:r>
              <a:rPr lang="en-US" altLang="zh-CN" dirty="0"/>
              <a:t> </a:t>
            </a:r>
            <a:r>
              <a:rPr lang="zh-CN" altLang="en-US" dirty="0"/>
              <a:t>结内就形成了一股电流。上述偏置条件称为正偏；正偏</a:t>
            </a:r>
            <a:r>
              <a:rPr lang="en-US" altLang="zh-CN" dirty="0" err="1"/>
              <a:t>pn</a:t>
            </a:r>
            <a:r>
              <a:rPr lang="zh-CN" altLang="en-US" dirty="0"/>
              <a:t>结的能带图如图</a:t>
            </a:r>
            <a:r>
              <a:rPr lang="en-US" altLang="zh-CN" dirty="0"/>
              <a:t>3(b)</a:t>
            </a:r>
            <a:r>
              <a:rPr lang="zh-CN" altLang="en-US" dirty="0"/>
              <a:t>所示。</a:t>
            </a:r>
          </a:p>
        </p:txBody>
      </p:sp>
      <p:pic>
        <p:nvPicPr>
          <p:cNvPr id="10" name="图片 9">
            <a:extLst>
              <a:ext uri="{FF2B5EF4-FFF2-40B4-BE49-F238E27FC236}">
                <a16:creationId xmlns:a16="http://schemas.microsoft.com/office/drawing/2014/main" id="{23FD3293-BB58-4580-AE7A-168FDD51323C}"/>
              </a:ext>
            </a:extLst>
          </p:cNvPr>
          <p:cNvPicPr>
            <a:picLocks noChangeAspect="1"/>
          </p:cNvPicPr>
          <p:nvPr/>
        </p:nvPicPr>
        <p:blipFill>
          <a:blip r:embed="rId6"/>
          <a:stretch>
            <a:fillRect/>
          </a:stretch>
        </p:blipFill>
        <p:spPr>
          <a:xfrm>
            <a:off x="3004475" y="4373227"/>
            <a:ext cx="6096458" cy="1684776"/>
          </a:xfrm>
          <a:prstGeom prst="rect">
            <a:avLst/>
          </a:prstGeom>
        </p:spPr>
      </p:pic>
      <p:sp>
        <p:nvSpPr>
          <p:cNvPr id="11" name="矩形 10">
            <a:extLst>
              <a:ext uri="{FF2B5EF4-FFF2-40B4-BE49-F238E27FC236}">
                <a16:creationId xmlns:a16="http://schemas.microsoft.com/office/drawing/2014/main" id="{5E94394D-D830-44F5-894B-F65268BA6500}"/>
              </a:ext>
            </a:extLst>
          </p:cNvPr>
          <p:cNvSpPr/>
          <p:nvPr/>
        </p:nvSpPr>
        <p:spPr>
          <a:xfrm>
            <a:off x="2517135" y="6096775"/>
            <a:ext cx="7157729" cy="307777"/>
          </a:xfrm>
          <a:prstGeom prst="rect">
            <a:avLst/>
          </a:prstGeom>
          <a:noFill/>
        </p:spPr>
        <p:txBody>
          <a:bodyPr wrap="none" lIns="91440" tIns="45720" rIns="91440" bIns="45720">
            <a:spAutoFit/>
          </a:bodyPr>
          <a:lstStyle/>
          <a:p>
            <a:pPr algn="ctr"/>
            <a:r>
              <a:rPr lang="zh-CN" altLang="en-US" sz="1400" dirty="0">
                <a:ln w="0"/>
                <a:effectLst>
                  <a:outerShdw blurRad="38100" dist="19050" dir="2700000" algn="tl" rotWithShape="0">
                    <a:schemeClr val="dk1">
                      <a:alpha val="40000"/>
                    </a:schemeClr>
                  </a:outerShdw>
                </a:effectLst>
              </a:rPr>
              <a:t>图</a:t>
            </a:r>
            <a:r>
              <a:rPr lang="en-US" altLang="zh-CN" sz="1400" dirty="0">
                <a:ln w="0"/>
                <a:effectLst>
                  <a:outerShdw blurRad="38100" dist="19050" dir="2700000" algn="tl" rotWithShape="0">
                    <a:schemeClr val="dk1">
                      <a:alpha val="40000"/>
                    </a:schemeClr>
                  </a:outerShdw>
                </a:effectLst>
              </a:rPr>
              <a:t>3</a:t>
            </a:r>
            <a:r>
              <a:rPr lang="zh-CN" altLang="en-US" sz="1400" dirty="0">
                <a:ln w="0"/>
                <a:effectLst>
                  <a:outerShdw blurRad="38100" dist="19050" dir="2700000" algn="tl" rotWithShape="0">
                    <a:schemeClr val="dk1">
                      <a:alpha val="40000"/>
                    </a:schemeClr>
                  </a:outerShdw>
                </a:effectLst>
              </a:rPr>
              <a:t>：</a:t>
            </a:r>
            <a:r>
              <a:rPr lang="en-US" altLang="zh-CN" sz="1400" dirty="0">
                <a:ln w="0"/>
                <a:effectLst>
                  <a:outerShdw blurRad="38100" dist="19050" dir="2700000" algn="tl" rotWithShape="0">
                    <a:schemeClr val="dk1">
                      <a:alpha val="40000"/>
                    </a:schemeClr>
                  </a:outerShdw>
                </a:effectLst>
              </a:rPr>
              <a:t>(a)</a:t>
            </a:r>
            <a:r>
              <a:rPr lang="zh-CN" altLang="en-US" sz="1400" dirty="0">
                <a:ln w="0"/>
                <a:effectLst>
                  <a:outerShdw blurRad="38100" dist="19050" dir="2700000" algn="tl" rotWithShape="0">
                    <a:schemeClr val="dk1">
                      <a:alpha val="40000"/>
                    </a:schemeClr>
                  </a:outerShdw>
                </a:effectLst>
              </a:rPr>
              <a:t>标明了由正向电压感生的电场和空间电荷区电场方向的正偏</a:t>
            </a:r>
            <a:r>
              <a:rPr lang="en-US" altLang="zh-CN" sz="1400" dirty="0" err="1">
                <a:ln w="0"/>
                <a:effectLst>
                  <a:outerShdw blurRad="38100" dist="19050" dir="2700000" algn="tl" rotWithShape="0">
                    <a:schemeClr val="dk1">
                      <a:alpha val="40000"/>
                    </a:schemeClr>
                  </a:outerShdw>
                </a:effectLst>
              </a:rPr>
              <a:t>pn</a:t>
            </a:r>
            <a:r>
              <a:rPr lang="zh-CN" altLang="en-US" sz="1400" dirty="0">
                <a:ln w="0"/>
                <a:effectLst>
                  <a:outerShdw blurRad="38100" dist="19050" dir="2700000" algn="tl" rotWithShape="0">
                    <a:schemeClr val="dk1">
                      <a:alpha val="40000"/>
                    </a:schemeClr>
                  </a:outerShdw>
                </a:effectLst>
              </a:rPr>
              <a:t>结</a:t>
            </a:r>
            <a:r>
              <a:rPr lang="en-US" altLang="zh-CN" sz="1400" dirty="0">
                <a:ln w="0"/>
                <a:effectLst>
                  <a:outerShdw blurRad="38100" dist="19050" dir="2700000" algn="tl" rotWithShape="0">
                    <a:schemeClr val="dk1">
                      <a:alpha val="40000"/>
                    </a:schemeClr>
                  </a:outerShdw>
                </a:effectLst>
              </a:rPr>
              <a:t>;(b)</a:t>
            </a:r>
            <a:r>
              <a:rPr lang="zh-CN" altLang="en-US" sz="1400" dirty="0">
                <a:ln w="0"/>
                <a:effectLst>
                  <a:outerShdw blurRad="38100" dist="19050" dir="2700000" algn="tl" rotWithShape="0">
                    <a:schemeClr val="dk1">
                      <a:alpha val="40000"/>
                    </a:schemeClr>
                  </a:outerShdw>
                </a:effectLst>
              </a:rPr>
              <a:t>相应的能带图</a:t>
            </a:r>
            <a:endParaRPr lang="zh-CN" altLang="en-US" sz="1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041296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44578B6-51D6-4929-876B-A45C4F83675F}"/>
              </a:ext>
            </a:extLst>
          </p:cNvPr>
          <p:cNvSpPr>
            <a:spLocks noGrp="1"/>
          </p:cNvSpPr>
          <p:nvPr>
            <p:ph type="sldNum" sz="quarter" idx="12"/>
          </p:nvPr>
        </p:nvSpPr>
        <p:spPr/>
        <p:txBody>
          <a:bodyPr/>
          <a:lstStyle/>
          <a:p>
            <a:pPr>
              <a:defRPr/>
            </a:pPr>
            <a:fld id="{DB5F2CA6-A39B-48F7-84D1-AF91BD07D67D}" type="slidenum">
              <a:rPr lang="en-US" altLang="zh-CN" smtClean="0"/>
              <a:pPr>
                <a:defRPr/>
              </a:pPr>
              <a:t>7</a:t>
            </a:fld>
            <a:endParaRPr lang="en-US" altLang="zh-CN"/>
          </a:p>
        </p:txBody>
      </p:sp>
      <p:sp>
        <p:nvSpPr>
          <p:cNvPr id="5" name="矩形 4">
            <a:extLst>
              <a:ext uri="{FF2B5EF4-FFF2-40B4-BE49-F238E27FC236}">
                <a16:creationId xmlns:a16="http://schemas.microsoft.com/office/drawing/2014/main" id="{2F61371A-ED3F-4F6F-B0B9-178768001FFB}"/>
              </a:ext>
            </a:extLst>
          </p:cNvPr>
          <p:cNvSpPr/>
          <p:nvPr/>
        </p:nvSpPr>
        <p:spPr>
          <a:xfrm>
            <a:off x="187684" y="732086"/>
            <a:ext cx="1620957" cy="523220"/>
          </a:xfrm>
          <a:prstGeom prst="rect">
            <a:avLst/>
          </a:prstGeom>
          <a:noFill/>
        </p:spPr>
        <p:txBody>
          <a:bodyPr wrap="none" lIns="91440" tIns="45720" rIns="91440" bIns="45720">
            <a:spAutoFit/>
          </a:bodyPr>
          <a:lstStyle/>
          <a:p>
            <a:pPr algn="ctr"/>
            <a:r>
              <a:rPr lang="zh-CN" altLang="en-US" sz="2800" dirty="0">
                <a:ln w="0"/>
                <a:solidFill>
                  <a:schemeClr val="accent1"/>
                </a:solidFill>
                <a:effectLst>
                  <a:outerShdw blurRad="38100" dist="25400" dir="5400000" algn="ctr" rotWithShape="0">
                    <a:srgbClr val="6E747A">
                      <a:alpha val="43000"/>
                    </a:srgbClr>
                  </a:outerShdw>
                </a:effectLst>
              </a:rPr>
              <a:t>边界条件</a:t>
            </a:r>
            <a:endParaRPr lang="zh-CN" altLang="en-US" sz="2800" b="0" cap="none" spc="0" dirty="0">
              <a:ln w="0"/>
              <a:solidFill>
                <a:schemeClr val="accent1"/>
              </a:solidFill>
              <a:effectLst>
                <a:outerShdw blurRad="38100" dist="25400" dir="5400000" algn="ctr" rotWithShape="0">
                  <a:srgbClr val="6E747A">
                    <a:alpha val="43000"/>
                  </a:srgbClr>
                </a:outerShdw>
              </a:effectLst>
            </a:endParaRPr>
          </a:p>
        </p:txBody>
      </p:sp>
      <p:sp>
        <p:nvSpPr>
          <p:cNvPr id="6" name="文本框 5">
            <a:extLst>
              <a:ext uri="{FF2B5EF4-FFF2-40B4-BE49-F238E27FC236}">
                <a16:creationId xmlns:a16="http://schemas.microsoft.com/office/drawing/2014/main" id="{E3AC0E73-7D60-427A-9793-11DAF7DAEEAB}"/>
              </a:ext>
            </a:extLst>
          </p:cNvPr>
          <p:cNvSpPr txBox="1"/>
          <p:nvPr/>
        </p:nvSpPr>
        <p:spPr>
          <a:xfrm>
            <a:off x="301336" y="1255306"/>
            <a:ext cx="11398828" cy="369332"/>
          </a:xfrm>
          <a:prstGeom prst="rect">
            <a:avLst/>
          </a:prstGeom>
          <a:noFill/>
        </p:spPr>
        <p:txBody>
          <a:bodyPr wrap="square" rtlCol="0">
            <a:spAutoFit/>
          </a:bodyPr>
          <a:lstStyle/>
          <a:p>
            <a:r>
              <a:rPr lang="en-US" altLang="zh-CN" dirty="0"/>
              <a:t>        </a:t>
            </a:r>
            <a:r>
              <a:rPr lang="zh-CN" altLang="en-US" dirty="0"/>
              <a:t>正偏时，式</a:t>
            </a:r>
            <a:r>
              <a:rPr lang="en-US" altLang="zh-CN" dirty="0"/>
              <a:t>(5)</a:t>
            </a:r>
            <a:r>
              <a:rPr lang="zh-CN" altLang="en-US" dirty="0"/>
              <a:t>中的</a:t>
            </a:r>
            <a:r>
              <a:rPr lang="en-US" altLang="zh-CN" dirty="0" err="1"/>
              <a:t>V</a:t>
            </a:r>
            <a:r>
              <a:rPr lang="en-US" altLang="zh-CN" baseline="-25000" dirty="0" err="1"/>
              <a:t>bi</a:t>
            </a:r>
            <a:r>
              <a:rPr lang="zh-CN" altLang="en-US" dirty="0"/>
              <a:t>可以由</a:t>
            </a:r>
            <a:r>
              <a:rPr lang="en-US" altLang="zh-CN" dirty="0"/>
              <a:t>(	        )</a:t>
            </a:r>
            <a:r>
              <a:rPr lang="zh-CN" altLang="en-US" dirty="0"/>
              <a:t>代替，那么式</a:t>
            </a:r>
            <a:r>
              <a:rPr lang="en-US" altLang="zh-CN" dirty="0"/>
              <a:t>(5)</a:t>
            </a:r>
            <a:r>
              <a:rPr lang="zh-CN" altLang="en-US" dirty="0"/>
              <a:t>可写为</a:t>
            </a:r>
          </a:p>
        </p:txBody>
      </p:sp>
      <p:graphicFrame>
        <p:nvGraphicFramePr>
          <p:cNvPr id="7" name="对象 6">
            <a:extLst>
              <a:ext uri="{FF2B5EF4-FFF2-40B4-BE49-F238E27FC236}">
                <a16:creationId xmlns:a16="http://schemas.microsoft.com/office/drawing/2014/main" id="{40FF07B4-E768-4B9A-967F-BD2AAD4697AD}"/>
              </a:ext>
            </a:extLst>
          </p:cNvPr>
          <p:cNvGraphicFramePr>
            <a:graphicFrameLocks noChangeAspect="1"/>
          </p:cNvGraphicFramePr>
          <p:nvPr>
            <p:extLst>
              <p:ext uri="{D42A27DB-BD31-4B8C-83A1-F6EECF244321}">
                <p14:modId xmlns:p14="http://schemas.microsoft.com/office/powerpoint/2010/main" val="3075002776"/>
              </p:ext>
            </p:extLst>
          </p:nvPr>
        </p:nvGraphicFramePr>
        <p:xfrm>
          <a:off x="3757469" y="1255306"/>
          <a:ext cx="759182" cy="369332"/>
        </p:xfrm>
        <a:graphic>
          <a:graphicData uri="http://schemas.openxmlformats.org/presentationml/2006/ole">
            <mc:AlternateContent xmlns:mc="http://schemas.openxmlformats.org/markup-compatibility/2006">
              <mc:Choice xmlns:v="urn:schemas-microsoft-com:vml" Requires="v">
                <p:oleObj name="Equation" r:id="rId2" imgW="469800" imgH="228600" progId="Equation.DSMT4">
                  <p:embed/>
                </p:oleObj>
              </mc:Choice>
              <mc:Fallback>
                <p:oleObj name="Equation" r:id="rId2" imgW="469800" imgH="228600" progId="Equation.DSMT4">
                  <p:embed/>
                  <p:pic>
                    <p:nvPicPr>
                      <p:cNvPr id="0" name=""/>
                      <p:cNvPicPr/>
                      <p:nvPr/>
                    </p:nvPicPr>
                    <p:blipFill>
                      <a:blip r:embed="rId3"/>
                      <a:stretch>
                        <a:fillRect/>
                      </a:stretch>
                    </p:blipFill>
                    <p:spPr>
                      <a:xfrm>
                        <a:off x="3757469" y="1255306"/>
                        <a:ext cx="759182" cy="369332"/>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315B7F96-44E5-4CAA-BEFB-BBD9A171700E}"/>
              </a:ext>
            </a:extLst>
          </p:cNvPr>
          <p:cNvGraphicFramePr>
            <a:graphicFrameLocks noChangeAspect="1"/>
          </p:cNvGraphicFramePr>
          <p:nvPr>
            <p:extLst>
              <p:ext uri="{D42A27DB-BD31-4B8C-83A1-F6EECF244321}">
                <p14:modId xmlns:p14="http://schemas.microsoft.com/office/powerpoint/2010/main" val="902178212"/>
              </p:ext>
            </p:extLst>
          </p:nvPr>
        </p:nvGraphicFramePr>
        <p:xfrm>
          <a:off x="3554693" y="1624638"/>
          <a:ext cx="5082613" cy="603682"/>
        </p:xfrm>
        <a:graphic>
          <a:graphicData uri="http://schemas.openxmlformats.org/presentationml/2006/ole">
            <mc:AlternateContent xmlns:mc="http://schemas.openxmlformats.org/markup-compatibility/2006">
              <mc:Choice xmlns:v="urn:schemas-microsoft-com:vml" Requires="v">
                <p:oleObj name="Equation" r:id="rId4" imgW="3314520" imgH="393480" progId="Equation.DSMT4">
                  <p:embed/>
                </p:oleObj>
              </mc:Choice>
              <mc:Fallback>
                <p:oleObj name="Equation" r:id="rId4" imgW="3314520" imgH="393480" progId="Equation.DSMT4">
                  <p:embed/>
                  <p:pic>
                    <p:nvPicPr>
                      <p:cNvPr id="0" name=""/>
                      <p:cNvPicPr/>
                      <p:nvPr/>
                    </p:nvPicPr>
                    <p:blipFill>
                      <a:blip r:embed="rId5"/>
                      <a:stretch>
                        <a:fillRect/>
                      </a:stretch>
                    </p:blipFill>
                    <p:spPr>
                      <a:xfrm>
                        <a:off x="3554693" y="1624638"/>
                        <a:ext cx="5082613" cy="603682"/>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6DF58D4B-C71B-40B3-9FD4-02405B5BD44A}"/>
              </a:ext>
            </a:extLst>
          </p:cNvPr>
          <p:cNvGraphicFramePr>
            <a:graphicFrameLocks noChangeAspect="1"/>
          </p:cNvGraphicFramePr>
          <p:nvPr>
            <p:extLst>
              <p:ext uri="{D42A27DB-BD31-4B8C-83A1-F6EECF244321}">
                <p14:modId xmlns:p14="http://schemas.microsoft.com/office/powerpoint/2010/main" val="258947552"/>
              </p:ext>
            </p:extLst>
          </p:nvPr>
        </p:nvGraphicFramePr>
        <p:xfrm>
          <a:off x="11069851" y="1741813"/>
          <a:ext cx="415498" cy="369331"/>
        </p:xfrm>
        <a:graphic>
          <a:graphicData uri="http://schemas.openxmlformats.org/presentationml/2006/ole">
            <mc:AlternateContent xmlns:mc="http://schemas.openxmlformats.org/markup-compatibility/2006">
              <mc:Choice xmlns:v="urn:schemas-microsoft-com:vml" Requires="v">
                <p:oleObj name="Equation" r:id="rId6" imgW="228600" imgH="203040" progId="Equation.DSMT4">
                  <p:embed/>
                </p:oleObj>
              </mc:Choice>
              <mc:Fallback>
                <p:oleObj name="Equation" r:id="rId6" imgW="228600" imgH="203040" progId="Equation.DSMT4">
                  <p:embed/>
                  <p:pic>
                    <p:nvPicPr>
                      <p:cNvPr id="0" name=""/>
                      <p:cNvPicPr/>
                      <p:nvPr/>
                    </p:nvPicPr>
                    <p:blipFill>
                      <a:blip r:embed="rId7"/>
                      <a:stretch>
                        <a:fillRect/>
                      </a:stretch>
                    </p:blipFill>
                    <p:spPr>
                      <a:xfrm>
                        <a:off x="11069851" y="1741813"/>
                        <a:ext cx="415498" cy="369331"/>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1151CD39-31F6-4C24-B736-0CFBF6145338}"/>
              </a:ext>
            </a:extLst>
          </p:cNvPr>
          <p:cNvSpPr txBox="1"/>
          <p:nvPr/>
        </p:nvSpPr>
        <p:spPr>
          <a:xfrm>
            <a:off x="469321" y="2228319"/>
            <a:ext cx="11253355" cy="646331"/>
          </a:xfrm>
          <a:prstGeom prst="rect">
            <a:avLst/>
          </a:prstGeom>
          <a:noFill/>
        </p:spPr>
        <p:txBody>
          <a:bodyPr wrap="square" rtlCol="0">
            <a:spAutoFit/>
          </a:bodyPr>
          <a:lstStyle/>
          <a:p>
            <a:r>
              <a:rPr lang="zh-CN" altLang="en-US" dirty="0"/>
              <a:t>由于我们采用了小注入假设，多子电子的浓度</a:t>
            </a:r>
            <a:r>
              <a:rPr lang="en-US" altLang="zh-CN" dirty="0"/>
              <a:t>n</a:t>
            </a:r>
            <a:r>
              <a:rPr lang="en-US" altLang="zh-CN" baseline="-25000" dirty="0"/>
              <a:t>n0</a:t>
            </a:r>
            <a:r>
              <a:rPr lang="zh-CN" altLang="en-US" dirty="0"/>
              <a:t>基本上保持不变。但是少子浓度</a:t>
            </a:r>
            <a:r>
              <a:rPr lang="en-US" altLang="zh-CN" dirty="0"/>
              <a:t>n</a:t>
            </a:r>
            <a:r>
              <a:rPr lang="en-US" altLang="zh-CN" baseline="-25000" dirty="0"/>
              <a:t>p</a:t>
            </a:r>
            <a:r>
              <a:rPr lang="zh-CN" altLang="en-US" dirty="0"/>
              <a:t>会偏离其热平衡值</a:t>
            </a:r>
            <a:r>
              <a:rPr lang="en-US" altLang="zh-CN" dirty="0"/>
              <a:t>n</a:t>
            </a:r>
            <a:r>
              <a:rPr lang="en-US" altLang="zh-CN" baseline="-25000" dirty="0"/>
              <a:t>p0</a:t>
            </a:r>
            <a:r>
              <a:rPr lang="zh-CN" altLang="en-US" dirty="0"/>
              <a:t>好几个数量级。由式</a:t>
            </a:r>
            <a:r>
              <a:rPr lang="en-US" altLang="zh-CN" dirty="0"/>
              <a:t>(5)</a:t>
            </a:r>
            <a:r>
              <a:rPr lang="zh-CN" altLang="en-US" dirty="0"/>
              <a:t>和式</a:t>
            </a:r>
            <a:r>
              <a:rPr lang="en-US" altLang="zh-CN" dirty="0"/>
              <a:t>(6)</a:t>
            </a:r>
            <a:r>
              <a:rPr lang="zh-CN" altLang="en-US" dirty="0"/>
              <a:t>，可以写出</a:t>
            </a:r>
          </a:p>
        </p:txBody>
      </p:sp>
      <p:graphicFrame>
        <p:nvGraphicFramePr>
          <p:cNvPr id="11" name="对象 10">
            <a:extLst>
              <a:ext uri="{FF2B5EF4-FFF2-40B4-BE49-F238E27FC236}">
                <a16:creationId xmlns:a16="http://schemas.microsoft.com/office/drawing/2014/main" id="{C6777293-16CF-458B-853B-A245F494C8F0}"/>
              </a:ext>
            </a:extLst>
          </p:cNvPr>
          <p:cNvGraphicFramePr>
            <a:graphicFrameLocks noChangeAspect="1"/>
          </p:cNvGraphicFramePr>
          <p:nvPr>
            <p:extLst>
              <p:ext uri="{D42A27DB-BD31-4B8C-83A1-F6EECF244321}">
                <p14:modId xmlns:p14="http://schemas.microsoft.com/office/powerpoint/2010/main" val="1513379775"/>
              </p:ext>
            </p:extLst>
          </p:nvPr>
        </p:nvGraphicFramePr>
        <p:xfrm>
          <a:off x="5134174" y="2825318"/>
          <a:ext cx="1733152" cy="603682"/>
        </p:xfrm>
        <a:graphic>
          <a:graphicData uri="http://schemas.openxmlformats.org/presentationml/2006/ole">
            <mc:AlternateContent xmlns:mc="http://schemas.openxmlformats.org/markup-compatibility/2006">
              <mc:Choice xmlns:v="urn:schemas-microsoft-com:vml" Requires="v">
                <p:oleObj name="Equation" r:id="rId8" imgW="1130040" imgH="393480" progId="Equation.DSMT4">
                  <p:embed/>
                </p:oleObj>
              </mc:Choice>
              <mc:Fallback>
                <p:oleObj name="Equation" r:id="rId8" imgW="1130040" imgH="393480" progId="Equation.DSMT4">
                  <p:embed/>
                  <p:pic>
                    <p:nvPicPr>
                      <p:cNvPr id="0" name=""/>
                      <p:cNvPicPr/>
                      <p:nvPr/>
                    </p:nvPicPr>
                    <p:blipFill>
                      <a:blip r:embed="rId9"/>
                      <a:stretch>
                        <a:fillRect/>
                      </a:stretch>
                    </p:blipFill>
                    <p:spPr>
                      <a:xfrm>
                        <a:off x="5134174" y="2825318"/>
                        <a:ext cx="1733152" cy="603682"/>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72A8EA8B-4CB8-4840-95A9-FEC862B8C09C}"/>
              </a:ext>
            </a:extLst>
          </p:cNvPr>
          <p:cNvGraphicFramePr>
            <a:graphicFrameLocks noChangeAspect="1"/>
          </p:cNvGraphicFramePr>
          <p:nvPr>
            <p:extLst>
              <p:ext uri="{D42A27DB-BD31-4B8C-83A1-F6EECF244321}">
                <p14:modId xmlns:p14="http://schemas.microsoft.com/office/powerpoint/2010/main" val="2984189506"/>
              </p:ext>
            </p:extLst>
          </p:nvPr>
        </p:nvGraphicFramePr>
        <p:xfrm>
          <a:off x="11089560" y="2951253"/>
          <a:ext cx="395789" cy="351812"/>
        </p:xfrm>
        <a:graphic>
          <a:graphicData uri="http://schemas.openxmlformats.org/presentationml/2006/ole">
            <mc:AlternateContent xmlns:mc="http://schemas.openxmlformats.org/markup-compatibility/2006">
              <mc:Choice xmlns:v="urn:schemas-microsoft-com:vml" Requires="v">
                <p:oleObj name="Equation" r:id="rId10" imgW="228600" imgH="203040" progId="Equation.DSMT4">
                  <p:embed/>
                </p:oleObj>
              </mc:Choice>
              <mc:Fallback>
                <p:oleObj name="Equation" r:id="rId10" imgW="228600" imgH="203040" progId="Equation.DSMT4">
                  <p:embed/>
                  <p:pic>
                    <p:nvPicPr>
                      <p:cNvPr id="0" name=""/>
                      <p:cNvPicPr/>
                      <p:nvPr/>
                    </p:nvPicPr>
                    <p:blipFill>
                      <a:blip r:embed="rId11"/>
                      <a:stretch>
                        <a:fillRect/>
                      </a:stretch>
                    </p:blipFill>
                    <p:spPr>
                      <a:xfrm>
                        <a:off x="11089560" y="2951253"/>
                        <a:ext cx="395789" cy="351812"/>
                      </a:xfrm>
                      <a:prstGeom prst="rect">
                        <a:avLst/>
                      </a:prstGeom>
                    </p:spPr>
                  </p:pic>
                </p:oleObj>
              </mc:Fallback>
            </mc:AlternateContent>
          </a:graphicData>
        </a:graphic>
      </p:graphicFrame>
      <p:sp>
        <p:nvSpPr>
          <p:cNvPr id="13" name="文本框 12">
            <a:extLst>
              <a:ext uri="{FF2B5EF4-FFF2-40B4-BE49-F238E27FC236}">
                <a16:creationId xmlns:a16="http://schemas.microsoft.com/office/drawing/2014/main" id="{93A791A6-9373-4A81-B41A-11341A3303EE}"/>
              </a:ext>
            </a:extLst>
          </p:cNvPr>
          <p:cNvSpPr txBox="1"/>
          <p:nvPr/>
        </p:nvSpPr>
        <p:spPr>
          <a:xfrm>
            <a:off x="480576" y="3440669"/>
            <a:ext cx="11230843" cy="1754326"/>
          </a:xfrm>
          <a:prstGeom prst="rect">
            <a:avLst/>
          </a:prstGeom>
          <a:noFill/>
        </p:spPr>
        <p:txBody>
          <a:bodyPr wrap="square" rtlCol="0">
            <a:spAutoFit/>
          </a:bodyPr>
          <a:lstStyle/>
          <a:p>
            <a:pPr algn="just"/>
            <a:r>
              <a:rPr lang="zh-CN" altLang="en-US" dirty="0"/>
              <a:t>        当</a:t>
            </a:r>
            <a:r>
              <a:rPr lang="en-US" altLang="zh-CN" dirty="0" err="1"/>
              <a:t>pn</a:t>
            </a:r>
            <a:r>
              <a:rPr lang="zh-CN" altLang="en-US" dirty="0"/>
              <a:t>结外加正偏电压时</a:t>
            </a:r>
            <a:r>
              <a:rPr lang="en-US" altLang="zh-CN" dirty="0"/>
              <a:t>,</a:t>
            </a:r>
            <a:r>
              <a:rPr lang="zh-CN" altLang="en-US" dirty="0"/>
              <a:t>它就不会再处于热平衡状态。式</a:t>
            </a:r>
            <a:r>
              <a:rPr lang="en-US" altLang="zh-CN" dirty="0"/>
              <a:t>(7)</a:t>
            </a:r>
            <a:r>
              <a:rPr lang="zh-CN" altLang="en-US" dirty="0"/>
              <a:t>的左边为</a:t>
            </a:r>
            <a:r>
              <a:rPr lang="en-US" altLang="zh-CN" dirty="0"/>
              <a:t>p</a:t>
            </a:r>
            <a:r>
              <a:rPr lang="zh-CN" altLang="en-US" dirty="0"/>
              <a:t>区内少子电子的浓度，它比热平衡时点的值大很多。正偏电压降低了势垒，这样就使得</a:t>
            </a:r>
            <a:r>
              <a:rPr lang="en-US" altLang="zh-CN" dirty="0"/>
              <a:t>n</a:t>
            </a:r>
            <a:r>
              <a:rPr lang="zh-CN" altLang="en-US" dirty="0"/>
              <a:t>区内的多子可以穿过耗尽区而注入</a:t>
            </a:r>
            <a:r>
              <a:rPr lang="en-US" altLang="zh-CN" dirty="0"/>
              <a:t>p</a:t>
            </a:r>
            <a:r>
              <a:rPr lang="zh-CN" altLang="en-US" dirty="0"/>
              <a:t>区内，注入的电子增加了</a:t>
            </a:r>
            <a:r>
              <a:rPr lang="en-US" altLang="zh-CN" dirty="0"/>
              <a:t>p</a:t>
            </a:r>
            <a:r>
              <a:rPr lang="zh-CN" altLang="en-US" dirty="0"/>
              <a:t>区少子电子的浓度。也就是说，</a:t>
            </a:r>
            <a:r>
              <a:rPr lang="en-US" altLang="zh-CN" dirty="0"/>
              <a:t>p</a:t>
            </a:r>
            <a:r>
              <a:rPr lang="zh-CN" altLang="en-US" dirty="0"/>
              <a:t>区内形成了过剩少子电子。</a:t>
            </a:r>
            <a:endParaRPr lang="en-US" altLang="zh-CN" dirty="0"/>
          </a:p>
          <a:p>
            <a:pPr algn="just"/>
            <a:r>
              <a:rPr lang="en-US" altLang="zh-CN" dirty="0"/>
              <a:t>        </a:t>
            </a:r>
            <a:r>
              <a:rPr lang="zh-CN" altLang="en-US" dirty="0"/>
              <a:t>当电子注入</a:t>
            </a:r>
            <a:r>
              <a:rPr lang="en-US" altLang="zh-CN" dirty="0"/>
              <a:t>p</a:t>
            </a:r>
            <a:r>
              <a:rPr lang="zh-CN" altLang="en-US" dirty="0"/>
              <a:t>区时，这些过剩载流子服从扩散与复合过程。式</a:t>
            </a:r>
            <a:r>
              <a:rPr lang="en-US" altLang="zh-CN" dirty="0"/>
              <a:t>(7)</a:t>
            </a:r>
            <a:r>
              <a:rPr lang="zh-CN" altLang="en-US" dirty="0"/>
              <a:t>为</a:t>
            </a:r>
            <a:r>
              <a:rPr lang="en-US" altLang="zh-CN" dirty="0"/>
              <a:t>p</a:t>
            </a:r>
            <a:r>
              <a:rPr lang="zh-CN" altLang="en-US" dirty="0"/>
              <a:t>区内空间电荷区边缘的少子电子浓度的表达式。</a:t>
            </a:r>
            <a:endParaRPr lang="en-US" altLang="zh-CN" dirty="0"/>
          </a:p>
          <a:p>
            <a:pPr algn="just"/>
            <a:r>
              <a:rPr lang="en-US" altLang="zh-CN" dirty="0"/>
              <a:t>        </a:t>
            </a:r>
            <a:r>
              <a:rPr lang="zh-CN" altLang="en-US" dirty="0"/>
              <a:t>正偏电压下注入到</a:t>
            </a:r>
            <a:r>
              <a:rPr lang="en-US" altLang="zh-CN" dirty="0"/>
              <a:t>n</a:t>
            </a:r>
            <a:r>
              <a:rPr lang="zh-CN" altLang="en-US" dirty="0"/>
              <a:t>区内的</a:t>
            </a:r>
            <a:r>
              <a:rPr lang="en-US" altLang="zh-CN" dirty="0"/>
              <a:t>p</a:t>
            </a:r>
            <a:r>
              <a:rPr lang="zh-CN" altLang="en-US" dirty="0"/>
              <a:t>区多子空穴也经历了上述过程，可以写出</a:t>
            </a:r>
          </a:p>
        </p:txBody>
      </p:sp>
      <p:graphicFrame>
        <p:nvGraphicFramePr>
          <p:cNvPr id="14" name="对象 13">
            <a:extLst>
              <a:ext uri="{FF2B5EF4-FFF2-40B4-BE49-F238E27FC236}">
                <a16:creationId xmlns:a16="http://schemas.microsoft.com/office/drawing/2014/main" id="{4B13315E-71DF-4917-865C-CF5C8BC8D78E}"/>
              </a:ext>
            </a:extLst>
          </p:cNvPr>
          <p:cNvGraphicFramePr>
            <a:graphicFrameLocks noChangeAspect="1"/>
          </p:cNvGraphicFramePr>
          <p:nvPr>
            <p:extLst>
              <p:ext uri="{D42A27DB-BD31-4B8C-83A1-F6EECF244321}">
                <p14:modId xmlns:p14="http://schemas.microsoft.com/office/powerpoint/2010/main" val="824412464"/>
              </p:ext>
            </p:extLst>
          </p:nvPr>
        </p:nvGraphicFramePr>
        <p:xfrm>
          <a:off x="5219686" y="5118016"/>
          <a:ext cx="1752622" cy="603681"/>
        </p:xfrm>
        <a:graphic>
          <a:graphicData uri="http://schemas.openxmlformats.org/presentationml/2006/ole">
            <mc:AlternateContent xmlns:mc="http://schemas.openxmlformats.org/markup-compatibility/2006">
              <mc:Choice xmlns:v="urn:schemas-microsoft-com:vml" Requires="v">
                <p:oleObj name="Equation" r:id="rId12" imgW="1143000" imgH="393480" progId="Equation.DSMT4">
                  <p:embed/>
                </p:oleObj>
              </mc:Choice>
              <mc:Fallback>
                <p:oleObj name="Equation" r:id="rId12" imgW="1143000" imgH="393480" progId="Equation.DSMT4">
                  <p:embed/>
                  <p:pic>
                    <p:nvPicPr>
                      <p:cNvPr id="0" name=""/>
                      <p:cNvPicPr/>
                      <p:nvPr/>
                    </p:nvPicPr>
                    <p:blipFill>
                      <a:blip r:embed="rId13"/>
                      <a:stretch>
                        <a:fillRect/>
                      </a:stretch>
                    </p:blipFill>
                    <p:spPr>
                      <a:xfrm>
                        <a:off x="5219686" y="5118016"/>
                        <a:ext cx="1752622" cy="603681"/>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86912471-D6D1-410F-A55C-3298E8D0ACD0}"/>
              </a:ext>
            </a:extLst>
          </p:cNvPr>
          <p:cNvGraphicFramePr>
            <a:graphicFrameLocks noChangeAspect="1"/>
          </p:cNvGraphicFramePr>
          <p:nvPr>
            <p:extLst>
              <p:ext uri="{D42A27DB-BD31-4B8C-83A1-F6EECF244321}">
                <p14:modId xmlns:p14="http://schemas.microsoft.com/office/powerpoint/2010/main" val="1755343330"/>
              </p:ext>
            </p:extLst>
          </p:nvPr>
        </p:nvGraphicFramePr>
        <p:xfrm>
          <a:off x="11089843" y="5228166"/>
          <a:ext cx="395506" cy="372241"/>
        </p:xfrm>
        <a:graphic>
          <a:graphicData uri="http://schemas.openxmlformats.org/presentationml/2006/ole">
            <mc:AlternateContent xmlns:mc="http://schemas.openxmlformats.org/markup-compatibility/2006">
              <mc:Choice xmlns:v="urn:schemas-microsoft-com:vml" Requires="v">
                <p:oleObj name="Equation" r:id="rId14" imgW="215640" imgH="203040" progId="Equation.DSMT4">
                  <p:embed/>
                </p:oleObj>
              </mc:Choice>
              <mc:Fallback>
                <p:oleObj name="Equation" r:id="rId14" imgW="215640" imgH="203040" progId="Equation.DSMT4">
                  <p:embed/>
                  <p:pic>
                    <p:nvPicPr>
                      <p:cNvPr id="0" name=""/>
                      <p:cNvPicPr/>
                      <p:nvPr/>
                    </p:nvPicPr>
                    <p:blipFill>
                      <a:blip r:embed="rId15"/>
                      <a:stretch>
                        <a:fillRect/>
                      </a:stretch>
                    </p:blipFill>
                    <p:spPr>
                      <a:xfrm>
                        <a:off x="11089843" y="5228166"/>
                        <a:ext cx="395506" cy="372241"/>
                      </a:xfrm>
                      <a:prstGeom prst="rect">
                        <a:avLst/>
                      </a:prstGeom>
                    </p:spPr>
                  </p:pic>
                </p:oleObj>
              </mc:Fallback>
            </mc:AlternateContent>
          </a:graphicData>
        </a:graphic>
      </p:graphicFrame>
      <p:sp>
        <p:nvSpPr>
          <p:cNvPr id="16" name="文本框 15">
            <a:extLst>
              <a:ext uri="{FF2B5EF4-FFF2-40B4-BE49-F238E27FC236}">
                <a16:creationId xmlns:a16="http://schemas.microsoft.com/office/drawing/2014/main" id="{BF8FEA3E-1726-45A7-B5AA-8DF9AEB40754}"/>
              </a:ext>
            </a:extLst>
          </p:cNvPr>
          <p:cNvSpPr txBox="1"/>
          <p:nvPr/>
        </p:nvSpPr>
        <p:spPr>
          <a:xfrm>
            <a:off x="480576" y="5770797"/>
            <a:ext cx="11128664" cy="646331"/>
          </a:xfrm>
          <a:prstGeom prst="rect">
            <a:avLst/>
          </a:prstGeom>
          <a:noFill/>
        </p:spPr>
        <p:txBody>
          <a:bodyPr wrap="square" rtlCol="0">
            <a:spAutoFit/>
          </a:bodyPr>
          <a:lstStyle/>
          <a:p>
            <a:r>
              <a:rPr lang="zh-CN" altLang="en-US" dirty="0"/>
              <a:t>其中</a:t>
            </a:r>
            <a:r>
              <a:rPr lang="en-US" altLang="zh-CN" dirty="0" err="1"/>
              <a:t>p</a:t>
            </a:r>
            <a:r>
              <a:rPr lang="en-US" altLang="zh-CN" baseline="-25000" dirty="0" err="1"/>
              <a:t>n</a:t>
            </a:r>
            <a:r>
              <a:rPr lang="zh-CN" altLang="en-US" dirty="0"/>
              <a:t>为</a:t>
            </a:r>
            <a:r>
              <a:rPr lang="en-US" altLang="zh-CN" dirty="0"/>
              <a:t>n</a:t>
            </a:r>
            <a:r>
              <a:rPr lang="zh-CN" altLang="en-US" dirty="0"/>
              <a:t>区内空间电荷区边缘处少子空穴的浓度。图</a:t>
            </a:r>
            <a:r>
              <a:rPr lang="en-US" altLang="zh-CN" dirty="0"/>
              <a:t>4</a:t>
            </a:r>
            <a:r>
              <a:rPr lang="zh-CN" altLang="en-US" dirty="0"/>
              <a:t>显示了上述结论。给</a:t>
            </a:r>
            <a:r>
              <a:rPr lang="en-US" altLang="zh-CN" dirty="0" err="1"/>
              <a:t>pn</a:t>
            </a:r>
            <a:r>
              <a:rPr lang="zh-CN" altLang="en-US" dirty="0"/>
              <a:t>结外加正偏电压，</a:t>
            </a:r>
            <a:r>
              <a:rPr lang="en-US" altLang="zh-CN" dirty="0" err="1"/>
              <a:t>pn</a:t>
            </a:r>
            <a:r>
              <a:rPr lang="zh-CN" altLang="en-US" dirty="0"/>
              <a:t>结的</a:t>
            </a:r>
            <a:r>
              <a:rPr lang="en-US" altLang="zh-CN" dirty="0"/>
              <a:t>p</a:t>
            </a:r>
            <a:r>
              <a:rPr lang="zh-CN" altLang="en-US" dirty="0"/>
              <a:t>区与</a:t>
            </a:r>
            <a:r>
              <a:rPr lang="en-US" altLang="zh-CN" dirty="0"/>
              <a:t>n</a:t>
            </a:r>
            <a:r>
              <a:rPr lang="zh-CN" altLang="en-US" dirty="0"/>
              <a:t>区内均存在过剩少数载流子。</a:t>
            </a:r>
          </a:p>
        </p:txBody>
      </p:sp>
    </p:spTree>
    <p:extLst>
      <p:ext uri="{BB962C8B-B14F-4D97-AF65-F5344CB8AC3E}">
        <p14:creationId xmlns:p14="http://schemas.microsoft.com/office/powerpoint/2010/main" val="598666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F96FF22-478B-4709-9976-59083390C849}"/>
              </a:ext>
            </a:extLst>
          </p:cNvPr>
          <p:cNvSpPr>
            <a:spLocks noGrp="1"/>
          </p:cNvSpPr>
          <p:nvPr>
            <p:ph type="sldNum" sz="quarter" idx="12"/>
          </p:nvPr>
        </p:nvSpPr>
        <p:spPr/>
        <p:txBody>
          <a:bodyPr/>
          <a:lstStyle/>
          <a:p>
            <a:pPr>
              <a:defRPr/>
            </a:pPr>
            <a:fld id="{DB5F2CA6-A39B-48F7-84D1-AF91BD07D67D}" type="slidenum">
              <a:rPr lang="en-US" altLang="zh-CN" smtClean="0"/>
              <a:pPr>
                <a:defRPr/>
              </a:pPr>
              <a:t>8</a:t>
            </a:fld>
            <a:endParaRPr lang="en-US" altLang="zh-CN"/>
          </a:p>
        </p:txBody>
      </p:sp>
      <p:sp>
        <p:nvSpPr>
          <p:cNvPr id="5" name="矩形 4">
            <a:extLst>
              <a:ext uri="{FF2B5EF4-FFF2-40B4-BE49-F238E27FC236}">
                <a16:creationId xmlns:a16="http://schemas.microsoft.com/office/drawing/2014/main" id="{D33800E7-A682-439C-A75C-D0B087E7A68F}"/>
              </a:ext>
            </a:extLst>
          </p:cNvPr>
          <p:cNvSpPr/>
          <p:nvPr/>
        </p:nvSpPr>
        <p:spPr>
          <a:xfrm>
            <a:off x="187684" y="732086"/>
            <a:ext cx="1620957" cy="523220"/>
          </a:xfrm>
          <a:prstGeom prst="rect">
            <a:avLst/>
          </a:prstGeom>
          <a:noFill/>
        </p:spPr>
        <p:txBody>
          <a:bodyPr wrap="none" lIns="91440" tIns="45720" rIns="91440" bIns="45720">
            <a:spAutoFit/>
          </a:bodyPr>
          <a:lstStyle/>
          <a:p>
            <a:pPr algn="ctr"/>
            <a:r>
              <a:rPr lang="zh-CN" altLang="en-US" sz="2800" dirty="0">
                <a:ln w="0"/>
                <a:solidFill>
                  <a:schemeClr val="accent1"/>
                </a:solidFill>
                <a:effectLst>
                  <a:outerShdw blurRad="38100" dist="25400" dir="5400000" algn="ctr" rotWithShape="0">
                    <a:srgbClr val="6E747A">
                      <a:alpha val="43000"/>
                    </a:srgbClr>
                  </a:outerShdw>
                </a:effectLst>
              </a:rPr>
              <a:t>边界条件</a:t>
            </a:r>
            <a:endParaRPr lang="zh-CN" altLang="en-US" sz="2800" b="0" cap="none" spc="0" dirty="0">
              <a:ln w="0"/>
              <a:solidFill>
                <a:schemeClr val="accent1"/>
              </a:solidFill>
              <a:effectLst>
                <a:outerShdw blurRad="38100" dist="25400" dir="5400000" algn="ctr" rotWithShape="0">
                  <a:srgbClr val="6E747A">
                    <a:alpha val="43000"/>
                  </a:srgbClr>
                </a:outerShdw>
              </a:effectLst>
            </a:endParaRPr>
          </a:p>
        </p:txBody>
      </p:sp>
      <p:pic>
        <p:nvPicPr>
          <p:cNvPr id="6" name="图片 5">
            <a:extLst>
              <a:ext uri="{FF2B5EF4-FFF2-40B4-BE49-F238E27FC236}">
                <a16:creationId xmlns:a16="http://schemas.microsoft.com/office/drawing/2014/main" id="{4AEA6D36-F58E-4190-84E0-97834DF09C43}"/>
              </a:ext>
            </a:extLst>
          </p:cNvPr>
          <p:cNvPicPr>
            <a:picLocks noChangeAspect="1"/>
          </p:cNvPicPr>
          <p:nvPr/>
        </p:nvPicPr>
        <p:blipFill>
          <a:blip r:embed="rId2"/>
          <a:stretch>
            <a:fillRect/>
          </a:stretch>
        </p:blipFill>
        <p:spPr>
          <a:xfrm>
            <a:off x="3534342" y="1255306"/>
            <a:ext cx="5123316" cy="2727337"/>
          </a:xfrm>
          <a:prstGeom prst="rect">
            <a:avLst/>
          </a:prstGeom>
        </p:spPr>
      </p:pic>
      <p:sp>
        <p:nvSpPr>
          <p:cNvPr id="8" name="矩形 7">
            <a:extLst>
              <a:ext uri="{FF2B5EF4-FFF2-40B4-BE49-F238E27FC236}">
                <a16:creationId xmlns:a16="http://schemas.microsoft.com/office/drawing/2014/main" id="{71EBCF99-AE11-4932-917C-156634750E9B}"/>
              </a:ext>
            </a:extLst>
          </p:cNvPr>
          <p:cNvSpPr/>
          <p:nvPr/>
        </p:nvSpPr>
        <p:spPr>
          <a:xfrm>
            <a:off x="3714587" y="3982643"/>
            <a:ext cx="4762842" cy="307777"/>
          </a:xfrm>
          <a:prstGeom prst="rect">
            <a:avLst/>
          </a:prstGeom>
          <a:noFill/>
        </p:spPr>
        <p:txBody>
          <a:bodyPr wrap="none" lIns="91440" tIns="45720" rIns="91440" bIns="45720">
            <a:spAutoFit/>
          </a:bodyPr>
          <a:lstStyle/>
          <a:p>
            <a:pPr algn="ctr"/>
            <a:r>
              <a:rPr lang="zh-CN" altLang="en-US" sz="1400" dirty="0">
                <a:ln w="0"/>
                <a:effectLst>
                  <a:outerShdw blurRad="38100" dist="19050" dir="2700000" algn="tl" rotWithShape="0">
                    <a:schemeClr val="dk1">
                      <a:alpha val="40000"/>
                    </a:schemeClr>
                  </a:outerShdw>
                </a:effectLst>
              </a:rPr>
              <a:t>图</a:t>
            </a:r>
            <a:r>
              <a:rPr lang="en-US" altLang="zh-CN" sz="1400" dirty="0">
                <a:ln w="0"/>
                <a:effectLst>
                  <a:outerShdw blurRad="38100" dist="19050" dir="2700000" algn="tl" rotWithShape="0">
                    <a:schemeClr val="dk1">
                      <a:alpha val="40000"/>
                    </a:schemeClr>
                  </a:outerShdw>
                </a:effectLst>
              </a:rPr>
              <a:t>4</a:t>
            </a:r>
            <a:r>
              <a:rPr lang="zh-CN" altLang="en-US" sz="1400" dirty="0">
                <a:ln w="0"/>
                <a:effectLst>
                  <a:outerShdw blurRad="38100" dist="19050" dir="2700000" algn="tl" rotWithShape="0">
                    <a:schemeClr val="dk1">
                      <a:alpha val="40000"/>
                    </a:schemeClr>
                  </a:outerShdw>
                </a:effectLst>
              </a:rPr>
              <a:t>：由正偏电压形成的空间电荷区边缘处的过剩少子浓度</a:t>
            </a:r>
            <a:endParaRPr lang="zh-CN" altLang="en-US" sz="1400" b="0" cap="none" spc="0" dirty="0">
              <a:ln w="0"/>
              <a:solidFill>
                <a:schemeClr val="tx1"/>
              </a:solidFill>
              <a:effectLst>
                <a:outerShdw blurRad="38100" dist="19050" dir="2700000" algn="tl" rotWithShape="0">
                  <a:schemeClr val="dk1">
                    <a:alpha val="40000"/>
                  </a:schemeClr>
                </a:outerShdw>
              </a:effectLst>
            </a:endParaRPr>
          </a:p>
        </p:txBody>
      </p:sp>
      <p:sp>
        <p:nvSpPr>
          <p:cNvPr id="9" name="文本框 8">
            <a:extLst>
              <a:ext uri="{FF2B5EF4-FFF2-40B4-BE49-F238E27FC236}">
                <a16:creationId xmlns:a16="http://schemas.microsoft.com/office/drawing/2014/main" id="{F9D1E5D4-CAF6-4056-BF96-7FF96C608524}"/>
              </a:ext>
            </a:extLst>
          </p:cNvPr>
          <p:cNvSpPr txBox="1"/>
          <p:nvPr/>
        </p:nvSpPr>
        <p:spPr>
          <a:xfrm>
            <a:off x="467590" y="4849821"/>
            <a:ext cx="11118273" cy="923330"/>
          </a:xfrm>
          <a:prstGeom prst="rect">
            <a:avLst/>
          </a:prstGeom>
          <a:noFill/>
        </p:spPr>
        <p:txBody>
          <a:bodyPr wrap="square" rtlCol="0">
            <a:spAutoFit/>
          </a:bodyPr>
          <a:lstStyle/>
          <a:p>
            <a:r>
              <a:rPr lang="zh-CN" altLang="en-US" dirty="0"/>
              <a:t>        由式</a:t>
            </a:r>
            <a:r>
              <a:rPr lang="en-US" altLang="zh-CN" dirty="0"/>
              <a:t>(7)</a:t>
            </a:r>
            <a:r>
              <a:rPr lang="zh-CN" altLang="en-US" dirty="0"/>
              <a:t>与式</a:t>
            </a:r>
            <a:r>
              <a:rPr lang="en-US" altLang="zh-CN" dirty="0"/>
              <a:t>(8)</a:t>
            </a:r>
            <a:r>
              <a:rPr lang="zh-CN" altLang="en-US" dirty="0"/>
              <a:t>给出的空间电荷区边缘处少子浓度的表达式，是在正偏电压</a:t>
            </a:r>
            <a:r>
              <a:rPr lang="en-US" altLang="zh-CN" dirty="0"/>
              <a:t>(</a:t>
            </a:r>
            <a:r>
              <a:rPr lang="en-US" altLang="zh-CN" dirty="0" err="1"/>
              <a:t>V</a:t>
            </a:r>
            <a:r>
              <a:rPr lang="en-US" altLang="zh-CN" baseline="-25000" dirty="0" err="1"/>
              <a:t>a</a:t>
            </a:r>
            <a:r>
              <a:rPr lang="en-US" altLang="zh-CN" dirty="0"/>
              <a:t>&gt;0)</a:t>
            </a:r>
            <a:r>
              <a:rPr lang="zh-CN" altLang="en-US" dirty="0"/>
              <a:t>的条件下推出的。但我们应该注意，</a:t>
            </a:r>
            <a:r>
              <a:rPr lang="en-US" altLang="zh-CN" dirty="0" err="1"/>
              <a:t>V</a:t>
            </a:r>
            <a:r>
              <a:rPr lang="en-US" altLang="zh-CN" baseline="-25000" dirty="0" err="1"/>
              <a:t>a</a:t>
            </a:r>
            <a:r>
              <a:rPr lang="zh-CN" altLang="en-US" dirty="0"/>
              <a:t>也是可以取负值的</a:t>
            </a:r>
            <a:r>
              <a:rPr lang="en-US" altLang="zh-CN" dirty="0"/>
              <a:t>(</a:t>
            </a:r>
            <a:r>
              <a:rPr lang="zh-CN" altLang="en-US" dirty="0"/>
              <a:t>反偏</a:t>
            </a:r>
            <a:r>
              <a:rPr lang="en-US" altLang="zh-CN" dirty="0"/>
              <a:t>)</a:t>
            </a:r>
            <a:r>
              <a:rPr lang="zh-CN" altLang="en-US" dirty="0"/>
              <a:t>。当反偏电压达到零点几伏时由式</a:t>
            </a:r>
            <a:r>
              <a:rPr lang="en-US" altLang="zh-CN" dirty="0"/>
              <a:t>(7)</a:t>
            </a:r>
            <a:r>
              <a:rPr lang="zh-CN" altLang="en-US" dirty="0"/>
              <a:t>及式</a:t>
            </a:r>
            <a:r>
              <a:rPr lang="en-US" altLang="zh-CN" dirty="0"/>
              <a:t>(8)</a:t>
            </a:r>
            <a:r>
              <a:rPr lang="zh-CN" altLang="en-US" dirty="0"/>
              <a:t>可知</a:t>
            </a:r>
            <a:r>
              <a:rPr lang="en-US" altLang="zh-CN" dirty="0"/>
              <a:t>,</a:t>
            </a:r>
            <a:r>
              <a:rPr lang="zh-CN" altLang="en-US" dirty="0"/>
              <a:t>空间电荷区边缘处的少子浓度已经接近于零。反偏条件下的少子浓度低于热平衡值。 </a:t>
            </a:r>
          </a:p>
        </p:txBody>
      </p:sp>
    </p:spTree>
    <p:extLst>
      <p:ext uri="{BB962C8B-B14F-4D97-AF65-F5344CB8AC3E}">
        <p14:creationId xmlns:p14="http://schemas.microsoft.com/office/powerpoint/2010/main" val="53961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FEE0165-0A18-4DA8-85E6-A4ED8F9688E9}"/>
              </a:ext>
            </a:extLst>
          </p:cNvPr>
          <p:cNvSpPr>
            <a:spLocks noGrp="1"/>
          </p:cNvSpPr>
          <p:nvPr>
            <p:ph type="sldNum" sz="quarter" idx="12"/>
          </p:nvPr>
        </p:nvSpPr>
        <p:spPr/>
        <p:txBody>
          <a:bodyPr/>
          <a:lstStyle/>
          <a:p>
            <a:pPr>
              <a:defRPr/>
            </a:pPr>
            <a:fld id="{DB5F2CA6-A39B-48F7-84D1-AF91BD07D67D}" type="slidenum">
              <a:rPr lang="en-US" altLang="zh-CN" smtClean="0"/>
              <a:pPr>
                <a:defRPr/>
              </a:pPr>
              <a:t>9</a:t>
            </a:fld>
            <a:endParaRPr lang="en-US" altLang="zh-CN"/>
          </a:p>
        </p:txBody>
      </p:sp>
      <p:sp>
        <p:nvSpPr>
          <p:cNvPr id="5" name="矩形 4">
            <a:extLst>
              <a:ext uri="{FF2B5EF4-FFF2-40B4-BE49-F238E27FC236}">
                <a16:creationId xmlns:a16="http://schemas.microsoft.com/office/drawing/2014/main" id="{3F64F6D5-8D79-40D2-9FBF-E30C35E1EDE4}"/>
              </a:ext>
            </a:extLst>
          </p:cNvPr>
          <p:cNvSpPr/>
          <p:nvPr/>
        </p:nvSpPr>
        <p:spPr>
          <a:xfrm>
            <a:off x="509802" y="607395"/>
            <a:ext cx="2721771" cy="523220"/>
          </a:xfrm>
          <a:prstGeom prst="rect">
            <a:avLst/>
          </a:prstGeom>
          <a:noFill/>
        </p:spPr>
        <p:txBody>
          <a:bodyPr wrap="square" lIns="91440" tIns="45720" rIns="91440" bIns="45720">
            <a:spAutoFit/>
          </a:bodyPr>
          <a:lstStyle/>
          <a:p>
            <a:pPr algn="ctr"/>
            <a:r>
              <a:rPr lang="zh-CN" altLang="en-US" sz="2800" dirty="0">
                <a:ln w="0"/>
                <a:solidFill>
                  <a:schemeClr val="accent1"/>
                </a:solidFill>
                <a:effectLst>
                  <a:outerShdw blurRad="38100" dist="25400" dir="5400000" algn="ctr" rotWithShape="0">
                    <a:srgbClr val="6E747A">
                      <a:alpha val="43000"/>
                    </a:srgbClr>
                  </a:outerShdw>
                </a:effectLst>
              </a:rPr>
              <a:t>少数载流子分布</a:t>
            </a:r>
            <a:endParaRPr lang="zh-CN" altLang="en-US" sz="2800" b="0" cap="none" spc="0" dirty="0">
              <a:ln w="0"/>
              <a:solidFill>
                <a:schemeClr val="accent1"/>
              </a:solidFill>
              <a:effectLst>
                <a:outerShdw blurRad="38100" dist="25400" dir="5400000" algn="ctr" rotWithShape="0">
                  <a:srgbClr val="6E747A">
                    <a:alpha val="43000"/>
                  </a:srgbClr>
                </a:outerShdw>
              </a:effectLst>
            </a:endParaRPr>
          </a:p>
        </p:txBody>
      </p:sp>
      <p:sp>
        <p:nvSpPr>
          <p:cNvPr id="6" name="文本框 5">
            <a:extLst>
              <a:ext uri="{FF2B5EF4-FFF2-40B4-BE49-F238E27FC236}">
                <a16:creationId xmlns:a16="http://schemas.microsoft.com/office/drawing/2014/main" id="{406B91A4-32B6-4BEC-9921-E1999550D29D}"/>
              </a:ext>
            </a:extLst>
          </p:cNvPr>
          <p:cNvSpPr txBox="1"/>
          <p:nvPr/>
        </p:nvSpPr>
        <p:spPr>
          <a:xfrm>
            <a:off x="633845" y="1039091"/>
            <a:ext cx="11048353" cy="369332"/>
          </a:xfrm>
          <a:prstGeom prst="rect">
            <a:avLst/>
          </a:prstGeom>
          <a:noFill/>
        </p:spPr>
        <p:txBody>
          <a:bodyPr wrap="square" rtlCol="0">
            <a:spAutoFit/>
          </a:bodyPr>
          <a:lstStyle/>
          <a:p>
            <a:r>
              <a:rPr lang="zh-CN" altLang="en-US" dirty="0"/>
              <a:t>        回顾</a:t>
            </a:r>
            <a:r>
              <a:rPr lang="en-US" altLang="zh-CN" dirty="0"/>
              <a:t>n</a:t>
            </a:r>
            <a:r>
              <a:rPr lang="zh-CN" altLang="en-US" dirty="0"/>
              <a:t>区内过剩少子空穴的</a:t>
            </a:r>
            <a:r>
              <a:rPr lang="zh-CN" altLang="en-US" dirty="0">
                <a:solidFill>
                  <a:srgbClr val="FF0000"/>
                </a:solidFill>
              </a:rPr>
              <a:t>双极输运方程</a:t>
            </a:r>
            <a:r>
              <a:rPr lang="zh-CN" altLang="en-US" dirty="0"/>
              <a:t>。在一维情况下，该式可以写为</a:t>
            </a:r>
          </a:p>
        </p:txBody>
      </p:sp>
      <p:graphicFrame>
        <p:nvGraphicFramePr>
          <p:cNvPr id="7" name="对象 6">
            <a:extLst>
              <a:ext uri="{FF2B5EF4-FFF2-40B4-BE49-F238E27FC236}">
                <a16:creationId xmlns:a16="http://schemas.microsoft.com/office/drawing/2014/main" id="{881827BC-4A90-42E6-9750-5CAC56DEB691}"/>
              </a:ext>
            </a:extLst>
          </p:cNvPr>
          <p:cNvGraphicFramePr>
            <a:graphicFrameLocks noChangeAspect="1"/>
          </p:cNvGraphicFramePr>
          <p:nvPr>
            <p:extLst>
              <p:ext uri="{D42A27DB-BD31-4B8C-83A1-F6EECF244321}">
                <p14:modId xmlns:p14="http://schemas.microsoft.com/office/powerpoint/2010/main" val="2852993112"/>
              </p:ext>
            </p:extLst>
          </p:nvPr>
        </p:nvGraphicFramePr>
        <p:xfrm>
          <a:off x="4045633" y="1408423"/>
          <a:ext cx="4100734" cy="662564"/>
        </p:xfrm>
        <a:graphic>
          <a:graphicData uri="http://schemas.openxmlformats.org/presentationml/2006/ole">
            <mc:AlternateContent xmlns:mc="http://schemas.openxmlformats.org/markup-compatibility/2006">
              <mc:Choice xmlns:v="urn:schemas-microsoft-com:vml" Requires="v">
                <p:oleObj name="Equation" r:id="rId2" imgW="2908080" imgH="469800" progId="Equation.DSMT4">
                  <p:embed/>
                </p:oleObj>
              </mc:Choice>
              <mc:Fallback>
                <p:oleObj name="Equation" r:id="rId2" imgW="2908080" imgH="469800" progId="Equation.DSMT4">
                  <p:embed/>
                  <p:pic>
                    <p:nvPicPr>
                      <p:cNvPr id="0" name=""/>
                      <p:cNvPicPr/>
                      <p:nvPr/>
                    </p:nvPicPr>
                    <p:blipFill>
                      <a:blip r:embed="rId3"/>
                      <a:stretch>
                        <a:fillRect/>
                      </a:stretch>
                    </p:blipFill>
                    <p:spPr>
                      <a:xfrm>
                        <a:off x="4045633" y="1408423"/>
                        <a:ext cx="4100734" cy="662564"/>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B8967FA7-25BF-4E9F-9851-9EFCAA1DD4B2}"/>
              </a:ext>
            </a:extLst>
          </p:cNvPr>
          <p:cNvGraphicFramePr>
            <a:graphicFrameLocks noChangeAspect="1"/>
          </p:cNvGraphicFramePr>
          <p:nvPr>
            <p:extLst>
              <p:ext uri="{D42A27DB-BD31-4B8C-83A1-F6EECF244321}">
                <p14:modId xmlns:p14="http://schemas.microsoft.com/office/powerpoint/2010/main" val="1830311954"/>
              </p:ext>
            </p:extLst>
          </p:nvPr>
        </p:nvGraphicFramePr>
        <p:xfrm>
          <a:off x="11069850" y="1555039"/>
          <a:ext cx="415499" cy="369332"/>
        </p:xfrm>
        <a:graphic>
          <a:graphicData uri="http://schemas.openxmlformats.org/presentationml/2006/ole">
            <mc:AlternateContent xmlns:mc="http://schemas.openxmlformats.org/markup-compatibility/2006">
              <mc:Choice xmlns:v="urn:schemas-microsoft-com:vml" Requires="v">
                <p:oleObj name="Equation" r:id="rId4" imgW="228600" imgH="203040" progId="Equation.DSMT4">
                  <p:embed/>
                </p:oleObj>
              </mc:Choice>
              <mc:Fallback>
                <p:oleObj name="Equation" r:id="rId4" imgW="228600" imgH="203040" progId="Equation.DSMT4">
                  <p:embed/>
                  <p:pic>
                    <p:nvPicPr>
                      <p:cNvPr id="0" name=""/>
                      <p:cNvPicPr/>
                      <p:nvPr/>
                    </p:nvPicPr>
                    <p:blipFill>
                      <a:blip r:embed="rId5"/>
                      <a:stretch>
                        <a:fillRect/>
                      </a:stretch>
                    </p:blipFill>
                    <p:spPr>
                      <a:xfrm>
                        <a:off x="11069850" y="1555039"/>
                        <a:ext cx="415499" cy="369332"/>
                      </a:xfrm>
                      <a:prstGeom prst="rect">
                        <a:avLst/>
                      </a:prstGeom>
                    </p:spPr>
                  </p:pic>
                </p:oleObj>
              </mc:Fallback>
            </mc:AlternateContent>
          </a:graphicData>
        </a:graphic>
      </p:graphicFrame>
      <p:sp>
        <p:nvSpPr>
          <p:cNvPr id="9" name="文本框 8">
            <a:extLst>
              <a:ext uri="{FF2B5EF4-FFF2-40B4-BE49-F238E27FC236}">
                <a16:creationId xmlns:a16="http://schemas.microsoft.com/office/drawing/2014/main" id="{DA452747-7945-44A9-802E-1D0E2076099B}"/>
              </a:ext>
            </a:extLst>
          </p:cNvPr>
          <p:cNvSpPr txBox="1"/>
          <p:nvPr/>
        </p:nvSpPr>
        <p:spPr>
          <a:xfrm>
            <a:off x="633845" y="2070987"/>
            <a:ext cx="11048353" cy="3693319"/>
          </a:xfrm>
          <a:prstGeom prst="rect">
            <a:avLst/>
          </a:prstGeom>
          <a:noFill/>
        </p:spPr>
        <p:txBody>
          <a:bodyPr wrap="square" rtlCol="0">
            <a:spAutoFit/>
          </a:bodyPr>
          <a:lstStyle/>
          <a:p>
            <a:pPr algn="just"/>
            <a:r>
              <a:rPr lang="zh-CN" altLang="en-US" dirty="0"/>
              <a:t>其中</a:t>
            </a:r>
            <a:r>
              <a:rPr lang="en-US" altLang="zh-CN" dirty="0"/>
              <a:t>		   </a:t>
            </a:r>
            <a:r>
              <a:rPr lang="zh-CN" altLang="en-US" dirty="0"/>
              <a:t>为过剩少数空穴的浓度，即总少子浓度与热平衡少子浓度的差值。双极输运方程将过剩载流子的行为描述成时间与空间坐标的函数。</a:t>
            </a:r>
            <a:endParaRPr lang="en-US" altLang="zh-CN" dirty="0"/>
          </a:p>
          <a:p>
            <a:pPr algn="just"/>
            <a:r>
              <a:rPr lang="en-US" altLang="zh-CN" dirty="0"/>
              <a:t>        </a:t>
            </a:r>
            <a:r>
              <a:rPr lang="zh-CN" altLang="en-US" dirty="0"/>
              <a:t>对于半导体内部的漂移电流密度。很小的电场就能产生相对较大的电流。作为一级近似，我们假设电中性的</a:t>
            </a:r>
            <a:r>
              <a:rPr lang="en-US" altLang="zh-CN" dirty="0"/>
              <a:t>p</a:t>
            </a:r>
            <a:r>
              <a:rPr lang="zh-CN" altLang="en-US" dirty="0"/>
              <a:t>区和</a:t>
            </a:r>
            <a:r>
              <a:rPr lang="en-US" altLang="zh-CN" dirty="0"/>
              <a:t>n</a:t>
            </a:r>
            <a:r>
              <a:rPr lang="zh-CN" altLang="en-US" dirty="0"/>
              <a:t>区内的电场为零。在</a:t>
            </a:r>
            <a:r>
              <a:rPr lang="en-US" altLang="zh-CN" dirty="0"/>
              <a:t>n</a:t>
            </a:r>
            <a:r>
              <a:rPr lang="zh-CN" altLang="en-US" dirty="0"/>
              <a:t>区内</a:t>
            </a:r>
            <a:r>
              <a:rPr lang="en-US" altLang="zh-CN" dirty="0"/>
              <a:t>x&gt;</a:t>
            </a:r>
            <a:r>
              <a:rPr lang="en-US" altLang="zh-CN" dirty="0" err="1"/>
              <a:t>x</a:t>
            </a:r>
            <a:r>
              <a:rPr lang="en-US" altLang="zh-CN" baseline="-25000" dirty="0" err="1"/>
              <a:t>n</a:t>
            </a:r>
            <a:r>
              <a:rPr lang="zh-CN" altLang="en-US" dirty="0"/>
              <a:t>的区域，</a:t>
            </a:r>
            <a:r>
              <a:rPr lang="en-US" altLang="zh-CN" dirty="0"/>
              <a:t>E=0</a:t>
            </a:r>
            <a:r>
              <a:rPr lang="zh-CN" altLang="en-US" dirty="0"/>
              <a:t>且</a:t>
            </a:r>
            <a:r>
              <a:rPr lang="en-US" altLang="zh-CN" dirty="0"/>
              <a:t>g’=0</a:t>
            </a:r>
            <a:r>
              <a:rPr lang="zh-CN" altLang="en-US" dirty="0"/>
              <a:t>。还假设</a:t>
            </a:r>
            <a:r>
              <a:rPr lang="en-US" altLang="zh-CN" dirty="0" err="1"/>
              <a:t>pn</a:t>
            </a:r>
            <a:r>
              <a:rPr lang="zh-CN" altLang="en-US" dirty="0"/>
              <a:t>结处于稳态，则</a:t>
            </a:r>
            <a:r>
              <a:rPr lang="en-US" altLang="zh-CN" dirty="0"/>
              <a:t>		     </a:t>
            </a:r>
            <a:r>
              <a:rPr lang="zh-CN" altLang="en-US" dirty="0"/>
              <a:t>，那么式</a:t>
            </a:r>
            <a:r>
              <a:rPr lang="en-US" altLang="zh-CN" dirty="0"/>
              <a:t>(9)</a:t>
            </a:r>
            <a:r>
              <a:rPr lang="zh-CN" altLang="en-US" dirty="0"/>
              <a:t>变为</a:t>
            </a:r>
          </a:p>
          <a:p>
            <a:pPr algn="just"/>
            <a:endParaRPr lang="en-US" altLang="zh-CN" dirty="0"/>
          </a:p>
          <a:p>
            <a:pPr algn="just"/>
            <a:endParaRPr lang="en-US" altLang="zh-CN" dirty="0"/>
          </a:p>
          <a:p>
            <a:pPr algn="just"/>
            <a:endParaRPr lang="en-US" altLang="zh-CN" dirty="0"/>
          </a:p>
          <a:p>
            <a:pPr algn="just"/>
            <a:r>
              <a:rPr lang="zh-CN" altLang="en-US" dirty="0"/>
              <a:t>其中</a:t>
            </a:r>
            <a:r>
              <a:rPr lang="en-US" altLang="zh-CN" dirty="0"/>
              <a:t>	         </a:t>
            </a:r>
            <a:r>
              <a:rPr lang="zh-CN" altLang="en-US" dirty="0"/>
              <a:t>。在相同的假设条件下，</a:t>
            </a:r>
            <a:r>
              <a:rPr lang="en-US" altLang="zh-CN" dirty="0"/>
              <a:t>p</a:t>
            </a:r>
            <a:r>
              <a:rPr lang="zh-CN" altLang="en-US" dirty="0"/>
              <a:t>区内过剩的少子电子浓度满足下式：</a:t>
            </a:r>
            <a:endParaRPr lang="en-US" altLang="zh-CN" dirty="0"/>
          </a:p>
          <a:p>
            <a:pPr algn="just"/>
            <a:endParaRPr lang="en-US" altLang="zh-CN" dirty="0"/>
          </a:p>
          <a:p>
            <a:pPr algn="just"/>
            <a:endParaRPr lang="en-US" altLang="zh-CN" dirty="0"/>
          </a:p>
          <a:p>
            <a:pPr algn="just"/>
            <a:endParaRPr lang="en-US" altLang="zh-CN" dirty="0"/>
          </a:p>
          <a:p>
            <a:pPr algn="just"/>
            <a:r>
              <a:rPr lang="zh-CN" altLang="en-US" dirty="0"/>
              <a:t>其中，</a:t>
            </a:r>
            <a:r>
              <a:rPr lang="en-US" altLang="zh-CN" dirty="0"/>
              <a:t>	            </a:t>
            </a:r>
            <a:r>
              <a:rPr lang="zh-CN" altLang="en-US" dirty="0"/>
              <a:t>。</a:t>
            </a:r>
            <a:endParaRPr lang="en-US" altLang="zh-CN" dirty="0"/>
          </a:p>
        </p:txBody>
      </p:sp>
      <p:graphicFrame>
        <p:nvGraphicFramePr>
          <p:cNvPr id="10" name="对象 9">
            <a:extLst>
              <a:ext uri="{FF2B5EF4-FFF2-40B4-BE49-F238E27FC236}">
                <a16:creationId xmlns:a16="http://schemas.microsoft.com/office/drawing/2014/main" id="{0A235A15-EFD7-4977-B614-A2BDFCFEE910}"/>
              </a:ext>
            </a:extLst>
          </p:cNvPr>
          <p:cNvGraphicFramePr>
            <a:graphicFrameLocks noChangeAspect="1"/>
          </p:cNvGraphicFramePr>
          <p:nvPr>
            <p:extLst>
              <p:ext uri="{D42A27DB-BD31-4B8C-83A1-F6EECF244321}">
                <p14:modId xmlns:p14="http://schemas.microsoft.com/office/powerpoint/2010/main" val="494196172"/>
              </p:ext>
            </p:extLst>
          </p:nvPr>
        </p:nvGraphicFramePr>
        <p:xfrm>
          <a:off x="1222086" y="2070987"/>
          <a:ext cx="1497846" cy="369332"/>
        </p:xfrm>
        <a:graphic>
          <a:graphicData uri="http://schemas.openxmlformats.org/presentationml/2006/ole">
            <mc:AlternateContent xmlns:mc="http://schemas.openxmlformats.org/markup-compatibility/2006">
              <mc:Choice xmlns:v="urn:schemas-microsoft-com:vml" Requires="v">
                <p:oleObj name="Equation" r:id="rId6" imgW="927000" imgH="228600" progId="Equation.DSMT4">
                  <p:embed/>
                </p:oleObj>
              </mc:Choice>
              <mc:Fallback>
                <p:oleObj name="Equation" r:id="rId6" imgW="927000" imgH="228600" progId="Equation.DSMT4">
                  <p:embed/>
                  <p:pic>
                    <p:nvPicPr>
                      <p:cNvPr id="0" name=""/>
                      <p:cNvPicPr/>
                      <p:nvPr/>
                    </p:nvPicPr>
                    <p:blipFill>
                      <a:blip r:embed="rId7"/>
                      <a:stretch>
                        <a:fillRect/>
                      </a:stretch>
                    </p:blipFill>
                    <p:spPr>
                      <a:xfrm>
                        <a:off x="1222086" y="2070987"/>
                        <a:ext cx="1497846" cy="369332"/>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11438E4F-950F-4B48-A98C-D28E4DC7D6C2}"/>
              </a:ext>
            </a:extLst>
          </p:cNvPr>
          <p:cNvGraphicFramePr>
            <a:graphicFrameLocks noChangeAspect="1"/>
          </p:cNvGraphicFramePr>
          <p:nvPr>
            <p:extLst>
              <p:ext uri="{D42A27DB-BD31-4B8C-83A1-F6EECF244321}">
                <p14:modId xmlns:p14="http://schemas.microsoft.com/office/powerpoint/2010/main" val="1377798575"/>
              </p:ext>
            </p:extLst>
          </p:nvPr>
        </p:nvGraphicFramePr>
        <p:xfrm>
          <a:off x="9630623" y="2916438"/>
          <a:ext cx="1439227" cy="354878"/>
        </p:xfrm>
        <a:graphic>
          <a:graphicData uri="http://schemas.openxmlformats.org/presentationml/2006/ole">
            <mc:AlternateContent xmlns:mc="http://schemas.openxmlformats.org/markup-compatibility/2006">
              <mc:Choice xmlns:v="urn:schemas-microsoft-com:vml" Requires="v">
                <p:oleObj name="Equation" r:id="rId8" imgW="927000" imgH="228600" progId="Equation.DSMT4">
                  <p:embed/>
                </p:oleObj>
              </mc:Choice>
              <mc:Fallback>
                <p:oleObj name="Equation" r:id="rId8" imgW="927000" imgH="228600" progId="Equation.DSMT4">
                  <p:embed/>
                  <p:pic>
                    <p:nvPicPr>
                      <p:cNvPr id="0" name=""/>
                      <p:cNvPicPr/>
                      <p:nvPr/>
                    </p:nvPicPr>
                    <p:blipFill>
                      <a:blip r:embed="rId9"/>
                      <a:stretch>
                        <a:fillRect/>
                      </a:stretch>
                    </p:blipFill>
                    <p:spPr>
                      <a:xfrm>
                        <a:off x="9630623" y="2916438"/>
                        <a:ext cx="1439227" cy="354878"/>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933437E8-3744-4833-961D-4349151C8B0F}"/>
              </a:ext>
            </a:extLst>
          </p:cNvPr>
          <p:cNvGraphicFramePr>
            <a:graphicFrameLocks noChangeAspect="1"/>
          </p:cNvGraphicFramePr>
          <p:nvPr>
            <p:extLst>
              <p:ext uri="{D42A27DB-BD31-4B8C-83A1-F6EECF244321}">
                <p14:modId xmlns:p14="http://schemas.microsoft.com/office/powerpoint/2010/main" val="987905427"/>
              </p:ext>
            </p:extLst>
          </p:nvPr>
        </p:nvGraphicFramePr>
        <p:xfrm>
          <a:off x="5189538" y="3425825"/>
          <a:ext cx="1936750" cy="754063"/>
        </p:xfrm>
        <a:graphic>
          <a:graphicData uri="http://schemas.openxmlformats.org/presentationml/2006/ole">
            <mc:AlternateContent xmlns:mc="http://schemas.openxmlformats.org/markup-compatibility/2006">
              <mc:Choice xmlns:v="urn:schemas-microsoft-com:vml" Requires="v">
                <p:oleObj name="Equation" r:id="rId10" imgW="1206360" imgH="469800" progId="Equation.DSMT4">
                  <p:embed/>
                </p:oleObj>
              </mc:Choice>
              <mc:Fallback>
                <p:oleObj name="Equation" r:id="rId10" imgW="1206360" imgH="469800" progId="Equation.DSMT4">
                  <p:embed/>
                  <p:pic>
                    <p:nvPicPr>
                      <p:cNvPr id="0" name=""/>
                      <p:cNvPicPr/>
                      <p:nvPr/>
                    </p:nvPicPr>
                    <p:blipFill>
                      <a:blip r:embed="rId11"/>
                      <a:stretch>
                        <a:fillRect/>
                      </a:stretch>
                    </p:blipFill>
                    <p:spPr>
                      <a:xfrm>
                        <a:off x="5189538" y="3425825"/>
                        <a:ext cx="1936750" cy="754063"/>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448C3DCE-07B7-4979-AAAD-157D64190552}"/>
              </a:ext>
            </a:extLst>
          </p:cNvPr>
          <p:cNvGraphicFramePr>
            <a:graphicFrameLocks noChangeAspect="1"/>
          </p:cNvGraphicFramePr>
          <p:nvPr>
            <p:extLst>
              <p:ext uri="{D42A27DB-BD31-4B8C-83A1-F6EECF244321}">
                <p14:modId xmlns:p14="http://schemas.microsoft.com/office/powerpoint/2010/main" val="118609539"/>
              </p:ext>
            </p:extLst>
          </p:nvPr>
        </p:nvGraphicFramePr>
        <p:xfrm>
          <a:off x="11022531" y="3624135"/>
          <a:ext cx="510136" cy="354877"/>
        </p:xfrm>
        <a:graphic>
          <a:graphicData uri="http://schemas.openxmlformats.org/presentationml/2006/ole">
            <mc:AlternateContent xmlns:mc="http://schemas.openxmlformats.org/markup-compatibility/2006">
              <mc:Choice xmlns:v="urn:schemas-microsoft-com:vml" Requires="v">
                <p:oleObj name="Equation" r:id="rId12" imgW="291960" imgH="203040" progId="Equation.DSMT4">
                  <p:embed/>
                </p:oleObj>
              </mc:Choice>
              <mc:Fallback>
                <p:oleObj name="Equation" r:id="rId12" imgW="291960" imgH="203040" progId="Equation.DSMT4">
                  <p:embed/>
                  <p:pic>
                    <p:nvPicPr>
                      <p:cNvPr id="0" name=""/>
                      <p:cNvPicPr/>
                      <p:nvPr/>
                    </p:nvPicPr>
                    <p:blipFill>
                      <a:blip r:embed="rId13"/>
                      <a:stretch>
                        <a:fillRect/>
                      </a:stretch>
                    </p:blipFill>
                    <p:spPr>
                      <a:xfrm>
                        <a:off x="11022531" y="3624135"/>
                        <a:ext cx="510136" cy="354877"/>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2152A1C2-8DC8-465A-AD3C-311B335CD92A}"/>
              </a:ext>
            </a:extLst>
          </p:cNvPr>
          <p:cNvGraphicFramePr>
            <a:graphicFrameLocks noChangeAspect="1"/>
          </p:cNvGraphicFramePr>
          <p:nvPr>
            <p:extLst>
              <p:ext uri="{D42A27DB-BD31-4B8C-83A1-F6EECF244321}">
                <p14:modId xmlns:p14="http://schemas.microsoft.com/office/powerpoint/2010/main" val="1386619097"/>
              </p:ext>
            </p:extLst>
          </p:nvPr>
        </p:nvGraphicFramePr>
        <p:xfrm>
          <a:off x="1145509" y="4286978"/>
          <a:ext cx="1034130" cy="369332"/>
        </p:xfrm>
        <a:graphic>
          <a:graphicData uri="http://schemas.openxmlformats.org/presentationml/2006/ole">
            <mc:AlternateContent xmlns:mc="http://schemas.openxmlformats.org/markup-compatibility/2006">
              <mc:Choice xmlns:v="urn:schemas-microsoft-com:vml" Requires="v">
                <p:oleObj name="Equation" r:id="rId14" imgW="711000" imgH="253800" progId="Equation.DSMT4">
                  <p:embed/>
                </p:oleObj>
              </mc:Choice>
              <mc:Fallback>
                <p:oleObj name="Equation" r:id="rId14" imgW="711000" imgH="253800" progId="Equation.DSMT4">
                  <p:embed/>
                  <p:pic>
                    <p:nvPicPr>
                      <p:cNvPr id="0" name=""/>
                      <p:cNvPicPr/>
                      <p:nvPr/>
                    </p:nvPicPr>
                    <p:blipFill>
                      <a:blip r:embed="rId15"/>
                      <a:stretch>
                        <a:fillRect/>
                      </a:stretch>
                    </p:blipFill>
                    <p:spPr>
                      <a:xfrm>
                        <a:off x="1145509" y="4286978"/>
                        <a:ext cx="1034130" cy="369332"/>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367EAF00-BC88-4619-92C5-535A5FC34136}"/>
              </a:ext>
            </a:extLst>
          </p:cNvPr>
          <p:cNvGraphicFramePr>
            <a:graphicFrameLocks noChangeAspect="1"/>
          </p:cNvGraphicFramePr>
          <p:nvPr>
            <p:extLst>
              <p:ext uri="{D42A27DB-BD31-4B8C-83A1-F6EECF244321}">
                <p14:modId xmlns:p14="http://schemas.microsoft.com/office/powerpoint/2010/main" val="2922204427"/>
              </p:ext>
            </p:extLst>
          </p:nvPr>
        </p:nvGraphicFramePr>
        <p:xfrm>
          <a:off x="5226237" y="4656310"/>
          <a:ext cx="1863568" cy="733532"/>
        </p:xfrm>
        <a:graphic>
          <a:graphicData uri="http://schemas.openxmlformats.org/presentationml/2006/ole">
            <mc:AlternateContent xmlns:mc="http://schemas.openxmlformats.org/markup-compatibility/2006">
              <mc:Choice xmlns:v="urn:schemas-microsoft-com:vml" Requires="v">
                <p:oleObj name="Equation" r:id="rId16" imgW="1193760" imgH="469800" progId="Equation.DSMT4">
                  <p:embed/>
                </p:oleObj>
              </mc:Choice>
              <mc:Fallback>
                <p:oleObj name="Equation" r:id="rId16" imgW="1193760" imgH="469800" progId="Equation.DSMT4">
                  <p:embed/>
                  <p:pic>
                    <p:nvPicPr>
                      <p:cNvPr id="0" name=""/>
                      <p:cNvPicPr/>
                      <p:nvPr/>
                    </p:nvPicPr>
                    <p:blipFill>
                      <a:blip r:embed="rId17"/>
                      <a:stretch>
                        <a:fillRect/>
                      </a:stretch>
                    </p:blipFill>
                    <p:spPr>
                      <a:xfrm>
                        <a:off x="5226237" y="4656310"/>
                        <a:ext cx="1863568" cy="733532"/>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C648F05E-AE9E-4B84-B725-A62F5E846098}"/>
              </a:ext>
            </a:extLst>
          </p:cNvPr>
          <p:cNvGraphicFramePr>
            <a:graphicFrameLocks noChangeAspect="1"/>
          </p:cNvGraphicFramePr>
          <p:nvPr>
            <p:extLst>
              <p:ext uri="{D42A27DB-BD31-4B8C-83A1-F6EECF244321}">
                <p14:modId xmlns:p14="http://schemas.microsoft.com/office/powerpoint/2010/main" val="2300986017"/>
              </p:ext>
            </p:extLst>
          </p:nvPr>
        </p:nvGraphicFramePr>
        <p:xfrm>
          <a:off x="10997392" y="4845637"/>
          <a:ext cx="487957" cy="354878"/>
        </p:xfrm>
        <a:graphic>
          <a:graphicData uri="http://schemas.openxmlformats.org/presentationml/2006/ole">
            <mc:AlternateContent xmlns:mc="http://schemas.openxmlformats.org/markup-compatibility/2006">
              <mc:Choice xmlns:v="urn:schemas-microsoft-com:vml" Requires="v">
                <p:oleObj name="Equation" r:id="rId18" imgW="279360" imgH="203040" progId="Equation.DSMT4">
                  <p:embed/>
                </p:oleObj>
              </mc:Choice>
              <mc:Fallback>
                <p:oleObj name="Equation" r:id="rId18" imgW="279360" imgH="203040" progId="Equation.DSMT4">
                  <p:embed/>
                  <p:pic>
                    <p:nvPicPr>
                      <p:cNvPr id="0" name=""/>
                      <p:cNvPicPr/>
                      <p:nvPr/>
                    </p:nvPicPr>
                    <p:blipFill>
                      <a:blip r:embed="rId19"/>
                      <a:stretch>
                        <a:fillRect/>
                      </a:stretch>
                    </p:blipFill>
                    <p:spPr>
                      <a:xfrm>
                        <a:off x="10997392" y="4845637"/>
                        <a:ext cx="487957" cy="354878"/>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8C87F78E-41B1-42CA-B065-159656EAB5D4}"/>
              </a:ext>
            </a:extLst>
          </p:cNvPr>
          <p:cNvGraphicFramePr>
            <a:graphicFrameLocks noChangeAspect="1"/>
          </p:cNvGraphicFramePr>
          <p:nvPr>
            <p:extLst>
              <p:ext uri="{D42A27DB-BD31-4B8C-83A1-F6EECF244321}">
                <p14:modId xmlns:p14="http://schemas.microsoft.com/office/powerpoint/2010/main" val="217828267"/>
              </p:ext>
            </p:extLst>
          </p:nvPr>
        </p:nvGraphicFramePr>
        <p:xfrm>
          <a:off x="1318650" y="5389842"/>
          <a:ext cx="989923" cy="354878"/>
        </p:xfrm>
        <a:graphic>
          <a:graphicData uri="http://schemas.openxmlformats.org/presentationml/2006/ole">
            <mc:AlternateContent xmlns:mc="http://schemas.openxmlformats.org/markup-compatibility/2006">
              <mc:Choice xmlns:v="urn:schemas-microsoft-com:vml" Requires="v">
                <p:oleObj name="Equation" r:id="rId20" imgW="672840" imgH="241200" progId="Equation.DSMT4">
                  <p:embed/>
                </p:oleObj>
              </mc:Choice>
              <mc:Fallback>
                <p:oleObj name="Equation" r:id="rId20" imgW="672840" imgH="241200" progId="Equation.DSMT4">
                  <p:embed/>
                  <p:pic>
                    <p:nvPicPr>
                      <p:cNvPr id="0" name=""/>
                      <p:cNvPicPr/>
                      <p:nvPr/>
                    </p:nvPicPr>
                    <p:blipFill>
                      <a:blip r:embed="rId21"/>
                      <a:stretch>
                        <a:fillRect/>
                      </a:stretch>
                    </p:blipFill>
                    <p:spPr>
                      <a:xfrm>
                        <a:off x="1318650" y="5389842"/>
                        <a:ext cx="989923" cy="354878"/>
                      </a:xfrm>
                      <a:prstGeom prst="rect">
                        <a:avLst/>
                      </a:prstGeom>
                    </p:spPr>
                  </p:pic>
                </p:oleObj>
              </mc:Fallback>
            </mc:AlternateContent>
          </a:graphicData>
        </a:graphic>
      </p:graphicFrame>
    </p:spTree>
    <p:extLst>
      <p:ext uri="{BB962C8B-B14F-4D97-AF65-F5344CB8AC3E}">
        <p14:creationId xmlns:p14="http://schemas.microsoft.com/office/powerpoint/2010/main" val="3572948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3705281-D48F-4705-96DD-79FE40031225}"/>
              </a:ext>
            </a:extLst>
          </p:cNvPr>
          <p:cNvSpPr>
            <a:spLocks noGrp="1"/>
          </p:cNvSpPr>
          <p:nvPr>
            <p:ph type="sldNum" sz="quarter" idx="12"/>
          </p:nvPr>
        </p:nvSpPr>
        <p:spPr/>
        <p:txBody>
          <a:bodyPr/>
          <a:lstStyle/>
          <a:p>
            <a:pPr>
              <a:defRPr/>
            </a:pPr>
            <a:fld id="{DB5F2CA6-A39B-48F7-84D1-AF91BD07D67D}" type="slidenum">
              <a:rPr lang="en-US" altLang="zh-CN" smtClean="0"/>
              <a:pPr>
                <a:defRPr/>
              </a:pPr>
              <a:t>10</a:t>
            </a:fld>
            <a:endParaRPr lang="en-US" altLang="zh-CN"/>
          </a:p>
        </p:txBody>
      </p:sp>
      <p:sp>
        <p:nvSpPr>
          <p:cNvPr id="5" name="矩形 4">
            <a:extLst>
              <a:ext uri="{FF2B5EF4-FFF2-40B4-BE49-F238E27FC236}">
                <a16:creationId xmlns:a16="http://schemas.microsoft.com/office/drawing/2014/main" id="{CD303189-C2B9-42A8-9A5B-C399115FC8C1}"/>
              </a:ext>
            </a:extLst>
          </p:cNvPr>
          <p:cNvSpPr/>
          <p:nvPr/>
        </p:nvSpPr>
        <p:spPr>
          <a:xfrm>
            <a:off x="509802" y="607395"/>
            <a:ext cx="2721771" cy="523220"/>
          </a:xfrm>
          <a:prstGeom prst="rect">
            <a:avLst/>
          </a:prstGeom>
          <a:noFill/>
        </p:spPr>
        <p:txBody>
          <a:bodyPr wrap="square" lIns="91440" tIns="45720" rIns="91440" bIns="45720">
            <a:spAutoFit/>
          </a:bodyPr>
          <a:lstStyle/>
          <a:p>
            <a:pPr algn="ctr"/>
            <a:r>
              <a:rPr lang="zh-CN" altLang="en-US" sz="2800" dirty="0">
                <a:ln w="0"/>
                <a:solidFill>
                  <a:schemeClr val="accent1"/>
                </a:solidFill>
                <a:effectLst>
                  <a:outerShdw blurRad="38100" dist="25400" dir="5400000" algn="ctr" rotWithShape="0">
                    <a:srgbClr val="6E747A">
                      <a:alpha val="43000"/>
                    </a:srgbClr>
                  </a:outerShdw>
                </a:effectLst>
              </a:rPr>
              <a:t>少数载流子分布</a:t>
            </a:r>
            <a:endParaRPr lang="zh-CN" altLang="en-US" sz="2800" b="0" cap="none" spc="0" dirty="0">
              <a:ln w="0"/>
              <a:solidFill>
                <a:schemeClr val="accent1"/>
              </a:solidFill>
              <a:effectLst>
                <a:outerShdw blurRad="38100" dist="25400" dir="5400000" algn="ctr" rotWithShape="0">
                  <a:srgbClr val="6E747A">
                    <a:alpha val="43000"/>
                  </a:srgbClr>
                </a:outerShdw>
              </a:effectLst>
            </a:endParaRPr>
          </a:p>
        </p:txBody>
      </p:sp>
      <p:sp>
        <p:nvSpPr>
          <p:cNvPr id="6" name="文本框 5">
            <a:extLst>
              <a:ext uri="{FF2B5EF4-FFF2-40B4-BE49-F238E27FC236}">
                <a16:creationId xmlns:a16="http://schemas.microsoft.com/office/drawing/2014/main" id="{6E258197-A4C3-4BA6-B137-A4A87D3D30DD}"/>
              </a:ext>
            </a:extLst>
          </p:cNvPr>
          <p:cNvSpPr txBox="1"/>
          <p:nvPr/>
        </p:nvSpPr>
        <p:spPr>
          <a:xfrm>
            <a:off x="509802" y="1130615"/>
            <a:ext cx="11172396" cy="5355312"/>
          </a:xfrm>
          <a:prstGeom prst="rect">
            <a:avLst/>
          </a:prstGeom>
          <a:noFill/>
        </p:spPr>
        <p:txBody>
          <a:bodyPr wrap="square" rtlCol="0">
            <a:spAutoFit/>
          </a:bodyPr>
          <a:lstStyle/>
          <a:p>
            <a:r>
              <a:rPr lang="en-US" altLang="zh-CN" dirty="0"/>
              <a:t>        </a:t>
            </a:r>
            <a:r>
              <a:rPr lang="zh-CN" altLang="en-US" dirty="0"/>
              <a:t>总少子浓度的边界条件是</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当少子经空间电荷区扩散进入中性半导体区时，它们会与多子复合，假设图</a:t>
            </a:r>
            <a:r>
              <a:rPr lang="en-US" altLang="zh-CN" dirty="0"/>
              <a:t>3</a:t>
            </a:r>
            <a:r>
              <a:rPr lang="zh-CN" altLang="en-US" dirty="0"/>
              <a:t>所示的长度</a:t>
            </a:r>
            <a:r>
              <a:rPr lang="en-US" altLang="zh-CN" dirty="0" err="1"/>
              <a:t>W</a:t>
            </a:r>
            <a:r>
              <a:rPr lang="en-US" altLang="zh-CN" baseline="-25000" dirty="0" err="1"/>
              <a:t>n</a:t>
            </a:r>
            <a:r>
              <a:rPr lang="zh-CN" altLang="en-US" dirty="0"/>
              <a:t>与</a:t>
            </a:r>
            <a:r>
              <a:rPr lang="en-US" altLang="zh-CN" dirty="0"/>
              <a:t>W</a:t>
            </a:r>
            <a:r>
              <a:rPr lang="en-US" altLang="zh-CN" baseline="-25000" dirty="0"/>
              <a:t>p</a:t>
            </a:r>
            <a:r>
              <a:rPr lang="zh-CN" altLang="en-US" dirty="0"/>
              <a:t>很长，即</a:t>
            </a:r>
            <a:r>
              <a:rPr lang="en-US" altLang="zh-CN" dirty="0" err="1"/>
              <a:t>W</a:t>
            </a:r>
            <a:r>
              <a:rPr lang="en-US" altLang="zh-CN" baseline="-25000" dirty="0" err="1"/>
              <a:t>n</a:t>
            </a:r>
            <a:r>
              <a:rPr lang="en-US" altLang="zh-CN" dirty="0"/>
              <a:t>&gt;&gt;</a:t>
            </a:r>
            <a:r>
              <a:rPr lang="en-US" altLang="zh-CN" dirty="0" err="1"/>
              <a:t>L</a:t>
            </a:r>
            <a:r>
              <a:rPr lang="en-US" altLang="zh-CN" baseline="-25000" dirty="0" err="1"/>
              <a:t>p</a:t>
            </a:r>
            <a:r>
              <a:rPr lang="zh-CN" altLang="en-US" dirty="0"/>
              <a:t>，</a:t>
            </a:r>
            <a:r>
              <a:rPr lang="en-US" altLang="zh-CN" dirty="0"/>
              <a:t> W</a:t>
            </a:r>
            <a:r>
              <a:rPr lang="en-US" altLang="zh-CN" baseline="-25000" dirty="0"/>
              <a:t>p</a:t>
            </a:r>
            <a:r>
              <a:rPr lang="en-US" altLang="zh-CN" dirty="0"/>
              <a:t>&gt;&gt;L</a:t>
            </a:r>
            <a:r>
              <a:rPr lang="en-US" altLang="zh-CN" baseline="-25000" dirty="0"/>
              <a:t>n</a:t>
            </a:r>
            <a:r>
              <a:rPr lang="zh-CN" altLang="en-US" dirty="0"/>
              <a:t>。在离空间电荷区很远的地方，过剩少数载流子的浓度必须趋近于零。这种</a:t>
            </a:r>
            <a:r>
              <a:rPr lang="en-US" altLang="zh-CN" dirty="0" err="1"/>
              <a:t>pn</a:t>
            </a:r>
            <a:r>
              <a:rPr lang="zh-CN" altLang="en-US" dirty="0"/>
              <a:t>结称为长</a:t>
            </a:r>
            <a:r>
              <a:rPr lang="en-US" altLang="zh-CN" dirty="0" err="1"/>
              <a:t>pn</a:t>
            </a:r>
            <a:r>
              <a:rPr lang="zh-CN" altLang="en-US" dirty="0"/>
              <a:t>结。</a:t>
            </a:r>
            <a:endParaRPr lang="en-US" altLang="zh-CN" dirty="0"/>
          </a:p>
          <a:p>
            <a:r>
              <a:rPr lang="en-US" altLang="zh-CN" dirty="0"/>
              <a:t>        </a:t>
            </a:r>
            <a:r>
              <a:rPr lang="zh-CN" altLang="en-US" dirty="0"/>
              <a:t>式</a:t>
            </a:r>
            <a:r>
              <a:rPr lang="en-US" altLang="zh-CN" dirty="0"/>
              <a:t>(10)</a:t>
            </a:r>
            <a:r>
              <a:rPr lang="zh-CN" altLang="en-US" dirty="0"/>
              <a:t>的通解为</a:t>
            </a:r>
            <a:endParaRPr lang="en-US" altLang="zh-CN" dirty="0"/>
          </a:p>
          <a:p>
            <a:endParaRPr lang="en-US" altLang="zh-CN" dirty="0"/>
          </a:p>
          <a:p>
            <a:endParaRPr lang="en-US" altLang="zh-CN" dirty="0"/>
          </a:p>
          <a:p>
            <a:r>
              <a:rPr lang="en-US" altLang="zh-CN" dirty="0"/>
              <a:t>        </a:t>
            </a:r>
            <a:r>
              <a:rPr lang="zh-CN" altLang="en-US" dirty="0"/>
              <a:t>式</a:t>
            </a:r>
            <a:r>
              <a:rPr lang="en-US" altLang="zh-CN" dirty="0"/>
              <a:t>(11)</a:t>
            </a:r>
            <a:r>
              <a:rPr lang="zh-CN" altLang="en-US" dirty="0"/>
              <a:t>的通解为</a:t>
            </a:r>
            <a:endParaRPr lang="en-US" altLang="zh-CN" dirty="0"/>
          </a:p>
          <a:p>
            <a:endParaRPr lang="en-US" altLang="zh-CN" dirty="0"/>
          </a:p>
          <a:p>
            <a:endParaRPr lang="en-US" altLang="zh-CN" dirty="0"/>
          </a:p>
          <a:p>
            <a:r>
              <a:rPr lang="zh-CN" altLang="en-US" dirty="0"/>
              <a:t>        由边界条件式</a:t>
            </a:r>
            <a:r>
              <a:rPr lang="en-US" altLang="zh-CN" dirty="0"/>
              <a:t>(12c)</a:t>
            </a:r>
            <a:r>
              <a:rPr lang="zh-CN" altLang="en-US" dirty="0"/>
              <a:t>和式</a:t>
            </a:r>
            <a:r>
              <a:rPr lang="en-US" altLang="zh-CN" dirty="0"/>
              <a:t>(12d)</a:t>
            </a:r>
            <a:r>
              <a:rPr lang="zh-CN" altLang="en-US" dirty="0"/>
              <a:t>可知，系数</a:t>
            </a:r>
            <a:r>
              <a:rPr lang="en-US" altLang="zh-CN" dirty="0"/>
              <a:t>A</a:t>
            </a:r>
            <a:r>
              <a:rPr lang="zh-CN" altLang="en-US" dirty="0"/>
              <a:t>与</a:t>
            </a:r>
            <a:r>
              <a:rPr lang="en-US" altLang="zh-CN" dirty="0"/>
              <a:t>D</a:t>
            </a:r>
            <a:r>
              <a:rPr lang="zh-CN" altLang="en-US" dirty="0"/>
              <a:t>必须为零。系数</a:t>
            </a:r>
            <a:r>
              <a:rPr lang="en-US" altLang="zh-CN" dirty="0"/>
              <a:t>B</a:t>
            </a:r>
            <a:r>
              <a:rPr lang="zh-CN" altLang="en-US" dirty="0"/>
              <a:t>与</a:t>
            </a:r>
            <a:r>
              <a:rPr lang="en-US" altLang="zh-CN" dirty="0"/>
              <a:t>C</a:t>
            </a:r>
            <a:r>
              <a:rPr lang="zh-CN" altLang="en-US" dirty="0"/>
              <a:t>由式</a:t>
            </a:r>
            <a:r>
              <a:rPr lang="en-US" altLang="zh-CN" dirty="0"/>
              <a:t>(12a)</a:t>
            </a:r>
            <a:r>
              <a:rPr lang="zh-CN" altLang="en-US" dirty="0"/>
              <a:t>与式</a:t>
            </a:r>
            <a:r>
              <a:rPr lang="en-US" altLang="zh-CN" dirty="0"/>
              <a:t>(12b)</a:t>
            </a:r>
            <a:r>
              <a:rPr lang="zh-CN" altLang="en-US" dirty="0"/>
              <a:t>确定。这样，可以求得下</a:t>
            </a:r>
            <a:r>
              <a:rPr lang="en-US" altLang="zh-CN" dirty="0"/>
              <a:t>x</a:t>
            </a:r>
            <a:r>
              <a:rPr lang="zh-CN" altLang="en-US" dirty="0"/>
              <a:t>≥</a:t>
            </a:r>
            <a:r>
              <a:rPr lang="en-US" altLang="zh-CN" dirty="0" err="1"/>
              <a:t>x</a:t>
            </a:r>
            <a:r>
              <a:rPr lang="en-US" altLang="zh-CN" baseline="-25000" dirty="0" err="1"/>
              <a:t>n</a:t>
            </a:r>
            <a:r>
              <a:rPr lang="zh-CN" altLang="en-US" dirty="0"/>
              <a:t>处过剩少子浓度为</a:t>
            </a:r>
          </a:p>
        </p:txBody>
      </p:sp>
      <p:graphicFrame>
        <p:nvGraphicFramePr>
          <p:cNvPr id="7" name="对象 6">
            <a:extLst>
              <a:ext uri="{FF2B5EF4-FFF2-40B4-BE49-F238E27FC236}">
                <a16:creationId xmlns:a16="http://schemas.microsoft.com/office/drawing/2014/main" id="{03EF9EB0-92C2-4886-99B0-1743FE78229E}"/>
              </a:ext>
            </a:extLst>
          </p:cNvPr>
          <p:cNvGraphicFramePr>
            <a:graphicFrameLocks noChangeAspect="1"/>
          </p:cNvGraphicFramePr>
          <p:nvPr>
            <p:extLst>
              <p:ext uri="{D42A27DB-BD31-4B8C-83A1-F6EECF244321}">
                <p14:modId xmlns:p14="http://schemas.microsoft.com/office/powerpoint/2010/main" val="1643399718"/>
              </p:ext>
            </p:extLst>
          </p:nvPr>
        </p:nvGraphicFramePr>
        <p:xfrm>
          <a:off x="4964984" y="1499947"/>
          <a:ext cx="2262032" cy="1989028"/>
        </p:xfrm>
        <a:graphic>
          <a:graphicData uri="http://schemas.openxmlformats.org/presentationml/2006/ole">
            <mc:AlternateContent xmlns:mc="http://schemas.openxmlformats.org/markup-compatibility/2006">
              <mc:Choice xmlns:v="urn:schemas-microsoft-com:vml" Requires="v">
                <p:oleObj name="Equation" r:id="rId2" imgW="1473120" imgH="1295280" progId="Equation.DSMT4">
                  <p:embed/>
                </p:oleObj>
              </mc:Choice>
              <mc:Fallback>
                <p:oleObj name="Equation" r:id="rId2" imgW="1473120" imgH="1295280" progId="Equation.DSMT4">
                  <p:embed/>
                  <p:pic>
                    <p:nvPicPr>
                      <p:cNvPr id="0" name=""/>
                      <p:cNvPicPr/>
                      <p:nvPr/>
                    </p:nvPicPr>
                    <p:blipFill>
                      <a:blip r:embed="rId3"/>
                      <a:stretch>
                        <a:fillRect/>
                      </a:stretch>
                    </p:blipFill>
                    <p:spPr>
                      <a:xfrm>
                        <a:off x="4964984" y="1499947"/>
                        <a:ext cx="2262032" cy="1989028"/>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67ABFDBD-2BCB-47E4-8290-297D21F98E00}"/>
              </a:ext>
            </a:extLst>
          </p:cNvPr>
          <p:cNvGraphicFramePr>
            <a:graphicFrameLocks noChangeAspect="1"/>
          </p:cNvGraphicFramePr>
          <p:nvPr>
            <p:extLst>
              <p:ext uri="{D42A27DB-BD31-4B8C-83A1-F6EECF244321}">
                <p14:modId xmlns:p14="http://schemas.microsoft.com/office/powerpoint/2010/main" val="1523556065"/>
              </p:ext>
            </p:extLst>
          </p:nvPr>
        </p:nvGraphicFramePr>
        <p:xfrm>
          <a:off x="10972512" y="1773066"/>
          <a:ext cx="709686" cy="1655934"/>
        </p:xfrm>
        <a:graphic>
          <a:graphicData uri="http://schemas.openxmlformats.org/presentationml/2006/ole">
            <mc:AlternateContent xmlns:mc="http://schemas.openxmlformats.org/markup-compatibility/2006">
              <mc:Choice xmlns:v="urn:schemas-microsoft-com:vml" Requires="v">
                <p:oleObj name="Equation" r:id="rId4" imgW="380880" imgH="888840" progId="Equation.DSMT4">
                  <p:embed/>
                </p:oleObj>
              </mc:Choice>
              <mc:Fallback>
                <p:oleObj name="Equation" r:id="rId4" imgW="380880" imgH="888840" progId="Equation.DSMT4">
                  <p:embed/>
                  <p:pic>
                    <p:nvPicPr>
                      <p:cNvPr id="0" name=""/>
                      <p:cNvPicPr/>
                      <p:nvPr/>
                    </p:nvPicPr>
                    <p:blipFill>
                      <a:blip r:embed="rId5"/>
                      <a:stretch>
                        <a:fillRect/>
                      </a:stretch>
                    </p:blipFill>
                    <p:spPr>
                      <a:xfrm>
                        <a:off x="10972512" y="1773066"/>
                        <a:ext cx="709686" cy="1655934"/>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D96AFA1A-F112-4B88-94D7-4F30EB1EE09A}"/>
              </a:ext>
            </a:extLst>
          </p:cNvPr>
          <p:cNvGraphicFramePr>
            <a:graphicFrameLocks noChangeAspect="1"/>
          </p:cNvGraphicFramePr>
          <p:nvPr>
            <p:extLst>
              <p:ext uri="{D42A27DB-BD31-4B8C-83A1-F6EECF244321}">
                <p14:modId xmlns:p14="http://schemas.microsoft.com/office/powerpoint/2010/main" val="99650668"/>
              </p:ext>
            </p:extLst>
          </p:nvPr>
        </p:nvGraphicFramePr>
        <p:xfrm>
          <a:off x="3591078" y="4493375"/>
          <a:ext cx="5009844" cy="388360"/>
        </p:xfrm>
        <a:graphic>
          <a:graphicData uri="http://schemas.openxmlformats.org/presentationml/2006/ole">
            <mc:AlternateContent xmlns:mc="http://schemas.openxmlformats.org/markup-compatibility/2006">
              <mc:Choice xmlns:v="urn:schemas-microsoft-com:vml" Requires="v">
                <p:oleObj name="Equation" r:id="rId6" imgW="3276360" imgH="253800" progId="Equation.DSMT4">
                  <p:embed/>
                </p:oleObj>
              </mc:Choice>
              <mc:Fallback>
                <p:oleObj name="Equation" r:id="rId6" imgW="3276360" imgH="253800" progId="Equation.DSMT4">
                  <p:embed/>
                  <p:pic>
                    <p:nvPicPr>
                      <p:cNvPr id="0" name=""/>
                      <p:cNvPicPr/>
                      <p:nvPr/>
                    </p:nvPicPr>
                    <p:blipFill>
                      <a:blip r:embed="rId7"/>
                      <a:stretch>
                        <a:fillRect/>
                      </a:stretch>
                    </p:blipFill>
                    <p:spPr>
                      <a:xfrm>
                        <a:off x="3591078" y="4493375"/>
                        <a:ext cx="5009844" cy="38836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CD52C2C4-19C0-4F44-B889-5FC399EC5433}"/>
              </a:ext>
            </a:extLst>
          </p:cNvPr>
          <p:cNvGraphicFramePr>
            <a:graphicFrameLocks noChangeAspect="1"/>
          </p:cNvGraphicFramePr>
          <p:nvPr>
            <p:extLst>
              <p:ext uri="{D42A27DB-BD31-4B8C-83A1-F6EECF244321}">
                <p14:modId xmlns:p14="http://schemas.microsoft.com/office/powerpoint/2010/main" val="96805099"/>
              </p:ext>
            </p:extLst>
          </p:nvPr>
        </p:nvGraphicFramePr>
        <p:xfrm>
          <a:off x="11028065" y="4546935"/>
          <a:ext cx="499070" cy="362960"/>
        </p:xfrm>
        <a:graphic>
          <a:graphicData uri="http://schemas.openxmlformats.org/presentationml/2006/ole">
            <mc:AlternateContent xmlns:mc="http://schemas.openxmlformats.org/markup-compatibility/2006">
              <mc:Choice xmlns:v="urn:schemas-microsoft-com:vml" Requires="v">
                <p:oleObj name="Equation" r:id="rId8" imgW="279360" imgH="203040" progId="Equation.DSMT4">
                  <p:embed/>
                </p:oleObj>
              </mc:Choice>
              <mc:Fallback>
                <p:oleObj name="Equation" r:id="rId8" imgW="279360" imgH="203040" progId="Equation.DSMT4">
                  <p:embed/>
                  <p:pic>
                    <p:nvPicPr>
                      <p:cNvPr id="0" name=""/>
                      <p:cNvPicPr/>
                      <p:nvPr/>
                    </p:nvPicPr>
                    <p:blipFill>
                      <a:blip r:embed="rId9"/>
                      <a:stretch>
                        <a:fillRect/>
                      </a:stretch>
                    </p:blipFill>
                    <p:spPr>
                      <a:xfrm>
                        <a:off x="11028065" y="4546935"/>
                        <a:ext cx="499070" cy="36296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B377ADCE-A791-40ED-A002-4EC799A4EF58}"/>
              </a:ext>
            </a:extLst>
          </p:cNvPr>
          <p:cNvGraphicFramePr>
            <a:graphicFrameLocks noChangeAspect="1"/>
          </p:cNvGraphicFramePr>
          <p:nvPr>
            <p:extLst>
              <p:ext uri="{D42A27DB-BD31-4B8C-83A1-F6EECF244321}">
                <p14:modId xmlns:p14="http://schemas.microsoft.com/office/powerpoint/2010/main" val="3112473519"/>
              </p:ext>
            </p:extLst>
          </p:nvPr>
        </p:nvGraphicFramePr>
        <p:xfrm>
          <a:off x="3130533" y="5276363"/>
          <a:ext cx="5930934" cy="451022"/>
        </p:xfrm>
        <a:graphic>
          <a:graphicData uri="http://schemas.openxmlformats.org/presentationml/2006/ole">
            <mc:AlternateContent xmlns:mc="http://schemas.openxmlformats.org/markup-compatibility/2006">
              <mc:Choice xmlns:v="urn:schemas-microsoft-com:vml" Requires="v">
                <p:oleObj name="Equation" r:id="rId10" imgW="3340080" imgH="253800" progId="Equation.DSMT4">
                  <p:embed/>
                </p:oleObj>
              </mc:Choice>
              <mc:Fallback>
                <p:oleObj name="Equation" r:id="rId10" imgW="3340080" imgH="253800" progId="Equation.DSMT4">
                  <p:embed/>
                  <p:pic>
                    <p:nvPicPr>
                      <p:cNvPr id="0" name=""/>
                      <p:cNvPicPr/>
                      <p:nvPr/>
                    </p:nvPicPr>
                    <p:blipFill>
                      <a:blip r:embed="rId11"/>
                      <a:stretch>
                        <a:fillRect/>
                      </a:stretch>
                    </p:blipFill>
                    <p:spPr>
                      <a:xfrm>
                        <a:off x="3130533" y="5276363"/>
                        <a:ext cx="5930934" cy="451022"/>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E0428B5D-263C-4643-BAC1-56B8B7E3AB45}"/>
              </a:ext>
            </a:extLst>
          </p:cNvPr>
          <p:cNvGraphicFramePr>
            <a:graphicFrameLocks noChangeAspect="1"/>
          </p:cNvGraphicFramePr>
          <p:nvPr>
            <p:extLst>
              <p:ext uri="{D42A27DB-BD31-4B8C-83A1-F6EECF244321}">
                <p14:modId xmlns:p14="http://schemas.microsoft.com/office/powerpoint/2010/main" val="744546721"/>
              </p:ext>
            </p:extLst>
          </p:nvPr>
        </p:nvGraphicFramePr>
        <p:xfrm>
          <a:off x="11081414" y="5330785"/>
          <a:ext cx="491881" cy="342178"/>
        </p:xfrm>
        <a:graphic>
          <a:graphicData uri="http://schemas.openxmlformats.org/presentationml/2006/ole">
            <mc:AlternateContent xmlns:mc="http://schemas.openxmlformats.org/markup-compatibility/2006">
              <mc:Choice xmlns:v="urn:schemas-microsoft-com:vml" Requires="v">
                <p:oleObj name="Equation" r:id="rId12" imgW="291960" imgH="203040" progId="Equation.DSMT4">
                  <p:embed/>
                </p:oleObj>
              </mc:Choice>
              <mc:Fallback>
                <p:oleObj name="Equation" r:id="rId12" imgW="291960" imgH="203040" progId="Equation.DSMT4">
                  <p:embed/>
                  <p:pic>
                    <p:nvPicPr>
                      <p:cNvPr id="0" name=""/>
                      <p:cNvPicPr/>
                      <p:nvPr/>
                    </p:nvPicPr>
                    <p:blipFill>
                      <a:blip r:embed="rId13"/>
                      <a:stretch>
                        <a:fillRect/>
                      </a:stretch>
                    </p:blipFill>
                    <p:spPr>
                      <a:xfrm>
                        <a:off x="11081414" y="5330785"/>
                        <a:ext cx="491881" cy="342178"/>
                      </a:xfrm>
                      <a:prstGeom prst="rect">
                        <a:avLst/>
                      </a:prstGeom>
                    </p:spPr>
                  </p:pic>
                </p:oleObj>
              </mc:Fallback>
            </mc:AlternateContent>
          </a:graphicData>
        </a:graphic>
      </p:graphicFrame>
    </p:spTree>
    <p:extLst>
      <p:ext uri="{BB962C8B-B14F-4D97-AF65-F5344CB8AC3E}">
        <p14:creationId xmlns:p14="http://schemas.microsoft.com/office/powerpoint/2010/main" val="2396856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7A342F1-BAA7-41C2-8CB1-FC3CB433076E}"/>
              </a:ext>
            </a:extLst>
          </p:cNvPr>
          <p:cNvSpPr>
            <a:spLocks noGrp="1"/>
          </p:cNvSpPr>
          <p:nvPr>
            <p:ph type="sldNum" sz="quarter" idx="12"/>
          </p:nvPr>
        </p:nvSpPr>
        <p:spPr/>
        <p:txBody>
          <a:bodyPr/>
          <a:lstStyle/>
          <a:p>
            <a:pPr>
              <a:defRPr/>
            </a:pPr>
            <a:fld id="{DB5F2CA6-A39B-48F7-84D1-AF91BD07D67D}" type="slidenum">
              <a:rPr lang="en-US" altLang="zh-CN" smtClean="0"/>
              <a:pPr>
                <a:defRPr/>
              </a:pPr>
              <a:t>11</a:t>
            </a:fld>
            <a:endParaRPr lang="en-US" altLang="zh-CN"/>
          </a:p>
        </p:txBody>
      </p:sp>
      <p:sp>
        <p:nvSpPr>
          <p:cNvPr id="5" name="矩形 4">
            <a:extLst>
              <a:ext uri="{FF2B5EF4-FFF2-40B4-BE49-F238E27FC236}">
                <a16:creationId xmlns:a16="http://schemas.microsoft.com/office/drawing/2014/main" id="{DCB98C92-E13D-4710-B276-7411E20B9419}"/>
              </a:ext>
            </a:extLst>
          </p:cNvPr>
          <p:cNvSpPr/>
          <p:nvPr/>
        </p:nvSpPr>
        <p:spPr>
          <a:xfrm>
            <a:off x="509802" y="607395"/>
            <a:ext cx="2721771" cy="523220"/>
          </a:xfrm>
          <a:prstGeom prst="rect">
            <a:avLst/>
          </a:prstGeom>
          <a:noFill/>
        </p:spPr>
        <p:txBody>
          <a:bodyPr wrap="square" lIns="91440" tIns="45720" rIns="91440" bIns="45720">
            <a:spAutoFit/>
          </a:bodyPr>
          <a:lstStyle/>
          <a:p>
            <a:pPr algn="ctr"/>
            <a:r>
              <a:rPr lang="zh-CN" altLang="en-US" sz="2800" dirty="0">
                <a:ln w="0"/>
                <a:solidFill>
                  <a:schemeClr val="accent1"/>
                </a:solidFill>
                <a:effectLst>
                  <a:outerShdw blurRad="38100" dist="25400" dir="5400000" algn="ctr" rotWithShape="0">
                    <a:srgbClr val="6E747A">
                      <a:alpha val="43000"/>
                    </a:srgbClr>
                  </a:outerShdw>
                </a:effectLst>
              </a:rPr>
              <a:t>少数载流子分布</a:t>
            </a:r>
            <a:endParaRPr lang="zh-CN" altLang="en-US" sz="2800" b="0" cap="none" spc="0" dirty="0">
              <a:ln w="0"/>
              <a:solidFill>
                <a:schemeClr val="accent1"/>
              </a:solidFill>
              <a:effectLst>
                <a:outerShdw blurRad="38100" dist="25400" dir="5400000" algn="ctr" rotWithShape="0">
                  <a:srgbClr val="6E747A">
                    <a:alpha val="43000"/>
                  </a:srgbClr>
                </a:outerShdw>
              </a:effectLst>
            </a:endParaRPr>
          </a:p>
        </p:txBody>
      </p:sp>
      <p:graphicFrame>
        <p:nvGraphicFramePr>
          <p:cNvPr id="6" name="对象 5">
            <a:extLst>
              <a:ext uri="{FF2B5EF4-FFF2-40B4-BE49-F238E27FC236}">
                <a16:creationId xmlns:a16="http://schemas.microsoft.com/office/drawing/2014/main" id="{4C8C2C8A-F552-422C-A7F7-F0F76C2C5F12}"/>
              </a:ext>
            </a:extLst>
          </p:cNvPr>
          <p:cNvGraphicFramePr>
            <a:graphicFrameLocks noChangeAspect="1"/>
          </p:cNvGraphicFramePr>
          <p:nvPr>
            <p:extLst>
              <p:ext uri="{D42A27DB-BD31-4B8C-83A1-F6EECF244321}">
                <p14:modId xmlns:p14="http://schemas.microsoft.com/office/powerpoint/2010/main" val="717164131"/>
              </p:ext>
            </p:extLst>
          </p:nvPr>
        </p:nvGraphicFramePr>
        <p:xfrm>
          <a:off x="3472337" y="1130615"/>
          <a:ext cx="5247326" cy="729358"/>
        </p:xfrm>
        <a:graphic>
          <a:graphicData uri="http://schemas.openxmlformats.org/presentationml/2006/ole">
            <mc:AlternateContent xmlns:mc="http://schemas.openxmlformats.org/markup-compatibility/2006">
              <mc:Choice xmlns:v="urn:schemas-microsoft-com:vml" Requires="v">
                <p:oleObj name="Equation" r:id="rId2" imgW="3288960" imgH="457200" progId="Equation.DSMT4">
                  <p:embed/>
                </p:oleObj>
              </mc:Choice>
              <mc:Fallback>
                <p:oleObj name="Equation" r:id="rId2" imgW="3288960" imgH="457200" progId="Equation.DSMT4">
                  <p:embed/>
                  <p:pic>
                    <p:nvPicPr>
                      <p:cNvPr id="0" name=""/>
                      <p:cNvPicPr/>
                      <p:nvPr/>
                    </p:nvPicPr>
                    <p:blipFill>
                      <a:blip r:embed="rId3"/>
                      <a:stretch>
                        <a:fillRect/>
                      </a:stretch>
                    </p:blipFill>
                    <p:spPr>
                      <a:xfrm>
                        <a:off x="3472337" y="1130615"/>
                        <a:ext cx="5247326" cy="729358"/>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F080C7CE-3454-4FAA-A91C-6F745E7F22A1}"/>
              </a:ext>
            </a:extLst>
          </p:cNvPr>
          <p:cNvGraphicFramePr>
            <a:graphicFrameLocks noChangeAspect="1"/>
          </p:cNvGraphicFramePr>
          <p:nvPr>
            <p:extLst>
              <p:ext uri="{D42A27DB-BD31-4B8C-83A1-F6EECF244321}">
                <p14:modId xmlns:p14="http://schemas.microsoft.com/office/powerpoint/2010/main" val="934992274"/>
              </p:ext>
            </p:extLst>
          </p:nvPr>
        </p:nvGraphicFramePr>
        <p:xfrm>
          <a:off x="11049496" y="1329400"/>
          <a:ext cx="456207" cy="331787"/>
        </p:xfrm>
        <a:graphic>
          <a:graphicData uri="http://schemas.openxmlformats.org/presentationml/2006/ole">
            <mc:AlternateContent xmlns:mc="http://schemas.openxmlformats.org/markup-compatibility/2006">
              <mc:Choice xmlns:v="urn:schemas-microsoft-com:vml" Requires="v">
                <p:oleObj name="Equation" r:id="rId4" imgW="279360" imgH="203040" progId="Equation.DSMT4">
                  <p:embed/>
                </p:oleObj>
              </mc:Choice>
              <mc:Fallback>
                <p:oleObj name="Equation" r:id="rId4" imgW="279360" imgH="203040" progId="Equation.DSMT4">
                  <p:embed/>
                  <p:pic>
                    <p:nvPicPr>
                      <p:cNvPr id="0" name=""/>
                      <p:cNvPicPr/>
                      <p:nvPr/>
                    </p:nvPicPr>
                    <p:blipFill>
                      <a:blip r:embed="rId5"/>
                      <a:stretch>
                        <a:fillRect/>
                      </a:stretch>
                    </p:blipFill>
                    <p:spPr>
                      <a:xfrm>
                        <a:off x="11049496" y="1329400"/>
                        <a:ext cx="456207" cy="331787"/>
                      </a:xfrm>
                      <a:prstGeom prst="rect">
                        <a:avLst/>
                      </a:prstGeom>
                    </p:spPr>
                  </p:pic>
                </p:oleObj>
              </mc:Fallback>
            </mc:AlternateContent>
          </a:graphicData>
        </a:graphic>
      </p:graphicFrame>
      <p:sp>
        <p:nvSpPr>
          <p:cNvPr id="8" name="文本框 7">
            <a:extLst>
              <a:ext uri="{FF2B5EF4-FFF2-40B4-BE49-F238E27FC236}">
                <a16:creationId xmlns:a16="http://schemas.microsoft.com/office/drawing/2014/main" id="{7B586D25-895F-4620-BAA7-5C0DE77E601E}"/>
              </a:ext>
            </a:extLst>
          </p:cNvPr>
          <p:cNvSpPr txBox="1"/>
          <p:nvPr/>
        </p:nvSpPr>
        <p:spPr>
          <a:xfrm>
            <a:off x="509802" y="1955750"/>
            <a:ext cx="10995901" cy="2031325"/>
          </a:xfrm>
          <a:prstGeom prst="rect">
            <a:avLst/>
          </a:prstGeom>
          <a:noFill/>
        </p:spPr>
        <p:txBody>
          <a:bodyPr wrap="square" rtlCol="0">
            <a:spAutoFit/>
          </a:bodyPr>
          <a:lstStyle/>
          <a:p>
            <a:r>
              <a:rPr lang="en-US" altLang="zh-CN" dirty="0"/>
              <a:t>x</a:t>
            </a:r>
            <a:r>
              <a:rPr lang="zh-CN" altLang="en-US" dirty="0"/>
              <a:t>≤</a:t>
            </a:r>
            <a:r>
              <a:rPr lang="en-US" altLang="zh-CN" dirty="0"/>
              <a:t>-</a:t>
            </a:r>
            <a:r>
              <a:rPr lang="en-US" altLang="zh-CN" dirty="0" err="1"/>
              <a:t>x</a:t>
            </a:r>
            <a:r>
              <a:rPr lang="en-US" altLang="zh-CN" baseline="-25000" dirty="0" err="1"/>
              <a:t>p</a:t>
            </a:r>
            <a:r>
              <a:rPr lang="zh-CN" altLang="en-US" dirty="0"/>
              <a:t>处的过剩少子浓度为</a:t>
            </a:r>
            <a:endParaRPr lang="en-US" altLang="zh-CN" dirty="0"/>
          </a:p>
          <a:p>
            <a:endParaRPr lang="en-US" altLang="zh-CN" dirty="0"/>
          </a:p>
          <a:p>
            <a:endParaRPr lang="en-US" altLang="zh-CN" dirty="0"/>
          </a:p>
          <a:p>
            <a:endParaRPr lang="en-US" altLang="zh-CN" dirty="0"/>
          </a:p>
          <a:p>
            <a:endParaRPr lang="en-US" altLang="zh-CN" dirty="0"/>
          </a:p>
          <a:p>
            <a:r>
              <a:rPr lang="zh-CN" altLang="en-US" dirty="0"/>
              <a:t>少子浓度随着从空间电荷区边缘向中性区内延伸的距离的增大而指数衰减，并逐渐趋向其热平衡值。图</a:t>
            </a:r>
            <a:r>
              <a:rPr lang="en-US" altLang="zh-CN" dirty="0"/>
              <a:t>5</a:t>
            </a:r>
            <a:r>
              <a:rPr lang="zh-CN" altLang="en-US" dirty="0"/>
              <a:t>给出了上述过程的形象描述。上述过程仍然采用了</a:t>
            </a:r>
            <a:r>
              <a:rPr lang="en-US" altLang="zh-CN" dirty="0"/>
              <a:t>n</a:t>
            </a:r>
            <a:r>
              <a:rPr lang="zh-CN" altLang="en-US" dirty="0"/>
              <a:t>区与</a:t>
            </a:r>
            <a:r>
              <a:rPr lang="en-US" altLang="zh-CN" dirty="0"/>
              <a:t>p</a:t>
            </a:r>
            <a:r>
              <a:rPr lang="zh-CN" altLang="en-US" dirty="0"/>
              <a:t>区的长度远大于少子扩散长度的假设。</a:t>
            </a:r>
          </a:p>
        </p:txBody>
      </p:sp>
      <p:graphicFrame>
        <p:nvGraphicFramePr>
          <p:cNvPr id="9" name="对象 8">
            <a:extLst>
              <a:ext uri="{FF2B5EF4-FFF2-40B4-BE49-F238E27FC236}">
                <a16:creationId xmlns:a16="http://schemas.microsoft.com/office/drawing/2014/main" id="{89D0DC92-22B1-45C2-8871-17FF46F6B821}"/>
              </a:ext>
            </a:extLst>
          </p:cNvPr>
          <p:cNvGraphicFramePr>
            <a:graphicFrameLocks noChangeAspect="1"/>
          </p:cNvGraphicFramePr>
          <p:nvPr>
            <p:extLst>
              <p:ext uri="{D42A27DB-BD31-4B8C-83A1-F6EECF244321}">
                <p14:modId xmlns:p14="http://schemas.microsoft.com/office/powerpoint/2010/main" val="663638429"/>
              </p:ext>
            </p:extLst>
          </p:nvPr>
        </p:nvGraphicFramePr>
        <p:xfrm>
          <a:off x="3313112" y="2420859"/>
          <a:ext cx="5565775" cy="779642"/>
        </p:xfrm>
        <a:graphic>
          <a:graphicData uri="http://schemas.openxmlformats.org/presentationml/2006/ole">
            <mc:AlternateContent xmlns:mc="http://schemas.openxmlformats.org/markup-compatibility/2006">
              <mc:Choice xmlns:v="urn:schemas-microsoft-com:vml" Requires="v">
                <p:oleObj name="Equation" r:id="rId6" imgW="3263760" imgH="457200" progId="Equation.DSMT4">
                  <p:embed/>
                </p:oleObj>
              </mc:Choice>
              <mc:Fallback>
                <p:oleObj name="Equation" r:id="rId6" imgW="3263760" imgH="457200" progId="Equation.DSMT4">
                  <p:embed/>
                  <p:pic>
                    <p:nvPicPr>
                      <p:cNvPr id="0" name=""/>
                      <p:cNvPicPr/>
                      <p:nvPr/>
                    </p:nvPicPr>
                    <p:blipFill>
                      <a:blip r:embed="rId7"/>
                      <a:stretch>
                        <a:fillRect/>
                      </a:stretch>
                    </p:blipFill>
                    <p:spPr>
                      <a:xfrm>
                        <a:off x="3313112" y="2420859"/>
                        <a:ext cx="5565775" cy="77964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B2FBB622-6BEA-4E1C-8368-0A3836D0A1E2}"/>
              </a:ext>
            </a:extLst>
          </p:cNvPr>
          <p:cNvGraphicFramePr>
            <a:graphicFrameLocks noChangeAspect="1"/>
          </p:cNvGraphicFramePr>
          <p:nvPr>
            <p:extLst>
              <p:ext uri="{D42A27DB-BD31-4B8C-83A1-F6EECF244321}">
                <p14:modId xmlns:p14="http://schemas.microsoft.com/office/powerpoint/2010/main" val="1768528617"/>
              </p:ext>
            </p:extLst>
          </p:nvPr>
        </p:nvGraphicFramePr>
        <p:xfrm>
          <a:off x="11012142" y="2626014"/>
          <a:ext cx="530913" cy="369331"/>
        </p:xfrm>
        <a:graphic>
          <a:graphicData uri="http://schemas.openxmlformats.org/presentationml/2006/ole">
            <mc:AlternateContent xmlns:mc="http://schemas.openxmlformats.org/markup-compatibility/2006">
              <mc:Choice xmlns:v="urn:schemas-microsoft-com:vml" Requires="v">
                <p:oleObj name="Equation" r:id="rId8" imgW="291960" imgH="203040" progId="Equation.DSMT4">
                  <p:embed/>
                </p:oleObj>
              </mc:Choice>
              <mc:Fallback>
                <p:oleObj name="Equation" r:id="rId8" imgW="291960" imgH="203040" progId="Equation.DSMT4">
                  <p:embed/>
                  <p:pic>
                    <p:nvPicPr>
                      <p:cNvPr id="0" name=""/>
                      <p:cNvPicPr/>
                      <p:nvPr/>
                    </p:nvPicPr>
                    <p:blipFill>
                      <a:blip r:embed="rId9"/>
                      <a:stretch>
                        <a:fillRect/>
                      </a:stretch>
                    </p:blipFill>
                    <p:spPr>
                      <a:xfrm>
                        <a:off x="11012142" y="2626014"/>
                        <a:ext cx="530913" cy="369331"/>
                      </a:xfrm>
                      <a:prstGeom prst="rect">
                        <a:avLst/>
                      </a:prstGeom>
                    </p:spPr>
                  </p:pic>
                </p:oleObj>
              </mc:Fallback>
            </mc:AlternateContent>
          </a:graphicData>
        </a:graphic>
      </p:graphicFrame>
      <p:pic>
        <p:nvPicPr>
          <p:cNvPr id="3" name="图片 2">
            <a:extLst>
              <a:ext uri="{FF2B5EF4-FFF2-40B4-BE49-F238E27FC236}">
                <a16:creationId xmlns:a16="http://schemas.microsoft.com/office/drawing/2014/main" id="{B400217D-97E7-4526-9C16-A2927D0B6E07}"/>
              </a:ext>
            </a:extLst>
          </p:cNvPr>
          <p:cNvPicPr>
            <a:picLocks noChangeAspect="1"/>
          </p:cNvPicPr>
          <p:nvPr/>
        </p:nvPicPr>
        <p:blipFill>
          <a:blip r:embed="rId10"/>
          <a:stretch>
            <a:fillRect/>
          </a:stretch>
        </p:blipFill>
        <p:spPr>
          <a:xfrm>
            <a:off x="4079834" y="3987075"/>
            <a:ext cx="4032330" cy="2031325"/>
          </a:xfrm>
          <a:prstGeom prst="rect">
            <a:avLst/>
          </a:prstGeom>
        </p:spPr>
      </p:pic>
      <p:sp>
        <p:nvSpPr>
          <p:cNvPr id="11" name="矩形 10">
            <a:extLst>
              <a:ext uri="{FF2B5EF4-FFF2-40B4-BE49-F238E27FC236}">
                <a16:creationId xmlns:a16="http://schemas.microsoft.com/office/drawing/2014/main" id="{2CD4C160-7CE4-4ABC-A13E-EA5ED3B37B6E}"/>
              </a:ext>
            </a:extLst>
          </p:cNvPr>
          <p:cNvSpPr/>
          <p:nvPr/>
        </p:nvSpPr>
        <p:spPr>
          <a:xfrm>
            <a:off x="4208302" y="6018400"/>
            <a:ext cx="3775393" cy="338554"/>
          </a:xfrm>
          <a:prstGeom prst="rect">
            <a:avLst/>
          </a:prstGeom>
          <a:noFill/>
        </p:spPr>
        <p:txBody>
          <a:bodyPr wrap="none" lIns="91440" tIns="45720" rIns="91440" bIns="45720">
            <a:spAutoFit/>
          </a:bodyPr>
          <a:lstStyle/>
          <a:p>
            <a:pPr algn="ctr"/>
            <a:r>
              <a:rPr lang="zh-CN" altLang="en-US" sz="1600" b="0" cap="none" spc="0" dirty="0">
                <a:ln w="0"/>
                <a:solidFill>
                  <a:schemeClr val="tx1"/>
                </a:solidFill>
                <a:effectLst>
                  <a:outerShdw blurRad="38100" dist="19050" dir="2700000" algn="tl" rotWithShape="0">
                    <a:schemeClr val="dk1">
                      <a:alpha val="40000"/>
                    </a:schemeClr>
                  </a:outerShdw>
                </a:effectLst>
              </a:rPr>
              <a:t>图</a:t>
            </a:r>
            <a:r>
              <a:rPr lang="en-US" altLang="zh-CN" sz="1600" b="0" cap="none" spc="0" dirty="0">
                <a:ln w="0"/>
                <a:solidFill>
                  <a:schemeClr val="tx1"/>
                </a:solidFill>
                <a:effectLst>
                  <a:outerShdw blurRad="38100" dist="19050" dir="2700000" algn="tl" rotWithShape="0">
                    <a:schemeClr val="dk1">
                      <a:alpha val="40000"/>
                    </a:schemeClr>
                  </a:outerShdw>
                </a:effectLst>
              </a:rPr>
              <a:t>5</a:t>
            </a:r>
            <a:r>
              <a:rPr lang="zh-CN" altLang="en-US" sz="1600" b="0" cap="none" spc="0" dirty="0">
                <a:ln w="0"/>
                <a:solidFill>
                  <a:schemeClr val="tx1"/>
                </a:solidFill>
                <a:effectLst>
                  <a:outerShdw blurRad="38100" dist="19050" dir="2700000" algn="tl" rotWithShape="0">
                    <a:schemeClr val="dk1">
                      <a:alpha val="40000"/>
                    </a:schemeClr>
                  </a:outerShdw>
                </a:effectLst>
              </a:rPr>
              <a:t>：正偏条件下</a:t>
            </a:r>
            <a:r>
              <a:rPr lang="en-US" altLang="zh-CN" sz="1600" b="0" cap="none" spc="0" dirty="0" err="1">
                <a:ln w="0"/>
                <a:solidFill>
                  <a:schemeClr val="tx1"/>
                </a:solidFill>
                <a:effectLst>
                  <a:outerShdw blurRad="38100" dist="19050" dir="2700000" algn="tl" rotWithShape="0">
                    <a:schemeClr val="dk1">
                      <a:alpha val="40000"/>
                    </a:schemeClr>
                  </a:outerShdw>
                </a:effectLst>
              </a:rPr>
              <a:t>pn</a:t>
            </a:r>
            <a:r>
              <a:rPr lang="zh-CN" altLang="en-US" sz="1600" b="0" cap="none" spc="0" dirty="0">
                <a:ln w="0"/>
                <a:solidFill>
                  <a:schemeClr val="tx1"/>
                </a:solidFill>
                <a:effectLst>
                  <a:outerShdw blurRad="38100" dist="19050" dir="2700000" algn="tl" rotWithShape="0">
                    <a:schemeClr val="dk1">
                      <a:alpha val="40000"/>
                    </a:schemeClr>
                  </a:outerShdw>
                </a:effectLst>
              </a:rPr>
              <a:t>结内部稳态少子浓度</a:t>
            </a:r>
          </a:p>
        </p:txBody>
      </p:sp>
    </p:spTree>
    <p:extLst>
      <p:ext uri="{BB962C8B-B14F-4D97-AF65-F5344CB8AC3E}">
        <p14:creationId xmlns:p14="http://schemas.microsoft.com/office/powerpoint/2010/main" val="545266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7A342F1-BAA7-41C2-8CB1-FC3CB433076E}"/>
              </a:ext>
            </a:extLst>
          </p:cNvPr>
          <p:cNvSpPr>
            <a:spLocks noGrp="1"/>
          </p:cNvSpPr>
          <p:nvPr>
            <p:ph type="sldNum" sz="quarter" idx="12"/>
          </p:nvPr>
        </p:nvSpPr>
        <p:spPr/>
        <p:txBody>
          <a:bodyPr/>
          <a:lstStyle/>
          <a:p>
            <a:pPr>
              <a:defRPr/>
            </a:pPr>
            <a:fld id="{DB5F2CA6-A39B-48F7-84D1-AF91BD07D67D}" type="slidenum">
              <a:rPr lang="en-US" altLang="zh-CN" smtClean="0"/>
              <a:pPr>
                <a:defRPr/>
              </a:pPr>
              <a:t>12</a:t>
            </a:fld>
            <a:endParaRPr lang="en-US" altLang="zh-CN"/>
          </a:p>
        </p:txBody>
      </p:sp>
      <p:sp>
        <p:nvSpPr>
          <p:cNvPr id="5" name="矩形 4">
            <a:extLst>
              <a:ext uri="{FF2B5EF4-FFF2-40B4-BE49-F238E27FC236}">
                <a16:creationId xmlns:a16="http://schemas.microsoft.com/office/drawing/2014/main" id="{DCB98C92-E13D-4710-B276-7411E20B9419}"/>
              </a:ext>
            </a:extLst>
          </p:cNvPr>
          <p:cNvSpPr/>
          <p:nvPr/>
        </p:nvSpPr>
        <p:spPr>
          <a:xfrm>
            <a:off x="509802" y="607395"/>
            <a:ext cx="2721771" cy="523220"/>
          </a:xfrm>
          <a:prstGeom prst="rect">
            <a:avLst/>
          </a:prstGeom>
          <a:noFill/>
        </p:spPr>
        <p:txBody>
          <a:bodyPr wrap="square" lIns="91440" tIns="45720" rIns="91440" bIns="45720">
            <a:spAutoFit/>
          </a:bodyPr>
          <a:lstStyle/>
          <a:p>
            <a:pPr algn="ctr"/>
            <a:r>
              <a:rPr lang="zh-CN" altLang="en-US" sz="2800" dirty="0">
                <a:ln w="0"/>
                <a:solidFill>
                  <a:schemeClr val="accent1"/>
                </a:solidFill>
                <a:effectLst>
                  <a:outerShdw blurRad="38100" dist="25400" dir="5400000" algn="ctr" rotWithShape="0">
                    <a:srgbClr val="6E747A">
                      <a:alpha val="43000"/>
                    </a:srgbClr>
                  </a:outerShdw>
                </a:effectLst>
              </a:rPr>
              <a:t>少数载流子分布</a:t>
            </a:r>
            <a:endParaRPr lang="zh-CN" altLang="en-US" sz="2800" b="0" cap="none" spc="0" dirty="0">
              <a:ln w="0"/>
              <a:solidFill>
                <a:schemeClr val="accent1"/>
              </a:solidFill>
              <a:effectLst>
                <a:outerShdw blurRad="38100" dist="25400" dir="5400000" algn="ctr" rotWithShape="0">
                  <a:srgbClr val="6E747A">
                    <a:alpha val="43000"/>
                  </a:srgbClr>
                </a:outerShdw>
              </a:effectLst>
            </a:endParaRPr>
          </a:p>
        </p:txBody>
      </p:sp>
      <p:sp>
        <p:nvSpPr>
          <p:cNvPr id="2" name="文本框 1">
            <a:extLst>
              <a:ext uri="{FF2B5EF4-FFF2-40B4-BE49-F238E27FC236}">
                <a16:creationId xmlns:a16="http://schemas.microsoft.com/office/drawing/2014/main" id="{6FBB23A6-5BCF-4129-938C-25B7710BF3E8}"/>
              </a:ext>
            </a:extLst>
          </p:cNvPr>
          <p:cNvSpPr txBox="1"/>
          <p:nvPr/>
        </p:nvSpPr>
        <p:spPr>
          <a:xfrm>
            <a:off x="623455" y="1130615"/>
            <a:ext cx="11058743" cy="3139321"/>
          </a:xfrm>
          <a:prstGeom prst="rect">
            <a:avLst/>
          </a:prstGeom>
          <a:noFill/>
        </p:spPr>
        <p:txBody>
          <a:bodyPr wrap="square" rtlCol="0">
            <a:spAutoFit/>
          </a:bodyPr>
          <a:lstStyle/>
          <a:p>
            <a:r>
              <a:rPr lang="en-US" altLang="zh-CN" dirty="0"/>
              <a:t>        </a:t>
            </a:r>
            <a:r>
              <a:rPr lang="zh-CN" altLang="en-US" dirty="0"/>
              <a:t>回顾非本征条件下过剩载流子准费米能级的概念。由于过剩电子和空穴分别存在于电中性的</a:t>
            </a:r>
            <a:r>
              <a:rPr lang="en-US" altLang="zh-CN" dirty="0"/>
              <a:t>p</a:t>
            </a:r>
            <a:r>
              <a:rPr lang="zh-CN" altLang="en-US" dirty="0"/>
              <a:t>区和</a:t>
            </a:r>
            <a:r>
              <a:rPr lang="en-US" altLang="zh-CN" dirty="0"/>
              <a:t>n</a:t>
            </a:r>
            <a:r>
              <a:rPr lang="zh-CN" altLang="en-US" dirty="0"/>
              <a:t>区，因此，在此区域中，我们应用</a:t>
            </a:r>
            <a:r>
              <a:rPr lang="zh-CN" altLang="en-US" dirty="0">
                <a:solidFill>
                  <a:srgbClr val="FF0000"/>
                </a:solidFill>
              </a:rPr>
              <a:t>准费米能级</a:t>
            </a:r>
            <a:r>
              <a:rPr lang="zh-CN" altLang="en-US" dirty="0"/>
              <a:t>的概念。根据载流子浓度定义了准费米能级</a:t>
            </a:r>
            <a:endParaRPr lang="en-US" altLang="zh-CN" dirty="0"/>
          </a:p>
          <a:p>
            <a:endParaRPr lang="en-US" altLang="zh-CN" dirty="0"/>
          </a:p>
          <a:p>
            <a:endParaRPr lang="en-US" altLang="zh-CN" dirty="0"/>
          </a:p>
          <a:p>
            <a:r>
              <a:rPr lang="zh-CN" altLang="en-US" dirty="0"/>
              <a:t>和</a:t>
            </a:r>
            <a:endParaRPr lang="en-US" altLang="zh-CN" dirty="0"/>
          </a:p>
          <a:p>
            <a:endParaRPr lang="en-US" altLang="zh-CN" dirty="0"/>
          </a:p>
          <a:p>
            <a:endParaRPr lang="en-US" altLang="zh-CN" dirty="0"/>
          </a:p>
          <a:p>
            <a:endParaRPr lang="en-US" altLang="zh-CN" dirty="0"/>
          </a:p>
          <a:p>
            <a:r>
              <a:rPr lang="en-US" altLang="zh-CN" dirty="0"/>
              <a:t>        </a:t>
            </a:r>
            <a:r>
              <a:rPr lang="zh-CN" altLang="en-US" dirty="0"/>
              <a:t>如图</a:t>
            </a:r>
            <a:r>
              <a:rPr lang="en-US" altLang="zh-CN" dirty="0"/>
              <a:t>6</a:t>
            </a:r>
            <a:r>
              <a:rPr lang="zh-CN" altLang="en-US" dirty="0"/>
              <a:t>所示，准费米能级通过</a:t>
            </a:r>
            <a:r>
              <a:rPr lang="en-US" altLang="zh-CN" dirty="0" err="1"/>
              <a:t>pn</a:t>
            </a:r>
            <a:r>
              <a:rPr lang="zh-CN" altLang="en-US" dirty="0"/>
              <a:t>结。由式</a:t>
            </a:r>
            <a:r>
              <a:rPr lang="en-US" altLang="zh-CN" dirty="0"/>
              <a:t>(15)</a:t>
            </a:r>
            <a:r>
              <a:rPr lang="zh-CN" altLang="en-US" dirty="0"/>
              <a:t>和式</a:t>
            </a:r>
            <a:r>
              <a:rPr lang="en-US" altLang="zh-CN" dirty="0"/>
              <a:t>(16)</a:t>
            </a:r>
            <a:r>
              <a:rPr lang="zh-CN" altLang="en-US" dirty="0"/>
              <a:t>知，过剩载流子浓度与距离呈指数关系，由式</a:t>
            </a:r>
            <a:r>
              <a:rPr lang="en-US" altLang="zh-CN" dirty="0"/>
              <a:t>(17)</a:t>
            </a:r>
            <a:r>
              <a:rPr lang="zh-CN" altLang="en-US" dirty="0"/>
              <a:t>和式</a:t>
            </a:r>
            <a:r>
              <a:rPr lang="en-US" altLang="zh-CN" dirty="0"/>
              <a:t>(18)</a:t>
            </a:r>
            <a:r>
              <a:rPr lang="zh-CN" altLang="en-US" dirty="0"/>
              <a:t>知，过剩载流子浓度与费米能级呈指数关系。如图</a:t>
            </a:r>
            <a:r>
              <a:rPr lang="en-US" altLang="zh-CN" dirty="0"/>
              <a:t>6</a:t>
            </a:r>
            <a:r>
              <a:rPr lang="zh-CN" altLang="en-US" dirty="0"/>
              <a:t>所示，准费米能级与中性</a:t>
            </a:r>
            <a:r>
              <a:rPr lang="en-US" altLang="zh-CN" dirty="0"/>
              <a:t>p</a:t>
            </a:r>
            <a:r>
              <a:rPr lang="zh-CN" altLang="en-US" dirty="0"/>
              <a:t>区和</a:t>
            </a:r>
            <a:r>
              <a:rPr lang="en-US" altLang="zh-CN" dirty="0"/>
              <a:t>n</a:t>
            </a:r>
            <a:r>
              <a:rPr lang="zh-CN" altLang="en-US" dirty="0"/>
              <a:t>区的距离呈线性关系。</a:t>
            </a:r>
          </a:p>
        </p:txBody>
      </p:sp>
      <p:graphicFrame>
        <p:nvGraphicFramePr>
          <p:cNvPr id="3" name="对象 2">
            <a:extLst>
              <a:ext uri="{FF2B5EF4-FFF2-40B4-BE49-F238E27FC236}">
                <a16:creationId xmlns:a16="http://schemas.microsoft.com/office/drawing/2014/main" id="{169F3E8F-7925-46E9-896B-E549C0A18DBC}"/>
              </a:ext>
            </a:extLst>
          </p:cNvPr>
          <p:cNvGraphicFramePr>
            <a:graphicFrameLocks noChangeAspect="1"/>
          </p:cNvGraphicFramePr>
          <p:nvPr>
            <p:extLst>
              <p:ext uri="{D42A27DB-BD31-4B8C-83A1-F6EECF244321}">
                <p14:modId xmlns:p14="http://schemas.microsoft.com/office/powerpoint/2010/main" val="3561871581"/>
              </p:ext>
            </p:extLst>
          </p:nvPr>
        </p:nvGraphicFramePr>
        <p:xfrm>
          <a:off x="4634927" y="1776946"/>
          <a:ext cx="3035797" cy="646331"/>
        </p:xfrm>
        <a:graphic>
          <a:graphicData uri="http://schemas.openxmlformats.org/presentationml/2006/ole">
            <mc:AlternateContent xmlns:mc="http://schemas.openxmlformats.org/markup-compatibility/2006">
              <mc:Choice xmlns:v="urn:schemas-microsoft-com:vml" Requires="v">
                <p:oleObj name="Equation" r:id="rId2" imgW="1968480" imgH="419040" progId="Equation.DSMT4">
                  <p:embed/>
                </p:oleObj>
              </mc:Choice>
              <mc:Fallback>
                <p:oleObj name="Equation" r:id="rId2" imgW="1968480" imgH="419040" progId="Equation.DSMT4">
                  <p:embed/>
                  <p:pic>
                    <p:nvPicPr>
                      <p:cNvPr id="0" name=""/>
                      <p:cNvPicPr/>
                      <p:nvPr/>
                    </p:nvPicPr>
                    <p:blipFill>
                      <a:blip r:embed="rId3"/>
                      <a:stretch>
                        <a:fillRect/>
                      </a:stretch>
                    </p:blipFill>
                    <p:spPr>
                      <a:xfrm>
                        <a:off x="4634927" y="1776946"/>
                        <a:ext cx="3035797" cy="646331"/>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F9E1887D-44B7-4480-ACB1-AB46DCE42C93}"/>
              </a:ext>
            </a:extLst>
          </p:cNvPr>
          <p:cNvGraphicFramePr>
            <a:graphicFrameLocks noChangeAspect="1"/>
          </p:cNvGraphicFramePr>
          <p:nvPr>
            <p:extLst>
              <p:ext uri="{D42A27DB-BD31-4B8C-83A1-F6EECF244321}">
                <p14:modId xmlns:p14="http://schemas.microsoft.com/office/powerpoint/2010/main" val="1381236043"/>
              </p:ext>
            </p:extLst>
          </p:nvPr>
        </p:nvGraphicFramePr>
        <p:xfrm>
          <a:off x="11054065" y="1944609"/>
          <a:ext cx="447070" cy="311005"/>
        </p:xfrm>
        <a:graphic>
          <a:graphicData uri="http://schemas.openxmlformats.org/presentationml/2006/ole">
            <mc:AlternateContent xmlns:mc="http://schemas.openxmlformats.org/markup-compatibility/2006">
              <mc:Choice xmlns:v="urn:schemas-microsoft-com:vml" Requires="v">
                <p:oleObj name="Equation" r:id="rId4" imgW="291960" imgH="203040" progId="Equation.DSMT4">
                  <p:embed/>
                </p:oleObj>
              </mc:Choice>
              <mc:Fallback>
                <p:oleObj name="Equation" r:id="rId4" imgW="291960" imgH="203040" progId="Equation.DSMT4">
                  <p:embed/>
                  <p:pic>
                    <p:nvPicPr>
                      <p:cNvPr id="0" name=""/>
                      <p:cNvPicPr/>
                      <p:nvPr/>
                    </p:nvPicPr>
                    <p:blipFill>
                      <a:blip r:embed="rId5"/>
                      <a:stretch>
                        <a:fillRect/>
                      </a:stretch>
                    </p:blipFill>
                    <p:spPr>
                      <a:xfrm>
                        <a:off x="11054065" y="1944609"/>
                        <a:ext cx="447070" cy="311005"/>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07C9E465-2020-4B86-8508-B05714942B3E}"/>
              </a:ext>
            </a:extLst>
          </p:cNvPr>
          <p:cNvGraphicFramePr>
            <a:graphicFrameLocks noChangeAspect="1"/>
          </p:cNvGraphicFramePr>
          <p:nvPr>
            <p:extLst>
              <p:ext uri="{D42A27DB-BD31-4B8C-83A1-F6EECF244321}">
                <p14:modId xmlns:p14="http://schemas.microsoft.com/office/powerpoint/2010/main" val="3768232431"/>
              </p:ext>
            </p:extLst>
          </p:nvPr>
        </p:nvGraphicFramePr>
        <p:xfrm>
          <a:off x="4599548" y="2607944"/>
          <a:ext cx="3106554" cy="646330"/>
        </p:xfrm>
        <a:graphic>
          <a:graphicData uri="http://schemas.openxmlformats.org/presentationml/2006/ole">
            <mc:AlternateContent xmlns:mc="http://schemas.openxmlformats.org/markup-compatibility/2006">
              <mc:Choice xmlns:v="urn:schemas-microsoft-com:vml" Requires="v">
                <p:oleObj name="Equation" r:id="rId6" imgW="1892160" imgH="393480" progId="Equation.DSMT4">
                  <p:embed/>
                </p:oleObj>
              </mc:Choice>
              <mc:Fallback>
                <p:oleObj name="Equation" r:id="rId6" imgW="1892160" imgH="393480" progId="Equation.DSMT4">
                  <p:embed/>
                  <p:pic>
                    <p:nvPicPr>
                      <p:cNvPr id="0" name=""/>
                      <p:cNvPicPr/>
                      <p:nvPr/>
                    </p:nvPicPr>
                    <p:blipFill>
                      <a:blip r:embed="rId7"/>
                      <a:stretch>
                        <a:fillRect/>
                      </a:stretch>
                    </p:blipFill>
                    <p:spPr>
                      <a:xfrm>
                        <a:off x="4599548" y="2607944"/>
                        <a:ext cx="3106554" cy="64633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3A37CF26-CF5F-435E-BFFC-6D1646DC4511}"/>
              </a:ext>
            </a:extLst>
          </p:cNvPr>
          <p:cNvGraphicFramePr>
            <a:graphicFrameLocks noChangeAspect="1"/>
          </p:cNvGraphicFramePr>
          <p:nvPr>
            <p:extLst>
              <p:ext uri="{D42A27DB-BD31-4B8C-83A1-F6EECF244321}">
                <p14:modId xmlns:p14="http://schemas.microsoft.com/office/powerpoint/2010/main" val="2900480065"/>
              </p:ext>
            </p:extLst>
          </p:nvPr>
        </p:nvGraphicFramePr>
        <p:xfrm>
          <a:off x="11054065" y="2765215"/>
          <a:ext cx="456207" cy="331787"/>
        </p:xfrm>
        <a:graphic>
          <a:graphicData uri="http://schemas.openxmlformats.org/presentationml/2006/ole">
            <mc:AlternateContent xmlns:mc="http://schemas.openxmlformats.org/markup-compatibility/2006">
              <mc:Choice xmlns:v="urn:schemas-microsoft-com:vml" Requires="v">
                <p:oleObj name="Equation" r:id="rId8" imgW="279360" imgH="203040" progId="Equation.DSMT4">
                  <p:embed/>
                </p:oleObj>
              </mc:Choice>
              <mc:Fallback>
                <p:oleObj name="Equation" r:id="rId8" imgW="279360" imgH="203040" progId="Equation.DSMT4">
                  <p:embed/>
                  <p:pic>
                    <p:nvPicPr>
                      <p:cNvPr id="0" name=""/>
                      <p:cNvPicPr/>
                      <p:nvPr/>
                    </p:nvPicPr>
                    <p:blipFill>
                      <a:blip r:embed="rId9"/>
                      <a:stretch>
                        <a:fillRect/>
                      </a:stretch>
                    </p:blipFill>
                    <p:spPr>
                      <a:xfrm>
                        <a:off x="11054065" y="2765215"/>
                        <a:ext cx="456207" cy="331787"/>
                      </a:xfrm>
                      <a:prstGeom prst="rect">
                        <a:avLst/>
                      </a:prstGeom>
                    </p:spPr>
                  </p:pic>
                </p:oleObj>
              </mc:Fallback>
            </mc:AlternateContent>
          </a:graphicData>
        </a:graphic>
      </p:graphicFrame>
      <p:pic>
        <p:nvPicPr>
          <p:cNvPr id="10" name="图片 9">
            <a:extLst>
              <a:ext uri="{FF2B5EF4-FFF2-40B4-BE49-F238E27FC236}">
                <a16:creationId xmlns:a16="http://schemas.microsoft.com/office/drawing/2014/main" id="{0C75E985-D2E3-44FC-AE43-D7598114B52C}"/>
              </a:ext>
            </a:extLst>
          </p:cNvPr>
          <p:cNvPicPr>
            <a:picLocks noChangeAspect="1"/>
          </p:cNvPicPr>
          <p:nvPr/>
        </p:nvPicPr>
        <p:blipFill>
          <a:blip r:embed="rId10"/>
          <a:stretch>
            <a:fillRect/>
          </a:stretch>
        </p:blipFill>
        <p:spPr>
          <a:xfrm>
            <a:off x="4330606" y="4010341"/>
            <a:ext cx="3644438" cy="2497655"/>
          </a:xfrm>
          <a:prstGeom prst="rect">
            <a:avLst/>
          </a:prstGeom>
        </p:spPr>
      </p:pic>
      <p:sp>
        <p:nvSpPr>
          <p:cNvPr id="11" name="矩形 10">
            <a:extLst>
              <a:ext uri="{FF2B5EF4-FFF2-40B4-BE49-F238E27FC236}">
                <a16:creationId xmlns:a16="http://schemas.microsoft.com/office/drawing/2014/main" id="{6127A8BF-D488-4CF7-ABA6-B27CF2F25ACC}"/>
              </a:ext>
            </a:extLst>
          </p:cNvPr>
          <p:cNvSpPr/>
          <p:nvPr/>
        </p:nvSpPr>
        <p:spPr>
          <a:xfrm>
            <a:off x="4848622" y="6507996"/>
            <a:ext cx="2608406" cy="307777"/>
          </a:xfrm>
          <a:prstGeom prst="rect">
            <a:avLst/>
          </a:prstGeom>
          <a:noFill/>
        </p:spPr>
        <p:txBody>
          <a:bodyPr wrap="none" lIns="91440" tIns="45720" rIns="91440" bIns="45720">
            <a:spAutoFit/>
          </a:bodyPr>
          <a:lstStyle/>
          <a:p>
            <a:pPr algn="ctr"/>
            <a:r>
              <a:rPr lang="zh-CN" altLang="en-US" sz="1400" b="0" cap="none" spc="0" dirty="0">
                <a:ln w="0"/>
                <a:solidFill>
                  <a:schemeClr val="tx1"/>
                </a:solidFill>
                <a:effectLst>
                  <a:outerShdw blurRad="38100" dist="19050" dir="2700000" algn="tl" rotWithShape="0">
                    <a:schemeClr val="dk1">
                      <a:alpha val="40000"/>
                    </a:schemeClr>
                  </a:outerShdw>
                </a:effectLst>
              </a:rPr>
              <a:t>图</a:t>
            </a:r>
            <a:r>
              <a:rPr lang="en-US" altLang="zh-CN" sz="1400" b="0" cap="none" spc="0" dirty="0">
                <a:ln w="0"/>
                <a:solidFill>
                  <a:schemeClr val="tx1"/>
                </a:solidFill>
                <a:effectLst>
                  <a:outerShdw blurRad="38100" dist="19050" dir="2700000" algn="tl" rotWithShape="0">
                    <a:schemeClr val="dk1">
                      <a:alpha val="40000"/>
                    </a:schemeClr>
                  </a:outerShdw>
                </a:effectLst>
              </a:rPr>
              <a:t>6</a:t>
            </a:r>
            <a:r>
              <a:rPr lang="zh-CN" altLang="en-US" sz="1400" b="0" cap="none" spc="0" dirty="0">
                <a:ln w="0"/>
                <a:solidFill>
                  <a:schemeClr val="tx1"/>
                </a:solidFill>
                <a:effectLst>
                  <a:outerShdw blurRad="38100" dist="19050" dir="2700000" algn="tl" rotWithShape="0">
                    <a:schemeClr val="dk1">
                      <a:alpha val="40000"/>
                    </a:schemeClr>
                  </a:outerShdw>
                </a:effectLst>
              </a:rPr>
              <a:t>：正偏</a:t>
            </a:r>
            <a:r>
              <a:rPr lang="en-US" altLang="zh-CN" sz="1400" b="0" cap="none" spc="0" dirty="0" err="1">
                <a:ln w="0"/>
                <a:solidFill>
                  <a:schemeClr val="tx1"/>
                </a:solidFill>
                <a:effectLst>
                  <a:outerShdw blurRad="38100" dist="19050" dir="2700000" algn="tl" rotWithShape="0">
                    <a:schemeClr val="dk1">
                      <a:alpha val="40000"/>
                    </a:schemeClr>
                  </a:outerShdw>
                </a:effectLst>
              </a:rPr>
              <a:t>pn</a:t>
            </a:r>
            <a:r>
              <a:rPr lang="zh-CN" altLang="en-US" sz="1400" b="0" cap="none" spc="0" dirty="0">
                <a:ln w="0"/>
                <a:solidFill>
                  <a:schemeClr val="tx1"/>
                </a:solidFill>
                <a:effectLst>
                  <a:outerShdw blurRad="38100" dist="19050" dir="2700000" algn="tl" rotWithShape="0">
                    <a:schemeClr val="dk1">
                      <a:alpha val="40000"/>
                    </a:schemeClr>
                  </a:outerShdw>
                </a:effectLst>
              </a:rPr>
              <a:t>结下的准费米能级</a:t>
            </a:r>
          </a:p>
        </p:txBody>
      </p:sp>
    </p:spTree>
    <p:extLst>
      <p:ext uri="{BB962C8B-B14F-4D97-AF65-F5344CB8AC3E}">
        <p14:creationId xmlns:p14="http://schemas.microsoft.com/office/powerpoint/2010/main" val="2211583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DF6937F-93E3-44B2-8770-2F688688391D}"/>
              </a:ext>
            </a:extLst>
          </p:cNvPr>
          <p:cNvSpPr>
            <a:spLocks noGrp="1"/>
          </p:cNvSpPr>
          <p:nvPr>
            <p:ph type="sldNum" sz="quarter" idx="12"/>
          </p:nvPr>
        </p:nvSpPr>
        <p:spPr/>
        <p:txBody>
          <a:bodyPr/>
          <a:lstStyle/>
          <a:p>
            <a:pPr>
              <a:defRPr/>
            </a:pPr>
            <a:fld id="{DB5F2CA6-A39B-48F7-84D1-AF91BD07D67D}" type="slidenum">
              <a:rPr lang="en-US" altLang="zh-CN" smtClean="0"/>
              <a:pPr>
                <a:defRPr/>
              </a:pPr>
              <a:t>13</a:t>
            </a:fld>
            <a:endParaRPr lang="en-US" altLang="zh-CN"/>
          </a:p>
        </p:txBody>
      </p:sp>
      <p:sp>
        <p:nvSpPr>
          <p:cNvPr id="5" name="矩形 4">
            <a:extLst>
              <a:ext uri="{FF2B5EF4-FFF2-40B4-BE49-F238E27FC236}">
                <a16:creationId xmlns:a16="http://schemas.microsoft.com/office/drawing/2014/main" id="{1F971652-DFE3-4B7C-838C-E4F48EC94476}"/>
              </a:ext>
            </a:extLst>
          </p:cNvPr>
          <p:cNvSpPr/>
          <p:nvPr/>
        </p:nvSpPr>
        <p:spPr>
          <a:xfrm>
            <a:off x="509802" y="607395"/>
            <a:ext cx="2721771" cy="523220"/>
          </a:xfrm>
          <a:prstGeom prst="rect">
            <a:avLst/>
          </a:prstGeom>
          <a:noFill/>
        </p:spPr>
        <p:txBody>
          <a:bodyPr wrap="square" lIns="91440" tIns="45720" rIns="91440" bIns="45720">
            <a:spAutoFit/>
          </a:bodyPr>
          <a:lstStyle/>
          <a:p>
            <a:pPr algn="ctr"/>
            <a:r>
              <a:rPr lang="zh-CN" altLang="en-US" sz="2800" dirty="0">
                <a:ln w="0"/>
                <a:solidFill>
                  <a:schemeClr val="accent1"/>
                </a:solidFill>
                <a:effectLst>
                  <a:outerShdw blurRad="38100" dist="25400" dir="5400000" algn="ctr" rotWithShape="0">
                    <a:srgbClr val="6E747A">
                      <a:alpha val="43000"/>
                    </a:srgbClr>
                  </a:outerShdw>
                </a:effectLst>
              </a:rPr>
              <a:t>少数载流子分布</a:t>
            </a:r>
            <a:endParaRPr lang="zh-CN" altLang="en-US" sz="2800" b="0" cap="none" spc="0" dirty="0">
              <a:ln w="0"/>
              <a:solidFill>
                <a:schemeClr val="accent1"/>
              </a:solidFill>
              <a:effectLst>
                <a:outerShdw blurRad="38100" dist="25400" dir="5400000" algn="ctr" rotWithShape="0">
                  <a:srgbClr val="6E747A">
                    <a:alpha val="43000"/>
                  </a:srgbClr>
                </a:outerShdw>
              </a:effectLst>
            </a:endParaRPr>
          </a:p>
        </p:txBody>
      </p:sp>
      <p:sp>
        <p:nvSpPr>
          <p:cNvPr id="6" name="文本框 5">
            <a:extLst>
              <a:ext uri="{FF2B5EF4-FFF2-40B4-BE49-F238E27FC236}">
                <a16:creationId xmlns:a16="http://schemas.microsoft.com/office/drawing/2014/main" id="{C66E5A3A-00D5-45F1-A874-87FCD3F29DA9}"/>
              </a:ext>
            </a:extLst>
          </p:cNvPr>
          <p:cNvSpPr txBox="1"/>
          <p:nvPr/>
        </p:nvSpPr>
        <p:spPr>
          <a:xfrm>
            <a:off x="488373" y="1184564"/>
            <a:ext cx="11232572" cy="3416320"/>
          </a:xfrm>
          <a:prstGeom prst="rect">
            <a:avLst/>
          </a:prstGeom>
          <a:noFill/>
        </p:spPr>
        <p:txBody>
          <a:bodyPr wrap="square" rtlCol="0">
            <a:spAutoFit/>
          </a:bodyPr>
          <a:lstStyle/>
          <a:p>
            <a:r>
              <a:rPr lang="en-US" altLang="zh-CN" dirty="0"/>
              <a:t>        </a:t>
            </a:r>
            <a:r>
              <a:rPr lang="zh-CN" altLang="en-US" dirty="0"/>
              <a:t>注意到在</a:t>
            </a:r>
            <a:r>
              <a:rPr lang="en-US" altLang="zh-CN" dirty="0"/>
              <a:t>p</a:t>
            </a:r>
            <a:r>
              <a:rPr lang="zh-CN" altLang="en-US" dirty="0"/>
              <a:t>区的空间电荷区边缘有</a:t>
            </a:r>
            <a:r>
              <a:rPr lang="en-US" altLang="zh-CN" dirty="0" err="1"/>
              <a:t>E</a:t>
            </a:r>
            <a:r>
              <a:rPr lang="en-US" altLang="zh-CN" baseline="-25000" dirty="0" err="1"/>
              <a:t>fn</a:t>
            </a:r>
            <a:r>
              <a:rPr lang="en-US" altLang="zh-CN" dirty="0" err="1"/>
              <a:t>-E</a:t>
            </a:r>
            <a:r>
              <a:rPr lang="en-US" altLang="zh-CN" baseline="-25000" dirty="0" err="1"/>
              <a:t>fi</a:t>
            </a:r>
            <a:r>
              <a:rPr lang="en-US" altLang="zh-CN" dirty="0"/>
              <a:t>&gt;0</a:t>
            </a:r>
            <a:r>
              <a:rPr lang="zh-CN" altLang="en-US" dirty="0"/>
              <a:t>，也就是说</a:t>
            </a:r>
            <a:r>
              <a:rPr lang="el-GR" altLang="zh-CN" dirty="0">
                <a:ea typeface="宋体" panose="02010600030101010101" pitchFamily="2" charset="-122"/>
              </a:rPr>
              <a:t>δ</a:t>
            </a:r>
            <a:r>
              <a:rPr lang="en-US" altLang="zh-CN" dirty="0">
                <a:ea typeface="宋体" panose="02010600030101010101" pitchFamily="2" charset="-122"/>
              </a:rPr>
              <a:t>n&gt;</a:t>
            </a:r>
            <a:r>
              <a:rPr lang="en-US" altLang="zh-CN" dirty="0" err="1">
                <a:ea typeface="宋体" panose="02010600030101010101" pitchFamily="2" charset="-122"/>
              </a:rPr>
              <a:t>n</a:t>
            </a:r>
            <a:r>
              <a:rPr lang="en-US" altLang="zh-CN" baseline="-25000" dirty="0" err="1">
                <a:ea typeface="宋体" panose="02010600030101010101" pitchFamily="2" charset="-122"/>
              </a:rPr>
              <a:t>i</a:t>
            </a:r>
            <a:r>
              <a:rPr lang="zh-CN" altLang="en-US" dirty="0">
                <a:ea typeface="宋体" panose="02010600030101010101" pitchFamily="2" charset="-122"/>
              </a:rPr>
              <a:t>。远离空间电荷区的区域有</a:t>
            </a:r>
            <a:r>
              <a:rPr lang="en-US" altLang="zh-CN" dirty="0" err="1">
                <a:ea typeface="宋体" panose="02010600030101010101" pitchFamily="2" charset="-122"/>
              </a:rPr>
              <a:t>E</a:t>
            </a:r>
            <a:r>
              <a:rPr lang="en-US" altLang="zh-CN" baseline="-25000" dirty="0" err="1">
                <a:ea typeface="宋体" panose="02010600030101010101" pitchFamily="2" charset="-122"/>
              </a:rPr>
              <a:t>Fn</a:t>
            </a:r>
            <a:r>
              <a:rPr lang="en-US" altLang="zh-CN" dirty="0" err="1">
                <a:ea typeface="宋体" panose="02010600030101010101" pitchFamily="2" charset="-122"/>
              </a:rPr>
              <a:t>-E</a:t>
            </a:r>
            <a:r>
              <a:rPr lang="en-US" altLang="zh-CN" baseline="-25000" dirty="0" err="1">
                <a:ea typeface="宋体" panose="02010600030101010101" pitchFamily="2" charset="-122"/>
              </a:rPr>
              <a:t>Fi</a:t>
            </a:r>
            <a:r>
              <a:rPr lang="en-US" altLang="zh-CN" dirty="0">
                <a:ea typeface="宋体" panose="02010600030101010101" pitchFamily="2" charset="-122"/>
              </a:rPr>
              <a:t>&lt;0</a:t>
            </a:r>
            <a:r>
              <a:rPr lang="zh-CN" altLang="en-US" dirty="0">
                <a:ea typeface="宋体" panose="02010600030101010101" pitchFamily="2" charset="-122"/>
              </a:rPr>
              <a:t>，也就是说</a:t>
            </a:r>
            <a:r>
              <a:rPr lang="el-GR" altLang="zh-CN" dirty="0">
                <a:ea typeface="宋体" panose="02010600030101010101" pitchFamily="2" charset="-122"/>
              </a:rPr>
              <a:t>δ</a:t>
            </a:r>
            <a:r>
              <a:rPr lang="en-US" altLang="zh-CN" dirty="0">
                <a:ea typeface="宋体" panose="02010600030101010101" pitchFamily="2" charset="-122"/>
              </a:rPr>
              <a:t>n&lt;</a:t>
            </a:r>
            <a:r>
              <a:rPr lang="en-US" altLang="zh-CN" dirty="0" err="1">
                <a:ea typeface="宋体" panose="02010600030101010101" pitchFamily="2" charset="-122"/>
              </a:rPr>
              <a:t>n</a:t>
            </a:r>
            <a:r>
              <a:rPr lang="en-US" altLang="zh-CN" baseline="-25000" dirty="0" err="1">
                <a:ea typeface="宋体" panose="02010600030101010101" pitchFamily="2" charset="-122"/>
              </a:rPr>
              <a:t>i</a:t>
            </a:r>
            <a:r>
              <a:rPr lang="zh-CN" altLang="en-US" dirty="0">
                <a:ea typeface="宋体" panose="02010600030101010101" pitchFamily="2" charset="-122"/>
              </a:rPr>
              <a:t>，并且过剩电子的浓度接近于零。对于过剩空穴浓度有同样的结果。</a:t>
            </a:r>
            <a:endParaRPr lang="en-US" altLang="zh-CN" dirty="0">
              <a:ea typeface="宋体" panose="02010600030101010101" pitchFamily="2" charset="-122"/>
            </a:endParaRPr>
          </a:p>
          <a:p>
            <a:r>
              <a:rPr lang="en-US" altLang="zh-CN" dirty="0">
                <a:ea typeface="宋体" panose="02010600030101010101" pitchFamily="2" charset="-122"/>
              </a:rPr>
              <a:t>        </a:t>
            </a:r>
            <a:r>
              <a:rPr lang="zh-CN" altLang="en-US" dirty="0">
                <a:ea typeface="宋体" panose="02010600030101010101" pitchFamily="2" charset="-122"/>
              </a:rPr>
              <a:t>在空间电荷区边界</a:t>
            </a:r>
            <a:r>
              <a:rPr lang="en-US" altLang="zh-CN" dirty="0">
                <a:ea typeface="宋体" panose="02010600030101010101" pitchFamily="2" charset="-122"/>
              </a:rPr>
              <a:t>x=</a:t>
            </a:r>
            <a:r>
              <a:rPr lang="en-US" altLang="zh-CN" dirty="0" err="1">
                <a:ea typeface="宋体" panose="02010600030101010101" pitchFamily="2" charset="-122"/>
              </a:rPr>
              <a:t>x</a:t>
            </a:r>
            <a:r>
              <a:rPr lang="en-US" altLang="zh-CN" baseline="-25000" dirty="0" err="1">
                <a:ea typeface="宋体" panose="02010600030101010101" pitchFamily="2" charset="-122"/>
              </a:rPr>
              <a:t>n</a:t>
            </a:r>
            <a:r>
              <a:rPr lang="zh-CN" altLang="en-US" dirty="0">
                <a:ea typeface="宋体" panose="02010600030101010101" pitchFamily="2" charset="-122"/>
              </a:rPr>
              <a:t>，对于小注入</a:t>
            </a:r>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ea typeface="宋体" panose="02010600030101010101" pitchFamily="2" charset="-122"/>
              </a:rPr>
              <a:t>联立式</a:t>
            </a:r>
            <a:r>
              <a:rPr lang="en-US" altLang="zh-CN" dirty="0">
                <a:ea typeface="宋体" panose="02010600030101010101" pitchFamily="2" charset="-122"/>
              </a:rPr>
              <a:t>(17)</a:t>
            </a:r>
            <a:r>
              <a:rPr lang="zh-CN" altLang="en-US" dirty="0">
                <a:ea typeface="宋体" panose="02010600030101010101" pitchFamily="2" charset="-122"/>
              </a:rPr>
              <a:t>和式</a:t>
            </a:r>
            <a:r>
              <a:rPr lang="en-US" altLang="zh-CN" dirty="0">
                <a:ea typeface="宋体" panose="02010600030101010101" pitchFamily="2" charset="-122"/>
              </a:rPr>
              <a:t>(18)</a:t>
            </a:r>
            <a:r>
              <a:rPr lang="zh-CN" altLang="en-US" dirty="0">
                <a:ea typeface="宋体" panose="02010600030101010101" pitchFamily="2" charset="-122"/>
              </a:rPr>
              <a:t>，得</a:t>
            </a:r>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pPr algn="just"/>
            <a:r>
              <a:rPr lang="zh-CN" altLang="en-US" dirty="0">
                <a:ea typeface="宋体" panose="02010600030101010101" pitchFamily="2" charset="-122"/>
              </a:rPr>
              <a:t>比较式</a:t>
            </a:r>
            <a:r>
              <a:rPr lang="en-US" altLang="zh-CN" dirty="0">
                <a:ea typeface="宋体" panose="02010600030101010101" pitchFamily="2" charset="-122"/>
              </a:rPr>
              <a:t>(19)</a:t>
            </a:r>
            <a:r>
              <a:rPr lang="zh-CN" altLang="en-US" dirty="0">
                <a:ea typeface="宋体" panose="02010600030101010101" pitchFamily="2" charset="-122"/>
              </a:rPr>
              <a:t>和式</a:t>
            </a:r>
            <a:r>
              <a:rPr lang="en-US" altLang="zh-CN" dirty="0">
                <a:ea typeface="宋体" panose="02010600030101010101" pitchFamily="2" charset="-122"/>
              </a:rPr>
              <a:t>(20)</a:t>
            </a:r>
            <a:r>
              <a:rPr lang="zh-CN" altLang="en-US" dirty="0">
                <a:ea typeface="宋体" panose="02010600030101010101" pitchFamily="2" charset="-122"/>
              </a:rPr>
              <a:t>，准费米能级的不同与所加偏置电压</a:t>
            </a:r>
            <a:r>
              <a:rPr lang="en-US" altLang="zh-CN" dirty="0" err="1">
                <a:ea typeface="宋体" panose="02010600030101010101" pitchFamily="2" charset="-122"/>
              </a:rPr>
              <a:t>V</a:t>
            </a:r>
            <a:r>
              <a:rPr lang="en-US" altLang="zh-CN" baseline="-25000" dirty="0" err="1">
                <a:ea typeface="宋体" panose="02010600030101010101" pitchFamily="2" charset="-122"/>
              </a:rPr>
              <a:t>a</a:t>
            </a:r>
            <a:r>
              <a:rPr lang="zh-CN" altLang="en-US" dirty="0">
                <a:ea typeface="宋体" panose="02010600030101010101" pitchFamily="2" charset="-122"/>
              </a:rPr>
              <a:t>有关，同时也表示出了来自热平衡的误差。在耗尽区</a:t>
            </a:r>
            <a:r>
              <a:rPr lang="en-US" altLang="zh-CN" dirty="0" err="1">
                <a:ea typeface="宋体" panose="02010600030101010101" pitchFamily="2" charset="-122"/>
              </a:rPr>
              <a:t>E</a:t>
            </a:r>
            <a:r>
              <a:rPr lang="en-US" altLang="zh-CN" baseline="-25000" dirty="0" err="1">
                <a:ea typeface="宋体" panose="02010600030101010101" pitchFamily="2" charset="-122"/>
              </a:rPr>
              <a:t>Fn</a:t>
            </a:r>
            <a:r>
              <a:rPr lang="zh-CN" altLang="en-US" dirty="0">
                <a:ea typeface="宋体" panose="02010600030101010101" pitchFamily="2" charset="-122"/>
              </a:rPr>
              <a:t>和</a:t>
            </a:r>
            <a:r>
              <a:rPr lang="en-US" altLang="zh-CN" dirty="0" err="1">
                <a:ea typeface="宋体" panose="02010600030101010101" pitchFamily="2" charset="-122"/>
              </a:rPr>
              <a:t>E</a:t>
            </a:r>
            <a:r>
              <a:rPr lang="en-US" altLang="zh-CN" baseline="-25000" dirty="0" err="1">
                <a:ea typeface="宋体" panose="02010600030101010101" pitchFamily="2" charset="-122"/>
              </a:rPr>
              <a:t>Fp</a:t>
            </a:r>
            <a:r>
              <a:rPr lang="zh-CN" altLang="en-US" dirty="0">
                <a:ea typeface="宋体" panose="02010600030101010101" pitchFamily="2" charset="-122"/>
              </a:rPr>
              <a:t>的差几乎不变。</a:t>
            </a:r>
            <a:endParaRPr lang="en-US" altLang="zh-CN" dirty="0">
              <a:ea typeface="宋体" panose="02010600030101010101" pitchFamily="2" charset="-122"/>
            </a:endParaRPr>
          </a:p>
        </p:txBody>
      </p:sp>
      <p:graphicFrame>
        <p:nvGraphicFramePr>
          <p:cNvPr id="7" name="对象 6">
            <a:extLst>
              <a:ext uri="{FF2B5EF4-FFF2-40B4-BE49-F238E27FC236}">
                <a16:creationId xmlns:a16="http://schemas.microsoft.com/office/drawing/2014/main" id="{09EF4D76-665E-4FF3-973C-0AE7429C514B}"/>
              </a:ext>
            </a:extLst>
          </p:cNvPr>
          <p:cNvGraphicFramePr>
            <a:graphicFrameLocks noChangeAspect="1"/>
          </p:cNvGraphicFramePr>
          <p:nvPr>
            <p:extLst>
              <p:ext uri="{D42A27DB-BD31-4B8C-83A1-F6EECF244321}">
                <p14:modId xmlns:p14="http://schemas.microsoft.com/office/powerpoint/2010/main" val="4008391576"/>
              </p:ext>
            </p:extLst>
          </p:nvPr>
        </p:nvGraphicFramePr>
        <p:xfrm>
          <a:off x="4137316" y="2107894"/>
          <a:ext cx="3917368" cy="716078"/>
        </p:xfrm>
        <a:graphic>
          <a:graphicData uri="http://schemas.openxmlformats.org/presentationml/2006/ole">
            <mc:AlternateContent xmlns:mc="http://schemas.openxmlformats.org/markup-compatibility/2006">
              <mc:Choice xmlns:v="urn:schemas-microsoft-com:vml" Requires="v">
                <p:oleObj name="Equation" r:id="rId2" imgW="2361960" imgH="431640" progId="Equation.DSMT4">
                  <p:embed/>
                </p:oleObj>
              </mc:Choice>
              <mc:Fallback>
                <p:oleObj name="Equation" r:id="rId2" imgW="2361960" imgH="431640" progId="Equation.DSMT4">
                  <p:embed/>
                  <p:pic>
                    <p:nvPicPr>
                      <p:cNvPr id="0" name=""/>
                      <p:cNvPicPr/>
                      <p:nvPr/>
                    </p:nvPicPr>
                    <p:blipFill>
                      <a:blip r:embed="rId3"/>
                      <a:stretch>
                        <a:fillRect/>
                      </a:stretch>
                    </p:blipFill>
                    <p:spPr>
                      <a:xfrm>
                        <a:off x="4137316" y="2107894"/>
                        <a:ext cx="3917368" cy="716078"/>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7C485CA1-EDE0-4D5B-B4D9-4DA936F3D3DF}"/>
              </a:ext>
            </a:extLst>
          </p:cNvPr>
          <p:cNvGraphicFramePr>
            <a:graphicFrameLocks noChangeAspect="1"/>
          </p:cNvGraphicFramePr>
          <p:nvPr>
            <p:extLst>
              <p:ext uri="{D42A27DB-BD31-4B8C-83A1-F6EECF244321}">
                <p14:modId xmlns:p14="http://schemas.microsoft.com/office/powerpoint/2010/main" val="2208015427"/>
              </p:ext>
            </p:extLst>
          </p:nvPr>
        </p:nvGraphicFramePr>
        <p:xfrm>
          <a:off x="11027344" y="2291109"/>
          <a:ext cx="500512" cy="348182"/>
        </p:xfrm>
        <a:graphic>
          <a:graphicData uri="http://schemas.openxmlformats.org/presentationml/2006/ole">
            <mc:AlternateContent xmlns:mc="http://schemas.openxmlformats.org/markup-compatibility/2006">
              <mc:Choice xmlns:v="urn:schemas-microsoft-com:vml" Requires="v">
                <p:oleObj name="Equation" r:id="rId4" imgW="291960" imgH="203040" progId="Equation.DSMT4">
                  <p:embed/>
                </p:oleObj>
              </mc:Choice>
              <mc:Fallback>
                <p:oleObj name="Equation" r:id="rId4" imgW="291960" imgH="203040" progId="Equation.DSMT4">
                  <p:embed/>
                  <p:pic>
                    <p:nvPicPr>
                      <p:cNvPr id="0" name=""/>
                      <p:cNvPicPr/>
                      <p:nvPr/>
                    </p:nvPicPr>
                    <p:blipFill>
                      <a:blip r:embed="rId5"/>
                      <a:stretch>
                        <a:fillRect/>
                      </a:stretch>
                    </p:blipFill>
                    <p:spPr>
                      <a:xfrm>
                        <a:off x="11027344" y="2291109"/>
                        <a:ext cx="500512" cy="348182"/>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B6151EFD-898C-4B55-AF2E-0F862E7FBB9C}"/>
              </a:ext>
            </a:extLst>
          </p:cNvPr>
          <p:cNvGraphicFramePr>
            <a:graphicFrameLocks noChangeAspect="1"/>
          </p:cNvGraphicFramePr>
          <p:nvPr>
            <p:extLst>
              <p:ext uri="{D42A27DB-BD31-4B8C-83A1-F6EECF244321}">
                <p14:modId xmlns:p14="http://schemas.microsoft.com/office/powerpoint/2010/main" val="1664204740"/>
              </p:ext>
            </p:extLst>
          </p:nvPr>
        </p:nvGraphicFramePr>
        <p:xfrm>
          <a:off x="4925207" y="3215889"/>
          <a:ext cx="2341586" cy="683826"/>
        </p:xfrm>
        <a:graphic>
          <a:graphicData uri="http://schemas.openxmlformats.org/presentationml/2006/ole">
            <mc:AlternateContent xmlns:mc="http://schemas.openxmlformats.org/markup-compatibility/2006">
              <mc:Choice xmlns:v="urn:schemas-microsoft-com:vml" Requires="v">
                <p:oleObj name="Equation" r:id="rId6" imgW="1434960" imgH="419040" progId="Equation.DSMT4">
                  <p:embed/>
                </p:oleObj>
              </mc:Choice>
              <mc:Fallback>
                <p:oleObj name="Equation" r:id="rId6" imgW="1434960" imgH="419040" progId="Equation.DSMT4">
                  <p:embed/>
                  <p:pic>
                    <p:nvPicPr>
                      <p:cNvPr id="0" name=""/>
                      <p:cNvPicPr/>
                      <p:nvPr/>
                    </p:nvPicPr>
                    <p:blipFill>
                      <a:blip r:embed="rId7"/>
                      <a:stretch>
                        <a:fillRect/>
                      </a:stretch>
                    </p:blipFill>
                    <p:spPr>
                      <a:xfrm>
                        <a:off x="4925207" y="3215889"/>
                        <a:ext cx="2341586" cy="683826"/>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A099065A-F540-43E6-A8E7-2655A42D51C5}"/>
              </a:ext>
            </a:extLst>
          </p:cNvPr>
          <p:cNvGraphicFramePr>
            <a:graphicFrameLocks noChangeAspect="1"/>
          </p:cNvGraphicFramePr>
          <p:nvPr>
            <p:extLst>
              <p:ext uri="{D42A27DB-BD31-4B8C-83A1-F6EECF244321}">
                <p14:modId xmlns:p14="http://schemas.microsoft.com/office/powerpoint/2010/main" val="3497515012"/>
              </p:ext>
            </p:extLst>
          </p:nvPr>
        </p:nvGraphicFramePr>
        <p:xfrm>
          <a:off x="10996292" y="3370759"/>
          <a:ext cx="562616" cy="375077"/>
        </p:xfrm>
        <a:graphic>
          <a:graphicData uri="http://schemas.openxmlformats.org/presentationml/2006/ole">
            <mc:AlternateContent xmlns:mc="http://schemas.openxmlformats.org/markup-compatibility/2006">
              <mc:Choice xmlns:v="urn:schemas-microsoft-com:vml" Requires="v">
                <p:oleObj name="Equation" r:id="rId8" imgW="304560" imgH="203040" progId="Equation.DSMT4">
                  <p:embed/>
                </p:oleObj>
              </mc:Choice>
              <mc:Fallback>
                <p:oleObj name="Equation" r:id="rId8" imgW="304560" imgH="203040" progId="Equation.DSMT4">
                  <p:embed/>
                  <p:pic>
                    <p:nvPicPr>
                      <p:cNvPr id="0" name=""/>
                      <p:cNvPicPr/>
                      <p:nvPr/>
                    </p:nvPicPr>
                    <p:blipFill>
                      <a:blip r:embed="rId9"/>
                      <a:stretch>
                        <a:fillRect/>
                      </a:stretch>
                    </p:blipFill>
                    <p:spPr>
                      <a:xfrm>
                        <a:off x="10996292" y="3370759"/>
                        <a:ext cx="562616" cy="375077"/>
                      </a:xfrm>
                      <a:prstGeom prst="rect">
                        <a:avLst/>
                      </a:prstGeom>
                    </p:spPr>
                  </p:pic>
                </p:oleObj>
              </mc:Fallback>
            </mc:AlternateContent>
          </a:graphicData>
        </a:graphic>
      </p:graphicFrame>
      <p:sp>
        <p:nvSpPr>
          <p:cNvPr id="11" name="矩形 10">
            <a:extLst>
              <a:ext uri="{FF2B5EF4-FFF2-40B4-BE49-F238E27FC236}">
                <a16:creationId xmlns:a16="http://schemas.microsoft.com/office/drawing/2014/main" id="{184E1693-5964-4B04-AD34-01DAC83EAA6E}"/>
              </a:ext>
            </a:extLst>
          </p:cNvPr>
          <p:cNvSpPr/>
          <p:nvPr/>
        </p:nvSpPr>
        <p:spPr>
          <a:xfrm>
            <a:off x="509802" y="4600884"/>
            <a:ext cx="1005403" cy="584775"/>
          </a:xfrm>
          <a:prstGeom prst="rect">
            <a:avLst/>
          </a:prstGeom>
          <a:noFill/>
        </p:spPr>
        <p:txBody>
          <a:bodyPr wrap="none" lIns="91440" tIns="45720" rIns="91440" bIns="45720">
            <a:spAutoFit/>
          </a:bodyPr>
          <a:lstStyle/>
          <a:p>
            <a:pPr algn="ctr"/>
            <a:r>
              <a:rPr lang="zh-CN" altLang="en-US" sz="3200" b="0" cap="none" spc="0" dirty="0">
                <a:ln w="0"/>
                <a:solidFill>
                  <a:srgbClr val="FF0000"/>
                </a:solidFill>
                <a:effectLst>
                  <a:outerShdw blurRad="38100" dist="19050" dir="2700000" algn="tl" rotWithShape="0">
                    <a:schemeClr val="dk1">
                      <a:alpha val="40000"/>
                    </a:schemeClr>
                  </a:outerShdw>
                </a:effectLst>
              </a:rPr>
              <a:t>总结</a:t>
            </a:r>
          </a:p>
        </p:txBody>
      </p:sp>
      <p:sp>
        <p:nvSpPr>
          <p:cNvPr id="12" name="文本框 11">
            <a:extLst>
              <a:ext uri="{FF2B5EF4-FFF2-40B4-BE49-F238E27FC236}">
                <a16:creationId xmlns:a16="http://schemas.microsoft.com/office/drawing/2014/main" id="{2DE1D65C-DBA4-40BC-8AC3-99DA5AE13E1F}"/>
              </a:ext>
            </a:extLst>
          </p:cNvPr>
          <p:cNvSpPr txBox="1"/>
          <p:nvPr/>
        </p:nvSpPr>
        <p:spPr>
          <a:xfrm>
            <a:off x="509802" y="5091545"/>
            <a:ext cx="11232572" cy="923330"/>
          </a:xfrm>
          <a:prstGeom prst="rect">
            <a:avLst/>
          </a:prstGeom>
          <a:noFill/>
        </p:spPr>
        <p:txBody>
          <a:bodyPr wrap="square" rtlCol="0">
            <a:spAutoFit/>
          </a:bodyPr>
          <a:lstStyle/>
          <a:p>
            <a:pPr algn="just"/>
            <a:r>
              <a:rPr lang="en-US" altLang="zh-CN" dirty="0"/>
              <a:t>        </a:t>
            </a:r>
            <a:r>
              <a:rPr lang="zh-CN" altLang="en-US" dirty="0"/>
              <a:t>在此，我们总结一下前述内容。正偏电压降低了</a:t>
            </a:r>
            <a:r>
              <a:rPr lang="en-US" altLang="zh-CN" dirty="0" err="1"/>
              <a:t>pn</a:t>
            </a:r>
            <a:r>
              <a:rPr lang="zh-CN" altLang="en-US" dirty="0"/>
              <a:t>结的内建电势差，</a:t>
            </a:r>
            <a:r>
              <a:rPr lang="en-US" altLang="zh-CN" dirty="0"/>
              <a:t>n</a:t>
            </a:r>
            <a:r>
              <a:rPr lang="zh-CN" altLang="en-US" dirty="0"/>
              <a:t>区的电子穿过了空间电荷区注入</a:t>
            </a:r>
            <a:r>
              <a:rPr lang="en-US" altLang="zh-CN" dirty="0"/>
              <a:t>p</a:t>
            </a:r>
            <a:r>
              <a:rPr lang="zh-CN" altLang="en-US" dirty="0"/>
              <a:t>区</a:t>
            </a:r>
            <a:r>
              <a:rPr lang="en-US" altLang="zh-CN" dirty="0"/>
              <a:t>,</a:t>
            </a:r>
            <a:r>
              <a:rPr lang="zh-CN" altLang="en-US" dirty="0"/>
              <a:t>形成了</a:t>
            </a:r>
            <a:r>
              <a:rPr lang="en-US" altLang="zh-CN" dirty="0"/>
              <a:t>p</a:t>
            </a:r>
            <a:r>
              <a:rPr lang="zh-CN" altLang="en-US" dirty="0"/>
              <a:t>区的过剩少数载流子。这些过剩电子逐渐向电中性</a:t>
            </a:r>
            <a:r>
              <a:rPr lang="en-US" altLang="zh-CN" dirty="0"/>
              <a:t>p</a:t>
            </a:r>
            <a:r>
              <a:rPr lang="zh-CN" altLang="en-US" dirty="0"/>
              <a:t>区内扩散，然后与多子空穴复合。这样，过剩少子电子的浓度就随着距离的增加而指数衰减。上述过程同样适用于穿过空间电荷区注入</a:t>
            </a:r>
            <a:r>
              <a:rPr lang="en-US" altLang="zh-CN" dirty="0"/>
              <a:t>n</a:t>
            </a:r>
            <a:r>
              <a:rPr lang="zh-CN" altLang="en-US" dirty="0"/>
              <a:t>区内的空穴。</a:t>
            </a:r>
          </a:p>
        </p:txBody>
      </p:sp>
    </p:spTree>
    <p:extLst>
      <p:ext uri="{BB962C8B-B14F-4D97-AF65-F5344CB8AC3E}">
        <p14:creationId xmlns:p14="http://schemas.microsoft.com/office/powerpoint/2010/main" val="198986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D0D18F9-617F-46AB-BAA7-301DBF36896A}"/>
              </a:ext>
            </a:extLst>
          </p:cNvPr>
          <p:cNvSpPr>
            <a:spLocks noGrp="1"/>
          </p:cNvSpPr>
          <p:nvPr>
            <p:ph type="sldNum" sz="quarter" idx="12"/>
          </p:nvPr>
        </p:nvSpPr>
        <p:spPr/>
        <p:txBody>
          <a:bodyPr/>
          <a:lstStyle/>
          <a:p>
            <a:pPr>
              <a:defRPr/>
            </a:pPr>
            <a:fld id="{DB5F2CA6-A39B-48F7-84D1-AF91BD07D67D}" type="slidenum">
              <a:rPr lang="en-US" altLang="zh-CN" smtClean="0"/>
              <a:pPr>
                <a:defRPr/>
              </a:pPr>
              <a:t>14</a:t>
            </a:fld>
            <a:endParaRPr lang="en-US" altLang="zh-CN"/>
          </a:p>
        </p:txBody>
      </p:sp>
      <p:sp>
        <p:nvSpPr>
          <p:cNvPr id="5" name="矩形 4">
            <a:extLst>
              <a:ext uri="{FF2B5EF4-FFF2-40B4-BE49-F238E27FC236}">
                <a16:creationId xmlns:a16="http://schemas.microsoft.com/office/drawing/2014/main" id="{9569A1E2-02DC-4359-80B7-02E54B758DAF}"/>
              </a:ext>
            </a:extLst>
          </p:cNvPr>
          <p:cNvSpPr/>
          <p:nvPr/>
        </p:nvSpPr>
        <p:spPr>
          <a:xfrm>
            <a:off x="429163" y="598208"/>
            <a:ext cx="2646878" cy="584775"/>
          </a:xfrm>
          <a:prstGeom prst="rect">
            <a:avLst/>
          </a:prstGeom>
          <a:noFill/>
        </p:spPr>
        <p:txBody>
          <a:bodyPr wrap="none" lIns="91440" tIns="45720" rIns="91440" bIns="45720">
            <a:spAutoFit/>
          </a:bodyPr>
          <a:lstStyle/>
          <a:p>
            <a:pPr algn="ctr"/>
            <a:r>
              <a:rPr lang="zh-CN" altLang="en-US" sz="3200" b="0" cap="none" spc="0" dirty="0">
                <a:ln w="0"/>
                <a:solidFill>
                  <a:schemeClr val="tx1"/>
                </a:solidFill>
                <a:effectLst>
                  <a:outerShdw blurRad="38100" dist="19050" dir="2700000" algn="tl" rotWithShape="0">
                    <a:schemeClr val="dk1">
                      <a:alpha val="40000"/>
                    </a:schemeClr>
                  </a:outerShdw>
                </a:effectLst>
              </a:rPr>
              <a:t>理想</a:t>
            </a:r>
            <a:r>
              <a:rPr lang="en-US" altLang="zh-CN" sz="3200" b="0" cap="none" spc="0" dirty="0" err="1">
                <a:ln w="0"/>
                <a:solidFill>
                  <a:schemeClr val="tx1"/>
                </a:solidFill>
                <a:effectLst>
                  <a:outerShdw blurRad="38100" dist="19050" dir="2700000" algn="tl" rotWithShape="0">
                    <a:schemeClr val="dk1">
                      <a:alpha val="40000"/>
                    </a:schemeClr>
                  </a:outerShdw>
                </a:effectLst>
              </a:rPr>
              <a:t>pn</a:t>
            </a:r>
            <a:r>
              <a:rPr lang="zh-CN" altLang="en-US" sz="3200" b="0" cap="none" spc="0" dirty="0">
                <a:ln w="0"/>
                <a:solidFill>
                  <a:schemeClr val="tx1"/>
                </a:solidFill>
                <a:effectLst>
                  <a:outerShdw blurRad="38100" dist="19050" dir="2700000" algn="tl" rotWithShape="0">
                    <a:schemeClr val="dk1">
                      <a:alpha val="40000"/>
                    </a:schemeClr>
                  </a:outerShdw>
                </a:effectLst>
              </a:rPr>
              <a:t>结电流</a:t>
            </a:r>
          </a:p>
        </p:txBody>
      </p:sp>
      <p:sp>
        <p:nvSpPr>
          <p:cNvPr id="6" name="文本框 5">
            <a:extLst>
              <a:ext uri="{FF2B5EF4-FFF2-40B4-BE49-F238E27FC236}">
                <a16:creationId xmlns:a16="http://schemas.microsoft.com/office/drawing/2014/main" id="{A6BF24E7-A240-4297-BAAD-77327E38D7E2}"/>
              </a:ext>
            </a:extLst>
          </p:cNvPr>
          <p:cNvSpPr txBox="1"/>
          <p:nvPr/>
        </p:nvSpPr>
        <p:spPr>
          <a:xfrm>
            <a:off x="529936" y="1182983"/>
            <a:ext cx="11232901" cy="1477328"/>
          </a:xfrm>
          <a:prstGeom prst="rect">
            <a:avLst/>
          </a:prstGeom>
          <a:noFill/>
        </p:spPr>
        <p:txBody>
          <a:bodyPr wrap="square" rtlCol="0">
            <a:spAutoFit/>
          </a:bodyPr>
          <a:lstStyle/>
          <a:p>
            <a:pPr algn="just"/>
            <a:r>
              <a:rPr lang="en-US" altLang="zh-CN" dirty="0"/>
              <a:t>        </a:t>
            </a:r>
            <a:r>
              <a:rPr lang="zh-CN" altLang="en-US" dirty="0"/>
              <a:t>在推导</a:t>
            </a:r>
            <a:r>
              <a:rPr lang="en-US" altLang="zh-CN" dirty="0" err="1"/>
              <a:t>pn</a:t>
            </a:r>
            <a:r>
              <a:rPr lang="zh-CN" altLang="en-US" dirty="0"/>
              <a:t>结的电流公式之前，我们应该明确，</a:t>
            </a:r>
            <a:r>
              <a:rPr lang="zh-CN" altLang="en-US" dirty="0">
                <a:solidFill>
                  <a:srgbClr val="FF0000"/>
                </a:solidFill>
              </a:rPr>
              <a:t>流过</a:t>
            </a:r>
            <a:r>
              <a:rPr lang="en-US" altLang="zh-CN" dirty="0" err="1">
                <a:solidFill>
                  <a:srgbClr val="FF0000"/>
                </a:solidFill>
              </a:rPr>
              <a:t>pn</a:t>
            </a:r>
            <a:r>
              <a:rPr lang="zh-CN" altLang="en-US" dirty="0">
                <a:solidFill>
                  <a:srgbClr val="FF0000"/>
                </a:solidFill>
              </a:rPr>
              <a:t>结的电流为电子电流与空穴电流之和</a:t>
            </a:r>
            <a:r>
              <a:rPr lang="zh-CN" altLang="en-US" dirty="0"/>
              <a:t>。应该注意，假设流过耗尽区的电子电流与空穴电流为定值。由于</a:t>
            </a:r>
            <a:r>
              <a:rPr lang="en-US" altLang="zh-CN" dirty="0" err="1"/>
              <a:t>pn</a:t>
            </a:r>
            <a:r>
              <a:rPr lang="zh-CN" altLang="en-US" dirty="0"/>
              <a:t>结内的电子电流与空穴电流分别为连续函数，则</a:t>
            </a:r>
            <a:r>
              <a:rPr lang="en-US" altLang="zh-CN" dirty="0" err="1"/>
              <a:t>pn</a:t>
            </a:r>
            <a:r>
              <a:rPr lang="zh-CN" altLang="en-US" dirty="0"/>
              <a:t>结的电流即为</a:t>
            </a:r>
            <a:r>
              <a:rPr lang="en-US" altLang="zh-CN" dirty="0"/>
              <a:t>x=</a:t>
            </a:r>
            <a:r>
              <a:rPr lang="en-US" altLang="zh-CN" dirty="0" err="1"/>
              <a:t>x</a:t>
            </a:r>
            <a:r>
              <a:rPr lang="en-US" altLang="zh-CN" baseline="-25000" dirty="0" err="1"/>
              <a:t>n</a:t>
            </a:r>
            <a:r>
              <a:rPr lang="zh-CN" altLang="en-US" dirty="0"/>
              <a:t>处的少子空穴扩散电流与</a:t>
            </a:r>
            <a:r>
              <a:rPr lang="en-US" altLang="zh-CN" dirty="0"/>
              <a:t>x=-</a:t>
            </a:r>
            <a:r>
              <a:rPr lang="en-US" altLang="zh-CN" dirty="0" err="1"/>
              <a:t>x</a:t>
            </a:r>
            <a:r>
              <a:rPr lang="en-US" altLang="zh-CN" baseline="-25000" dirty="0" err="1"/>
              <a:t>p</a:t>
            </a:r>
            <a:r>
              <a:rPr lang="zh-CN" altLang="en-US" dirty="0"/>
              <a:t>处的少子电子扩散电流之和。如图</a:t>
            </a:r>
            <a:r>
              <a:rPr lang="en-US" altLang="zh-CN" dirty="0"/>
              <a:t>5</a:t>
            </a:r>
            <a:r>
              <a:rPr lang="zh-CN" altLang="en-US" dirty="0"/>
              <a:t>所示，少子浓度的梯度产生了扩散电流。由于采用了空间电荷区以外的区域的电场为零的假设，因此我们可以忽略任何少子漂移电流的成分。上述求</a:t>
            </a:r>
            <a:r>
              <a:rPr lang="en-US" altLang="zh-CN" dirty="0" err="1"/>
              <a:t>pn</a:t>
            </a:r>
            <a:r>
              <a:rPr lang="zh-CN" altLang="en-US" dirty="0"/>
              <a:t>结电流的方法如图</a:t>
            </a:r>
            <a:r>
              <a:rPr lang="en-US" altLang="zh-CN" dirty="0"/>
              <a:t>7</a:t>
            </a:r>
            <a:r>
              <a:rPr lang="zh-CN" altLang="en-US" dirty="0"/>
              <a:t>所示。</a:t>
            </a:r>
          </a:p>
        </p:txBody>
      </p:sp>
      <p:pic>
        <p:nvPicPr>
          <p:cNvPr id="7" name="图片 6">
            <a:extLst>
              <a:ext uri="{FF2B5EF4-FFF2-40B4-BE49-F238E27FC236}">
                <a16:creationId xmlns:a16="http://schemas.microsoft.com/office/drawing/2014/main" id="{D996A0F1-145B-4B8C-9E82-475AA851483B}"/>
              </a:ext>
            </a:extLst>
          </p:cNvPr>
          <p:cNvPicPr>
            <a:picLocks noChangeAspect="1"/>
          </p:cNvPicPr>
          <p:nvPr/>
        </p:nvPicPr>
        <p:blipFill>
          <a:blip r:embed="rId2"/>
          <a:stretch>
            <a:fillRect/>
          </a:stretch>
        </p:blipFill>
        <p:spPr>
          <a:xfrm>
            <a:off x="4165227" y="2660311"/>
            <a:ext cx="3861545" cy="2680741"/>
          </a:xfrm>
          <a:prstGeom prst="rect">
            <a:avLst/>
          </a:prstGeom>
        </p:spPr>
      </p:pic>
      <p:sp>
        <p:nvSpPr>
          <p:cNvPr id="8" name="矩形 7">
            <a:extLst>
              <a:ext uri="{FF2B5EF4-FFF2-40B4-BE49-F238E27FC236}">
                <a16:creationId xmlns:a16="http://schemas.microsoft.com/office/drawing/2014/main" id="{376A07D8-EC33-41EC-A686-061D839D4A1C}"/>
              </a:ext>
            </a:extLst>
          </p:cNvPr>
          <p:cNvSpPr/>
          <p:nvPr/>
        </p:nvSpPr>
        <p:spPr>
          <a:xfrm>
            <a:off x="4034269" y="5341052"/>
            <a:ext cx="4224233" cy="307777"/>
          </a:xfrm>
          <a:prstGeom prst="rect">
            <a:avLst/>
          </a:prstGeom>
          <a:noFill/>
        </p:spPr>
        <p:txBody>
          <a:bodyPr wrap="none" lIns="91440" tIns="45720" rIns="91440" bIns="45720">
            <a:spAutoFit/>
          </a:bodyPr>
          <a:lstStyle/>
          <a:p>
            <a:pPr algn="ctr"/>
            <a:r>
              <a:rPr lang="zh-CN" altLang="en-US" sz="1400" b="0" cap="none" spc="0" dirty="0">
                <a:ln w="0"/>
                <a:solidFill>
                  <a:schemeClr val="tx1"/>
                </a:solidFill>
                <a:effectLst>
                  <a:outerShdw blurRad="38100" dist="19050" dir="2700000" algn="tl" rotWithShape="0">
                    <a:schemeClr val="dk1">
                      <a:alpha val="40000"/>
                    </a:schemeClr>
                  </a:outerShdw>
                </a:effectLst>
              </a:rPr>
              <a:t>图</a:t>
            </a:r>
            <a:r>
              <a:rPr lang="en-US" altLang="zh-CN" sz="1400" b="0" cap="none" spc="0" dirty="0">
                <a:ln w="0"/>
                <a:solidFill>
                  <a:schemeClr val="tx1"/>
                </a:solidFill>
                <a:effectLst>
                  <a:outerShdw blurRad="38100" dist="19050" dir="2700000" algn="tl" rotWithShape="0">
                    <a:schemeClr val="dk1">
                      <a:alpha val="40000"/>
                    </a:schemeClr>
                  </a:outerShdw>
                </a:effectLst>
              </a:rPr>
              <a:t>7</a:t>
            </a:r>
            <a:r>
              <a:rPr lang="zh-CN" altLang="en-US" sz="1400" b="0" cap="none" spc="0" dirty="0">
                <a:ln w="0"/>
                <a:solidFill>
                  <a:schemeClr val="tx1"/>
                </a:solidFill>
                <a:effectLst>
                  <a:outerShdw blurRad="38100" dist="19050" dir="2700000" algn="tl" rotWithShape="0">
                    <a:schemeClr val="dk1">
                      <a:alpha val="40000"/>
                    </a:schemeClr>
                  </a:outerShdw>
                </a:effectLst>
              </a:rPr>
              <a:t>：</a:t>
            </a:r>
            <a:r>
              <a:rPr lang="en-US" altLang="zh-CN" sz="1400" b="0" cap="none" spc="0" dirty="0" err="1">
                <a:ln w="0"/>
                <a:solidFill>
                  <a:schemeClr val="tx1"/>
                </a:solidFill>
                <a:effectLst>
                  <a:outerShdw blurRad="38100" dist="19050" dir="2700000" algn="tl" rotWithShape="0">
                    <a:schemeClr val="dk1">
                      <a:alpha val="40000"/>
                    </a:schemeClr>
                  </a:outerShdw>
                </a:effectLst>
              </a:rPr>
              <a:t>pn</a:t>
            </a:r>
            <a:r>
              <a:rPr lang="zh-CN" altLang="en-US" sz="1400" b="0" cap="none" spc="0" dirty="0">
                <a:ln w="0"/>
                <a:solidFill>
                  <a:schemeClr val="tx1"/>
                </a:solidFill>
                <a:effectLst>
                  <a:outerShdw blurRad="38100" dist="19050" dir="2700000" algn="tl" rotWithShape="0">
                    <a:schemeClr val="dk1">
                      <a:alpha val="40000"/>
                    </a:schemeClr>
                  </a:outerShdw>
                </a:effectLst>
              </a:rPr>
              <a:t>结空间电荷区内电子电流和空穴电流的密度</a:t>
            </a:r>
          </a:p>
        </p:txBody>
      </p:sp>
    </p:spTree>
    <p:extLst>
      <p:ext uri="{BB962C8B-B14F-4D97-AF65-F5344CB8AC3E}">
        <p14:creationId xmlns:p14="http://schemas.microsoft.com/office/powerpoint/2010/main" val="495411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2F7E4AB-2FB8-46C6-AE3B-490A4E6BCDD6}"/>
              </a:ext>
            </a:extLst>
          </p:cNvPr>
          <p:cNvSpPr>
            <a:spLocks noGrp="1"/>
          </p:cNvSpPr>
          <p:nvPr>
            <p:ph type="sldNum" sz="quarter" idx="12"/>
          </p:nvPr>
        </p:nvSpPr>
        <p:spPr/>
        <p:txBody>
          <a:bodyPr/>
          <a:lstStyle/>
          <a:p>
            <a:pPr>
              <a:defRPr/>
            </a:pPr>
            <a:fld id="{DB5F2CA6-A39B-48F7-84D1-AF91BD07D67D}" type="slidenum">
              <a:rPr lang="en-US" altLang="zh-CN" smtClean="0"/>
              <a:pPr>
                <a:defRPr/>
              </a:pPr>
              <a:t>15</a:t>
            </a:fld>
            <a:endParaRPr lang="en-US" altLang="zh-CN"/>
          </a:p>
        </p:txBody>
      </p:sp>
      <p:sp>
        <p:nvSpPr>
          <p:cNvPr id="5" name="矩形 4">
            <a:extLst>
              <a:ext uri="{FF2B5EF4-FFF2-40B4-BE49-F238E27FC236}">
                <a16:creationId xmlns:a16="http://schemas.microsoft.com/office/drawing/2014/main" id="{D059F2DA-620C-4BB8-9E98-C3835D619E02}"/>
              </a:ext>
            </a:extLst>
          </p:cNvPr>
          <p:cNvSpPr/>
          <p:nvPr/>
        </p:nvSpPr>
        <p:spPr>
          <a:xfrm>
            <a:off x="429163" y="598208"/>
            <a:ext cx="2646878" cy="584775"/>
          </a:xfrm>
          <a:prstGeom prst="rect">
            <a:avLst/>
          </a:prstGeom>
          <a:noFill/>
        </p:spPr>
        <p:txBody>
          <a:bodyPr wrap="none" lIns="91440" tIns="45720" rIns="91440" bIns="45720">
            <a:spAutoFit/>
          </a:bodyPr>
          <a:lstStyle/>
          <a:p>
            <a:pPr algn="ctr"/>
            <a:r>
              <a:rPr lang="zh-CN" altLang="en-US" sz="3200" b="0" cap="none" spc="0" dirty="0">
                <a:ln w="0"/>
                <a:solidFill>
                  <a:schemeClr val="tx1"/>
                </a:solidFill>
                <a:effectLst>
                  <a:outerShdw blurRad="38100" dist="19050" dir="2700000" algn="tl" rotWithShape="0">
                    <a:schemeClr val="dk1">
                      <a:alpha val="40000"/>
                    </a:schemeClr>
                  </a:outerShdw>
                </a:effectLst>
              </a:rPr>
              <a:t>理想</a:t>
            </a:r>
            <a:r>
              <a:rPr lang="en-US" altLang="zh-CN" sz="3200" b="0" cap="none" spc="0" dirty="0" err="1">
                <a:ln w="0"/>
                <a:solidFill>
                  <a:schemeClr val="tx1"/>
                </a:solidFill>
                <a:effectLst>
                  <a:outerShdw blurRad="38100" dist="19050" dir="2700000" algn="tl" rotWithShape="0">
                    <a:schemeClr val="dk1">
                      <a:alpha val="40000"/>
                    </a:schemeClr>
                  </a:outerShdw>
                </a:effectLst>
              </a:rPr>
              <a:t>pn</a:t>
            </a:r>
            <a:r>
              <a:rPr lang="zh-CN" altLang="en-US" sz="3200" b="0" cap="none" spc="0" dirty="0">
                <a:ln w="0"/>
                <a:solidFill>
                  <a:schemeClr val="tx1"/>
                </a:solidFill>
                <a:effectLst>
                  <a:outerShdw blurRad="38100" dist="19050" dir="2700000" algn="tl" rotWithShape="0">
                    <a:schemeClr val="dk1">
                      <a:alpha val="40000"/>
                    </a:schemeClr>
                  </a:outerShdw>
                </a:effectLst>
              </a:rPr>
              <a:t>结电流</a:t>
            </a:r>
          </a:p>
        </p:txBody>
      </p:sp>
      <p:sp>
        <p:nvSpPr>
          <p:cNvPr id="6" name="文本框 5">
            <a:extLst>
              <a:ext uri="{FF2B5EF4-FFF2-40B4-BE49-F238E27FC236}">
                <a16:creationId xmlns:a16="http://schemas.microsoft.com/office/drawing/2014/main" id="{914DD894-26A2-4407-94FA-2021BE2D9B2A}"/>
              </a:ext>
            </a:extLst>
          </p:cNvPr>
          <p:cNvSpPr txBox="1"/>
          <p:nvPr/>
        </p:nvSpPr>
        <p:spPr>
          <a:xfrm>
            <a:off x="524459" y="1182983"/>
            <a:ext cx="11132128" cy="5078313"/>
          </a:xfrm>
          <a:prstGeom prst="rect">
            <a:avLst/>
          </a:prstGeom>
          <a:noFill/>
        </p:spPr>
        <p:txBody>
          <a:bodyPr wrap="square" rtlCol="0">
            <a:spAutoFit/>
          </a:bodyPr>
          <a:lstStyle/>
          <a:p>
            <a:r>
              <a:rPr lang="en-US" altLang="zh-CN" dirty="0"/>
              <a:t>        </a:t>
            </a:r>
            <a:r>
              <a:rPr lang="zh-CN" altLang="en-US" dirty="0"/>
              <a:t>我们可以通过下式确定</a:t>
            </a:r>
            <a:r>
              <a:rPr lang="en-US" altLang="zh-CN" dirty="0"/>
              <a:t>x=</a:t>
            </a:r>
            <a:r>
              <a:rPr lang="en-US" altLang="zh-CN" dirty="0" err="1"/>
              <a:t>x</a:t>
            </a:r>
            <a:r>
              <a:rPr lang="en-US" altLang="zh-CN" baseline="-25000" dirty="0" err="1"/>
              <a:t>n</a:t>
            </a:r>
            <a:r>
              <a:rPr lang="zh-CN" altLang="en-US" dirty="0"/>
              <a:t>处的少子空穴扩散电流密度：</a:t>
            </a:r>
            <a:endParaRPr lang="en-US" altLang="zh-CN" dirty="0"/>
          </a:p>
          <a:p>
            <a:endParaRPr lang="en-US" altLang="zh-CN" dirty="0"/>
          </a:p>
          <a:p>
            <a:endParaRPr lang="en-US" altLang="zh-CN" dirty="0"/>
          </a:p>
          <a:p>
            <a:endParaRPr lang="en-US" altLang="zh-CN" dirty="0"/>
          </a:p>
          <a:p>
            <a:r>
              <a:rPr lang="zh-CN" altLang="en-US" dirty="0"/>
              <a:t>由于采用了均匀掺杂的假设，</a:t>
            </a:r>
            <a:r>
              <a:rPr lang="zh-CN" altLang="en-US" dirty="0">
                <a:solidFill>
                  <a:srgbClr val="FF0000"/>
                </a:solidFill>
              </a:rPr>
              <a:t>热平衡载流子的浓度为常量</a:t>
            </a:r>
            <a:r>
              <a:rPr lang="zh-CN" altLang="en-US" dirty="0"/>
              <a:t>，所以式</a:t>
            </a:r>
            <a:r>
              <a:rPr lang="en-US" altLang="zh-CN" dirty="0"/>
              <a:t>(21)</a:t>
            </a:r>
            <a:r>
              <a:rPr lang="zh-CN" altLang="en-US" dirty="0"/>
              <a:t>又可以写为</a:t>
            </a:r>
            <a:endParaRPr lang="en-US" altLang="zh-CN" dirty="0"/>
          </a:p>
          <a:p>
            <a:endParaRPr lang="en-US" altLang="zh-CN" dirty="0"/>
          </a:p>
          <a:p>
            <a:endParaRPr lang="en-US" altLang="zh-CN" dirty="0"/>
          </a:p>
          <a:p>
            <a:endParaRPr lang="en-US" altLang="zh-CN" dirty="0"/>
          </a:p>
          <a:p>
            <a:r>
              <a:rPr lang="zh-CN" altLang="en-US" dirty="0"/>
              <a:t>将式</a:t>
            </a:r>
            <a:r>
              <a:rPr lang="en-US" altLang="zh-CN" dirty="0"/>
              <a:t>(15)</a:t>
            </a:r>
            <a:r>
              <a:rPr lang="zh-CN" altLang="en-US" dirty="0"/>
              <a:t>代入上式，得</a:t>
            </a:r>
            <a:endParaRPr lang="en-US" altLang="zh-CN" dirty="0"/>
          </a:p>
          <a:p>
            <a:endParaRPr lang="en-US" altLang="zh-CN" dirty="0"/>
          </a:p>
          <a:p>
            <a:endParaRPr lang="en-US" altLang="zh-CN" dirty="0"/>
          </a:p>
          <a:p>
            <a:endParaRPr lang="en-US" altLang="zh-CN" dirty="0"/>
          </a:p>
          <a:p>
            <a:r>
              <a:rPr lang="zh-CN" altLang="en-US" dirty="0"/>
              <a:t>正偏条件下的空穴电流密度是沿着</a:t>
            </a:r>
            <a:r>
              <a:rPr lang="en-US" altLang="zh-CN" dirty="0"/>
              <a:t>x</a:t>
            </a:r>
            <a:r>
              <a:rPr lang="zh-CN" altLang="en-US" dirty="0"/>
              <a:t>轴正方向的，即由</a:t>
            </a:r>
            <a:r>
              <a:rPr lang="en-US" altLang="zh-CN" dirty="0"/>
              <a:t>p</a:t>
            </a:r>
            <a:r>
              <a:rPr lang="zh-CN" altLang="en-US" dirty="0"/>
              <a:t>区指向</a:t>
            </a:r>
            <a:r>
              <a:rPr lang="en-US" altLang="zh-CN" dirty="0"/>
              <a:t>n</a:t>
            </a:r>
            <a:r>
              <a:rPr lang="zh-CN" altLang="en-US" dirty="0"/>
              <a:t>区。</a:t>
            </a:r>
            <a:endParaRPr lang="en-US" altLang="zh-CN" dirty="0"/>
          </a:p>
          <a:p>
            <a:r>
              <a:rPr lang="en-US" altLang="zh-CN" dirty="0"/>
              <a:t>        </a:t>
            </a:r>
            <a:r>
              <a:rPr lang="zh-CN" altLang="en-US" dirty="0"/>
              <a:t>同样，也可计算出</a:t>
            </a:r>
            <a:r>
              <a:rPr lang="en-US" altLang="zh-CN" dirty="0"/>
              <a:t>x=-</a:t>
            </a:r>
            <a:r>
              <a:rPr lang="en-US" altLang="zh-CN" dirty="0" err="1"/>
              <a:t>x</a:t>
            </a:r>
            <a:r>
              <a:rPr lang="en-US" altLang="zh-CN" baseline="-25000" dirty="0" err="1"/>
              <a:t>p</a:t>
            </a:r>
            <a:r>
              <a:rPr lang="zh-CN" altLang="en-US" dirty="0"/>
              <a:t>处的电子扩散电流密度，即</a:t>
            </a:r>
            <a:endParaRPr lang="en-US" altLang="zh-CN" dirty="0"/>
          </a:p>
          <a:p>
            <a:endParaRPr lang="en-US" altLang="zh-CN" dirty="0"/>
          </a:p>
          <a:p>
            <a:endParaRPr lang="en-US" altLang="zh-CN" dirty="0"/>
          </a:p>
          <a:p>
            <a:endParaRPr lang="en-US" altLang="zh-CN" dirty="0"/>
          </a:p>
          <a:p>
            <a:r>
              <a:rPr lang="zh-CN" altLang="en-US" dirty="0"/>
              <a:t>利用式</a:t>
            </a:r>
            <a:r>
              <a:rPr lang="en-US" altLang="zh-CN" dirty="0"/>
              <a:t>(16)</a:t>
            </a:r>
            <a:r>
              <a:rPr lang="zh-CN" altLang="en-US" dirty="0"/>
              <a:t>，可得</a:t>
            </a:r>
          </a:p>
        </p:txBody>
      </p:sp>
      <p:graphicFrame>
        <p:nvGraphicFramePr>
          <p:cNvPr id="7" name="对象 6">
            <a:extLst>
              <a:ext uri="{FF2B5EF4-FFF2-40B4-BE49-F238E27FC236}">
                <a16:creationId xmlns:a16="http://schemas.microsoft.com/office/drawing/2014/main" id="{27456F96-DF10-4D82-ADDB-B55C3E58A0F1}"/>
              </a:ext>
            </a:extLst>
          </p:cNvPr>
          <p:cNvGraphicFramePr>
            <a:graphicFrameLocks noChangeAspect="1"/>
          </p:cNvGraphicFramePr>
          <p:nvPr>
            <p:extLst>
              <p:ext uri="{D42A27DB-BD31-4B8C-83A1-F6EECF244321}">
                <p14:modId xmlns:p14="http://schemas.microsoft.com/office/powerpoint/2010/main" val="3145637285"/>
              </p:ext>
            </p:extLst>
          </p:nvPr>
        </p:nvGraphicFramePr>
        <p:xfrm>
          <a:off x="4623752" y="1552315"/>
          <a:ext cx="2944496" cy="707592"/>
        </p:xfrm>
        <a:graphic>
          <a:graphicData uri="http://schemas.openxmlformats.org/presentationml/2006/ole">
            <mc:AlternateContent xmlns:mc="http://schemas.openxmlformats.org/markup-compatibility/2006">
              <mc:Choice xmlns:v="urn:schemas-microsoft-com:vml" Requires="v">
                <p:oleObj name="Equation" r:id="rId2" imgW="1638000" imgH="393480" progId="Equation.DSMT4">
                  <p:embed/>
                </p:oleObj>
              </mc:Choice>
              <mc:Fallback>
                <p:oleObj name="Equation" r:id="rId2" imgW="1638000" imgH="393480" progId="Equation.DSMT4">
                  <p:embed/>
                  <p:pic>
                    <p:nvPicPr>
                      <p:cNvPr id="0" name=""/>
                      <p:cNvPicPr/>
                      <p:nvPr/>
                    </p:nvPicPr>
                    <p:blipFill>
                      <a:blip r:embed="rId3"/>
                      <a:stretch>
                        <a:fillRect/>
                      </a:stretch>
                    </p:blipFill>
                    <p:spPr>
                      <a:xfrm>
                        <a:off x="4623752" y="1552315"/>
                        <a:ext cx="2944496" cy="707592"/>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A605EF19-09E2-48F0-BE93-4A55FFE42106}"/>
              </a:ext>
            </a:extLst>
          </p:cNvPr>
          <p:cNvGraphicFramePr>
            <a:graphicFrameLocks noChangeAspect="1"/>
          </p:cNvGraphicFramePr>
          <p:nvPr>
            <p:extLst>
              <p:ext uri="{D42A27DB-BD31-4B8C-83A1-F6EECF244321}">
                <p14:modId xmlns:p14="http://schemas.microsoft.com/office/powerpoint/2010/main" val="2372011947"/>
              </p:ext>
            </p:extLst>
          </p:nvPr>
        </p:nvGraphicFramePr>
        <p:xfrm>
          <a:off x="11031659" y="1735022"/>
          <a:ext cx="491881" cy="342178"/>
        </p:xfrm>
        <a:graphic>
          <a:graphicData uri="http://schemas.openxmlformats.org/presentationml/2006/ole">
            <mc:AlternateContent xmlns:mc="http://schemas.openxmlformats.org/markup-compatibility/2006">
              <mc:Choice xmlns:v="urn:schemas-microsoft-com:vml" Requires="v">
                <p:oleObj name="Equation" r:id="rId4" imgW="291960" imgH="203040" progId="Equation.DSMT4">
                  <p:embed/>
                </p:oleObj>
              </mc:Choice>
              <mc:Fallback>
                <p:oleObj name="Equation" r:id="rId4" imgW="291960" imgH="203040" progId="Equation.DSMT4">
                  <p:embed/>
                  <p:pic>
                    <p:nvPicPr>
                      <p:cNvPr id="0" name=""/>
                      <p:cNvPicPr/>
                      <p:nvPr/>
                    </p:nvPicPr>
                    <p:blipFill>
                      <a:blip r:embed="rId5"/>
                      <a:stretch>
                        <a:fillRect/>
                      </a:stretch>
                    </p:blipFill>
                    <p:spPr>
                      <a:xfrm>
                        <a:off x="11031659" y="1735022"/>
                        <a:ext cx="491881" cy="342178"/>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B8EF3BA6-05AE-438A-8040-DCD7D51F0538}"/>
              </a:ext>
            </a:extLst>
          </p:cNvPr>
          <p:cNvGraphicFramePr>
            <a:graphicFrameLocks noChangeAspect="1"/>
          </p:cNvGraphicFramePr>
          <p:nvPr>
            <p:extLst>
              <p:ext uri="{D42A27DB-BD31-4B8C-83A1-F6EECF244321}">
                <p14:modId xmlns:p14="http://schemas.microsoft.com/office/powerpoint/2010/main" val="4134900726"/>
              </p:ext>
            </p:extLst>
          </p:nvPr>
        </p:nvGraphicFramePr>
        <p:xfrm>
          <a:off x="4435557" y="2629239"/>
          <a:ext cx="3320886" cy="700323"/>
        </p:xfrm>
        <a:graphic>
          <a:graphicData uri="http://schemas.openxmlformats.org/presentationml/2006/ole">
            <mc:AlternateContent xmlns:mc="http://schemas.openxmlformats.org/markup-compatibility/2006">
              <mc:Choice xmlns:v="urn:schemas-microsoft-com:vml" Requires="v">
                <p:oleObj name="Equation" r:id="rId6" imgW="1866600" imgH="393480" progId="Equation.DSMT4">
                  <p:embed/>
                </p:oleObj>
              </mc:Choice>
              <mc:Fallback>
                <p:oleObj name="Equation" r:id="rId6" imgW="1866600" imgH="393480" progId="Equation.DSMT4">
                  <p:embed/>
                  <p:pic>
                    <p:nvPicPr>
                      <p:cNvPr id="0" name=""/>
                      <p:cNvPicPr/>
                      <p:nvPr/>
                    </p:nvPicPr>
                    <p:blipFill>
                      <a:blip r:embed="rId7"/>
                      <a:stretch>
                        <a:fillRect/>
                      </a:stretch>
                    </p:blipFill>
                    <p:spPr>
                      <a:xfrm>
                        <a:off x="4435557" y="2629239"/>
                        <a:ext cx="3320886" cy="700323"/>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701AA844-BDE6-4602-BA75-8EEA85E6C9C2}"/>
              </a:ext>
            </a:extLst>
          </p:cNvPr>
          <p:cNvGraphicFramePr>
            <a:graphicFrameLocks noChangeAspect="1"/>
          </p:cNvGraphicFramePr>
          <p:nvPr>
            <p:extLst>
              <p:ext uri="{D42A27DB-BD31-4B8C-83A1-F6EECF244321}">
                <p14:modId xmlns:p14="http://schemas.microsoft.com/office/powerpoint/2010/main" val="1874586507"/>
              </p:ext>
            </p:extLst>
          </p:nvPr>
        </p:nvGraphicFramePr>
        <p:xfrm>
          <a:off x="11050537" y="2822720"/>
          <a:ext cx="473003" cy="315335"/>
        </p:xfrm>
        <a:graphic>
          <a:graphicData uri="http://schemas.openxmlformats.org/presentationml/2006/ole">
            <mc:AlternateContent xmlns:mc="http://schemas.openxmlformats.org/markup-compatibility/2006">
              <mc:Choice xmlns:v="urn:schemas-microsoft-com:vml" Requires="v">
                <p:oleObj name="Equation" r:id="rId8" imgW="304560" imgH="203040" progId="Equation.DSMT4">
                  <p:embed/>
                </p:oleObj>
              </mc:Choice>
              <mc:Fallback>
                <p:oleObj name="Equation" r:id="rId8" imgW="304560" imgH="203040" progId="Equation.DSMT4">
                  <p:embed/>
                  <p:pic>
                    <p:nvPicPr>
                      <p:cNvPr id="0" name=""/>
                      <p:cNvPicPr/>
                      <p:nvPr/>
                    </p:nvPicPr>
                    <p:blipFill>
                      <a:blip r:embed="rId9"/>
                      <a:stretch>
                        <a:fillRect/>
                      </a:stretch>
                    </p:blipFill>
                    <p:spPr>
                      <a:xfrm>
                        <a:off x="11050537" y="2822720"/>
                        <a:ext cx="473003" cy="315335"/>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08743F37-AACA-4EB5-8222-9EE67CB03B1B}"/>
              </a:ext>
            </a:extLst>
          </p:cNvPr>
          <p:cNvGraphicFramePr>
            <a:graphicFrameLocks noChangeAspect="1"/>
          </p:cNvGraphicFramePr>
          <p:nvPr>
            <p:extLst>
              <p:ext uri="{D42A27DB-BD31-4B8C-83A1-F6EECF244321}">
                <p14:modId xmlns:p14="http://schemas.microsoft.com/office/powerpoint/2010/main" val="719284543"/>
              </p:ext>
            </p:extLst>
          </p:nvPr>
        </p:nvGraphicFramePr>
        <p:xfrm>
          <a:off x="4477879" y="3768306"/>
          <a:ext cx="3236241" cy="772522"/>
        </p:xfrm>
        <a:graphic>
          <a:graphicData uri="http://schemas.openxmlformats.org/presentationml/2006/ole">
            <mc:AlternateContent xmlns:mc="http://schemas.openxmlformats.org/markup-compatibility/2006">
              <mc:Choice xmlns:v="urn:schemas-microsoft-com:vml" Requires="v">
                <p:oleObj name="Equation" r:id="rId10" imgW="1968480" imgH="469800" progId="Equation.DSMT4">
                  <p:embed/>
                </p:oleObj>
              </mc:Choice>
              <mc:Fallback>
                <p:oleObj name="Equation" r:id="rId10" imgW="1968480" imgH="469800" progId="Equation.DSMT4">
                  <p:embed/>
                  <p:pic>
                    <p:nvPicPr>
                      <p:cNvPr id="0" name=""/>
                      <p:cNvPicPr/>
                      <p:nvPr/>
                    </p:nvPicPr>
                    <p:blipFill>
                      <a:blip r:embed="rId11"/>
                      <a:stretch>
                        <a:fillRect/>
                      </a:stretch>
                    </p:blipFill>
                    <p:spPr>
                      <a:xfrm>
                        <a:off x="4477879" y="3768306"/>
                        <a:ext cx="3236241" cy="772522"/>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4ED0AB4F-59A8-4287-8208-11C26A9B966F}"/>
              </a:ext>
            </a:extLst>
          </p:cNvPr>
          <p:cNvGraphicFramePr>
            <a:graphicFrameLocks noChangeAspect="1"/>
          </p:cNvGraphicFramePr>
          <p:nvPr>
            <p:extLst>
              <p:ext uri="{D42A27DB-BD31-4B8C-83A1-F6EECF244321}">
                <p14:modId xmlns:p14="http://schemas.microsoft.com/office/powerpoint/2010/main" val="4122939097"/>
              </p:ext>
            </p:extLst>
          </p:nvPr>
        </p:nvGraphicFramePr>
        <p:xfrm>
          <a:off x="11031659" y="3992425"/>
          <a:ext cx="491881" cy="327920"/>
        </p:xfrm>
        <a:graphic>
          <a:graphicData uri="http://schemas.openxmlformats.org/presentationml/2006/ole">
            <mc:AlternateContent xmlns:mc="http://schemas.openxmlformats.org/markup-compatibility/2006">
              <mc:Choice xmlns:v="urn:schemas-microsoft-com:vml" Requires="v">
                <p:oleObj name="Equation" r:id="rId12" imgW="304560" imgH="203040" progId="Equation.DSMT4">
                  <p:embed/>
                </p:oleObj>
              </mc:Choice>
              <mc:Fallback>
                <p:oleObj name="Equation" r:id="rId12" imgW="304560" imgH="203040" progId="Equation.DSMT4">
                  <p:embed/>
                  <p:pic>
                    <p:nvPicPr>
                      <p:cNvPr id="0" name=""/>
                      <p:cNvPicPr/>
                      <p:nvPr/>
                    </p:nvPicPr>
                    <p:blipFill>
                      <a:blip r:embed="rId13"/>
                      <a:stretch>
                        <a:fillRect/>
                      </a:stretch>
                    </p:blipFill>
                    <p:spPr>
                      <a:xfrm>
                        <a:off x="11031659" y="3992425"/>
                        <a:ext cx="491881" cy="327920"/>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DC74839B-76B2-4B66-B311-90854782F491}"/>
              </a:ext>
            </a:extLst>
          </p:cNvPr>
          <p:cNvGraphicFramePr>
            <a:graphicFrameLocks noChangeAspect="1"/>
          </p:cNvGraphicFramePr>
          <p:nvPr>
            <p:extLst>
              <p:ext uri="{D42A27DB-BD31-4B8C-83A1-F6EECF244321}">
                <p14:modId xmlns:p14="http://schemas.microsoft.com/office/powerpoint/2010/main" val="1202831182"/>
              </p:ext>
            </p:extLst>
          </p:nvPr>
        </p:nvGraphicFramePr>
        <p:xfrm>
          <a:off x="4424603" y="5075776"/>
          <a:ext cx="3331840" cy="700323"/>
        </p:xfrm>
        <a:graphic>
          <a:graphicData uri="http://schemas.openxmlformats.org/presentationml/2006/ole">
            <mc:AlternateContent xmlns:mc="http://schemas.openxmlformats.org/markup-compatibility/2006">
              <mc:Choice xmlns:v="urn:schemas-microsoft-com:vml" Requires="v">
                <p:oleObj name="Equation" r:id="rId14" imgW="1993680" imgH="419040" progId="Equation.DSMT4">
                  <p:embed/>
                </p:oleObj>
              </mc:Choice>
              <mc:Fallback>
                <p:oleObj name="Equation" r:id="rId14" imgW="1993680" imgH="419040" progId="Equation.DSMT4">
                  <p:embed/>
                  <p:pic>
                    <p:nvPicPr>
                      <p:cNvPr id="0" name=""/>
                      <p:cNvPicPr/>
                      <p:nvPr/>
                    </p:nvPicPr>
                    <p:blipFill>
                      <a:blip r:embed="rId15"/>
                      <a:stretch>
                        <a:fillRect/>
                      </a:stretch>
                    </p:blipFill>
                    <p:spPr>
                      <a:xfrm>
                        <a:off x="4424603" y="5075776"/>
                        <a:ext cx="3331840" cy="700323"/>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645A3F9A-04F0-4AD9-804C-2FC389B20EB5}"/>
              </a:ext>
            </a:extLst>
          </p:cNvPr>
          <p:cNvGraphicFramePr>
            <a:graphicFrameLocks noChangeAspect="1"/>
          </p:cNvGraphicFramePr>
          <p:nvPr>
            <p:extLst>
              <p:ext uri="{D42A27DB-BD31-4B8C-83A1-F6EECF244321}">
                <p14:modId xmlns:p14="http://schemas.microsoft.com/office/powerpoint/2010/main" val="3456310909"/>
              </p:ext>
            </p:extLst>
          </p:nvPr>
        </p:nvGraphicFramePr>
        <p:xfrm>
          <a:off x="11050537" y="5265239"/>
          <a:ext cx="482094" cy="321396"/>
        </p:xfrm>
        <a:graphic>
          <a:graphicData uri="http://schemas.openxmlformats.org/presentationml/2006/ole">
            <mc:AlternateContent xmlns:mc="http://schemas.openxmlformats.org/markup-compatibility/2006">
              <mc:Choice xmlns:v="urn:schemas-microsoft-com:vml" Requires="v">
                <p:oleObj name="Equation" r:id="rId16" imgW="304560" imgH="203040" progId="Equation.DSMT4">
                  <p:embed/>
                </p:oleObj>
              </mc:Choice>
              <mc:Fallback>
                <p:oleObj name="Equation" r:id="rId16" imgW="304560" imgH="203040" progId="Equation.DSMT4">
                  <p:embed/>
                  <p:pic>
                    <p:nvPicPr>
                      <p:cNvPr id="0" name=""/>
                      <p:cNvPicPr/>
                      <p:nvPr/>
                    </p:nvPicPr>
                    <p:blipFill>
                      <a:blip r:embed="rId17"/>
                      <a:stretch>
                        <a:fillRect/>
                      </a:stretch>
                    </p:blipFill>
                    <p:spPr>
                      <a:xfrm>
                        <a:off x="11050537" y="5265239"/>
                        <a:ext cx="482094" cy="321396"/>
                      </a:xfrm>
                      <a:prstGeom prst="rect">
                        <a:avLst/>
                      </a:prstGeom>
                    </p:spPr>
                  </p:pic>
                </p:oleObj>
              </mc:Fallback>
            </mc:AlternateContent>
          </a:graphicData>
        </a:graphic>
      </p:graphicFrame>
    </p:spTree>
    <p:extLst>
      <p:ext uri="{BB962C8B-B14F-4D97-AF65-F5344CB8AC3E}">
        <p14:creationId xmlns:p14="http://schemas.microsoft.com/office/powerpoint/2010/main" val="2942759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2F7E4AB-2FB8-46C6-AE3B-490A4E6BCDD6}"/>
              </a:ext>
            </a:extLst>
          </p:cNvPr>
          <p:cNvSpPr>
            <a:spLocks noGrp="1"/>
          </p:cNvSpPr>
          <p:nvPr>
            <p:ph type="sldNum" sz="quarter" idx="12"/>
          </p:nvPr>
        </p:nvSpPr>
        <p:spPr/>
        <p:txBody>
          <a:bodyPr/>
          <a:lstStyle/>
          <a:p>
            <a:pPr>
              <a:defRPr/>
            </a:pPr>
            <a:fld id="{DB5F2CA6-A39B-48F7-84D1-AF91BD07D67D}" type="slidenum">
              <a:rPr lang="en-US" altLang="zh-CN" smtClean="0"/>
              <a:pPr>
                <a:defRPr/>
              </a:pPr>
              <a:t>16</a:t>
            </a:fld>
            <a:endParaRPr lang="en-US" altLang="zh-CN"/>
          </a:p>
        </p:txBody>
      </p:sp>
      <p:sp>
        <p:nvSpPr>
          <p:cNvPr id="5" name="矩形 4">
            <a:extLst>
              <a:ext uri="{FF2B5EF4-FFF2-40B4-BE49-F238E27FC236}">
                <a16:creationId xmlns:a16="http://schemas.microsoft.com/office/drawing/2014/main" id="{D059F2DA-620C-4BB8-9E98-C3835D619E02}"/>
              </a:ext>
            </a:extLst>
          </p:cNvPr>
          <p:cNvSpPr/>
          <p:nvPr/>
        </p:nvSpPr>
        <p:spPr>
          <a:xfrm>
            <a:off x="429163" y="598208"/>
            <a:ext cx="2646878" cy="584775"/>
          </a:xfrm>
          <a:prstGeom prst="rect">
            <a:avLst/>
          </a:prstGeom>
          <a:noFill/>
        </p:spPr>
        <p:txBody>
          <a:bodyPr wrap="none" lIns="91440" tIns="45720" rIns="91440" bIns="45720">
            <a:spAutoFit/>
          </a:bodyPr>
          <a:lstStyle/>
          <a:p>
            <a:pPr algn="ctr"/>
            <a:r>
              <a:rPr lang="zh-CN" altLang="en-US" sz="3200" b="0" cap="none" spc="0" dirty="0">
                <a:ln w="0"/>
                <a:solidFill>
                  <a:schemeClr val="tx1"/>
                </a:solidFill>
                <a:effectLst>
                  <a:outerShdw blurRad="38100" dist="19050" dir="2700000" algn="tl" rotWithShape="0">
                    <a:schemeClr val="dk1">
                      <a:alpha val="40000"/>
                    </a:schemeClr>
                  </a:outerShdw>
                </a:effectLst>
              </a:rPr>
              <a:t>理想</a:t>
            </a:r>
            <a:r>
              <a:rPr lang="en-US" altLang="zh-CN" sz="3200" b="0" cap="none" spc="0" dirty="0" err="1">
                <a:ln w="0"/>
                <a:solidFill>
                  <a:schemeClr val="tx1"/>
                </a:solidFill>
                <a:effectLst>
                  <a:outerShdw blurRad="38100" dist="19050" dir="2700000" algn="tl" rotWithShape="0">
                    <a:schemeClr val="dk1">
                      <a:alpha val="40000"/>
                    </a:schemeClr>
                  </a:outerShdw>
                </a:effectLst>
              </a:rPr>
              <a:t>pn</a:t>
            </a:r>
            <a:r>
              <a:rPr lang="zh-CN" altLang="en-US" sz="3200" b="0" cap="none" spc="0" dirty="0">
                <a:ln w="0"/>
                <a:solidFill>
                  <a:schemeClr val="tx1"/>
                </a:solidFill>
                <a:effectLst>
                  <a:outerShdw blurRad="38100" dist="19050" dir="2700000" algn="tl" rotWithShape="0">
                    <a:schemeClr val="dk1">
                      <a:alpha val="40000"/>
                    </a:schemeClr>
                  </a:outerShdw>
                </a:effectLst>
              </a:rPr>
              <a:t>结电流</a:t>
            </a:r>
          </a:p>
        </p:txBody>
      </p:sp>
      <p:graphicFrame>
        <p:nvGraphicFramePr>
          <p:cNvPr id="2" name="对象 1">
            <a:extLst>
              <a:ext uri="{FF2B5EF4-FFF2-40B4-BE49-F238E27FC236}">
                <a16:creationId xmlns:a16="http://schemas.microsoft.com/office/drawing/2014/main" id="{9F4F8E2F-F5CB-4036-B130-821818DAE2BF}"/>
              </a:ext>
            </a:extLst>
          </p:cNvPr>
          <p:cNvGraphicFramePr>
            <a:graphicFrameLocks noChangeAspect="1"/>
          </p:cNvGraphicFramePr>
          <p:nvPr>
            <p:extLst>
              <p:ext uri="{D42A27DB-BD31-4B8C-83A1-F6EECF244321}">
                <p14:modId xmlns:p14="http://schemas.microsoft.com/office/powerpoint/2010/main" val="1574272942"/>
              </p:ext>
            </p:extLst>
          </p:nvPr>
        </p:nvGraphicFramePr>
        <p:xfrm>
          <a:off x="4406838" y="1182983"/>
          <a:ext cx="3378324" cy="760123"/>
        </p:xfrm>
        <a:graphic>
          <a:graphicData uri="http://schemas.openxmlformats.org/presentationml/2006/ole">
            <mc:AlternateContent xmlns:mc="http://schemas.openxmlformats.org/markup-compatibility/2006">
              <mc:Choice xmlns:v="urn:schemas-microsoft-com:vml" Requires="v">
                <p:oleObj name="Equation" r:id="rId2" imgW="2031840" imgH="457200" progId="Equation.DSMT4">
                  <p:embed/>
                </p:oleObj>
              </mc:Choice>
              <mc:Fallback>
                <p:oleObj name="Equation" r:id="rId2" imgW="2031840" imgH="457200" progId="Equation.DSMT4">
                  <p:embed/>
                  <p:pic>
                    <p:nvPicPr>
                      <p:cNvPr id="0" name=""/>
                      <p:cNvPicPr/>
                      <p:nvPr/>
                    </p:nvPicPr>
                    <p:blipFill>
                      <a:blip r:embed="rId3"/>
                      <a:stretch>
                        <a:fillRect/>
                      </a:stretch>
                    </p:blipFill>
                    <p:spPr>
                      <a:xfrm>
                        <a:off x="4406838" y="1182983"/>
                        <a:ext cx="3378324" cy="760123"/>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A3123A27-6B30-45B7-A935-7003185F0F95}"/>
              </a:ext>
            </a:extLst>
          </p:cNvPr>
          <p:cNvGraphicFramePr>
            <a:graphicFrameLocks noChangeAspect="1"/>
          </p:cNvGraphicFramePr>
          <p:nvPr>
            <p:extLst>
              <p:ext uri="{D42A27DB-BD31-4B8C-83A1-F6EECF244321}">
                <p14:modId xmlns:p14="http://schemas.microsoft.com/office/powerpoint/2010/main" val="3693192048"/>
              </p:ext>
            </p:extLst>
          </p:nvPr>
        </p:nvGraphicFramePr>
        <p:xfrm>
          <a:off x="11047380" y="1407541"/>
          <a:ext cx="460439" cy="306959"/>
        </p:xfrm>
        <a:graphic>
          <a:graphicData uri="http://schemas.openxmlformats.org/presentationml/2006/ole">
            <mc:AlternateContent xmlns:mc="http://schemas.openxmlformats.org/markup-compatibility/2006">
              <mc:Choice xmlns:v="urn:schemas-microsoft-com:vml" Requires="v">
                <p:oleObj name="Equation" r:id="rId4" imgW="304560" imgH="203040" progId="Equation.DSMT4">
                  <p:embed/>
                </p:oleObj>
              </mc:Choice>
              <mc:Fallback>
                <p:oleObj name="Equation" r:id="rId4" imgW="304560" imgH="203040" progId="Equation.DSMT4">
                  <p:embed/>
                  <p:pic>
                    <p:nvPicPr>
                      <p:cNvPr id="0" name=""/>
                      <p:cNvPicPr/>
                      <p:nvPr/>
                    </p:nvPicPr>
                    <p:blipFill>
                      <a:blip r:embed="rId5"/>
                      <a:stretch>
                        <a:fillRect/>
                      </a:stretch>
                    </p:blipFill>
                    <p:spPr>
                      <a:xfrm>
                        <a:off x="11047380" y="1407541"/>
                        <a:ext cx="460439" cy="306959"/>
                      </a:xfrm>
                      <a:prstGeom prst="rect">
                        <a:avLst/>
                      </a:prstGeom>
                    </p:spPr>
                  </p:pic>
                </p:oleObj>
              </mc:Fallback>
            </mc:AlternateContent>
          </a:graphicData>
        </a:graphic>
      </p:graphicFrame>
      <p:sp>
        <p:nvSpPr>
          <p:cNvPr id="6" name="文本框 5">
            <a:extLst>
              <a:ext uri="{FF2B5EF4-FFF2-40B4-BE49-F238E27FC236}">
                <a16:creationId xmlns:a16="http://schemas.microsoft.com/office/drawing/2014/main" id="{077B65CB-8389-4D94-9556-1E7479321EBE}"/>
              </a:ext>
            </a:extLst>
          </p:cNvPr>
          <p:cNvSpPr txBox="1"/>
          <p:nvPr/>
        </p:nvSpPr>
        <p:spPr>
          <a:xfrm>
            <a:off x="550718" y="1943106"/>
            <a:ext cx="10957101" cy="2862322"/>
          </a:xfrm>
          <a:prstGeom prst="rect">
            <a:avLst/>
          </a:prstGeom>
          <a:noFill/>
        </p:spPr>
        <p:txBody>
          <a:bodyPr wrap="square" rtlCol="0">
            <a:spAutoFit/>
          </a:bodyPr>
          <a:lstStyle/>
          <a:p>
            <a:r>
              <a:rPr lang="zh-CN" altLang="en-US" dirty="0"/>
              <a:t>电子电流密度同样是沿着</a:t>
            </a:r>
            <a:r>
              <a:rPr lang="en-US" altLang="zh-CN" dirty="0"/>
              <a:t>x</a:t>
            </a:r>
            <a:r>
              <a:rPr lang="zh-CN" altLang="en-US" dirty="0"/>
              <a:t>轴正方向的。</a:t>
            </a:r>
            <a:endParaRPr lang="en-US" altLang="zh-CN" dirty="0"/>
          </a:p>
          <a:p>
            <a:r>
              <a:rPr lang="zh-CN" altLang="en-US" dirty="0"/>
              <a:t>        依照前述的假设，电子电流与空穴电流分别为连续函数，且空间电荷区的电子电流与空穴电流为常量。总电流为电子电流与空穴电流的和，且为常量。图</a:t>
            </a:r>
            <a:r>
              <a:rPr lang="en-US" altLang="zh-CN" dirty="0"/>
              <a:t>7</a:t>
            </a:r>
            <a:r>
              <a:rPr lang="zh-CN" altLang="en-US" dirty="0"/>
              <a:t>同样显示了上述电流的大小。</a:t>
            </a:r>
            <a:endParaRPr lang="en-US" altLang="zh-CN" dirty="0"/>
          </a:p>
          <a:p>
            <a:r>
              <a:rPr lang="en-US" altLang="zh-CN" dirty="0"/>
              <a:t>        </a:t>
            </a:r>
            <a:r>
              <a:rPr lang="zh-CN" altLang="en-US" dirty="0"/>
              <a:t>那么，总电流密度为</a:t>
            </a:r>
            <a:endParaRPr lang="en-US" altLang="zh-CN" dirty="0"/>
          </a:p>
          <a:p>
            <a:endParaRPr lang="en-US" altLang="zh-CN" dirty="0"/>
          </a:p>
          <a:p>
            <a:endParaRPr lang="en-US" altLang="zh-CN" dirty="0"/>
          </a:p>
          <a:p>
            <a:endParaRPr lang="en-US" altLang="zh-CN" dirty="0"/>
          </a:p>
          <a:p>
            <a:endParaRPr lang="en-US" altLang="zh-CN" dirty="0"/>
          </a:p>
          <a:p>
            <a:r>
              <a:rPr lang="zh-CN" altLang="en-US" dirty="0"/>
              <a:t>式</a:t>
            </a:r>
            <a:r>
              <a:rPr lang="en-US" altLang="zh-CN" dirty="0"/>
              <a:t>(26)</a:t>
            </a:r>
            <a:r>
              <a:rPr lang="zh-CN" altLang="en-US" dirty="0"/>
              <a:t>即为</a:t>
            </a:r>
            <a:r>
              <a:rPr lang="en-US" altLang="zh-CN" dirty="0" err="1"/>
              <a:t>pn</a:t>
            </a:r>
            <a:r>
              <a:rPr lang="zh-CN" altLang="en-US" dirty="0"/>
              <a:t>结理想电流电压关系式。</a:t>
            </a:r>
            <a:endParaRPr lang="en-US" altLang="zh-CN" dirty="0"/>
          </a:p>
          <a:p>
            <a:r>
              <a:rPr lang="en-US" altLang="zh-CN" dirty="0"/>
              <a:t>        </a:t>
            </a:r>
            <a:r>
              <a:rPr lang="zh-CN" altLang="en-US" dirty="0"/>
              <a:t>定义参数</a:t>
            </a:r>
            <a:r>
              <a:rPr lang="en-US" altLang="zh-CN" dirty="0"/>
              <a:t>J</a:t>
            </a:r>
            <a:r>
              <a:rPr lang="en-US" altLang="zh-CN" baseline="-25000" dirty="0"/>
              <a:t>s</a:t>
            </a:r>
            <a:r>
              <a:rPr lang="zh-CN" altLang="en-US" dirty="0"/>
              <a:t>为</a:t>
            </a:r>
          </a:p>
        </p:txBody>
      </p:sp>
      <p:graphicFrame>
        <p:nvGraphicFramePr>
          <p:cNvPr id="7" name="对象 6">
            <a:extLst>
              <a:ext uri="{FF2B5EF4-FFF2-40B4-BE49-F238E27FC236}">
                <a16:creationId xmlns:a16="http://schemas.microsoft.com/office/drawing/2014/main" id="{B205FD45-E3F5-4AC1-8A02-4CD662687A9D}"/>
              </a:ext>
            </a:extLst>
          </p:cNvPr>
          <p:cNvGraphicFramePr>
            <a:graphicFrameLocks noChangeAspect="1"/>
          </p:cNvGraphicFramePr>
          <p:nvPr>
            <p:extLst>
              <p:ext uri="{D42A27DB-BD31-4B8C-83A1-F6EECF244321}">
                <p14:modId xmlns:p14="http://schemas.microsoft.com/office/powerpoint/2010/main" val="1883543075"/>
              </p:ext>
            </p:extLst>
          </p:nvPr>
        </p:nvGraphicFramePr>
        <p:xfrm>
          <a:off x="2734413" y="3143435"/>
          <a:ext cx="6589709" cy="941387"/>
        </p:xfrm>
        <a:graphic>
          <a:graphicData uri="http://schemas.openxmlformats.org/presentationml/2006/ole">
            <mc:AlternateContent xmlns:mc="http://schemas.openxmlformats.org/markup-compatibility/2006">
              <mc:Choice xmlns:v="urn:schemas-microsoft-com:vml" Requires="v">
                <p:oleObj name="Equation" r:id="rId6" imgW="3555720" imgH="507960" progId="Equation.DSMT4">
                  <p:embed/>
                </p:oleObj>
              </mc:Choice>
              <mc:Fallback>
                <p:oleObj name="Equation" r:id="rId6" imgW="3555720" imgH="507960" progId="Equation.DSMT4">
                  <p:embed/>
                  <p:pic>
                    <p:nvPicPr>
                      <p:cNvPr id="0" name=""/>
                      <p:cNvPicPr/>
                      <p:nvPr/>
                    </p:nvPicPr>
                    <p:blipFill>
                      <a:blip r:embed="rId7"/>
                      <a:stretch>
                        <a:fillRect/>
                      </a:stretch>
                    </p:blipFill>
                    <p:spPr>
                      <a:xfrm>
                        <a:off x="2734413" y="3143435"/>
                        <a:ext cx="6589709" cy="941387"/>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0A786477-5178-4415-97EA-DECD9AD66819}"/>
              </a:ext>
            </a:extLst>
          </p:cNvPr>
          <p:cNvGraphicFramePr>
            <a:graphicFrameLocks noChangeAspect="1"/>
          </p:cNvGraphicFramePr>
          <p:nvPr>
            <p:extLst>
              <p:ext uri="{D42A27DB-BD31-4B8C-83A1-F6EECF244321}">
                <p14:modId xmlns:p14="http://schemas.microsoft.com/office/powerpoint/2010/main" val="1447807835"/>
              </p:ext>
            </p:extLst>
          </p:nvPr>
        </p:nvGraphicFramePr>
        <p:xfrm>
          <a:off x="11047380" y="3493614"/>
          <a:ext cx="462937" cy="308624"/>
        </p:xfrm>
        <a:graphic>
          <a:graphicData uri="http://schemas.openxmlformats.org/presentationml/2006/ole">
            <mc:AlternateContent xmlns:mc="http://schemas.openxmlformats.org/markup-compatibility/2006">
              <mc:Choice xmlns:v="urn:schemas-microsoft-com:vml" Requires="v">
                <p:oleObj name="Equation" r:id="rId8" imgW="304560" imgH="203040" progId="Equation.DSMT4">
                  <p:embed/>
                </p:oleObj>
              </mc:Choice>
              <mc:Fallback>
                <p:oleObj name="Equation" r:id="rId8" imgW="304560" imgH="203040" progId="Equation.DSMT4">
                  <p:embed/>
                  <p:pic>
                    <p:nvPicPr>
                      <p:cNvPr id="0" name=""/>
                      <p:cNvPicPr/>
                      <p:nvPr/>
                    </p:nvPicPr>
                    <p:blipFill>
                      <a:blip r:embed="rId9"/>
                      <a:stretch>
                        <a:fillRect/>
                      </a:stretch>
                    </p:blipFill>
                    <p:spPr>
                      <a:xfrm>
                        <a:off x="11047380" y="3493614"/>
                        <a:ext cx="462937" cy="308624"/>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8D4ACD58-8A7A-4D4F-8565-C24FF96D4EBF}"/>
              </a:ext>
            </a:extLst>
          </p:cNvPr>
          <p:cNvGraphicFramePr>
            <a:graphicFrameLocks noChangeAspect="1"/>
          </p:cNvGraphicFramePr>
          <p:nvPr>
            <p:extLst>
              <p:ext uri="{D42A27DB-BD31-4B8C-83A1-F6EECF244321}">
                <p14:modId xmlns:p14="http://schemas.microsoft.com/office/powerpoint/2010/main" val="1932059194"/>
              </p:ext>
            </p:extLst>
          </p:nvPr>
        </p:nvGraphicFramePr>
        <p:xfrm>
          <a:off x="4683921" y="4805428"/>
          <a:ext cx="2824158" cy="941386"/>
        </p:xfrm>
        <a:graphic>
          <a:graphicData uri="http://schemas.openxmlformats.org/presentationml/2006/ole">
            <mc:AlternateContent xmlns:mc="http://schemas.openxmlformats.org/markup-compatibility/2006">
              <mc:Choice xmlns:v="urn:schemas-microsoft-com:vml" Requires="v">
                <p:oleObj name="Equation" r:id="rId10" imgW="1523880" imgH="507960" progId="Equation.DSMT4">
                  <p:embed/>
                </p:oleObj>
              </mc:Choice>
              <mc:Fallback>
                <p:oleObj name="Equation" r:id="rId10" imgW="1523880" imgH="507960" progId="Equation.DSMT4">
                  <p:embed/>
                  <p:pic>
                    <p:nvPicPr>
                      <p:cNvPr id="0" name=""/>
                      <p:cNvPicPr/>
                      <p:nvPr/>
                    </p:nvPicPr>
                    <p:blipFill>
                      <a:blip r:embed="rId11"/>
                      <a:stretch>
                        <a:fillRect/>
                      </a:stretch>
                    </p:blipFill>
                    <p:spPr>
                      <a:xfrm>
                        <a:off x="4683921" y="4805428"/>
                        <a:ext cx="2824158" cy="941386"/>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81FB0023-7427-4902-871B-657D16E08571}"/>
              </a:ext>
            </a:extLst>
          </p:cNvPr>
          <p:cNvGraphicFramePr>
            <a:graphicFrameLocks noChangeAspect="1"/>
          </p:cNvGraphicFramePr>
          <p:nvPr>
            <p:extLst>
              <p:ext uri="{D42A27DB-BD31-4B8C-83A1-F6EECF244321}">
                <p14:modId xmlns:p14="http://schemas.microsoft.com/office/powerpoint/2010/main" val="2548751742"/>
              </p:ext>
            </p:extLst>
          </p:nvPr>
        </p:nvGraphicFramePr>
        <p:xfrm>
          <a:off x="11047380" y="5108327"/>
          <a:ext cx="503382" cy="335588"/>
        </p:xfrm>
        <a:graphic>
          <a:graphicData uri="http://schemas.openxmlformats.org/presentationml/2006/ole">
            <mc:AlternateContent xmlns:mc="http://schemas.openxmlformats.org/markup-compatibility/2006">
              <mc:Choice xmlns:v="urn:schemas-microsoft-com:vml" Requires="v">
                <p:oleObj name="Equation" r:id="rId12" imgW="304560" imgH="203040" progId="Equation.DSMT4">
                  <p:embed/>
                </p:oleObj>
              </mc:Choice>
              <mc:Fallback>
                <p:oleObj name="Equation" r:id="rId12" imgW="304560" imgH="203040" progId="Equation.DSMT4">
                  <p:embed/>
                  <p:pic>
                    <p:nvPicPr>
                      <p:cNvPr id="0" name=""/>
                      <p:cNvPicPr/>
                      <p:nvPr/>
                    </p:nvPicPr>
                    <p:blipFill>
                      <a:blip r:embed="rId13"/>
                      <a:stretch>
                        <a:fillRect/>
                      </a:stretch>
                    </p:blipFill>
                    <p:spPr>
                      <a:xfrm>
                        <a:off x="11047380" y="5108327"/>
                        <a:ext cx="503382" cy="335588"/>
                      </a:xfrm>
                      <a:prstGeom prst="rect">
                        <a:avLst/>
                      </a:prstGeom>
                    </p:spPr>
                  </p:pic>
                </p:oleObj>
              </mc:Fallback>
            </mc:AlternateContent>
          </a:graphicData>
        </a:graphic>
      </p:graphicFrame>
    </p:spTree>
    <p:extLst>
      <p:ext uri="{BB962C8B-B14F-4D97-AF65-F5344CB8AC3E}">
        <p14:creationId xmlns:p14="http://schemas.microsoft.com/office/powerpoint/2010/main" val="2200573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2F7E4AB-2FB8-46C6-AE3B-490A4E6BCDD6}"/>
              </a:ext>
            </a:extLst>
          </p:cNvPr>
          <p:cNvSpPr>
            <a:spLocks noGrp="1"/>
          </p:cNvSpPr>
          <p:nvPr>
            <p:ph type="sldNum" sz="quarter" idx="12"/>
          </p:nvPr>
        </p:nvSpPr>
        <p:spPr/>
        <p:txBody>
          <a:bodyPr/>
          <a:lstStyle/>
          <a:p>
            <a:pPr>
              <a:defRPr/>
            </a:pPr>
            <a:fld id="{DB5F2CA6-A39B-48F7-84D1-AF91BD07D67D}" type="slidenum">
              <a:rPr lang="en-US" altLang="zh-CN" smtClean="0"/>
              <a:pPr>
                <a:defRPr/>
              </a:pPr>
              <a:t>17</a:t>
            </a:fld>
            <a:endParaRPr lang="en-US" altLang="zh-CN"/>
          </a:p>
        </p:txBody>
      </p:sp>
      <p:sp>
        <p:nvSpPr>
          <p:cNvPr id="5" name="矩形 4">
            <a:extLst>
              <a:ext uri="{FF2B5EF4-FFF2-40B4-BE49-F238E27FC236}">
                <a16:creationId xmlns:a16="http://schemas.microsoft.com/office/drawing/2014/main" id="{D059F2DA-620C-4BB8-9E98-C3835D619E02}"/>
              </a:ext>
            </a:extLst>
          </p:cNvPr>
          <p:cNvSpPr/>
          <p:nvPr/>
        </p:nvSpPr>
        <p:spPr>
          <a:xfrm>
            <a:off x="429163" y="598208"/>
            <a:ext cx="2646878" cy="584775"/>
          </a:xfrm>
          <a:prstGeom prst="rect">
            <a:avLst/>
          </a:prstGeom>
          <a:noFill/>
        </p:spPr>
        <p:txBody>
          <a:bodyPr wrap="none" lIns="91440" tIns="45720" rIns="91440" bIns="45720">
            <a:spAutoFit/>
          </a:bodyPr>
          <a:lstStyle/>
          <a:p>
            <a:pPr algn="ctr"/>
            <a:r>
              <a:rPr lang="zh-CN" altLang="en-US" sz="3200" b="0" cap="none" spc="0" dirty="0">
                <a:ln w="0"/>
                <a:solidFill>
                  <a:schemeClr val="tx1"/>
                </a:solidFill>
                <a:effectLst>
                  <a:outerShdw blurRad="38100" dist="19050" dir="2700000" algn="tl" rotWithShape="0">
                    <a:schemeClr val="dk1">
                      <a:alpha val="40000"/>
                    </a:schemeClr>
                  </a:outerShdw>
                </a:effectLst>
              </a:rPr>
              <a:t>理想</a:t>
            </a:r>
            <a:r>
              <a:rPr lang="en-US" altLang="zh-CN" sz="3200" b="0" cap="none" spc="0" dirty="0" err="1">
                <a:ln w="0"/>
                <a:solidFill>
                  <a:schemeClr val="tx1"/>
                </a:solidFill>
                <a:effectLst>
                  <a:outerShdw blurRad="38100" dist="19050" dir="2700000" algn="tl" rotWithShape="0">
                    <a:schemeClr val="dk1">
                      <a:alpha val="40000"/>
                    </a:schemeClr>
                  </a:outerShdw>
                </a:effectLst>
              </a:rPr>
              <a:t>pn</a:t>
            </a:r>
            <a:r>
              <a:rPr lang="zh-CN" altLang="en-US" sz="3200" b="0" cap="none" spc="0" dirty="0">
                <a:ln w="0"/>
                <a:solidFill>
                  <a:schemeClr val="tx1"/>
                </a:solidFill>
                <a:effectLst>
                  <a:outerShdw blurRad="38100" dist="19050" dir="2700000" algn="tl" rotWithShape="0">
                    <a:schemeClr val="dk1">
                      <a:alpha val="40000"/>
                    </a:schemeClr>
                  </a:outerShdw>
                </a:effectLst>
              </a:rPr>
              <a:t>结电流</a:t>
            </a:r>
          </a:p>
        </p:txBody>
      </p:sp>
      <p:sp>
        <p:nvSpPr>
          <p:cNvPr id="2" name="文本框 1">
            <a:extLst>
              <a:ext uri="{FF2B5EF4-FFF2-40B4-BE49-F238E27FC236}">
                <a16:creationId xmlns:a16="http://schemas.microsoft.com/office/drawing/2014/main" id="{0D16A960-A559-4B82-846E-0CAA0C44BC74}"/>
              </a:ext>
            </a:extLst>
          </p:cNvPr>
          <p:cNvSpPr txBox="1"/>
          <p:nvPr/>
        </p:nvSpPr>
        <p:spPr>
          <a:xfrm>
            <a:off x="540327" y="1182983"/>
            <a:ext cx="11128664" cy="2308324"/>
          </a:xfrm>
          <a:prstGeom prst="rect">
            <a:avLst/>
          </a:prstGeom>
          <a:noFill/>
        </p:spPr>
        <p:txBody>
          <a:bodyPr wrap="square" rtlCol="0">
            <a:spAutoFit/>
          </a:bodyPr>
          <a:lstStyle/>
          <a:p>
            <a:r>
              <a:rPr lang="zh-CN" altLang="en-US" dirty="0"/>
              <a:t>则式</a:t>
            </a:r>
            <a:r>
              <a:rPr lang="en-US" altLang="zh-CN" dirty="0"/>
              <a:t>(26)</a:t>
            </a:r>
            <a:r>
              <a:rPr lang="zh-CN" altLang="en-US" dirty="0"/>
              <a:t>可以写为</a:t>
            </a:r>
            <a:endParaRPr lang="en-US" altLang="zh-CN" dirty="0"/>
          </a:p>
          <a:p>
            <a:endParaRPr lang="en-US" altLang="zh-CN" dirty="0"/>
          </a:p>
          <a:p>
            <a:endParaRPr lang="en-US" altLang="zh-CN" dirty="0"/>
          </a:p>
          <a:p>
            <a:endParaRPr lang="en-US" altLang="zh-CN" dirty="0"/>
          </a:p>
          <a:p>
            <a:pPr algn="just"/>
            <a:r>
              <a:rPr lang="zh-CN" altLang="en-US" dirty="0"/>
              <a:t>式</a:t>
            </a:r>
            <a:r>
              <a:rPr lang="en-US" altLang="zh-CN" dirty="0"/>
              <a:t>(28)</a:t>
            </a:r>
            <a:r>
              <a:rPr lang="zh-CN" altLang="en-US" dirty="0"/>
              <a:t>称为理想二极管方程。它是很大电流与电压范围下</a:t>
            </a:r>
            <a:r>
              <a:rPr lang="en-US" altLang="zh-CN" dirty="0" err="1"/>
              <a:t>pn</a:t>
            </a:r>
            <a:r>
              <a:rPr lang="zh-CN" altLang="en-US" dirty="0"/>
              <a:t>结电流</a:t>
            </a:r>
            <a:r>
              <a:rPr lang="en-US" altLang="zh-CN" dirty="0"/>
              <a:t>-</a:t>
            </a:r>
            <a:r>
              <a:rPr lang="zh-CN" altLang="en-US" dirty="0"/>
              <a:t>电压特性的最佳描述。虽然式</a:t>
            </a:r>
            <a:r>
              <a:rPr lang="en-US" altLang="zh-CN" dirty="0"/>
              <a:t>(28)</a:t>
            </a:r>
            <a:r>
              <a:rPr lang="zh-CN" altLang="en-US" dirty="0"/>
              <a:t>是在假设偏压为正时</a:t>
            </a:r>
            <a:r>
              <a:rPr lang="en-US" altLang="zh-CN" dirty="0"/>
              <a:t>(</a:t>
            </a:r>
            <a:r>
              <a:rPr lang="en-US" altLang="zh-CN" dirty="0" err="1"/>
              <a:t>V</a:t>
            </a:r>
            <a:r>
              <a:rPr lang="en-US" altLang="zh-CN" baseline="-25000" dirty="0" err="1"/>
              <a:t>a</a:t>
            </a:r>
            <a:r>
              <a:rPr lang="en-US" altLang="zh-CN" dirty="0"/>
              <a:t>&gt;0)</a:t>
            </a:r>
            <a:r>
              <a:rPr lang="zh-CN" altLang="en-US" dirty="0"/>
              <a:t>推导出来的，但是允许</a:t>
            </a:r>
            <a:r>
              <a:rPr lang="en-US" altLang="zh-CN" dirty="0" err="1"/>
              <a:t>V</a:t>
            </a:r>
            <a:r>
              <a:rPr lang="en-US" altLang="zh-CN" baseline="-25000" dirty="0" err="1"/>
              <a:t>a</a:t>
            </a:r>
            <a:r>
              <a:rPr lang="zh-CN" altLang="en-US" dirty="0"/>
              <a:t>取负值</a:t>
            </a:r>
            <a:r>
              <a:rPr lang="en-US" altLang="zh-CN" dirty="0"/>
              <a:t>(</a:t>
            </a:r>
            <a:r>
              <a:rPr lang="zh-CN" altLang="en-US" dirty="0"/>
              <a:t>反偏电压</a:t>
            </a:r>
            <a:r>
              <a:rPr lang="en-US" altLang="zh-CN" dirty="0"/>
              <a:t>)</a:t>
            </a:r>
            <a:r>
              <a:rPr lang="zh-CN" altLang="en-US" dirty="0"/>
              <a:t>。图</a:t>
            </a:r>
            <a:r>
              <a:rPr lang="en-US" altLang="zh-CN" dirty="0"/>
              <a:t>8</a:t>
            </a:r>
            <a:r>
              <a:rPr lang="zh-CN" altLang="en-US" dirty="0"/>
              <a:t>为</a:t>
            </a:r>
            <a:r>
              <a:rPr lang="en-US" altLang="zh-CN" dirty="0" err="1"/>
              <a:t>pn</a:t>
            </a:r>
            <a:r>
              <a:rPr lang="zh-CN" altLang="en-US" dirty="0"/>
              <a:t>结电流</a:t>
            </a:r>
            <a:r>
              <a:rPr lang="en-US" altLang="zh-CN" dirty="0"/>
              <a:t>-</a:t>
            </a:r>
            <a:r>
              <a:rPr lang="zh-CN" altLang="en-US" dirty="0"/>
              <a:t>电压关系的曲线图。假设</a:t>
            </a:r>
            <a:r>
              <a:rPr lang="en-US" altLang="zh-CN" dirty="0" err="1"/>
              <a:t>V</a:t>
            </a:r>
            <a:r>
              <a:rPr lang="en-US" altLang="zh-CN" baseline="-25000" dirty="0" err="1"/>
              <a:t>a</a:t>
            </a:r>
            <a:r>
              <a:rPr lang="zh-CN" altLang="en-US" dirty="0"/>
              <a:t>的值为负</a:t>
            </a:r>
            <a:r>
              <a:rPr lang="en-US" altLang="zh-CN" dirty="0"/>
              <a:t>(</a:t>
            </a:r>
            <a:r>
              <a:rPr lang="zh-CN" altLang="en-US" dirty="0"/>
              <a:t>反偏电压</a:t>
            </a:r>
            <a:r>
              <a:rPr lang="en-US" altLang="zh-CN" dirty="0"/>
              <a:t>)</a:t>
            </a:r>
            <a:r>
              <a:rPr lang="zh-CN" altLang="en-US" dirty="0"/>
              <a:t>，比如几个热电压</a:t>
            </a:r>
            <a:r>
              <a:rPr lang="en-US" altLang="zh-CN" dirty="0"/>
              <a:t>(</a:t>
            </a:r>
            <a:r>
              <a:rPr lang="en-US" altLang="zh-CN" dirty="0" err="1"/>
              <a:t>kT</a:t>
            </a:r>
            <a:r>
              <a:rPr lang="en-US" altLang="zh-CN" dirty="0"/>
              <a:t>/eV),</a:t>
            </a:r>
            <a:r>
              <a:rPr lang="zh-CN" altLang="en-US" dirty="0"/>
              <a:t>那么反偏电流的大小就与反偏电压无关了。此时，参数</a:t>
            </a:r>
            <a:r>
              <a:rPr lang="en-US" altLang="zh-CN" dirty="0"/>
              <a:t>J</a:t>
            </a:r>
            <a:r>
              <a:rPr lang="en-US" altLang="zh-CN" baseline="-25000" dirty="0"/>
              <a:t>s</a:t>
            </a:r>
            <a:r>
              <a:rPr lang="zh-CN" altLang="en-US" dirty="0"/>
              <a:t>称为反向饱和电流密度。很明显，</a:t>
            </a:r>
            <a:r>
              <a:rPr lang="en-US" altLang="zh-CN" dirty="0" err="1"/>
              <a:t>pn</a:t>
            </a:r>
            <a:r>
              <a:rPr lang="en-US" altLang="zh-CN" dirty="0"/>
              <a:t> </a:t>
            </a:r>
            <a:r>
              <a:rPr lang="zh-CN" altLang="en-US" dirty="0"/>
              <a:t>结的电流</a:t>
            </a:r>
            <a:r>
              <a:rPr lang="en-US" altLang="zh-CN" dirty="0"/>
              <a:t>-</a:t>
            </a:r>
            <a:r>
              <a:rPr lang="zh-CN" altLang="en-US" dirty="0"/>
              <a:t>电压特性是非对称的。</a:t>
            </a:r>
          </a:p>
        </p:txBody>
      </p:sp>
      <p:graphicFrame>
        <p:nvGraphicFramePr>
          <p:cNvPr id="3" name="对象 2">
            <a:extLst>
              <a:ext uri="{FF2B5EF4-FFF2-40B4-BE49-F238E27FC236}">
                <a16:creationId xmlns:a16="http://schemas.microsoft.com/office/drawing/2014/main" id="{A296D13B-8CE9-4143-A096-3F7A86A7C268}"/>
              </a:ext>
            </a:extLst>
          </p:cNvPr>
          <p:cNvGraphicFramePr>
            <a:graphicFrameLocks noChangeAspect="1"/>
          </p:cNvGraphicFramePr>
          <p:nvPr>
            <p:extLst>
              <p:ext uri="{D42A27DB-BD31-4B8C-83A1-F6EECF244321}">
                <p14:modId xmlns:p14="http://schemas.microsoft.com/office/powerpoint/2010/main" val="1623786407"/>
              </p:ext>
            </p:extLst>
          </p:nvPr>
        </p:nvGraphicFramePr>
        <p:xfrm>
          <a:off x="4878006" y="1552315"/>
          <a:ext cx="2435988" cy="788796"/>
        </p:xfrm>
        <a:graphic>
          <a:graphicData uri="http://schemas.openxmlformats.org/presentationml/2006/ole">
            <mc:AlternateContent xmlns:mc="http://schemas.openxmlformats.org/markup-compatibility/2006">
              <mc:Choice xmlns:v="urn:schemas-microsoft-com:vml" Requires="v">
                <p:oleObj name="Equation" r:id="rId2" imgW="1333440" imgH="431640" progId="Equation.DSMT4">
                  <p:embed/>
                </p:oleObj>
              </mc:Choice>
              <mc:Fallback>
                <p:oleObj name="Equation" r:id="rId2" imgW="1333440" imgH="431640" progId="Equation.DSMT4">
                  <p:embed/>
                  <p:pic>
                    <p:nvPicPr>
                      <p:cNvPr id="0" name=""/>
                      <p:cNvPicPr/>
                      <p:nvPr/>
                    </p:nvPicPr>
                    <p:blipFill>
                      <a:blip r:embed="rId3"/>
                      <a:stretch>
                        <a:fillRect/>
                      </a:stretch>
                    </p:blipFill>
                    <p:spPr>
                      <a:xfrm>
                        <a:off x="4878006" y="1552315"/>
                        <a:ext cx="2435988" cy="788796"/>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6C51F848-3F45-49A9-B603-FA9FA5635D40}"/>
              </a:ext>
            </a:extLst>
          </p:cNvPr>
          <p:cNvGraphicFramePr>
            <a:graphicFrameLocks noChangeAspect="1"/>
          </p:cNvGraphicFramePr>
          <p:nvPr>
            <p:extLst>
              <p:ext uri="{D42A27DB-BD31-4B8C-83A1-F6EECF244321}">
                <p14:modId xmlns:p14="http://schemas.microsoft.com/office/powerpoint/2010/main" val="3663679287"/>
              </p:ext>
            </p:extLst>
          </p:nvPr>
        </p:nvGraphicFramePr>
        <p:xfrm>
          <a:off x="11036553" y="1786015"/>
          <a:ext cx="482094" cy="321396"/>
        </p:xfrm>
        <a:graphic>
          <a:graphicData uri="http://schemas.openxmlformats.org/presentationml/2006/ole">
            <mc:AlternateContent xmlns:mc="http://schemas.openxmlformats.org/markup-compatibility/2006">
              <mc:Choice xmlns:v="urn:schemas-microsoft-com:vml" Requires="v">
                <p:oleObj name="Equation" r:id="rId4" imgW="304560" imgH="203040" progId="Equation.DSMT4">
                  <p:embed/>
                </p:oleObj>
              </mc:Choice>
              <mc:Fallback>
                <p:oleObj name="Equation" r:id="rId4" imgW="304560" imgH="203040" progId="Equation.DSMT4">
                  <p:embed/>
                  <p:pic>
                    <p:nvPicPr>
                      <p:cNvPr id="0" name=""/>
                      <p:cNvPicPr/>
                      <p:nvPr/>
                    </p:nvPicPr>
                    <p:blipFill>
                      <a:blip r:embed="rId5"/>
                      <a:stretch>
                        <a:fillRect/>
                      </a:stretch>
                    </p:blipFill>
                    <p:spPr>
                      <a:xfrm>
                        <a:off x="11036553" y="1786015"/>
                        <a:ext cx="482094" cy="321396"/>
                      </a:xfrm>
                      <a:prstGeom prst="rect">
                        <a:avLst/>
                      </a:prstGeom>
                    </p:spPr>
                  </p:pic>
                </p:oleObj>
              </mc:Fallback>
            </mc:AlternateContent>
          </a:graphicData>
        </a:graphic>
      </p:graphicFrame>
      <p:pic>
        <p:nvPicPr>
          <p:cNvPr id="7" name="图片 6">
            <a:extLst>
              <a:ext uri="{FF2B5EF4-FFF2-40B4-BE49-F238E27FC236}">
                <a16:creationId xmlns:a16="http://schemas.microsoft.com/office/drawing/2014/main" id="{56BA7949-F996-4F13-A57B-690EB4C95119}"/>
              </a:ext>
            </a:extLst>
          </p:cNvPr>
          <p:cNvPicPr>
            <a:picLocks noChangeAspect="1"/>
          </p:cNvPicPr>
          <p:nvPr/>
        </p:nvPicPr>
        <p:blipFill>
          <a:blip r:embed="rId6"/>
          <a:stretch>
            <a:fillRect/>
          </a:stretch>
        </p:blipFill>
        <p:spPr>
          <a:xfrm>
            <a:off x="3914999" y="3491307"/>
            <a:ext cx="4379319" cy="2479973"/>
          </a:xfrm>
          <a:prstGeom prst="rect">
            <a:avLst/>
          </a:prstGeom>
        </p:spPr>
      </p:pic>
      <p:sp>
        <p:nvSpPr>
          <p:cNvPr id="8" name="矩形 7">
            <a:extLst>
              <a:ext uri="{FF2B5EF4-FFF2-40B4-BE49-F238E27FC236}">
                <a16:creationId xmlns:a16="http://schemas.microsoft.com/office/drawing/2014/main" id="{936C0597-2D55-4793-A757-3BDA291EDFAF}"/>
              </a:ext>
            </a:extLst>
          </p:cNvPr>
          <p:cNvSpPr/>
          <p:nvPr/>
        </p:nvSpPr>
        <p:spPr>
          <a:xfrm>
            <a:off x="4492837" y="5971280"/>
            <a:ext cx="3206326" cy="307777"/>
          </a:xfrm>
          <a:prstGeom prst="rect">
            <a:avLst/>
          </a:prstGeom>
          <a:noFill/>
        </p:spPr>
        <p:txBody>
          <a:bodyPr wrap="none" lIns="91440" tIns="45720" rIns="91440" bIns="45720">
            <a:spAutoFit/>
          </a:bodyPr>
          <a:lstStyle/>
          <a:p>
            <a:pPr algn="ctr"/>
            <a:r>
              <a:rPr lang="zh-CN" altLang="en-US" sz="1400" b="0" cap="none" spc="0" dirty="0">
                <a:ln w="0"/>
                <a:solidFill>
                  <a:schemeClr val="tx1"/>
                </a:solidFill>
                <a:effectLst>
                  <a:outerShdw blurRad="38100" dist="19050" dir="2700000" algn="tl" rotWithShape="0">
                    <a:schemeClr val="dk1">
                      <a:alpha val="40000"/>
                    </a:schemeClr>
                  </a:outerShdw>
                </a:effectLst>
              </a:rPr>
              <a:t>图</a:t>
            </a:r>
            <a:r>
              <a:rPr lang="en-US" altLang="zh-CN" sz="1400" b="0" cap="none" spc="0" dirty="0">
                <a:ln w="0"/>
                <a:solidFill>
                  <a:schemeClr val="tx1"/>
                </a:solidFill>
                <a:effectLst>
                  <a:outerShdw blurRad="38100" dist="19050" dir="2700000" algn="tl" rotWithShape="0">
                    <a:schemeClr val="dk1">
                      <a:alpha val="40000"/>
                    </a:schemeClr>
                  </a:outerShdw>
                </a:effectLst>
              </a:rPr>
              <a:t>8</a:t>
            </a:r>
            <a:r>
              <a:rPr lang="zh-CN" altLang="en-US" sz="1400" b="0" cap="none" spc="0" dirty="0">
                <a:ln w="0"/>
                <a:solidFill>
                  <a:schemeClr val="tx1"/>
                </a:solidFill>
                <a:effectLst>
                  <a:outerShdw blurRad="38100" dist="19050" dir="2700000" algn="tl" rotWithShape="0">
                    <a:schemeClr val="dk1">
                      <a:alpha val="40000"/>
                    </a:schemeClr>
                  </a:outerShdw>
                </a:effectLst>
              </a:rPr>
              <a:t>：</a:t>
            </a:r>
            <a:r>
              <a:rPr lang="en-US" altLang="zh-CN" sz="1400" b="0" cap="none" spc="0" dirty="0" err="1">
                <a:ln w="0"/>
                <a:solidFill>
                  <a:schemeClr val="tx1"/>
                </a:solidFill>
                <a:effectLst>
                  <a:outerShdw blurRad="38100" dist="19050" dir="2700000" algn="tl" rotWithShape="0">
                    <a:schemeClr val="dk1">
                      <a:alpha val="40000"/>
                    </a:schemeClr>
                  </a:outerShdw>
                </a:effectLst>
              </a:rPr>
              <a:t>pn</a:t>
            </a:r>
            <a:r>
              <a:rPr lang="zh-CN" altLang="en-US" sz="1400" b="0" cap="none" spc="0" dirty="0">
                <a:ln w="0"/>
                <a:solidFill>
                  <a:schemeClr val="tx1"/>
                </a:solidFill>
                <a:effectLst>
                  <a:outerShdw blurRad="38100" dist="19050" dir="2700000" algn="tl" rotWithShape="0">
                    <a:schemeClr val="dk1">
                      <a:alpha val="40000"/>
                    </a:schemeClr>
                  </a:outerShdw>
                </a:effectLst>
              </a:rPr>
              <a:t>结二极管的理想电流</a:t>
            </a:r>
            <a:r>
              <a:rPr lang="en-US" altLang="zh-CN" sz="1400" b="0" cap="none" spc="0" dirty="0">
                <a:ln w="0"/>
                <a:solidFill>
                  <a:schemeClr val="tx1"/>
                </a:solidFill>
                <a:effectLst>
                  <a:outerShdw blurRad="38100" dist="19050" dir="2700000" algn="tl" rotWithShape="0">
                    <a:schemeClr val="dk1">
                      <a:alpha val="40000"/>
                    </a:schemeClr>
                  </a:outerShdw>
                </a:effectLst>
              </a:rPr>
              <a:t>-</a:t>
            </a:r>
            <a:r>
              <a:rPr lang="zh-CN" altLang="en-US" sz="1400" b="0" cap="none" spc="0" dirty="0">
                <a:ln w="0"/>
                <a:solidFill>
                  <a:schemeClr val="tx1"/>
                </a:solidFill>
                <a:effectLst>
                  <a:outerShdw blurRad="38100" dist="19050" dir="2700000" algn="tl" rotWithShape="0">
                    <a:schemeClr val="dk1">
                      <a:alpha val="40000"/>
                    </a:schemeClr>
                  </a:outerShdw>
                </a:effectLst>
              </a:rPr>
              <a:t>电压特性</a:t>
            </a:r>
          </a:p>
        </p:txBody>
      </p:sp>
    </p:spTree>
    <p:extLst>
      <p:ext uri="{BB962C8B-B14F-4D97-AF65-F5344CB8AC3E}">
        <p14:creationId xmlns:p14="http://schemas.microsoft.com/office/powerpoint/2010/main" val="2296840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2F7E4AB-2FB8-46C6-AE3B-490A4E6BCDD6}"/>
              </a:ext>
            </a:extLst>
          </p:cNvPr>
          <p:cNvSpPr>
            <a:spLocks noGrp="1"/>
          </p:cNvSpPr>
          <p:nvPr>
            <p:ph type="sldNum" sz="quarter" idx="12"/>
          </p:nvPr>
        </p:nvSpPr>
        <p:spPr/>
        <p:txBody>
          <a:bodyPr/>
          <a:lstStyle/>
          <a:p>
            <a:pPr>
              <a:defRPr/>
            </a:pPr>
            <a:fld id="{DB5F2CA6-A39B-48F7-84D1-AF91BD07D67D}" type="slidenum">
              <a:rPr lang="en-US" altLang="zh-CN" smtClean="0"/>
              <a:pPr>
                <a:defRPr/>
              </a:pPr>
              <a:t>18</a:t>
            </a:fld>
            <a:endParaRPr lang="en-US" altLang="zh-CN"/>
          </a:p>
        </p:txBody>
      </p:sp>
      <p:sp>
        <p:nvSpPr>
          <p:cNvPr id="5" name="矩形 4">
            <a:extLst>
              <a:ext uri="{FF2B5EF4-FFF2-40B4-BE49-F238E27FC236}">
                <a16:creationId xmlns:a16="http://schemas.microsoft.com/office/drawing/2014/main" id="{D059F2DA-620C-4BB8-9E98-C3835D619E02}"/>
              </a:ext>
            </a:extLst>
          </p:cNvPr>
          <p:cNvSpPr/>
          <p:nvPr/>
        </p:nvSpPr>
        <p:spPr>
          <a:xfrm>
            <a:off x="429163" y="598208"/>
            <a:ext cx="2646878" cy="584775"/>
          </a:xfrm>
          <a:prstGeom prst="rect">
            <a:avLst/>
          </a:prstGeom>
          <a:noFill/>
        </p:spPr>
        <p:txBody>
          <a:bodyPr wrap="none" lIns="91440" tIns="45720" rIns="91440" bIns="45720">
            <a:spAutoFit/>
          </a:bodyPr>
          <a:lstStyle/>
          <a:p>
            <a:pPr algn="ctr"/>
            <a:r>
              <a:rPr lang="zh-CN" altLang="en-US" sz="3200" b="0" cap="none" spc="0" dirty="0">
                <a:ln w="0"/>
                <a:solidFill>
                  <a:schemeClr val="tx1"/>
                </a:solidFill>
                <a:effectLst>
                  <a:outerShdw blurRad="38100" dist="19050" dir="2700000" algn="tl" rotWithShape="0">
                    <a:schemeClr val="dk1">
                      <a:alpha val="40000"/>
                    </a:schemeClr>
                  </a:outerShdw>
                </a:effectLst>
              </a:rPr>
              <a:t>理想</a:t>
            </a:r>
            <a:r>
              <a:rPr lang="en-US" altLang="zh-CN" sz="3200" b="0" cap="none" spc="0" dirty="0" err="1">
                <a:ln w="0"/>
                <a:solidFill>
                  <a:schemeClr val="tx1"/>
                </a:solidFill>
                <a:effectLst>
                  <a:outerShdw blurRad="38100" dist="19050" dir="2700000" algn="tl" rotWithShape="0">
                    <a:schemeClr val="dk1">
                      <a:alpha val="40000"/>
                    </a:schemeClr>
                  </a:outerShdw>
                </a:effectLst>
              </a:rPr>
              <a:t>pn</a:t>
            </a:r>
            <a:r>
              <a:rPr lang="zh-CN" altLang="en-US" sz="3200" b="0" cap="none" spc="0" dirty="0">
                <a:ln w="0"/>
                <a:solidFill>
                  <a:schemeClr val="tx1"/>
                </a:solidFill>
                <a:effectLst>
                  <a:outerShdw blurRad="38100" dist="19050" dir="2700000" algn="tl" rotWithShape="0">
                    <a:schemeClr val="dk1">
                      <a:alpha val="40000"/>
                    </a:schemeClr>
                  </a:outerShdw>
                </a:effectLst>
              </a:rPr>
              <a:t>结电流</a:t>
            </a:r>
          </a:p>
        </p:txBody>
      </p:sp>
      <p:sp>
        <p:nvSpPr>
          <p:cNvPr id="9" name="文本框 8">
            <a:extLst>
              <a:ext uri="{FF2B5EF4-FFF2-40B4-BE49-F238E27FC236}">
                <a16:creationId xmlns:a16="http://schemas.microsoft.com/office/drawing/2014/main" id="{7831FCE5-B424-462E-A42C-908B0AF410AF}"/>
              </a:ext>
            </a:extLst>
          </p:cNvPr>
          <p:cNvSpPr txBox="1"/>
          <p:nvPr/>
        </p:nvSpPr>
        <p:spPr>
          <a:xfrm>
            <a:off x="574158" y="1182983"/>
            <a:ext cx="11188679" cy="923330"/>
          </a:xfrm>
          <a:prstGeom prst="rect">
            <a:avLst/>
          </a:prstGeom>
          <a:noFill/>
        </p:spPr>
        <p:txBody>
          <a:bodyPr wrap="square" rtlCol="0">
            <a:spAutoFit/>
          </a:bodyPr>
          <a:lstStyle/>
          <a:p>
            <a:r>
              <a:rPr lang="zh-CN" altLang="en-US" dirty="0"/>
              <a:t>        当式</a:t>
            </a:r>
            <a:r>
              <a:rPr lang="en-US" altLang="zh-CN" dirty="0"/>
              <a:t>(28)</a:t>
            </a:r>
            <a:r>
              <a:rPr lang="zh-CN" altLang="en-US" dirty="0"/>
              <a:t>中的正偏电压值大于几个热电压时</a:t>
            </a:r>
            <a:r>
              <a:rPr lang="en-US" altLang="zh-CN" dirty="0"/>
              <a:t>(</a:t>
            </a:r>
            <a:r>
              <a:rPr lang="en-US" altLang="zh-CN" dirty="0" err="1"/>
              <a:t>kT</a:t>
            </a:r>
            <a:r>
              <a:rPr lang="en-US" altLang="zh-CN" dirty="0"/>
              <a:t>/eV),</a:t>
            </a:r>
            <a:r>
              <a:rPr lang="zh-CN" altLang="en-US" dirty="0"/>
              <a:t>则可忽略式中的</a:t>
            </a:r>
            <a:r>
              <a:rPr lang="en-US" altLang="zh-CN" dirty="0"/>
              <a:t>(-1)</a:t>
            </a:r>
            <a:r>
              <a:rPr lang="zh-CN" altLang="en-US" dirty="0"/>
              <a:t>项。图</a:t>
            </a:r>
            <a:r>
              <a:rPr lang="en-US" altLang="zh-CN" dirty="0"/>
              <a:t>9</a:t>
            </a:r>
            <a:r>
              <a:rPr lang="zh-CN" altLang="en-US" dirty="0"/>
              <a:t>所示为正偏时的电流</a:t>
            </a:r>
            <a:r>
              <a:rPr lang="en-US" altLang="zh-CN" dirty="0"/>
              <a:t>-</a:t>
            </a:r>
            <a:r>
              <a:rPr lang="zh-CN" altLang="en-US" dirty="0"/>
              <a:t>电压曲线，其中电流采用了对数坐标。理想情况下，当</a:t>
            </a:r>
            <a:r>
              <a:rPr lang="en-US" altLang="zh-CN" dirty="0" err="1"/>
              <a:t>V</a:t>
            </a:r>
            <a:r>
              <a:rPr lang="en-US" altLang="zh-CN" baseline="-25000" dirty="0" err="1"/>
              <a:t>a</a:t>
            </a:r>
            <a:r>
              <a:rPr lang="zh-CN" altLang="en-US" dirty="0"/>
              <a:t>大于几个热电压时，上述曲线近似为一条直线。正偏电流为正偏电压的指数函数。</a:t>
            </a:r>
          </a:p>
        </p:txBody>
      </p:sp>
      <p:pic>
        <p:nvPicPr>
          <p:cNvPr id="10" name="图片 9">
            <a:extLst>
              <a:ext uri="{FF2B5EF4-FFF2-40B4-BE49-F238E27FC236}">
                <a16:creationId xmlns:a16="http://schemas.microsoft.com/office/drawing/2014/main" id="{D74B1366-782C-4924-B156-51C82B798D67}"/>
              </a:ext>
            </a:extLst>
          </p:cNvPr>
          <p:cNvPicPr>
            <a:picLocks noChangeAspect="1"/>
          </p:cNvPicPr>
          <p:nvPr/>
        </p:nvPicPr>
        <p:blipFill>
          <a:blip r:embed="rId2"/>
          <a:stretch>
            <a:fillRect/>
          </a:stretch>
        </p:blipFill>
        <p:spPr>
          <a:xfrm>
            <a:off x="574158" y="2106313"/>
            <a:ext cx="2962122" cy="3625073"/>
          </a:xfrm>
          <a:prstGeom prst="rect">
            <a:avLst/>
          </a:prstGeom>
        </p:spPr>
      </p:pic>
      <p:sp>
        <p:nvSpPr>
          <p:cNvPr id="11" name="矩形 10">
            <a:extLst>
              <a:ext uri="{FF2B5EF4-FFF2-40B4-BE49-F238E27FC236}">
                <a16:creationId xmlns:a16="http://schemas.microsoft.com/office/drawing/2014/main" id="{B884680C-8CC7-404D-A466-A6FFE915AB15}"/>
              </a:ext>
            </a:extLst>
          </p:cNvPr>
          <p:cNvSpPr/>
          <p:nvPr/>
        </p:nvSpPr>
        <p:spPr>
          <a:xfrm>
            <a:off x="436391" y="5675017"/>
            <a:ext cx="3237656" cy="523220"/>
          </a:xfrm>
          <a:prstGeom prst="rect">
            <a:avLst/>
          </a:prstGeom>
          <a:noFill/>
        </p:spPr>
        <p:txBody>
          <a:bodyPr wrap="square" lIns="91440" tIns="45720" rIns="91440" bIns="45720">
            <a:spAutoFit/>
          </a:bodyPr>
          <a:lstStyle/>
          <a:p>
            <a:pPr algn="ctr"/>
            <a:r>
              <a:rPr lang="zh-CN" altLang="en-US" sz="1400" b="0" cap="none" spc="0" dirty="0">
                <a:ln w="0"/>
                <a:solidFill>
                  <a:schemeClr val="tx1"/>
                </a:solidFill>
                <a:effectLst>
                  <a:outerShdw blurRad="38100" dist="19050" dir="2700000" algn="tl" rotWithShape="0">
                    <a:schemeClr val="dk1">
                      <a:alpha val="40000"/>
                    </a:schemeClr>
                  </a:outerShdw>
                </a:effectLst>
              </a:rPr>
              <a:t>图</a:t>
            </a:r>
            <a:r>
              <a:rPr lang="en-US" altLang="zh-CN" sz="1400" b="0" cap="none" spc="0" dirty="0">
                <a:ln w="0"/>
                <a:solidFill>
                  <a:schemeClr val="tx1"/>
                </a:solidFill>
                <a:effectLst>
                  <a:outerShdw blurRad="38100" dist="19050" dir="2700000" algn="tl" rotWithShape="0">
                    <a:schemeClr val="dk1">
                      <a:alpha val="40000"/>
                    </a:schemeClr>
                  </a:outerShdw>
                </a:effectLst>
              </a:rPr>
              <a:t>9</a:t>
            </a:r>
            <a:r>
              <a:rPr lang="zh-CN" altLang="en-US" sz="1400" b="0" cap="none" spc="0" dirty="0">
                <a:ln w="0"/>
                <a:solidFill>
                  <a:schemeClr val="tx1"/>
                </a:solidFill>
                <a:effectLst>
                  <a:outerShdw blurRad="38100" dist="19050" dir="2700000" algn="tl" rotWithShape="0">
                    <a:schemeClr val="dk1">
                      <a:alpha val="40000"/>
                    </a:schemeClr>
                  </a:outerShdw>
                </a:effectLst>
              </a:rPr>
              <a:t>：</a:t>
            </a:r>
            <a:r>
              <a:rPr lang="en-US" altLang="zh-CN" sz="1400" b="0" cap="none" spc="0" dirty="0" err="1">
                <a:ln w="0"/>
                <a:solidFill>
                  <a:schemeClr val="tx1"/>
                </a:solidFill>
                <a:effectLst>
                  <a:outerShdw blurRad="38100" dist="19050" dir="2700000" algn="tl" rotWithShape="0">
                    <a:schemeClr val="dk1">
                      <a:alpha val="40000"/>
                    </a:schemeClr>
                  </a:outerShdw>
                </a:effectLst>
              </a:rPr>
              <a:t>pn</a:t>
            </a:r>
            <a:r>
              <a:rPr lang="zh-CN" altLang="en-US" sz="1400" b="0" cap="none" spc="0" dirty="0">
                <a:ln w="0"/>
                <a:solidFill>
                  <a:schemeClr val="tx1"/>
                </a:solidFill>
                <a:effectLst>
                  <a:outerShdw blurRad="38100" dist="19050" dir="2700000" algn="tl" rotWithShape="0">
                    <a:schemeClr val="dk1">
                      <a:alpha val="40000"/>
                    </a:schemeClr>
                  </a:outerShdw>
                </a:effectLst>
              </a:rPr>
              <a:t>结二极管的理想电流</a:t>
            </a:r>
            <a:r>
              <a:rPr lang="en-US" altLang="zh-CN" sz="1400" b="0" cap="none" spc="0" dirty="0">
                <a:ln w="0"/>
                <a:solidFill>
                  <a:schemeClr val="tx1"/>
                </a:solidFill>
                <a:effectLst>
                  <a:outerShdw blurRad="38100" dist="19050" dir="2700000" algn="tl" rotWithShape="0">
                    <a:schemeClr val="dk1">
                      <a:alpha val="40000"/>
                    </a:schemeClr>
                  </a:outerShdw>
                </a:effectLst>
              </a:rPr>
              <a:t>-</a:t>
            </a:r>
            <a:r>
              <a:rPr lang="zh-CN" altLang="en-US" sz="1400" b="0" cap="none" spc="0" dirty="0">
                <a:ln w="0"/>
                <a:solidFill>
                  <a:schemeClr val="tx1"/>
                </a:solidFill>
                <a:effectLst>
                  <a:outerShdw blurRad="38100" dist="19050" dir="2700000" algn="tl" rotWithShape="0">
                    <a:schemeClr val="dk1">
                      <a:alpha val="40000"/>
                    </a:schemeClr>
                  </a:outerShdw>
                </a:effectLst>
              </a:rPr>
              <a:t>电压特性，</a:t>
            </a:r>
            <a:endParaRPr lang="en-US" altLang="zh-CN" sz="1400" b="0" cap="none" spc="0" dirty="0">
              <a:ln w="0"/>
              <a:solidFill>
                <a:schemeClr val="tx1"/>
              </a:solidFill>
              <a:effectLst>
                <a:outerShdw blurRad="38100" dist="19050" dir="2700000" algn="tl" rotWithShape="0">
                  <a:schemeClr val="dk1">
                    <a:alpha val="40000"/>
                  </a:schemeClr>
                </a:outerShdw>
              </a:effectLst>
            </a:endParaRPr>
          </a:p>
          <a:p>
            <a:pPr algn="ctr"/>
            <a:r>
              <a:rPr lang="zh-CN" altLang="en-US" sz="1400" b="0" cap="none" spc="0" dirty="0">
                <a:ln w="0"/>
                <a:solidFill>
                  <a:schemeClr val="tx1"/>
                </a:solidFill>
                <a:effectLst>
                  <a:outerShdw blurRad="38100" dist="19050" dir="2700000" algn="tl" rotWithShape="0">
                    <a:schemeClr val="dk1">
                      <a:alpha val="40000"/>
                    </a:schemeClr>
                  </a:outerShdw>
                </a:effectLst>
              </a:rPr>
              <a:t>电流采用对数坐标</a:t>
            </a:r>
          </a:p>
        </p:txBody>
      </p:sp>
      <p:sp>
        <p:nvSpPr>
          <p:cNvPr id="12" name="矩形 11">
            <a:extLst>
              <a:ext uri="{FF2B5EF4-FFF2-40B4-BE49-F238E27FC236}">
                <a16:creationId xmlns:a16="http://schemas.microsoft.com/office/drawing/2014/main" id="{79EFF691-ABCB-4287-B0DF-5E7CC1435546}"/>
              </a:ext>
            </a:extLst>
          </p:cNvPr>
          <p:cNvSpPr/>
          <p:nvPr/>
        </p:nvSpPr>
        <p:spPr>
          <a:xfrm>
            <a:off x="3674047" y="2106313"/>
            <a:ext cx="2698175" cy="523220"/>
          </a:xfrm>
          <a:prstGeom prst="rect">
            <a:avLst/>
          </a:prstGeom>
          <a:noFill/>
        </p:spPr>
        <p:txBody>
          <a:bodyPr wrap="none" lIns="91440" tIns="45720" rIns="91440" bIns="45720">
            <a:spAutoFit/>
          </a:bodyPr>
          <a:lstStyle/>
          <a:p>
            <a:pPr algn="ctr"/>
            <a:r>
              <a:rPr lang="zh-CN" altLang="en-US" sz="2800" b="0" cap="none" spc="0" dirty="0">
                <a:ln w="0"/>
                <a:solidFill>
                  <a:schemeClr val="accent1"/>
                </a:solidFill>
                <a:effectLst>
                  <a:outerShdw blurRad="38100" dist="25400" dir="5400000" algn="ctr" rotWithShape="0">
                    <a:srgbClr val="6E747A">
                      <a:alpha val="43000"/>
                    </a:srgbClr>
                  </a:outerShdw>
                </a:effectLst>
              </a:rPr>
              <a:t>物理学概念小结</a:t>
            </a:r>
          </a:p>
        </p:txBody>
      </p:sp>
      <p:sp>
        <p:nvSpPr>
          <p:cNvPr id="13" name="文本框 12">
            <a:extLst>
              <a:ext uri="{FF2B5EF4-FFF2-40B4-BE49-F238E27FC236}">
                <a16:creationId xmlns:a16="http://schemas.microsoft.com/office/drawing/2014/main" id="{06AB63B7-B7A4-45E4-9DCD-4EC06B6FF677}"/>
              </a:ext>
            </a:extLst>
          </p:cNvPr>
          <p:cNvSpPr txBox="1"/>
          <p:nvPr/>
        </p:nvSpPr>
        <p:spPr>
          <a:xfrm>
            <a:off x="3803073" y="2629533"/>
            <a:ext cx="7814769" cy="2585323"/>
          </a:xfrm>
          <a:prstGeom prst="rect">
            <a:avLst/>
          </a:prstGeom>
          <a:noFill/>
        </p:spPr>
        <p:txBody>
          <a:bodyPr wrap="square" rtlCol="0">
            <a:spAutoFit/>
          </a:bodyPr>
          <a:lstStyle/>
          <a:p>
            <a:r>
              <a:rPr lang="zh-CN" altLang="en-US" dirty="0"/>
              <a:t>        我们已经讨论了</a:t>
            </a:r>
            <a:r>
              <a:rPr lang="en-US" altLang="zh-CN" dirty="0" err="1"/>
              <a:t>pn</a:t>
            </a:r>
            <a:r>
              <a:rPr lang="zh-CN" altLang="en-US" dirty="0"/>
              <a:t>结外加正偏电压时的情况。正偏电压降低了势垒的高度，电子与空穴就穿过空间电荷区注入到相应的区域。注入的载流子成为少子，少子从结所在的位置向内扩散并与多子复合。</a:t>
            </a:r>
            <a:endParaRPr lang="en-US" altLang="zh-CN" dirty="0"/>
          </a:p>
          <a:p>
            <a:r>
              <a:rPr lang="en-US" altLang="zh-CN" dirty="0"/>
              <a:t>        </a:t>
            </a:r>
            <a:r>
              <a:rPr lang="zh-CN" altLang="en-US" dirty="0"/>
              <a:t>我们计算了空间电荷区边缘处的少子扩散电流密度。重新考虑一下式</a:t>
            </a:r>
            <a:r>
              <a:rPr lang="en-US" altLang="zh-CN" dirty="0"/>
              <a:t>(15)</a:t>
            </a:r>
            <a:r>
              <a:rPr lang="zh-CN" altLang="en-US" dirty="0"/>
              <a:t>与式</a:t>
            </a:r>
            <a:r>
              <a:rPr lang="en-US" altLang="zh-CN" dirty="0"/>
              <a:t>(16)</a:t>
            </a:r>
            <a:r>
              <a:rPr lang="zh-CN" altLang="en-US" dirty="0"/>
              <a:t>可以确定</a:t>
            </a:r>
            <a:r>
              <a:rPr lang="en-US" altLang="zh-CN" dirty="0"/>
              <a:t>p</a:t>
            </a:r>
            <a:r>
              <a:rPr lang="zh-CN" altLang="en-US" dirty="0"/>
              <a:t>区和</a:t>
            </a:r>
            <a:r>
              <a:rPr lang="en-US" altLang="zh-CN" dirty="0"/>
              <a:t>n</a:t>
            </a:r>
            <a:r>
              <a:rPr lang="zh-CN" altLang="en-US" dirty="0"/>
              <a:t>区内的少子扩散电流密度的函数表达式分别为</a:t>
            </a:r>
            <a:endParaRPr lang="en-US" altLang="zh-CN" dirty="0"/>
          </a:p>
          <a:p>
            <a:endParaRPr lang="en-US" altLang="zh-CN" dirty="0"/>
          </a:p>
          <a:p>
            <a:endParaRPr lang="en-US" altLang="zh-CN" dirty="0"/>
          </a:p>
          <a:p>
            <a:endParaRPr lang="en-US" altLang="zh-CN" dirty="0"/>
          </a:p>
          <a:p>
            <a:r>
              <a:rPr lang="zh-CN" altLang="en-US" dirty="0"/>
              <a:t>和</a:t>
            </a:r>
          </a:p>
        </p:txBody>
      </p:sp>
      <p:graphicFrame>
        <p:nvGraphicFramePr>
          <p:cNvPr id="14" name="对象 13">
            <a:extLst>
              <a:ext uri="{FF2B5EF4-FFF2-40B4-BE49-F238E27FC236}">
                <a16:creationId xmlns:a16="http://schemas.microsoft.com/office/drawing/2014/main" id="{55BEFCE9-5B76-402F-8DDA-C3585634DDB3}"/>
              </a:ext>
            </a:extLst>
          </p:cNvPr>
          <p:cNvGraphicFramePr>
            <a:graphicFrameLocks noChangeAspect="1"/>
          </p:cNvGraphicFramePr>
          <p:nvPr>
            <p:extLst>
              <p:ext uri="{D42A27DB-BD31-4B8C-83A1-F6EECF244321}">
                <p14:modId xmlns:p14="http://schemas.microsoft.com/office/powerpoint/2010/main" val="4050045793"/>
              </p:ext>
            </p:extLst>
          </p:nvPr>
        </p:nvGraphicFramePr>
        <p:xfrm>
          <a:off x="5361832" y="4106861"/>
          <a:ext cx="4697249" cy="646090"/>
        </p:xfrm>
        <a:graphic>
          <a:graphicData uri="http://schemas.openxmlformats.org/presentationml/2006/ole">
            <mc:AlternateContent xmlns:mc="http://schemas.openxmlformats.org/markup-compatibility/2006">
              <mc:Choice xmlns:v="urn:schemas-microsoft-com:vml" Requires="v">
                <p:oleObj name="Equation" r:id="rId3" imgW="3416040" imgH="469800" progId="Equation.DSMT4">
                  <p:embed/>
                </p:oleObj>
              </mc:Choice>
              <mc:Fallback>
                <p:oleObj name="Equation" r:id="rId3" imgW="3416040" imgH="469800" progId="Equation.DSMT4">
                  <p:embed/>
                  <p:pic>
                    <p:nvPicPr>
                      <p:cNvPr id="0" name=""/>
                      <p:cNvPicPr/>
                      <p:nvPr/>
                    </p:nvPicPr>
                    <p:blipFill>
                      <a:blip r:embed="rId4"/>
                      <a:stretch>
                        <a:fillRect/>
                      </a:stretch>
                    </p:blipFill>
                    <p:spPr>
                      <a:xfrm>
                        <a:off x="5361832" y="4106861"/>
                        <a:ext cx="4697249" cy="646090"/>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61F83E1A-5EDA-4630-8E77-3259661B05A0}"/>
              </a:ext>
            </a:extLst>
          </p:cNvPr>
          <p:cNvGraphicFramePr>
            <a:graphicFrameLocks noChangeAspect="1"/>
          </p:cNvGraphicFramePr>
          <p:nvPr>
            <p:extLst>
              <p:ext uri="{D42A27DB-BD31-4B8C-83A1-F6EECF244321}">
                <p14:modId xmlns:p14="http://schemas.microsoft.com/office/powerpoint/2010/main" val="872184823"/>
              </p:ext>
            </p:extLst>
          </p:nvPr>
        </p:nvGraphicFramePr>
        <p:xfrm>
          <a:off x="11151332" y="4274403"/>
          <a:ext cx="466508" cy="311005"/>
        </p:xfrm>
        <a:graphic>
          <a:graphicData uri="http://schemas.openxmlformats.org/presentationml/2006/ole">
            <mc:AlternateContent xmlns:mc="http://schemas.openxmlformats.org/markup-compatibility/2006">
              <mc:Choice xmlns:v="urn:schemas-microsoft-com:vml" Requires="v">
                <p:oleObj name="Equation" r:id="rId5" imgW="304560" imgH="203040" progId="Equation.DSMT4">
                  <p:embed/>
                </p:oleObj>
              </mc:Choice>
              <mc:Fallback>
                <p:oleObj name="Equation" r:id="rId5" imgW="304560" imgH="203040" progId="Equation.DSMT4">
                  <p:embed/>
                  <p:pic>
                    <p:nvPicPr>
                      <p:cNvPr id="0" name=""/>
                      <p:cNvPicPr/>
                      <p:nvPr/>
                    </p:nvPicPr>
                    <p:blipFill>
                      <a:blip r:embed="rId6"/>
                      <a:stretch>
                        <a:fillRect/>
                      </a:stretch>
                    </p:blipFill>
                    <p:spPr>
                      <a:xfrm>
                        <a:off x="11151332" y="4274403"/>
                        <a:ext cx="466508" cy="311005"/>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1BB92A8F-9D64-4D6A-8507-4A83A4936DBC}"/>
              </a:ext>
            </a:extLst>
          </p:cNvPr>
          <p:cNvGraphicFramePr>
            <a:graphicFrameLocks noChangeAspect="1"/>
          </p:cNvGraphicFramePr>
          <p:nvPr>
            <p:extLst>
              <p:ext uri="{D42A27DB-BD31-4B8C-83A1-F6EECF244321}">
                <p14:modId xmlns:p14="http://schemas.microsoft.com/office/powerpoint/2010/main" val="1129971174"/>
              </p:ext>
            </p:extLst>
          </p:nvPr>
        </p:nvGraphicFramePr>
        <p:xfrm>
          <a:off x="5242751" y="5028927"/>
          <a:ext cx="4935410" cy="646090"/>
        </p:xfrm>
        <a:graphic>
          <a:graphicData uri="http://schemas.openxmlformats.org/presentationml/2006/ole">
            <mc:AlternateContent xmlns:mc="http://schemas.openxmlformats.org/markup-compatibility/2006">
              <mc:Choice xmlns:v="urn:schemas-microsoft-com:vml" Requires="v">
                <p:oleObj name="Equation" r:id="rId7" imgW="3492360" imgH="457200" progId="Equation.DSMT4">
                  <p:embed/>
                </p:oleObj>
              </mc:Choice>
              <mc:Fallback>
                <p:oleObj name="Equation" r:id="rId7" imgW="3492360" imgH="457200" progId="Equation.DSMT4">
                  <p:embed/>
                  <p:pic>
                    <p:nvPicPr>
                      <p:cNvPr id="0" name=""/>
                      <p:cNvPicPr/>
                      <p:nvPr/>
                    </p:nvPicPr>
                    <p:blipFill>
                      <a:blip r:embed="rId8"/>
                      <a:stretch>
                        <a:fillRect/>
                      </a:stretch>
                    </p:blipFill>
                    <p:spPr>
                      <a:xfrm>
                        <a:off x="5242751" y="5028927"/>
                        <a:ext cx="4935410" cy="646090"/>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E0B1C21A-2D3F-4E28-BB12-A68CDEAF90F9}"/>
              </a:ext>
            </a:extLst>
          </p:cNvPr>
          <p:cNvGraphicFramePr>
            <a:graphicFrameLocks noChangeAspect="1"/>
          </p:cNvGraphicFramePr>
          <p:nvPr>
            <p:extLst>
              <p:ext uri="{D42A27DB-BD31-4B8C-83A1-F6EECF244321}">
                <p14:modId xmlns:p14="http://schemas.microsoft.com/office/powerpoint/2010/main" val="2101724538"/>
              </p:ext>
            </p:extLst>
          </p:nvPr>
        </p:nvGraphicFramePr>
        <p:xfrm>
          <a:off x="11153941" y="5214856"/>
          <a:ext cx="463898" cy="346279"/>
        </p:xfrm>
        <a:graphic>
          <a:graphicData uri="http://schemas.openxmlformats.org/presentationml/2006/ole">
            <mc:AlternateContent xmlns:mc="http://schemas.openxmlformats.org/markup-compatibility/2006">
              <mc:Choice xmlns:v="urn:schemas-microsoft-com:vml" Requires="v">
                <p:oleObj name="Equation" r:id="rId9" imgW="304560" imgH="203040" progId="Equation.DSMT4">
                  <p:embed/>
                </p:oleObj>
              </mc:Choice>
              <mc:Fallback>
                <p:oleObj name="Equation" r:id="rId9" imgW="304560" imgH="203040" progId="Equation.DSMT4">
                  <p:embed/>
                  <p:pic>
                    <p:nvPicPr>
                      <p:cNvPr id="0" name=""/>
                      <p:cNvPicPr/>
                      <p:nvPr/>
                    </p:nvPicPr>
                    <p:blipFill>
                      <a:blip r:embed="rId10"/>
                      <a:stretch>
                        <a:fillRect/>
                      </a:stretch>
                    </p:blipFill>
                    <p:spPr>
                      <a:xfrm>
                        <a:off x="11153941" y="5214856"/>
                        <a:ext cx="463898" cy="346279"/>
                      </a:xfrm>
                      <a:prstGeom prst="rect">
                        <a:avLst/>
                      </a:prstGeom>
                    </p:spPr>
                  </p:pic>
                </p:oleObj>
              </mc:Fallback>
            </mc:AlternateContent>
          </a:graphicData>
        </a:graphic>
      </p:graphicFrame>
    </p:spTree>
    <p:extLst>
      <p:ext uri="{BB962C8B-B14F-4D97-AF65-F5344CB8AC3E}">
        <p14:creationId xmlns:p14="http://schemas.microsoft.com/office/powerpoint/2010/main" val="3544714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B60319D-49F2-4F2C-805D-FC203E864D9C}"/>
              </a:ext>
            </a:extLst>
          </p:cNvPr>
          <p:cNvSpPr>
            <a:spLocks noGrp="1"/>
          </p:cNvSpPr>
          <p:nvPr>
            <p:ph type="sldNum" sz="quarter" idx="12"/>
          </p:nvPr>
        </p:nvSpPr>
        <p:spPr/>
        <p:txBody>
          <a:bodyPr/>
          <a:lstStyle/>
          <a:p>
            <a:pPr>
              <a:defRPr/>
            </a:pPr>
            <a:fld id="{DB5F2CA6-A39B-48F7-84D1-AF91BD07D67D}" type="slidenum">
              <a:rPr lang="en-US" altLang="zh-CN" smtClean="0"/>
              <a:pPr>
                <a:defRPr/>
              </a:pPr>
              <a:t>19</a:t>
            </a:fld>
            <a:endParaRPr lang="en-US" altLang="zh-CN"/>
          </a:p>
        </p:txBody>
      </p:sp>
      <p:sp>
        <p:nvSpPr>
          <p:cNvPr id="5" name="矩形 4">
            <a:extLst>
              <a:ext uri="{FF2B5EF4-FFF2-40B4-BE49-F238E27FC236}">
                <a16:creationId xmlns:a16="http://schemas.microsoft.com/office/drawing/2014/main" id="{4F58B1E8-84FA-4CB7-A44B-D02FD25854FC}"/>
              </a:ext>
            </a:extLst>
          </p:cNvPr>
          <p:cNvSpPr/>
          <p:nvPr/>
        </p:nvSpPr>
        <p:spPr>
          <a:xfrm>
            <a:off x="484038" y="641195"/>
            <a:ext cx="2698175" cy="523220"/>
          </a:xfrm>
          <a:prstGeom prst="rect">
            <a:avLst/>
          </a:prstGeom>
          <a:noFill/>
        </p:spPr>
        <p:txBody>
          <a:bodyPr wrap="none" lIns="91440" tIns="45720" rIns="91440" bIns="45720">
            <a:spAutoFit/>
          </a:bodyPr>
          <a:lstStyle/>
          <a:p>
            <a:pPr algn="ctr"/>
            <a:r>
              <a:rPr lang="zh-CN" altLang="en-US" sz="2800" b="0" cap="none" spc="0" dirty="0">
                <a:ln w="0"/>
                <a:solidFill>
                  <a:schemeClr val="accent1"/>
                </a:solidFill>
                <a:effectLst>
                  <a:outerShdw blurRad="38100" dist="25400" dir="5400000" algn="ctr" rotWithShape="0">
                    <a:srgbClr val="6E747A">
                      <a:alpha val="43000"/>
                    </a:srgbClr>
                  </a:outerShdw>
                </a:effectLst>
              </a:rPr>
              <a:t>物理学概念小结</a:t>
            </a:r>
          </a:p>
        </p:txBody>
      </p:sp>
      <p:sp>
        <p:nvSpPr>
          <p:cNvPr id="6" name="文本框 5">
            <a:extLst>
              <a:ext uri="{FF2B5EF4-FFF2-40B4-BE49-F238E27FC236}">
                <a16:creationId xmlns:a16="http://schemas.microsoft.com/office/drawing/2014/main" id="{E1900FFC-5B2E-49EE-8D2C-0B915A4F37FA}"/>
              </a:ext>
            </a:extLst>
          </p:cNvPr>
          <p:cNvSpPr txBox="1"/>
          <p:nvPr/>
        </p:nvSpPr>
        <p:spPr>
          <a:xfrm>
            <a:off x="540327" y="1205345"/>
            <a:ext cx="11014364" cy="1200329"/>
          </a:xfrm>
          <a:prstGeom prst="rect">
            <a:avLst/>
          </a:prstGeom>
          <a:noFill/>
        </p:spPr>
        <p:txBody>
          <a:bodyPr wrap="square" rtlCol="0">
            <a:spAutoFit/>
          </a:bodyPr>
          <a:lstStyle/>
          <a:p>
            <a:pPr algn="just"/>
            <a:r>
              <a:rPr lang="en-US" altLang="zh-CN" dirty="0"/>
              <a:t>        p</a:t>
            </a:r>
            <a:r>
              <a:rPr lang="zh-CN" altLang="en-US" dirty="0"/>
              <a:t>区与</a:t>
            </a:r>
            <a:r>
              <a:rPr lang="en-US" altLang="zh-CN" dirty="0"/>
              <a:t>n</a:t>
            </a:r>
            <a:r>
              <a:rPr lang="zh-CN" altLang="en-US" dirty="0"/>
              <a:t>区内的少子扩散电流密度随着距离指数衰减。尽管如此，</a:t>
            </a:r>
            <a:r>
              <a:rPr lang="en-US" altLang="zh-CN" dirty="0" err="1"/>
              <a:t>pn</a:t>
            </a:r>
            <a:r>
              <a:rPr lang="zh-CN" altLang="en-US" dirty="0"/>
              <a:t>结的总电流为常量。总电流与少子扩散电流的差值为多子电流。图</a:t>
            </a:r>
            <a:r>
              <a:rPr lang="en-US" altLang="zh-CN" dirty="0"/>
              <a:t>10</a:t>
            </a:r>
            <a:r>
              <a:rPr lang="zh-CN" altLang="en-US" dirty="0"/>
              <a:t>显示了</a:t>
            </a:r>
            <a:r>
              <a:rPr lang="en-US" altLang="zh-CN" dirty="0" err="1"/>
              <a:t>pn</a:t>
            </a:r>
            <a:r>
              <a:rPr lang="zh-CN" altLang="en-US" dirty="0"/>
              <a:t>结内的各种电流成分。远离结区域的</a:t>
            </a:r>
            <a:r>
              <a:rPr lang="en-US" altLang="zh-CN" dirty="0"/>
              <a:t>p</a:t>
            </a:r>
            <a:r>
              <a:rPr lang="zh-CN" altLang="en-US" dirty="0"/>
              <a:t>区多子空穴漂移电流既提供了穿过空间电荷区向</a:t>
            </a:r>
            <a:r>
              <a:rPr lang="en-US" altLang="zh-CN" dirty="0"/>
              <a:t>n</a:t>
            </a:r>
            <a:r>
              <a:rPr lang="zh-CN" altLang="en-US" dirty="0"/>
              <a:t>区注入的空穴</a:t>
            </a:r>
            <a:r>
              <a:rPr lang="en-US" altLang="zh-CN" dirty="0"/>
              <a:t>,</a:t>
            </a:r>
            <a:r>
              <a:rPr lang="zh-CN" altLang="en-US" dirty="0"/>
              <a:t>又提供了因与过剩少子电子复合而损失的空穴。上述讨论同样适用于</a:t>
            </a:r>
            <a:r>
              <a:rPr lang="en-US" altLang="zh-CN" dirty="0"/>
              <a:t>n</a:t>
            </a:r>
            <a:r>
              <a:rPr lang="zh-CN" altLang="en-US" dirty="0"/>
              <a:t>区内的电子漂移电流。</a:t>
            </a:r>
          </a:p>
        </p:txBody>
      </p:sp>
      <p:pic>
        <p:nvPicPr>
          <p:cNvPr id="7" name="图片 6">
            <a:extLst>
              <a:ext uri="{FF2B5EF4-FFF2-40B4-BE49-F238E27FC236}">
                <a16:creationId xmlns:a16="http://schemas.microsoft.com/office/drawing/2014/main" id="{93374FDC-6441-4816-8BFB-E09D84ED317E}"/>
              </a:ext>
            </a:extLst>
          </p:cNvPr>
          <p:cNvPicPr>
            <a:picLocks noChangeAspect="1"/>
          </p:cNvPicPr>
          <p:nvPr/>
        </p:nvPicPr>
        <p:blipFill>
          <a:blip r:embed="rId2"/>
          <a:stretch>
            <a:fillRect/>
          </a:stretch>
        </p:blipFill>
        <p:spPr>
          <a:xfrm>
            <a:off x="3389777" y="2405674"/>
            <a:ext cx="5315464" cy="3025234"/>
          </a:xfrm>
          <a:prstGeom prst="rect">
            <a:avLst/>
          </a:prstGeom>
        </p:spPr>
      </p:pic>
      <p:sp>
        <p:nvSpPr>
          <p:cNvPr id="8" name="矩形 7">
            <a:extLst>
              <a:ext uri="{FF2B5EF4-FFF2-40B4-BE49-F238E27FC236}">
                <a16:creationId xmlns:a16="http://schemas.microsoft.com/office/drawing/2014/main" id="{EF84F623-096B-45A7-B67F-D45700F865F4}"/>
              </a:ext>
            </a:extLst>
          </p:cNvPr>
          <p:cNvSpPr/>
          <p:nvPr/>
        </p:nvSpPr>
        <p:spPr>
          <a:xfrm>
            <a:off x="3938999" y="5430908"/>
            <a:ext cx="4314001" cy="307777"/>
          </a:xfrm>
          <a:prstGeom prst="rect">
            <a:avLst/>
          </a:prstGeom>
          <a:noFill/>
        </p:spPr>
        <p:txBody>
          <a:bodyPr wrap="none" lIns="91440" tIns="45720" rIns="91440" bIns="45720">
            <a:spAutoFit/>
          </a:bodyPr>
          <a:lstStyle/>
          <a:p>
            <a:pPr algn="ctr"/>
            <a:r>
              <a:rPr lang="zh-CN" altLang="en-US" sz="1400" b="0" cap="none" spc="0" dirty="0">
                <a:ln w="0"/>
                <a:solidFill>
                  <a:schemeClr val="tx1"/>
                </a:solidFill>
                <a:effectLst>
                  <a:outerShdw blurRad="38100" dist="19050" dir="2700000" algn="tl" rotWithShape="0">
                    <a:schemeClr val="dk1">
                      <a:alpha val="40000"/>
                    </a:schemeClr>
                  </a:outerShdw>
                </a:effectLst>
              </a:rPr>
              <a:t>图</a:t>
            </a:r>
            <a:r>
              <a:rPr lang="en-US" altLang="zh-CN" sz="1400" b="0" cap="none" spc="0" dirty="0">
                <a:ln w="0"/>
                <a:solidFill>
                  <a:schemeClr val="tx1"/>
                </a:solidFill>
                <a:effectLst>
                  <a:outerShdw blurRad="38100" dist="19050" dir="2700000" algn="tl" rotWithShape="0">
                    <a:schemeClr val="dk1">
                      <a:alpha val="40000"/>
                    </a:schemeClr>
                  </a:outerShdw>
                </a:effectLst>
              </a:rPr>
              <a:t>10</a:t>
            </a:r>
            <a:r>
              <a:rPr lang="zh-CN" altLang="en-US" sz="1400" b="0" cap="none" spc="0" dirty="0">
                <a:ln w="0"/>
                <a:solidFill>
                  <a:schemeClr val="tx1"/>
                </a:solidFill>
                <a:effectLst>
                  <a:outerShdw blurRad="38100" dist="19050" dir="2700000" algn="tl" rotWithShape="0">
                    <a:schemeClr val="dk1">
                      <a:alpha val="40000"/>
                    </a:schemeClr>
                  </a:outerShdw>
                </a:effectLst>
              </a:rPr>
              <a:t>：正偏下</a:t>
            </a:r>
            <a:r>
              <a:rPr lang="en-US" altLang="zh-CN" sz="1400" b="0" cap="none" spc="0" dirty="0" err="1">
                <a:ln w="0"/>
                <a:solidFill>
                  <a:schemeClr val="tx1"/>
                </a:solidFill>
                <a:effectLst>
                  <a:outerShdw blurRad="38100" dist="19050" dir="2700000" algn="tl" rotWithShape="0">
                    <a:schemeClr val="dk1">
                      <a:alpha val="40000"/>
                    </a:schemeClr>
                  </a:outerShdw>
                </a:effectLst>
              </a:rPr>
              <a:t>pn</a:t>
            </a:r>
            <a:r>
              <a:rPr lang="zh-CN" altLang="en-US" sz="1400" b="0" cap="none" spc="0" dirty="0">
                <a:ln w="0"/>
                <a:solidFill>
                  <a:schemeClr val="tx1"/>
                </a:solidFill>
                <a:effectLst>
                  <a:outerShdw blurRad="38100" dist="19050" dir="2700000" algn="tl" rotWithShape="0">
                    <a:schemeClr val="dk1">
                      <a:alpha val="40000"/>
                    </a:schemeClr>
                  </a:outerShdw>
                </a:effectLst>
              </a:rPr>
              <a:t>结内的理想电子电流与空穴电流成分</a:t>
            </a:r>
          </a:p>
        </p:txBody>
      </p:sp>
    </p:spTree>
    <p:extLst>
      <p:ext uri="{BB962C8B-B14F-4D97-AF65-F5344CB8AC3E}">
        <p14:creationId xmlns:p14="http://schemas.microsoft.com/office/powerpoint/2010/main" val="3049812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36D45FC-9101-4BF1-92FF-B00EA5F7550A}"/>
              </a:ext>
            </a:extLst>
          </p:cNvPr>
          <p:cNvSpPr>
            <a:spLocks noGrp="1"/>
          </p:cNvSpPr>
          <p:nvPr>
            <p:ph type="sldNum" sz="quarter" idx="12"/>
          </p:nvPr>
        </p:nvSpPr>
        <p:spPr/>
        <p:txBody>
          <a:bodyPr/>
          <a:lstStyle/>
          <a:p>
            <a:pPr>
              <a:defRPr/>
            </a:pPr>
            <a:fld id="{DB5F2CA6-A39B-48F7-84D1-AF91BD07D67D}" type="slidenum">
              <a:rPr lang="en-US" altLang="zh-CN" smtClean="0"/>
              <a:pPr>
                <a:defRPr/>
              </a:pPr>
              <a:t>20</a:t>
            </a:fld>
            <a:endParaRPr lang="en-US" altLang="zh-CN"/>
          </a:p>
        </p:txBody>
      </p:sp>
      <p:sp>
        <p:nvSpPr>
          <p:cNvPr id="5" name="矩形 4">
            <a:extLst>
              <a:ext uri="{FF2B5EF4-FFF2-40B4-BE49-F238E27FC236}">
                <a16:creationId xmlns:a16="http://schemas.microsoft.com/office/drawing/2014/main" id="{FA125D86-F1F4-44D9-BFD1-B917A5EB2730}"/>
              </a:ext>
            </a:extLst>
          </p:cNvPr>
          <p:cNvSpPr/>
          <p:nvPr/>
        </p:nvSpPr>
        <p:spPr>
          <a:xfrm>
            <a:off x="484038" y="641195"/>
            <a:ext cx="2698175" cy="523220"/>
          </a:xfrm>
          <a:prstGeom prst="rect">
            <a:avLst/>
          </a:prstGeom>
          <a:noFill/>
        </p:spPr>
        <p:txBody>
          <a:bodyPr wrap="none" lIns="91440" tIns="45720" rIns="91440" bIns="45720">
            <a:spAutoFit/>
          </a:bodyPr>
          <a:lstStyle/>
          <a:p>
            <a:pPr algn="ctr"/>
            <a:r>
              <a:rPr lang="zh-CN" altLang="en-US" sz="2800" b="0" cap="none" spc="0" dirty="0">
                <a:ln w="0"/>
                <a:solidFill>
                  <a:schemeClr val="accent1"/>
                </a:solidFill>
                <a:effectLst>
                  <a:outerShdw blurRad="38100" dist="25400" dir="5400000" algn="ctr" rotWithShape="0">
                    <a:srgbClr val="6E747A">
                      <a:alpha val="43000"/>
                    </a:srgbClr>
                  </a:outerShdw>
                </a:effectLst>
              </a:rPr>
              <a:t>物理学概念小结</a:t>
            </a:r>
          </a:p>
        </p:txBody>
      </p:sp>
      <p:sp>
        <p:nvSpPr>
          <p:cNvPr id="6" name="文本框 5">
            <a:extLst>
              <a:ext uri="{FF2B5EF4-FFF2-40B4-BE49-F238E27FC236}">
                <a16:creationId xmlns:a16="http://schemas.microsoft.com/office/drawing/2014/main" id="{88AED976-5852-4DF3-BE58-E5EB1F92A1B9}"/>
              </a:ext>
            </a:extLst>
          </p:cNvPr>
          <p:cNvSpPr txBox="1"/>
          <p:nvPr/>
        </p:nvSpPr>
        <p:spPr>
          <a:xfrm>
            <a:off x="602673" y="1236518"/>
            <a:ext cx="10931236" cy="1754326"/>
          </a:xfrm>
          <a:prstGeom prst="rect">
            <a:avLst/>
          </a:prstGeom>
          <a:noFill/>
        </p:spPr>
        <p:txBody>
          <a:bodyPr wrap="square" rtlCol="0">
            <a:spAutoFit/>
          </a:bodyPr>
          <a:lstStyle/>
          <a:p>
            <a:pPr algn="just"/>
            <a:r>
              <a:rPr lang="zh-CN" altLang="en-US" dirty="0"/>
              <a:t>        加在</a:t>
            </a:r>
            <a:r>
              <a:rPr lang="en-US" altLang="zh-CN" dirty="0" err="1"/>
              <a:t>pn</a:t>
            </a:r>
            <a:r>
              <a:rPr lang="zh-CN" altLang="en-US" dirty="0"/>
              <a:t>结上的正偏电压使 </a:t>
            </a:r>
            <a:r>
              <a:rPr lang="en-US" altLang="zh-CN" dirty="0" err="1"/>
              <a:t>pn</a:t>
            </a:r>
            <a:r>
              <a:rPr lang="zh-CN" altLang="en-US" dirty="0"/>
              <a:t>结内产生了过剩载流子。由双极输运理论可知，过剩载流子的行为可以用小注入条件下少子的各种参数来描述。在确定</a:t>
            </a:r>
            <a:r>
              <a:rPr lang="en-US" altLang="zh-CN" dirty="0" err="1"/>
              <a:t>pn</a:t>
            </a:r>
            <a:r>
              <a:rPr lang="zh-CN" altLang="en-US" dirty="0"/>
              <a:t>结的电压</a:t>
            </a:r>
            <a:r>
              <a:rPr lang="en-US" altLang="zh-CN" dirty="0"/>
              <a:t>-</a:t>
            </a:r>
            <a:r>
              <a:rPr lang="zh-CN" altLang="en-US" dirty="0"/>
              <a:t>电流关系式时，主要考虑的是少子的运动。因为我们知道这些粒子的行为特征，因此会觉得很奇怪</a:t>
            </a:r>
            <a:r>
              <a:rPr lang="en-US" altLang="zh-CN" dirty="0"/>
              <a:t>,</a:t>
            </a:r>
            <a:r>
              <a:rPr lang="zh-CN" altLang="en-US" dirty="0"/>
              <a:t>为什么我们讨论的是少子而不是为数众多的多子呢？这正是因为由双极输运理论推导出的结论决定了主要讨论少子的行为。</a:t>
            </a:r>
            <a:endParaRPr lang="en-US" altLang="zh-CN" dirty="0"/>
          </a:p>
          <a:p>
            <a:pPr algn="just"/>
            <a:r>
              <a:rPr lang="en-US" altLang="zh-CN" dirty="0"/>
              <a:t>        </a:t>
            </a:r>
            <a:r>
              <a:rPr lang="zh-CN" altLang="en-US" dirty="0"/>
              <a:t>由于</a:t>
            </a:r>
            <a:r>
              <a:rPr lang="en-US" altLang="zh-CN" dirty="0"/>
              <a:t>p</a:t>
            </a:r>
            <a:r>
              <a:rPr lang="zh-CN" altLang="en-US" dirty="0"/>
              <a:t>区与</a:t>
            </a:r>
            <a:r>
              <a:rPr lang="en-US" altLang="zh-CN" dirty="0"/>
              <a:t>n</a:t>
            </a:r>
            <a:r>
              <a:rPr lang="zh-CN" altLang="en-US" dirty="0"/>
              <a:t>区内存在漂移电流，说明了这些区域内的电场不为零</a:t>
            </a:r>
            <a:r>
              <a:rPr lang="en-US" altLang="zh-CN" dirty="0"/>
              <a:t>,</a:t>
            </a:r>
            <a:r>
              <a:rPr lang="zh-CN" altLang="en-US" dirty="0"/>
              <a:t>这与前述的假设不符我们可以通过计算电中性区的电场大小来验证零电场假设的正确性。</a:t>
            </a:r>
          </a:p>
        </p:txBody>
      </p:sp>
      <p:sp>
        <p:nvSpPr>
          <p:cNvPr id="7" name="矩形 6">
            <a:extLst>
              <a:ext uri="{FF2B5EF4-FFF2-40B4-BE49-F238E27FC236}">
                <a16:creationId xmlns:a16="http://schemas.microsoft.com/office/drawing/2014/main" id="{B6DE436A-E02E-4607-95F5-BBC34F732124}"/>
              </a:ext>
            </a:extLst>
          </p:cNvPr>
          <p:cNvSpPr/>
          <p:nvPr/>
        </p:nvSpPr>
        <p:spPr>
          <a:xfrm>
            <a:off x="602673" y="2990844"/>
            <a:ext cx="1620957" cy="523220"/>
          </a:xfrm>
          <a:prstGeom prst="rect">
            <a:avLst/>
          </a:prstGeom>
          <a:noFill/>
        </p:spPr>
        <p:txBody>
          <a:bodyPr wrap="none" lIns="91440" tIns="45720" rIns="91440" bIns="45720">
            <a:spAutoFit/>
          </a:bodyPr>
          <a:lstStyle/>
          <a:p>
            <a:pPr algn="ctr"/>
            <a:r>
              <a:rPr lang="zh-CN" altLang="en-US" sz="2800" b="0" cap="none" spc="0" dirty="0">
                <a:ln w="0"/>
                <a:solidFill>
                  <a:schemeClr val="accent1"/>
                </a:solidFill>
                <a:effectLst>
                  <a:outerShdw blurRad="38100" dist="25400" dir="5400000" algn="ctr" rotWithShape="0">
                    <a:srgbClr val="6E747A">
                      <a:alpha val="43000"/>
                    </a:srgbClr>
                  </a:outerShdw>
                </a:effectLst>
              </a:rPr>
              <a:t>温室效应</a:t>
            </a:r>
          </a:p>
        </p:txBody>
      </p:sp>
      <p:sp>
        <p:nvSpPr>
          <p:cNvPr id="8" name="文本框 7">
            <a:extLst>
              <a:ext uri="{FF2B5EF4-FFF2-40B4-BE49-F238E27FC236}">
                <a16:creationId xmlns:a16="http://schemas.microsoft.com/office/drawing/2014/main" id="{B5013A96-8351-4454-BDC6-E04BEEE9CEE2}"/>
              </a:ext>
            </a:extLst>
          </p:cNvPr>
          <p:cNvSpPr txBox="1"/>
          <p:nvPr/>
        </p:nvSpPr>
        <p:spPr>
          <a:xfrm>
            <a:off x="716973" y="3429000"/>
            <a:ext cx="10713027" cy="1754326"/>
          </a:xfrm>
          <a:prstGeom prst="rect">
            <a:avLst/>
          </a:prstGeom>
          <a:noFill/>
        </p:spPr>
        <p:txBody>
          <a:bodyPr wrap="square" rtlCol="0">
            <a:spAutoFit/>
          </a:bodyPr>
          <a:lstStyle/>
          <a:p>
            <a:pPr algn="just"/>
            <a:r>
              <a:rPr lang="zh-CN" altLang="en-US" dirty="0"/>
              <a:t>        理想反向饱和电流密度</a:t>
            </a:r>
            <a:r>
              <a:rPr lang="en-US" altLang="zh-CN" dirty="0"/>
              <a:t>J</a:t>
            </a:r>
            <a:r>
              <a:rPr lang="en-US" altLang="zh-CN" baseline="-25000" dirty="0"/>
              <a:t>s</a:t>
            </a:r>
            <a:r>
              <a:rPr lang="zh-CN" altLang="en-US" dirty="0"/>
              <a:t>的表达式由式</a:t>
            </a:r>
            <a:r>
              <a:rPr lang="en-US" altLang="zh-CN" dirty="0"/>
              <a:t>(27)</a:t>
            </a:r>
            <a:r>
              <a:rPr lang="zh-CN" altLang="en-US" dirty="0"/>
              <a:t>给出</a:t>
            </a:r>
            <a:r>
              <a:rPr lang="en-US" altLang="zh-CN" dirty="0"/>
              <a:t>,</a:t>
            </a:r>
            <a:r>
              <a:rPr lang="zh-CN" altLang="en-US" dirty="0"/>
              <a:t>它是热平衡少子浓度</a:t>
            </a:r>
            <a:r>
              <a:rPr lang="en-US" altLang="zh-CN" dirty="0"/>
              <a:t>n</a:t>
            </a:r>
            <a:r>
              <a:rPr lang="en-US" altLang="zh-CN" baseline="-25000" dirty="0"/>
              <a:t>p0</a:t>
            </a:r>
            <a:r>
              <a:rPr lang="zh-CN" altLang="en-US" dirty="0"/>
              <a:t>与</a:t>
            </a:r>
            <a:r>
              <a:rPr lang="en-US" altLang="zh-CN" dirty="0"/>
              <a:t>p</a:t>
            </a:r>
            <a:r>
              <a:rPr lang="en-US" altLang="zh-CN" baseline="-25000" dirty="0"/>
              <a:t>n0</a:t>
            </a:r>
            <a:r>
              <a:rPr lang="zh-CN" altLang="en-US" dirty="0"/>
              <a:t>的函数。上述的少子浓度均正比于</a:t>
            </a:r>
            <a:r>
              <a:rPr lang="en-US" altLang="zh-CN" dirty="0"/>
              <a:t>n</a:t>
            </a:r>
            <a:r>
              <a:rPr lang="en-US" altLang="zh-CN" baseline="-25000" dirty="0"/>
              <a:t>i</a:t>
            </a:r>
            <a:r>
              <a:rPr lang="en-US" altLang="zh-CN" baseline="30000" dirty="0"/>
              <a:t>2</a:t>
            </a:r>
            <a:r>
              <a:rPr lang="zh-CN" altLang="en-US" dirty="0"/>
              <a:t>，其中</a:t>
            </a:r>
            <a:r>
              <a:rPr lang="en-US" altLang="zh-CN" dirty="0" err="1"/>
              <a:t>n</a:t>
            </a:r>
            <a:r>
              <a:rPr lang="en-US" altLang="zh-CN" baseline="-25000" dirty="0" err="1"/>
              <a:t>i</a:t>
            </a:r>
            <a:r>
              <a:rPr lang="zh-CN" altLang="en-US" dirty="0"/>
              <a:t>是温度的函数。对于硅</a:t>
            </a:r>
            <a:r>
              <a:rPr lang="en-US" altLang="zh-CN" dirty="0" err="1"/>
              <a:t>pn</a:t>
            </a:r>
            <a:r>
              <a:rPr lang="zh-CN" altLang="en-US" dirty="0"/>
              <a:t>结而言，温度每升高</a:t>
            </a:r>
            <a:r>
              <a:rPr lang="en-US" altLang="zh-CN" dirty="0"/>
              <a:t>10℃</a:t>
            </a:r>
            <a:r>
              <a:rPr lang="zh-CN" altLang="en-US" dirty="0"/>
              <a:t>，理想反向饱和电流密度的大小就增大为原来的</a:t>
            </a:r>
            <a:r>
              <a:rPr lang="en-US" altLang="zh-CN" dirty="0"/>
              <a:t>4</a:t>
            </a:r>
            <a:r>
              <a:rPr lang="zh-CN" altLang="en-US" dirty="0"/>
              <a:t>倍。</a:t>
            </a:r>
            <a:endParaRPr lang="en-US" altLang="zh-CN" dirty="0"/>
          </a:p>
          <a:p>
            <a:pPr algn="just"/>
            <a:r>
              <a:rPr lang="en-US" altLang="zh-CN" dirty="0"/>
              <a:t>        </a:t>
            </a:r>
            <a:r>
              <a:rPr lang="zh-CN" altLang="en-US" dirty="0"/>
              <a:t>正偏时的电流</a:t>
            </a:r>
            <a:r>
              <a:rPr lang="en-US" altLang="zh-CN" dirty="0"/>
              <a:t>-</a:t>
            </a:r>
            <a:r>
              <a:rPr lang="zh-CN" altLang="en-US" dirty="0"/>
              <a:t>电压关系由式</a:t>
            </a:r>
            <a:r>
              <a:rPr lang="en-US" altLang="zh-CN" dirty="0"/>
              <a:t>(28)</a:t>
            </a:r>
            <a:r>
              <a:rPr lang="zh-CN" altLang="en-US" dirty="0"/>
              <a:t>给出。上述关系式既包括</a:t>
            </a:r>
            <a:r>
              <a:rPr lang="en-US" altLang="zh-CN" dirty="0"/>
              <a:t>Js</a:t>
            </a:r>
            <a:r>
              <a:rPr lang="zh-CN" altLang="en-US" dirty="0"/>
              <a:t>项，又包括 </a:t>
            </a:r>
            <a:r>
              <a:rPr lang="en-US" altLang="zh-CN" dirty="0"/>
              <a:t>exp(</a:t>
            </a:r>
            <a:r>
              <a:rPr lang="en-US" altLang="zh-CN" dirty="0" err="1"/>
              <a:t>eV</a:t>
            </a:r>
            <a:r>
              <a:rPr lang="en-US" altLang="zh-CN" baseline="-25000" dirty="0" err="1"/>
              <a:t>a</a:t>
            </a:r>
            <a:r>
              <a:rPr lang="en-US" altLang="zh-CN" dirty="0"/>
              <a:t>/</a:t>
            </a:r>
            <a:r>
              <a:rPr lang="en-US" altLang="zh-CN" dirty="0" err="1"/>
              <a:t>kT</a:t>
            </a:r>
            <a:r>
              <a:rPr lang="en-US" altLang="zh-CN" dirty="0"/>
              <a:t>)</a:t>
            </a:r>
            <a:r>
              <a:rPr lang="zh-CN" altLang="en-US" dirty="0"/>
              <a:t>项，这样正偏电流</a:t>
            </a:r>
            <a:r>
              <a:rPr lang="en-US" altLang="zh-CN" dirty="0"/>
              <a:t>-</a:t>
            </a:r>
            <a:r>
              <a:rPr lang="zh-CN" altLang="en-US" dirty="0"/>
              <a:t>电压关系也是温度的函数。随着温度的升高</a:t>
            </a:r>
            <a:r>
              <a:rPr lang="en-US" altLang="zh-CN" dirty="0"/>
              <a:t>,</a:t>
            </a:r>
            <a:r>
              <a:rPr lang="zh-CN" altLang="en-US" dirty="0"/>
              <a:t>用于维持相同二极管电流的电压值变小。假如电压保持不变，则随着温度的升高，二极管电流也会增大。正偏电流随温度的变化不如反向饱和电流的变化明显。</a:t>
            </a:r>
          </a:p>
        </p:txBody>
      </p:sp>
      <p:sp>
        <p:nvSpPr>
          <p:cNvPr id="9" name="矩形 8">
            <a:extLst>
              <a:ext uri="{FF2B5EF4-FFF2-40B4-BE49-F238E27FC236}">
                <a16:creationId xmlns:a16="http://schemas.microsoft.com/office/drawing/2014/main" id="{477A54DE-EAD1-460E-85EB-62C7CF15A978}"/>
              </a:ext>
            </a:extLst>
          </p:cNvPr>
          <p:cNvSpPr/>
          <p:nvPr/>
        </p:nvSpPr>
        <p:spPr>
          <a:xfrm>
            <a:off x="679732" y="5621482"/>
            <a:ext cx="10777117" cy="646331"/>
          </a:xfrm>
          <a:prstGeom prst="rect">
            <a:avLst/>
          </a:prstGeom>
          <a:noFill/>
        </p:spPr>
        <p:txBody>
          <a:bodyPr wrap="none" lIns="91440" tIns="45720" rIns="91440" bIns="45720">
            <a:spAutoFit/>
          </a:bodyPr>
          <a:lstStyle/>
          <a:p>
            <a:pPr algn="ctr"/>
            <a:r>
              <a:rPr lang="zh-CN" altLang="en-US" sz="3600" b="0" cap="none" spc="0" dirty="0">
                <a:ln w="0"/>
                <a:solidFill>
                  <a:srgbClr val="FF0000"/>
                </a:solidFill>
                <a:effectLst>
                  <a:outerShdw blurRad="38100" dist="19050" dir="2700000" algn="tl" rotWithShape="0">
                    <a:schemeClr val="dk1">
                      <a:alpha val="40000"/>
                    </a:schemeClr>
                  </a:outerShdw>
                </a:effectLst>
              </a:rPr>
              <a:t>备注：本</a:t>
            </a:r>
            <a:r>
              <a:rPr lang="en-US" altLang="zh-CN" sz="3600" b="0" cap="none" spc="0" dirty="0">
                <a:ln w="0"/>
                <a:solidFill>
                  <a:srgbClr val="FF0000"/>
                </a:solidFill>
                <a:effectLst>
                  <a:outerShdw blurRad="38100" dist="19050" dir="2700000" algn="tl" rotWithShape="0">
                    <a:schemeClr val="dk1">
                      <a:alpha val="40000"/>
                    </a:schemeClr>
                  </a:outerShdw>
                </a:effectLst>
              </a:rPr>
              <a:t>ppt</a:t>
            </a:r>
            <a:r>
              <a:rPr lang="zh-CN" altLang="en-US" sz="3600" b="0" cap="none" spc="0" dirty="0">
                <a:ln w="0"/>
                <a:solidFill>
                  <a:srgbClr val="FF0000"/>
                </a:solidFill>
                <a:effectLst>
                  <a:outerShdw blurRad="38100" dist="19050" dir="2700000" algn="tl" rotWithShape="0">
                    <a:schemeClr val="dk1">
                      <a:alpha val="40000"/>
                    </a:schemeClr>
                  </a:outerShdw>
                </a:effectLst>
              </a:rPr>
              <a:t>公式输入使用</a:t>
            </a:r>
            <a:r>
              <a:rPr lang="en-US" altLang="zh-CN" sz="3600" b="0" cap="none" spc="0" dirty="0" err="1">
                <a:ln w="0"/>
                <a:solidFill>
                  <a:srgbClr val="FF0000"/>
                </a:solidFill>
                <a:effectLst>
                  <a:outerShdw blurRad="38100" dist="19050" dir="2700000" algn="tl" rotWithShape="0">
                    <a:schemeClr val="dk1">
                      <a:alpha val="40000"/>
                    </a:schemeClr>
                  </a:outerShdw>
                </a:effectLst>
              </a:rPr>
              <a:t>MathType</a:t>
            </a:r>
            <a:r>
              <a:rPr lang="zh-CN" altLang="en-US" sz="3600" b="0" cap="none" spc="0" dirty="0">
                <a:ln w="0"/>
                <a:solidFill>
                  <a:srgbClr val="FF0000"/>
                </a:solidFill>
                <a:effectLst>
                  <a:outerShdw blurRad="38100" dist="19050" dir="2700000" algn="tl" rotWithShape="0">
                    <a:schemeClr val="dk1">
                      <a:alpha val="40000"/>
                    </a:schemeClr>
                  </a:outerShdw>
                </a:effectLst>
              </a:rPr>
              <a:t>，作图来源课本</a:t>
            </a:r>
          </a:p>
        </p:txBody>
      </p:sp>
    </p:spTree>
    <p:extLst>
      <p:ext uri="{BB962C8B-B14F-4D97-AF65-F5344CB8AC3E}">
        <p14:creationId xmlns:p14="http://schemas.microsoft.com/office/powerpoint/2010/main" val="3417565558"/>
      </p:ext>
    </p:extLst>
  </p:cSld>
  <p:clrMapOvr>
    <a:masterClrMapping/>
  </p:clrMapOvr>
</p:sld>
</file>

<file path=ppt/theme/theme1.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3193</TotalTime>
  <Words>3500</Words>
  <Application>Microsoft Office PowerPoint</Application>
  <PresentationFormat>宽屏</PresentationFormat>
  <Paragraphs>190</Paragraphs>
  <Slides>20</Slides>
  <Notes>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20</vt:i4>
      </vt:variant>
    </vt:vector>
  </HeadingPairs>
  <TitlesOfParts>
    <vt:vector size="27" baseType="lpstr">
      <vt:lpstr>等线</vt:lpstr>
      <vt:lpstr>宋体</vt:lpstr>
      <vt:lpstr>Arial</vt:lpstr>
      <vt:lpstr>Times New Roman</vt:lpstr>
      <vt:lpstr>Wingdings</vt:lpstr>
      <vt:lpstr>1_默认设计模板</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 Y</dc:creator>
  <cp:lastModifiedBy>LF Kristin</cp:lastModifiedBy>
  <cp:revision>298</cp:revision>
  <dcterms:created xsi:type="dcterms:W3CDTF">2020-08-13T13:39:53Z</dcterms:created>
  <dcterms:modified xsi:type="dcterms:W3CDTF">2024-12-29T10:02:10Z</dcterms:modified>
</cp:coreProperties>
</file>