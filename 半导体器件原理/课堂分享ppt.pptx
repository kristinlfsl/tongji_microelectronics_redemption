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1"/>
  </p:notesMasterIdLst>
  <p:handoutMasterIdLst>
    <p:handoutMasterId r:id="rId22"/>
  </p:handoutMasterIdLst>
  <p:sldIdLst>
    <p:sldId id="1232" r:id="rId2"/>
    <p:sldId id="1233" r:id="rId3"/>
    <p:sldId id="1234" r:id="rId4"/>
    <p:sldId id="1235" r:id="rId5"/>
    <p:sldId id="1236" r:id="rId6"/>
    <p:sldId id="1237" r:id="rId7"/>
    <p:sldId id="1238" r:id="rId8"/>
    <p:sldId id="1239" r:id="rId9"/>
    <p:sldId id="1240" r:id="rId10"/>
    <p:sldId id="1241" r:id="rId11"/>
    <p:sldId id="1242" r:id="rId12"/>
    <p:sldId id="1243" r:id="rId13"/>
    <p:sldId id="1244" r:id="rId14"/>
    <p:sldId id="1245" r:id="rId15"/>
    <p:sldId id="1246" r:id="rId16"/>
    <p:sldId id="1247" r:id="rId17"/>
    <p:sldId id="1248" r:id="rId18"/>
    <p:sldId id="1250" r:id="rId19"/>
    <p:sldId id="1251"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0114" autoAdjust="0"/>
  </p:normalViewPr>
  <p:slideViewPr>
    <p:cSldViewPr snapToGrid="0">
      <p:cViewPr varScale="1">
        <p:scale>
          <a:sx n="73" d="100"/>
          <a:sy n="73" d="100"/>
        </p:scale>
        <p:origin x="499"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石墨烯中的电子有效质量为零。石墨烯中的电子具有更高的迁移率，在力学方面，当外部施加机械力时，碳原子面会弯曲变形，而不是重新排列，因此石墨烯的结构非常稳定。</a:t>
            </a:r>
          </a:p>
        </p:txBody>
      </p:sp>
      <p:sp>
        <p:nvSpPr>
          <p:cNvPr id="4" name="灯片编号占位符 3"/>
          <p:cNvSpPr>
            <a:spLocks noGrp="1"/>
          </p:cNvSpPr>
          <p:nvPr>
            <p:ph type="sldNum" sz="quarter" idx="5"/>
          </p:nvPr>
        </p:nvSpPr>
        <p:spPr/>
        <p:txBody>
          <a:bodyPr/>
          <a:lstStyle/>
          <a:p>
            <a:fld id="{44490452-1689-4497-A9A0-B842EEA687A2}" type="slidenum">
              <a:rPr lang="zh-CN" altLang="en-US" smtClean="0"/>
              <a:t>5</a:t>
            </a:fld>
            <a:endParaRPr lang="zh-CN" altLang="en-US"/>
          </a:p>
        </p:txBody>
      </p:sp>
    </p:spTree>
    <p:extLst>
      <p:ext uri="{BB962C8B-B14F-4D97-AF65-F5344CB8AC3E}">
        <p14:creationId xmlns:p14="http://schemas.microsoft.com/office/powerpoint/2010/main" val="154730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490452-1689-4497-A9A0-B842EEA687A2}" type="slidenum">
              <a:rPr lang="zh-CN" altLang="en-US" smtClean="0"/>
              <a:t>11</a:t>
            </a:fld>
            <a:endParaRPr lang="zh-CN" altLang="en-US"/>
          </a:p>
        </p:txBody>
      </p:sp>
    </p:spTree>
    <p:extLst>
      <p:ext uri="{BB962C8B-B14F-4D97-AF65-F5344CB8AC3E}">
        <p14:creationId xmlns:p14="http://schemas.microsoft.com/office/powerpoint/2010/main" val="3848347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适用于忆阻器阴离子迁移机制的介质层材料一般为绝缘氧化物，如二元氧化物、多元氧化物和钙钛矿氧化物等，其电极材料一般为惰性金属 ，如</a:t>
            </a:r>
            <a:r>
              <a:rPr lang="en-US" altLang="zh-CN" dirty="0"/>
              <a:t>Pt </a:t>
            </a:r>
            <a:r>
              <a:rPr lang="zh-CN" altLang="en-US" dirty="0"/>
              <a:t>、</a:t>
            </a:r>
            <a:r>
              <a:rPr lang="en-US" altLang="zh-CN" dirty="0"/>
              <a:t>Au </a:t>
            </a:r>
            <a:r>
              <a:rPr lang="zh-CN" altLang="en-US" dirty="0"/>
              <a:t>等 。 在该类型的忆阻器件中 ，由于电极材料为惰性金属 ，故其很难参与氧化还原反应 ，在介质层材料中不会出现惰性金属离子的迁移 ，其导电机制主要依赖在电场作用下 ，氧化物介质层材料中的氧离子发生迁移而形成的氧空位导电通道。在初始状态下 ，介质层材料中原有的缺陷或晶界的扩散能较低 ，可以作为氧离子的迁移通道 。 随着激活电压以及焦耳热的不断增加 ，氧离子的移动速度加快 ，并与晶格碰撞产生更多的氧离子和氧空位，氧空位沿着晶界由阴极向阳极生长 ，当生长至阳极时就形成了连接电极的导电通道 ，该通道电阻率远低于其他介质 ，完成了忆阻器的电阻状态由高阻到低阻的转变 。 当施加反向电压时 ，在电场与焦耳热的共同作用下 ，存储在电极处的氧离子再次发生迁移 ，并与氧空位复合 ，致使导电通道断开 ，完成忆阻器由低阻到高阻的转变</a:t>
            </a:r>
            <a:endParaRPr lang="en-US" altLang="zh-CN" dirty="0"/>
          </a:p>
          <a:p>
            <a:r>
              <a:rPr lang="zh-CN" altLang="en-US" dirty="0"/>
              <a:t>阳离子迁移机制又被称为电化学金属化 </a:t>
            </a:r>
            <a:r>
              <a:rPr lang="en-US" altLang="zh-CN" dirty="0"/>
              <a:t>ECM</a:t>
            </a:r>
            <a:r>
              <a:rPr lang="zh-CN" altLang="en-US" dirty="0"/>
              <a:t>（</a:t>
            </a:r>
            <a:r>
              <a:rPr lang="en-US" altLang="zh-CN" dirty="0" err="1"/>
              <a:t>ElectroChemical</a:t>
            </a:r>
            <a:r>
              <a:rPr lang="en-US" altLang="zh-CN" dirty="0"/>
              <a:t> M </a:t>
            </a:r>
            <a:r>
              <a:rPr lang="en-US" altLang="zh-CN" dirty="0" err="1"/>
              <a:t>etallization</a:t>
            </a:r>
            <a:r>
              <a:rPr lang="en-US" altLang="zh-CN" dirty="0"/>
              <a:t> </a:t>
            </a:r>
            <a:r>
              <a:rPr lang="zh-CN" altLang="en-US" dirty="0"/>
              <a:t>）反应 ，其忆阻器介质层材料具有较高的金属离子迁移率 ，一般为固态电解质 ，同时电极材料具有不同的电化学活性 ，一般由活性金属 （</a:t>
            </a:r>
            <a:r>
              <a:rPr lang="en-US" altLang="zh-CN" dirty="0"/>
              <a:t>Ag</a:t>
            </a:r>
            <a:r>
              <a:rPr lang="zh-CN" altLang="en-US" dirty="0"/>
              <a:t>、</a:t>
            </a:r>
            <a:r>
              <a:rPr lang="en-US" altLang="zh-CN" dirty="0"/>
              <a:t>Cu</a:t>
            </a:r>
            <a:r>
              <a:rPr lang="zh-CN" altLang="en-US" dirty="0"/>
              <a:t>、</a:t>
            </a:r>
            <a:r>
              <a:rPr lang="en-US" altLang="zh-CN" dirty="0"/>
              <a:t>Ru</a:t>
            </a:r>
            <a:r>
              <a:rPr lang="zh-CN" altLang="en-US" dirty="0"/>
              <a:t>等 ）和惰性金属（</a:t>
            </a:r>
            <a:r>
              <a:rPr lang="en-US" altLang="zh-CN" dirty="0"/>
              <a:t>Ta </a:t>
            </a:r>
            <a:r>
              <a:rPr lang="zh-CN" altLang="en-US" dirty="0"/>
              <a:t>、</a:t>
            </a:r>
            <a:r>
              <a:rPr lang="en-US" altLang="zh-CN" dirty="0"/>
              <a:t>Pt </a:t>
            </a:r>
            <a:r>
              <a:rPr lang="zh-CN" altLang="en-US" dirty="0"/>
              <a:t>、</a:t>
            </a:r>
            <a:r>
              <a:rPr lang="en-US" altLang="zh-CN" dirty="0"/>
              <a:t>Au</a:t>
            </a:r>
            <a:r>
              <a:rPr lang="zh-CN" altLang="en-US" dirty="0"/>
              <a:t>等）组成。在基于阳离子迁移机制的忆阻器件的工作过程中，活性金属作为阳极 ，惰性金属作为阴极 ，当施加正向电场时 ，活性金属在阳极被氧化 ，失电子后以金属离子的形式进入介质层 ，并在电场作用下向阴极移动 。 在阴极，迁移过来的金属离子得到从电极注入的电子被还原成金属态 。 随着氧化还原反应的不断进行 ，在阴极被还原成金属态的金属离子越来越多 ，并以金属导电细丝的形式向阳极生长 ，当生长至阳极时 ，忆阻器即完成了由高阻到低阻的转变 。 当施加反向电场时 ，在惰性电极处沉积的金属原子再次被氧化为金属离子 ，在电场作用下向活性金属电极迁移并再次被还原为金属态 。 随着电压的不断增大 ，金属导电细丝在氧化还原反应以及焦耳热效应的共同作用下被熔断 ，忆阻器再次回到高阻状态</a:t>
            </a:r>
            <a:endParaRPr lang="en-US" altLang="zh-CN" dirty="0"/>
          </a:p>
          <a:p>
            <a:r>
              <a:rPr lang="zh-CN" altLang="en-US" dirty="0"/>
              <a:t>纯电子机制与阴／阳离子迁移机制有着本质的区别 ，其主要表现为阴／阳离子迁移机制是基于离子的迁移 ，在过程中涉及到化学氧化还原反应以及物理热效应 ；而纯电子机制只涉及到物理层面的电子转移 ，其通常基于电子的捕获与释放来实现器件高低阻间的转变，与之相关的忆阻行为主要有电子自旋阻塞效应 和 空间 电 荷 限 制 效 应 </a:t>
            </a:r>
            <a:r>
              <a:rPr lang="en-US" altLang="zh-CN" dirty="0"/>
              <a:t>SCLC</a:t>
            </a:r>
            <a:endParaRPr lang="zh-CN" altLang="en-US" dirty="0"/>
          </a:p>
        </p:txBody>
      </p:sp>
      <p:sp>
        <p:nvSpPr>
          <p:cNvPr id="4" name="灯片编号占位符 3"/>
          <p:cNvSpPr>
            <a:spLocks noGrp="1"/>
          </p:cNvSpPr>
          <p:nvPr>
            <p:ph type="sldNum" sz="quarter" idx="5"/>
          </p:nvPr>
        </p:nvSpPr>
        <p:spPr/>
        <p:txBody>
          <a:bodyPr/>
          <a:lstStyle/>
          <a:p>
            <a:fld id="{44490452-1689-4497-A9A0-B842EEA687A2}" type="slidenum">
              <a:rPr lang="zh-CN" altLang="en-US" smtClean="0"/>
              <a:t>16</a:t>
            </a:fld>
            <a:endParaRPr lang="zh-CN" altLang="en-US"/>
          </a:p>
        </p:txBody>
      </p:sp>
    </p:spTree>
    <p:extLst>
      <p:ext uri="{BB962C8B-B14F-4D97-AF65-F5344CB8AC3E}">
        <p14:creationId xmlns:p14="http://schemas.microsoft.com/office/powerpoint/2010/main" val="2607364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490452-1689-4497-A9A0-B842EEA687A2}" type="slidenum">
              <a:rPr lang="zh-CN" altLang="en-US" smtClean="0"/>
              <a:t>19</a:t>
            </a:fld>
            <a:endParaRPr lang="zh-CN" altLang="en-US"/>
          </a:p>
        </p:txBody>
      </p:sp>
    </p:spTree>
    <p:extLst>
      <p:ext uri="{BB962C8B-B14F-4D97-AF65-F5344CB8AC3E}">
        <p14:creationId xmlns:p14="http://schemas.microsoft.com/office/powerpoint/2010/main" val="2081970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mp.weixin.qq.com/s/gbBZiReFSG49YGBIkzaxY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wanfangdata.com.cn/thesis/ChJUaGVzaXNOZXdTMjAyNDAxMDkSCUQwMTg4ODMwNRoIMXZhN3hzN2M%3D"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bilibili.com/video/BV1Ah41157ED/?spm_id_from=333.880.my_history.page.click&amp;vd_source=bde811881f1504587afb749d784580fa"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bilibili.com/video/BV1Ah41157ED/?spm_id_from=333.880.my_history.page.click&amp;vd_source=bde811881f1504587afb749d784580f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wanfangdata.com.cn/thesis/ChJUaGVzaXNOZXdTMjAyNDAxMDkSCUQwMTg4ODMwNRoIMXZhN3hzN2M%3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ilibili.com/video/BV1Ah41157ED/?spm_id_from=333.880.my_history.page.click&amp;vd_source=bde811881f1504587afb749d784580fa"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mp.weixin.qq.com/s/gbBZiReFSG49YGBIkzaxY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mp.weixin.qq.com/s/gbBZiReFSG49YGBIkzaxY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wanfangdata.com.cn/thesis/ChJUaGVzaXNOZXdTMjAyNDAxMDkSCUQwMTg4ODMwNRoIMXZhN3hzN2M%3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wanfangdata.com.cn/periodical/ChlQZXJpb2RpY2FsQ0hJTmV3UzIwMjMxMjI2EhFqc2pnY3lreDIwMjIwMTAwNRoIbGkzNTJzenI%3D"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1358736" y="2069094"/>
            <a:ext cx="9058891" cy="646331"/>
          </a:xfrm>
          <a:prstGeom prst="rect">
            <a:avLst/>
          </a:prstGeom>
          <a:noFill/>
        </p:spPr>
        <p:txBody>
          <a:bodyPr wrap="none" lIns="91440" tIns="45720" rIns="91440" bIns="45720">
            <a:spAutoFit/>
          </a:bodyPr>
          <a:lstStyle/>
          <a:p>
            <a:pPr algn="ctr"/>
            <a:r>
              <a:rPr lang="zh-CN" altLang="en-US" sz="3600" dirty="0">
                <a:ln w="0"/>
                <a:effectLst>
                  <a:outerShdw blurRad="38100" dist="19050" dir="2700000" algn="tl" rotWithShape="0">
                    <a:schemeClr val="dk1">
                      <a:alpha val="40000"/>
                    </a:schemeClr>
                  </a:outerShdw>
                </a:effectLst>
              </a:rPr>
              <a:t>单层</a:t>
            </a:r>
            <a:r>
              <a:rPr lang="en-US" altLang="zh-CN" sz="3600" dirty="0">
                <a:ln w="0"/>
                <a:effectLst>
                  <a:outerShdw blurRad="38100" dist="19050" dir="2700000" algn="tl" rotWithShape="0">
                    <a:schemeClr val="dk1">
                      <a:alpha val="40000"/>
                    </a:schemeClr>
                  </a:outerShdw>
                </a:effectLst>
              </a:rPr>
              <a:t>2D</a:t>
            </a:r>
            <a:r>
              <a:rPr lang="zh-CN" altLang="en-US" sz="3600" dirty="0">
                <a:ln w="0"/>
                <a:effectLst>
                  <a:outerShdw blurRad="38100" dist="19050" dir="2700000" algn="tl" rotWithShape="0">
                    <a:schemeClr val="dk1">
                      <a:alpha val="40000"/>
                    </a:schemeClr>
                  </a:outerShdw>
                </a:effectLst>
              </a:rPr>
              <a:t>材料大规模集成在内存计算中的应用</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836681" y="4266469"/>
            <a:ext cx="1261884" cy="954107"/>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a:t>
            </a:r>
            <a:r>
              <a:rPr lang="zh-CN" altLang="en-US" sz="2800">
                <a:ln w="0"/>
                <a:effectLst>
                  <a:outerShdw blurRad="38100" dist="19050" dir="2700000" algn="tl" rotWithShape="0">
                    <a:schemeClr val="dk1">
                      <a:alpha val="40000"/>
                    </a:schemeClr>
                  </a:outerShdw>
                </a:effectLst>
              </a:rPr>
              <a:t>号：</a:t>
            </a:r>
            <a:endParaRPr lang="en-US" altLang="zh-CN" sz="2800" dirty="0">
              <a:ln w="0"/>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
        <p:nvSpPr>
          <p:cNvPr id="2" name="矩形 1">
            <a:extLst>
              <a:ext uri="{FF2B5EF4-FFF2-40B4-BE49-F238E27FC236}">
                <a16:creationId xmlns:a16="http://schemas.microsoft.com/office/drawing/2014/main" id="{011A2236-9B93-7F3B-AFB9-3BCFD611D16B}"/>
              </a:ext>
            </a:extLst>
          </p:cNvPr>
          <p:cNvSpPr/>
          <p:nvPr/>
        </p:nvSpPr>
        <p:spPr>
          <a:xfrm>
            <a:off x="5564868" y="2715425"/>
            <a:ext cx="5929828" cy="523220"/>
          </a:xfrm>
          <a:prstGeom prst="rect">
            <a:avLst/>
          </a:prstGeom>
          <a:noFill/>
        </p:spPr>
        <p:txBody>
          <a:bodyPr wrap="none" lIns="91440" tIns="45720" rIns="91440" bIns="45720">
            <a:spAutoFit/>
          </a:bodyPr>
          <a:lstStyle/>
          <a:p>
            <a:pPr algn="ctr"/>
            <a:r>
              <a:rPr lang="en-US" altLang="zh-CN" sz="2800" b="0" cap="none" spc="0" dirty="0">
                <a:ln w="0"/>
                <a:solidFill>
                  <a:schemeClr val="tx1"/>
                </a:solidFill>
                <a:effectLst>
                  <a:outerShdw blurRad="38100" dist="19050" dir="2700000" algn="tl" rotWithShape="0">
                    <a:schemeClr val="dk1">
                      <a:alpha val="40000"/>
                    </a:schemeClr>
                  </a:outerShdw>
                </a:effectLst>
              </a:rPr>
              <a:t>——</a:t>
            </a:r>
            <a:r>
              <a:rPr lang="zh-CN" altLang="en-US" sz="2800" b="0" cap="none" spc="0" dirty="0">
                <a:ln w="0"/>
                <a:solidFill>
                  <a:schemeClr val="tx1"/>
                </a:solidFill>
                <a:effectLst>
                  <a:outerShdw blurRad="38100" dist="19050" dir="2700000" algn="tl" rotWithShape="0">
                    <a:schemeClr val="dk1">
                      <a:alpha val="40000"/>
                    </a:schemeClr>
                  </a:outerShdw>
                </a:effectLst>
              </a:rPr>
              <a:t>基于单层二硫化钼存储器的开发</a:t>
            </a:r>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a:p>
        </p:txBody>
      </p:sp>
      <p:sp>
        <p:nvSpPr>
          <p:cNvPr id="5" name="文本框 4">
            <a:extLst>
              <a:ext uri="{FF2B5EF4-FFF2-40B4-BE49-F238E27FC236}">
                <a16:creationId xmlns:a16="http://schemas.microsoft.com/office/drawing/2014/main" id="{D80EDF38-ACAE-26BC-6307-D1D3B98A9E46}"/>
              </a:ext>
            </a:extLst>
          </p:cNvPr>
          <p:cNvSpPr txBox="1"/>
          <p:nvPr/>
        </p:nvSpPr>
        <p:spPr>
          <a:xfrm>
            <a:off x="2287732" y="893619"/>
            <a:ext cx="7616536" cy="5161991"/>
          </a:xfrm>
          <a:prstGeom prst="rect">
            <a:avLst/>
          </a:prstGeom>
          <a:noFill/>
        </p:spPr>
        <p:txBody>
          <a:bodyPr wrap="square" rtlCol="0">
            <a:spAutoFit/>
          </a:bodyPr>
          <a:lstStyle/>
          <a:p>
            <a:pPr algn="ctr"/>
            <a:r>
              <a:rPr lang="zh-CN" altLang="en-US" sz="4800" dirty="0">
                <a:latin typeface="黑体" panose="02010609060101010101" pitchFamily="49" charset="-122"/>
                <a:ea typeface="黑体" panose="02010609060101010101" pitchFamily="49" charset="-122"/>
              </a:rPr>
              <a:t>主要问题</a:t>
            </a:r>
            <a:endParaRPr lang="en-US" altLang="zh-CN" sz="4800" dirty="0">
              <a:latin typeface="黑体" panose="02010609060101010101" pitchFamily="49" charset="-122"/>
              <a:ea typeface="黑体" panose="02010609060101010101" pitchFamily="49" charset="-122"/>
            </a:endParaRPr>
          </a:p>
          <a:p>
            <a:pPr marL="285750" indent="-285750" algn="ctr">
              <a:lnSpc>
                <a:spcPct val="150000"/>
              </a:lnSpc>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什么是</a:t>
            </a:r>
            <a:r>
              <a:rPr lang="en-US" altLang="zh-CN" sz="3600" dirty="0">
                <a:latin typeface="黑体" panose="02010609060101010101" pitchFamily="49" charset="-122"/>
                <a:ea typeface="黑体" panose="02010609060101010101" pitchFamily="49" charset="-122"/>
              </a:rPr>
              <a:t>2D</a:t>
            </a:r>
            <a:r>
              <a:rPr lang="zh-CN" altLang="en-US" sz="3600" dirty="0">
                <a:latin typeface="黑体" panose="02010609060101010101" pitchFamily="49" charset="-122"/>
                <a:ea typeface="黑体" panose="02010609060101010101" pitchFamily="49" charset="-122"/>
              </a:rPr>
              <a:t>材料？</a:t>
            </a:r>
            <a:endParaRPr lang="en-US" altLang="zh-CN" sz="3600" dirty="0">
              <a:latin typeface="黑体" panose="02010609060101010101" pitchFamily="49" charset="-122"/>
              <a:ea typeface="黑体" panose="02010609060101010101" pitchFamily="49" charset="-122"/>
            </a:endParaRPr>
          </a:p>
          <a:p>
            <a:pPr algn="ctr">
              <a:lnSpc>
                <a:spcPct val="150000"/>
              </a:lnSpc>
            </a:pPr>
            <a:r>
              <a:rPr lang="zh-CN" altLang="en-US" sz="2800" dirty="0">
                <a:solidFill>
                  <a:srgbClr val="FF0000"/>
                </a:solidFill>
                <a:latin typeface="黑体" panose="02010609060101010101" pitchFamily="49" charset="-122"/>
                <a:ea typeface="黑体" panose="02010609060101010101" pitchFamily="49" charset="-122"/>
              </a:rPr>
              <a:t>种类？性质？</a:t>
            </a:r>
            <a:endParaRPr lang="en-US" altLang="zh-CN" sz="2800" dirty="0">
              <a:solidFill>
                <a:srgbClr val="FF0000"/>
              </a:solidFill>
              <a:latin typeface="黑体" panose="02010609060101010101" pitchFamily="49" charset="-122"/>
              <a:ea typeface="黑体" panose="02010609060101010101" pitchFamily="49" charset="-122"/>
            </a:endParaRPr>
          </a:p>
          <a:p>
            <a:pPr marL="285750" indent="-285750" algn="ctr">
              <a:lnSpc>
                <a:spcPct val="150000"/>
              </a:lnSpc>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什么是内存计算？</a:t>
            </a:r>
            <a:endParaRPr lang="en-US" altLang="zh-CN" sz="3600" dirty="0">
              <a:latin typeface="黑体" panose="02010609060101010101" pitchFamily="49" charset="-122"/>
              <a:ea typeface="黑体" panose="02010609060101010101" pitchFamily="49" charset="-122"/>
            </a:endParaRPr>
          </a:p>
          <a:p>
            <a:pPr algn="ctr">
              <a:lnSpc>
                <a:spcPct val="150000"/>
              </a:lnSpc>
            </a:pPr>
            <a:r>
              <a:rPr lang="zh-CN" altLang="en-US" sz="2800" dirty="0">
                <a:solidFill>
                  <a:srgbClr val="FF0000"/>
                </a:solidFill>
                <a:latin typeface="黑体" panose="02010609060101010101" pitchFamily="49" charset="-122"/>
                <a:ea typeface="黑体" panose="02010609060101010101" pitchFamily="49" charset="-122"/>
              </a:rPr>
              <a:t>定义？为什么？</a:t>
            </a:r>
            <a:endParaRPr lang="en-US" altLang="zh-CN" sz="2800" dirty="0">
              <a:solidFill>
                <a:srgbClr val="FF0000"/>
              </a:solidFill>
              <a:latin typeface="黑体" panose="02010609060101010101" pitchFamily="49" charset="-122"/>
              <a:ea typeface="黑体" panose="02010609060101010101" pitchFamily="49" charset="-122"/>
            </a:endParaRPr>
          </a:p>
          <a:p>
            <a:pPr marL="285750" indent="-285750" algn="ctr">
              <a:lnSpc>
                <a:spcPct val="150000"/>
              </a:lnSpc>
              <a:buFont typeface="Arial" panose="020B0604020202020204" pitchFamily="34" charset="0"/>
              <a:buChar char="•"/>
            </a:pPr>
            <a:r>
              <a:rPr lang="zh-CN" altLang="en-US" sz="3600" dirty="0">
                <a:latin typeface="黑体" panose="02010609060101010101" pitchFamily="49" charset="-122"/>
                <a:ea typeface="黑体" panose="02010609060101010101" pitchFamily="49" charset="-122"/>
              </a:rPr>
              <a:t>二者有什么关系？</a:t>
            </a:r>
            <a:endParaRPr lang="en-US" altLang="zh-CN" sz="3600" dirty="0">
              <a:latin typeface="黑体" panose="02010609060101010101" pitchFamily="49" charset="-122"/>
              <a:ea typeface="黑体" panose="02010609060101010101" pitchFamily="49" charset="-122"/>
            </a:endParaRPr>
          </a:p>
          <a:p>
            <a:pPr algn="ctr">
              <a:lnSpc>
                <a:spcPct val="150000"/>
              </a:lnSpc>
            </a:pPr>
            <a:r>
              <a:rPr lang="zh-CN" altLang="en-US" sz="2800" dirty="0">
                <a:solidFill>
                  <a:srgbClr val="FF0000"/>
                </a:solidFill>
                <a:latin typeface="黑体" panose="02010609060101010101" pitchFamily="49" charset="-122"/>
                <a:ea typeface="黑体" panose="02010609060101010101" pitchFamily="49" charset="-122"/>
              </a:rPr>
              <a:t>如何联系？怎么应用？</a:t>
            </a:r>
          </a:p>
        </p:txBody>
      </p:sp>
    </p:spTree>
    <p:extLst>
      <p:ext uri="{BB962C8B-B14F-4D97-AF65-F5344CB8AC3E}">
        <p14:creationId xmlns:p14="http://schemas.microsoft.com/office/powerpoint/2010/main" val="766620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a:p>
        </p:txBody>
      </p:sp>
      <p:pic>
        <p:nvPicPr>
          <p:cNvPr id="9" name="图片 8">
            <a:hlinkClick r:id="rId2"/>
            <a:extLst>
              <a:ext uri="{FF2B5EF4-FFF2-40B4-BE49-F238E27FC236}">
                <a16:creationId xmlns:a16="http://schemas.microsoft.com/office/drawing/2014/main" id="{ECDEBFFA-9670-CB0A-C5D2-152C5162504E}"/>
              </a:ext>
            </a:extLst>
          </p:cNvPr>
          <p:cNvPicPr>
            <a:picLocks noChangeAspect="1"/>
          </p:cNvPicPr>
          <p:nvPr/>
        </p:nvPicPr>
        <p:blipFill>
          <a:blip r:embed="rId3"/>
          <a:stretch>
            <a:fillRect/>
          </a:stretch>
        </p:blipFill>
        <p:spPr>
          <a:xfrm>
            <a:off x="1914223" y="692820"/>
            <a:ext cx="8363551" cy="6012780"/>
          </a:xfrm>
          <a:prstGeom prst="rect">
            <a:avLst/>
          </a:prstGeom>
        </p:spPr>
      </p:pic>
      <p:sp>
        <p:nvSpPr>
          <p:cNvPr id="10" name="矩形 9">
            <a:extLst>
              <a:ext uri="{FF2B5EF4-FFF2-40B4-BE49-F238E27FC236}">
                <a16:creationId xmlns:a16="http://schemas.microsoft.com/office/drawing/2014/main" id="{81F45722-4637-6B20-6B81-D00F5B7FE5F7}"/>
              </a:ext>
            </a:extLst>
          </p:cNvPr>
          <p:cNvSpPr/>
          <p:nvPr/>
        </p:nvSpPr>
        <p:spPr>
          <a:xfrm>
            <a:off x="5259873" y="38193"/>
            <a:ext cx="1672253" cy="646331"/>
          </a:xfrm>
          <a:prstGeom prst="rect">
            <a:avLst/>
          </a:prstGeom>
          <a:noFill/>
        </p:spPr>
        <p:txBody>
          <a:bodyPr wrap="none" lIns="91440" tIns="45720" rIns="91440" bIns="45720">
            <a:spAutoFit/>
          </a:bodyPr>
          <a:lstStyle/>
          <a:p>
            <a:pPr algn="ctr"/>
            <a:r>
              <a:rPr lang="en-US" altLang="zh-CN" sz="3600" b="0" cap="none" spc="0" dirty="0">
                <a:ln w="0"/>
                <a:solidFill>
                  <a:schemeClr val="tx1"/>
                </a:solidFill>
                <a:effectLst>
                  <a:outerShdw blurRad="38100" dist="19050" dir="2700000" algn="tl" rotWithShape="0">
                    <a:schemeClr val="dk1">
                      <a:alpha val="40000"/>
                    </a:schemeClr>
                  </a:outerShdw>
                </a:effectLst>
              </a:rPr>
              <a:t>2D</a:t>
            </a:r>
            <a:r>
              <a:rPr lang="zh-CN" altLang="en-US" sz="3600" b="0" cap="none" spc="0" dirty="0">
                <a:ln w="0"/>
                <a:solidFill>
                  <a:schemeClr val="tx1"/>
                </a:solidFill>
                <a:effectLst>
                  <a:outerShdw blurRad="38100" dist="19050" dir="2700000" algn="tl" rotWithShape="0">
                    <a:schemeClr val="dk1">
                      <a:alpha val="40000"/>
                    </a:schemeClr>
                  </a:outerShdw>
                </a:effectLst>
              </a:rPr>
              <a:t>材料</a:t>
            </a:r>
          </a:p>
        </p:txBody>
      </p:sp>
    </p:spTree>
    <p:extLst>
      <p:ext uri="{BB962C8B-B14F-4D97-AF65-F5344CB8AC3E}">
        <p14:creationId xmlns:p14="http://schemas.microsoft.com/office/powerpoint/2010/main" val="420804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a:p>
        </p:txBody>
      </p:sp>
      <p:sp>
        <p:nvSpPr>
          <p:cNvPr id="2" name="文本框 1">
            <a:extLst>
              <a:ext uri="{FF2B5EF4-FFF2-40B4-BE49-F238E27FC236}">
                <a16:creationId xmlns:a16="http://schemas.microsoft.com/office/drawing/2014/main" id="{E779BBAB-0C42-23BE-3949-2E81F2302720}"/>
              </a:ext>
            </a:extLst>
          </p:cNvPr>
          <p:cNvSpPr txBox="1"/>
          <p:nvPr/>
        </p:nvSpPr>
        <p:spPr>
          <a:xfrm>
            <a:off x="602673" y="488373"/>
            <a:ext cx="10079182" cy="1384995"/>
          </a:xfrm>
          <a:prstGeom prst="rect">
            <a:avLst/>
          </a:prstGeom>
          <a:noFill/>
        </p:spPr>
        <p:txBody>
          <a:bodyPr wrap="square" rtlCol="0">
            <a:spAutoFit/>
          </a:bodyPr>
          <a:lstStyle/>
          <a:p>
            <a:r>
              <a:rPr lang="en-US" altLang="zh-CN" sz="3600" dirty="0">
                <a:solidFill>
                  <a:srgbClr val="FF0000"/>
                </a:solidFill>
              </a:rPr>
              <a:t>2D</a:t>
            </a:r>
            <a:r>
              <a:rPr lang="zh-CN" altLang="en-US" sz="3600" dirty="0">
                <a:solidFill>
                  <a:srgbClr val="FF0000"/>
                </a:solidFill>
              </a:rPr>
              <a:t>材料：</a:t>
            </a:r>
            <a:r>
              <a:rPr lang="zh-CN" altLang="en-US" sz="2400" dirty="0"/>
              <a:t>厚度仅有几个原子层或更薄的晶体</a:t>
            </a:r>
            <a:endParaRPr lang="en-US" altLang="zh-CN" sz="2400" dirty="0"/>
          </a:p>
          <a:p>
            <a:endParaRPr lang="en-US" altLang="zh-CN" sz="2400" dirty="0"/>
          </a:p>
          <a:p>
            <a:r>
              <a:rPr lang="zh-CN" altLang="en-US" sz="2400" dirty="0">
                <a:solidFill>
                  <a:srgbClr val="0000CC"/>
                </a:solidFill>
              </a:rPr>
              <a:t>最主要的两种</a:t>
            </a:r>
            <a:r>
              <a:rPr lang="en-US" altLang="zh-CN" sz="2400" dirty="0">
                <a:solidFill>
                  <a:srgbClr val="0000CC"/>
                </a:solidFill>
              </a:rPr>
              <a:t>2D</a:t>
            </a:r>
            <a:r>
              <a:rPr lang="zh-CN" altLang="en-US" sz="2400" dirty="0">
                <a:solidFill>
                  <a:srgbClr val="0000CC"/>
                </a:solidFill>
              </a:rPr>
              <a:t>材料：</a:t>
            </a:r>
          </a:p>
        </p:txBody>
      </p:sp>
      <p:pic>
        <p:nvPicPr>
          <p:cNvPr id="9" name="图片 8">
            <a:hlinkClick r:id="rId2"/>
            <a:extLst>
              <a:ext uri="{FF2B5EF4-FFF2-40B4-BE49-F238E27FC236}">
                <a16:creationId xmlns:a16="http://schemas.microsoft.com/office/drawing/2014/main" id="{4B85B89A-BAB9-ACF4-9FAA-BCE6FF4C1B48}"/>
              </a:ext>
            </a:extLst>
          </p:cNvPr>
          <p:cNvPicPr>
            <a:picLocks noChangeAspect="1"/>
          </p:cNvPicPr>
          <p:nvPr/>
        </p:nvPicPr>
        <p:blipFill>
          <a:blip r:embed="rId3"/>
          <a:stretch>
            <a:fillRect/>
          </a:stretch>
        </p:blipFill>
        <p:spPr>
          <a:xfrm>
            <a:off x="1028700" y="2119509"/>
            <a:ext cx="3504940" cy="3263220"/>
          </a:xfrm>
          <a:prstGeom prst="rect">
            <a:avLst/>
          </a:prstGeom>
        </p:spPr>
      </p:pic>
      <p:pic>
        <p:nvPicPr>
          <p:cNvPr id="11" name="图片 10">
            <a:hlinkClick r:id="rId4"/>
            <a:extLst>
              <a:ext uri="{FF2B5EF4-FFF2-40B4-BE49-F238E27FC236}">
                <a16:creationId xmlns:a16="http://schemas.microsoft.com/office/drawing/2014/main" id="{685F6CDC-F791-28FD-E1E8-F9A5C3419B63}"/>
              </a:ext>
            </a:extLst>
          </p:cNvPr>
          <p:cNvPicPr>
            <a:picLocks noChangeAspect="1"/>
          </p:cNvPicPr>
          <p:nvPr/>
        </p:nvPicPr>
        <p:blipFill>
          <a:blip r:embed="rId5"/>
          <a:stretch>
            <a:fillRect/>
          </a:stretch>
        </p:blipFill>
        <p:spPr>
          <a:xfrm>
            <a:off x="5642264" y="2123300"/>
            <a:ext cx="5836016" cy="3259429"/>
          </a:xfrm>
          <a:prstGeom prst="rect">
            <a:avLst/>
          </a:prstGeom>
        </p:spPr>
      </p:pic>
      <p:sp>
        <p:nvSpPr>
          <p:cNvPr id="13" name="文本框 4">
            <a:extLst>
              <a:ext uri="{FF2B5EF4-FFF2-40B4-BE49-F238E27FC236}">
                <a16:creationId xmlns:a16="http://schemas.microsoft.com/office/drawing/2014/main" id="{EF2A9F73-2E82-0302-21C5-8571877C4AA5}"/>
              </a:ext>
            </a:extLst>
          </p:cNvPr>
          <p:cNvSpPr txBox="1"/>
          <p:nvPr/>
        </p:nvSpPr>
        <p:spPr>
          <a:xfrm>
            <a:off x="1769976" y="5489864"/>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石墨烯</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4">
            <a:extLst>
              <a:ext uri="{FF2B5EF4-FFF2-40B4-BE49-F238E27FC236}">
                <a16:creationId xmlns:a16="http://schemas.microsoft.com/office/drawing/2014/main" id="{475BC057-1D80-B036-43C8-561FBD15EBDC}"/>
              </a:ext>
            </a:extLst>
          </p:cNvPr>
          <p:cNvSpPr txBox="1"/>
          <p:nvPr/>
        </p:nvSpPr>
        <p:spPr>
          <a:xfrm>
            <a:off x="7944485" y="5489864"/>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altLang="en-US"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过渡金属硫化物（</a:t>
            </a:r>
            <a:r>
              <a:rPr lang="en-US" altLang="zh-CN"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en-US"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6711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5</a:t>
            </a:fld>
            <a:endParaRPr lang="en-US" altLang="zh-CN"/>
          </a:p>
        </p:txBody>
      </p:sp>
      <p:sp>
        <p:nvSpPr>
          <p:cNvPr id="2" name="文本框 4">
            <a:extLst>
              <a:ext uri="{FF2B5EF4-FFF2-40B4-BE49-F238E27FC236}">
                <a16:creationId xmlns:a16="http://schemas.microsoft.com/office/drawing/2014/main" id="{1FBF0B86-D3F5-9E95-03D8-1E32A909416A}"/>
              </a:ext>
            </a:extLst>
          </p:cNvPr>
          <p:cNvSpPr txBox="1"/>
          <p:nvPr/>
        </p:nvSpPr>
        <p:spPr>
          <a:xfrm>
            <a:off x="481503" y="574964"/>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石墨烯</a:t>
            </a:r>
            <a:endParaRPr lang="zh-CN" sz="3200" kern="100" dirty="0">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8" name="组合 7">
            <a:extLst>
              <a:ext uri="{FF2B5EF4-FFF2-40B4-BE49-F238E27FC236}">
                <a16:creationId xmlns:a16="http://schemas.microsoft.com/office/drawing/2014/main" id="{5EB6C666-3AAE-CF22-AF11-71D775045FF6}"/>
              </a:ext>
            </a:extLst>
          </p:cNvPr>
          <p:cNvGrpSpPr/>
          <p:nvPr/>
        </p:nvGrpSpPr>
        <p:grpSpPr>
          <a:xfrm>
            <a:off x="281948" y="1150574"/>
            <a:ext cx="11628104" cy="3143689"/>
            <a:chOff x="665918" y="1067446"/>
            <a:chExt cx="11628104" cy="3143689"/>
          </a:xfrm>
        </p:grpSpPr>
        <p:pic>
          <p:nvPicPr>
            <p:cNvPr id="5" name="图片 4">
              <a:hlinkClick r:id="rId3"/>
              <a:extLst>
                <a:ext uri="{FF2B5EF4-FFF2-40B4-BE49-F238E27FC236}">
                  <a16:creationId xmlns:a16="http://schemas.microsoft.com/office/drawing/2014/main" id="{2ED9BFDB-E58B-77E7-9841-C0790BF3B246}"/>
                </a:ext>
              </a:extLst>
            </p:cNvPr>
            <p:cNvPicPr>
              <a:picLocks noChangeAspect="1"/>
            </p:cNvPicPr>
            <p:nvPr/>
          </p:nvPicPr>
          <p:blipFill>
            <a:blip r:embed="rId4"/>
            <a:stretch>
              <a:fillRect/>
            </a:stretch>
          </p:blipFill>
          <p:spPr>
            <a:xfrm>
              <a:off x="665918" y="1067446"/>
              <a:ext cx="5706271" cy="3143689"/>
            </a:xfrm>
            <a:prstGeom prst="rect">
              <a:avLst/>
            </a:prstGeom>
          </p:spPr>
        </p:pic>
        <p:pic>
          <p:nvPicPr>
            <p:cNvPr id="7" name="图片 6">
              <a:hlinkClick r:id="rId3"/>
              <a:extLst>
                <a:ext uri="{FF2B5EF4-FFF2-40B4-BE49-F238E27FC236}">
                  <a16:creationId xmlns:a16="http://schemas.microsoft.com/office/drawing/2014/main" id="{186DA6E2-23BC-C15D-BDE8-7F0E48F86745}"/>
                </a:ext>
              </a:extLst>
            </p:cNvPr>
            <p:cNvPicPr>
              <a:picLocks noChangeAspect="1"/>
            </p:cNvPicPr>
            <p:nvPr/>
          </p:nvPicPr>
          <p:blipFill>
            <a:blip r:embed="rId5"/>
            <a:stretch>
              <a:fillRect/>
            </a:stretch>
          </p:blipFill>
          <p:spPr>
            <a:xfrm>
              <a:off x="6372189" y="1067446"/>
              <a:ext cx="5921833" cy="3143689"/>
            </a:xfrm>
            <a:prstGeom prst="rect">
              <a:avLst/>
            </a:prstGeom>
          </p:spPr>
        </p:pic>
      </p:grpSp>
      <p:sp>
        <p:nvSpPr>
          <p:cNvPr id="9" name="文本框 8">
            <a:extLst>
              <a:ext uri="{FF2B5EF4-FFF2-40B4-BE49-F238E27FC236}">
                <a16:creationId xmlns:a16="http://schemas.microsoft.com/office/drawing/2014/main" id="{EDCA5DD7-2A18-11D5-2E0F-3E282D3754FD}"/>
              </a:ext>
            </a:extLst>
          </p:cNvPr>
          <p:cNvSpPr txBox="1"/>
          <p:nvPr/>
        </p:nvSpPr>
        <p:spPr>
          <a:xfrm>
            <a:off x="2169560" y="4520046"/>
            <a:ext cx="7637318" cy="19303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dirty="0">
                <a:latin typeface="黑体" panose="02010609060101010101" pitchFamily="49" charset="-122"/>
                <a:ea typeface="黑体" panose="02010609060101010101" pitchFamily="49" charset="-122"/>
              </a:rPr>
              <a:t>仅有</a:t>
            </a:r>
            <a:r>
              <a:rPr lang="zh-CN" altLang="en-US" sz="2800" dirty="0">
                <a:solidFill>
                  <a:srgbClr val="FF0000"/>
                </a:solidFill>
                <a:latin typeface="黑体" panose="02010609060101010101" pitchFamily="49" charset="-122"/>
                <a:ea typeface="黑体" panose="02010609060101010101" pitchFamily="49" charset="-122"/>
              </a:rPr>
              <a:t>一层</a:t>
            </a:r>
            <a:r>
              <a:rPr lang="zh-CN" altLang="en-US" sz="2800" dirty="0">
                <a:latin typeface="黑体" panose="02010609060101010101" pitchFamily="49" charset="-122"/>
                <a:ea typeface="黑体" panose="02010609060101010101" pitchFamily="49" charset="-122"/>
              </a:rPr>
              <a:t>碳原子构成，</a:t>
            </a:r>
            <a:r>
              <a:rPr lang="zh-CN" altLang="en-US" sz="2800" dirty="0">
                <a:solidFill>
                  <a:srgbClr val="FF0000"/>
                </a:solidFill>
                <a:latin typeface="黑体" panose="02010609060101010101" pitchFamily="49" charset="-122"/>
                <a:ea typeface="黑体" panose="02010609060101010101" pitchFamily="49" charset="-122"/>
              </a:rPr>
              <a:t>强度</a:t>
            </a:r>
            <a:r>
              <a:rPr lang="zh-CN" altLang="en-US" sz="2800" dirty="0">
                <a:latin typeface="黑体" panose="02010609060101010101" pitchFamily="49" charset="-122"/>
                <a:ea typeface="黑体" panose="02010609060101010101" pitchFamily="49" charset="-122"/>
              </a:rPr>
              <a:t>比钢铁</a:t>
            </a:r>
            <a:r>
              <a:rPr lang="zh-CN" altLang="en-US" sz="2800" dirty="0">
                <a:solidFill>
                  <a:srgbClr val="FF0000"/>
                </a:solidFill>
                <a:latin typeface="黑体" panose="02010609060101010101" pitchFamily="49" charset="-122"/>
                <a:ea typeface="黑体" panose="02010609060101010101" pitchFamily="49" charset="-122"/>
              </a:rPr>
              <a:t>高几百倍</a:t>
            </a:r>
            <a:endParaRPr lang="en-US" altLang="zh-CN" sz="2800" dirty="0">
              <a:solidFill>
                <a:srgbClr val="FF0000"/>
              </a:solidFill>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sz="2800" dirty="0">
                <a:latin typeface="黑体" panose="02010609060101010101" pitchFamily="49" charset="-122"/>
                <a:ea typeface="黑体" panose="02010609060101010101" pitchFamily="49" charset="-122"/>
              </a:rPr>
              <a:t>比铜</a:t>
            </a:r>
            <a:r>
              <a:rPr lang="zh-CN" altLang="en-US" sz="2800" dirty="0">
                <a:solidFill>
                  <a:srgbClr val="FF0000"/>
                </a:solidFill>
                <a:latin typeface="黑体" panose="02010609060101010101" pitchFamily="49" charset="-122"/>
                <a:ea typeface="黑体" panose="02010609060101010101" pitchFamily="49" charset="-122"/>
              </a:rPr>
              <a:t>导电性</a:t>
            </a:r>
            <a:r>
              <a:rPr lang="zh-CN" altLang="en-US" sz="2800" dirty="0">
                <a:latin typeface="黑体" panose="02010609060101010101" pitchFamily="49" charset="-122"/>
                <a:ea typeface="黑体" panose="02010609060101010101" pitchFamily="49" charset="-122"/>
              </a:rPr>
              <a:t>还要好</a:t>
            </a:r>
            <a:endParaRPr lang="en-US" altLang="zh-CN" sz="2800"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sz="2800" dirty="0">
                <a:latin typeface="黑体" panose="02010609060101010101" pitchFamily="49" charset="-122"/>
                <a:ea typeface="黑体" panose="02010609060101010101" pitchFamily="49" charset="-122"/>
              </a:rPr>
              <a:t>完全</a:t>
            </a:r>
            <a:r>
              <a:rPr lang="zh-CN" altLang="en-US" sz="2800" dirty="0">
                <a:solidFill>
                  <a:srgbClr val="FF0000"/>
                </a:solidFill>
                <a:latin typeface="黑体" panose="02010609060101010101" pitchFamily="49" charset="-122"/>
                <a:ea typeface="黑体" panose="02010609060101010101" pitchFamily="49" charset="-122"/>
              </a:rPr>
              <a:t>柔软</a:t>
            </a:r>
          </a:p>
        </p:txBody>
      </p:sp>
      <p:sp>
        <p:nvSpPr>
          <p:cNvPr id="10" name="文本框 4">
            <a:extLst>
              <a:ext uri="{FF2B5EF4-FFF2-40B4-BE49-F238E27FC236}">
                <a16:creationId xmlns:a16="http://schemas.microsoft.com/office/drawing/2014/main" id="{C08694C5-E769-40E8-A6A3-156852671F8C}"/>
              </a:ext>
            </a:extLst>
          </p:cNvPr>
          <p:cNvSpPr txBox="1"/>
          <p:nvPr/>
        </p:nvSpPr>
        <p:spPr>
          <a:xfrm>
            <a:off x="5195104" y="4329546"/>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石墨烯</a:t>
            </a:r>
            <a:r>
              <a:rPr lang="zh-CN" altLang="en-US"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结构图</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07041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a:p>
        </p:txBody>
      </p:sp>
      <p:sp>
        <p:nvSpPr>
          <p:cNvPr id="2" name="文本框 4">
            <a:extLst>
              <a:ext uri="{FF2B5EF4-FFF2-40B4-BE49-F238E27FC236}">
                <a16:creationId xmlns:a16="http://schemas.microsoft.com/office/drawing/2014/main" id="{BB991302-083A-31EF-7EBC-02248050718A}"/>
              </a:ext>
            </a:extLst>
          </p:cNvPr>
          <p:cNvSpPr txBox="1"/>
          <p:nvPr/>
        </p:nvSpPr>
        <p:spPr>
          <a:xfrm>
            <a:off x="481503" y="574964"/>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石墨烯</a:t>
            </a:r>
            <a:endParaRPr lang="zh-CN" sz="3200" kern="100" dirty="0">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hlinkClick r:id="rId2"/>
            <a:extLst>
              <a:ext uri="{FF2B5EF4-FFF2-40B4-BE49-F238E27FC236}">
                <a16:creationId xmlns:a16="http://schemas.microsoft.com/office/drawing/2014/main" id="{32B38D53-99D4-B667-A7C3-4B385E8C5953}"/>
              </a:ext>
            </a:extLst>
          </p:cNvPr>
          <p:cNvPicPr>
            <a:picLocks noChangeAspect="1"/>
          </p:cNvPicPr>
          <p:nvPr/>
        </p:nvPicPr>
        <p:blipFill>
          <a:blip r:embed="rId3"/>
          <a:stretch>
            <a:fillRect/>
          </a:stretch>
        </p:blipFill>
        <p:spPr>
          <a:xfrm>
            <a:off x="869509" y="1134571"/>
            <a:ext cx="4239217" cy="2905530"/>
          </a:xfrm>
          <a:prstGeom prst="rect">
            <a:avLst/>
          </a:prstGeom>
        </p:spPr>
      </p:pic>
      <p:sp>
        <p:nvSpPr>
          <p:cNvPr id="6" name="文本框 4">
            <a:extLst>
              <a:ext uri="{FF2B5EF4-FFF2-40B4-BE49-F238E27FC236}">
                <a16:creationId xmlns:a16="http://schemas.microsoft.com/office/drawing/2014/main" id="{7BD1A11E-BB4C-E53D-C7FD-7FD94A0E0202}"/>
              </a:ext>
            </a:extLst>
          </p:cNvPr>
          <p:cNvSpPr txBox="1"/>
          <p:nvPr/>
        </p:nvSpPr>
        <p:spPr>
          <a:xfrm>
            <a:off x="2196002" y="4482049"/>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sz="24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石墨烯</a:t>
            </a:r>
            <a:r>
              <a:rPr lang="zh-CN" altLang="en-US" sz="24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能带结构</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8">
            <a:extLst>
              <a:ext uri="{FF2B5EF4-FFF2-40B4-BE49-F238E27FC236}">
                <a16:creationId xmlns:a16="http://schemas.microsoft.com/office/drawing/2014/main" id="{C08F549F-BC5D-E8C4-3EF9-69C276C0037D}"/>
              </a:ext>
            </a:extLst>
          </p:cNvPr>
          <p:cNvSpPr/>
          <p:nvPr/>
        </p:nvSpPr>
        <p:spPr>
          <a:xfrm>
            <a:off x="7743576" y="1508100"/>
            <a:ext cx="1988044" cy="523220"/>
          </a:xfrm>
          <a:prstGeom prst="rect">
            <a:avLst/>
          </a:prstGeom>
          <a:noFill/>
        </p:spPr>
        <p:txBody>
          <a:bodyPr wrap="none" lIns="91440" tIns="45720" rIns="91440" bIns="45720">
            <a:spAutoFit/>
          </a:bodyPr>
          <a:lstStyle/>
          <a:p>
            <a:pPr algn="ctr"/>
            <a:r>
              <a:rPr lang="zh-CN" alt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零带隙结构</a:t>
            </a:r>
          </a:p>
        </p:txBody>
      </p:sp>
      <p:sp>
        <p:nvSpPr>
          <p:cNvPr id="10" name="矩形 9">
            <a:extLst>
              <a:ext uri="{FF2B5EF4-FFF2-40B4-BE49-F238E27FC236}">
                <a16:creationId xmlns:a16="http://schemas.microsoft.com/office/drawing/2014/main" id="{6EB77EF9-11C7-E731-23A6-C22C6896CFE0}"/>
              </a:ext>
            </a:extLst>
          </p:cNvPr>
          <p:cNvSpPr/>
          <p:nvPr/>
        </p:nvSpPr>
        <p:spPr>
          <a:xfrm>
            <a:off x="6120536" y="2587336"/>
            <a:ext cx="5234125" cy="523220"/>
          </a:xfrm>
          <a:prstGeom prst="rect">
            <a:avLst/>
          </a:prstGeom>
          <a:noFill/>
        </p:spPr>
        <p:txBody>
          <a:bodyPr wrap="none" lIns="91440" tIns="45720" rIns="91440" bIns="45720">
            <a:spAutoFit/>
          </a:bodyPr>
          <a:lstStyle/>
          <a:p>
            <a:pPr algn="ctr"/>
            <a:r>
              <a:rPr lang="zh-CN" alt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石墨烯场效应晶体管开关比较低</a:t>
            </a:r>
          </a:p>
        </p:txBody>
      </p:sp>
      <p:sp>
        <p:nvSpPr>
          <p:cNvPr id="11" name="矩形 10">
            <a:extLst>
              <a:ext uri="{FF2B5EF4-FFF2-40B4-BE49-F238E27FC236}">
                <a16:creationId xmlns:a16="http://schemas.microsoft.com/office/drawing/2014/main" id="{E170E7E7-9388-AD88-36A6-7DC84C38A20B}"/>
              </a:ext>
            </a:extLst>
          </p:cNvPr>
          <p:cNvSpPr/>
          <p:nvPr/>
        </p:nvSpPr>
        <p:spPr>
          <a:xfrm>
            <a:off x="6481211" y="3747445"/>
            <a:ext cx="4512774" cy="523220"/>
          </a:xfrm>
          <a:prstGeom prst="rect">
            <a:avLst/>
          </a:prstGeom>
          <a:noFill/>
        </p:spPr>
        <p:txBody>
          <a:bodyPr wrap="none" lIns="91440" tIns="45720" rIns="91440" bIns="45720">
            <a:spAutoFit/>
          </a:bodyPr>
          <a:lstStyle/>
          <a:p>
            <a:pPr algn="ctr"/>
            <a:r>
              <a:rPr lang="zh-CN" alt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产品化需要大量高纯石墨烯</a:t>
            </a:r>
          </a:p>
        </p:txBody>
      </p:sp>
      <p:sp>
        <p:nvSpPr>
          <p:cNvPr id="12" name="矩形 11">
            <a:extLst>
              <a:ext uri="{FF2B5EF4-FFF2-40B4-BE49-F238E27FC236}">
                <a16:creationId xmlns:a16="http://schemas.microsoft.com/office/drawing/2014/main" id="{788043FC-58A1-085D-AC5D-2A315435BF44}"/>
              </a:ext>
            </a:extLst>
          </p:cNvPr>
          <p:cNvSpPr/>
          <p:nvPr/>
        </p:nvSpPr>
        <p:spPr>
          <a:xfrm>
            <a:off x="7923913" y="4997922"/>
            <a:ext cx="1627369" cy="523220"/>
          </a:xfrm>
          <a:prstGeom prst="rect">
            <a:avLst/>
          </a:prstGeom>
          <a:noFill/>
        </p:spPr>
        <p:txBody>
          <a:bodyPr wrap="none" lIns="91440" tIns="45720" rIns="91440" bIns="45720">
            <a:spAutoFit/>
          </a:bodyPr>
          <a:lstStyle/>
          <a:p>
            <a:pPr algn="ctr"/>
            <a:r>
              <a:rPr lang="zh-CN" alt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无法量产</a:t>
            </a:r>
          </a:p>
        </p:txBody>
      </p:sp>
      <p:cxnSp>
        <p:nvCxnSpPr>
          <p:cNvPr id="16" name="直接箭头连接符 15">
            <a:extLst>
              <a:ext uri="{FF2B5EF4-FFF2-40B4-BE49-F238E27FC236}">
                <a16:creationId xmlns:a16="http://schemas.microsoft.com/office/drawing/2014/main" id="{71489AA7-DFA8-F9CE-D802-62A8CAB40F44}"/>
              </a:ext>
            </a:extLst>
          </p:cNvPr>
          <p:cNvCxnSpPr>
            <a:endCxn id="9" idx="1"/>
          </p:cNvCxnSpPr>
          <p:nvPr/>
        </p:nvCxnSpPr>
        <p:spPr bwMode="auto">
          <a:xfrm flipV="1">
            <a:off x="4455042" y="1769710"/>
            <a:ext cx="3288534" cy="909695"/>
          </a:xfrm>
          <a:prstGeom prst="straightConnector1">
            <a:avLst/>
          </a:prstGeom>
          <a:ln w="381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8" name="直接箭头连接符 17">
            <a:extLst>
              <a:ext uri="{FF2B5EF4-FFF2-40B4-BE49-F238E27FC236}">
                <a16:creationId xmlns:a16="http://schemas.microsoft.com/office/drawing/2014/main" id="{A2471A90-F6A0-ABAE-ADF0-36D68DBC10AB}"/>
              </a:ext>
            </a:extLst>
          </p:cNvPr>
          <p:cNvCxnSpPr>
            <a:stCxn id="9" idx="2"/>
            <a:endCxn id="10" idx="0"/>
          </p:cNvCxnSpPr>
          <p:nvPr/>
        </p:nvCxnSpPr>
        <p:spPr bwMode="auto">
          <a:xfrm>
            <a:off x="8737598" y="2031320"/>
            <a:ext cx="1" cy="55601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箭头连接符 18">
            <a:extLst>
              <a:ext uri="{FF2B5EF4-FFF2-40B4-BE49-F238E27FC236}">
                <a16:creationId xmlns:a16="http://schemas.microsoft.com/office/drawing/2014/main" id="{98D09B17-62BC-CE1A-28D8-421F6E3F9824}"/>
              </a:ext>
            </a:extLst>
          </p:cNvPr>
          <p:cNvCxnSpPr/>
          <p:nvPr/>
        </p:nvCxnSpPr>
        <p:spPr bwMode="auto">
          <a:xfrm>
            <a:off x="8737596" y="3224225"/>
            <a:ext cx="1" cy="55601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a:extLst>
              <a:ext uri="{FF2B5EF4-FFF2-40B4-BE49-F238E27FC236}">
                <a16:creationId xmlns:a16="http://schemas.microsoft.com/office/drawing/2014/main" id="{7CEECE0F-CE2C-221E-36F4-F8A7EF860F45}"/>
              </a:ext>
            </a:extLst>
          </p:cNvPr>
          <p:cNvCxnSpPr/>
          <p:nvPr/>
        </p:nvCxnSpPr>
        <p:spPr bwMode="auto">
          <a:xfrm>
            <a:off x="8737596" y="4394541"/>
            <a:ext cx="1" cy="55601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67848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2" name="文本框 4">
            <a:extLst>
              <a:ext uri="{FF2B5EF4-FFF2-40B4-BE49-F238E27FC236}">
                <a16:creationId xmlns:a16="http://schemas.microsoft.com/office/drawing/2014/main" id="{7DA90A64-2C3A-4F22-51A8-D08A455ADB15}"/>
              </a:ext>
            </a:extLst>
          </p:cNvPr>
          <p:cNvSpPr txBox="1"/>
          <p:nvPr/>
        </p:nvSpPr>
        <p:spPr>
          <a:xfrm>
            <a:off x="2008967" y="668482"/>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altLang="en-US"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过渡金属硫化物（</a:t>
            </a:r>
            <a:r>
              <a:rPr lang="en-US" altLang="zh-CN"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en-US"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5" name="图片 4">
            <a:extLst>
              <a:ext uri="{FF2B5EF4-FFF2-40B4-BE49-F238E27FC236}">
                <a16:creationId xmlns:a16="http://schemas.microsoft.com/office/drawing/2014/main" id="{E3D630EF-1757-B0FE-43DE-37CF8B04591C}"/>
              </a:ext>
            </a:extLst>
          </p:cNvPr>
          <p:cNvPicPr>
            <a:picLocks noChangeAspect="1"/>
          </p:cNvPicPr>
          <p:nvPr/>
        </p:nvPicPr>
        <p:blipFill>
          <a:blip r:embed="rId2"/>
          <a:stretch>
            <a:fillRect/>
          </a:stretch>
        </p:blipFill>
        <p:spPr>
          <a:xfrm>
            <a:off x="2802082" y="1330037"/>
            <a:ext cx="6516009" cy="3410426"/>
          </a:xfrm>
          <a:prstGeom prst="rect">
            <a:avLst/>
          </a:prstGeom>
        </p:spPr>
      </p:pic>
      <p:sp>
        <p:nvSpPr>
          <p:cNvPr id="6" name="文本框 4">
            <a:extLst>
              <a:ext uri="{FF2B5EF4-FFF2-40B4-BE49-F238E27FC236}">
                <a16:creationId xmlns:a16="http://schemas.microsoft.com/office/drawing/2014/main" id="{8F28E389-261A-D13A-B371-66B879EA40BC}"/>
              </a:ext>
            </a:extLst>
          </p:cNvPr>
          <p:cNvSpPr txBox="1"/>
          <p:nvPr/>
        </p:nvSpPr>
        <p:spPr>
          <a:xfrm>
            <a:off x="5266971" y="5021018"/>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en-US" altLang="zh-CN" sz="24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en-US" sz="24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结构</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56747346-78C4-56B1-62F1-22A2A0678861}"/>
              </a:ext>
            </a:extLst>
          </p:cNvPr>
          <p:cNvSpPr txBox="1"/>
          <p:nvPr/>
        </p:nvSpPr>
        <p:spPr>
          <a:xfrm>
            <a:off x="3190010" y="5568062"/>
            <a:ext cx="8655627"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latin typeface="黑体" panose="02010609060101010101" pitchFamily="49" charset="-122"/>
                <a:ea typeface="黑体" panose="02010609060101010101" pitchFamily="49" charset="-122"/>
              </a:rPr>
              <a:t>一个</a:t>
            </a:r>
            <a:r>
              <a:rPr lang="en-US" altLang="zh-CN" sz="2800" dirty="0">
                <a:latin typeface="黑体" panose="02010609060101010101" pitchFamily="49" charset="-122"/>
                <a:ea typeface="黑体" panose="02010609060101010101" pitchFamily="49" charset="-122"/>
              </a:rPr>
              <a:t>TMD</a:t>
            </a:r>
            <a:r>
              <a:rPr lang="zh-CN" altLang="en-US" sz="2800" dirty="0">
                <a:latin typeface="黑体" panose="02010609060101010101" pitchFamily="49" charset="-122"/>
                <a:ea typeface="黑体" panose="02010609060101010101" pitchFamily="49" charset="-122"/>
              </a:rPr>
              <a:t>单层是由三层原子构成的</a:t>
            </a:r>
          </a:p>
        </p:txBody>
      </p:sp>
      <p:cxnSp>
        <p:nvCxnSpPr>
          <p:cNvPr id="9" name="直接箭头连接符 8">
            <a:extLst>
              <a:ext uri="{FF2B5EF4-FFF2-40B4-BE49-F238E27FC236}">
                <a16:creationId xmlns:a16="http://schemas.microsoft.com/office/drawing/2014/main" id="{9516E2A1-6F01-61B4-3934-1772A1B799DB}"/>
              </a:ext>
            </a:extLst>
          </p:cNvPr>
          <p:cNvCxnSpPr>
            <a:cxnSpLocks/>
          </p:cNvCxnSpPr>
          <p:nvPr/>
        </p:nvCxnSpPr>
        <p:spPr bwMode="auto">
          <a:xfrm flipH="1">
            <a:off x="2670464" y="2926773"/>
            <a:ext cx="1527463" cy="0"/>
          </a:xfrm>
          <a:prstGeom prst="straightConnector1">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0" name="直接箭头连接符 9">
            <a:extLst>
              <a:ext uri="{FF2B5EF4-FFF2-40B4-BE49-F238E27FC236}">
                <a16:creationId xmlns:a16="http://schemas.microsoft.com/office/drawing/2014/main" id="{0A2C5D3D-DD4C-7A69-2EFE-10BEE6E80CF5}"/>
              </a:ext>
            </a:extLst>
          </p:cNvPr>
          <p:cNvCxnSpPr>
            <a:cxnSpLocks/>
            <a:endCxn id="18" idx="1"/>
          </p:cNvCxnSpPr>
          <p:nvPr/>
        </p:nvCxnSpPr>
        <p:spPr bwMode="auto">
          <a:xfrm flipV="1">
            <a:off x="6528954" y="2953377"/>
            <a:ext cx="3166674" cy="1307341"/>
          </a:xfrm>
          <a:prstGeom prst="straightConnector1">
            <a:avLst/>
          </a:prstGeom>
          <a:ln w="285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1" name="直接箭头连接符 10">
            <a:extLst>
              <a:ext uri="{FF2B5EF4-FFF2-40B4-BE49-F238E27FC236}">
                <a16:creationId xmlns:a16="http://schemas.microsoft.com/office/drawing/2014/main" id="{A45F4B6E-2B93-559A-B3B9-819C7A4480F0}"/>
              </a:ext>
            </a:extLst>
          </p:cNvPr>
          <p:cNvCxnSpPr>
            <a:cxnSpLocks/>
            <a:endCxn id="18" idx="1"/>
          </p:cNvCxnSpPr>
          <p:nvPr/>
        </p:nvCxnSpPr>
        <p:spPr bwMode="auto">
          <a:xfrm>
            <a:off x="6528954" y="1793610"/>
            <a:ext cx="3166674" cy="1159767"/>
          </a:xfrm>
          <a:prstGeom prst="straightConnector1">
            <a:avLst/>
          </a:prstGeom>
          <a:ln w="285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6" name="文本框 15">
            <a:extLst>
              <a:ext uri="{FF2B5EF4-FFF2-40B4-BE49-F238E27FC236}">
                <a16:creationId xmlns:a16="http://schemas.microsoft.com/office/drawing/2014/main" id="{06217D13-3C44-66C2-128D-A560F9841B07}"/>
              </a:ext>
            </a:extLst>
          </p:cNvPr>
          <p:cNvSpPr txBox="1"/>
          <p:nvPr/>
        </p:nvSpPr>
        <p:spPr>
          <a:xfrm>
            <a:off x="239901" y="2260879"/>
            <a:ext cx="2392463" cy="1384995"/>
          </a:xfrm>
          <a:prstGeom prst="rect">
            <a:avLst/>
          </a:prstGeom>
          <a:noFill/>
        </p:spPr>
        <p:txBody>
          <a:bodyPr wrap="square" rtlCol="0">
            <a:spAutoFit/>
          </a:bodyPr>
          <a:lstStyle/>
          <a:p>
            <a:pPr algn="ctr"/>
            <a:r>
              <a:rPr lang="zh-CN" altLang="en-US" sz="2800" dirty="0">
                <a:solidFill>
                  <a:srgbClr val="0000CC"/>
                </a:solidFill>
                <a:latin typeface="黑体" panose="02010609060101010101" pitchFamily="49" charset="-122"/>
                <a:ea typeface="黑体" panose="02010609060101010101" pitchFamily="49" charset="-122"/>
              </a:rPr>
              <a:t>一层过渡金属原子，如钨</a:t>
            </a:r>
            <a:r>
              <a:rPr lang="en-US" altLang="zh-CN" sz="2800" dirty="0">
                <a:solidFill>
                  <a:srgbClr val="0000CC"/>
                </a:solidFill>
                <a:latin typeface="黑体" panose="02010609060101010101" pitchFamily="49" charset="-122"/>
                <a:ea typeface="黑体" panose="02010609060101010101" pitchFamily="49" charset="-122"/>
              </a:rPr>
              <a:t>(W)</a:t>
            </a:r>
            <a:r>
              <a:rPr lang="zh-CN" altLang="en-US" sz="2800" dirty="0">
                <a:solidFill>
                  <a:srgbClr val="0000CC"/>
                </a:solidFill>
                <a:latin typeface="黑体" panose="02010609060101010101" pitchFamily="49" charset="-122"/>
                <a:ea typeface="黑体" panose="02010609060101010101" pitchFamily="49" charset="-122"/>
              </a:rPr>
              <a:t>、钼</a:t>
            </a:r>
            <a:r>
              <a:rPr lang="en-US" altLang="zh-CN" sz="2800" dirty="0">
                <a:solidFill>
                  <a:srgbClr val="0000CC"/>
                </a:solidFill>
                <a:latin typeface="黑体" panose="02010609060101010101" pitchFamily="49" charset="-122"/>
                <a:ea typeface="黑体" panose="02010609060101010101" pitchFamily="49" charset="-122"/>
              </a:rPr>
              <a:t>(Mo)</a:t>
            </a:r>
            <a:endParaRPr lang="zh-CN" altLang="en-US" sz="2800" dirty="0">
              <a:solidFill>
                <a:srgbClr val="0000CC"/>
              </a:solidFill>
              <a:latin typeface="黑体" panose="02010609060101010101" pitchFamily="49" charset="-122"/>
              <a:ea typeface="黑体" panose="02010609060101010101" pitchFamily="49" charset="-122"/>
            </a:endParaRPr>
          </a:p>
        </p:txBody>
      </p:sp>
      <p:sp>
        <p:nvSpPr>
          <p:cNvPr id="18" name="文本框 17">
            <a:extLst>
              <a:ext uri="{FF2B5EF4-FFF2-40B4-BE49-F238E27FC236}">
                <a16:creationId xmlns:a16="http://schemas.microsoft.com/office/drawing/2014/main" id="{209A41F7-7EC6-EF1D-84AC-BCCFA5557D06}"/>
              </a:ext>
            </a:extLst>
          </p:cNvPr>
          <p:cNvSpPr txBox="1"/>
          <p:nvPr/>
        </p:nvSpPr>
        <p:spPr>
          <a:xfrm>
            <a:off x="9695628" y="2260879"/>
            <a:ext cx="2392463" cy="1384995"/>
          </a:xfrm>
          <a:prstGeom prst="rect">
            <a:avLst/>
          </a:prstGeom>
          <a:noFill/>
        </p:spPr>
        <p:txBody>
          <a:bodyPr wrap="square" rtlCol="0">
            <a:spAutoFit/>
          </a:bodyPr>
          <a:lstStyle/>
          <a:p>
            <a:pPr algn="ctr"/>
            <a:r>
              <a:rPr lang="zh-CN" altLang="en-US" sz="2800" dirty="0">
                <a:solidFill>
                  <a:srgbClr val="FF0000"/>
                </a:solidFill>
                <a:latin typeface="黑体" panose="02010609060101010101" pitchFamily="49" charset="-122"/>
                <a:ea typeface="黑体" panose="02010609060101010101" pitchFamily="49" charset="-122"/>
              </a:rPr>
              <a:t>两层硫族元素，如硫</a:t>
            </a:r>
            <a:r>
              <a:rPr lang="en-US" altLang="zh-CN" sz="2800" dirty="0">
                <a:solidFill>
                  <a:srgbClr val="FF0000"/>
                </a:solidFill>
                <a:latin typeface="黑体" panose="02010609060101010101" pitchFamily="49" charset="-122"/>
                <a:ea typeface="黑体" panose="02010609060101010101" pitchFamily="49" charset="-122"/>
              </a:rPr>
              <a:t>(S)</a:t>
            </a:r>
            <a:r>
              <a:rPr lang="zh-CN" altLang="en-US" sz="2800" dirty="0">
                <a:solidFill>
                  <a:srgbClr val="FF0000"/>
                </a:solidFill>
                <a:latin typeface="黑体" panose="02010609060101010101" pitchFamily="49" charset="-122"/>
                <a:ea typeface="黑体" panose="02010609060101010101" pitchFamily="49" charset="-122"/>
              </a:rPr>
              <a:t>、硒</a:t>
            </a:r>
            <a:r>
              <a:rPr lang="en-US" altLang="zh-CN" sz="2800" dirty="0">
                <a:solidFill>
                  <a:srgbClr val="FF0000"/>
                </a:solidFill>
                <a:latin typeface="黑体" panose="02010609060101010101" pitchFamily="49" charset="-122"/>
                <a:ea typeface="黑体" panose="02010609060101010101" pitchFamily="49" charset="-122"/>
              </a:rPr>
              <a:t>(Se)</a:t>
            </a:r>
            <a:endParaRPr lang="zh-CN" altLang="en-US" sz="28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76950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8</a:t>
            </a:fld>
            <a:endParaRPr lang="en-US" altLang="zh-CN"/>
          </a:p>
        </p:txBody>
      </p:sp>
      <p:pic>
        <p:nvPicPr>
          <p:cNvPr id="3" name="图片 2">
            <a:extLst>
              <a:ext uri="{FF2B5EF4-FFF2-40B4-BE49-F238E27FC236}">
                <a16:creationId xmlns:a16="http://schemas.microsoft.com/office/drawing/2014/main" id="{A073EA96-A225-0F39-3D22-6B53D5A663A9}"/>
              </a:ext>
            </a:extLst>
          </p:cNvPr>
          <p:cNvPicPr>
            <a:picLocks noChangeAspect="1"/>
          </p:cNvPicPr>
          <p:nvPr/>
        </p:nvPicPr>
        <p:blipFill>
          <a:blip r:embed="rId2"/>
          <a:stretch>
            <a:fillRect/>
          </a:stretch>
        </p:blipFill>
        <p:spPr>
          <a:xfrm>
            <a:off x="840115" y="1236294"/>
            <a:ext cx="3591426" cy="3200847"/>
          </a:xfrm>
          <a:prstGeom prst="rect">
            <a:avLst/>
          </a:prstGeom>
        </p:spPr>
      </p:pic>
      <p:sp>
        <p:nvSpPr>
          <p:cNvPr id="5" name="文本框 4">
            <a:extLst>
              <a:ext uri="{FF2B5EF4-FFF2-40B4-BE49-F238E27FC236}">
                <a16:creationId xmlns:a16="http://schemas.microsoft.com/office/drawing/2014/main" id="{E2B6298E-0422-A6F2-545E-66C1BC2202DA}"/>
              </a:ext>
            </a:extLst>
          </p:cNvPr>
          <p:cNvSpPr txBox="1"/>
          <p:nvPr/>
        </p:nvSpPr>
        <p:spPr>
          <a:xfrm>
            <a:off x="2212044" y="4730072"/>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altLang="en-US" sz="24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多层</a:t>
            </a:r>
            <a:r>
              <a:rPr lang="en-US" altLang="zh-CN" sz="24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en-US" sz="24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能带结构</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4">
            <a:extLst>
              <a:ext uri="{FF2B5EF4-FFF2-40B4-BE49-F238E27FC236}">
                <a16:creationId xmlns:a16="http://schemas.microsoft.com/office/drawing/2014/main" id="{E318B9EB-427B-DF3D-1F03-B7C36F1ECCED}"/>
              </a:ext>
            </a:extLst>
          </p:cNvPr>
          <p:cNvSpPr txBox="1"/>
          <p:nvPr/>
        </p:nvSpPr>
        <p:spPr>
          <a:xfrm>
            <a:off x="2008967" y="668482"/>
            <a:ext cx="1586230" cy="38100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altLang="en-US"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过渡金属硫化物（</a:t>
            </a:r>
            <a:r>
              <a:rPr lang="en-US" altLang="zh-CN"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en-US" sz="3200" kern="100" dirty="0">
                <a:ln>
                  <a:noFill/>
                </a:ln>
                <a:solidFill>
                  <a:srgbClr val="0000CC"/>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 name="文本框 6">
            <a:extLst>
              <a:ext uri="{FF2B5EF4-FFF2-40B4-BE49-F238E27FC236}">
                <a16:creationId xmlns:a16="http://schemas.microsoft.com/office/drawing/2014/main" id="{553D3E55-3A53-CA02-5F90-217381D22AA8}"/>
              </a:ext>
            </a:extLst>
          </p:cNvPr>
          <p:cNvSpPr txBox="1"/>
          <p:nvPr/>
        </p:nvSpPr>
        <p:spPr>
          <a:xfrm>
            <a:off x="703118" y="5294920"/>
            <a:ext cx="4197927" cy="830997"/>
          </a:xfrm>
          <a:prstGeom prst="rect">
            <a:avLst/>
          </a:prstGeom>
          <a:noFill/>
        </p:spPr>
        <p:txBody>
          <a:bodyPr wrap="square" rtlCol="0">
            <a:spAutoFit/>
          </a:bodyPr>
          <a:lstStyle/>
          <a:p>
            <a:pPr algn="ctr"/>
            <a:r>
              <a:rPr lang="zh-CN" altLang="en-US" sz="2400" dirty="0">
                <a:solidFill>
                  <a:srgbClr val="FF0000"/>
                </a:solidFill>
                <a:latin typeface="黑体" panose="02010609060101010101" pitchFamily="49" charset="-122"/>
                <a:ea typeface="黑体" panose="02010609060101010101" pitchFamily="49" charset="-122"/>
              </a:rPr>
              <a:t>层数减少时，带隙会增大，且会由间接带隙转为直接带隙</a:t>
            </a:r>
          </a:p>
        </p:txBody>
      </p:sp>
      <p:cxnSp>
        <p:nvCxnSpPr>
          <p:cNvPr id="9" name="直接箭头连接符 8">
            <a:extLst>
              <a:ext uri="{FF2B5EF4-FFF2-40B4-BE49-F238E27FC236}">
                <a16:creationId xmlns:a16="http://schemas.microsoft.com/office/drawing/2014/main" id="{694E38BC-FA97-5168-0BB5-952D7A984085}"/>
              </a:ext>
            </a:extLst>
          </p:cNvPr>
          <p:cNvCxnSpPr/>
          <p:nvPr/>
        </p:nvCxnSpPr>
        <p:spPr bwMode="auto">
          <a:xfrm flipV="1">
            <a:off x="5273386" y="5710417"/>
            <a:ext cx="1645228" cy="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a:extLst>
              <a:ext uri="{FF2B5EF4-FFF2-40B4-BE49-F238E27FC236}">
                <a16:creationId xmlns:a16="http://schemas.microsoft.com/office/drawing/2014/main" id="{B7B49498-ACF9-A7D7-29A5-5A10DD495F5B}"/>
              </a:ext>
            </a:extLst>
          </p:cNvPr>
          <p:cNvSpPr txBox="1"/>
          <p:nvPr/>
        </p:nvSpPr>
        <p:spPr>
          <a:xfrm>
            <a:off x="6546273" y="5479585"/>
            <a:ext cx="4197927" cy="461665"/>
          </a:xfrm>
          <a:prstGeom prst="rect">
            <a:avLst/>
          </a:prstGeom>
          <a:noFill/>
        </p:spPr>
        <p:txBody>
          <a:bodyPr wrap="square" rtlCol="0">
            <a:spAutoFit/>
          </a:bodyPr>
          <a:lstStyle/>
          <a:p>
            <a:pPr algn="ctr"/>
            <a:r>
              <a:rPr lang="zh-CN" altLang="en-US" sz="2400" dirty="0">
                <a:solidFill>
                  <a:srgbClr val="FF0000"/>
                </a:solidFill>
                <a:latin typeface="黑体" panose="02010609060101010101" pitchFamily="49" charset="-122"/>
                <a:ea typeface="黑体" panose="02010609060101010101" pitchFamily="49" charset="-122"/>
              </a:rPr>
              <a:t>有很好的光电响应度</a:t>
            </a:r>
          </a:p>
        </p:txBody>
      </p:sp>
      <p:sp>
        <p:nvSpPr>
          <p:cNvPr id="11" name="矩形 10">
            <a:extLst>
              <a:ext uri="{FF2B5EF4-FFF2-40B4-BE49-F238E27FC236}">
                <a16:creationId xmlns:a16="http://schemas.microsoft.com/office/drawing/2014/main" id="{D9A1811D-5741-C176-589D-68A97A2BE0A2}"/>
              </a:ext>
            </a:extLst>
          </p:cNvPr>
          <p:cNvSpPr/>
          <p:nvPr/>
        </p:nvSpPr>
        <p:spPr>
          <a:xfrm>
            <a:off x="6096000" y="2437399"/>
            <a:ext cx="4817344"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CN" altLang="en-US" sz="3600" b="1" cap="none" spc="0" dirty="0">
                <a:ln/>
                <a:solidFill>
                  <a:schemeClr val="accent4"/>
                </a:solidFill>
                <a:effectLst/>
              </a:rPr>
              <a:t>可用作半导体器件制备</a:t>
            </a:r>
          </a:p>
        </p:txBody>
      </p:sp>
      <p:cxnSp>
        <p:nvCxnSpPr>
          <p:cNvPr id="13" name="直接箭头连接符 12">
            <a:extLst>
              <a:ext uri="{FF2B5EF4-FFF2-40B4-BE49-F238E27FC236}">
                <a16:creationId xmlns:a16="http://schemas.microsoft.com/office/drawing/2014/main" id="{8E3C2F05-3796-DCE4-10AB-5B95A7795096}"/>
              </a:ext>
            </a:extLst>
          </p:cNvPr>
          <p:cNvCxnSpPr/>
          <p:nvPr/>
        </p:nvCxnSpPr>
        <p:spPr bwMode="auto">
          <a:xfrm>
            <a:off x="3927764" y="2161309"/>
            <a:ext cx="0" cy="1381991"/>
          </a:xfrm>
          <a:prstGeom prst="straightConnector1">
            <a:avLst/>
          </a:prstGeom>
          <a:ln w="28575">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5" name="直接箭头连接符 14">
            <a:extLst>
              <a:ext uri="{FF2B5EF4-FFF2-40B4-BE49-F238E27FC236}">
                <a16:creationId xmlns:a16="http://schemas.microsoft.com/office/drawing/2014/main" id="{F90E5738-284A-5F3F-6939-2BC5E5620100}"/>
              </a:ext>
            </a:extLst>
          </p:cNvPr>
          <p:cNvCxnSpPr>
            <a:endCxn id="11" idx="1"/>
          </p:cNvCxnSpPr>
          <p:nvPr/>
        </p:nvCxnSpPr>
        <p:spPr bwMode="auto">
          <a:xfrm flipV="1">
            <a:off x="3927764" y="2760565"/>
            <a:ext cx="2168236" cy="76152"/>
          </a:xfrm>
          <a:prstGeom prst="straightConnector1">
            <a:avLst/>
          </a:prstGeom>
          <a:ln w="28575">
            <a:headEnd type="none" w="med" len="med"/>
            <a:tailEnd type="triangle"/>
          </a:ln>
        </p:spPr>
        <p:style>
          <a:lnRef idx="1">
            <a:schemeClr val="accent6"/>
          </a:lnRef>
          <a:fillRef idx="0">
            <a:schemeClr val="accent6"/>
          </a:fillRef>
          <a:effectRef idx="0">
            <a:schemeClr val="accent6"/>
          </a:effectRef>
          <a:fontRef idx="minor">
            <a:schemeClr val="tx1"/>
          </a:fontRef>
        </p:style>
      </p:cxnSp>
      <p:pic>
        <p:nvPicPr>
          <p:cNvPr id="8" name="图片 7">
            <a:hlinkClick r:id="rId3"/>
            <a:extLst>
              <a:ext uri="{FF2B5EF4-FFF2-40B4-BE49-F238E27FC236}">
                <a16:creationId xmlns:a16="http://schemas.microsoft.com/office/drawing/2014/main" id="{076DF885-F237-BC7A-2FFB-7C356714B5FD}"/>
              </a:ext>
            </a:extLst>
          </p:cNvPr>
          <p:cNvPicPr>
            <a:picLocks noChangeAspect="1"/>
          </p:cNvPicPr>
          <p:nvPr/>
        </p:nvPicPr>
        <p:blipFill>
          <a:blip r:embed="rId4"/>
          <a:stretch>
            <a:fillRect/>
          </a:stretch>
        </p:blipFill>
        <p:spPr>
          <a:xfrm>
            <a:off x="6742206" y="3191159"/>
            <a:ext cx="3806060" cy="1873847"/>
          </a:xfrm>
          <a:prstGeom prst="rect">
            <a:avLst/>
          </a:prstGeom>
        </p:spPr>
      </p:pic>
      <p:cxnSp>
        <p:nvCxnSpPr>
          <p:cNvPr id="12" name="直接箭头连接符 11">
            <a:extLst>
              <a:ext uri="{FF2B5EF4-FFF2-40B4-BE49-F238E27FC236}">
                <a16:creationId xmlns:a16="http://schemas.microsoft.com/office/drawing/2014/main" id="{BB41C441-0B8C-D6A4-AF2C-9C62872BF2C9}"/>
              </a:ext>
            </a:extLst>
          </p:cNvPr>
          <p:cNvCxnSpPr>
            <a:stCxn id="10" idx="0"/>
            <a:endCxn id="8" idx="2"/>
          </p:cNvCxnSpPr>
          <p:nvPr/>
        </p:nvCxnSpPr>
        <p:spPr bwMode="auto">
          <a:xfrm flipH="1" flipV="1">
            <a:off x="8645236" y="5065006"/>
            <a:ext cx="1" cy="414579"/>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文本框 16">
            <a:extLst>
              <a:ext uri="{FF2B5EF4-FFF2-40B4-BE49-F238E27FC236}">
                <a16:creationId xmlns:a16="http://schemas.microsoft.com/office/drawing/2014/main" id="{283E0E35-F75F-911A-6930-CA4AE2D2E0D0}"/>
              </a:ext>
            </a:extLst>
          </p:cNvPr>
          <p:cNvSpPr txBox="1"/>
          <p:nvPr/>
        </p:nvSpPr>
        <p:spPr>
          <a:xfrm>
            <a:off x="4573969" y="3712583"/>
            <a:ext cx="2168237" cy="830997"/>
          </a:xfrm>
          <a:prstGeom prst="rect">
            <a:avLst/>
          </a:prstGeom>
          <a:noFill/>
        </p:spPr>
        <p:txBody>
          <a:bodyPr wrap="square" rtlCol="0">
            <a:spAutoFit/>
          </a:bodyPr>
          <a:lstStyle/>
          <a:p>
            <a:pPr algn="ctr"/>
            <a:r>
              <a:rPr lang="zh-CN" altLang="en-US" sz="2400" dirty="0">
                <a:solidFill>
                  <a:srgbClr val="FF0000"/>
                </a:solidFill>
                <a:latin typeface="黑体" panose="02010609060101010101" pitchFamily="49" charset="-122"/>
                <a:ea typeface="黑体" panose="02010609060101010101" pitchFamily="49" charset="-122"/>
              </a:rPr>
              <a:t>电注入或光激发时强烈发光</a:t>
            </a:r>
          </a:p>
        </p:txBody>
      </p:sp>
    </p:spTree>
    <p:extLst>
      <p:ext uri="{BB962C8B-B14F-4D97-AF65-F5344CB8AC3E}">
        <p14:creationId xmlns:p14="http://schemas.microsoft.com/office/powerpoint/2010/main" val="3686376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9</a:t>
            </a:fld>
            <a:endParaRPr lang="en-US" altLang="zh-CN"/>
          </a:p>
        </p:txBody>
      </p:sp>
      <p:pic>
        <p:nvPicPr>
          <p:cNvPr id="3" name="图片 2">
            <a:hlinkClick r:id="rId2"/>
            <a:extLst>
              <a:ext uri="{FF2B5EF4-FFF2-40B4-BE49-F238E27FC236}">
                <a16:creationId xmlns:a16="http://schemas.microsoft.com/office/drawing/2014/main" id="{DF3F0649-6977-0BC1-8BFA-89167D2E248B}"/>
              </a:ext>
            </a:extLst>
          </p:cNvPr>
          <p:cNvPicPr>
            <a:picLocks noChangeAspect="1"/>
          </p:cNvPicPr>
          <p:nvPr/>
        </p:nvPicPr>
        <p:blipFill>
          <a:blip r:embed="rId3"/>
          <a:stretch>
            <a:fillRect/>
          </a:stretch>
        </p:blipFill>
        <p:spPr>
          <a:xfrm>
            <a:off x="2025440" y="304428"/>
            <a:ext cx="8141120" cy="5943972"/>
          </a:xfrm>
          <a:prstGeom prst="rect">
            <a:avLst/>
          </a:prstGeom>
        </p:spPr>
      </p:pic>
    </p:spTree>
    <p:extLst>
      <p:ext uri="{BB962C8B-B14F-4D97-AF65-F5344CB8AC3E}">
        <p14:creationId xmlns:p14="http://schemas.microsoft.com/office/powerpoint/2010/main" val="246757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10</a:t>
            </a:fld>
            <a:endParaRPr lang="en-US" altLang="zh-CN"/>
          </a:p>
        </p:txBody>
      </p:sp>
      <p:pic>
        <p:nvPicPr>
          <p:cNvPr id="3" name="图片 2">
            <a:hlinkClick r:id="rId2"/>
            <a:extLst>
              <a:ext uri="{FF2B5EF4-FFF2-40B4-BE49-F238E27FC236}">
                <a16:creationId xmlns:a16="http://schemas.microsoft.com/office/drawing/2014/main" id="{2B5B0635-296B-AB2A-50C9-EE66C537D80F}"/>
              </a:ext>
            </a:extLst>
          </p:cNvPr>
          <p:cNvPicPr>
            <a:picLocks noChangeAspect="1"/>
          </p:cNvPicPr>
          <p:nvPr/>
        </p:nvPicPr>
        <p:blipFill>
          <a:blip r:embed="rId3"/>
          <a:stretch>
            <a:fillRect/>
          </a:stretch>
        </p:blipFill>
        <p:spPr>
          <a:xfrm>
            <a:off x="2025567" y="420200"/>
            <a:ext cx="8140866" cy="6017599"/>
          </a:xfrm>
          <a:prstGeom prst="rect">
            <a:avLst/>
          </a:prstGeom>
        </p:spPr>
      </p:pic>
    </p:spTree>
    <p:extLst>
      <p:ext uri="{BB962C8B-B14F-4D97-AF65-F5344CB8AC3E}">
        <p14:creationId xmlns:p14="http://schemas.microsoft.com/office/powerpoint/2010/main" val="2305417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11</a:t>
            </a:fld>
            <a:endParaRPr lang="en-US" altLang="zh-CN"/>
          </a:p>
        </p:txBody>
      </p:sp>
      <p:pic>
        <p:nvPicPr>
          <p:cNvPr id="5" name="图片 4">
            <a:hlinkClick r:id="rId3"/>
            <a:extLst>
              <a:ext uri="{FF2B5EF4-FFF2-40B4-BE49-F238E27FC236}">
                <a16:creationId xmlns:a16="http://schemas.microsoft.com/office/drawing/2014/main" id="{9303C169-3B55-EAD4-AF43-E5B5D3129C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4950" y="1756064"/>
            <a:ext cx="9922099" cy="4031674"/>
          </a:xfrm>
          <a:prstGeom prst="rect">
            <a:avLst/>
          </a:prstGeom>
        </p:spPr>
      </p:pic>
      <p:sp>
        <p:nvSpPr>
          <p:cNvPr id="7" name="矩形 6">
            <a:extLst>
              <a:ext uri="{FF2B5EF4-FFF2-40B4-BE49-F238E27FC236}">
                <a16:creationId xmlns:a16="http://schemas.microsoft.com/office/drawing/2014/main" id="{A9054A8F-5956-ACE5-B433-3A1265A36A33}"/>
              </a:ext>
            </a:extLst>
          </p:cNvPr>
          <p:cNvSpPr/>
          <p:nvPr/>
        </p:nvSpPr>
        <p:spPr>
          <a:xfrm>
            <a:off x="4798207" y="879857"/>
            <a:ext cx="2595583" cy="646331"/>
          </a:xfrm>
          <a:prstGeom prst="rect">
            <a:avLst/>
          </a:prstGeom>
          <a:noFill/>
        </p:spPr>
        <p:txBody>
          <a:bodyPr wrap="none" lIns="91440" tIns="45720" rIns="91440" bIns="45720">
            <a:spAutoFit/>
          </a:bodyPr>
          <a:lstStyle/>
          <a:p>
            <a:pPr algn="ctr"/>
            <a:r>
              <a:rPr lang="zh-CN" altLang="en-US" sz="3600" b="0" cap="none" spc="0" dirty="0">
                <a:ln w="0"/>
                <a:solidFill>
                  <a:schemeClr val="tx1"/>
                </a:solidFill>
                <a:effectLst>
                  <a:outerShdw blurRad="38100" dist="19050" dir="2700000" algn="tl" rotWithShape="0">
                    <a:schemeClr val="dk1">
                      <a:alpha val="40000"/>
                    </a:schemeClr>
                  </a:outerShdw>
                </a:effectLst>
              </a:rPr>
              <a:t>其他</a:t>
            </a:r>
            <a:r>
              <a:rPr lang="en-US" altLang="zh-CN" sz="3600" b="0" cap="none" spc="0" dirty="0">
                <a:ln w="0"/>
                <a:solidFill>
                  <a:schemeClr val="tx1"/>
                </a:solidFill>
                <a:effectLst>
                  <a:outerShdw blurRad="38100" dist="19050" dir="2700000" algn="tl" rotWithShape="0">
                    <a:schemeClr val="dk1">
                      <a:alpha val="40000"/>
                    </a:schemeClr>
                  </a:outerShdw>
                </a:effectLst>
              </a:rPr>
              <a:t>2D</a:t>
            </a:r>
            <a:r>
              <a:rPr lang="zh-CN" altLang="en-US" sz="3600" b="0" cap="none" spc="0" dirty="0">
                <a:ln w="0"/>
                <a:solidFill>
                  <a:schemeClr val="tx1"/>
                </a:solidFill>
                <a:effectLst>
                  <a:outerShdw blurRad="38100" dist="19050" dir="2700000" algn="tl" rotWithShape="0">
                    <a:schemeClr val="dk1">
                      <a:alpha val="40000"/>
                    </a:schemeClr>
                  </a:outerShdw>
                </a:effectLst>
              </a:rPr>
              <a:t>材料</a:t>
            </a:r>
          </a:p>
        </p:txBody>
      </p:sp>
    </p:spTree>
    <p:extLst>
      <p:ext uri="{BB962C8B-B14F-4D97-AF65-F5344CB8AC3E}">
        <p14:creationId xmlns:p14="http://schemas.microsoft.com/office/powerpoint/2010/main" val="3415835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12</a:t>
            </a:fld>
            <a:endParaRPr lang="en-US" altLang="zh-CN"/>
          </a:p>
        </p:txBody>
      </p:sp>
      <p:sp>
        <p:nvSpPr>
          <p:cNvPr id="2" name="文本框 1">
            <a:extLst>
              <a:ext uri="{FF2B5EF4-FFF2-40B4-BE49-F238E27FC236}">
                <a16:creationId xmlns:a16="http://schemas.microsoft.com/office/drawing/2014/main" id="{394C2235-D74E-AB0C-208F-78A11A6313BD}"/>
              </a:ext>
            </a:extLst>
          </p:cNvPr>
          <p:cNvSpPr txBox="1"/>
          <p:nvPr/>
        </p:nvSpPr>
        <p:spPr>
          <a:xfrm>
            <a:off x="613064" y="654627"/>
            <a:ext cx="10141527" cy="5139869"/>
          </a:xfrm>
          <a:prstGeom prst="rect">
            <a:avLst/>
          </a:prstGeom>
          <a:noFill/>
        </p:spPr>
        <p:txBody>
          <a:bodyPr wrap="square" rtlCol="0">
            <a:spAutoFit/>
          </a:bodyPr>
          <a:lstStyle/>
          <a:p>
            <a:r>
              <a:rPr lang="zh-CN" altLang="en-US" sz="4000" dirty="0">
                <a:solidFill>
                  <a:srgbClr val="0000CC"/>
                </a:solidFill>
                <a:latin typeface="黑体" panose="02010609060101010101" pitchFamily="49" charset="-122"/>
                <a:ea typeface="黑体" panose="02010609060101010101" pitchFamily="49" charset="-122"/>
              </a:rPr>
              <a:t>内存计算：</a:t>
            </a:r>
            <a:endParaRPr lang="en-US" altLang="zh-CN" sz="4000" dirty="0">
              <a:solidFill>
                <a:srgbClr val="0000CC"/>
              </a:solidFill>
              <a:latin typeface="黑体" panose="02010609060101010101" pitchFamily="49" charset="-122"/>
              <a:ea typeface="黑体" panose="02010609060101010101" pitchFamily="49" charset="-122"/>
            </a:endParaRPr>
          </a:p>
          <a:p>
            <a:endParaRPr lang="en-US" altLang="zh-CN" sz="2400" dirty="0"/>
          </a:p>
          <a:p>
            <a:r>
              <a:rPr lang="zh-CN" altLang="en-US" sz="2400" dirty="0"/>
              <a:t>没有统一的定义</a:t>
            </a:r>
            <a:r>
              <a:rPr lang="en-US" altLang="zh-CN" sz="2400" dirty="0"/>
              <a:t>——</a:t>
            </a:r>
          </a:p>
          <a:p>
            <a:endParaRPr lang="en-US" altLang="zh-CN" sz="2400" dirty="0"/>
          </a:p>
          <a:p>
            <a:pPr marL="285750" indent="-285750">
              <a:buFont typeface="Arial" panose="020B0604020202020204" pitchFamily="34" charset="0"/>
              <a:buChar char="•"/>
            </a:pPr>
            <a:r>
              <a:rPr lang="en-US" altLang="zh-CN" sz="2400" dirty="0">
                <a:effectLst/>
                <a:latin typeface="Times New Roman" panose="02020603050405020304" pitchFamily="18" charset="0"/>
                <a:ea typeface="宋体" panose="02010600030101010101" pitchFamily="2" charset="-122"/>
              </a:rPr>
              <a:t>IBM</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将其定义为将</a:t>
            </a:r>
            <a:r>
              <a:rPr lang="zh-CN"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数据存储于服务器内存</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中，以加速数据处理，针对的主要是数据访问密集型应用</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2400" dirty="0">
                <a:effectLst/>
                <a:latin typeface="Times New Roman" panose="02020603050405020304" pitchFamily="18" charset="0"/>
                <a:ea typeface="宋体" panose="02010600030101010101" pitchFamily="2" charset="-122"/>
              </a:rPr>
              <a:t>Gartner</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定义为一种应用平台的中间硬件，用来实现内存</a:t>
            </a:r>
            <a:r>
              <a:rPr lang="en-US" altLang="zh-CN" sz="2400" dirty="0">
                <a:effectLst/>
                <a:latin typeface="Times New Roman" panose="02020603050405020304" pitchFamily="18" charset="0"/>
                <a:ea typeface="宋体" panose="02010600030101010101" pitchFamily="2" charset="-122"/>
              </a:rPr>
              <a:t>NoSQL</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数据存储以供多个应用共享</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2400" dirty="0" err="1">
                <a:effectLst/>
                <a:latin typeface="Times New Roman" panose="02020603050405020304" pitchFamily="18" charset="0"/>
                <a:ea typeface="宋体" panose="02010600030101010101" pitchFamily="2" charset="-122"/>
              </a:rPr>
              <a:t>GridGrain</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给出的解释是，通过使用中间环节将</a:t>
            </a:r>
            <a:r>
              <a:rPr lang="zh-CN"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数据存储于分布式的集群</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中，进行并行操作</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以</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数据</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为中心，以</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硬件</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为辅助，摆脱</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旧有</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计算机体系结构</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，使数据在</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内存中计算</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减少或避免</a:t>
            </a:r>
            <a:r>
              <a:rPr lang="en-US" altLang="zh-CN"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I/O</a:t>
            </a:r>
            <a:r>
              <a:rPr lang="zh-CN" altLang="en-US" sz="24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的一种并行计算处理模式</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39183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13</a:t>
            </a:fld>
            <a:endParaRPr lang="en-US" altLang="zh-CN"/>
          </a:p>
        </p:txBody>
      </p:sp>
      <p:sp>
        <p:nvSpPr>
          <p:cNvPr id="2" name="矩形 1">
            <a:extLst>
              <a:ext uri="{FF2B5EF4-FFF2-40B4-BE49-F238E27FC236}">
                <a16:creationId xmlns:a16="http://schemas.microsoft.com/office/drawing/2014/main" id="{D0C4610E-604A-7932-8EE2-B5F9997CA5D0}"/>
              </a:ext>
            </a:extLst>
          </p:cNvPr>
          <p:cNvSpPr/>
          <p:nvPr/>
        </p:nvSpPr>
        <p:spPr>
          <a:xfrm>
            <a:off x="445993" y="431953"/>
            <a:ext cx="2031325" cy="646331"/>
          </a:xfrm>
          <a:prstGeom prst="rect">
            <a:avLst/>
          </a:prstGeom>
          <a:noFill/>
        </p:spPr>
        <p:txBody>
          <a:bodyPr wrap="none" lIns="91440" tIns="45720" rIns="91440" bIns="45720">
            <a:spAutoFit/>
          </a:bodyPr>
          <a:lstStyle/>
          <a:p>
            <a:pPr algn="ctr"/>
            <a:r>
              <a:rPr lang="zh-CN" altLang="en-US" sz="3600" b="0" cap="none" spc="0" dirty="0">
                <a:ln w="0"/>
                <a:solidFill>
                  <a:schemeClr val="tx1"/>
                </a:solidFill>
                <a:effectLst>
                  <a:outerShdw blurRad="38100" dist="19050" dir="2700000" algn="tl" rotWithShape="0">
                    <a:schemeClr val="dk1">
                      <a:alpha val="40000"/>
                    </a:schemeClr>
                  </a:outerShdw>
                </a:effectLst>
              </a:rPr>
              <a:t>内存计算</a:t>
            </a:r>
          </a:p>
        </p:txBody>
      </p:sp>
      <p:sp>
        <p:nvSpPr>
          <p:cNvPr id="3" name="文本框 2">
            <a:extLst>
              <a:ext uri="{FF2B5EF4-FFF2-40B4-BE49-F238E27FC236}">
                <a16:creationId xmlns:a16="http://schemas.microsoft.com/office/drawing/2014/main" id="{B701125A-8076-7DEB-FFB5-8020FC2CD6DE}"/>
              </a:ext>
            </a:extLst>
          </p:cNvPr>
          <p:cNvSpPr txBox="1"/>
          <p:nvPr/>
        </p:nvSpPr>
        <p:spPr>
          <a:xfrm>
            <a:off x="519545" y="1205345"/>
            <a:ext cx="11097491" cy="830997"/>
          </a:xfrm>
          <a:prstGeom prst="rect">
            <a:avLst/>
          </a:prstGeom>
          <a:noFill/>
        </p:spPr>
        <p:txBody>
          <a:bodyPr wrap="square" rtlCol="0">
            <a:spAutoFit/>
          </a:bodyPr>
          <a:lstStyle/>
          <a:p>
            <a:r>
              <a:rPr lang="zh-CN" altLang="en-US" sz="2400" dirty="0">
                <a:solidFill>
                  <a:srgbClr val="FF0000"/>
                </a:solidFill>
              </a:rPr>
              <a:t>工作原理：</a:t>
            </a:r>
            <a:r>
              <a:rPr lang="zh-CN" altLang="en-US" sz="2400" dirty="0"/>
              <a:t>将数据直接存储在主内存中，利用多核处理器的并行计算能力和分布式架构来处理大规模数据集，提供一种接近实时的数据处理能力</a:t>
            </a:r>
          </a:p>
        </p:txBody>
      </p:sp>
      <p:sp>
        <p:nvSpPr>
          <p:cNvPr id="5" name="矩形 4">
            <a:extLst>
              <a:ext uri="{FF2B5EF4-FFF2-40B4-BE49-F238E27FC236}">
                <a16:creationId xmlns:a16="http://schemas.microsoft.com/office/drawing/2014/main" id="{143487E0-23FD-6DD3-B3F8-5A734A81CC2D}"/>
              </a:ext>
            </a:extLst>
          </p:cNvPr>
          <p:cNvSpPr/>
          <p:nvPr/>
        </p:nvSpPr>
        <p:spPr>
          <a:xfrm>
            <a:off x="445993" y="2214816"/>
            <a:ext cx="4801315"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为什么使用内存计算？</a:t>
            </a:r>
          </a:p>
        </p:txBody>
      </p:sp>
      <p:pic>
        <p:nvPicPr>
          <p:cNvPr id="6" name="图片 5">
            <a:extLst>
              <a:ext uri="{FF2B5EF4-FFF2-40B4-BE49-F238E27FC236}">
                <a16:creationId xmlns:a16="http://schemas.microsoft.com/office/drawing/2014/main" id="{73DEC3D8-F334-832D-F10B-0A0FCE7FA3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9664" y="2796008"/>
            <a:ext cx="8052672" cy="3452392"/>
          </a:xfrm>
          <a:prstGeom prst="rect">
            <a:avLst/>
          </a:prstGeom>
        </p:spPr>
      </p:pic>
      <p:sp>
        <p:nvSpPr>
          <p:cNvPr id="8" name="文本框 8">
            <a:extLst>
              <a:ext uri="{FF2B5EF4-FFF2-40B4-BE49-F238E27FC236}">
                <a16:creationId xmlns:a16="http://schemas.microsoft.com/office/drawing/2014/main" id="{F727EAFE-AE8B-9AA4-E0FB-A0C50A8AE2A5}"/>
              </a:ext>
            </a:extLst>
          </p:cNvPr>
          <p:cNvSpPr txBox="1"/>
          <p:nvPr/>
        </p:nvSpPr>
        <p:spPr>
          <a:xfrm>
            <a:off x="5075555" y="6248400"/>
            <a:ext cx="2040890" cy="365125"/>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从冯诺依曼架构到内存计算架构</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13138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14</a:t>
            </a:fld>
            <a:endParaRPr lang="en-US" altLang="zh-CN"/>
          </a:p>
        </p:txBody>
      </p:sp>
      <p:graphicFrame>
        <p:nvGraphicFramePr>
          <p:cNvPr id="8" name="表格 7">
            <a:extLst>
              <a:ext uri="{FF2B5EF4-FFF2-40B4-BE49-F238E27FC236}">
                <a16:creationId xmlns:a16="http://schemas.microsoft.com/office/drawing/2014/main" id="{42107A88-728D-C3BE-AB18-015B2A9D0A80}"/>
              </a:ext>
            </a:extLst>
          </p:cNvPr>
          <p:cNvGraphicFramePr>
            <a:graphicFrameLocks noGrp="1"/>
          </p:cNvGraphicFramePr>
          <p:nvPr>
            <p:extLst>
              <p:ext uri="{D42A27DB-BD31-4B8C-83A1-F6EECF244321}">
                <p14:modId xmlns:p14="http://schemas.microsoft.com/office/powerpoint/2010/main" val="868873574"/>
              </p:ext>
            </p:extLst>
          </p:nvPr>
        </p:nvGraphicFramePr>
        <p:xfrm>
          <a:off x="458932" y="1081843"/>
          <a:ext cx="11274135" cy="5623757"/>
        </p:xfrm>
        <a:graphic>
          <a:graphicData uri="http://schemas.openxmlformats.org/drawingml/2006/table">
            <a:tbl>
              <a:tblPr/>
              <a:tblGrid>
                <a:gridCol w="2732809">
                  <a:extLst>
                    <a:ext uri="{9D8B030D-6E8A-4147-A177-3AD203B41FA5}">
                      <a16:colId xmlns:a16="http://schemas.microsoft.com/office/drawing/2014/main" val="286261122"/>
                    </a:ext>
                  </a:extLst>
                </a:gridCol>
                <a:gridCol w="4270663">
                  <a:extLst>
                    <a:ext uri="{9D8B030D-6E8A-4147-A177-3AD203B41FA5}">
                      <a16:colId xmlns:a16="http://schemas.microsoft.com/office/drawing/2014/main" val="3578342702"/>
                    </a:ext>
                  </a:extLst>
                </a:gridCol>
                <a:gridCol w="4270663">
                  <a:extLst>
                    <a:ext uri="{9D8B030D-6E8A-4147-A177-3AD203B41FA5}">
                      <a16:colId xmlns:a16="http://schemas.microsoft.com/office/drawing/2014/main" val="1790789780"/>
                    </a:ext>
                  </a:extLst>
                </a:gridCol>
              </a:tblGrid>
              <a:tr h="446569">
                <a:tc>
                  <a:txBody>
                    <a:bodyPr/>
                    <a:lstStyle/>
                    <a:p>
                      <a:pPr algn="ctr"/>
                      <a:r>
                        <a:rPr lang="zh-CN" altLang="en-US" sz="1800" b="1" dirty="0">
                          <a:effectLst/>
                          <a:latin typeface="黑体" panose="02010609060101010101" pitchFamily="49" charset="-122"/>
                          <a:ea typeface="黑体" panose="02010609060101010101" pitchFamily="49" charset="-122"/>
                        </a:rPr>
                        <a:t>特性</a:t>
                      </a:r>
                    </a:p>
                  </a:txBody>
                  <a:tcPr marL="59635" marR="59635" marT="29817" marB="29817" anchor="ctr">
                    <a:lnL w="12700" cap="flat" cmpd="sng" algn="ctr">
                      <a:solidFill>
                        <a:srgbClr val="20C660"/>
                      </a:solidFill>
                      <a:prstDash val="solid"/>
                      <a:round/>
                      <a:headEnd type="none" w="med" len="med"/>
                      <a:tailEnd type="none" w="med" len="med"/>
                    </a:lnL>
                    <a:lnR w="12700" cap="flat" cmpd="sng" algn="ctr">
                      <a:solidFill>
                        <a:srgbClr val="80C460"/>
                      </a:solidFill>
                      <a:prstDash val="solid"/>
                      <a:round/>
                      <a:headEnd type="none" w="med" len="med"/>
                      <a:tailEnd type="none" w="med" len="med"/>
                    </a:lnR>
                    <a:lnT w="12700" cap="flat" cmpd="sng" algn="ctr">
                      <a:solidFill>
                        <a:srgbClr val="20C660"/>
                      </a:solidFill>
                      <a:prstDash val="solid"/>
                      <a:round/>
                      <a:headEnd type="none" w="med" len="med"/>
                      <a:tailEnd type="none" w="med" len="med"/>
                    </a:lnT>
                    <a:lnB w="12700" cap="flat" cmpd="sng" algn="ctr">
                      <a:solidFill>
                        <a:srgbClr val="00CC60"/>
                      </a:solidFill>
                      <a:prstDash val="solid"/>
                      <a:round/>
                      <a:headEnd type="none" w="med" len="med"/>
                      <a:tailEnd type="none" w="med" len="med"/>
                    </a:lnB>
                    <a:noFill/>
                  </a:tcPr>
                </a:tc>
                <a:tc>
                  <a:txBody>
                    <a:bodyPr/>
                    <a:lstStyle/>
                    <a:p>
                      <a:pPr algn="ctr"/>
                      <a:r>
                        <a:rPr lang="zh-CN" altLang="en-US" sz="1800" b="1" dirty="0">
                          <a:effectLst/>
                          <a:latin typeface="黑体" panose="02010609060101010101" pitchFamily="49" charset="-122"/>
                          <a:ea typeface="黑体" panose="02010609060101010101" pitchFamily="49" charset="-122"/>
                        </a:rPr>
                        <a:t>冯诺依曼架构</a:t>
                      </a:r>
                    </a:p>
                  </a:txBody>
                  <a:tcPr marL="59635" marR="59635" marT="29817" marB="29817" anchor="ctr">
                    <a:lnL w="12700" cap="flat" cmpd="sng" algn="ctr">
                      <a:solidFill>
                        <a:srgbClr val="80C460"/>
                      </a:solidFill>
                      <a:prstDash val="solid"/>
                      <a:round/>
                      <a:headEnd type="none" w="med" len="med"/>
                      <a:tailEnd type="none" w="med" len="med"/>
                    </a:lnL>
                    <a:lnR w="12700" cap="flat" cmpd="sng" algn="ctr">
                      <a:solidFill>
                        <a:srgbClr val="A0C060"/>
                      </a:solidFill>
                      <a:prstDash val="solid"/>
                      <a:round/>
                      <a:headEnd type="none" w="med" len="med"/>
                      <a:tailEnd type="none" w="med" len="med"/>
                    </a:lnR>
                    <a:lnT w="12700" cap="flat" cmpd="sng" algn="ctr">
                      <a:solidFill>
                        <a:srgbClr val="80C460"/>
                      </a:solidFill>
                      <a:prstDash val="solid"/>
                      <a:round/>
                      <a:headEnd type="none" w="med" len="med"/>
                      <a:tailEnd type="none" w="med" len="med"/>
                    </a:lnT>
                    <a:lnB w="12700" cap="flat" cmpd="sng" algn="ctr">
                      <a:solidFill>
                        <a:srgbClr val="80CB60"/>
                      </a:solidFill>
                      <a:prstDash val="solid"/>
                      <a:round/>
                      <a:headEnd type="none" w="med" len="med"/>
                      <a:tailEnd type="none" w="med" len="med"/>
                    </a:lnB>
                    <a:noFill/>
                  </a:tcPr>
                </a:tc>
                <a:tc>
                  <a:txBody>
                    <a:bodyPr/>
                    <a:lstStyle/>
                    <a:p>
                      <a:pPr algn="ctr"/>
                      <a:r>
                        <a:rPr lang="zh-CN" altLang="en-US" sz="1800" b="1" dirty="0">
                          <a:effectLst/>
                          <a:latin typeface="黑体" panose="02010609060101010101" pitchFamily="49" charset="-122"/>
                          <a:ea typeface="黑体" panose="02010609060101010101" pitchFamily="49" charset="-122"/>
                        </a:rPr>
                        <a:t>内存计算架构</a:t>
                      </a:r>
                    </a:p>
                  </a:txBody>
                  <a:tcPr marL="59635" marR="59635" marT="29817" marB="29817" anchor="ctr">
                    <a:lnL w="12700" cap="flat" cmpd="sng" algn="ctr">
                      <a:solidFill>
                        <a:srgbClr val="A0C060"/>
                      </a:solidFill>
                      <a:prstDash val="solid"/>
                      <a:round/>
                      <a:headEnd type="none" w="med" len="med"/>
                      <a:tailEnd type="none" w="med" len="med"/>
                    </a:lnL>
                    <a:lnR w="12700" cap="flat" cmpd="sng" algn="ctr">
                      <a:solidFill>
                        <a:srgbClr val="A0C060"/>
                      </a:solidFill>
                      <a:prstDash val="solid"/>
                      <a:round/>
                      <a:headEnd type="none" w="med" len="med"/>
                      <a:tailEnd type="none" w="med" len="med"/>
                    </a:lnR>
                    <a:lnT w="12700" cap="flat" cmpd="sng" algn="ctr">
                      <a:solidFill>
                        <a:srgbClr val="A0C060"/>
                      </a:solidFill>
                      <a:prstDash val="solid"/>
                      <a:round/>
                      <a:headEnd type="none" w="med" len="med"/>
                      <a:tailEnd type="none" w="med" len="med"/>
                    </a:lnT>
                    <a:lnB w="12700" cap="flat" cmpd="sng" algn="ctr">
                      <a:solidFill>
                        <a:srgbClr val="80CB60"/>
                      </a:solidFill>
                      <a:prstDash val="solid"/>
                      <a:round/>
                      <a:headEnd type="none" w="med" len="med"/>
                      <a:tailEnd type="none" w="med" len="med"/>
                    </a:lnB>
                    <a:noFill/>
                  </a:tcPr>
                </a:tc>
                <a:extLst>
                  <a:ext uri="{0D108BD9-81ED-4DB2-BD59-A6C34878D82A}">
                    <a16:rowId xmlns:a16="http://schemas.microsoft.com/office/drawing/2014/main" val="542212626"/>
                  </a:ext>
                </a:extLst>
              </a:tr>
              <a:tr h="754603">
                <a:tc>
                  <a:txBody>
                    <a:bodyPr/>
                    <a:lstStyle/>
                    <a:p>
                      <a:pPr algn="ctr"/>
                      <a:r>
                        <a:rPr lang="zh-CN" altLang="en-US" sz="1800" b="1" dirty="0">
                          <a:effectLst/>
                          <a:latin typeface="黑体" panose="02010609060101010101" pitchFamily="49" charset="-122"/>
                          <a:ea typeface="黑体" panose="02010609060101010101" pitchFamily="49" charset="-122"/>
                        </a:rPr>
                        <a:t>基本原理</a:t>
                      </a:r>
                      <a:endParaRPr lang="zh-CN" altLang="en-US" sz="1800" dirty="0">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00CC60"/>
                      </a:solidFill>
                      <a:prstDash val="solid"/>
                      <a:round/>
                      <a:headEnd type="none" w="med" len="med"/>
                      <a:tailEnd type="none" w="med" len="med"/>
                    </a:lnL>
                    <a:lnR w="12700" cap="flat" cmpd="sng" algn="ctr">
                      <a:solidFill>
                        <a:srgbClr val="80CB60"/>
                      </a:solidFill>
                      <a:prstDash val="solid"/>
                      <a:round/>
                      <a:headEnd type="none" w="med" len="med"/>
                      <a:tailEnd type="none" w="med" len="med"/>
                    </a:lnR>
                    <a:lnT w="12700" cap="flat" cmpd="sng" algn="ctr">
                      <a:solidFill>
                        <a:srgbClr val="00CC60"/>
                      </a:solidFill>
                      <a:prstDash val="solid"/>
                      <a:round/>
                      <a:headEnd type="none" w="med" len="med"/>
                      <a:tailEnd type="none" w="med" len="med"/>
                    </a:lnT>
                    <a:lnB w="12700" cap="flat" cmpd="sng" algn="ctr">
                      <a:solidFill>
                        <a:srgbClr val="E0C9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分离存储和处理单元。指令和数据存储在同一内存中，按顺序执行指令。</a:t>
                      </a:r>
                    </a:p>
                  </a:txBody>
                  <a:tcPr marL="59635" marR="59635" marT="29817" marB="29817" anchor="ctr">
                    <a:lnL w="12700" cap="flat" cmpd="sng" algn="ctr">
                      <a:solidFill>
                        <a:srgbClr val="80CB60"/>
                      </a:solidFill>
                      <a:prstDash val="solid"/>
                      <a:round/>
                      <a:headEnd type="none" w="med" len="med"/>
                      <a:tailEnd type="none" w="med" len="med"/>
                    </a:lnL>
                    <a:lnR w="12700" cap="flat" cmpd="sng" algn="ctr">
                      <a:solidFill>
                        <a:srgbClr val="80CB60"/>
                      </a:solidFill>
                      <a:prstDash val="solid"/>
                      <a:round/>
                      <a:headEnd type="none" w="med" len="med"/>
                      <a:tailEnd type="none" w="med" len="med"/>
                    </a:lnR>
                    <a:lnT w="12700" cap="flat" cmpd="sng" algn="ctr">
                      <a:solidFill>
                        <a:srgbClr val="80CB60"/>
                      </a:solidFill>
                      <a:prstDash val="solid"/>
                      <a:round/>
                      <a:headEnd type="none" w="med" len="med"/>
                      <a:tailEnd type="none" w="med" len="med"/>
                    </a:lnT>
                    <a:lnB w="12700" cap="flat" cmpd="sng" algn="ctr">
                      <a:solidFill>
                        <a:srgbClr val="00CE60"/>
                      </a:solidFill>
                      <a:prstDash val="solid"/>
                      <a:round/>
                      <a:headEnd type="none" w="med" len="med"/>
                      <a:tailEnd type="none" w="med" len="med"/>
                    </a:lnB>
                    <a:noFill/>
                  </a:tcPr>
                </a:tc>
                <a:tc>
                  <a:txBody>
                    <a:bodyPr/>
                    <a:lstStyle/>
                    <a:p>
                      <a:pPr algn="ctr"/>
                      <a:r>
                        <a:rPr lang="zh-CN" altLang="en-US" sz="1800">
                          <a:effectLst/>
                          <a:latin typeface="黑体" panose="02010609060101010101" pitchFamily="49" charset="-122"/>
                          <a:ea typeface="黑体" panose="02010609060101010101" pitchFamily="49" charset="-122"/>
                        </a:rPr>
                        <a:t>将计算逻辑集成到存储或内存中，实现数据存储和处理的紧密结合。</a:t>
                      </a:r>
                    </a:p>
                  </a:txBody>
                  <a:tcPr marL="59635" marR="59635" marT="29817" marB="29817" anchor="ctr">
                    <a:lnL w="12700" cap="flat" cmpd="sng" algn="ctr">
                      <a:solidFill>
                        <a:srgbClr val="80CB60"/>
                      </a:solidFill>
                      <a:prstDash val="solid"/>
                      <a:round/>
                      <a:headEnd type="none" w="med" len="med"/>
                      <a:tailEnd type="none" w="med" len="med"/>
                    </a:lnL>
                    <a:lnR w="12700" cap="flat" cmpd="sng" algn="ctr">
                      <a:solidFill>
                        <a:srgbClr val="80CB60"/>
                      </a:solidFill>
                      <a:prstDash val="solid"/>
                      <a:round/>
                      <a:headEnd type="none" w="med" len="med"/>
                      <a:tailEnd type="none" w="med" len="med"/>
                    </a:lnR>
                    <a:lnT w="12700" cap="flat" cmpd="sng" algn="ctr">
                      <a:solidFill>
                        <a:srgbClr val="80CB60"/>
                      </a:solidFill>
                      <a:prstDash val="solid"/>
                      <a:round/>
                      <a:headEnd type="none" w="med" len="med"/>
                      <a:tailEnd type="none" w="med" len="med"/>
                    </a:lnT>
                    <a:lnB w="12700" cap="flat" cmpd="sng" algn="ctr">
                      <a:solidFill>
                        <a:srgbClr val="80CB60"/>
                      </a:solidFill>
                      <a:prstDash val="solid"/>
                      <a:round/>
                      <a:headEnd type="none" w="med" len="med"/>
                      <a:tailEnd type="none" w="med" len="med"/>
                    </a:lnB>
                    <a:noFill/>
                  </a:tcPr>
                </a:tc>
                <a:extLst>
                  <a:ext uri="{0D108BD9-81ED-4DB2-BD59-A6C34878D82A}">
                    <a16:rowId xmlns:a16="http://schemas.microsoft.com/office/drawing/2014/main" val="3428090859"/>
                  </a:ext>
                </a:extLst>
              </a:tr>
              <a:tr h="754603">
                <a:tc>
                  <a:txBody>
                    <a:bodyPr/>
                    <a:lstStyle/>
                    <a:p>
                      <a:pPr algn="ctr"/>
                      <a:r>
                        <a:rPr lang="zh-CN" altLang="en-US" sz="1800" b="1" dirty="0">
                          <a:effectLst/>
                          <a:latin typeface="黑体" panose="02010609060101010101" pitchFamily="49" charset="-122"/>
                          <a:ea typeface="黑体" panose="02010609060101010101" pitchFamily="49" charset="-122"/>
                        </a:rPr>
                        <a:t>数据和指令流动</a:t>
                      </a:r>
                      <a:endParaRPr lang="zh-CN" altLang="en-US" sz="1800" dirty="0">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E0C960"/>
                      </a:solidFill>
                      <a:prstDash val="solid"/>
                      <a:round/>
                      <a:headEnd type="none" w="med" len="med"/>
                      <a:tailEnd type="none" w="med" len="med"/>
                    </a:lnL>
                    <a:lnR w="12700" cap="flat" cmpd="sng" algn="ctr">
                      <a:solidFill>
                        <a:srgbClr val="00CE60"/>
                      </a:solidFill>
                      <a:prstDash val="solid"/>
                      <a:round/>
                      <a:headEnd type="none" w="med" len="med"/>
                      <a:tailEnd type="none" w="med" len="med"/>
                    </a:lnR>
                    <a:lnT w="12700" cap="flat" cmpd="sng" algn="ctr">
                      <a:solidFill>
                        <a:srgbClr val="E0C960"/>
                      </a:solidFill>
                      <a:prstDash val="solid"/>
                      <a:round/>
                      <a:headEnd type="none" w="med" len="med"/>
                      <a:tailEnd type="none" w="med" len="med"/>
                    </a:lnT>
                    <a:lnB w="12700" cap="flat" cmpd="sng" algn="ctr">
                      <a:solidFill>
                        <a:srgbClr val="40CD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数据和指令需要在处理器和内存之间频繁传输。</a:t>
                      </a:r>
                    </a:p>
                  </a:txBody>
                  <a:tcPr marL="59635" marR="59635" marT="29817" marB="29817" anchor="ctr">
                    <a:lnL w="12700" cap="flat" cmpd="sng" algn="ctr">
                      <a:solidFill>
                        <a:srgbClr val="00CE60"/>
                      </a:solidFill>
                      <a:prstDash val="solid"/>
                      <a:round/>
                      <a:headEnd type="none" w="med" len="med"/>
                      <a:tailEnd type="none" w="med" len="med"/>
                    </a:lnL>
                    <a:lnR w="12700" cap="flat" cmpd="sng" algn="ctr">
                      <a:solidFill>
                        <a:srgbClr val="80CB60"/>
                      </a:solidFill>
                      <a:prstDash val="solid"/>
                      <a:round/>
                      <a:headEnd type="none" w="med" len="med"/>
                      <a:tailEnd type="none" w="med" len="med"/>
                    </a:lnR>
                    <a:lnT w="12700" cap="flat" cmpd="sng" algn="ctr">
                      <a:solidFill>
                        <a:srgbClr val="00CE60"/>
                      </a:solidFill>
                      <a:prstDash val="solid"/>
                      <a:round/>
                      <a:headEnd type="none" w="med" len="med"/>
                      <a:tailEnd type="none" w="med" len="med"/>
                    </a:lnT>
                    <a:lnB w="12700" cap="flat" cmpd="sng" algn="ctr">
                      <a:solidFill>
                        <a:srgbClr val="00CC60"/>
                      </a:solidFill>
                      <a:prstDash val="solid"/>
                      <a:round/>
                      <a:headEnd type="none" w="med" len="med"/>
                      <a:tailEnd type="none" w="med" len="med"/>
                    </a:lnB>
                    <a:noFill/>
                  </a:tcPr>
                </a:tc>
                <a:tc>
                  <a:txBody>
                    <a:bodyPr/>
                    <a:lstStyle/>
                    <a:p>
                      <a:pPr algn="ctr"/>
                      <a:r>
                        <a:rPr lang="zh-CN" altLang="en-US" sz="1800">
                          <a:effectLst/>
                          <a:latin typeface="黑体" panose="02010609060101010101" pitchFamily="49" charset="-122"/>
                          <a:ea typeface="黑体" panose="02010609060101010101" pitchFamily="49" charset="-122"/>
                        </a:rPr>
                        <a:t>数据和指令的传输更少，因为计算可以直接在数据所在的地方进行。</a:t>
                      </a:r>
                    </a:p>
                  </a:txBody>
                  <a:tcPr marL="59635" marR="59635" marT="29817" marB="29817" anchor="ctr">
                    <a:lnL w="12700" cap="flat" cmpd="sng" algn="ctr">
                      <a:solidFill>
                        <a:srgbClr val="80CB60"/>
                      </a:solidFill>
                      <a:prstDash val="solid"/>
                      <a:round/>
                      <a:headEnd type="none" w="med" len="med"/>
                      <a:tailEnd type="none" w="med" len="med"/>
                    </a:lnL>
                    <a:lnR w="12700" cap="flat" cmpd="sng" algn="ctr">
                      <a:solidFill>
                        <a:srgbClr val="80CB60"/>
                      </a:solidFill>
                      <a:prstDash val="solid"/>
                      <a:round/>
                      <a:headEnd type="none" w="med" len="med"/>
                      <a:tailEnd type="none" w="med" len="med"/>
                    </a:lnR>
                    <a:lnT w="12700" cap="flat" cmpd="sng" algn="ctr">
                      <a:solidFill>
                        <a:srgbClr val="80CB60"/>
                      </a:solidFill>
                      <a:prstDash val="solid"/>
                      <a:round/>
                      <a:headEnd type="none" w="med" len="med"/>
                      <a:tailEnd type="none" w="med" len="med"/>
                    </a:lnT>
                    <a:lnB w="12700" cap="flat" cmpd="sng" algn="ctr">
                      <a:solidFill>
                        <a:srgbClr val="C0CF60"/>
                      </a:solidFill>
                      <a:prstDash val="solid"/>
                      <a:round/>
                      <a:headEnd type="none" w="med" len="med"/>
                      <a:tailEnd type="none" w="med" len="med"/>
                    </a:lnB>
                    <a:noFill/>
                  </a:tcPr>
                </a:tc>
                <a:extLst>
                  <a:ext uri="{0D108BD9-81ED-4DB2-BD59-A6C34878D82A}">
                    <a16:rowId xmlns:a16="http://schemas.microsoft.com/office/drawing/2014/main" val="234120700"/>
                  </a:ext>
                </a:extLst>
              </a:tr>
              <a:tr h="527728">
                <a:tc>
                  <a:txBody>
                    <a:bodyPr/>
                    <a:lstStyle/>
                    <a:p>
                      <a:pPr algn="ctr"/>
                      <a:r>
                        <a:rPr lang="zh-CN" altLang="en-US" sz="1800" b="1" dirty="0">
                          <a:solidFill>
                            <a:srgbClr val="FF0000"/>
                          </a:solidFill>
                          <a:effectLst/>
                          <a:latin typeface="黑体" panose="02010609060101010101" pitchFamily="49" charset="-122"/>
                          <a:ea typeface="黑体" panose="02010609060101010101" pitchFamily="49" charset="-122"/>
                        </a:rPr>
                        <a:t>性能瓶颈</a:t>
                      </a:r>
                      <a:endParaRPr lang="zh-CN" altLang="en-US" sz="1800" dirty="0">
                        <a:solidFill>
                          <a:srgbClr val="FF0000"/>
                        </a:solidFill>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40CD60"/>
                      </a:solidFill>
                      <a:prstDash val="solid"/>
                      <a:round/>
                      <a:headEnd type="none" w="med" len="med"/>
                      <a:tailEnd type="none" w="med" len="med"/>
                    </a:lnL>
                    <a:lnR w="12700" cap="flat" cmpd="sng" algn="ctr">
                      <a:solidFill>
                        <a:srgbClr val="00CC60"/>
                      </a:solidFill>
                      <a:prstDash val="solid"/>
                      <a:round/>
                      <a:headEnd type="none" w="med" len="med"/>
                      <a:tailEnd type="none" w="med" len="med"/>
                    </a:lnR>
                    <a:lnT w="12700" cap="flat" cmpd="sng" algn="ctr">
                      <a:solidFill>
                        <a:srgbClr val="40CD60"/>
                      </a:solidFill>
                      <a:prstDash val="solid"/>
                      <a:round/>
                      <a:headEnd type="none" w="med" len="med"/>
                      <a:tailEnd type="none" w="med" len="med"/>
                    </a:lnT>
                    <a:lnB w="12700" cap="flat" cmpd="sng" algn="ctr">
                      <a:solidFill>
                        <a:srgbClr val="20CD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存在“冯诺依曼瓶颈”，数据和指令传输限制了处理速度。</a:t>
                      </a:r>
                    </a:p>
                  </a:txBody>
                  <a:tcPr marL="59635" marR="59635" marT="29817" marB="29817" anchor="ctr">
                    <a:lnL w="12700" cap="flat" cmpd="sng" algn="ctr">
                      <a:solidFill>
                        <a:srgbClr val="00CC60"/>
                      </a:solidFill>
                      <a:prstDash val="solid"/>
                      <a:round/>
                      <a:headEnd type="none" w="med" len="med"/>
                      <a:tailEnd type="none" w="med" len="med"/>
                    </a:lnL>
                    <a:lnR w="12700" cap="flat" cmpd="sng" algn="ctr">
                      <a:solidFill>
                        <a:srgbClr val="C0CF60"/>
                      </a:solidFill>
                      <a:prstDash val="solid"/>
                      <a:round/>
                      <a:headEnd type="none" w="med" len="med"/>
                      <a:tailEnd type="none" w="med" len="med"/>
                    </a:lnR>
                    <a:lnT w="12700" cap="flat" cmpd="sng" algn="ctr">
                      <a:solidFill>
                        <a:srgbClr val="00CC60"/>
                      </a:solidFill>
                      <a:prstDash val="solid"/>
                      <a:round/>
                      <a:headEnd type="none" w="med" len="med"/>
                      <a:tailEnd type="none" w="med" len="med"/>
                    </a:lnT>
                    <a:lnB w="12700" cap="flat" cmpd="sng" algn="ctr">
                      <a:solidFill>
                        <a:srgbClr val="00D1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减少了“冯诺依曼瓶颈”，理论上可以实现更高的处理速度。</a:t>
                      </a:r>
                    </a:p>
                  </a:txBody>
                  <a:tcPr marL="59635" marR="59635" marT="29817" marB="29817" anchor="ctr">
                    <a:lnL w="12700" cap="flat" cmpd="sng" algn="ctr">
                      <a:solidFill>
                        <a:srgbClr val="C0CF60"/>
                      </a:solidFill>
                      <a:prstDash val="solid"/>
                      <a:round/>
                      <a:headEnd type="none" w="med" len="med"/>
                      <a:tailEnd type="none" w="med" len="med"/>
                    </a:lnL>
                    <a:lnR w="12700" cap="flat" cmpd="sng" algn="ctr">
                      <a:solidFill>
                        <a:srgbClr val="C0CF60"/>
                      </a:solidFill>
                      <a:prstDash val="solid"/>
                      <a:round/>
                      <a:headEnd type="none" w="med" len="med"/>
                      <a:tailEnd type="none" w="med" len="med"/>
                    </a:lnR>
                    <a:lnT w="12700" cap="flat" cmpd="sng" algn="ctr">
                      <a:solidFill>
                        <a:srgbClr val="C0CF60"/>
                      </a:solidFill>
                      <a:prstDash val="solid"/>
                      <a:round/>
                      <a:headEnd type="none" w="med" len="med"/>
                      <a:tailEnd type="none" w="med" len="med"/>
                    </a:lnT>
                    <a:lnB w="12700" cap="flat" cmpd="sng" algn="ctr">
                      <a:solidFill>
                        <a:srgbClr val="A0D660"/>
                      </a:solidFill>
                      <a:prstDash val="solid"/>
                      <a:round/>
                      <a:headEnd type="none" w="med" len="med"/>
                      <a:tailEnd type="none" w="med" len="med"/>
                    </a:lnB>
                    <a:noFill/>
                  </a:tcPr>
                </a:tc>
                <a:extLst>
                  <a:ext uri="{0D108BD9-81ED-4DB2-BD59-A6C34878D82A}">
                    <a16:rowId xmlns:a16="http://schemas.microsoft.com/office/drawing/2014/main" val="3156832038"/>
                  </a:ext>
                </a:extLst>
              </a:tr>
              <a:tr h="527728">
                <a:tc>
                  <a:txBody>
                    <a:bodyPr/>
                    <a:lstStyle/>
                    <a:p>
                      <a:pPr algn="ctr"/>
                      <a:r>
                        <a:rPr lang="zh-CN" altLang="en-US" sz="1800" b="1" dirty="0">
                          <a:solidFill>
                            <a:srgbClr val="FF0000"/>
                          </a:solidFill>
                          <a:effectLst/>
                          <a:latin typeface="黑体" panose="02010609060101010101" pitchFamily="49" charset="-122"/>
                          <a:ea typeface="黑体" panose="02010609060101010101" pitchFamily="49" charset="-122"/>
                        </a:rPr>
                        <a:t>能效</a:t>
                      </a:r>
                      <a:endParaRPr lang="zh-CN" altLang="en-US" sz="1800" dirty="0">
                        <a:solidFill>
                          <a:srgbClr val="FF0000"/>
                        </a:solidFill>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20CD60"/>
                      </a:solidFill>
                      <a:prstDash val="solid"/>
                      <a:round/>
                      <a:headEnd type="none" w="med" len="med"/>
                      <a:tailEnd type="none" w="med" len="med"/>
                    </a:lnL>
                    <a:lnR w="12700" cap="flat" cmpd="sng" algn="ctr">
                      <a:solidFill>
                        <a:srgbClr val="00D160"/>
                      </a:solidFill>
                      <a:prstDash val="solid"/>
                      <a:round/>
                      <a:headEnd type="none" w="med" len="med"/>
                      <a:tailEnd type="none" w="med" len="med"/>
                    </a:lnR>
                    <a:lnT w="12700" cap="flat" cmpd="sng" algn="ctr">
                      <a:solidFill>
                        <a:srgbClr val="20CD60"/>
                      </a:solidFill>
                      <a:prstDash val="solid"/>
                      <a:round/>
                      <a:headEnd type="none" w="med" len="med"/>
                      <a:tailEnd type="none" w="med" len="med"/>
                    </a:lnT>
                    <a:lnB w="12700" cap="flat" cmpd="sng" algn="ctr">
                      <a:solidFill>
                        <a:srgbClr val="80D4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相对较低，因为数据和指令的频繁传输消耗更多能量。</a:t>
                      </a:r>
                    </a:p>
                  </a:txBody>
                  <a:tcPr marL="59635" marR="59635" marT="29817" marB="29817" anchor="ctr">
                    <a:lnL w="12700" cap="flat" cmpd="sng" algn="ctr">
                      <a:solidFill>
                        <a:srgbClr val="00D160"/>
                      </a:solidFill>
                      <a:prstDash val="solid"/>
                      <a:round/>
                      <a:headEnd type="none" w="med" len="med"/>
                      <a:tailEnd type="none" w="med" len="med"/>
                    </a:lnL>
                    <a:lnR w="12700" cap="flat" cmpd="sng" algn="ctr">
                      <a:solidFill>
                        <a:srgbClr val="A0D660"/>
                      </a:solidFill>
                      <a:prstDash val="solid"/>
                      <a:round/>
                      <a:headEnd type="none" w="med" len="med"/>
                      <a:tailEnd type="none" w="med" len="med"/>
                    </a:lnR>
                    <a:lnT w="12700" cap="flat" cmpd="sng" algn="ctr">
                      <a:solidFill>
                        <a:srgbClr val="00D160"/>
                      </a:solidFill>
                      <a:prstDash val="solid"/>
                      <a:round/>
                      <a:headEnd type="none" w="med" len="med"/>
                      <a:tailEnd type="none" w="med" len="med"/>
                    </a:lnT>
                    <a:lnB w="12700" cap="flat" cmpd="sng" algn="ctr">
                      <a:solidFill>
                        <a:srgbClr val="40D0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相对较高，因为减少了数据传输，可以更有效地利用能量。</a:t>
                      </a:r>
                    </a:p>
                  </a:txBody>
                  <a:tcPr marL="59635" marR="59635" marT="29817" marB="29817" anchor="ctr">
                    <a:lnL w="12700" cap="flat" cmpd="sng" algn="ctr">
                      <a:solidFill>
                        <a:srgbClr val="A0D660"/>
                      </a:solidFill>
                      <a:prstDash val="solid"/>
                      <a:round/>
                      <a:headEnd type="none" w="med" len="med"/>
                      <a:tailEnd type="none" w="med" len="med"/>
                    </a:lnL>
                    <a:lnR w="12700" cap="flat" cmpd="sng" algn="ctr">
                      <a:solidFill>
                        <a:srgbClr val="A0D660"/>
                      </a:solidFill>
                      <a:prstDash val="solid"/>
                      <a:round/>
                      <a:headEnd type="none" w="med" len="med"/>
                      <a:tailEnd type="none" w="med" len="med"/>
                    </a:lnR>
                    <a:lnT w="12700" cap="flat" cmpd="sng" algn="ctr">
                      <a:solidFill>
                        <a:srgbClr val="A0D660"/>
                      </a:solidFill>
                      <a:prstDash val="solid"/>
                      <a:round/>
                      <a:headEnd type="none" w="med" len="med"/>
                      <a:tailEnd type="none" w="med" len="med"/>
                    </a:lnT>
                    <a:lnB w="12700" cap="flat" cmpd="sng" algn="ctr">
                      <a:solidFill>
                        <a:srgbClr val="40D060"/>
                      </a:solidFill>
                      <a:prstDash val="solid"/>
                      <a:round/>
                      <a:headEnd type="none" w="med" len="med"/>
                      <a:tailEnd type="none" w="med" len="med"/>
                    </a:lnB>
                    <a:noFill/>
                  </a:tcPr>
                </a:tc>
                <a:extLst>
                  <a:ext uri="{0D108BD9-81ED-4DB2-BD59-A6C34878D82A}">
                    <a16:rowId xmlns:a16="http://schemas.microsoft.com/office/drawing/2014/main" val="2078372264"/>
                  </a:ext>
                </a:extLst>
              </a:tr>
              <a:tr h="754603">
                <a:tc>
                  <a:txBody>
                    <a:bodyPr/>
                    <a:lstStyle/>
                    <a:p>
                      <a:pPr algn="ctr"/>
                      <a:r>
                        <a:rPr lang="zh-CN" altLang="en-US" sz="1800" b="1" dirty="0">
                          <a:effectLst/>
                          <a:latin typeface="黑体" panose="02010609060101010101" pitchFamily="49" charset="-122"/>
                          <a:ea typeface="黑体" panose="02010609060101010101" pitchFamily="49" charset="-122"/>
                        </a:rPr>
                        <a:t>适用场景</a:t>
                      </a:r>
                      <a:endParaRPr lang="zh-CN" altLang="en-US" sz="1800" dirty="0">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80D460"/>
                      </a:solidFill>
                      <a:prstDash val="solid"/>
                      <a:round/>
                      <a:headEnd type="none" w="med" len="med"/>
                      <a:tailEnd type="none" w="med" len="med"/>
                    </a:lnL>
                    <a:lnR w="12700" cap="flat" cmpd="sng" algn="ctr">
                      <a:solidFill>
                        <a:srgbClr val="40D060"/>
                      </a:solidFill>
                      <a:prstDash val="solid"/>
                      <a:round/>
                      <a:headEnd type="none" w="med" len="med"/>
                      <a:tailEnd type="none" w="med" len="med"/>
                    </a:lnR>
                    <a:lnT w="12700" cap="flat" cmpd="sng" algn="ctr">
                      <a:solidFill>
                        <a:srgbClr val="80D460"/>
                      </a:solidFill>
                      <a:prstDash val="solid"/>
                      <a:round/>
                      <a:headEnd type="none" w="med" len="med"/>
                      <a:tailEnd type="none" w="med" len="med"/>
                    </a:lnT>
                    <a:lnB w="12700" cap="flat" cmpd="sng" algn="ctr">
                      <a:solidFill>
                        <a:srgbClr val="E0D6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通用计算，适合大多数传统的计算任务。</a:t>
                      </a:r>
                    </a:p>
                  </a:txBody>
                  <a:tcPr marL="59635" marR="59635" marT="29817" marB="29817" anchor="ctr">
                    <a:lnL w="12700" cap="flat" cmpd="sng" algn="ctr">
                      <a:solidFill>
                        <a:srgbClr val="40D060"/>
                      </a:solidFill>
                      <a:prstDash val="solid"/>
                      <a:round/>
                      <a:headEnd type="none" w="med" len="med"/>
                      <a:tailEnd type="none" w="med" len="med"/>
                    </a:lnL>
                    <a:lnR w="12700" cap="flat" cmpd="sng" algn="ctr">
                      <a:solidFill>
                        <a:srgbClr val="40D060"/>
                      </a:solidFill>
                      <a:prstDash val="solid"/>
                      <a:round/>
                      <a:headEnd type="none" w="med" len="med"/>
                      <a:tailEnd type="none" w="med" len="med"/>
                    </a:lnR>
                    <a:lnT w="12700" cap="flat" cmpd="sng" algn="ctr">
                      <a:solidFill>
                        <a:srgbClr val="40D060"/>
                      </a:solidFill>
                      <a:prstDash val="solid"/>
                      <a:round/>
                      <a:headEnd type="none" w="med" len="med"/>
                      <a:tailEnd type="none" w="med" len="med"/>
                    </a:lnT>
                    <a:lnB w="12700" cap="flat" cmpd="sng" algn="ctr">
                      <a:solidFill>
                        <a:srgbClr val="80D3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高性能计算、大数据处理、人工智能等需要高速处理和能效的场景。</a:t>
                      </a:r>
                    </a:p>
                  </a:txBody>
                  <a:tcPr marL="59635" marR="59635" marT="29817" marB="29817" anchor="ctr">
                    <a:lnL w="12700" cap="flat" cmpd="sng" algn="ctr">
                      <a:solidFill>
                        <a:srgbClr val="40D060"/>
                      </a:solidFill>
                      <a:prstDash val="solid"/>
                      <a:round/>
                      <a:headEnd type="none" w="med" len="med"/>
                      <a:tailEnd type="none" w="med" len="med"/>
                    </a:lnL>
                    <a:lnR w="12700" cap="flat" cmpd="sng" algn="ctr">
                      <a:solidFill>
                        <a:srgbClr val="40D060"/>
                      </a:solidFill>
                      <a:prstDash val="solid"/>
                      <a:round/>
                      <a:headEnd type="none" w="med" len="med"/>
                      <a:tailEnd type="none" w="med" len="med"/>
                    </a:lnR>
                    <a:lnT w="12700" cap="flat" cmpd="sng" algn="ctr">
                      <a:solidFill>
                        <a:srgbClr val="40D060"/>
                      </a:solidFill>
                      <a:prstDash val="solid"/>
                      <a:round/>
                      <a:headEnd type="none" w="med" len="med"/>
                      <a:tailEnd type="none" w="med" len="med"/>
                    </a:lnT>
                    <a:lnB w="12700" cap="flat" cmpd="sng" algn="ctr">
                      <a:solidFill>
                        <a:srgbClr val="C0DF60"/>
                      </a:solidFill>
                      <a:prstDash val="solid"/>
                      <a:round/>
                      <a:headEnd type="none" w="med" len="med"/>
                      <a:tailEnd type="none" w="med" len="med"/>
                    </a:lnB>
                    <a:noFill/>
                  </a:tcPr>
                </a:tc>
                <a:extLst>
                  <a:ext uri="{0D108BD9-81ED-4DB2-BD59-A6C34878D82A}">
                    <a16:rowId xmlns:a16="http://schemas.microsoft.com/office/drawing/2014/main" val="952831172"/>
                  </a:ext>
                </a:extLst>
              </a:tr>
              <a:tr h="754603">
                <a:tc>
                  <a:txBody>
                    <a:bodyPr/>
                    <a:lstStyle/>
                    <a:p>
                      <a:pPr algn="ctr"/>
                      <a:r>
                        <a:rPr lang="zh-CN" altLang="en-US" sz="1800" b="1">
                          <a:effectLst/>
                          <a:latin typeface="黑体" panose="02010609060101010101" pitchFamily="49" charset="-122"/>
                          <a:ea typeface="黑体" panose="02010609060101010101" pitchFamily="49" charset="-122"/>
                        </a:rPr>
                        <a:t>技术成熟度</a:t>
                      </a:r>
                      <a:endParaRPr lang="zh-CN" altLang="en-US" sz="1800">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E0D660"/>
                      </a:solidFill>
                      <a:prstDash val="solid"/>
                      <a:round/>
                      <a:headEnd type="none" w="med" len="med"/>
                      <a:tailEnd type="none" w="med" len="med"/>
                    </a:lnL>
                    <a:lnR w="12700" cap="flat" cmpd="sng" algn="ctr">
                      <a:solidFill>
                        <a:srgbClr val="80D360"/>
                      </a:solidFill>
                      <a:prstDash val="solid"/>
                      <a:round/>
                      <a:headEnd type="none" w="med" len="med"/>
                      <a:tailEnd type="none" w="med" len="med"/>
                    </a:lnR>
                    <a:lnT w="12700" cap="flat" cmpd="sng" algn="ctr">
                      <a:solidFill>
                        <a:srgbClr val="E0D660"/>
                      </a:solidFill>
                      <a:prstDash val="solid"/>
                      <a:round/>
                      <a:headEnd type="none" w="med" len="med"/>
                      <a:tailEnd type="none" w="med" len="med"/>
                    </a:lnT>
                    <a:lnB w="12700" cap="flat" cmpd="sng" algn="ctr">
                      <a:solidFill>
                        <a:srgbClr val="C0DF60"/>
                      </a:solidFill>
                      <a:prstDash val="solid"/>
                      <a:round/>
                      <a:headEnd type="none" w="med" len="med"/>
                      <a:tailEnd type="none" w="med" len="med"/>
                    </a:lnB>
                    <a:noFill/>
                  </a:tcPr>
                </a:tc>
                <a:tc>
                  <a:txBody>
                    <a:bodyPr/>
                    <a:lstStyle/>
                    <a:p>
                      <a:pPr algn="ctr"/>
                      <a:r>
                        <a:rPr lang="zh-CN" altLang="en-US" sz="1800">
                          <a:effectLst/>
                          <a:latin typeface="黑体" panose="02010609060101010101" pitchFamily="49" charset="-122"/>
                          <a:ea typeface="黑体" panose="02010609060101010101" pitchFamily="49" charset="-122"/>
                        </a:rPr>
                        <a:t>高，已经发展多年，广泛应用于各种计算设备中。</a:t>
                      </a:r>
                    </a:p>
                  </a:txBody>
                  <a:tcPr marL="59635" marR="59635" marT="29817" marB="29817" anchor="ctr">
                    <a:lnL w="12700" cap="flat" cmpd="sng" algn="ctr">
                      <a:solidFill>
                        <a:srgbClr val="80D360"/>
                      </a:solidFill>
                      <a:prstDash val="solid"/>
                      <a:round/>
                      <a:headEnd type="none" w="med" len="med"/>
                      <a:tailEnd type="none" w="med" len="med"/>
                    </a:lnL>
                    <a:lnR w="12700" cap="flat" cmpd="sng" algn="ctr">
                      <a:solidFill>
                        <a:srgbClr val="C0DF60"/>
                      </a:solidFill>
                      <a:prstDash val="solid"/>
                      <a:round/>
                      <a:headEnd type="none" w="med" len="med"/>
                      <a:tailEnd type="none" w="med" len="med"/>
                    </a:lnR>
                    <a:lnT w="12700" cap="flat" cmpd="sng" algn="ctr">
                      <a:solidFill>
                        <a:srgbClr val="80D360"/>
                      </a:solidFill>
                      <a:prstDash val="solid"/>
                      <a:round/>
                      <a:headEnd type="none" w="med" len="med"/>
                      <a:tailEnd type="none" w="med" len="med"/>
                    </a:lnT>
                    <a:lnB w="12700" cap="flat" cmpd="sng" algn="ctr">
                      <a:solidFill>
                        <a:srgbClr val="40DA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相对较低，仍在研究和发展中，但快速进展，并开始在特定领域得到应用。</a:t>
                      </a:r>
                    </a:p>
                  </a:txBody>
                  <a:tcPr marL="59635" marR="59635" marT="29817" marB="29817" anchor="ctr">
                    <a:lnL w="12700" cap="flat" cmpd="sng" algn="ctr">
                      <a:solidFill>
                        <a:srgbClr val="C0DF60"/>
                      </a:solidFill>
                      <a:prstDash val="solid"/>
                      <a:round/>
                      <a:headEnd type="none" w="med" len="med"/>
                      <a:tailEnd type="none" w="med" len="med"/>
                    </a:lnL>
                    <a:lnR w="12700" cap="flat" cmpd="sng" algn="ctr">
                      <a:solidFill>
                        <a:srgbClr val="C0DF60"/>
                      </a:solidFill>
                      <a:prstDash val="solid"/>
                      <a:round/>
                      <a:headEnd type="none" w="med" len="med"/>
                      <a:tailEnd type="none" w="med" len="med"/>
                    </a:lnR>
                    <a:lnT w="12700" cap="flat" cmpd="sng" algn="ctr">
                      <a:solidFill>
                        <a:srgbClr val="C0DF60"/>
                      </a:solidFill>
                      <a:prstDash val="solid"/>
                      <a:round/>
                      <a:headEnd type="none" w="med" len="med"/>
                      <a:tailEnd type="none" w="med" len="med"/>
                    </a:lnT>
                    <a:lnB w="12700" cap="flat" cmpd="sng" algn="ctr">
                      <a:solidFill>
                        <a:srgbClr val="40DC60"/>
                      </a:solidFill>
                      <a:prstDash val="solid"/>
                      <a:round/>
                      <a:headEnd type="none" w="med" len="med"/>
                      <a:tailEnd type="none" w="med" len="med"/>
                    </a:lnB>
                    <a:noFill/>
                  </a:tcPr>
                </a:tc>
                <a:extLst>
                  <a:ext uri="{0D108BD9-81ED-4DB2-BD59-A6C34878D82A}">
                    <a16:rowId xmlns:a16="http://schemas.microsoft.com/office/drawing/2014/main" val="2848927718"/>
                  </a:ext>
                </a:extLst>
              </a:tr>
              <a:tr h="527728">
                <a:tc>
                  <a:txBody>
                    <a:bodyPr/>
                    <a:lstStyle/>
                    <a:p>
                      <a:pPr algn="ctr"/>
                      <a:r>
                        <a:rPr lang="zh-CN" altLang="en-US" sz="1800" b="1" dirty="0">
                          <a:solidFill>
                            <a:srgbClr val="FF0000"/>
                          </a:solidFill>
                          <a:effectLst/>
                          <a:latin typeface="黑体" panose="02010609060101010101" pitchFamily="49" charset="-122"/>
                          <a:ea typeface="黑体" panose="02010609060101010101" pitchFamily="49" charset="-122"/>
                        </a:rPr>
                        <a:t>可扩展性</a:t>
                      </a:r>
                      <a:endParaRPr lang="zh-CN" altLang="en-US" sz="1800" dirty="0">
                        <a:solidFill>
                          <a:srgbClr val="FF0000"/>
                        </a:solidFill>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C0DF60"/>
                      </a:solidFill>
                      <a:prstDash val="solid"/>
                      <a:round/>
                      <a:headEnd type="none" w="med" len="med"/>
                      <a:tailEnd type="none" w="med" len="med"/>
                    </a:lnL>
                    <a:lnR w="12700" cap="flat" cmpd="sng" algn="ctr">
                      <a:solidFill>
                        <a:srgbClr val="40DA60"/>
                      </a:solidFill>
                      <a:prstDash val="solid"/>
                      <a:round/>
                      <a:headEnd type="none" w="med" len="med"/>
                      <a:tailEnd type="none" w="med" len="med"/>
                    </a:lnR>
                    <a:lnT w="12700" cap="flat" cmpd="sng" algn="ctr">
                      <a:solidFill>
                        <a:srgbClr val="C0DF60"/>
                      </a:solidFill>
                      <a:prstDash val="solid"/>
                      <a:round/>
                      <a:headEnd type="none" w="med" len="med"/>
                      <a:tailEnd type="none" w="med" len="med"/>
                    </a:lnT>
                    <a:lnB w="12700" cap="flat" cmpd="sng" algn="ctr">
                      <a:solidFill>
                        <a:srgbClr val="40DE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受限于冯诺依曼瓶颈，扩展性有限。</a:t>
                      </a:r>
                    </a:p>
                  </a:txBody>
                  <a:tcPr marL="59635" marR="59635" marT="29817" marB="29817" anchor="ctr">
                    <a:lnL w="12700" cap="flat" cmpd="sng" algn="ctr">
                      <a:solidFill>
                        <a:srgbClr val="40DA60"/>
                      </a:solidFill>
                      <a:prstDash val="solid"/>
                      <a:round/>
                      <a:headEnd type="none" w="med" len="med"/>
                      <a:tailEnd type="none" w="med" len="med"/>
                    </a:lnL>
                    <a:lnR w="12700" cap="flat" cmpd="sng" algn="ctr">
                      <a:solidFill>
                        <a:srgbClr val="40DC60"/>
                      </a:solidFill>
                      <a:prstDash val="solid"/>
                      <a:round/>
                      <a:headEnd type="none" w="med" len="med"/>
                      <a:tailEnd type="none" w="med" len="med"/>
                    </a:lnR>
                    <a:lnT w="12700" cap="flat" cmpd="sng" algn="ctr">
                      <a:solidFill>
                        <a:srgbClr val="40DA60"/>
                      </a:solidFill>
                      <a:prstDash val="solid"/>
                      <a:round/>
                      <a:headEnd type="none" w="med" len="med"/>
                      <a:tailEnd type="none" w="med" len="med"/>
                    </a:lnT>
                    <a:lnB w="12700" cap="flat" cmpd="sng" algn="ctr">
                      <a:solidFill>
                        <a:srgbClr val="C0D960"/>
                      </a:solidFill>
                      <a:prstDash val="solid"/>
                      <a:round/>
                      <a:headEnd type="none" w="med" len="med"/>
                      <a:tailEnd type="none" w="med" len="med"/>
                    </a:lnB>
                    <a:noFill/>
                  </a:tcPr>
                </a:tc>
                <a:tc>
                  <a:txBody>
                    <a:bodyPr/>
                    <a:lstStyle/>
                    <a:p>
                      <a:pPr algn="ctr"/>
                      <a:r>
                        <a:rPr lang="zh-CN" altLang="en-US" sz="1800" dirty="0">
                          <a:solidFill>
                            <a:srgbClr val="FF0000"/>
                          </a:solidFill>
                          <a:effectLst/>
                          <a:latin typeface="黑体" panose="02010609060101010101" pitchFamily="49" charset="-122"/>
                          <a:ea typeface="黑体" panose="02010609060101010101" pitchFamily="49" charset="-122"/>
                        </a:rPr>
                        <a:t>由于计算和存储的紧密结合，具有更好的扩展性。</a:t>
                      </a:r>
                    </a:p>
                  </a:txBody>
                  <a:tcPr marL="59635" marR="59635" marT="29817" marB="29817" anchor="ctr">
                    <a:lnL w="12700" cap="flat" cmpd="sng" algn="ctr">
                      <a:solidFill>
                        <a:srgbClr val="40DC60"/>
                      </a:solidFill>
                      <a:prstDash val="solid"/>
                      <a:round/>
                      <a:headEnd type="none" w="med" len="med"/>
                      <a:tailEnd type="none" w="med" len="med"/>
                    </a:lnL>
                    <a:lnR w="12700" cap="flat" cmpd="sng" algn="ctr">
                      <a:solidFill>
                        <a:srgbClr val="40DC60"/>
                      </a:solidFill>
                      <a:prstDash val="solid"/>
                      <a:round/>
                      <a:headEnd type="none" w="med" len="med"/>
                      <a:tailEnd type="none" w="med" len="med"/>
                    </a:lnR>
                    <a:lnT w="12700" cap="flat" cmpd="sng" algn="ctr">
                      <a:solidFill>
                        <a:srgbClr val="40DC60"/>
                      </a:solidFill>
                      <a:prstDash val="solid"/>
                      <a:round/>
                      <a:headEnd type="none" w="med" len="med"/>
                      <a:tailEnd type="none" w="med" len="med"/>
                    </a:lnT>
                    <a:lnB w="12700" cap="flat" cmpd="sng" algn="ctr">
                      <a:solidFill>
                        <a:srgbClr val="E0DB60"/>
                      </a:solidFill>
                      <a:prstDash val="solid"/>
                      <a:round/>
                      <a:headEnd type="none" w="med" len="med"/>
                      <a:tailEnd type="none" w="med" len="med"/>
                    </a:lnB>
                    <a:noFill/>
                  </a:tcPr>
                </a:tc>
                <a:extLst>
                  <a:ext uri="{0D108BD9-81ED-4DB2-BD59-A6C34878D82A}">
                    <a16:rowId xmlns:a16="http://schemas.microsoft.com/office/drawing/2014/main" val="2014362169"/>
                  </a:ext>
                </a:extLst>
              </a:tr>
              <a:tr h="300854">
                <a:tc>
                  <a:txBody>
                    <a:bodyPr/>
                    <a:lstStyle/>
                    <a:p>
                      <a:pPr algn="ctr"/>
                      <a:r>
                        <a:rPr lang="zh-CN" altLang="en-US" sz="1800" b="1">
                          <a:effectLst/>
                          <a:latin typeface="黑体" panose="02010609060101010101" pitchFamily="49" charset="-122"/>
                          <a:ea typeface="黑体" panose="02010609060101010101" pitchFamily="49" charset="-122"/>
                        </a:rPr>
                        <a:t>存储和计算分离</a:t>
                      </a:r>
                      <a:endParaRPr lang="zh-CN" altLang="en-US" sz="1800">
                        <a:effectLst/>
                        <a:latin typeface="黑体" panose="02010609060101010101" pitchFamily="49" charset="-122"/>
                        <a:ea typeface="黑体" panose="02010609060101010101" pitchFamily="49" charset="-122"/>
                      </a:endParaRPr>
                    </a:p>
                  </a:txBody>
                  <a:tcPr marL="59635" marR="59635" marT="29817" marB="29817" anchor="ctr">
                    <a:lnL w="12700" cap="flat" cmpd="sng" algn="ctr">
                      <a:solidFill>
                        <a:srgbClr val="40DE60"/>
                      </a:solidFill>
                      <a:prstDash val="solid"/>
                      <a:round/>
                      <a:headEnd type="none" w="med" len="med"/>
                      <a:tailEnd type="none" w="med" len="med"/>
                    </a:lnL>
                    <a:lnR w="12700" cap="flat" cmpd="sng" algn="ctr">
                      <a:solidFill>
                        <a:srgbClr val="C0D960"/>
                      </a:solidFill>
                      <a:prstDash val="solid"/>
                      <a:round/>
                      <a:headEnd type="none" w="med" len="med"/>
                      <a:tailEnd type="none" w="med" len="med"/>
                    </a:lnR>
                    <a:lnT w="12700" cap="flat" cmpd="sng" algn="ctr">
                      <a:solidFill>
                        <a:srgbClr val="40DE60"/>
                      </a:solidFill>
                      <a:prstDash val="solid"/>
                      <a:round/>
                      <a:headEnd type="none" w="med" len="med"/>
                      <a:tailEnd type="none" w="med" len="med"/>
                    </a:lnT>
                    <a:lnB w="12700" cap="flat" cmpd="sng" algn="ctr">
                      <a:solidFill>
                        <a:srgbClr val="40DE60"/>
                      </a:solidFill>
                      <a:prstDash val="solid"/>
                      <a:round/>
                      <a:headEnd type="none" w="med" len="med"/>
                      <a:tailEnd type="none" w="med" len="med"/>
                    </a:lnB>
                    <a:noFill/>
                  </a:tcPr>
                </a:tc>
                <a:tc>
                  <a:txBody>
                    <a:bodyPr/>
                    <a:lstStyle/>
                    <a:p>
                      <a:pPr algn="ctr"/>
                      <a:r>
                        <a:rPr lang="zh-CN" altLang="en-US" sz="1800">
                          <a:effectLst/>
                          <a:latin typeface="黑体" panose="02010609060101010101" pitchFamily="49" charset="-122"/>
                          <a:ea typeface="黑体" panose="02010609060101010101" pitchFamily="49" charset="-122"/>
                        </a:rPr>
                        <a:t>是</a:t>
                      </a:r>
                    </a:p>
                  </a:txBody>
                  <a:tcPr marL="59635" marR="59635" marT="29817" marB="29817" anchor="ctr">
                    <a:lnL w="12700" cap="flat" cmpd="sng" algn="ctr">
                      <a:solidFill>
                        <a:srgbClr val="C0D960"/>
                      </a:solidFill>
                      <a:prstDash val="solid"/>
                      <a:round/>
                      <a:headEnd type="none" w="med" len="med"/>
                      <a:tailEnd type="none" w="med" len="med"/>
                    </a:lnL>
                    <a:lnR w="12700" cap="flat" cmpd="sng" algn="ctr">
                      <a:solidFill>
                        <a:srgbClr val="E0DB60"/>
                      </a:solidFill>
                      <a:prstDash val="solid"/>
                      <a:round/>
                      <a:headEnd type="none" w="med" len="med"/>
                      <a:tailEnd type="none" w="med" len="med"/>
                    </a:lnR>
                    <a:lnT w="12700" cap="flat" cmpd="sng" algn="ctr">
                      <a:solidFill>
                        <a:srgbClr val="C0D960"/>
                      </a:solidFill>
                      <a:prstDash val="solid"/>
                      <a:round/>
                      <a:headEnd type="none" w="med" len="med"/>
                      <a:tailEnd type="none" w="med" len="med"/>
                    </a:lnT>
                    <a:lnB w="12700" cap="flat" cmpd="sng" algn="ctr">
                      <a:solidFill>
                        <a:srgbClr val="C0D960"/>
                      </a:solidFill>
                      <a:prstDash val="solid"/>
                      <a:round/>
                      <a:headEnd type="none" w="med" len="med"/>
                      <a:tailEnd type="none" w="med" len="med"/>
                    </a:lnB>
                    <a:noFill/>
                  </a:tcPr>
                </a:tc>
                <a:tc>
                  <a:txBody>
                    <a:bodyPr/>
                    <a:lstStyle/>
                    <a:p>
                      <a:pPr algn="ctr"/>
                      <a:r>
                        <a:rPr lang="zh-CN" altLang="en-US" sz="1800" dirty="0">
                          <a:effectLst/>
                          <a:latin typeface="黑体" panose="02010609060101010101" pitchFamily="49" charset="-122"/>
                          <a:ea typeface="黑体" panose="02010609060101010101" pitchFamily="49" charset="-122"/>
                        </a:rPr>
                        <a:t>否</a:t>
                      </a:r>
                    </a:p>
                  </a:txBody>
                  <a:tcPr marL="59635" marR="59635" marT="29817" marB="29817" anchor="ctr">
                    <a:lnL w="12700" cap="flat" cmpd="sng" algn="ctr">
                      <a:solidFill>
                        <a:srgbClr val="E0DB60"/>
                      </a:solidFill>
                      <a:prstDash val="solid"/>
                      <a:round/>
                      <a:headEnd type="none" w="med" len="med"/>
                      <a:tailEnd type="none" w="med" len="med"/>
                    </a:lnL>
                    <a:lnR w="12700" cap="flat" cmpd="sng" algn="ctr">
                      <a:solidFill>
                        <a:srgbClr val="E0DB60"/>
                      </a:solidFill>
                      <a:prstDash val="solid"/>
                      <a:round/>
                      <a:headEnd type="none" w="med" len="med"/>
                      <a:tailEnd type="none" w="med" len="med"/>
                    </a:lnR>
                    <a:lnT w="12700" cap="flat" cmpd="sng" algn="ctr">
                      <a:solidFill>
                        <a:srgbClr val="E0DB60"/>
                      </a:solidFill>
                      <a:prstDash val="solid"/>
                      <a:round/>
                      <a:headEnd type="none" w="med" len="med"/>
                      <a:tailEnd type="none" w="med" len="med"/>
                    </a:lnT>
                    <a:lnB w="12700" cap="flat" cmpd="sng" algn="ctr">
                      <a:solidFill>
                        <a:srgbClr val="E0DB60"/>
                      </a:solidFill>
                      <a:prstDash val="solid"/>
                      <a:round/>
                      <a:headEnd type="none" w="med" len="med"/>
                      <a:tailEnd type="none" w="med" len="med"/>
                    </a:lnB>
                    <a:noFill/>
                  </a:tcPr>
                </a:tc>
                <a:extLst>
                  <a:ext uri="{0D108BD9-81ED-4DB2-BD59-A6C34878D82A}">
                    <a16:rowId xmlns:a16="http://schemas.microsoft.com/office/drawing/2014/main" val="3484128364"/>
                  </a:ext>
                </a:extLst>
              </a:tr>
            </a:tbl>
          </a:graphicData>
        </a:graphic>
      </p:graphicFrame>
      <p:sp>
        <p:nvSpPr>
          <p:cNvPr id="9" name="矩形 8">
            <a:extLst>
              <a:ext uri="{FF2B5EF4-FFF2-40B4-BE49-F238E27FC236}">
                <a16:creationId xmlns:a16="http://schemas.microsoft.com/office/drawing/2014/main" id="{AA9E99FB-F482-0C01-9603-AB50784D960F}"/>
              </a:ext>
            </a:extLst>
          </p:cNvPr>
          <p:cNvSpPr/>
          <p:nvPr/>
        </p:nvSpPr>
        <p:spPr>
          <a:xfrm>
            <a:off x="3830022" y="431953"/>
            <a:ext cx="4801315"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为什么使用内存计算？</a:t>
            </a:r>
          </a:p>
        </p:txBody>
      </p:sp>
    </p:spTree>
    <p:extLst>
      <p:ext uri="{BB962C8B-B14F-4D97-AF65-F5344CB8AC3E}">
        <p14:creationId xmlns:p14="http://schemas.microsoft.com/office/powerpoint/2010/main" val="2780967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15</a:t>
            </a:fld>
            <a:endParaRPr lang="en-US" altLang="zh-CN"/>
          </a:p>
        </p:txBody>
      </p:sp>
      <p:sp>
        <p:nvSpPr>
          <p:cNvPr id="2" name="矩形 1">
            <a:extLst>
              <a:ext uri="{FF2B5EF4-FFF2-40B4-BE49-F238E27FC236}">
                <a16:creationId xmlns:a16="http://schemas.microsoft.com/office/drawing/2014/main" id="{E75F60B7-3AB9-187F-75F5-363FE3204CC1}"/>
              </a:ext>
            </a:extLst>
          </p:cNvPr>
          <p:cNvSpPr/>
          <p:nvPr/>
        </p:nvSpPr>
        <p:spPr>
          <a:xfrm>
            <a:off x="4394285" y="431953"/>
            <a:ext cx="3672800" cy="646331"/>
          </a:xfrm>
          <a:prstGeom prst="rect">
            <a:avLst/>
          </a:prstGeom>
          <a:noFill/>
        </p:spPr>
        <p:txBody>
          <a:bodyPr wrap="none" lIns="91440" tIns="45720" rIns="91440" bIns="45720">
            <a:spAutoFit/>
          </a:bodyPr>
          <a:lstStyle/>
          <a:p>
            <a:pPr algn="ctr"/>
            <a:r>
              <a:rPr lang="en-US" altLang="zh-CN" sz="3600" b="0" cap="none" spc="0" dirty="0">
                <a:ln w="0"/>
                <a:effectLst>
                  <a:outerShdw blurRad="38100" dist="19050" dir="2700000" algn="tl" rotWithShape="0">
                    <a:schemeClr val="dk1">
                      <a:alpha val="40000"/>
                    </a:schemeClr>
                  </a:outerShdw>
                </a:effectLst>
              </a:rPr>
              <a:t>2D</a:t>
            </a:r>
            <a:r>
              <a:rPr lang="zh-CN" altLang="en-US" sz="3600" b="0" cap="none" spc="0" dirty="0">
                <a:ln w="0"/>
                <a:effectLst>
                  <a:outerShdw blurRad="38100" dist="19050" dir="2700000" algn="tl" rotWithShape="0">
                    <a:schemeClr val="dk1">
                      <a:alpha val="40000"/>
                    </a:schemeClr>
                  </a:outerShdw>
                </a:effectLst>
              </a:rPr>
              <a:t>材料</a:t>
            </a:r>
            <a:r>
              <a:rPr lang="en-US" altLang="zh-CN" sz="3600" b="0" cap="none" spc="0" dirty="0">
                <a:ln w="0"/>
                <a:effectLst>
                  <a:outerShdw blurRad="38100" dist="19050" dir="2700000" algn="tl" rotWithShape="0">
                    <a:schemeClr val="dk1">
                      <a:alpha val="40000"/>
                    </a:schemeClr>
                  </a:outerShdw>
                </a:effectLst>
              </a:rPr>
              <a:t>-</a:t>
            </a:r>
            <a:r>
              <a:rPr lang="zh-CN" altLang="en-US" sz="3600" b="0" cap="none" spc="0" dirty="0">
                <a:ln w="0"/>
                <a:effectLst>
                  <a:outerShdw blurRad="38100" dist="19050" dir="2700000" algn="tl" rotWithShape="0">
                    <a:schemeClr val="dk1">
                      <a:alpha val="40000"/>
                    </a:schemeClr>
                  </a:outerShdw>
                </a:effectLst>
              </a:rPr>
              <a:t>内存计算</a:t>
            </a:r>
          </a:p>
        </p:txBody>
      </p:sp>
      <p:sp>
        <p:nvSpPr>
          <p:cNvPr id="3" name="矩形 2">
            <a:extLst>
              <a:ext uri="{FF2B5EF4-FFF2-40B4-BE49-F238E27FC236}">
                <a16:creationId xmlns:a16="http://schemas.microsoft.com/office/drawing/2014/main" id="{67EC9BFF-994C-2ED0-B622-6A8235424EAE}"/>
              </a:ext>
            </a:extLst>
          </p:cNvPr>
          <p:cNvSpPr/>
          <p:nvPr/>
        </p:nvSpPr>
        <p:spPr>
          <a:xfrm>
            <a:off x="628531" y="1377942"/>
            <a:ext cx="10649069" cy="584775"/>
          </a:xfrm>
          <a:prstGeom prst="rect">
            <a:avLst/>
          </a:prstGeom>
          <a:noFill/>
        </p:spPr>
        <p:txBody>
          <a:bodyPr wrap="none" lIns="91440" tIns="45720" rIns="91440" bIns="45720">
            <a:spAutoFit/>
          </a:bodyPr>
          <a:lstStyle/>
          <a:p>
            <a:pPr algn="just"/>
            <a:r>
              <a:rPr lang="zh-CN" altLang="en-US" sz="3200" b="0" cap="none" spc="0" dirty="0">
                <a:ln w="0"/>
                <a:solidFill>
                  <a:schemeClr val="accent2"/>
                </a:solidFill>
                <a:effectLst>
                  <a:outerShdw blurRad="38100" dist="19050" dir="2700000" algn="tl" rotWithShape="0">
                    <a:schemeClr val="dk1">
                      <a:alpha val="40000"/>
                    </a:schemeClr>
                  </a:outerShdw>
                </a:effectLst>
              </a:rPr>
              <a:t>阻变存储器：</a:t>
            </a:r>
            <a:r>
              <a:rPr lang="zh-CN" altLang="en-US" sz="2400" b="0" cap="none" spc="0" dirty="0">
                <a:ln w="0"/>
                <a:effectLst>
                  <a:outerShdw blurRad="38100" dist="19050" dir="2700000" algn="tl" rotWithShape="0">
                    <a:schemeClr val="dk1">
                      <a:alpha val="40000"/>
                    </a:schemeClr>
                  </a:outerShdw>
                </a:effectLst>
              </a:rPr>
              <a:t>可以用它的低阻和高阻两种状态存储逻辑“</a:t>
            </a:r>
            <a:r>
              <a:rPr lang="en-US" altLang="zh-CN" sz="2400" b="0" cap="none" spc="0" dirty="0">
                <a:ln w="0"/>
                <a:effectLst>
                  <a:outerShdw blurRad="38100" dist="19050" dir="2700000" algn="tl" rotWithShape="0">
                    <a:schemeClr val="dk1">
                      <a:alpha val="40000"/>
                    </a:schemeClr>
                  </a:outerShdw>
                </a:effectLst>
              </a:rPr>
              <a:t>0</a:t>
            </a:r>
            <a:r>
              <a:rPr lang="zh-CN" altLang="en-US" sz="2400" b="0" cap="none" spc="0" dirty="0">
                <a:ln w="0"/>
                <a:effectLst>
                  <a:outerShdw blurRad="38100" dist="19050" dir="2700000" algn="tl" rotWithShape="0">
                    <a:schemeClr val="dk1">
                      <a:alpha val="40000"/>
                    </a:schemeClr>
                  </a:outerShdw>
                </a:effectLst>
              </a:rPr>
              <a:t>”和逻辑“</a:t>
            </a:r>
            <a:r>
              <a:rPr lang="en-US" altLang="zh-CN" sz="2400" b="0" cap="none" spc="0" dirty="0">
                <a:ln w="0"/>
                <a:effectLst>
                  <a:outerShdw blurRad="38100" dist="19050" dir="2700000" algn="tl" rotWithShape="0">
                    <a:schemeClr val="dk1">
                      <a:alpha val="40000"/>
                    </a:schemeClr>
                  </a:outerShdw>
                </a:effectLst>
              </a:rPr>
              <a:t>1</a:t>
            </a:r>
            <a:r>
              <a:rPr lang="zh-CN" altLang="en-US" sz="2400" b="0" cap="none" spc="0" dirty="0">
                <a:ln w="0"/>
                <a:effectLst>
                  <a:outerShdw blurRad="38100" dist="19050" dir="2700000" algn="tl" rotWithShape="0">
                    <a:schemeClr val="dk1">
                      <a:alpha val="40000"/>
                    </a:schemeClr>
                  </a:outerShdw>
                </a:effectLst>
              </a:rPr>
              <a:t>”</a:t>
            </a:r>
          </a:p>
        </p:txBody>
      </p:sp>
      <p:pic>
        <p:nvPicPr>
          <p:cNvPr id="6" name="图片 5">
            <a:extLst>
              <a:ext uri="{FF2B5EF4-FFF2-40B4-BE49-F238E27FC236}">
                <a16:creationId xmlns:a16="http://schemas.microsoft.com/office/drawing/2014/main" id="{587CA92D-586C-25B6-FECB-F13CA91AD3C5}"/>
              </a:ext>
            </a:extLst>
          </p:cNvPr>
          <p:cNvPicPr>
            <a:picLocks noChangeAspect="1"/>
          </p:cNvPicPr>
          <p:nvPr/>
        </p:nvPicPr>
        <p:blipFill>
          <a:blip r:embed="rId2"/>
          <a:stretch>
            <a:fillRect/>
          </a:stretch>
        </p:blipFill>
        <p:spPr>
          <a:xfrm>
            <a:off x="838957" y="2560358"/>
            <a:ext cx="3855980" cy="2676660"/>
          </a:xfrm>
          <a:prstGeom prst="rect">
            <a:avLst/>
          </a:prstGeom>
        </p:spPr>
      </p:pic>
      <p:pic>
        <p:nvPicPr>
          <p:cNvPr id="8" name="图片 7">
            <a:extLst>
              <a:ext uri="{FF2B5EF4-FFF2-40B4-BE49-F238E27FC236}">
                <a16:creationId xmlns:a16="http://schemas.microsoft.com/office/drawing/2014/main" id="{B74466F0-4336-BAE6-F333-93145D3FD708}"/>
              </a:ext>
            </a:extLst>
          </p:cNvPr>
          <p:cNvPicPr>
            <a:picLocks noChangeAspect="1"/>
          </p:cNvPicPr>
          <p:nvPr/>
        </p:nvPicPr>
        <p:blipFill>
          <a:blip r:embed="rId3"/>
          <a:stretch>
            <a:fillRect/>
          </a:stretch>
        </p:blipFill>
        <p:spPr>
          <a:xfrm>
            <a:off x="7256256" y="2317317"/>
            <a:ext cx="2962688" cy="3162741"/>
          </a:xfrm>
          <a:prstGeom prst="rect">
            <a:avLst/>
          </a:prstGeom>
        </p:spPr>
      </p:pic>
      <p:sp>
        <p:nvSpPr>
          <p:cNvPr id="9" name="文本框 8">
            <a:extLst>
              <a:ext uri="{FF2B5EF4-FFF2-40B4-BE49-F238E27FC236}">
                <a16:creationId xmlns:a16="http://schemas.microsoft.com/office/drawing/2014/main" id="{5276F9BF-DD08-3973-1974-B0F0AA1FC59B}"/>
              </a:ext>
            </a:extLst>
          </p:cNvPr>
          <p:cNvSpPr txBox="1"/>
          <p:nvPr/>
        </p:nvSpPr>
        <p:spPr>
          <a:xfrm>
            <a:off x="1746502" y="5652094"/>
            <a:ext cx="2040890" cy="365125"/>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zh-CN" altLang="en-US" sz="2000" kern="100" dirty="0">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阻变存储器结构</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8">
            <a:extLst>
              <a:ext uri="{FF2B5EF4-FFF2-40B4-BE49-F238E27FC236}">
                <a16:creationId xmlns:a16="http://schemas.microsoft.com/office/drawing/2014/main" id="{E2192055-35E4-4A53-D7E3-1AD5E897B479}"/>
              </a:ext>
            </a:extLst>
          </p:cNvPr>
          <p:cNvSpPr txBox="1"/>
          <p:nvPr/>
        </p:nvSpPr>
        <p:spPr>
          <a:xfrm>
            <a:off x="7717155" y="5652095"/>
            <a:ext cx="2040890" cy="365125"/>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en-US" altLang="zh-CN"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en-US"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特性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98566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16</a:t>
            </a:fld>
            <a:endParaRPr lang="en-US" altLang="zh-CN"/>
          </a:p>
        </p:txBody>
      </p:sp>
      <p:sp>
        <p:nvSpPr>
          <p:cNvPr id="2" name="矩形 1">
            <a:extLst>
              <a:ext uri="{FF2B5EF4-FFF2-40B4-BE49-F238E27FC236}">
                <a16:creationId xmlns:a16="http://schemas.microsoft.com/office/drawing/2014/main" id="{DC549D35-30DE-FDA2-1EEE-E5131318BB2B}"/>
              </a:ext>
            </a:extLst>
          </p:cNvPr>
          <p:cNvSpPr/>
          <p:nvPr/>
        </p:nvSpPr>
        <p:spPr>
          <a:xfrm>
            <a:off x="712255" y="473933"/>
            <a:ext cx="2646878" cy="584775"/>
          </a:xfrm>
          <a:prstGeom prst="rect">
            <a:avLst/>
          </a:prstGeom>
          <a:noFill/>
        </p:spPr>
        <p:txBody>
          <a:bodyPr wrap="none" lIns="91440" tIns="45720" rIns="91440" bIns="45720">
            <a:spAutoFit/>
          </a:bodyPr>
          <a:lstStyle/>
          <a:p>
            <a:pPr algn="just"/>
            <a:r>
              <a:rPr lang="zh-CN" altLang="en-US" sz="3200" b="0" cap="none" spc="0" dirty="0">
                <a:ln w="0"/>
                <a:solidFill>
                  <a:schemeClr val="accent2"/>
                </a:solidFill>
                <a:effectLst>
                  <a:outerShdw blurRad="38100" dist="19050" dir="2700000" algn="tl" rotWithShape="0">
                    <a:schemeClr val="dk1">
                      <a:alpha val="40000"/>
                    </a:schemeClr>
                  </a:outerShdw>
                </a:effectLst>
              </a:rPr>
              <a:t>阻变机制分析</a:t>
            </a:r>
            <a:endParaRPr lang="zh-CN" altLang="en-US" sz="2400" b="0" cap="none" spc="0" dirty="0">
              <a:ln w="0"/>
              <a:effectLst>
                <a:outerShdw blurRad="38100" dist="19050" dir="2700000" algn="tl" rotWithShape="0">
                  <a:schemeClr val="dk1">
                    <a:alpha val="40000"/>
                  </a:schemeClr>
                </a:outerShdw>
              </a:effectLst>
            </a:endParaRPr>
          </a:p>
        </p:txBody>
      </p:sp>
      <p:pic>
        <p:nvPicPr>
          <p:cNvPr id="5" name="图片 4">
            <a:hlinkClick r:id="rId3"/>
            <a:extLst>
              <a:ext uri="{FF2B5EF4-FFF2-40B4-BE49-F238E27FC236}">
                <a16:creationId xmlns:a16="http://schemas.microsoft.com/office/drawing/2014/main" id="{136B9531-FC5B-7F51-0F49-1E16F6C97386}"/>
              </a:ext>
            </a:extLst>
          </p:cNvPr>
          <p:cNvPicPr>
            <a:picLocks noChangeAspect="1"/>
          </p:cNvPicPr>
          <p:nvPr/>
        </p:nvPicPr>
        <p:blipFill>
          <a:blip r:embed="rId4"/>
          <a:stretch>
            <a:fillRect/>
          </a:stretch>
        </p:blipFill>
        <p:spPr>
          <a:xfrm>
            <a:off x="558392" y="1260439"/>
            <a:ext cx="2800741" cy="4648849"/>
          </a:xfrm>
          <a:prstGeom prst="rect">
            <a:avLst/>
          </a:prstGeom>
        </p:spPr>
      </p:pic>
      <p:sp>
        <p:nvSpPr>
          <p:cNvPr id="6" name="文本框 5">
            <a:extLst>
              <a:ext uri="{FF2B5EF4-FFF2-40B4-BE49-F238E27FC236}">
                <a16:creationId xmlns:a16="http://schemas.microsoft.com/office/drawing/2014/main" id="{FF0DB2CA-B7CE-9144-6127-0CE54CAE054C}"/>
              </a:ext>
            </a:extLst>
          </p:cNvPr>
          <p:cNvSpPr txBox="1"/>
          <p:nvPr/>
        </p:nvSpPr>
        <p:spPr>
          <a:xfrm>
            <a:off x="3359133" y="1054632"/>
            <a:ext cx="7990609" cy="474873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3200" dirty="0">
                <a:solidFill>
                  <a:srgbClr val="00B0F0"/>
                </a:solidFill>
              </a:rPr>
              <a:t>阴离子迁移机制：</a:t>
            </a:r>
            <a:r>
              <a:rPr lang="zh-CN" altLang="en-US" dirty="0"/>
              <a:t>电极材料为惰性金属 ，故其很难参与氧化还原反应，依赖在电场作用下 ，氧化物介质层材料中的氧离子发生迁移而形成的</a:t>
            </a:r>
            <a:r>
              <a:rPr lang="zh-CN" altLang="en-US" dirty="0">
                <a:solidFill>
                  <a:srgbClr val="FF0000"/>
                </a:solidFill>
              </a:rPr>
              <a:t>氧空位导电通道</a:t>
            </a:r>
            <a:endParaRPr lang="en-US" altLang="zh-CN" dirty="0">
              <a:solidFill>
                <a:srgbClr val="FF0000"/>
              </a:solidFill>
            </a:endParaRPr>
          </a:p>
          <a:p>
            <a:pPr marL="285750" indent="-285750">
              <a:lnSpc>
                <a:spcPct val="150000"/>
              </a:lnSpc>
              <a:buFont typeface="Arial" panose="020B0604020202020204" pitchFamily="34" charset="0"/>
              <a:buChar char="•"/>
            </a:pPr>
            <a:r>
              <a:rPr lang="zh-CN" altLang="en-US" sz="3200" dirty="0">
                <a:solidFill>
                  <a:srgbClr val="00B0F0"/>
                </a:solidFill>
              </a:rPr>
              <a:t>阳离子迁移机制：</a:t>
            </a:r>
            <a:r>
              <a:rPr lang="zh-CN" altLang="en-US" dirty="0"/>
              <a:t>介质层材料具有较高的金属离子迁移率 ，一般为固态电解质 ，同时电极材料具有不同的电化学活性 ，一般由活性金属 （</a:t>
            </a:r>
            <a:r>
              <a:rPr lang="en-US" altLang="zh-CN" dirty="0"/>
              <a:t>Ag </a:t>
            </a:r>
            <a:r>
              <a:rPr lang="zh-CN" altLang="en-US" dirty="0"/>
              <a:t>、</a:t>
            </a:r>
            <a:r>
              <a:rPr lang="en-US" altLang="zh-CN" dirty="0"/>
              <a:t>Cu </a:t>
            </a:r>
            <a:r>
              <a:rPr lang="zh-CN" altLang="en-US" dirty="0"/>
              <a:t>、</a:t>
            </a:r>
            <a:r>
              <a:rPr lang="en-US" altLang="zh-CN" dirty="0"/>
              <a:t>Ru </a:t>
            </a:r>
            <a:r>
              <a:rPr lang="zh-CN" altLang="en-US" dirty="0"/>
              <a:t>等 ）和惰性金属（</a:t>
            </a:r>
            <a:r>
              <a:rPr lang="en-US" altLang="zh-CN" dirty="0"/>
              <a:t>Ta </a:t>
            </a:r>
            <a:r>
              <a:rPr lang="zh-CN" altLang="en-US" dirty="0"/>
              <a:t>、</a:t>
            </a:r>
            <a:r>
              <a:rPr lang="en-US" altLang="zh-CN" dirty="0"/>
              <a:t>Pt </a:t>
            </a:r>
            <a:r>
              <a:rPr lang="zh-CN" altLang="en-US" dirty="0"/>
              <a:t>、</a:t>
            </a:r>
            <a:r>
              <a:rPr lang="en-US" altLang="zh-CN" dirty="0"/>
              <a:t>Au </a:t>
            </a:r>
            <a:r>
              <a:rPr lang="zh-CN" altLang="en-US" dirty="0"/>
              <a:t>等）组成，依靠</a:t>
            </a:r>
            <a:r>
              <a:rPr lang="zh-CN" altLang="en-US" dirty="0">
                <a:solidFill>
                  <a:srgbClr val="FF0000"/>
                </a:solidFill>
              </a:rPr>
              <a:t>氧化还原反应以及焦耳热效应</a:t>
            </a:r>
            <a:r>
              <a:rPr lang="zh-CN" altLang="en-US" dirty="0"/>
              <a:t>的共同作用发生阻变</a:t>
            </a:r>
            <a:endParaRPr lang="en-US" altLang="zh-CN" dirty="0"/>
          </a:p>
          <a:p>
            <a:pPr marL="285750" indent="-285750">
              <a:lnSpc>
                <a:spcPct val="150000"/>
              </a:lnSpc>
              <a:buFont typeface="Arial" panose="020B0604020202020204" pitchFamily="34" charset="0"/>
              <a:buChar char="•"/>
            </a:pPr>
            <a:r>
              <a:rPr lang="zh-CN" altLang="en-US" sz="3200" dirty="0">
                <a:solidFill>
                  <a:srgbClr val="00B0F0"/>
                </a:solidFill>
              </a:rPr>
              <a:t>电子机制：</a:t>
            </a:r>
            <a:r>
              <a:rPr lang="zh-CN" altLang="en-US" dirty="0"/>
              <a:t>只涉及到物理层面的</a:t>
            </a:r>
            <a:r>
              <a:rPr lang="zh-CN" altLang="en-US" dirty="0">
                <a:solidFill>
                  <a:srgbClr val="FF0000"/>
                </a:solidFill>
              </a:rPr>
              <a:t>电子转移 </a:t>
            </a:r>
            <a:r>
              <a:rPr lang="zh-CN" altLang="en-US" dirty="0"/>
              <a:t>，其通常基于电子的捕获与释放来实现器件高低阻间的转变</a:t>
            </a:r>
          </a:p>
        </p:txBody>
      </p:sp>
    </p:spTree>
    <p:extLst>
      <p:ext uri="{BB962C8B-B14F-4D97-AF65-F5344CB8AC3E}">
        <p14:creationId xmlns:p14="http://schemas.microsoft.com/office/powerpoint/2010/main" val="3472028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17</a:t>
            </a:fld>
            <a:endParaRPr lang="en-US" altLang="zh-CN"/>
          </a:p>
        </p:txBody>
      </p:sp>
      <p:sp>
        <p:nvSpPr>
          <p:cNvPr id="2" name="矩形 1">
            <a:extLst>
              <a:ext uri="{FF2B5EF4-FFF2-40B4-BE49-F238E27FC236}">
                <a16:creationId xmlns:a16="http://schemas.microsoft.com/office/drawing/2014/main" id="{51AB7390-D3A1-0C85-F351-54233163DFCC}"/>
              </a:ext>
            </a:extLst>
          </p:cNvPr>
          <p:cNvSpPr/>
          <p:nvPr/>
        </p:nvSpPr>
        <p:spPr>
          <a:xfrm>
            <a:off x="447216" y="453151"/>
            <a:ext cx="1826141" cy="584775"/>
          </a:xfrm>
          <a:prstGeom prst="rect">
            <a:avLst/>
          </a:prstGeom>
          <a:noFill/>
        </p:spPr>
        <p:txBody>
          <a:bodyPr wrap="none" lIns="91440" tIns="45720" rIns="91440" bIns="45720">
            <a:spAutoFit/>
          </a:bodyPr>
          <a:lstStyle/>
          <a:p>
            <a:pPr algn="just"/>
            <a:r>
              <a:rPr lang="zh-CN" altLang="en-US" sz="3200" b="0" cap="none" spc="0" dirty="0">
                <a:ln w="0"/>
                <a:solidFill>
                  <a:schemeClr val="accent2"/>
                </a:solidFill>
                <a:effectLst>
                  <a:outerShdw blurRad="38100" dist="19050" dir="2700000" algn="tl" rotWithShape="0">
                    <a:schemeClr val="dk1">
                      <a:alpha val="40000"/>
                    </a:schemeClr>
                  </a:outerShdw>
                </a:effectLst>
              </a:rPr>
              <a:t>应用实例</a:t>
            </a:r>
            <a:endParaRPr lang="zh-CN" altLang="en-US" sz="2400" b="0" cap="none" spc="0" dirty="0">
              <a:ln w="0"/>
              <a:effectLst>
                <a:outerShdw blurRad="38100" dist="19050" dir="2700000" algn="tl" rotWithShape="0">
                  <a:schemeClr val="dk1">
                    <a:alpha val="40000"/>
                  </a:schemeClr>
                </a:outerShdw>
              </a:effectLst>
            </a:endParaRPr>
          </a:p>
        </p:txBody>
      </p:sp>
      <p:pic>
        <p:nvPicPr>
          <p:cNvPr id="3" name="图片 2">
            <a:extLst>
              <a:ext uri="{FF2B5EF4-FFF2-40B4-BE49-F238E27FC236}">
                <a16:creationId xmlns:a16="http://schemas.microsoft.com/office/drawing/2014/main" id="{11AFBB13-9F29-01DC-9BFF-9BAA6BC59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16" y="1340328"/>
            <a:ext cx="7845136" cy="4718794"/>
          </a:xfrm>
          <a:prstGeom prst="rect">
            <a:avLst/>
          </a:prstGeom>
        </p:spPr>
      </p:pic>
      <p:sp>
        <p:nvSpPr>
          <p:cNvPr id="5" name="文本框 4">
            <a:extLst>
              <a:ext uri="{FF2B5EF4-FFF2-40B4-BE49-F238E27FC236}">
                <a16:creationId xmlns:a16="http://schemas.microsoft.com/office/drawing/2014/main" id="{44FBFD98-28E0-A699-6458-46343B88662E}"/>
              </a:ext>
            </a:extLst>
          </p:cNvPr>
          <p:cNvSpPr txBox="1"/>
          <p:nvPr/>
        </p:nvSpPr>
        <p:spPr>
          <a:xfrm>
            <a:off x="8149530" y="1328527"/>
            <a:ext cx="3823854" cy="491987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每个元件由</a:t>
            </a:r>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单层</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二硫化钼的浮栅场效应晶体管组成</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每个晶体管的</a:t>
            </a:r>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电导率</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都能够实现连续且精确地</a:t>
            </a:r>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控制</a:t>
            </a:r>
            <a:endParaRPr lang="en-US"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通过调节晶体管的电导率，就可以向处理器</a:t>
            </a:r>
            <a:r>
              <a:rPr lang="zh-CN" altLang="zh-CN" sz="2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施加电压并测量输出信号</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，从而执行矢量矩阵乘法的计算，</a:t>
            </a:r>
            <a:endParaRPr lang="zh-CN" altLang="en-US" sz="2000" dirty="0"/>
          </a:p>
        </p:txBody>
      </p:sp>
      <p:sp>
        <p:nvSpPr>
          <p:cNvPr id="7" name="文本框 12">
            <a:extLst>
              <a:ext uri="{FF2B5EF4-FFF2-40B4-BE49-F238E27FC236}">
                <a16:creationId xmlns:a16="http://schemas.microsoft.com/office/drawing/2014/main" id="{CB135C4E-6742-F9EC-9F6F-7A64CDAB7FA3}"/>
              </a:ext>
            </a:extLst>
          </p:cNvPr>
          <p:cNvSpPr txBox="1"/>
          <p:nvPr/>
        </p:nvSpPr>
        <p:spPr>
          <a:xfrm>
            <a:off x="2763551" y="6073775"/>
            <a:ext cx="2755265" cy="349250"/>
          </a:xfrm>
          <a:prstGeom prst="rect">
            <a:avLst/>
          </a:prstGeom>
          <a:noFill/>
          <a:ln>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ctr">
              <a:lnSpc>
                <a:spcPts val="2000"/>
              </a:lnSpc>
            </a:pPr>
            <a:r>
              <a:rPr lang="en-US"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1</a:t>
            </a:r>
            <a:r>
              <a:rPr lang="zh-CN"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㎝²芯片包含</a:t>
            </a:r>
            <a:r>
              <a:rPr lang="en-US"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1024</a:t>
            </a:r>
            <a:r>
              <a:rPr lang="zh-CN" sz="2000" kern="100" dirty="0">
                <a:ln>
                  <a:noFill/>
                </a:ln>
                <a:solidFill>
                  <a:srgbClr val="000000"/>
                </a:solidFill>
                <a:effectLst>
                  <a:outerShdw blurRad="38100" dist="19050" dir="2700000" algn="tl">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个元件及芯片的矩阵运算</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59823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18</a:t>
            </a:fld>
            <a:endParaRPr lang="en-US" altLang="zh-CN"/>
          </a:p>
        </p:txBody>
      </p:sp>
      <p:sp>
        <p:nvSpPr>
          <p:cNvPr id="2" name="矩形 1">
            <a:extLst>
              <a:ext uri="{FF2B5EF4-FFF2-40B4-BE49-F238E27FC236}">
                <a16:creationId xmlns:a16="http://schemas.microsoft.com/office/drawing/2014/main" id="{9774EF09-46F6-2BDF-F4AD-6FAEDCCA0B0F}"/>
              </a:ext>
            </a:extLst>
          </p:cNvPr>
          <p:cNvSpPr/>
          <p:nvPr/>
        </p:nvSpPr>
        <p:spPr>
          <a:xfrm>
            <a:off x="447218" y="453151"/>
            <a:ext cx="1826141" cy="584775"/>
          </a:xfrm>
          <a:prstGeom prst="rect">
            <a:avLst/>
          </a:prstGeom>
          <a:noFill/>
        </p:spPr>
        <p:txBody>
          <a:bodyPr wrap="none" lIns="91440" tIns="45720" rIns="91440" bIns="45720">
            <a:spAutoFit/>
          </a:bodyPr>
          <a:lstStyle/>
          <a:p>
            <a:pPr algn="just"/>
            <a:r>
              <a:rPr lang="zh-CN" altLang="en-US" sz="3200" b="0" cap="none" spc="0" dirty="0">
                <a:ln w="0"/>
                <a:solidFill>
                  <a:schemeClr val="accent2"/>
                </a:solidFill>
                <a:effectLst>
                  <a:outerShdw blurRad="38100" dist="19050" dir="2700000" algn="tl" rotWithShape="0">
                    <a:schemeClr val="dk1">
                      <a:alpha val="40000"/>
                    </a:schemeClr>
                  </a:outerShdw>
                </a:effectLst>
              </a:rPr>
              <a:t>未来挑战</a:t>
            </a:r>
            <a:endParaRPr lang="zh-CN" altLang="en-US" sz="2400" b="0" cap="none" spc="0" dirty="0">
              <a:ln w="0"/>
              <a:effectLst>
                <a:outerShdw blurRad="38100" dist="19050" dir="2700000" algn="tl" rotWithShape="0">
                  <a:schemeClr val="dk1">
                    <a:alpha val="40000"/>
                  </a:schemeClr>
                </a:outerShdw>
              </a:effectLst>
            </a:endParaRPr>
          </a:p>
        </p:txBody>
      </p:sp>
      <p:sp>
        <p:nvSpPr>
          <p:cNvPr id="3" name="文本框 2">
            <a:extLst>
              <a:ext uri="{FF2B5EF4-FFF2-40B4-BE49-F238E27FC236}">
                <a16:creationId xmlns:a16="http://schemas.microsoft.com/office/drawing/2014/main" id="{00B30399-6D04-7D5C-23A0-83F6AFD4BB35}"/>
              </a:ext>
            </a:extLst>
          </p:cNvPr>
          <p:cNvSpPr txBox="1"/>
          <p:nvPr/>
        </p:nvSpPr>
        <p:spPr>
          <a:xfrm>
            <a:off x="571500" y="1257300"/>
            <a:ext cx="10235045" cy="480131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CN" dirty="0"/>
              <a:t>MoS</a:t>
            </a:r>
            <a:r>
              <a:rPr lang="en-US" altLang="zh-CN" baseline="-25000" dirty="0"/>
              <a:t>2</a:t>
            </a:r>
            <a:r>
              <a:rPr lang="zh-CN" altLang="en-US" dirty="0"/>
              <a:t>的物理和化学特性依赖于其</a:t>
            </a:r>
            <a:r>
              <a:rPr lang="zh-CN" altLang="en-US" dirty="0">
                <a:solidFill>
                  <a:srgbClr val="FF0000"/>
                </a:solidFill>
              </a:rPr>
              <a:t>层数</a:t>
            </a:r>
            <a:r>
              <a:rPr lang="zh-CN" altLang="en-US" dirty="0"/>
              <a:t>和晶体结构，并且其单层物质的厚度大约仅</a:t>
            </a:r>
            <a:r>
              <a:rPr lang="en-US" altLang="zh-CN" dirty="0"/>
              <a:t>3nm</a:t>
            </a:r>
            <a:r>
              <a:rPr lang="zh-CN" altLang="en-US" dirty="0"/>
              <a:t>左右，如此精细的尺寸使得在生产时保持</a:t>
            </a:r>
            <a:r>
              <a:rPr lang="zh-CN" altLang="en-US" dirty="0">
                <a:solidFill>
                  <a:srgbClr val="FF0000"/>
                </a:solidFill>
              </a:rPr>
              <a:t>一致性和可靠性</a:t>
            </a:r>
            <a:r>
              <a:rPr lang="zh-CN" altLang="en-US" dirty="0"/>
              <a:t>就成为一大问题</a:t>
            </a:r>
            <a:endParaRPr lang="en-US" altLang="zh-CN" dirty="0"/>
          </a:p>
          <a:p>
            <a:pPr marL="285750" indent="-285750">
              <a:lnSpc>
                <a:spcPct val="200000"/>
              </a:lnSpc>
              <a:buFont typeface="Arial" panose="020B0604020202020204" pitchFamily="34" charset="0"/>
              <a:buChar char="•"/>
            </a:pPr>
            <a:r>
              <a:rPr lang="zh-CN" altLang="en-US" dirty="0"/>
              <a:t>普通的生产技术如</a:t>
            </a:r>
            <a:r>
              <a:rPr lang="zh-CN" altLang="en-US" dirty="0">
                <a:solidFill>
                  <a:srgbClr val="FF0000"/>
                </a:solidFill>
              </a:rPr>
              <a:t>机械剥离法</a:t>
            </a:r>
            <a:r>
              <a:rPr lang="zh-CN" altLang="en-US" dirty="0"/>
              <a:t>和</a:t>
            </a:r>
            <a:r>
              <a:rPr lang="zh-CN" altLang="en-US" dirty="0">
                <a:solidFill>
                  <a:srgbClr val="FF0000"/>
                </a:solidFill>
              </a:rPr>
              <a:t>化学气相沉积法</a:t>
            </a:r>
            <a:r>
              <a:rPr lang="zh-CN" altLang="en-US" dirty="0"/>
              <a:t>等，不仅很难直接应用到工业生产中，并且这些方法所引起的</a:t>
            </a:r>
            <a:r>
              <a:rPr lang="zh-CN" altLang="en-US" dirty="0">
                <a:solidFill>
                  <a:srgbClr val="FF0000"/>
                </a:solidFill>
              </a:rPr>
              <a:t>微小误差</a:t>
            </a:r>
            <a:r>
              <a:rPr lang="zh-CN" altLang="en-US" dirty="0"/>
              <a:t>就可能导致存储器件之间的</a:t>
            </a:r>
            <a:r>
              <a:rPr lang="zh-CN" altLang="en-US" dirty="0">
                <a:solidFill>
                  <a:srgbClr val="FF0000"/>
                </a:solidFill>
              </a:rPr>
              <a:t>性能差异</a:t>
            </a:r>
            <a:endParaRPr lang="en-US" altLang="zh-CN" dirty="0">
              <a:solidFill>
                <a:srgbClr val="FF0000"/>
              </a:solidFill>
            </a:endParaRPr>
          </a:p>
          <a:p>
            <a:pPr marL="285750" indent="-285750">
              <a:lnSpc>
                <a:spcPct val="200000"/>
              </a:lnSpc>
              <a:buFont typeface="Arial" panose="020B0604020202020204" pitchFamily="34" charset="0"/>
              <a:buChar char="•"/>
            </a:pPr>
            <a:r>
              <a:rPr lang="zh-CN" altLang="en-US" dirty="0"/>
              <a:t>针对</a:t>
            </a:r>
            <a:r>
              <a:rPr lang="en-US" altLang="zh-CN" dirty="0"/>
              <a:t>MoS</a:t>
            </a:r>
            <a:r>
              <a:rPr lang="en-US" altLang="zh-CN" baseline="-25000" dirty="0"/>
              <a:t>2</a:t>
            </a:r>
            <a:r>
              <a:rPr lang="zh-CN" altLang="en-US" dirty="0"/>
              <a:t>的化学性质来看，其暴露在环境中时，容易受到氧化和湿度的影响，需要额外开发封装技术以确保长期的</a:t>
            </a:r>
            <a:r>
              <a:rPr lang="zh-CN" altLang="en-US" dirty="0">
                <a:solidFill>
                  <a:srgbClr val="FF0000"/>
                </a:solidFill>
              </a:rPr>
              <a:t>稳定性</a:t>
            </a:r>
            <a:endParaRPr lang="en-US" altLang="zh-CN" dirty="0">
              <a:solidFill>
                <a:srgbClr val="FF0000"/>
              </a:solidFill>
            </a:endParaRPr>
          </a:p>
          <a:p>
            <a:pPr marL="285750" indent="-285750">
              <a:lnSpc>
                <a:spcPct val="200000"/>
              </a:lnSpc>
              <a:buFont typeface="Arial" panose="020B0604020202020204" pitchFamily="34" charset="0"/>
              <a:buChar char="•"/>
            </a:pPr>
            <a:r>
              <a:rPr lang="zh-CN" altLang="en-US" dirty="0"/>
              <a:t>目前研究方向主要是将单层二硫化钼存储器集成到现有的硅基电子技术中，所以还需要解决与传统硅工艺</a:t>
            </a:r>
            <a:r>
              <a:rPr lang="zh-CN" altLang="en-US" dirty="0">
                <a:solidFill>
                  <a:srgbClr val="FF0000"/>
                </a:solidFill>
              </a:rPr>
              <a:t>兼容</a:t>
            </a:r>
            <a:r>
              <a:rPr lang="zh-CN" altLang="en-US" dirty="0"/>
              <a:t>的问题</a:t>
            </a:r>
            <a:endParaRPr lang="en-US" altLang="zh-CN" dirty="0"/>
          </a:p>
          <a:p>
            <a:pPr marL="285750" indent="-285750">
              <a:buFont typeface="Arial" panose="020B0604020202020204" pitchFamily="34" charset="0"/>
              <a:buChar char="•"/>
            </a:pPr>
            <a:r>
              <a:rPr lang="en-US" altLang="zh-CN" dirty="0"/>
              <a:t>······</a:t>
            </a:r>
            <a:endParaRPr lang="zh-CN" altLang="en-US" dirty="0"/>
          </a:p>
        </p:txBody>
      </p:sp>
    </p:spTree>
    <p:extLst>
      <p:ext uri="{BB962C8B-B14F-4D97-AF65-F5344CB8AC3E}">
        <p14:creationId xmlns:p14="http://schemas.microsoft.com/office/powerpoint/2010/main" val="1269968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06EAFDC-415F-65C3-06B3-FE119DBF2C5C}"/>
              </a:ext>
            </a:extLst>
          </p:cNvPr>
          <p:cNvSpPr>
            <a:spLocks noGrp="1"/>
          </p:cNvSpPr>
          <p:nvPr>
            <p:ph type="sldNum" sz="quarter" idx="12"/>
          </p:nvPr>
        </p:nvSpPr>
        <p:spPr/>
        <p:txBody>
          <a:bodyPr/>
          <a:lstStyle/>
          <a:p>
            <a:pPr>
              <a:defRPr/>
            </a:pPr>
            <a:fld id="{DB5F2CA6-A39B-48F7-84D1-AF91BD07D67D}" type="slidenum">
              <a:rPr lang="en-US" altLang="zh-CN" smtClean="0"/>
              <a:pPr>
                <a:defRPr/>
              </a:pPr>
              <a:t>19</a:t>
            </a:fld>
            <a:endParaRPr lang="en-US" altLang="zh-CN"/>
          </a:p>
        </p:txBody>
      </p:sp>
      <p:sp>
        <p:nvSpPr>
          <p:cNvPr id="2" name="文本框 1">
            <a:extLst>
              <a:ext uri="{FF2B5EF4-FFF2-40B4-BE49-F238E27FC236}">
                <a16:creationId xmlns:a16="http://schemas.microsoft.com/office/drawing/2014/main" id="{4F822F7F-2880-FB8C-E040-875C65E04CFF}"/>
              </a:ext>
            </a:extLst>
          </p:cNvPr>
          <p:cNvSpPr txBox="1"/>
          <p:nvPr/>
        </p:nvSpPr>
        <p:spPr>
          <a:xfrm>
            <a:off x="1330036" y="748145"/>
            <a:ext cx="9632373" cy="5545108"/>
          </a:xfrm>
          <a:prstGeom prst="rect">
            <a:avLst/>
          </a:prstGeom>
          <a:noFill/>
        </p:spPr>
        <p:txBody>
          <a:bodyPr wrap="square" rtlCol="0">
            <a:spAutoFit/>
          </a:bodyPr>
          <a:lstStyle/>
          <a:p>
            <a:pPr algn="ctr"/>
            <a:r>
              <a:rPr lang="zh-CN" altLang="en-US" sz="3600" dirty="0">
                <a:latin typeface="黑体" panose="02010609060101010101" pitchFamily="49" charset="-122"/>
                <a:ea typeface="黑体" panose="02010609060101010101" pitchFamily="49" charset="-122"/>
              </a:rPr>
              <a:t>参考文献：</a:t>
            </a:r>
            <a:endParaRPr lang="en-US" altLang="zh-CN" sz="3600" dirty="0">
              <a:latin typeface="黑体" panose="02010609060101010101" pitchFamily="49" charset="-122"/>
              <a:ea typeface="黑体" panose="02010609060101010101" pitchFamily="49" charset="-122"/>
            </a:endParaRPr>
          </a:p>
          <a:p>
            <a:pPr algn="just">
              <a:lnSpc>
                <a:spcPct val="20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罗威</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二维</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TMDs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表面掺杂及其异质结输运特性研究</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湖南</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国防科学技术大学</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,2017.</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20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[2]B.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Radisavljevic;A</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Radenovic;J</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Brivio;V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Giacometti;A</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Kis.Single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-layer MoS2 transistors[J].Nature Nanotechnology,2011,Vol.6(3): 147-150</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20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[3]Marco M.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Furchi;Dmitry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K.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Polyushkin;Andreas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Pospischil;Thomas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Mueller.Mechanisms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of photoconductivity in atomically thin MoS2(Article)[J].Nano Letters,2014,Vol.14(11): 6165-6170</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200000"/>
              </a:lnSpc>
            </a:pPr>
            <a:r>
              <a:rPr lang="en-US" altLang="zh-CN" dirty="0"/>
              <a:t>[4]</a:t>
            </a:r>
            <a:r>
              <a:rPr lang="zh-CN" altLang="en-US" dirty="0"/>
              <a:t>邓亚峰</a:t>
            </a:r>
            <a:r>
              <a:rPr lang="en-US" altLang="zh-CN" dirty="0"/>
              <a:t>,</a:t>
            </a:r>
            <a:r>
              <a:rPr lang="zh-CN" altLang="en-US" dirty="0"/>
              <a:t>魏子健</a:t>
            </a:r>
            <a:r>
              <a:rPr lang="en-US" altLang="zh-CN" dirty="0"/>
              <a:t>,</a:t>
            </a:r>
            <a:r>
              <a:rPr lang="zh-CN" altLang="en-US" dirty="0"/>
              <a:t>王栋</a:t>
            </a:r>
            <a:r>
              <a:rPr lang="en-US" altLang="zh-CN" dirty="0"/>
              <a:t>. </a:t>
            </a:r>
            <a:r>
              <a:rPr lang="zh-CN" altLang="en-US" dirty="0"/>
              <a:t>忆阻器阻变机制及其材料研究进展</a:t>
            </a:r>
            <a:r>
              <a:rPr lang="en-US" altLang="zh-CN" dirty="0"/>
              <a:t>[J]. </a:t>
            </a:r>
            <a:r>
              <a:rPr lang="zh-CN" altLang="en-US" dirty="0"/>
              <a:t>计算机工程与科学</a:t>
            </a:r>
            <a:r>
              <a:rPr lang="en-US" altLang="zh-CN" dirty="0"/>
              <a:t>,2022,44(1):36-47. DOI:10.3969/j.issn.1007-130X.2022.01.005. </a:t>
            </a:r>
          </a:p>
          <a:p>
            <a:pPr>
              <a:lnSpc>
                <a:spcPct val="200000"/>
              </a:lnSpc>
            </a:pPr>
            <a:r>
              <a:rPr lang="en-US" altLang="zh-CN" dirty="0"/>
              <a:t>[5]</a:t>
            </a:r>
            <a:r>
              <a:rPr lang="zh-CN" altLang="en-US" dirty="0"/>
              <a:t>白娜</a:t>
            </a:r>
            <a:r>
              <a:rPr lang="en-US" altLang="zh-CN" dirty="0"/>
              <a:t>. </a:t>
            </a:r>
            <a:r>
              <a:rPr lang="zh-CN" altLang="en-US" dirty="0"/>
              <a:t>二维</a:t>
            </a:r>
            <a:r>
              <a:rPr lang="en-US" altLang="zh-CN" dirty="0"/>
              <a:t>MoS2</a:t>
            </a:r>
            <a:r>
              <a:rPr lang="zh-CN" altLang="en-US" dirty="0"/>
              <a:t>及</a:t>
            </a:r>
            <a:r>
              <a:rPr lang="en-US" altLang="zh-CN" dirty="0"/>
              <a:t>TiS2</a:t>
            </a:r>
            <a:r>
              <a:rPr lang="zh-CN" altLang="en-US" dirty="0"/>
              <a:t>阻变存储器研究</a:t>
            </a:r>
            <a:r>
              <a:rPr lang="en-US" altLang="zh-CN" dirty="0"/>
              <a:t>[D]. </a:t>
            </a:r>
            <a:r>
              <a:rPr lang="zh-CN" altLang="en-US" dirty="0"/>
              <a:t>甘肃</a:t>
            </a:r>
            <a:r>
              <a:rPr lang="en-US" altLang="zh-CN" dirty="0"/>
              <a:t>:</a:t>
            </a:r>
            <a:r>
              <a:rPr lang="zh-CN" altLang="en-US" dirty="0"/>
              <a:t>兰州大学</a:t>
            </a:r>
            <a:r>
              <a:rPr lang="en-US" altLang="zh-CN" dirty="0"/>
              <a:t>,2019. </a:t>
            </a:r>
          </a:p>
          <a:p>
            <a:pPr>
              <a:lnSpc>
                <a:spcPct val="200000"/>
              </a:lnSpc>
            </a:pPr>
            <a:r>
              <a:rPr lang="en-US" altLang="zh-CN" dirty="0"/>
              <a:t>[6]</a:t>
            </a:r>
            <a:r>
              <a:rPr lang="zh-CN" altLang="en-US" dirty="0"/>
              <a:t>杨如倩</a:t>
            </a:r>
            <a:r>
              <a:rPr lang="en-US" altLang="zh-CN" dirty="0"/>
              <a:t>. </a:t>
            </a:r>
            <a:r>
              <a:rPr lang="zh-CN" altLang="en-US" dirty="0"/>
              <a:t>基于</a:t>
            </a:r>
            <a:r>
              <a:rPr lang="en-US" altLang="zh-CN" dirty="0"/>
              <a:t>MoS2</a:t>
            </a:r>
            <a:r>
              <a:rPr lang="zh-CN" altLang="en-US" dirty="0"/>
              <a:t>的阻变存储器工作机理研究</a:t>
            </a:r>
            <a:r>
              <a:rPr lang="en-US" altLang="zh-CN" dirty="0"/>
              <a:t>[D]. </a:t>
            </a:r>
            <a:r>
              <a:rPr lang="zh-CN" altLang="en-US" dirty="0"/>
              <a:t>江苏</a:t>
            </a:r>
            <a:r>
              <a:rPr lang="en-US" altLang="zh-CN" dirty="0"/>
              <a:t>:</a:t>
            </a:r>
            <a:r>
              <a:rPr lang="zh-CN" altLang="en-US" dirty="0"/>
              <a:t>东南大学</a:t>
            </a:r>
            <a:r>
              <a:rPr lang="en-US" altLang="zh-CN" dirty="0"/>
              <a:t>,2017. </a:t>
            </a:r>
            <a:endParaRPr lang="zh-CN" altLang="en-US" dirty="0"/>
          </a:p>
        </p:txBody>
      </p:sp>
    </p:spTree>
    <p:extLst>
      <p:ext uri="{BB962C8B-B14F-4D97-AF65-F5344CB8AC3E}">
        <p14:creationId xmlns:p14="http://schemas.microsoft.com/office/powerpoint/2010/main" val="3413045678"/>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3458</TotalTime>
  <Words>1912</Words>
  <Application>Microsoft Office PowerPoint</Application>
  <PresentationFormat>宽屏</PresentationFormat>
  <Paragraphs>134</Paragraphs>
  <Slides>19</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等线</vt:lpstr>
      <vt:lpstr>黑体</vt:lpstr>
      <vt:lpstr>Arial</vt:lpstr>
      <vt:lpstr>Times New Roman</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295</cp:revision>
  <dcterms:created xsi:type="dcterms:W3CDTF">2020-08-13T13:39:53Z</dcterms:created>
  <dcterms:modified xsi:type="dcterms:W3CDTF">2024-12-29T09:54:09Z</dcterms:modified>
</cp:coreProperties>
</file>