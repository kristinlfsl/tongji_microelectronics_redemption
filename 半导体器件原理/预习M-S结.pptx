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1"/>
  </p:sldMasterIdLst>
  <p:notesMasterIdLst>
    <p:notesMasterId r:id="rId19"/>
  </p:notesMasterIdLst>
  <p:handoutMasterIdLst>
    <p:handoutMasterId r:id="rId20"/>
  </p:handoutMasterIdLst>
  <p:sldIdLst>
    <p:sldId id="1232" r:id="rId2"/>
    <p:sldId id="1238" r:id="rId3"/>
    <p:sldId id="1241" r:id="rId4"/>
    <p:sldId id="1240" r:id="rId5"/>
    <p:sldId id="1242" r:id="rId6"/>
    <p:sldId id="1239" r:id="rId7"/>
    <p:sldId id="1243" r:id="rId8"/>
    <p:sldId id="1244" r:id="rId9"/>
    <p:sldId id="1245" r:id="rId10"/>
    <p:sldId id="1246" r:id="rId11"/>
    <p:sldId id="1247" r:id="rId12"/>
    <p:sldId id="1248" r:id="rId13"/>
    <p:sldId id="1253" r:id="rId14"/>
    <p:sldId id="1249" r:id="rId15"/>
    <p:sldId id="1251" r:id="rId16"/>
    <p:sldId id="1250" r:id="rId17"/>
    <p:sldId id="1252"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arry" initials="L" lastIdx="1" clrIdx="0">
    <p:extLst>
      <p:ext uri="{19B8F6BF-5375-455C-9EA6-DF929625EA0E}">
        <p15:presenceInfo xmlns:p15="http://schemas.microsoft.com/office/powerpoint/2012/main" userId="Larr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44" autoAdjust="0"/>
    <p:restoredTop sz="90941" autoAdjust="0"/>
  </p:normalViewPr>
  <p:slideViewPr>
    <p:cSldViewPr snapToGrid="0">
      <p:cViewPr varScale="1">
        <p:scale>
          <a:sx n="74" d="100"/>
          <a:sy n="74" d="100"/>
        </p:scale>
        <p:origin x="466" y="67"/>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73CF0A4-E610-495A-919B-CA480C71DED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A700D9AB-51EC-4401-AC4D-6157E0C759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8BE80A-4039-40DC-A2BA-410E82E5F961}" type="datetimeFigureOut">
              <a:rPr lang="zh-CN" altLang="en-US" smtClean="0"/>
              <a:t>2024/12/29</a:t>
            </a:fld>
            <a:endParaRPr lang="zh-CN" altLang="en-US"/>
          </a:p>
        </p:txBody>
      </p:sp>
      <p:sp>
        <p:nvSpPr>
          <p:cNvPr id="4" name="页脚占位符 3">
            <a:extLst>
              <a:ext uri="{FF2B5EF4-FFF2-40B4-BE49-F238E27FC236}">
                <a16:creationId xmlns:a16="http://schemas.microsoft.com/office/drawing/2014/main" id="{C022726D-C38F-45D2-9673-CCF05BC1E4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F10E6D5-A087-490B-BC7C-33021FE63D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38A59E-43ED-4AA1-B0F5-93878C5DD5EC}" type="slidenum">
              <a:rPr lang="zh-CN" altLang="en-US" smtClean="0"/>
              <a:t>‹#›</a:t>
            </a:fld>
            <a:endParaRPr lang="zh-CN" altLang="en-US"/>
          </a:p>
        </p:txBody>
      </p:sp>
    </p:spTree>
    <p:extLst>
      <p:ext uri="{BB962C8B-B14F-4D97-AF65-F5344CB8AC3E}">
        <p14:creationId xmlns:p14="http://schemas.microsoft.com/office/powerpoint/2010/main" val="409381615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F4E512-F0DE-40DA-A281-500184A3244D}" type="datetimeFigureOut">
              <a:rPr lang="zh-CN" altLang="en-US" smtClean="0"/>
              <a:t>2024/12/29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90452-1689-4497-A9A0-B842EEA687A2}" type="slidenum">
              <a:rPr lang="zh-CN" altLang="en-US" smtClean="0"/>
              <a:t>‹#›</a:t>
            </a:fld>
            <a:endParaRPr lang="zh-CN" altLang="en-US"/>
          </a:p>
        </p:txBody>
      </p:sp>
    </p:spTree>
    <p:extLst>
      <p:ext uri="{BB962C8B-B14F-4D97-AF65-F5344CB8AC3E}">
        <p14:creationId xmlns:p14="http://schemas.microsoft.com/office/powerpoint/2010/main" val="24627552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E115B22-8194-4FC8-9614-86C592EEABA0}" type="slidenum">
              <a:rPr lang="en-US" altLang="zh-CN"/>
              <a:pPr>
                <a:defRPr/>
              </a:pPr>
              <a:t>‹#›</a:t>
            </a:fld>
            <a:endParaRPr lang="en-US" altLang="zh-CN"/>
          </a:p>
        </p:txBody>
      </p:sp>
    </p:spTree>
    <p:extLst>
      <p:ext uri="{BB962C8B-B14F-4D97-AF65-F5344CB8AC3E}">
        <p14:creationId xmlns:p14="http://schemas.microsoft.com/office/powerpoint/2010/main" val="4146460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B5F2CA6-A39B-48F7-84D1-AF91BD07D67D}" type="slidenum">
              <a:rPr lang="en-US" altLang="zh-CN"/>
              <a:pPr>
                <a:defRPr/>
              </a:pPr>
              <a:t>‹#›</a:t>
            </a:fld>
            <a:endParaRPr lang="en-US" altLang="zh-CN"/>
          </a:p>
        </p:txBody>
      </p:sp>
    </p:spTree>
    <p:extLst>
      <p:ext uri="{BB962C8B-B14F-4D97-AF65-F5344CB8AC3E}">
        <p14:creationId xmlns:p14="http://schemas.microsoft.com/office/powerpoint/2010/main" val="1418223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AC41597-7941-4461-A03D-7D307C3317F5}" type="slidenum">
              <a:rPr lang="en-US" altLang="zh-CN"/>
              <a:pPr>
                <a:defRPr/>
              </a:pPr>
              <a:t>‹#›</a:t>
            </a:fld>
            <a:endParaRPr lang="en-US" altLang="zh-CN"/>
          </a:p>
        </p:txBody>
      </p:sp>
    </p:spTree>
    <p:extLst>
      <p:ext uri="{BB962C8B-B14F-4D97-AF65-F5344CB8AC3E}">
        <p14:creationId xmlns:p14="http://schemas.microsoft.com/office/powerpoint/2010/main" val="1967330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E7E5104-8735-46A8-9820-8BD5C44B645E}" type="slidenum">
              <a:rPr lang="en-US" altLang="zh-CN"/>
              <a:pPr>
                <a:defRPr/>
              </a:pPr>
              <a:t>‹#›</a:t>
            </a:fld>
            <a:endParaRPr lang="en-US" altLang="zh-CN"/>
          </a:p>
        </p:txBody>
      </p:sp>
    </p:spTree>
    <p:extLst>
      <p:ext uri="{BB962C8B-B14F-4D97-AF65-F5344CB8AC3E}">
        <p14:creationId xmlns:p14="http://schemas.microsoft.com/office/powerpoint/2010/main" val="1099038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C8BB04D0-EC69-4E34-9026-1132273F6FE6}" type="slidenum">
              <a:rPr lang="en-US" altLang="zh-CN"/>
              <a:pPr>
                <a:defRPr/>
              </a:pPr>
              <a:t>‹#›</a:t>
            </a:fld>
            <a:endParaRPr lang="en-US" altLang="zh-CN"/>
          </a:p>
        </p:txBody>
      </p:sp>
    </p:spTree>
    <p:extLst>
      <p:ext uri="{BB962C8B-B14F-4D97-AF65-F5344CB8AC3E}">
        <p14:creationId xmlns:p14="http://schemas.microsoft.com/office/powerpoint/2010/main" val="2959773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F34D7FE-E00D-4DCA-A0A7-A306174DC0C2}" type="slidenum">
              <a:rPr lang="en-US" altLang="zh-CN"/>
              <a:pPr>
                <a:defRPr/>
              </a:pPr>
              <a:t>‹#›</a:t>
            </a:fld>
            <a:endParaRPr lang="en-US" altLang="zh-CN"/>
          </a:p>
        </p:txBody>
      </p:sp>
    </p:spTree>
    <p:extLst>
      <p:ext uri="{BB962C8B-B14F-4D97-AF65-F5344CB8AC3E}">
        <p14:creationId xmlns:p14="http://schemas.microsoft.com/office/powerpoint/2010/main" val="873834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DFE46EFE-F103-4F45-8883-0DE6C66B1B8E}" type="slidenum">
              <a:rPr lang="en-US" altLang="zh-CN"/>
              <a:pPr>
                <a:defRPr/>
              </a:pPr>
              <a:t>‹#›</a:t>
            </a:fld>
            <a:endParaRPr lang="en-US" altLang="zh-CN"/>
          </a:p>
        </p:txBody>
      </p:sp>
    </p:spTree>
    <p:extLst>
      <p:ext uri="{BB962C8B-B14F-4D97-AF65-F5344CB8AC3E}">
        <p14:creationId xmlns:p14="http://schemas.microsoft.com/office/powerpoint/2010/main" val="1468583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675AF18-52E2-4048-A908-642605843CBF}" type="slidenum">
              <a:rPr lang="en-US" altLang="zh-CN"/>
              <a:pPr>
                <a:defRPr/>
              </a:pPr>
              <a:t>‹#›</a:t>
            </a:fld>
            <a:endParaRPr lang="en-US" altLang="zh-CN"/>
          </a:p>
        </p:txBody>
      </p:sp>
    </p:spTree>
    <p:extLst>
      <p:ext uri="{BB962C8B-B14F-4D97-AF65-F5344CB8AC3E}">
        <p14:creationId xmlns:p14="http://schemas.microsoft.com/office/powerpoint/2010/main" val="2851156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72A61F9-4BE0-4887-A67C-4D288CA56997}" type="slidenum">
              <a:rPr lang="en-US" altLang="zh-CN"/>
              <a:pPr>
                <a:defRPr/>
              </a:pPr>
              <a:t>‹#›</a:t>
            </a:fld>
            <a:endParaRPr lang="en-US" altLang="zh-CN"/>
          </a:p>
        </p:txBody>
      </p:sp>
    </p:spTree>
    <p:extLst>
      <p:ext uri="{BB962C8B-B14F-4D97-AF65-F5344CB8AC3E}">
        <p14:creationId xmlns:p14="http://schemas.microsoft.com/office/powerpoint/2010/main" val="7027319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437B2B09-852B-4EAA-A08A-0953A9F63347}" type="slidenum">
              <a:rPr lang="en-US" altLang="zh-CN"/>
              <a:pPr>
                <a:defRPr/>
              </a:pPr>
              <a:t>‹#›</a:t>
            </a:fld>
            <a:endParaRPr lang="en-US" altLang="zh-CN"/>
          </a:p>
        </p:txBody>
      </p:sp>
    </p:spTree>
    <p:extLst>
      <p:ext uri="{BB962C8B-B14F-4D97-AF65-F5344CB8AC3E}">
        <p14:creationId xmlns:p14="http://schemas.microsoft.com/office/powerpoint/2010/main" val="1354775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61CDC42-DFEF-458F-BD1B-2EFAEEF68015}" type="slidenum">
              <a:rPr lang="en-US" altLang="zh-CN"/>
              <a:pPr>
                <a:defRPr/>
              </a:pPr>
              <a:t>‹#›</a:t>
            </a:fld>
            <a:endParaRPr lang="en-US" altLang="zh-CN"/>
          </a:p>
        </p:txBody>
      </p:sp>
    </p:spTree>
    <p:extLst>
      <p:ext uri="{BB962C8B-B14F-4D97-AF65-F5344CB8AC3E}">
        <p14:creationId xmlns:p14="http://schemas.microsoft.com/office/powerpoint/2010/main" val="2500059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fld id="{FF534AEE-0681-4001-91D8-DF8F111160F4}" type="slidenum">
              <a:rPr lang="en-US" altLang="zh-CN"/>
              <a:pPr>
                <a:defRPr/>
              </a:pPr>
              <a:t>‹#›</a:t>
            </a:fld>
            <a:endParaRPr lang="en-US" altLang="zh-CN"/>
          </a:p>
        </p:txBody>
      </p:sp>
      <p:pic>
        <p:nvPicPr>
          <p:cNvPr id="7" name="Picture 2">
            <a:extLst>
              <a:ext uri="{FF2B5EF4-FFF2-40B4-BE49-F238E27FC236}">
                <a16:creationId xmlns:a16="http://schemas.microsoft.com/office/drawing/2014/main" id="{D90EEA7F-39F9-4B97-AF58-835331598C9A}"/>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0762268" y="5786"/>
            <a:ext cx="1183064" cy="11830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9806544"/>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 Id="rId9" Type="http://schemas.openxmlformats.org/officeDocument/2006/relationships/image" Target="../media/image7.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6.bin"/><Relationship Id="rId4" Type="http://schemas.openxmlformats.org/officeDocument/2006/relationships/image" Target="../media/image9.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6.wmf"/><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oleObject" Target="../embeddings/oleObject12.bin"/><Relationship Id="rId17" Type="http://schemas.openxmlformats.org/officeDocument/2006/relationships/image" Target="../media/image18.wmf"/><Relationship Id="rId2" Type="http://schemas.openxmlformats.org/officeDocument/2006/relationships/oleObject" Target="../embeddings/oleObject7.bin"/><Relationship Id="rId16"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9.bin"/><Relationship Id="rId11" Type="http://schemas.openxmlformats.org/officeDocument/2006/relationships/image" Target="../media/image15.wmf"/><Relationship Id="rId5" Type="http://schemas.openxmlformats.org/officeDocument/2006/relationships/image" Target="../media/image12.wmf"/><Relationship Id="rId15" Type="http://schemas.openxmlformats.org/officeDocument/2006/relationships/image" Target="../media/image17.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4.wmf"/><Relationship Id="rId14" Type="http://schemas.openxmlformats.org/officeDocument/2006/relationships/oleObject" Target="../embeddings/oleObject13.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24.wmf"/><Relationship Id="rId3" Type="http://schemas.openxmlformats.org/officeDocument/2006/relationships/image" Target="../media/image19.wmf"/><Relationship Id="rId7" Type="http://schemas.openxmlformats.org/officeDocument/2006/relationships/image" Target="../media/image21.wmf"/><Relationship Id="rId12" Type="http://schemas.openxmlformats.org/officeDocument/2006/relationships/oleObject" Target="../embeddings/oleObject20.bin"/><Relationship Id="rId2" Type="http://schemas.openxmlformats.org/officeDocument/2006/relationships/oleObject" Target="../embeddings/oleObject15.bin"/><Relationship Id="rId1" Type="http://schemas.openxmlformats.org/officeDocument/2006/relationships/slideLayout" Target="../slideLayouts/slideLayout2.xml"/><Relationship Id="rId6" Type="http://schemas.openxmlformats.org/officeDocument/2006/relationships/oleObject" Target="../embeddings/oleObject17.bin"/><Relationship Id="rId11" Type="http://schemas.openxmlformats.org/officeDocument/2006/relationships/image" Target="../media/image23.wmf"/><Relationship Id="rId5" Type="http://schemas.openxmlformats.org/officeDocument/2006/relationships/image" Target="../media/image20.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22.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30.wmf"/><Relationship Id="rId3" Type="http://schemas.openxmlformats.org/officeDocument/2006/relationships/image" Target="../media/image25.wmf"/><Relationship Id="rId7" Type="http://schemas.openxmlformats.org/officeDocument/2006/relationships/image" Target="../media/image27.wmf"/><Relationship Id="rId12" Type="http://schemas.openxmlformats.org/officeDocument/2006/relationships/oleObject" Target="../embeddings/oleObject26.bin"/><Relationship Id="rId17" Type="http://schemas.openxmlformats.org/officeDocument/2006/relationships/image" Target="../media/image32.wmf"/><Relationship Id="rId2" Type="http://schemas.openxmlformats.org/officeDocument/2006/relationships/oleObject" Target="../embeddings/oleObject21.bin"/><Relationship Id="rId16" Type="http://schemas.openxmlformats.org/officeDocument/2006/relationships/oleObject" Target="../embeddings/oleObject28.bin"/><Relationship Id="rId1" Type="http://schemas.openxmlformats.org/officeDocument/2006/relationships/slideLayout" Target="../slideLayouts/slideLayout2.xml"/><Relationship Id="rId6" Type="http://schemas.openxmlformats.org/officeDocument/2006/relationships/oleObject" Target="../embeddings/oleObject23.bin"/><Relationship Id="rId11" Type="http://schemas.openxmlformats.org/officeDocument/2006/relationships/image" Target="../media/image29.wmf"/><Relationship Id="rId5" Type="http://schemas.openxmlformats.org/officeDocument/2006/relationships/image" Target="../media/image26.wmf"/><Relationship Id="rId15" Type="http://schemas.openxmlformats.org/officeDocument/2006/relationships/image" Target="../media/image31.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28.wmf"/><Relationship Id="rId14" Type="http://schemas.openxmlformats.org/officeDocument/2006/relationships/oleObject" Target="../embeddings/oleObject27.bin"/></Relationships>
</file>

<file path=ppt/slides/_rels/slide9.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29.bin"/><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wmf"/><Relationship Id="rId4" Type="http://schemas.openxmlformats.org/officeDocument/2006/relationships/oleObject" Target="../embeddings/oleObject30.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image" Target="../media/image36.wmf"/><Relationship Id="rId7" Type="http://schemas.openxmlformats.org/officeDocument/2006/relationships/image" Target="../media/image38.wmf"/><Relationship Id="rId12" Type="http://schemas.openxmlformats.org/officeDocument/2006/relationships/image" Target="../media/image41.emf"/><Relationship Id="rId2" Type="http://schemas.openxmlformats.org/officeDocument/2006/relationships/oleObject" Target="../embeddings/oleObject31.bin"/><Relationship Id="rId1" Type="http://schemas.openxmlformats.org/officeDocument/2006/relationships/slideLayout" Target="../slideLayouts/slideLayout2.xml"/><Relationship Id="rId6" Type="http://schemas.openxmlformats.org/officeDocument/2006/relationships/oleObject" Target="../embeddings/oleObject33.bin"/><Relationship Id="rId11" Type="http://schemas.openxmlformats.org/officeDocument/2006/relationships/image" Target="../media/image40.wmf"/><Relationship Id="rId5" Type="http://schemas.openxmlformats.org/officeDocument/2006/relationships/image" Target="../media/image37.wmf"/><Relationship Id="rId10" Type="http://schemas.openxmlformats.org/officeDocument/2006/relationships/oleObject" Target="../embeddings/oleObject35.bin"/><Relationship Id="rId4" Type="http://schemas.openxmlformats.org/officeDocument/2006/relationships/oleObject" Target="../embeddings/oleObject32.bin"/><Relationship Id="rId9" Type="http://schemas.openxmlformats.org/officeDocument/2006/relationships/image" Target="../media/image39.wmf"/></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4.wmf"/><Relationship Id="rId4" Type="http://schemas.openxmlformats.org/officeDocument/2006/relationships/oleObject" Target="../embeddings/oleObject36.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45.wmf"/><Relationship Id="rId7" Type="http://schemas.openxmlformats.org/officeDocument/2006/relationships/image" Target="../media/image47.wmf"/><Relationship Id="rId2"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oleObject" Target="../embeddings/oleObject39.bin"/><Relationship Id="rId5" Type="http://schemas.openxmlformats.org/officeDocument/2006/relationships/image" Target="../media/image46.wmf"/><Relationship Id="rId4" Type="http://schemas.openxmlformats.org/officeDocument/2006/relationships/oleObject" Target="../embeddings/oleObject38.bin"/><Relationship Id="rId9" Type="http://schemas.openxmlformats.org/officeDocument/2006/relationships/image" Target="../media/image48.wmf"/></Relationships>
</file>

<file path=ppt/slides/_rels/slide1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55.wmf"/><Relationship Id="rId18" Type="http://schemas.openxmlformats.org/officeDocument/2006/relationships/oleObject" Target="../embeddings/oleObject49.bin"/><Relationship Id="rId3" Type="http://schemas.openxmlformats.org/officeDocument/2006/relationships/image" Target="../media/image50.wmf"/><Relationship Id="rId21" Type="http://schemas.openxmlformats.org/officeDocument/2006/relationships/image" Target="../media/image59.wmf"/><Relationship Id="rId7" Type="http://schemas.openxmlformats.org/officeDocument/2006/relationships/image" Target="../media/image52.wmf"/><Relationship Id="rId12" Type="http://schemas.openxmlformats.org/officeDocument/2006/relationships/oleObject" Target="../embeddings/oleObject46.bin"/><Relationship Id="rId17" Type="http://schemas.openxmlformats.org/officeDocument/2006/relationships/image" Target="../media/image57.wmf"/><Relationship Id="rId2" Type="http://schemas.openxmlformats.org/officeDocument/2006/relationships/oleObject" Target="../embeddings/oleObject41.bin"/><Relationship Id="rId16" Type="http://schemas.openxmlformats.org/officeDocument/2006/relationships/oleObject" Target="../embeddings/oleObject48.bin"/><Relationship Id="rId20" Type="http://schemas.openxmlformats.org/officeDocument/2006/relationships/oleObject" Target="../embeddings/oleObject50.bin"/><Relationship Id="rId1" Type="http://schemas.openxmlformats.org/officeDocument/2006/relationships/slideLayout" Target="../slideLayouts/slideLayout2.xml"/><Relationship Id="rId6" Type="http://schemas.openxmlformats.org/officeDocument/2006/relationships/oleObject" Target="../embeddings/oleObject43.bin"/><Relationship Id="rId11" Type="http://schemas.openxmlformats.org/officeDocument/2006/relationships/image" Target="../media/image54.wmf"/><Relationship Id="rId5" Type="http://schemas.openxmlformats.org/officeDocument/2006/relationships/image" Target="../media/image51.wmf"/><Relationship Id="rId15" Type="http://schemas.openxmlformats.org/officeDocument/2006/relationships/image" Target="../media/image56.wmf"/><Relationship Id="rId10" Type="http://schemas.openxmlformats.org/officeDocument/2006/relationships/oleObject" Target="../embeddings/oleObject45.bin"/><Relationship Id="rId19" Type="http://schemas.openxmlformats.org/officeDocument/2006/relationships/image" Target="../media/image58.wmf"/><Relationship Id="rId4" Type="http://schemas.openxmlformats.org/officeDocument/2006/relationships/oleObject" Target="../embeddings/oleObject42.bin"/><Relationship Id="rId9" Type="http://schemas.openxmlformats.org/officeDocument/2006/relationships/image" Target="../media/image53.wmf"/><Relationship Id="rId14" Type="http://schemas.openxmlformats.org/officeDocument/2006/relationships/oleObject" Target="../embeddings/oleObject47.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4.bin"/><Relationship Id="rId13" Type="http://schemas.openxmlformats.org/officeDocument/2006/relationships/image" Target="../media/image65.wmf"/><Relationship Id="rId3" Type="http://schemas.openxmlformats.org/officeDocument/2006/relationships/image" Target="../media/image60.wmf"/><Relationship Id="rId7" Type="http://schemas.openxmlformats.org/officeDocument/2006/relationships/image" Target="../media/image62.wmf"/><Relationship Id="rId12" Type="http://schemas.openxmlformats.org/officeDocument/2006/relationships/oleObject" Target="../embeddings/oleObject56.bin"/><Relationship Id="rId2" Type="http://schemas.openxmlformats.org/officeDocument/2006/relationships/oleObject" Target="../embeddings/oleObject51.bin"/><Relationship Id="rId1" Type="http://schemas.openxmlformats.org/officeDocument/2006/relationships/slideLayout" Target="../slideLayouts/slideLayout2.xml"/><Relationship Id="rId6" Type="http://schemas.openxmlformats.org/officeDocument/2006/relationships/oleObject" Target="../embeddings/oleObject53.bin"/><Relationship Id="rId11" Type="http://schemas.openxmlformats.org/officeDocument/2006/relationships/image" Target="../media/image64.wmf"/><Relationship Id="rId5" Type="http://schemas.openxmlformats.org/officeDocument/2006/relationships/image" Target="../media/image61.w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63.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7.bin"/><Relationship Id="rId7" Type="http://schemas.openxmlformats.org/officeDocument/2006/relationships/image" Target="../media/image69.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68.wmf"/><Relationship Id="rId5" Type="http://schemas.openxmlformats.org/officeDocument/2006/relationships/oleObject" Target="../embeddings/oleObject58.bin"/><Relationship Id="rId4" Type="http://schemas.openxmlformats.org/officeDocument/2006/relationships/image" Target="../media/image67.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8BD095E2-5873-46A8-B8F7-078AF9511F47}"/>
              </a:ext>
            </a:extLst>
          </p:cNvPr>
          <p:cNvSpPr/>
          <p:nvPr/>
        </p:nvSpPr>
        <p:spPr>
          <a:xfrm>
            <a:off x="2557341" y="2218695"/>
            <a:ext cx="7077317" cy="646331"/>
          </a:xfrm>
          <a:prstGeom prst="rect">
            <a:avLst/>
          </a:prstGeom>
          <a:noFill/>
        </p:spPr>
        <p:txBody>
          <a:bodyPr wrap="square" lIns="91440" tIns="45720" rIns="91440" bIns="45720">
            <a:spAutoFit/>
          </a:bodyPr>
          <a:lstStyle/>
          <a:p>
            <a:pPr algn="ctr"/>
            <a:r>
              <a:rPr lang="zh-CN" altLang="en-US" sz="3600" dirty="0">
                <a:ln w="0"/>
                <a:effectLst>
                  <a:outerShdw blurRad="38100" dist="19050" dir="2700000" algn="tl" rotWithShape="0">
                    <a:schemeClr val="dk1">
                      <a:alpha val="40000"/>
                    </a:schemeClr>
                  </a:outerShdw>
                </a:effectLst>
              </a:rPr>
              <a:t>预习</a:t>
            </a:r>
            <a:r>
              <a:rPr lang="en-US" altLang="zh-CN" sz="3600" dirty="0">
                <a:ln w="0"/>
                <a:effectLst>
                  <a:outerShdw blurRad="38100" dist="19050" dir="2700000" algn="tl" rotWithShape="0">
                    <a:schemeClr val="dk1">
                      <a:alpha val="40000"/>
                    </a:schemeClr>
                  </a:outerShdw>
                </a:effectLst>
              </a:rPr>
              <a:t>M-S</a:t>
            </a:r>
            <a:r>
              <a:rPr lang="zh-CN" altLang="en-US" sz="3600" dirty="0">
                <a:ln w="0"/>
                <a:effectLst>
                  <a:outerShdw blurRad="38100" dist="19050" dir="2700000" algn="tl" rotWithShape="0">
                    <a:schemeClr val="dk1">
                      <a:alpha val="40000"/>
                    </a:schemeClr>
                  </a:outerShdw>
                </a:effectLst>
              </a:rPr>
              <a:t>结</a:t>
            </a:r>
            <a:endParaRPr lang="en-US" altLang="zh-CN" sz="3600" dirty="0">
              <a:ln w="0"/>
              <a:effectLst>
                <a:outerShdw blurRad="38100" dist="19050" dir="2700000" algn="tl" rotWithShape="0">
                  <a:schemeClr val="dk1">
                    <a:alpha val="40000"/>
                  </a:schemeClr>
                </a:outerShdw>
              </a:effectLst>
            </a:endParaRPr>
          </a:p>
        </p:txBody>
      </p:sp>
      <p:sp>
        <p:nvSpPr>
          <p:cNvPr id="5" name="矩形 4">
            <a:extLst>
              <a:ext uri="{FF2B5EF4-FFF2-40B4-BE49-F238E27FC236}">
                <a16:creationId xmlns:a16="http://schemas.microsoft.com/office/drawing/2014/main" id="{E8DA0312-2E5E-4D35-B163-BF59B81B426E}"/>
              </a:ext>
            </a:extLst>
          </p:cNvPr>
          <p:cNvSpPr/>
          <p:nvPr/>
        </p:nvSpPr>
        <p:spPr>
          <a:xfrm>
            <a:off x="4791796" y="3245657"/>
            <a:ext cx="1261884" cy="1384995"/>
          </a:xfrm>
          <a:prstGeom prst="rect">
            <a:avLst/>
          </a:prstGeom>
          <a:noFill/>
        </p:spPr>
        <p:txBody>
          <a:bodyPr wrap="none" lIns="91440" tIns="45720" rIns="91440" bIns="45720">
            <a:spAutoFit/>
          </a:bodyPr>
          <a:lstStyle/>
          <a:p>
            <a:r>
              <a:rPr lang="zh-CN" altLang="en-US" sz="2800" b="0" cap="none" spc="0" dirty="0">
                <a:ln w="0"/>
                <a:solidFill>
                  <a:schemeClr val="tx1"/>
                </a:solidFill>
                <a:effectLst>
                  <a:outerShdw blurRad="38100" dist="19050" dir="2700000" algn="tl" rotWithShape="0">
                    <a:schemeClr val="dk1">
                      <a:alpha val="40000"/>
                    </a:schemeClr>
                  </a:outerShdw>
                </a:effectLst>
              </a:rPr>
              <a:t>姓名：</a:t>
            </a:r>
            <a:endParaRPr lang="en-US" altLang="zh-CN" sz="2800" b="0" cap="none" spc="0" dirty="0">
              <a:ln w="0"/>
              <a:solidFill>
                <a:schemeClr val="tx1"/>
              </a:solidFill>
              <a:effectLst>
                <a:outerShdw blurRad="38100" dist="19050" dir="2700000" algn="tl" rotWithShape="0">
                  <a:schemeClr val="dk1">
                    <a:alpha val="40000"/>
                  </a:schemeClr>
                </a:outerShdw>
              </a:effectLst>
            </a:endParaRPr>
          </a:p>
          <a:p>
            <a:r>
              <a:rPr lang="zh-CN" altLang="en-US" sz="2800" dirty="0">
                <a:ln w="0"/>
                <a:effectLst>
                  <a:outerShdw blurRad="38100" dist="19050" dir="2700000" algn="tl" rotWithShape="0">
                    <a:schemeClr val="dk1">
                      <a:alpha val="40000"/>
                    </a:schemeClr>
                  </a:outerShdw>
                </a:effectLst>
              </a:rPr>
              <a:t>学号：</a:t>
            </a:r>
            <a:endParaRPr lang="en-US" altLang="zh-CN" sz="2800" dirty="0">
              <a:ln w="0"/>
              <a:effectLst>
                <a:outerShdw blurRad="38100" dist="19050" dir="2700000" algn="tl" rotWithShape="0">
                  <a:schemeClr val="dk1">
                    <a:alpha val="40000"/>
                  </a:schemeClr>
                </a:outerShdw>
              </a:effectLst>
            </a:endParaRPr>
          </a:p>
          <a:p>
            <a:r>
              <a:rPr lang="zh-CN" altLang="en-US" sz="2800" b="0" cap="none" spc="0">
                <a:ln w="0"/>
                <a:solidFill>
                  <a:schemeClr val="tx1"/>
                </a:solidFill>
                <a:effectLst>
                  <a:outerShdw blurRad="38100" dist="19050" dir="2700000" algn="tl" rotWithShape="0">
                    <a:schemeClr val="dk1">
                      <a:alpha val="40000"/>
                    </a:schemeClr>
                  </a:outerShdw>
                </a:effectLst>
              </a:rPr>
              <a:t>时间：</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9" name="灯片编号占位符 8">
            <a:extLst>
              <a:ext uri="{FF2B5EF4-FFF2-40B4-BE49-F238E27FC236}">
                <a16:creationId xmlns:a16="http://schemas.microsoft.com/office/drawing/2014/main" id="{3D31EF5B-60C8-4BAE-BF23-75CAA65BBB11}"/>
              </a:ext>
            </a:extLst>
          </p:cNvPr>
          <p:cNvSpPr>
            <a:spLocks noGrp="1"/>
          </p:cNvSpPr>
          <p:nvPr>
            <p:ph type="sldNum" sz="quarter" idx="12"/>
          </p:nvPr>
        </p:nvSpPr>
        <p:spPr/>
        <p:txBody>
          <a:bodyPr/>
          <a:lstStyle/>
          <a:p>
            <a:pPr>
              <a:defRPr/>
            </a:pPr>
            <a:fld id="{7E115B22-8194-4FC8-9614-86C592EEABA0}" type="slidenum">
              <a:rPr lang="en-US" altLang="zh-CN" smtClean="0"/>
              <a:pPr>
                <a:defRPr/>
              </a:pPr>
              <a:t>1</a:t>
            </a:fld>
            <a:endParaRPr lang="en-US" altLang="zh-CN"/>
          </a:p>
        </p:txBody>
      </p:sp>
    </p:spTree>
    <p:extLst>
      <p:ext uri="{BB962C8B-B14F-4D97-AF65-F5344CB8AC3E}">
        <p14:creationId xmlns:p14="http://schemas.microsoft.com/office/powerpoint/2010/main" val="75989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5A650E7-7E4B-46FA-BC67-845FAE803FB5}"/>
              </a:ext>
            </a:extLst>
          </p:cNvPr>
          <p:cNvSpPr>
            <a:spLocks noGrp="1"/>
          </p:cNvSpPr>
          <p:nvPr>
            <p:ph type="sldNum" sz="quarter" idx="12"/>
          </p:nvPr>
        </p:nvSpPr>
        <p:spPr/>
        <p:txBody>
          <a:bodyPr/>
          <a:lstStyle/>
          <a:p>
            <a:pPr>
              <a:defRPr/>
            </a:pPr>
            <a:fld id="{DB5F2CA6-A39B-48F7-84D1-AF91BD07D67D}" type="slidenum">
              <a:rPr lang="en-US" altLang="zh-CN" smtClean="0"/>
              <a:pPr>
                <a:defRPr/>
              </a:pPr>
              <a:t>2</a:t>
            </a:fld>
            <a:endParaRPr lang="en-US" altLang="zh-CN"/>
          </a:p>
        </p:txBody>
      </p:sp>
      <p:sp>
        <p:nvSpPr>
          <p:cNvPr id="5" name="矩形 4">
            <a:extLst>
              <a:ext uri="{FF2B5EF4-FFF2-40B4-BE49-F238E27FC236}">
                <a16:creationId xmlns:a16="http://schemas.microsoft.com/office/drawing/2014/main" id="{3A7B24C4-0057-401D-9658-15504D94CACA}"/>
              </a:ext>
            </a:extLst>
          </p:cNvPr>
          <p:cNvSpPr/>
          <p:nvPr/>
        </p:nvSpPr>
        <p:spPr>
          <a:xfrm>
            <a:off x="377062" y="390390"/>
            <a:ext cx="1005403" cy="584775"/>
          </a:xfrm>
          <a:prstGeom prst="rect">
            <a:avLst/>
          </a:prstGeom>
          <a:noFill/>
        </p:spPr>
        <p:txBody>
          <a:bodyPr wrap="none" lIns="91440" tIns="45720" rIns="91440" bIns="45720">
            <a:spAutoFit/>
          </a:bodyPr>
          <a:lstStyle/>
          <a:p>
            <a:pPr algn="ctr"/>
            <a:r>
              <a:rPr lang="zh-CN" altLang="en-US" sz="3200" b="0" cap="none" spc="0" dirty="0">
                <a:ln w="0"/>
                <a:solidFill>
                  <a:schemeClr val="tx1"/>
                </a:solidFill>
                <a:effectLst>
                  <a:outerShdw blurRad="38100" dist="19050" dir="2700000" algn="tl" rotWithShape="0">
                    <a:schemeClr val="dk1">
                      <a:alpha val="40000"/>
                    </a:schemeClr>
                  </a:outerShdw>
                </a:effectLst>
              </a:rPr>
              <a:t>回顾</a:t>
            </a:r>
          </a:p>
        </p:txBody>
      </p:sp>
      <p:sp>
        <p:nvSpPr>
          <p:cNvPr id="6" name="文本框 5">
            <a:extLst>
              <a:ext uri="{FF2B5EF4-FFF2-40B4-BE49-F238E27FC236}">
                <a16:creationId xmlns:a16="http://schemas.microsoft.com/office/drawing/2014/main" id="{E459DD14-CB85-47EA-B558-55161F91E88D}"/>
              </a:ext>
            </a:extLst>
          </p:cNvPr>
          <p:cNvSpPr txBox="1"/>
          <p:nvPr/>
        </p:nvSpPr>
        <p:spPr>
          <a:xfrm>
            <a:off x="488373" y="1143000"/>
            <a:ext cx="10993582" cy="4801314"/>
          </a:xfrm>
          <a:prstGeom prst="rect">
            <a:avLst/>
          </a:prstGeom>
          <a:noFill/>
        </p:spPr>
        <p:txBody>
          <a:bodyPr wrap="square" rtlCol="0">
            <a:spAutoFit/>
          </a:bodyPr>
          <a:lstStyle/>
          <a:p>
            <a:pPr algn="just"/>
            <a:r>
              <a:rPr lang="zh-CN" altLang="en-US" dirty="0"/>
              <a:t>        在前面两章中</a:t>
            </a:r>
            <a:r>
              <a:rPr lang="en-US" altLang="zh-CN" dirty="0"/>
              <a:t>,</a:t>
            </a:r>
            <a:r>
              <a:rPr lang="zh-CN" altLang="en-US" dirty="0"/>
              <a:t>我们已经讨论了</a:t>
            </a:r>
            <a:r>
              <a:rPr lang="en-US" altLang="zh-CN" dirty="0" err="1">
                <a:solidFill>
                  <a:srgbClr val="FF0000"/>
                </a:solidFill>
              </a:rPr>
              <a:t>pn</a:t>
            </a:r>
            <a:r>
              <a:rPr lang="zh-CN" altLang="en-US" dirty="0">
                <a:solidFill>
                  <a:srgbClr val="FF0000"/>
                </a:solidFill>
              </a:rPr>
              <a:t>结</a:t>
            </a:r>
            <a:r>
              <a:rPr lang="zh-CN" altLang="en-US" dirty="0"/>
              <a:t>，它们是由同一种半导体材料组成的，通常称为同质结。我们研究了结的静电作用并得到了</a:t>
            </a:r>
            <a:r>
              <a:rPr lang="zh-CN" altLang="en-US" dirty="0">
                <a:solidFill>
                  <a:srgbClr val="FF0000"/>
                </a:solidFill>
              </a:rPr>
              <a:t>电流</a:t>
            </a:r>
            <a:r>
              <a:rPr lang="en-US" altLang="zh-CN" dirty="0">
                <a:solidFill>
                  <a:srgbClr val="FF0000"/>
                </a:solidFill>
              </a:rPr>
              <a:t>-</a:t>
            </a:r>
            <a:r>
              <a:rPr lang="zh-CN" altLang="en-US" dirty="0">
                <a:solidFill>
                  <a:srgbClr val="FF0000"/>
                </a:solidFill>
              </a:rPr>
              <a:t>电压之间的关系</a:t>
            </a:r>
            <a:r>
              <a:rPr lang="zh-CN" altLang="en-US" dirty="0"/>
              <a:t>。在这一章中，将讨论由不同材料组成的结，即</a:t>
            </a:r>
            <a:r>
              <a:rPr lang="zh-CN" altLang="en-US" dirty="0">
                <a:solidFill>
                  <a:srgbClr val="FF0000"/>
                </a:solidFill>
              </a:rPr>
              <a:t>金属</a:t>
            </a:r>
            <a:r>
              <a:rPr lang="en-US" altLang="zh-CN" dirty="0">
                <a:solidFill>
                  <a:srgbClr val="FF0000"/>
                </a:solidFill>
              </a:rPr>
              <a:t>-</a:t>
            </a:r>
            <a:r>
              <a:rPr lang="zh-CN" altLang="en-US" dirty="0">
                <a:solidFill>
                  <a:srgbClr val="FF0000"/>
                </a:solidFill>
              </a:rPr>
              <a:t>半导体结（</a:t>
            </a:r>
            <a:r>
              <a:rPr lang="en-US" altLang="zh-CN" dirty="0">
                <a:solidFill>
                  <a:srgbClr val="FF0000"/>
                </a:solidFill>
              </a:rPr>
              <a:t>M-S</a:t>
            </a:r>
            <a:r>
              <a:rPr lang="zh-CN" altLang="en-US" dirty="0">
                <a:solidFill>
                  <a:srgbClr val="FF0000"/>
                </a:solidFill>
              </a:rPr>
              <a:t>结）</a:t>
            </a:r>
            <a:r>
              <a:rPr lang="zh-CN" altLang="en-US" dirty="0"/>
              <a:t>，这种结也能制成二极管。</a:t>
            </a:r>
            <a:endParaRPr lang="en-US" altLang="zh-CN" dirty="0"/>
          </a:p>
          <a:p>
            <a:endParaRPr lang="en-US" altLang="zh-CN" dirty="0"/>
          </a:p>
          <a:p>
            <a:endParaRPr lang="en-US" altLang="zh-CN" dirty="0"/>
          </a:p>
          <a:p>
            <a:pPr algn="just"/>
            <a:r>
              <a:rPr lang="zh-CN" altLang="en-US" dirty="0"/>
              <a:t>        最早于</a:t>
            </a:r>
            <a:r>
              <a:rPr lang="en-US" altLang="zh-CN" dirty="0"/>
              <a:t>20</a:t>
            </a:r>
            <a:r>
              <a:rPr lang="zh-CN" altLang="en-US" dirty="0"/>
              <a:t>世纪初期使用的一种半导体器件是金属</a:t>
            </a:r>
            <a:r>
              <a:rPr lang="en-US" altLang="zh-CN" dirty="0"/>
              <a:t>-</a:t>
            </a:r>
            <a:r>
              <a:rPr lang="zh-CN" altLang="en-US" dirty="0"/>
              <a:t>半导体二极管，这种二极管</a:t>
            </a:r>
            <a:r>
              <a:rPr lang="en-US" altLang="zh-CN" dirty="0"/>
              <a:t>(</a:t>
            </a:r>
            <a:r>
              <a:rPr lang="zh-CN" altLang="en-US" dirty="0"/>
              <a:t>也称为点接触二极管</a:t>
            </a:r>
            <a:r>
              <a:rPr lang="en-US" altLang="zh-CN" dirty="0"/>
              <a:t>)</a:t>
            </a:r>
            <a:r>
              <a:rPr lang="zh-CN" altLang="en-US" dirty="0"/>
              <a:t>是将金属须与裸露的半导体表面轻触而形成的。这些金属</a:t>
            </a:r>
            <a:r>
              <a:rPr lang="en-US" altLang="zh-CN" dirty="0"/>
              <a:t>-</a:t>
            </a:r>
            <a:r>
              <a:rPr lang="zh-CN" altLang="en-US" dirty="0"/>
              <a:t>半导体二极管不容易形成可靠性也不好，于是在</a:t>
            </a:r>
            <a:r>
              <a:rPr lang="en-US" altLang="zh-CN" dirty="0"/>
              <a:t>20</a:t>
            </a:r>
            <a:r>
              <a:rPr lang="zh-CN" altLang="en-US" dirty="0"/>
              <a:t>世纪</a:t>
            </a:r>
            <a:r>
              <a:rPr lang="en-US" altLang="zh-CN" dirty="0"/>
              <a:t>50</a:t>
            </a:r>
            <a:r>
              <a:rPr lang="zh-CN" altLang="en-US" dirty="0"/>
              <a:t>年代被</a:t>
            </a:r>
            <a:r>
              <a:rPr lang="en-US" altLang="zh-CN" dirty="0" err="1"/>
              <a:t>pn</a:t>
            </a:r>
            <a:r>
              <a:rPr lang="zh-CN" altLang="en-US" dirty="0"/>
              <a:t>结取代了。随着半导体技术和真空技术的发展，金属</a:t>
            </a:r>
            <a:r>
              <a:rPr lang="en-US" altLang="zh-CN" dirty="0"/>
              <a:t>-</a:t>
            </a:r>
            <a:r>
              <a:rPr lang="zh-CN" altLang="en-US" dirty="0"/>
              <a:t>半导体接触得以实现。在这一节中</a:t>
            </a:r>
            <a:r>
              <a:rPr lang="en-US" altLang="zh-CN" dirty="0"/>
              <a:t>,</a:t>
            </a:r>
            <a:r>
              <a:rPr lang="zh-CN" altLang="en-US" dirty="0"/>
              <a:t>我们将讨论金属</a:t>
            </a:r>
            <a:r>
              <a:rPr lang="en-US" altLang="zh-CN" dirty="0"/>
              <a:t>-</a:t>
            </a:r>
            <a:r>
              <a:rPr lang="zh-CN" altLang="en-US" dirty="0"/>
              <a:t>半导体的整流接触，即肖特基势垒二极管。多数情况下，整流接触发生在</a:t>
            </a:r>
            <a:r>
              <a:rPr lang="en-US" altLang="zh-CN" dirty="0"/>
              <a:t>n</a:t>
            </a:r>
            <a:r>
              <a:rPr lang="zh-CN" altLang="en-US" dirty="0"/>
              <a:t>型半导体中，我们将主要讨论金属和</a:t>
            </a:r>
            <a:r>
              <a:rPr lang="en-US" altLang="zh-CN" dirty="0"/>
              <a:t>n</a:t>
            </a:r>
            <a:r>
              <a:rPr lang="zh-CN" altLang="en-US" dirty="0"/>
              <a:t>型半导体形成的整流接触。</a:t>
            </a:r>
            <a:endParaRPr lang="en-US" altLang="zh-CN" dirty="0"/>
          </a:p>
          <a:p>
            <a:pPr algn="just"/>
            <a:endParaRPr lang="en-US" altLang="zh-CN" dirty="0"/>
          </a:p>
          <a:p>
            <a:pPr algn="just"/>
            <a:endParaRPr lang="en-US" altLang="zh-CN" dirty="0"/>
          </a:p>
          <a:p>
            <a:pPr algn="just"/>
            <a:r>
              <a:rPr lang="en-US" altLang="zh-CN" dirty="0"/>
              <a:t>        </a:t>
            </a:r>
            <a:r>
              <a:rPr lang="zh-CN" altLang="en-US" dirty="0"/>
              <a:t>一种特定的金属与</a:t>
            </a:r>
            <a:r>
              <a:rPr lang="en-US" altLang="zh-CN" dirty="0"/>
              <a:t>n</a:t>
            </a:r>
            <a:r>
              <a:rPr lang="zh-CN" altLang="en-US" dirty="0"/>
              <a:t>型半导体在接触前的理想能带如图</a:t>
            </a:r>
            <a:r>
              <a:rPr lang="en-US" altLang="zh-CN" dirty="0"/>
              <a:t>1(a)</a:t>
            </a:r>
            <a:r>
              <a:rPr lang="zh-CN" altLang="en-US" dirty="0"/>
              <a:t>所示。真空能级作为参考能级，参数</a:t>
            </a:r>
            <a:r>
              <a:rPr lang="el-GR" altLang="zh-CN" dirty="0">
                <a:ea typeface="宋体" panose="02010600030101010101" pitchFamily="2" charset="-122"/>
              </a:rPr>
              <a:t>φ</a:t>
            </a:r>
            <a:r>
              <a:rPr lang="en-US" altLang="zh-CN" baseline="-25000" dirty="0">
                <a:ea typeface="宋体" panose="02010600030101010101" pitchFamily="2" charset="-122"/>
              </a:rPr>
              <a:t>m</a:t>
            </a:r>
            <a:r>
              <a:rPr lang="zh-CN" altLang="en-US" dirty="0">
                <a:ea typeface="宋体" panose="02010600030101010101" pitchFamily="2" charset="-122"/>
              </a:rPr>
              <a:t>是金属功函数（单位为伏特），</a:t>
            </a:r>
            <a:r>
              <a:rPr lang="el-GR" altLang="zh-CN" dirty="0">
                <a:ea typeface="宋体" panose="02010600030101010101" pitchFamily="2" charset="-122"/>
              </a:rPr>
              <a:t> φ</a:t>
            </a:r>
            <a:r>
              <a:rPr lang="en-US" altLang="zh-CN" baseline="-25000" dirty="0">
                <a:ea typeface="宋体" panose="02010600030101010101" pitchFamily="2" charset="-122"/>
              </a:rPr>
              <a:t>s</a:t>
            </a:r>
            <a:r>
              <a:rPr lang="zh-CN" altLang="en-US" dirty="0">
                <a:ea typeface="宋体" panose="02010600030101010101" pitchFamily="2" charset="-122"/>
              </a:rPr>
              <a:t>是半导体功函数，</a:t>
            </a:r>
            <a:r>
              <a:rPr lang="el-GR" altLang="zh-CN" dirty="0">
                <a:ea typeface="宋体" panose="02010600030101010101" pitchFamily="2" charset="-122"/>
              </a:rPr>
              <a:t>χ</a:t>
            </a:r>
            <a:r>
              <a:rPr lang="zh-CN" altLang="en-US" dirty="0">
                <a:ea typeface="宋体" panose="02010600030101010101" pitchFamily="2" charset="-122"/>
              </a:rPr>
              <a:t>是电子亲和能。不同金属的功函数值在表</a:t>
            </a:r>
            <a:r>
              <a:rPr lang="en-US" altLang="zh-CN" dirty="0">
                <a:ea typeface="宋体" panose="02010600030101010101" pitchFamily="2" charset="-122"/>
              </a:rPr>
              <a:t>1</a:t>
            </a:r>
            <a:r>
              <a:rPr lang="zh-CN" altLang="en-US" dirty="0">
                <a:ea typeface="宋体" panose="02010600030101010101" pitchFamily="2" charset="-122"/>
              </a:rPr>
              <a:t>中给出，几种半导体的电子亲和能在表</a:t>
            </a:r>
            <a:r>
              <a:rPr lang="en-US" altLang="zh-CN" dirty="0">
                <a:ea typeface="宋体" panose="02010600030101010101" pitchFamily="2" charset="-122"/>
              </a:rPr>
              <a:t>2</a:t>
            </a:r>
            <a:r>
              <a:rPr lang="zh-CN" altLang="en-US" dirty="0">
                <a:ea typeface="宋体" panose="02010600030101010101" pitchFamily="2" charset="-122"/>
              </a:rPr>
              <a:t>中给出。从图</a:t>
            </a:r>
            <a:r>
              <a:rPr lang="en-US" altLang="zh-CN" dirty="0">
                <a:ea typeface="宋体" panose="02010600030101010101" pitchFamily="2" charset="-122"/>
              </a:rPr>
              <a:t>1(a)</a:t>
            </a:r>
            <a:r>
              <a:rPr lang="zh-CN" altLang="en-US" dirty="0">
                <a:ea typeface="宋体" panose="02010600030101010101" pitchFamily="2" charset="-122"/>
              </a:rPr>
              <a:t>中，我们可以看出</a:t>
            </a:r>
            <a:r>
              <a:rPr lang="el-GR" altLang="zh-CN" dirty="0">
                <a:solidFill>
                  <a:srgbClr val="FF0000"/>
                </a:solidFill>
                <a:ea typeface="宋体" panose="02010600030101010101" pitchFamily="2" charset="-122"/>
              </a:rPr>
              <a:t>φ</a:t>
            </a:r>
            <a:r>
              <a:rPr lang="en-US" altLang="zh-CN" baseline="-25000" dirty="0">
                <a:solidFill>
                  <a:srgbClr val="FF0000"/>
                </a:solidFill>
                <a:ea typeface="宋体" panose="02010600030101010101" pitchFamily="2" charset="-122"/>
              </a:rPr>
              <a:t>m</a:t>
            </a:r>
            <a:r>
              <a:rPr lang="el-GR" altLang="zh-CN" dirty="0">
                <a:solidFill>
                  <a:srgbClr val="FF0000"/>
                </a:solidFill>
                <a:ea typeface="宋体" panose="02010600030101010101" pitchFamily="2" charset="-122"/>
              </a:rPr>
              <a:t> </a:t>
            </a:r>
            <a:r>
              <a:rPr lang="en-US" altLang="zh-CN" dirty="0">
                <a:solidFill>
                  <a:srgbClr val="FF0000"/>
                </a:solidFill>
                <a:ea typeface="宋体" panose="02010600030101010101" pitchFamily="2" charset="-122"/>
              </a:rPr>
              <a:t>&gt;</a:t>
            </a:r>
            <a:r>
              <a:rPr lang="el-GR" altLang="zh-CN" dirty="0">
                <a:solidFill>
                  <a:srgbClr val="FF0000"/>
                </a:solidFill>
                <a:ea typeface="宋体" panose="02010600030101010101" pitchFamily="2" charset="-122"/>
              </a:rPr>
              <a:t>φ</a:t>
            </a:r>
            <a:r>
              <a:rPr lang="en-US" altLang="zh-CN" baseline="-25000" dirty="0">
                <a:solidFill>
                  <a:srgbClr val="FF0000"/>
                </a:solidFill>
                <a:ea typeface="宋体" panose="02010600030101010101" pitchFamily="2" charset="-122"/>
              </a:rPr>
              <a:t>s</a:t>
            </a:r>
            <a:r>
              <a:rPr lang="zh-CN" altLang="en-US" dirty="0">
                <a:ea typeface="宋体" panose="02010600030101010101" pitchFamily="2" charset="-122"/>
              </a:rPr>
              <a:t>。图</a:t>
            </a:r>
            <a:r>
              <a:rPr lang="en-US" altLang="zh-CN" dirty="0">
                <a:ea typeface="宋体" panose="02010600030101010101" pitchFamily="2" charset="-122"/>
              </a:rPr>
              <a:t>1(b)</a:t>
            </a:r>
            <a:r>
              <a:rPr lang="zh-CN" altLang="en-US" dirty="0">
                <a:ea typeface="宋体" panose="02010600030101010101" pitchFamily="2" charset="-122"/>
              </a:rPr>
              <a:t>是这种情况下理想热平衡时的</a:t>
            </a:r>
            <a:r>
              <a:rPr lang="en-US" altLang="zh-CN" dirty="0">
                <a:ea typeface="宋体" panose="02010600030101010101" pitchFamily="2" charset="-122"/>
              </a:rPr>
              <a:t>M-S</a:t>
            </a:r>
            <a:r>
              <a:rPr lang="zh-CN" altLang="en-US" dirty="0">
                <a:ea typeface="宋体" panose="02010600030101010101" pitchFamily="2" charset="-122"/>
              </a:rPr>
              <a:t>能带图。接触前，半导体的费米能级高于金属的费米能级，热平衡时为了使费米能级连续变化，半导体中的电子流向比它能级低的金属中，带正电荷的空穴仍留在半导体中，从而形成一个空间电荷区（耗尽层）。</a:t>
            </a:r>
            <a:endParaRPr lang="zh-CN" altLang="en-US" dirty="0"/>
          </a:p>
        </p:txBody>
      </p:sp>
      <p:sp>
        <p:nvSpPr>
          <p:cNvPr id="7" name="矩形 6">
            <a:extLst>
              <a:ext uri="{FF2B5EF4-FFF2-40B4-BE49-F238E27FC236}">
                <a16:creationId xmlns:a16="http://schemas.microsoft.com/office/drawing/2014/main" id="{13669A08-FF91-4766-BA23-F19C83412F92}"/>
              </a:ext>
            </a:extLst>
          </p:cNvPr>
          <p:cNvSpPr/>
          <p:nvPr/>
        </p:nvSpPr>
        <p:spPr>
          <a:xfrm>
            <a:off x="377062" y="2066330"/>
            <a:ext cx="3070071" cy="523220"/>
          </a:xfrm>
          <a:prstGeom prst="rect">
            <a:avLst/>
          </a:prstGeom>
          <a:noFill/>
        </p:spPr>
        <p:txBody>
          <a:bodyPr wrap="none" lIns="91440" tIns="45720" rIns="91440" bIns="45720">
            <a:spAutoFit/>
          </a:bodyPr>
          <a:lstStyle/>
          <a:p>
            <a:pPr algn="ctr"/>
            <a:r>
              <a:rPr lang="zh-CN" altLang="en-US" sz="28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肖特基势垒二极管</a:t>
            </a:r>
          </a:p>
        </p:txBody>
      </p:sp>
      <p:sp>
        <p:nvSpPr>
          <p:cNvPr id="8" name="矩形 7">
            <a:extLst>
              <a:ext uri="{FF2B5EF4-FFF2-40B4-BE49-F238E27FC236}">
                <a16:creationId xmlns:a16="http://schemas.microsoft.com/office/drawing/2014/main" id="{053926F4-7C75-44DF-9C78-DEE9FFA6B3C1}"/>
              </a:ext>
            </a:extLst>
          </p:cNvPr>
          <p:cNvSpPr/>
          <p:nvPr/>
        </p:nvSpPr>
        <p:spPr>
          <a:xfrm>
            <a:off x="377062" y="3911547"/>
            <a:ext cx="2619627" cy="523220"/>
          </a:xfrm>
          <a:prstGeom prst="rect">
            <a:avLst/>
          </a:prstGeom>
          <a:noFill/>
        </p:spPr>
        <p:txBody>
          <a:bodyPr wrap="none" lIns="91440" tIns="45720" rIns="91440" bIns="45720">
            <a:spAutoFit/>
          </a:bodyPr>
          <a:lstStyle/>
          <a:p>
            <a:pPr algn="ctr"/>
            <a:r>
              <a:rPr lang="en-US" altLang="zh-CN" sz="2800" b="0" cap="none" spc="0" dirty="0">
                <a:ln w="0"/>
                <a:solidFill>
                  <a:schemeClr val="tx1"/>
                </a:solidFill>
                <a:effectLst>
                  <a:outerShdw blurRad="38100" dist="19050" dir="2700000" algn="tl" rotWithShape="0">
                    <a:schemeClr val="dk1">
                      <a:alpha val="40000"/>
                    </a:schemeClr>
                  </a:outerShdw>
                </a:effectLst>
              </a:rPr>
              <a:t>M-S</a:t>
            </a:r>
            <a:r>
              <a:rPr lang="zh-CN" altLang="en-US" sz="2800" b="0" cap="none" spc="0" dirty="0">
                <a:ln w="0"/>
                <a:solidFill>
                  <a:schemeClr val="tx1"/>
                </a:solidFill>
                <a:effectLst>
                  <a:outerShdw blurRad="38100" dist="19050" dir="2700000" algn="tl" rotWithShape="0">
                    <a:schemeClr val="dk1">
                      <a:alpha val="40000"/>
                    </a:schemeClr>
                  </a:outerShdw>
                </a:effectLst>
              </a:rPr>
              <a:t>结性质特征</a:t>
            </a:r>
          </a:p>
        </p:txBody>
      </p:sp>
    </p:spTree>
    <p:extLst>
      <p:ext uri="{BB962C8B-B14F-4D97-AF65-F5344CB8AC3E}">
        <p14:creationId xmlns:p14="http://schemas.microsoft.com/office/powerpoint/2010/main" val="6075830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5A650E7-7E4B-46FA-BC67-845FAE803FB5}"/>
              </a:ext>
            </a:extLst>
          </p:cNvPr>
          <p:cNvSpPr>
            <a:spLocks noGrp="1"/>
          </p:cNvSpPr>
          <p:nvPr>
            <p:ph type="sldNum" sz="quarter" idx="12"/>
          </p:nvPr>
        </p:nvSpPr>
        <p:spPr/>
        <p:txBody>
          <a:bodyPr/>
          <a:lstStyle/>
          <a:p>
            <a:pPr>
              <a:defRPr/>
            </a:pPr>
            <a:fld id="{DB5F2CA6-A39B-48F7-84D1-AF91BD07D67D}" type="slidenum">
              <a:rPr lang="en-US" altLang="zh-CN" smtClean="0"/>
              <a:pPr>
                <a:defRPr/>
              </a:pPr>
              <a:t>3</a:t>
            </a:fld>
            <a:endParaRPr lang="en-US" altLang="zh-CN"/>
          </a:p>
        </p:txBody>
      </p:sp>
      <p:sp>
        <p:nvSpPr>
          <p:cNvPr id="3" name="矩形 2">
            <a:extLst>
              <a:ext uri="{FF2B5EF4-FFF2-40B4-BE49-F238E27FC236}">
                <a16:creationId xmlns:a16="http://schemas.microsoft.com/office/drawing/2014/main" id="{7E99007A-9B1D-4150-B18B-252124654C43}"/>
              </a:ext>
            </a:extLst>
          </p:cNvPr>
          <p:cNvSpPr/>
          <p:nvPr/>
        </p:nvSpPr>
        <p:spPr>
          <a:xfrm>
            <a:off x="397844" y="534501"/>
            <a:ext cx="2619627" cy="523220"/>
          </a:xfrm>
          <a:prstGeom prst="rect">
            <a:avLst/>
          </a:prstGeom>
          <a:noFill/>
        </p:spPr>
        <p:txBody>
          <a:bodyPr wrap="none" lIns="91440" tIns="45720" rIns="91440" bIns="45720">
            <a:spAutoFit/>
          </a:bodyPr>
          <a:lstStyle/>
          <a:p>
            <a:pPr algn="ctr"/>
            <a:r>
              <a:rPr lang="en-US" altLang="zh-CN" sz="2800" b="0" cap="none" spc="0" dirty="0">
                <a:ln w="0"/>
                <a:solidFill>
                  <a:schemeClr val="tx1"/>
                </a:solidFill>
                <a:effectLst>
                  <a:outerShdw blurRad="38100" dist="19050" dir="2700000" algn="tl" rotWithShape="0">
                    <a:schemeClr val="dk1">
                      <a:alpha val="40000"/>
                    </a:schemeClr>
                  </a:outerShdw>
                </a:effectLst>
              </a:rPr>
              <a:t>M-S</a:t>
            </a:r>
            <a:r>
              <a:rPr lang="zh-CN" altLang="en-US" sz="2800" b="0" cap="none" spc="0" dirty="0">
                <a:ln w="0"/>
                <a:solidFill>
                  <a:schemeClr val="tx1"/>
                </a:solidFill>
                <a:effectLst>
                  <a:outerShdw blurRad="38100" dist="19050" dir="2700000" algn="tl" rotWithShape="0">
                    <a:schemeClr val="dk1">
                      <a:alpha val="40000"/>
                    </a:schemeClr>
                  </a:outerShdw>
                </a:effectLst>
              </a:rPr>
              <a:t>结性质特征</a:t>
            </a:r>
          </a:p>
        </p:txBody>
      </p:sp>
      <p:pic>
        <p:nvPicPr>
          <p:cNvPr id="5" name="图片 4">
            <a:extLst>
              <a:ext uri="{FF2B5EF4-FFF2-40B4-BE49-F238E27FC236}">
                <a16:creationId xmlns:a16="http://schemas.microsoft.com/office/drawing/2014/main" id="{6D64B2AF-7C62-4933-8A43-10DE4EE4872C}"/>
              </a:ext>
            </a:extLst>
          </p:cNvPr>
          <p:cNvPicPr>
            <a:picLocks noChangeAspect="1"/>
          </p:cNvPicPr>
          <p:nvPr/>
        </p:nvPicPr>
        <p:blipFill>
          <a:blip r:embed="rId2"/>
          <a:stretch>
            <a:fillRect/>
          </a:stretch>
        </p:blipFill>
        <p:spPr>
          <a:xfrm>
            <a:off x="2992731" y="1057721"/>
            <a:ext cx="6206535" cy="2234353"/>
          </a:xfrm>
          <a:prstGeom prst="rect">
            <a:avLst/>
          </a:prstGeom>
        </p:spPr>
      </p:pic>
      <p:sp>
        <p:nvSpPr>
          <p:cNvPr id="6" name="矩形 5">
            <a:extLst>
              <a:ext uri="{FF2B5EF4-FFF2-40B4-BE49-F238E27FC236}">
                <a16:creationId xmlns:a16="http://schemas.microsoft.com/office/drawing/2014/main" id="{B2F7AAF2-80F9-4FEB-93CD-63CB853DF224}"/>
              </a:ext>
            </a:extLst>
          </p:cNvPr>
          <p:cNvSpPr/>
          <p:nvPr/>
        </p:nvSpPr>
        <p:spPr>
          <a:xfrm>
            <a:off x="2735141" y="3292074"/>
            <a:ext cx="6721713"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b="0" cap="none" spc="0" dirty="0">
                <a:ln w="0"/>
                <a:solidFill>
                  <a:schemeClr val="tx1"/>
                </a:solidFill>
                <a:effectLst>
                  <a:outerShdw blurRad="38100" dist="19050" dir="2700000" algn="tl" rotWithShape="0">
                    <a:schemeClr val="dk1">
                      <a:alpha val="40000"/>
                    </a:schemeClr>
                  </a:outerShdw>
                </a:effectLst>
              </a:rPr>
              <a:t>1</a:t>
            </a:r>
            <a:r>
              <a:rPr lang="zh-CN" altLang="en-US" sz="1400" b="0" cap="none" spc="0" dirty="0">
                <a:ln w="0"/>
                <a:solidFill>
                  <a:schemeClr val="tx1"/>
                </a:solidFill>
                <a:effectLst>
                  <a:outerShdw blurRad="38100" dist="19050" dir="2700000" algn="tl" rotWithShape="0">
                    <a:schemeClr val="dk1">
                      <a:alpha val="40000"/>
                    </a:schemeClr>
                  </a:outerShdw>
                </a:effectLst>
              </a:rPr>
              <a:t>：</a:t>
            </a:r>
            <a:r>
              <a:rPr lang="en-US" altLang="zh-CN" sz="1400" b="0" cap="none" spc="0" dirty="0">
                <a:ln w="0"/>
                <a:solidFill>
                  <a:schemeClr val="tx1"/>
                </a:solidFill>
                <a:effectLst>
                  <a:outerShdw blurRad="38100" dist="19050" dir="2700000" algn="tl" rotWithShape="0">
                    <a:schemeClr val="dk1">
                      <a:alpha val="40000"/>
                    </a:schemeClr>
                  </a:outerShdw>
                </a:effectLst>
              </a:rPr>
              <a:t>(a)</a:t>
            </a:r>
            <a:r>
              <a:rPr lang="zh-CN" altLang="en-US" sz="1400" b="0" cap="none" spc="0" dirty="0">
                <a:ln w="0"/>
                <a:solidFill>
                  <a:schemeClr val="tx1"/>
                </a:solidFill>
                <a:effectLst>
                  <a:outerShdw blurRad="38100" dist="19050" dir="2700000" algn="tl" rotWithShape="0">
                    <a:schemeClr val="dk1">
                      <a:alpha val="40000"/>
                    </a:schemeClr>
                  </a:outerShdw>
                </a:effectLst>
              </a:rPr>
              <a:t>接触前的金属半导体能带图；</a:t>
            </a:r>
            <a:r>
              <a:rPr lang="en-US" altLang="zh-CN" sz="1400" b="0" cap="none" spc="0" dirty="0">
                <a:ln w="0"/>
                <a:solidFill>
                  <a:schemeClr val="tx1"/>
                </a:solidFill>
                <a:effectLst>
                  <a:outerShdw blurRad="38100" dist="19050" dir="2700000" algn="tl" rotWithShape="0">
                    <a:schemeClr val="dk1">
                      <a:alpha val="40000"/>
                    </a:schemeClr>
                  </a:outerShdw>
                </a:effectLst>
              </a:rPr>
              <a:t>(b)</a:t>
            </a:r>
            <a:r>
              <a:rPr lang="zh-CN" altLang="en-US" sz="1400" b="0" cap="none" spc="0" dirty="0">
                <a:ln w="0"/>
                <a:solidFill>
                  <a:schemeClr val="tx1"/>
                </a:solidFill>
                <a:effectLst>
                  <a:outerShdw blurRad="38100" dist="19050" dir="2700000" algn="tl" rotWithShape="0">
                    <a:schemeClr val="dk1">
                      <a:alpha val="40000"/>
                    </a:schemeClr>
                  </a:outerShdw>
                </a:effectLst>
              </a:rPr>
              <a:t>理想的金属与</a:t>
            </a:r>
            <a:r>
              <a:rPr lang="en-US" altLang="zh-CN" sz="1400" b="0" cap="none" spc="0" dirty="0">
                <a:ln w="0"/>
                <a:solidFill>
                  <a:schemeClr val="tx1"/>
                </a:solidFill>
                <a:effectLst>
                  <a:outerShdw blurRad="38100" dist="19050" dir="2700000" algn="tl" rotWithShape="0">
                    <a:schemeClr val="dk1">
                      <a:alpha val="40000"/>
                    </a:schemeClr>
                  </a:outerShdw>
                </a:effectLst>
              </a:rPr>
              <a:t>n</a:t>
            </a:r>
            <a:r>
              <a:rPr lang="zh-CN" altLang="en-US" sz="1400" b="0" cap="none" spc="0" dirty="0">
                <a:ln w="0"/>
                <a:solidFill>
                  <a:schemeClr val="tx1"/>
                </a:solidFill>
                <a:effectLst>
                  <a:outerShdw blurRad="38100" dist="19050" dir="2700000" algn="tl" rotWithShape="0">
                    <a:schemeClr val="dk1">
                      <a:alpha val="40000"/>
                    </a:schemeClr>
                  </a:outerShdw>
                </a:effectLst>
              </a:rPr>
              <a:t>型半导体结</a:t>
            </a:r>
            <a:r>
              <a:rPr lang="el-GR" altLang="zh-CN" sz="1400" dirty="0">
                <a:ln w="0"/>
                <a:effectLst>
                  <a:outerShdw blurRad="38100" dist="19050" dir="2700000" algn="tl" rotWithShape="0">
                    <a:schemeClr val="dk1">
                      <a:alpha val="40000"/>
                    </a:schemeClr>
                  </a:outerShdw>
                </a:effectLst>
              </a:rPr>
              <a:t>φ</a:t>
            </a:r>
            <a:r>
              <a:rPr lang="en-US" altLang="zh-CN" sz="1400" dirty="0">
                <a:ln w="0"/>
                <a:effectLst>
                  <a:outerShdw blurRad="38100" dist="19050" dir="2700000" algn="tl" rotWithShape="0">
                    <a:schemeClr val="dk1">
                      <a:alpha val="40000"/>
                    </a:schemeClr>
                  </a:outerShdw>
                </a:effectLst>
              </a:rPr>
              <a:t>m &gt;</a:t>
            </a:r>
            <a:r>
              <a:rPr lang="el-GR" altLang="zh-CN" sz="1400" dirty="0">
                <a:ln w="0"/>
                <a:effectLst>
                  <a:outerShdw blurRad="38100" dist="19050" dir="2700000" algn="tl" rotWithShape="0">
                    <a:schemeClr val="dk1">
                      <a:alpha val="40000"/>
                    </a:schemeClr>
                  </a:outerShdw>
                </a:effectLst>
              </a:rPr>
              <a:t>φ</a:t>
            </a:r>
            <a:r>
              <a:rPr lang="en-US" altLang="zh-CN" sz="1400" dirty="0">
                <a:ln w="0"/>
                <a:effectLst>
                  <a:outerShdw blurRad="38100" dist="19050" dir="2700000" algn="tl" rotWithShape="0">
                    <a:schemeClr val="dk1">
                      <a:alpha val="40000"/>
                    </a:schemeClr>
                  </a:outerShdw>
                </a:effectLst>
              </a:rPr>
              <a:t>s</a:t>
            </a:r>
            <a:r>
              <a:rPr lang="zh-CN" altLang="en-US" sz="1400" b="0" cap="none" spc="0" dirty="0">
                <a:ln w="0"/>
                <a:solidFill>
                  <a:schemeClr val="tx1"/>
                </a:solidFill>
                <a:effectLst>
                  <a:outerShdw blurRad="38100" dist="19050" dir="2700000" algn="tl" rotWithShape="0">
                    <a:schemeClr val="dk1">
                      <a:alpha val="40000"/>
                    </a:schemeClr>
                  </a:outerShdw>
                </a:effectLst>
              </a:rPr>
              <a:t>的能带图</a:t>
            </a:r>
          </a:p>
        </p:txBody>
      </p:sp>
      <p:pic>
        <p:nvPicPr>
          <p:cNvPr id="7" name="图片 6">
            <a:extLst>
              <a:ext uri="{FF2B5EF4-FFF2-40B4-BE49-F238E27FC236}">
                <a16:creationId xmlns:a16="http://schemas.microsoft.com/office/drawing/2014/main" id="{8A7FD893-EB1E-4D93-969E-23D0DEEAD1D1}"/>
              </a:ext>
            </a:extLst>
          </p:cNvPr>
          <p:cNvPicPr>
            <a:picLocks noChangeAspect="1"/>
          </p:cNvPicPr>
          <p:nvPr/>
        </p:nvPicPr>
        <p:blipFill>
          <a:blip r:embed="rId3"/>
          <a:stretch>
            <a:fillRect/>
          </a:stretch>
        </p:blipFill>
        <p:spPr>
          <a:xfrm>
            <a:off x="2499807" y="4028701"/>
            <a:ext cx="7192379" cy="2676899"/>
          </a:xfrm>
          <a:prstGeom prst="rect">
            <a:avLst/>
          </a:prstGeom>
        </p:spPr>
      </p:pic>
      <p:sp>
        <p:nvSpPr>
          <p:cNvPr id="9" name="矩形 8">
            <a:extLst>
              <a:ext uri="{FF2B5EF4-FFF2-40B4-BE49-F238E27FC236}">
                <a16:creationId xmlns:a16="http://schemas.microsoft.com/office/drawing/2014/main" id="{A0561096-6D8D-4C61-9774-CC0130564661}"/>
              </a:ext>
            </a:extLst>
          </p:cNvPr>
          <p:cNvSpPr/>
          <p:nvPr/>
        </p:nvSpPr>
        <p:spPr>
          <a:xfrm>
            <a:off x="2834562" y="3720924"/>
            <a:ext cx="2428870"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表</a:t>
            </a:r>
            <a:r>
              <a:rPr lang="en-US" altLang="zh-CN" sz="1400" b="0" cap="none" spc="0" dirty="0">
                <a:ln w="0"/>
                <a:solidFill>
                  <a:schemeClr val="tx1"/>
                </a:solidFill>
                <a:effectLst>
                  <a:outerShdw blurRad="38100" dist="19050" dir="2700000" algn="tl" rotWithShape="0">
                    <a:schemeClr val="dk1">
                      <a:alpha val="40000"/>
                    </a:schemeClr>
                  </a:outerShdw>
                </a:effectLst>
              </a:rPr>
              <a:t>1</a:t>
            </a:r>
            <a:r>
              <a:rPr lang="zh-CN" altLang="en-US" sz="1400" b="0" cap="none" spc="0" dirty="0">
                <a:ln w="0"/>
                <a:solidFill>
                  <a:schemeClr val="tx1"/>
                </a:solidFill>
                <a:effectLst>
                  <a:outerShdw blurRad="38100" dist="19050" dir="2700000" algn="tl" rotWithShape="0">
                    <a:schemeClr val="dk1">
                      <a:alpha val="40000"/>
                    </a:schemeClr>
                  </a:outerShdw>
                </a:effectLst>
              </a:rPr>
              <a:t>：几种金属元素的功函数</a:t>
            </a:r>
          </a:p>
        </p:txBody>
      </p:sp>
      <p:sp>
        <p:nvSpPr>
          <p:cNvPr id="10" name="矩形 9">
            <a:extLst>
              <a:ext uri="{FF2B5EF4-FFF2-40B4-BE49-F238E27FC236}">
                <a16:creationId xmlns:a16="http://schemas.microsoft.com/office/drawing/2014/main" id="{C6F8285C-2F92-4D0C-87E9-653889AA5A67}"/>
              </a:ext>
            </a:extLst>
          </p:cNvPr>
          <p:cNvSpPr/>
          <p:nvPr/>
        </p:nvSpPr>
        <p:spPr>
          <a:xfrm>
            <a:off x="6680632" y="3720924"/>
            <a:ext cx="2608406"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表</a:t>
            </a:r>
            <a:r>
              <a:rPr lang="en-US" altLang="zh-CN" sz="1400" dirty="0">
                <a:ln w="0"/>
                <a:effectLst>
                  <a:outerShdw blurRad="38100" dist="19050" dir="2700000" algn="tl" rotWithShape="0">
                    <a:schemeClr val="dk1">
                      <a:alpha val="40000"/>
                    </a:schemeClr>
                  </a:outerShdw>
                </a:effectLst>
              </a:rPr>
              <a:t>2</a:t>
            </a:r>
            <a:r>
              <a:rPr lang="zh-CN" altLang="en-US" sz="1400" b="0" cap="none" spc="0" dirty="0">
                <a:ln w="0"/>
                <a:solidFill>
                  <a:schemeClr val="tx1"/>
                </a:solidFill>
                <a:effectLst>
                  <a:outerShdw blurRad="38100" dist="19050" dir="2700000" algn="tl" rotWithShape="0">
                    <a:schemeClr val="dk1">
                      <a:alpha val="40000"/>
                    </a:schemeClr>
                  </a:outerShdw>
                </a:effectLst>
              </a:rPr>
              <a:t>：一些半导体的电子亲和能</a:t>
            </a:r>
          </a:p>
        </p:txBody>
      </p:sp>
    </p:spTree>
    <p:extLst>
      <p:ext uri="{BB962C8B-B14F-4D97-AF65-F5344CB8AC3E}">
        <p14:creationId xmlns:p14="http://schemas.microsoft.com/office/powerpoint/2010/main" val="2462194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1372137-2726-43C8-99F0-CC601720443B}"/>
              </a:ext>
            </a:extLst>
          </p:cNvPr>
          <p:cNvSpPr>
            <a:spLocks noGrp="1"/>
          </p:cNvSpPr>
          <p:nvPr>
            <p:ph type="sldNum" sz="quarter" idx="12"/>
          </p:nvPr>
        </p:nvSpPr>
        <p:spPr/>
        <p:txBody>
          <a:bodyPr/>
          <a:lstStyle/>
          <a:p>
            <a:pPr>
              <a:defRPr/>
            </a:pPr>
            <a:fld id="{DB5F2CA6-A39B-48F7-84D1-AF91BD07D67D}" type="slidenum">
              <a:rPr lang="en-US" altLang="zh-CN" smtClean="0"/>
              <a:pPr>
                <a:defRPr/>
              </a:pPr>
              <a:t>4</a:t>
            </a:fld>
            <a:endParaRPr lang="en-US" altLang="zh-CN"/>
          </a:p>
        </p:txBody>
      </p:sp>
      <p:sp>
        <p:nvSpPr>
          <p:cNvPr id="5" name="矩形 4">
            <a:extLst>
              <a:ext uri="{FF2B5EF4-FFF2-40B4-BE49-F238E27FC236}">
                <a16:creationId xmlns:a16="http://schemas.microsoft.com/office/drawing/2014/main" id="{39521F29-E722-4E41-B39C-E3DF7DF6F2ED}"/>
              </a:ext>
            </a:extLst>
          </p:cNvPr>
          <p:cNvSpPr/>
          <p:nvPr/>
        </p:nvSpPr>
        <p:spPr>
          <a:xfrm>
            <a:off x="397844" y="534501"/>
            <a:ext cx="2619627" cy="523220"/>
          </a:xfrm>
          <a:prstGeom prst="rect">
            <a:avLst/>
          </a:prstGeom>
          <a:noFill/>
        </p:spPr>
        <p:txBody>
          <a:bodyPr wrap="none" lIns="91440" tIns="45720" rIns="91440" bIns="45720">
            <a:spAutoFit/>
          </a:bodyPr>
          <a:lstStyle/>
          <a:p>
            <a:pPr algn="ctr"/>
            <a:r>
              <a:rPr lang="en-US" altLang="zh-CN" sz="2800" b="0" cap="none" spc="0" dirty="0">
                <a:ln w="0"/>
                <a:solidFill>
                  <a:schemeClr val="tx1"/>
                </a:solidFill>
                <a:effectLst>
                  <a:outerShdw blurRad="38100" dist="19050" dir="2700000" algn="tl" rotWithShape="0">
                    <a:schemeClr val="dk1">
                      <a:alpha val="40000"/>
                    </a:schemeClr>
                  </a:outerShdw>
                </a:effectLst>
              </a:rPr>
              <a:t>M-S</a:t>
            </a:r>
            <a:r>
              <a:rPr lang="zh-CN" altLang="en-US" sz="2800" b="0" cap="none" spc="0" dirty="0">
                <a:ln w="0"/>
                <a:solidFill>
                  <a:schemeClr val="tx1"/>
                </a:solidFill>
                <a:effectLst>
                  <a:outerShdw blurRad="38100" dist="19050" dir="2700000" algn="tl" rotWithShape="0">
                    <a:schemeClr val="dk1">
                      <a:alpha val="40000"/>
                    </a:schemeClr>
                  </a:outerShdw>
                </a:effectLst>
              </a:rPr>
              <a:t>结性质特征</a:t>
            </a:r>
          </a:p>
        </p:txBody>
      </p:sp>
      <p:sp>
        <p:nvSpPr>
          <p:cNvPr id="6" name="文本框 5">
            <a:extLst>
              <a:ext uri="{FF2B5EF4-FFF2-40B4-BE49-F238E27FC236}">
                <a16:creationId xmlns:a16="http://schemas.microsoft.com/office/drawing/2014/main" id="{F4409E51-1FF1-4438-AF03-A21F2C112195}"/>
              </a:ext>
            </a:extLst>
          </p:cNvPr>
          <p:cNvSpPr txBox="1"/>
          <p:nvPr/>
        </p:nvSpPr>
        <p:spPr>
          <a:xfrm>
            <a:off x="467591" y="1132609"/>
            <a:ext cx="11211791" cy="4801314"/>
          </a:xfrm>
          <a:prstGeom prst="rect">
            <a:avLst/>
          </a:prstGeom>
          <a:noFill/>
        </p:spPr>
        <p:txBody>
          <a:bodyPr wrap="square" rtlCol="0">
            <a:spAutoFit/>
          </a:bodyPr>
          <a:lstStyle/>
          <a:p>
            <a:pPr algn="just"/>
            <a:r>
              <a:rPr lang="en-US" altLang="zh-CN" dirty="0"/>
              <a:t>        </a:t>
            </a:r>
            <a:r>
              <a:rPr lang="zh-CN" altLang="en-US" dirty="0"/>
              <a:t>参数</a:t>
            </a:r>
            <a:r>
              <a:rPr lang="el-GR" altLang="zh-CN" dirty="0">
                <a:ea typeface="宋体" panose="02010600030101010101" pitchFamily="2" charset="-122"/>
              </a:rPr>
              <a:t>φ</a:t>
            </a:r>
            <a:r>
              <a:rPr lang="en-US" altLang="zh-CN" baseline="-25000" dirty="0">
                <a:ea typeface="宋体" panose="02010600030101010101" pitchFamily="2" charset="-122"/>
              </a:rPr>
              <a:t>B0</a:t>
            </a:r>
            <a:r>
              <a:rPr lang="zh-CN" altLang="en-US" dirty="0">
                <a:ea typeface="宋体" panose="02010600030101010101" pitchFamily="2" charset="-122"/>
              </a:rPr>
              <a:t>是半导体接触的理想势垒高度，金属中的电子向半导体中移动形成势垒。该势垒就是肖特基势垒，由下式给出：</a:t>
            </a:r>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r>
              <a:rPr lang="zh-CN" altLang="en-US" dirty="0">
                <a:ea typeface="宋体" panose="02010600030101010101" pitchFamily="2" charset="-122"/>
              </a:rPr>
              <a:t>在半导体一侧，</a:t>
            </a:r>
            <a:r>
              <a:rPr lang="en-US" altLang="zh-CN" dirty="0" err="1">
                <a:ea typeface="宋体" panose="02010600030101010101" pitchFamily="2" charset="-122"/>
              </a:rPr>
              <a:t>V</a:t>
            </a:r>
            <a:r>
              <a:rPr lang="en-US" altLang="zh-CN" baseline="-25000" dirty="0" err="1">
                <a:ea typeface="宋体" panose="02010600030101010101" pitchFamily="2" charset="-122"/>
              </a:rPr>
              <a:t>bi</a:t>
            </a:r>
            <a:r>
              <a:rPr lang="zh-CN" altLang="en-US" dirty="0">
                <a:ea typeface="宋体" panose="02010600030101010101" pitchFamily="2" charset="-122"/>
              </a:rPr>
              <a:t>是内建电势差。这个势垒类似于结势垒，是由导带中的电子运动到金属中形成的势垒。内建电势差表示为</a:t>
            </a:r>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r>
              <a:rPr lang="zh-CN" altLang="en-US" dirty="0">
                <a:ea typeface="宋体" panose="02010600030101010101" pitchFamily="2" charset="-122"/>
              </a:rPr>
              <a:t>它使得</a:t>
            </a:r>
            <a:r>
              <a:rPr lang="en-US" altLang="zh-CN" dirty="0" err="1">
                <a:ea typeface="宋体" panose="02010600030101010101" pitchFamily="2" charset="-122"/>
              </a:rPr>
              <a:t>V</a:t>
            </a:r>
            <a:r>
              <a:rPr lang="en-US" altLang="zh-CN" baseline="-25000" dirty="0" err="1">
                <a:ea typeface="宋体" panose="02010600030101010101" pitchFamily="2" charset="-122"/>
              </a:rPr>
              <a:t>bi</a:t>
            </a:r>
            <a:r>
              <a:rPr lang="zh-CN" altLang="en-US" dirty="0">
                <a:ea typeface="宋体" panose="02010600030101010101" pitchFamily="2" charset="-122"/>
              </a:rPr>
              <a:t>是半导体掺杂浓度的函数，类似于结中的情况。</a:t>
            </a:r>
            <a:endParaRPr lang="en-US" altLang="zh-CN" dirty="0">
              <a:ea typeface="宋体" panose="02010600030101010101" pitchFamily="2" charset="-122"/>
            </a:endParaRPr>
          </a:p>
          <a:p>
            <a:pPr algn="just"/>
            <a:r>
              <a:rPr lang="en-US" altLang="zh-CN" dirty="0">
                <a:ea typeface="宋体" panose="02010600030101010101" pitchFamily="2" charset="-122"/>
              </a:rPr>
              <a:t>        </a:t>
            </a:r>
            <a:r>
              <a:rPr lang="zh-CN" altLang="en-US" dirty="0">
                <a:ea typeface="宋体" panose="02010600030101010101" pitchFamily="2" charset="-122"/>
              </a:rPr>
              <a:t>如果在半导体和金属间加一个正电压，那么</a:t>
            </a:r>
            <a:r>
              <a:rPr lang="en-US" altLang="zh-CN" dirty="0">
                <a:ea typeface="宋体" panose="02010600030101010101" pitchFamily="2" charset="-122"/>
              </a:rPr>
              <a:t>S-M</a:t>
            </a:r>
            <a:r>
              <a:rPr lang="zh-CN" altLang="en-US" dirty="0">
                <a:ea typeface="宋体" panose="02010600030101010101" pitchFamily="2" charset="-122"/>
              </a:rPr>
              <a:t>势垒高度增大，而理想情况下</a:t>
            </a:r>
            <a:r>
              <a:rPr lang="el-GR" altLang="zh-CN" dirty="0">
                <a:ea typeface="宋体" panose="02010600030101010101" pitchFamily="2" charset="-122"/>
              </a:rPr>
              <a:t>φ</a:t>
            </a:r>
            <a:r>
              <a:rPr lang="en-US" altLang="zh-CN" baseline="-25000" dirty="0">
                <a:ea typeface="宋体" panose="02010600030101010101" pitchFamily="2" charset="-122"/>
              </a:rPr>
              <a:t>B0</a:t>
            </a:r>
            <a:r>
              <a:rPr lang="zh-CN" altLang="en-US" dirty="0">
                <a:ea typeface="宋体" panose="02010600030101010101" pitchFamily="2" charset="-122"/>
              </a:rPr>
              <a:t>保持不变。这种情况就是反偏。如果在金属与半导体之间加一个正电压，那么</a:t>
            </a:r>
            <a:r>
              <a:rPr lang="en-US" altLang="zh-CN" dirty="0">
                <a:ea typeface="宋体" panose="02010600030101010101" pitchFamily="2" charset="-122"/>
              </a:rPr>
              <a:t>S-M</a:t>
            </a:r>
            <a:r>
              <a:rPr lang="zh-CN" altLang="en-US" dirty="0">
                <a:ea typeface="宋体" panose="02010600030101010101" pitchFamily="2" charset="-122"/>
              </a:rPr>
              <a:t>势垒高度</a:t>
            </a:r>
            <a:r>
              <a:rPr lang="en-US" altLang="zh-CN" dirty="0" err="1">
                <a:ea typeface="宋体" panose="02010600030101010101" pitchFamily="2" charset="-122"/>
              </a:rPr>
              <a:t>V</a:t>
            </a:r>
            <a:r>
              <a:rPr lang="en-US" altLang="zh-CN" baseline="-25000" dirty="0" err="1">
                <a:ea typeface="宋体" panose="02010600030101010101" pitchFamily="2" charset="-122"/>
              </a:rPr>
              <a:t>bi</a:t>
            </a:r>
            <a:r>
              <a:rPr lang="zh-CN" altLang="en-US" dirty="0">
                <a:ea typeface="宋体" panose="02010600030101010101" pitchFamily="2" charset="-122"/>
              </a:rPr>
              <a:t>会减小，而</a:t>
            </a:r>
            <a:r>
              <a:rPr lang="el-GR" altLang="zh-CN" dirty="0">
                <a:ea typeface="宋体" panose="02010600030101010101" pitchFamily="2" charset="-122"/>
              </a:rPr>
              <a:t>φ</a:t>
            </a:r>
            <a:r>
              <a:rPr lang="en-US" altLang="zh-CN" baseline="-25000" dirty="0">
                <a:ea typeface="宋体" panose="02010600030101010101" pitchFamily="2" charset="-122"/>
              </a:rPr>
              <a:t>B0</a:t>
            </a:r>
            <a:r>
              <a:rPr lang="zh-CN" altLang="en-US" dirty="0">
                <a:ea typeface="宋体" panose="02010600030101010101" pitchFamily="2" charset="-122"/>
              </a:rPr>
              <a:t>依然保持不变。而这种情况下，由于内建电势差的减小，电子很容易从半导体流向金属。这种情况就是正偏。图</a:t>
            </a:r>
            <a:r>
              <a:rPr lang="en-US" altLang="zh-CN" dirty="0">
                <a:ea typeface="宋体" panose="02010600030101010101" pitchFamily="2" charset="-122"/>
              </a:rPr>
              <a:t>2</a:t>
            </a:r>
            <a:r>
              <a:rPr lang="zh-CN" altLang="en-US" dirty="0">
                <a:ea typeface="宋体" panose="02010600030101010101" pitchFamily="2" charset="-122"/>
              </a:rPr>
              <a:t>所示分别是反偏与正偏时的能带图，其中</a:t>
            </a:r>
            <a:r>
              <a:rPr lang="en-US" altLang="zh-CN" dirty="0">
                <a:ea typeface="宋体" panose="02010600030101010101" pitchFamily="2" charset="-122"/>
              </a:rPr>
              <a:t>V</a:t>
            </a:r>
            <a:r>
              <a:rPr lang="en-US" altLang="zh-CN" baseline="-25000" dirty="0">
                <a:ea typeface="宋体" panose="02010600030101010101" pitchFamily="2" charset="-122"/>
              </a:rPr>
              <a:t>R</a:t>
            </a:r>
            <a:r>
              <a:rPr lang="zh-CN" altLang="en-US" dirty="0">
                <a:ea typeface="宋体" panose="02010600030101010101" pitchFamily="2" charset="-122"/>
              </a:rPr>
              <a:t>是反偏电压值，</a:t>
            </a:r>
            <a:r>
              <a:rPr lang="en-US" altLang="zh-CN" dirty="0" err="1">
                <a:ea typeface="宋体" panose="02010600030101010101" pitchFamily="2" charset="-122"/>
              </a:rPr>
              <a:t>V</a:t>
            </a:r>
            <a:r>
              <a:rPr lang="en-US" altLang="zh-CN" baseline="-25000" dirty="0" err="1">
                <a:ea typeface="宋体" panose="02010600030101010101" pitchFamily="2" charset="-122"/>
              </a:rPr>
              <a:t>a</a:t>
            </a:r>
            <a:r>
              <a:rPr lang="zh-CN" altLang="en-US" dirty="0">
                <a:ea typeface="宋体" panose="02010600030101010101" pitchFamily="2" charset="-122"/>
              </a:rPr>
              <a:t>是正偏电压值。</a:t>
            </a:r>
            <a:endParaRPr lang="en-US" altLang="zh-CN" dirty="0">
              <a:ea typeface="宋体" panose="02010600030101010101" pitchFamily="2" charset="-122"/>
            </a:endParaRPr>
          </a:p>
          <a:p>
            <a:pPr algn="just"/>
            <a:r>
              <a:rPr lang="zh-CN" altLang="en-US" dirty="0">
                <a:ea typeface="宋体" panose="02010600030101010101" pitchFamily="2" charset="-122"/>
              </a:rPr>
              <a:t>        施加电压后的金属</a:t>
            </a:r>
            <a:r>
              <a:rPr lang="en-US" altLang="zh-CN" dirty="0">
                <a:ea typeface="宋体" panose="02010600030101010101" pitchFamily="2" charset="-122"/>
              </a:rPr>
              <a:t>-</a:t>
            </a:r>
            <a:r>
              <a:rPr lang="zh-CN" altLang="en-US" dirty="0">
                <a:ea typeface="宋体" panose="02010600030101010101" pitchFamily="2" charset="-122"/>
              </a:rPr>
              <a:t>半导体结的能带图（如图</a:t>
            </a:r>
            <a:r>
              <a:rPr lang="en-US" altLang="zh-CN" dirty="0">
                <a:ea typeface="宋体" panose="02010600030101010101" pitchFamily="2" charset="-122"/>
              </a:rPr>
              <a:t>2</a:t>
            </a:r>
            <a:r>
              <a:rPr lang="zh-CN" altLang="en-US" dirty="0">
                <a:ea typeface="宋体" panose="02010600030101010101" pitchFamily="2" charset="-122"/>
              </a:rPr>
              <a:t>所示）与上一章中给出的</a:t>
            </a:r>
            <a:r>
              <a:rPr lang="en-US" altLang="zh-CN" dirty="0" err="1">
                <a:ea typeface="宋体" panose="02010600030101010101" pitchFamily="2" charset="-122"/>
              </a:rPr>
              <a:t>pn</a:t>
            </a:r>
            <a:r>
              <a:rPr lang="zh-CN" altLang="en-US" dirty="0">
                <a:ea typeface="宋体" panose="02010600030101010101" pitchFamily="2" charset="-122"/>
              </a:rPr>
              <a:t>结非常类似。基于这种类似，我们希望肖特基势垒二极管的电流</a:t>
            </a:r>
            <a:r>
              <a:rPr lang="en-US" altLang="zh-CN" dirty="0">
                <a:ea typeface="宋体" panose="02010600030101010101" pitchFamily="2" charset="-122"/>
              </a:rPr>
              <a:t>-</a:t>
            </a:r>
            <a:r>
              <a:rPr lang="zh-CN" altLang="en-US" dirty="0">
                <a:ea typeface="宋体" panose="02010600030101010101" pitchFamily="2" charset="-122"/>
              </a:rPr>
              <a:t>电压方程也类似于</a:t>
            </a:r>
            <a:r>
              <a:rPr lang="en-US" altLang="zh-CN" dirty="0" err="1">
                <a:ea typeface="宋体" panose="02010600030101010101" pitchFamily="2" charset="-122"/>
              </a:rPr>
              <a:t>pn</a:t>
            </a:r>
            <a:r>
              <a:rPr lang="zh-CN" altLang="en-US" dirty="0">
                <a:ea typeface="宋体" panose="02010600030101010101" pitchFamily="2" charset="-122"/>
              </a:rPr>
              <a:t>结二极管中电流随电压的指数变化的规律。肖特基势垒二极管中的电流主要取决于多数载流子电子的流动。正偏电流的方向是从金属流向半导体，</a:t>
            </a:r>
            <a:r>
              <a:rPr lang="zh-CN" altLang="en-US" dirty="0">
                <a:solidFill>
                  <a:srgbClr val="FF0000"/>
                </a:solidFill>
                <a:ea typeface="宋体" panose="02010600030101010101" pitchFamily="2" charset="-122"/>
              </a:rPr>
              <a:t>电流是正偏电压</a:t>
            </a:r>
            <a:r>
              <a:rPr lang="en-US" altLang="zh-CN" dirty="0" err="1">
                <a:solidFill>
                  <a:srgbClr val="FF0000"/>
                </a:solidFill>
                <a:ea typeface="宋体" panose="02010600030101010101" pitchFamily="2" charset="-122"/>
              </a:rPr>
              <a:t>V</a:t>
            </a:r>
            <a:r>
              <a:rPr lang="en-US" altLang="zh-CN" baseline="-25000" dirty="0" err="1">
                <a:solidFill>
                  <a:srgbClr val="FF0000"/>
                </a:solidFill>
                <a:ea typeface="宋体" panose="02010600030101010101" pitchFamily="2" charset="-122"/>
              </a:rPr>
              <a:t>a</a:t>
            </a:r>
            <a:r>
              <a:rPr lang="zh-CN" altLang="en-US" dirty="0">
                <a:solidFill>
                  <a:srgbClr val="FF0000"/>
                </a:solidFill>
                <a:ea typeface="宋体" panose="02010600030101010101" pitchFamily="2" charset="-122"/>
              </a:rPr>
              <a:t>的指数函数</a:t>
            </a:r>
            <a:r>
              <a:rPr lang="zh-CN" altLang="en-US" dirty="0">
                <a:ea typeface="宋体" panose="02010600030101010101" pitchFamily="2" charset="-122"/>
              </a:rPr>
              <a:t>。</a:t>
            </a:r>
            <a:endParaRPr lang="zh-CN" altLang="en-US" dirty="0"/>
          </a:p>
        </p:txBody>
      </p:sp>
      <p:graphicFrame>
        <p:nvGraphicFramePr>
          <p:cNvPr id="7" name="对象 6">
            <a:extLst>
              <a:ext uri="{FF2B5EF4-FFF2-40B4-BE49-F238E27FC236}">
                <a16:creationId xmlns:a16="http://schemas.microsoft.com/office/drawing/2014/main" id="{354692E8-93C7-4A3F-9347-344C26CE9C52}"/>
              </a:ext>
            </a:extLst>
          </p:cNvPr>
          <p:cNvGraphicFramePr>
            <a:graphicFrameLocks noChangeAspect="1"/>
          </p:cNvGraphicFramePr>
          <p:nvPr>
            <p:extLst>
              <p:ext uri="{D42A27DB-BD31-4B8C-83A1-F6EECF244321}">
                <p14:modId xmlns:p14="http://schemas.microsoft.com/office/powerpoint/2010/main" val="4049818434"/>
              </p:ext>
            </p:extLst>
          </p:nvPr>
        </p:nvGraphicFramePr>
        <p:xfrm>
          <a:off x="5363240" y="1778940"/>
          <a:ext cx="1420491" cy="365269"/>
        </p:xfrm>
        <a:graphic>
          <a:graphicData uri="http://schemas.openxmlformats.org/presentationml/2006/ole">
            <mc:AlternateContent xmlns:mc="http://schemas.openxmlformats.org/markup-compatibility/2006">
              <mc:Choice xmlns:v="urn:schemas-microsoft-com:vml" Requires="v">
                <p:oleObj name="Equation" r:id="rId2" imgW="888840" imgH="228600" progId="Equation.DSMT4">
                  <p:embed/>
                </p:oleObj>
              </mc:Choice>
              <mc:Fallback>
                <p:oleObj name="Equation" r:id="rId2" imgW="888840" imgH="228600" progId="Equation.DSMT4">
                  <p:embed/>
                  <p:pic>
                    <p:nvPicPr>
                      <p:cNvPr id="0" name=""/>
                      <p:cNvPicPr/>
                      <p:nvPr/>
                    </p:nvPicPr>
                    <p:blipFill>
                      <a:blip r:embed="rId3"/>
                      <a:stretch>
                        <a:fillRect/>
                      </a:stretch>
                    </p:blipFill>
                    <p:spPr>
                      <a:xfrm>
                        <a:off x="5363240" y="1778940"/>
                        <a:ext cx="1420491" cy="365269"/>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1ACFBAD6-8D87-4ACC-99EC-CEE54F02FD4D}"/>
              </a:ext>
            </a:extLst>
          </p:cNvPr>
          <p:cNvGraphicFramePr>
            <a:graphicFrameLocks noChangeAspect="1"/>
          </p:cNvGraphicFramePr>
          <p:nvPr>
            <p:extLst>
              <p:ext uri="{D42A27DB-BD31-4B8C-83A1-F6EECF244321}">
                <p14:modId xmlns:p14="http://schemas.microsoft.com/office/powerpoint/2010/main" val="1824669439"/>
              </p:ext>
            </p:extLst>
          </p:nvPr>
        </p:nvGraphicFramePr>
        <p:xfrm>
          <a:off x="11359141" y="1778940"/>
          <a:ext cx="365268" cy="365268"/>
        </p:xfrm>
        <a:graphic>
          <a:graphicData uri="http://schemas.openxmlformats.org/presentationml/2006/ole">
            <mc:AlternateContent xmlns:mc="http://schemas.openxmlformats.org/markup-compatibility/2006">
              <mc:Choice xmlns:v="urn:schemas-microsoft-com:vml" Requires="v">
                <p:oleObj name="Equation" r:id="rId4" imgW="203040" imgH="203040" progId="Equation.DSMT4">
                  <p:embed/>
                </p:oleObj>
              </mc:Choice>
              <mc:Fallback>
                <p:oleObj name="Equation" r:id="rId4" imgW="203040" imgH="203040" progId="Equation.DSMT4">
                  <p:embed/>
                  <p:pic>
                    <p:nvPicPr>
                      <p:cNvPr id="0" name=""/>
                      <p:cNvPicPr/>
                      <p:nvPr/>
                    </p:nvPicPr>
                    <p:blipFill>
                      <a:blip r:embed="rId5"/>
                      <a:stretch>
                        <a:fillRect/>
                      </a:stretch>
                    </p:blipFill>
                    <p:spPr>
                      <a:xfrm>
                        <a:off x="11359141" y="1778940"/>
                        <a:ext cx="365268" cy="365268"/>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5CB67B3C-1D29-4784-88B4-FE4D011A4B22}"/>
              </a:ext>
            </a:extLst>
          </p:cNvPr>
          <p:cNvGraphicFramePr>
            <a:graphicFrameLocks noChangeAspect="1"/>
          </p:cNvGraphicFramePr>
          <p:nvPr>
            <p:extLst>
              <p:ext uri="{D42A27DB-BD31-4B8C-83A1-F6EECF244321}">
                <p14:modId xmlns:p14="http://schemas.microsoft.com/office/powerpoint/2010/main" val="7753566"/>
              </p:ext>
            </p:extLst>
          </p:nvPr>
        </p:nvGraphicFramePr>
        <p:xfrm>
          <a:off x="5456781" y="2892711"/>
          <a:ext cx="1278438" cy="365268"/>
        </p:xfrm>
        <a:graphic>
          <a:graphicData uri="http://schemas.openxmlformats.org/presentationml/2006/ole">
            <mc:AlternateContent xmlns:mc="http://schemas.openxmlformats.org/markup-compatibility/2006">
              <mc:Choice xmlns:v="urn:schemas-microsoft-com:vml" Requires="v">
                <p:oleObj name="Equation" r:id="rId6" imgW="799920" imgH="228600" progId="Equation.DSMT4">
                  <p:embed/>
                </p:oleObj>
              </mc:Choice>
              <mc:Fallback>
                <p:oleObj name="Equation" r:id="rId6" imgW="799920" imgH="228600" progId="Equation.DSMT4">
                  <p:embed/>
                  <p:pic>
                    <p:nvPicPr>
                      <p:cNvPr id="0" name=""/>
                      <p:cNvPicPr/>
                      <p:nvPr/>
                    </p:nvPicPr>
                    <p:blipFill>
                      <a:blip r:embed="rId7"/>
                      <a:stretch>
                        <a:fillRect/>
                      </a:stretch>
                    </p:blipFill>
                    <p:spPr>
                      <a:xfrm>
                        <a:off x="5456781" y="2892711"/>
                        <a:ext cx="1278438" cy="365268"/>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0D40AABB-A608-4D98-A2CF-7EC6576A6C5D}"/>
              </a:ext>
            </a:extLst>
          </p:cNvPr>
          <p:cNvGraphicFramePr>
            <a:graphicFrameLocks noChangeAspect="1"/>
          </p:cNvGraphicFramePr>
          <p:nvPr>
            <p:extLst>
              <p:ext uri="{D42A27DB-BD31-4B8C-83A1-F6EECF244321}">
                <p14:modId xmlns:p14="http://schemas.microsoft.com/office/powerpoint/2010/main" val="3331097696"/>
              </p:ext>
            </p:extLst>
          </p:nvPr>
        </p:nvGraphicFramePr>
        <p:xfrm>
          <a:off x="11336311" y="2886935"/>
          <a:ext cx="410927" cy="365268"/>
        </p:xfrm>
        <a:graphic>
          <a:graphicData uri="http://schemas.openxmlformats.org/presentationml/2006/ole">
            <mc:AlternateContent xmlns:mc="http://schemas.openxmlformats.org/markup-compatibility/2006">
              <mc:Choice xmlns:v="urn:schemas-microsoft-com:vml" Requires="v">
                <p:oleObj name="Equation" r:id="rId8" imgW="228600" imgH="203040" progId="Equation.DSMT4">
                  <p:embed/>
                </p:oleObj>
              </mc:Choice>
              <mc:Fallback>
                <p:oleObj name="Equation" r:id="rId8" imgW="228600" imgH="203040" progId="Equation.DSMT4">
                  <p:embed/>
                  <p:pic>
                    <p:nvPicPr>
                      <p:cNvPr id="0" name=""/>
                      <p:cNvPicPr/>
                      <p:nvPr/>
                    </p:nvPicPr>
                    <p:blipFill>
                      <a:blip r:embed="rId9"/>
                      <a:stretch>
                        <a:fillRect/>
                      </a:stretch>
                    </p:blipFill>
                    <p:spPr>
                      <a:xfrm>
                        <a:off x="11336311" y="2886935"/>
                        <a:ext cx="410927" cy="365268"/>
                      </a:xfrm>
                      <a:prstGeom prst="rect">
                        <a:avLst/>
                      </a:prstGeom>
                    </p:spPr>
                  </p:pic>
                </p:oleObj>
              </mc:Fallback>
            </mc:AlternateContent>
          </a:graphicData>
        </a:graphic>
      </p:graphicFrame>
    </p:spTree>
    <p:extLst>
      <p:ext uri="{BB962C8B-B14F-4D97-AF65-F5344CB8AC3E}">
        <p14:creationId xmlns:p14="http://schemas.microsoft.com/office/powerpoint/2010/main" val="1818438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1372137-2726-43C8-99F0-CC601720443B}"/>
              </a:ext>
            </a:extLst>
          </p:cNvPr>
          <p:cNvSpPr>
            <a:spLocks noGrp="1"/>
          </p:cNvSpPr>
          <p:nvPr>
            <p:ph type="sldNum" sz="quarter" idx="12"/>
          </p:nvPr>
        </p:nvSpPr>
        <p:spPr/>
        <p:txBody>
          <a:bodyPr/>
          <a:lstStyle/>
          <a:p>
            <a:pPr>
              <a:defRPr/>
            </a:pPr>
            <a:fld id="{DB5F2CA6-A39B-48F7-84D1-AF91BD07D67D}" type="slidenum">
              <a:rPr lang="en-US" altLang="zh-CN" smtClean="0"/>
              <a:pPr>
                <a:defRPr/>
              </a:pPr>
              <a:t>5</a:t>
            </a:fld>
            <a:endParaRPr lang="en-US" altLang="zh-CN"/>
          </a:p>
        </p:txBody>
      </p:sp>
      <p:sp>
        <p:nvSpPr>
          <p:cNvPr id="3" name="矩形 2">
            <a:extLst>
              <a:ext uri="{FF2B5EF4-FFF2-40B4-BE49-F238E27FC236}">
                <a16:creationId xmlns:a16="http://schemas.microsoft.com/office/drawing/2014/main" id="{EE7D1041-1A3A-410E-B9FD-3B032E7F7D55}"/>
              </a:ext>
            </a:extLst>
          </p:cNvPr>
          <p:cNvSpPr/>
          <p:nvPr/>
        </p:nvSpPr>
        <p:spPr>
          <a:xfrm>
            <a:off x="397844" y="534501"/>
            <a:ext cx="2619627" cy="523220"/>
          </a:xfrm>
          <a:prstGeom prst="rect">
            <a:avLst/>
          </a:prstGeom>
          <a:noFill/>
        </p:spPr>
        <p:txBody>
          <a:bodyPr wrap="none" lIns="91440" tIns="45720" rIns="91440" bIns="45720">
            <a:spAutoFit/>
          </a:bodyPr>
          <a:lstStyle/>
          <a:p>
            <a:pPr algn="ctr"/>
            <a:r>
              <a:rPr lang="en-US" altLang="zh-CN" sz="2800" b="0" cap="none" spc="0" dirty="0">
                <a:ln w="0"/>
                <a:solidFill>
                  <a:schemeClr val="tx1"/>
                </a:solidFill>
                <a:effectLst>
                  <a:outerShdw blurRad="38100" dist="19050" dir="2700000" algn="tl" rotWithShape="0">
                    <a:schemeClr val="dk1">
                      <a:alpha val="40000"/>
                    </a:schemeClr>
                  </a:outerShdw>
                </a:effectLst>
              </a:rPr>
              <a:t>M-S</a:t>
            </a:r>
            <a:r>
              <a:rPr lang="zh-CN" altLang="en-US" sz="2800" b="0" cap="none" spc="0" dirty="0">
                <a:ln w="0"/>
                <a:solidFill>
                  <a:schemeClr val="tx1"/>
                </a:solidFill>
                <a:effectLst>
                  <a:outerShdw blurRad="38100" dist="19050" dir="2700000" algn="tl" rotWithShape="0">
                    <a:schemeClr val="dk1">
                      <a:alpha val="40000"/>
                    </a:schemeClr>
                  </a:outerShdw>
                </a:effectLst>
              </a:rPr>
              <a:t>结性质特征</a:t>
            </a:r>
          </a:p>
        </p:txBody>
      </p:sp>
      <p:pic>
        <p:nvPicPr>
          <p:cNvPr id="2" name="图片 1">
            <a:extLst>
              <a:ext uri="{FF2B5EF4-FFF2-40B4-BE49-F238E27FC236}">
                <a16:creationId xmlns:a16="http://schemas.microsoft.com/office/drawing/2014/main" id="{145A51F7-1918-4283-B5D6-0CB149DB0EE0}"/>
              </a:ext>
            </a:extLst>
          </p:cNvPr>
          <p:cNvPicPr>
            <a:picLocks noChangeAspect="1"/>
          </p:cNvPicPr>
          <p:nvPr/>
        </p:nvPicPr>
        <p:blipFill>
          <a:blip r:embed="rId2"/>
          <a:stretch>
            <a:fillRect/>
          </a:stretch>
        </p:blipFill>
        <p:spPr>
          <a:xfrm>
            <a:off x="2271178" y="1057721"/>
            <a:ext cx="7649643" cy="3248478"/>
          </a:xfrm>
          <a:prstGeom prst="rect">
            <a:avLst/>
          </a:prstGeom>
        </p:spPr>
      </p:pic>
      <p:sp>
        <p:nvSpPr>
          <p:cNvPr id="5" name="矩形 4">
            <a:extLst>
              <a:ext uri="{FF2B5EF4-FFF2-40B4-BE49-F238E27FC236}">
                <a16:creationId xmlns:a16="http://schemas.microsoft.com/office/drawing/2014/main" id="{173990CF-9AB0-4108-9242-38A855809D31}"/>
              </a:ext>
            </a:extLst>
          </p:cNvPr>
          <p:cNvSpPr/>
          <p:nvPr/>
        </p:nvSpPr>
        <p:spPr>
          <a:xfrm>
            <a:off x="3890107" y="4306199"/>
            <a:ext cx="4411784"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b="0" cap="none" spc="0" dirty="0">
                <a:ln w="0"/>
                <a:solidFill>
                  <a:schemeClr val="tx1"/>
                </a:solidFill>
                <a:effectLst>
                  <a:outerShdw blurRad="38100" dist="19050" dir="2700000" algn="tl" rotWithShape="0">
                    <a:schemeClr val="dk1">
                      <a:alpha val="40000"/>
                    </a:schemeClr>
                  </a:outerShdw>
                </a:effectLst>
              </a:rPr>
              <a:t>2</a:t>
            </a:r>
            <a:r>
              <a:rPr lang="zh-CN" altLang="en-US" sz="1400" b="0" cap="none" spc="0" dirty="0">
                <a:ln w="0"/>
                <a:solidFill>
                  <a:schemeClr val="tx1"/>
                </a:solidFill>
                <a:effectLst>
                  <a:outerShdw blurRad="38100" dist="19050" dir="2700000" algn="tl" rotWithShape="0">
                    <a:schemeClr val="dk1">
                      <a:alpha val="40000"/>
                    </a:schemeClr>
                  </a:outerShdw>
                </a:effectLst>
              </a:rPr>
              <a:t>：有偏压时理想</a:t>
            </a:r>
            <a:r>
              <a:rPr lang="en-US" altLang="zh-CN" sz="1400" b="0" cap="none" spc="0" dirty="0">
                <a:ln w="0"/>
                <a:solidFill>
                  <a:schemeClr val="tx1"/>
                </a:solidFill>
                <a:effectLst>
                  <a:outerShdw blurRad="38100" dist="19050" dir="2700000" algn="tl" rotWithShape="0">
                    <a:schemeClr val="dk1">
                      <a:alpha val="40000"/>
                    </a:schemeClr>
                  </a:outerShdw>
                </a:effectLst>
              </a:rPr>
              <a:t>M-S</a:t>
            </a:r>
            <a:r>
              <a:rPr lang="zh-CN" altLang="en-US" sz="1400" b="0" cap="none" spc="0" dirty="0">
                <a:ln w="0"/>
                <a:solidFill>
                  <a:schemeClr val="tx1"/>
                </a:solidFill>
                <a:effectLst>
                  <a:outerShdw blurRad="38100" dist="19050" dir="2700000" algn="tl" rotWithShape="0">
                    <a:schemeClr val="dk1">
                      <a:alpha val="40000"/>
                    </a:schemeClr>
                  </a:outerShdw>
                </a:effectLst>
              </a:rPr>
              <a:t>结的能带图。</a:t>
            </a:r>
            <a:r>
              <a:rPr lang="en-US" altLang="zh-CN" sz="1400" b="0" cap="none" spc="0" dirty="0">
                <a:ln w="0"/>
                <a:solidFill>
                  <a:schemeClr val="tx1"/>
                </a:solidFill>
                <a:effectLst>
                  <a:outerShdw blurRad="38100" dist="19050" dir="2700000" algn="tl" rotWithShape="0">
                    <a:schemeClr val="dk1">
                      <a:alpha val="40000"/>
                    </a:schemeClr>
                  </a:outerShdw>
                </a:effectLst>
              </a:rPr>
              <a:t>(a)</a:t>
            </a:r>
            <a:r>
              <a:rPr lang="zh-CN" altLang="en-US" sz="1400" b="0" cap="none" spc="0" dirty="0">
                <a:ln w="0"/>
                <a:solidFill>
                  <a:schemeClr val="tx1"/>
                </a:solidFill>
                <a:effectLst>
                  <a:outerShdw blurRad="38100" dist="19050" dir="2700000" algn="tl" rotWithShape="0">
                    <a:schemeClr val="dk1">
                      <a:alpha val="40000"/>
                    </a:schemeClr>
                  </a:outerShdw>
                </a:effectLst>
              </a:rPr>
              <a:t>反偏；</a:t>
            </a:r>
            <a:r>
              <a:rPr lang="en-US" altLang="zh-CN" sz="1400" b="0" cap="none" spc="0" dirty="0">
                <a:ln w="0"/>
                <a:solidFill>
                  <a:schemeClr val="tx1"/>
                </a:solidFill>
                <a:effectLst>
                  <a:outerShdw blurRad="38100" dist="19050" dir="2700000" algn="tl" rotWithShape="0">
                    <a:schemeClr val="dk1">
                      <a:alpha val="40000"/>
                    </a:schemeClr>
                  </a:outerShdw>
                </a:effectLst>
              </a:rPr>
              <a:t>(b)</a:t>
            </a:r>
            <a:r>
              <a:rPr lang="zh-CN" altLang="en-US" sz="1400" b="0" cap="none" spc="0" dirty="0">
                <a:ln w="0"/>
                <a:solidFill>
                  <a:schemeClr val="tx1"/>
                </a:solidFill>
                <a:effectLst>
                  <a:outerShdw blurRad="38100" dist="19050" dir="2700000" algn="tl" rotWithShape="0">
                    <a:schemeClr val="dk1">
                      <a:alpha val="40000"/>
                    </a:schemeClr>
                  </a:outerShdw>
                </a:effectLst>
              </a:rPr>
              <a:t>正偏</a:t>
            </a:r>
          </a:p>
        </p:txBody>
      </p:sp>
      <p:sp>
        <p:nvSpPr>
          <p:cNvPr id="6" name="矩形 5">
            <a:extLst>
              <a:ext uri="{FF2B5EF4-FFF2-40B4-BE49-F238E27FC236}">
                <a16:creationId xmlns:a16="http://schemas.microsoft.com/office/drawing/2014/main" id="{765784DF-8ECE-46DD-B1B3-0C0AAA4E4F48}"/>
              </a:ext>
            </a:extLst>
          </p:cNvPr>
          <p:cNvSpPr/>
          <p:nvPr/>
        </p:nvSpPr>
        <p:spPr>
          <a:xfrm>
            <a:off x="397844" y="4613976"/>
            <a:ext cx="2339102" cy="523220"/>
          </a:xfrm>
          <a:prstGeom prst="rect">
            <a:avLst/>
          </a:prstGeom>
          <a:noFill/>
        </p:spPr>
        <p:txBody>
          <a:bodyPr wrap="none" lIns="91440" tIns="45720" rIns="91440" bIns="45720">
            <a:spAutoFit/>
          </a:bodyPr>
          <a:lstStyle/>
          <a:p>
            <a:pPr algn="ctr"/>
            <a:r>
              <a:rPr lang="zh-CN" altLang="en-US" sz="2800" dirty="0">
                <a:ln w="0"/>
                <a:effectLst>
                  <a:outerShdw blurRad="38100" dist="19050" dir="2700000" algn="tl" rotWithShape="0">
                    <a:schemeClr val="dk1">
                      <a:alpha val="40000"/>
                    </a:schemeClr>
                  </a:outerShdw>
                </a:effectLst>
              </a:rPr>
              <a:t>理想结的特性</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7" name="文本框 6">
            <a:extLst>
              <a:ext uri="{FF2B5EF4-FFF2-40B4-BE49-F238E27FC236}">
                <a16:creationId xmlns:a16="http://schemas.microsoft.com/office/drawing/2014/main" id="{005CB309-F033-4CF5-9819-B6DF4D858243}"/>
              </a:ext>
            </a:extLst>
          </p:cNvPr>
          <p:cNvSpPr txBox="1"/>
          <p:nvPr/>
        </p:nvSpPr>
        <p:spPr>
          <a:xfrm>
            <a:off x="397844" y="5226627"/>
            <a:ext cx="11271147" cy="369332"/>
          </a:xfrm>
          <a:prstGeom prst="rect">
            <a:avLst/>
          </a:prstGeom>
          <a:noFill/>
        </p:spPr>
        <p:txBody>
          <a:bodyPr wrap="square" rtlCol="0">
            <a:spAutoFit/>
          </a:bodyPr>
          <a:lstStyle/>
          <a:p>
            <a:r>
              <a:rPr lang="en-US" altLang="zh-CN" dirty="0"/>
              <a:t>        </a:t>
            </a:r>
            <a:r>
              <a:rPr lang="zh-CN" altLang="en-US" dirty="0"/>
              <a:t>我们可以用和处理</a:t>
            </a:r>
            <a:r>
              <a:rPr lang="en-US" altLang="zh-CN" dirty="0" err="1"/>
              <a:t>pn</a:t>
            </a:r>
            <a:r>
              <a:rPr lang="zh-CN" altLang="en-US" dirty="0"/>
              <a:t>结的同样方法来确定异质结的静电特性。空间电荷区的电场可以用泊松方程表示如下：</a:t>
            </a:r>
          </a:p>
        </p:txBody>
      </p:sp>
      <p:graphicFrame>
        <p:nvGraphicFramePr>
          <p:cNvPr id="8" name="对象 7">
            <a:extLst>
              <a:ext uri="{FF2B5EF4-FFF2-40B4-BE49-F238E27FC236}">
                <a16:creationId xmlns:a16="http://schemas.microsoft.com/office/drawing/2014/main" id="{8BC8A5DE-1741-4682-AD06-920A1AE2F1A0}"/>
              </a:ext>
            </a:extLst>
          </p:cNvPr>
          <p:cNvGraphicFramePr>
            <a:graphicFrameLocks noChangeAspect="1"/>
          </p:cNvGraphicFramePr>
          <p:nvPr>
            <p:extLst>
              <p:ext uri="{D42A27DB-BD31-4B8C-83A1-F6EECF244321}">
                <p14:modId xmlns:p14="http://schemas.microsoft.com/office/powerpoint/2010/main" val="1151675225"/>
              </p:ext>
            </p:extLst>
          </p:nvPr>
        </p:nvGraphicFramePr>
        <p:xfrm>
          <a:off x="5512021" y="5595959"/>
          <a:ext cx="1042791" cy="633123"/>
        </p:xfrm>
        <a:graphic>
          <a:graphicData uri="http://schemas.openxmlformats.org/presentationml/2006/ole">
            <mc:AlternateContent xmlns:mc="http://schemas.openxmlformats.org/markup-compatibility/2006">
              <mc:Choice xmlns:v="urn:schemas-microsoft-com:vml" Requires="v">
                <p:oleObj name="Equation" r:id="rId3" imgW="711000" imgH="431640" progId="Equation.DSMT4">
                  <p:embed/>
                </p:oleObj>
              </mc:Choice>
              <mc:Fallback>
                <p:oleObj name="Equation" r:id="rId3" imgW="711000" imgH="431640" progId="Equation.DSMT4">
                  <p:embed/>
                  <p:pic>
                    <p:nvPicPr>
                      <p:cNvPr id="0" name=""/>
                      <p:cNvPicPr/>
                      <p:nvPr/>
                    </p:nvPicPr>
                    <p:blipFill>
                      <a:blip r:embed="rId4"/>
                      <a:stretch>
                        <a:fillRect/>
                      </a:stretch>
                    </p:blipFill>
                    <p:spPr>
                      <a:xfrm>
                        <a:off x="5512021" y="5595959"/>
                        <a:ext cx="1042791" cy="633123"/>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8A8C0453-DAEC-48BF-A9E8-E992B9C773DB}"/>
              </a:ext>
            </a:extLst>
          </p:cNvPr>
          <p:cNvGraphicFramePr>
            <a:graphicFrameLocks noChangeAspect="1"/>
          </p:cNvGraphicFramePr>
          <p:nvPr>
            <p:extLst>
              <p:ext uri="{D42A27DB-BD31-4B8C-83A1-F6EECF244321}">
                <p14:modId xmlns:p14="http://schemas.microsoft.com/office/powerpoint/2010/main" val="4203548680"/>
              </p:ext>
            </p:extLst>
          </p:nvPr>
        </p:nvGraphicFramePr>
        <p:xfrm>
          <a:off x="11303575" y="5740560"/>
          <a:ext cx="365414" cy="343919"/>
        </p:xfrm>
        <a:graphic>
          <a:graphicData uri="http://schemas.openxmlformats.org/presentationml/2006/ole">
            <mc:AlternateContent xmlns:mc="http://schemas.openxmlformats.org/markup-compatibility/2006">
              <mc:Choice xmlns:v="urn:schemas-microsoft-com:vml" Requires="v">
                <p:oleObj name="Equation" r:id="rId5" imgW="215640" imgH="203040" progId="Equation.DSMT4">
                  <p:embed/>
                </p:oleObj>
              </mc:Choice>
              <mc:Fallback>
                <p:oleObj name="Equation" r:id="rId5" imgW="215640" imgH="203040" progId="Equation.DSMT4">
                  <p:embed/>
                  <p:pic>
                    <p:nvPicPr>
                      <p:cNvPr id="0" name=""/>
                      <p:cNvPicPr/>
                      <p:nvPr/>
                    </p:nvPicPr>
                    <p:blipFill>
                      <a:blip r:embed="rId6"/>
                      <a:stretch>
                        <a:fillRect/>
                      </a:stretch>
                    </p:blipFill>
                    <p:spPr>
                      <a:xfrm>
                        <a:off x="11303575" y="5740560"/>
                        <a:ext cx="365414" cy="343919"/>
                      </a:xfrm>
                      <a:prstGeom prst="rect">
                        <a:avLst/>
                      </a:prstGeom>
                    </p:spPr>
                  </p:pic>
                </p:oleObj>
              </mc:Fallback>
            </mc:AlternateContent>
          </a:graphicData>
        </a:graphic>
      </p:graphicFrame>
    </p:spTree>
    <p:extLst>
      <p:ext uri="{BB962C8B-B14F-4D97-AF65-F5344CB8AC3E}">
        <p14:creationId xmlns:p14="http://schemas.microsoft.com/office/powerpoint/2010/main" val="139646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0FAE6CD5-94ED-42EE-9EA3-2E9D768CB665}"/>
              </a:ext>
            </a:extLst>
          </p:cNvPr>
          <p:cNvSpPr>
            <a:spLocks noGrp="1"/>
          </p:cNvSpPr>
          <p:nvPr>
            <p:ph type="sldNum" sz="quarter" idx="12"/>
          </p:nvPr>
        </p:nvSpPr>
        <p:spPr/>
        <p:txBody>
          <a:bodyPr/>
          <a:lstStyle/>
          <a:p>
            <a:pPr>
              <a:defRPr/>
            </a:pPr>
            <a:fld id="{DB5F2CA6-A39B-48F7-84D1-AF91BD07D67D}" type="slidenum">
              <a:rPr lang="en-US" altLang="zh-CN" smtClean="0"/>
              <a:pPr>
                <a:defRPr/>
              </a:pPr>
              <a:t>6</a:t>
            </a:fld>
            <a:endParaRPr lang="en-US" altLang="zh-CN"/>
          </a:p>
        </p:txBody>
      </p:sp>
      <p:sp>
        <p:nvSpPr>
          <p:cNvPr id="5" name="矩形 4">
            <a:extLst>
              <a:ext uri="{FF2B5EF4-FFF2-40B4-BE49-F238E27FC236}">
                <a16:creationId xmlns:a16="http://schemas.microsoft.com/office/drawing/2014/main" id="{9C3BE3B5-F0FF-4B9A-BB3C-DBEEEF951B21}"/>
              </a:ext>
            </a:extLst>
          </p:cNvPr>
          <p:cNvSpPr/>
          <p:nvPr/>
        </p:nvSpPr>
        <p:spPr>
          <a:xfrm>
            <a:off x="273153" y="519958"/>
            <a:ext cx="2339102" cy="523220"/>
          </a:xfrm>
          <a:prstGeom prst="rect">
            <a:avLst/>
          </a:prstGeom>
          <a:noFill/>
        </p:spPr>
        <p:txBody>
          <a:bodyPr wrap="none" lIns="91440" tIns="45720" rIns="91440" bIns="45720">
            <a:spAutoFit/>
          </a:bodyPr>
          <a:lstStyle/>
          <a:p>
            <a:pPr algn="ctr"/>
            <a:r>
              <a:rPr lang="zh-CN" altLang="en-US" sz="2800" dirty="0">
                <a:ln w="0"/>
                <a:effectLst>
                  <a:outerShdw blurRad="38100" dist="19050" dir="2700000" algn="tl" rotWithShape="0">
                    <a:schemeClr val="dk1">
                      <a:alpha val="40000"/>
                    </a:schemeClr>
                  </a:outerShdw>
                </a:effectLst>
              </a:rPr>
              <a:t>理想结的特性</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6" name="文本框 5">
            <a:extLst>
              <a:ext uri="{FF2B5EF4-FFF2-40B4-BE49-F238E27FC236}">
                <a16:creationId xmlns:a16="http://schemas.microsoft.com/office/drawing/2014/main" id="{C86627F2-13B9-4F7D-AD2C-A74E16F450A9}"/>
              </a:ext>
            </a:extLst>
          </p:cNvPr>
          <p:cNvSpPr txBox="1"/>
          <p:nvPr/>
        </p:nvSpPr>
        <p:spPr>
          <a:xfrm>
            <a:off x="322118" y="1122218"/>
            <a:ext cx="11367655" cy="5632311"/>
          </a:xfrm>
          <a:prstGeom prst="rect">
            <a:avLst/>
          </a:prstGeom>
          <a:noFill/>
        </p:spPr>
        <p:txBody>
          <a:bodyPr wrap="square" rtlCol="0">
            <a:spAutoFit/>
          </a:bodyPr>
          <a:lstStyle/>
          <a:p>
            <a:pPr algn="just"/>
            <a:r>
              <a:rPr lang="el-GR" altLang="zh-CN" dirty="0">
                <a:ea typeface="宋体" panose="02010600030101010101" pitchFamily="2" charset="-122"/>
              </a:rPr>
              <a:t>ρ</a:t>
            </a:r>
            <a:r>
              <a:rPr lang="en-US" altLang="zh-CN" dirty="0">
                <a:ea typeface="宋体" panose="02010600030101010101" pitchFamily="2" charset="-122"/>
              </a:rPr>
              <a:t>(x)</a:t>
            </a:r>
            <a:r>
              <a:rPr lang="zh-CN" altLang="en-US" dirty="0">
                <a:ea typeface="宋体" panose="02010600030101010101" pitchFamily="2" charset="-122"/>
              </a:rPr>
              <a:t>是空间电荷区的体密度，</a:t>
            </a:r>
            <a:r>
              <a:rPr lang="el-GR" altLang="zh-CN" dirty="0">
                <a:ea typeface="宋体" panose="02010600030101010101" pitchFamily="2" charset="-122"/>
              </a:rPr>
              <a:t>ε</a:t>
            </a:r>
            <a:r>
              <a:rPr lang="en-US" altLang="zh-CN" baseline="-25000" dirty="0">
                <a:ea typeface="宋体" panose="02010600030101010101" pitchFamily="2" charset="-122"/>
              </a:rPr>
              <a:t>s</a:t>
            </a:r>
            <a:r>
              <a:rPr lang="zh-CN" altLang="en-US" dirty="0">
                <a:ea typeface="宋体" panose="02010600030101010101" pitchFamily="2" charset="-122"/>
              </a:rPr>
              <a:t>是半导体的介电常数。假定半导体是均匀参杂的，对式</a:t>
            </a:r>
            <a:r>
              <a:rPr lang="en-US" altLang="zh-CN" dirty="0">
                <a:ea typeface="宋体" panose="02010600030101010101" pitchFamily="2" charset="-122"/>
              </a:rPr>
              <a:t>(3)</a:t>
            </a:r>
            <a:r>
              <a:rPr lang="zh-CN" altLang="en-US" dirty="0">
                <a:ea typeface="宋体" panose="02010600030101010101" pitchFamily="2" charset="-122"/>
              </a:rPr>
              <a:t>积分得到下式：</a:t>
            </a:r>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r>
              <a:rPr lang="en-US" altLang="zh-CN" dirty="0">
                <a:ea typeface="宋体" panose="02010600030101010101" pitchFamily="2" charset="-122"/>
              </a:rPr>
              <a:t>C</a:t>
            </a:r>
            <a:r>
              <a:rPr lang="en-US" altLang="zh-CN" baseline="-25000" dirty="0">
                <a:ea typeface="宋体" panose="02010600030101010101" pitchFamily="2" charset="-122"/>
              </a:rPr>
              <a:t>1</a:t>
            </a:r>
            <a:r>
              <a:rPr lang="zh-CN" altLang="en-US" dirty="0">
                <a:ea typeface="宋体" panose="02010600030101010101" pitchFamily="2" charset="-122"/>
              </a:rPr>
              <a:t>是积分常数。由于半导体空间电荷区边界的电场强度为零，可求得积分常数为</a:t>
            </a:r>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r>
              <a:rPr lang="zh-CN" altLang="en-US" dirty="0">
                <a:ea typeface="宋体" panose="02010600030101010101" pitchFamily="2" charset="-122"/>
              </a:rPr>
              <a:t>场强就可以写为</a:t>
            </a:r>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endParaRPr lang="en-US" altLang="zh-CN" dirty="0">
              <a:ea typeface="宋体" panose="02010600030101010101" pitchFamily="2" charset="-122"/>
            </a:endParaRPr>
          </a:p>
          <a:p>
            <a:pPr algn="just"/>
            <a:r>
              <a:rPr lang="zh-CN" altLang="en-US" dirty="0">
                <a:ea typeface="宋体" panose="02010600030101010101" pitchFamily="2" charset="-122"/>
              </a:rPr>
              <a:t>对于均匀掺杂的半导体来说，场强是距离的线性函数，在金属与半导体接触处，场强达到最大值。由于金属中场强为零，所以在</a:t>
            </a:r>
            <a:r>
              <a:rPr lang="en-US" altLang="zh-CN" dirty="0">
                <a:ea typeface="宋体" panose="02010600030101010101" pitchFamily="2" charset="-122"/>
              </a:rPr>
              <a:t>M-S</a:t>
            </a:r>
            <a:r>
              <a:rPr lang="zh-CN" altLang="en-US" dirty="0">
                <a:ea typeface="宋体" panose="02010600030101010101" pitchFamily="2" charset="-122"/>
              </a:rPr>
              <a:t>结的金属区中一定存在表面负电荷。</a:t>
            </a:r>
            <a:endParaRPr lang="en-US" altLang="zh-CN" dirty="0">
              <a:ea typeface="宋体" panose="02010600030101010101" pitchFamily="2" charset="-122"/>
            </a:endParaRPr>
          </a:p>
          <a:p>
            <a:pPr algn="just"/>
            <a:r>
              <a:rPr lang="en-US" altLang="zh-CN" dirty="0"/>
              <a:t>        </a:t>
            </a:r>
            <a:r>
              <a:rPr lang="zh-CN" altLang="en-US" dirty="0"/>
              <a:t>我们可以用处理</a:t>
            </a:r>
            <a:r>
              <a:rPr lang="en-US" altLang="zh-CN" dirty="0" err="1"/>
              <a:t>pn</a:t>
            </a:r>
            <a:r>
              <a:rPr lang="zh-CN" altLang="en-US" dirty="0"/>
              <a:t>结的方法来计算空间电荷区宽度</a:t>
            </a:r>
            <a:r>
              <a:rPr lang="en-US" altLang="zh-CN" dirty="0"/>
              <a:t>W</a:t>
            </a:r>
            <a:r>
              <a:rPr lang="zh-CN" altLang="en-US" dirty="0"/>
              <a:t>，其结果与</a:t>
            </a:r>
            <a:r>
              <a:rPr lang="en-US" altLang="zh-CN" dirty="0" err="1"/>
              <a:t>p</a:t>
            </a:r>
            <a:r>
              <a:rPr lang="en-US" altLang="zh-CN" baseline="30000" dirty="0" err="1"/>
              <a:t>+</a:t>
            </a:r>
            <a:r>
              <a:rPr lang="en-US" altLang="zh-CN" dirty="0" err="1"/>
              <a:t>n</a:t>
            </a:r>
            <a:r>
              <a:rPr lang="zh-CN" altLang="en-US" dirty="0"/>
              <a:t>结的结果相同。对于均匀的掺杂半导体，可得</a:t>
            </a:r>
            <a:endParaRPr lang="en-US" altLang="zh-CN" dirty="0"/>
          </a:p>
          <a:p>
            <a:pPr algn="just"/>
            <a:endParaRPr lang="en-US" altLang="zh-CN" dirty="0"/>
          </a:p>
          <a:p>
            <a:pPr algn="just"/>
            <a:endParaRPr lang="en-US" altLang="zh-CN" dirty="0"/>
          </a:p>
          <a:p>
            <a:pPr algn="just"/>
            <a:endParaRPr lang="en-US" altLang="zh-CN" dirty="0"/>
          </a:p>
          <a:p>
            <a:pPr algn="just"/>
            <a:r>
              <a:rPr lang="en-US" altLang="zh-CN" dirty="0"/>
              <a:t>V</a:t>
            </a:r>
            <a:r>
              <a:rPr lang="en-US" altLang="zh-CN" baseline="-25000" dirty="0"/>
              <a:t>R</a:t>
            </a:r>
            <a:r>
              <a:rPr lang="zh-CN" altLang="en-US" dirty="0"/>
              <a:t>是所加的反偏电压值。在这里我们再一次运用了突变结的近似值。</a:t>
            </a:r>
          </a:p>
        </p:txBody>
      </p:sp>
      <p:graphicFrame>
        <p:nvGraphicFramePr>
          <p:cNvPr id="7" name="对象 6">
            <a:extLst>
              <a:ext uri="{FF2B5EF4-FFF2-40B4-BE49-F238E27FC236}">
                <a16:creationId xmlns:a16="http://schemas.microsoft.com/office/drawing/2014/main" id="{4F9BE1AD-F926-4A12-9723-666A72194699}"/>
              </a:ext>
            </a:extLst>
          </p:cNvPr>
          <p:cNvGraphicFramePr>
            <a:graphicFrameLocks noChangeAspect="1"/>
          </p:cNvGraphicFramePr>
          <p:nvPr>
            <p:extLst>
              <p:ext uri="{D42A27DB-BD31-4B8C-83A1-F6EECF244321}">
                <p14:modId xmlns:p14="http://schemas.microsoft.com/office/powerpoint/2010/main" val="2438161985"/>
              </p:ext>
            </p:extLst>
          </p:nvPr>
        </p:nvGraphicFramePr>
        <p:xfrm>
          <a:off x="4725246" y="1491550"/>
          <a:ext cx="2741508" cy="757815"/>
        </p:xfrm>
        <a:graphic>
          <a:graphicData uri="http://schemas.openxmlformats.org/presentationml/2006/ole">
            <mc:AlternateContent xmlns:mc="http://schemas.openxmlformats.org/markup-compatibility/2006">
              <mc:Choice xmlns:v="urn:schemas-microsoft-com:vml" Requires="v">
                <p:oleObj name="Equation" r:id="rId2" imgW="1562040" imgH="431640" progId="Equation.DSMT4">
                  <p:embed/>
                </p:oleObj>
              </mc:Choice>
              <mc:Fallback>
                <p:oleObj name="Equation" r:id="rId2" imgW="1562040" imgH="431640" progId="Equation.DSMT4">
                  <p:embed/>
                  <p:pic>
                    <p:nvPicPr>
                      <p:cNvPr id="0" name=""/>
                      <p:cNvPicPr/>
                      <p:nvPr/>
                    </p:nvPicPr>
                    <p:blipFill>
                      <a:blip r:embed="rId3"/>
                      <a:stretch>
                        <a:fillRect/>
                      </a:stretch>
                    </p:blipFill>
                    <p:spPr>
                      <a:xfrm>
                        <a:off x="4725246" y="1491550"/>
                        <a:ext cx="2741508" cy="757815"/>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C7718F3A-A33E-450C-A58B-489612E56DC5}"/>
              </a:ext>
            </a:extLst>
          </p:cNvPr>
          <p:cNvGraphicFramePr>
            <a:graphicFrameLocks noChangeAspect="1"/>
          </p:cNvGraphicFramePr>
          <p:nvPr>
            <p:extLst>
              <p:ext uri="{D42A27DB-BD31-4B8C-83A1-F6EECF244321}">
                <p14:modId xmlns:p14="http://schemas.microsoft.com/office/powerpoint/2010/main" val="1189635511"/>
              </p:ext>
            </p:extLst>
          </p:nvPr>
        </p:nvGraphicFramePr>
        <p:xfrm>
          <a:off x="11519477" y="1719083"/>
          <a:ext cx="340591" cy="302748"/>
        </p:xfrm>
        <a:graphic>
          <a:graphicData uri="http://schemas.openxmlformats.org/presentationml/2006/ole">
            <mc:AlternateContent xmlns:mc="http://schemas.openxmlformats.org/markup-compatibility/2006">
              <mc:Choice xmlns:v="urn:schemas-microsoft-com:vml" Requires="v">
                <p:oleObj name="Equation" r:id="rId4" imgW="228600" imgH="203040" progId="Equation.DSMT4">
                  <p:embed/>
                </p:oleObj>
              </mc:Choice>
              <mc:Fallback>
                <p:oleObj name="Equation" r:id="rId4" imgW="228600" imgH="203040" progId="Equation.DSMT4">
                  <p:embed/>
                  <p:pic>
                    <p:nvPicPr>
                      <p:cNvPr id="0" name=""/>
                      <p:cNvPicPr/>
                      <p:nvPr/>
                    </p:nvPicPr>
                    <p:blipFill>
                      <a:blip r:embed="rId5"/>
                      <a:stretch>
                        <a:fillRect/>
                      </a:stretch>
                    </p:blipFill>
                    <p:spPr>
                      <a:xfrm>
                        <a:off x="11519477" y="1719083"/>
                        <a:ext cx="340591" cy="302748"/>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D63AD86A-5392-463C-B84A-E531AAB8245F}"/>
              </a:ext>
            </a:extLst>
          </p:cNvPr>
          <p:cNvGraphicFramePr>
            <a:graphicFrameLocks noChangeAspect="1"/>
          </p:cNvGraphicFramePr>
          <p:nvPr>
            <p:extLst>
              <p:ext uri="{D42A27DB-BD31-4B8C-83A1-F6EECF244321}">
                <p14:modId xmlns:p14="http://schemas.microsoft.com/office/powerpoint/2010/main" val="105361671"/>
              </p:ext>
            </p:extLst>
          </p:nvPr>
        </p:nvGraphicFramePr>
        <p:xfrm>
          <a:off x="5360473" y="2599546"/>
          <a:ext cx="1471053" cy="757815"/>
        </p:xfrm>
        <a:graphic>
          <a:graphicData uri="http://schemas.openxmlformats.org/presentationml/2006/ole">
            <mc:AlternateContent xmlns:mc="http://schemas.openxmlformats.org/markup-compatibility/2006">
              <mc:Choice xmlns:v="urn:schemas-microsoft-com:vml" Requires="v">
                <p:oleObj name="Equation" r:id="rId6" imgW="838080" imgH="431640" progId="Equation.DSMT4">
                  <p:embed/>
                </p:oleObj>
              </mc:Choice>
              <mc:Fallback>
                <p:oleObj name="Equation" r:id="rId6" imgW="838080" imgH="431640" progId="Equation.DSMT4">
                  <p:embed/>
                  <p:pic>
                    <p:nvPicPr>
                      <p:cNvPr id="0" name=""/>
                      <p:cNvPicPr/>
                      <p:nvPr/>
                    </p:nvPicPr>
                    <p:blipFill>
                      <a:blip r:embed="rId7"/>
                      <a:stretch>
                        <a:fillRect/>
                      </a:stretch>
                    </p:blipFill>
                    <p:spPr>
                      <a:xfrm>
                        <a:off x="5360473" y="2599546"/>
                        <a:ext cx="1471053" cy="75781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1E7C83FE-4928-4FAE-8E30-204E1404A09D}"/>
              </a:ext>
            </a:extLst>
          </p:cNvPr>
          <p:cNvGraphicFramePr>
            <a:graphicFrameLocks noChangeAspect="1"/>
          </p:cNvGraphicFramePr>
          <p:nvPr>
            <p:extLst>
              <p:ext uri="{D42A27DB-BD31-4B8C-83A1-F6EECF244321}">
                <p14:modId xmlns:p14="http://schemas.microsoft.com/office/powerpoint/2010/main" val="3686027329"/>
              </p:ext>
            </p:extLst>
          </p:nvPr>
        </p:nvGraphicFramePr>
        <p:xfrm>
          <a:off x="11507065" y="2806493"/>
          <a:ext cx="365414" cy="343919"/>
        </p:xfrm>
        <a:graphic>
          <a:graphicData uri="http://schemas.openxmlformats.org/presentationml/2006/ole">
            <mc:AlternateContent xmlns:mc="http://schemas.openxmlformats.org/markup-compatibility/2006">
              <mc:Choice xmlns:v="urn:schemas-microsoft-com:vml" Requires="v">
                <p:oleObj name="Equation" r:id="rId8" imgW="215640" imgH="203040" progId="Equation.DSMT4">
                  <p:embed/>
                </p:oleObj>
              </mc:Choice>
              <mc:Fallback>
                <p:oleObj name="Equation" r:id="rId8" imgW="215640" imgH="203040" progId="Equation.DSMT4">
                  <p:embed/>
                  <p:pic>
                    <p:nvPicPr>
                      <p:cNvPr id="0" name=""/>
                      <p:cNvPicPr/>
                      <p:nvPr/>
                    </p:nvPicPr>
                    <p:blipFill>
                      <a:blip r:embed="rId9"/>
                      <a:stretch>
                        <a:fillRect/>
                      </a:stretch>
                    </p:blipFill>
                    <p:spPr>
                      <a:xfrm>
                        <a:off x="11507065" y="2806493"/>
                        <a:ext cx="365414" cy="343919"/>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28C20AB6-265E-4FB1-816C-A2C23A062B10}"/>
              </a:ext>
            </a:extLst>
          </p:cNvPr>
          <p:cNvGraphicFramePr>
            <a:graphicFrameLocks noChangeAspect="1"/>
          </p:cNvGraphicFramePr>
          <p:nvPr>
            <p:extLst>
              <p:ext uri="{D42A27DB-BD31-4B8C-83A1-F6EECF244321}">
                <p14:modId xmlns:p14="http://schemas.microsoft.com/office/powerpoint/2010/main" val="3051446015"/>
              </p:ext>
            </p:extLst>
          </p:nvPr>
        </p:nvGraphicFramePr>
        <p:xfrm>
          <a:off x="5081865" y="3707541"/>
          <a:ext cx="2028267" cy="757814"/>
        </p:xfrm>
        <a:graphic>
          <a:graphicData uri="http://schemas.openxmlformats.org/presentationml/2006/ole">
            <mc:AlternateContent xmlns:mc="http://schemas.openxmlformats.org/markup-compatibility/2006">
              <mc:Choice xmlns:v="urn:schemas-microsoft-com:vml" Requires="v">
                <p:oleObj name="Equation" r:id="rId10" imgW="1155600" imgH="431640" progId="Equation.DSMT4">
                  <p:embed/>
                </p:oleObj>
              </mc:Choice>
              <mc:Fallback>
                <p:oleObj name="Equation" r:id="rId10" imgW="1155600" imgH="431640" progId="Equation.DSMT4">
                  <p:embed/>
                  <p:pic>
                    <p:nvPicPr>
                      <p:cNvPr id="0" name=""/>
                      <p:cNvPicPr/>
                      <p:nvPr/>
                    </p:nvPicPr>
                    <p:blipFill>
                      <a:blip r:embed="rId11"/>
                      <a:stretch>
                        <a:fillRect/>
                      </a:stretch>
                    </p:blipFill>
                    <p:spPr>
                      <a:xfrm>
                        <a:off x="5081865" y="3707541"/>
                        <a:ext cx="2028267" cy="757814"/>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63DCBE0B-DD2D-4A9B-A81B-9F21A636A5C2}"/>
              </a:ext>
            </a:extLst>
          </p:cNvPr>
          <p:cNvGraphicFramePr>
            <a:graphicFrameLocks noChangeAspect="1"/>
          </p:cNvGraphicFramePr>
          <p:nvPr>
            <p:extLst>
              <p:ext uri="{D42A27DB-BD31-4B8C-83A1-F6EECF244321}">
                <p14:modId xmlns:p14="http://schemas.microsoft.com/office/powerpoint/2010/main" val="2712269511"/>
              </p:ext>
            </p:extLst>
          </p:nvPr>
        </p:nvGraphicFramePr>
        <p:xfrm>
          <a:off x="11497297" y="3915359"/>
          <a:ext cx="384950" cy="342178"/>
        </p:xfrm>
        <a:graphic>
          <a:graphicData uri="http://schemas.openxmlformats.org/presentationml/2006/ole">
            <mc:AlternateContent xmlns:mc="http://schemas.openxmlformats.org/markup-compatibility/2006">
              <mc:Choice xmlns:v="urn:schemas-microsoft-com:vml" Requires="v">
                <p:oleObj name="Equation" r:id="rId12" imgW="228600" imgH="203040" progId="Equation.DSMT4">
                  <p:embed/>
                </p:oleObj>
              </mc:Choice>
              <mc:Fallback>
                <p:oleObj name="Equation" r:id="rId12" imgW="228600" imgH="203040" progId="Equation.DSMT4">
                  <p:embed/>
                  <p:pic>
                    <p:nvPicPr>
                      <p:cNvPr id="0" name=""/>
                      <p:cNvPicPr/>
                      <p:nvPr/>
                    </p:nvPicPr>
                    <p:blipFill>
                      <a:blip r:embed="rId13"/>
                      <a:stretch>
                        <a:fillRect/>
                      </a:stretch>
                    </p:blipFill>
                    <p:spPr>
                      <a:xfrm>
                        <a:off x="11497297" y="3915359"/>
                        <a:ext cx="384950" cy="342178"/>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ADE15259-724D-41EE-B4AF-F70EDFAC8C98}"/>
              </a:ext>
            </a:extLst>
          </p:cNvPr>
          <p:cNvGraphicFramePr>
            <a:graphicFrameLocks noChangeAspect="1"/>
          </p:cNvGraphicFramePr>
          <p:nvPr>
            <p:extLst>
              <p:ext uri="{D42A27DB-BD31-4B8C-83A1-F6EECF244321}">
                <p14:modId xmlns:p14="http://schemas.microsoft.com/office/powerpoint/2010/main" val="957215253"/>
              </p:ext>
            </p:extLst>
          </p:nvPr>
        </p:nvGraphicFramePr>
        <p:xfrm>
          <a:off x="4590618" y="5646533"/>
          <a:ext cx="2830654" cy="757813"/>
        </p:xfrm>
        <a:graphic>
          <a:graphicData uri="http://schemas.openxmlformats.org/presentationml/2006/ole">
            <mc:AlternateContent xmlns:mc="http://schemas.openxmlformats.org/markup-compatibility/2006">
              <mc:Choice xmlns:v="urn:schemas-microsoft-com:vml" Requires="v">
                <p:oleObj name="Equation" r:id="rId14" imgW="1612800" imgH="431640" progId="Equation.DSMT4">
                  <p:embed/>
                </p:oleObj>
              </mc:Choice>
              <mc:Fallback>
                <p:oleObj name="Equation" r:id="rId14" imgW="1612800" imgH="431640" progId="Equation.DSMT4">
                  <p:embed/>
                  <p:pic>
                    <p:nvPicPr>
                      <p:cNvPr id="0" name=""/>
                      <p:cNvPicPr/>
                      <p:nvPr/>
                    </p:nvPicPr>
                    <p:blipFill>
                      <a:blip r:embed="rId15"/>
                      <a:stretch>
                        <a:fillRect/>
                      </a:stretch>
                    </p:blipFill>
                    <p:spPr>
                      <a:xfrm>
                        <a:off x="4590618" y="5646533"/>
                        <a:ext cx="2830654" cy="757813"/>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4AE24BBF-B661-45F5-BF84-E274E72071D2}"/>
              </a:ext>
            </a:extLst>
          </p:cNvPr>
          <p:cNvGraphicFramePr>
            <a:graphicFrameLocks noChangeAspect="1"/>
          </p:cNvGraphicFramePr>
          <p:nvPr>
            <p:extLst>
              <p:ext uri="{D42A27DB-BD31-4B8C-83A1-F6EECF244321}">
                <p14:modId xmlns:p14="http://schemas.microsoft.com/office/powerpoint/2010/main" val="1631756879"/>
              </p:ext>
            </p:extLst>
          </p:nvPr>
        </p:nvGraphicFramePr>
        <p:xfrm>
          <a:off x="11495520" y="5871326"/>
          <a:ext cx="376959" cy="335075"/>
        </p:xfrm>
        <a:graphic>
          <a:graphicData uri="http://schemas.openxmlformats.org/presentationml/2006/ole">
            <mc:AlternateContent xmlns:mc="http://schemas.openxmlformats.org/markup-compatibility/2006">
              <mc:Choice xmlns:v="urn:schemas-microsoft-com:vml" Requires="v">
                <p:oleObj name="Equation" r:id="rId16" imgW="228600" imgH="203040" progId="Equation.DSMT4">
                  <p:embed/>
                </p:oleObj>
              </mc:Choice>
              <mc:Fallback>
                <p:oleObj name="Equation" r:id="rId16" imgW="228600" imgH="203040" progId="Equation.DSMT4">
                  <p:embed/>
                  <p:pic>
                    <p:nvPicPr>
                      <p:cNvPr id="0" name=""/>
                      <p:cNvPicPr/>
                      <p:nvPr/>
                    </p:nvPicPr>
                    <p:blipFill>
                      <a:blip r:embed="rId17"/>
                      <a:stretch>
                        <a:fillRect/>
                      </a:stretch>
                    </p:blipFill>
                    <p:spPr>
                      <a:xfrm>
                        <a:off x="11495520" y="5871326"/>
                        <a:ext cx="376959" cy="335075"/>
                      </a:xfrm>
                      <a:prstGeom prst="rect">
                        <a:avLst/>
                      </a:prstGeom>
                    </p:spPr>
                  </p:pic>
                </p:oleObj>
              </mc:Fallback>
            </mc:AlternateContent>
          </a:graphicData>
        </a:graphic>
      </p:graphicFrame>
    </p:spTree>
    <p:extLst>
      <p:ext uri="{BB962C8B-B14F-4D97-AF65-F5344CB8AC3E}">
        <p14:creationId xmlns:p14="http://schemas.microsoft.com/office/powerpoint/2010/main" val="1252159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A094BFF-94DA-43F9-B6AF-C5F61081BBF4}"/>
              </a:ext>
            </a:extLst>
          </p:cNvPr>
          <p:cNvSpPr>
            <a:spLocks noGrp="1"/>
          </p:cNvSpPr>
          <p:nvPr>
            <p:ph type="sldNum" sz="quarter" idx="12"/>
          </p:nvPr>
        </p:nvSpPr>
        <p:spPr/>
        <p:txBody>
          <a:bodyPr/>
          <a:lstStyle/>
          <a:p>
            <a:pPr>
              <a:defRPr/>
            </a:pPr>
            <a:fld id="{DB5F2CA6-A39B-48F7-84D1-AF91BD07D67D}" type="slidenum">
              <a:rPr lang="en-US" altLang="zh-CN" smtClean="0"/>
              <a:pPr>
                <a:defRPr/>
              </a:pPr>
              <a:t>7</a:t>
            </a:fld>
            <a:endParaRPr lang="en-US" altLang="zh-CN"/>
          </a:p>
        </p:txBody>
      </p:sp>
      <p:sp>
        <p:nvSpPr>
          <p:cNvPr id="5" name="矩形 4">
            <a:extLst>
              <a:ext uri="{FF2B5EF4-FFF2-40B4-BE49-F238E27FC236}">
                <a16:creationId xmlns:a16="http://schemas.microsoft.com/office/drawing/2014/main" id="{51EA10EC-F41E-4EE8-BED5-CDBA8D7CB8B9}"/>
              </a:ext>
            </a:extLst>
          </p:cNvPr>
          <p:cNvSpPr/>
          <p:nvPr/>
        </p:nvSpPr>
        <p:spPr>
          <a:xfrm>
            <a:off x="273153" y="519958"/>
            <a:ext cx="2339102" cy="523220"/>
          </a:xfrm>
          <a:prstGeom prst="rect">
            <a:avLst/>
          </a:prstGeom>
          <a:noFill/>
        </p:spPr>
        <p:txBody>
          <a:bodyPr wrap="none" lIns="91440" tIns="45720" rIns="91440" bIns="45720">
            <a:spAutoFit/>
          </a:bodyPr>
          <a:lstStyle/>
          <a:p>
            <a:pPr algn="ctr"/>
            <a:r>
              <a:rPr lang="zh-CN" altLang="en-US" sz="2800" dirty="0">
                <a:ln w="0"/>
                <a:effectLst>
                  <a:outerShdw blurRad="38100" dist="19050" dir="2700000" algn="tl" rotWithShape="0">
                    <a:schemeClr val="dk1">
                      <a:alpha val="40000"/>
                    </a:schemeClr>
                  </a:outerShdw>
                </a:effectLst>
              </a:rPr>
              <a:t>理想结的特性</a:t>
            </a:r>
            <a:endParaRPr lang="zh-CN"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6" name="文本框 5">
            <a:extLst>
              <a:ext uri="{FF2B5EF4-FFF2-40B4-BE49-F238E27FC236}">
                <a16:creationId xmlns:a16="http://schemas.microsoft.com/office/drawing/2014/main" id="{B0925D18-EC21-4908-8A00-74C23B861F4B}"/>
              </a:ext>
            </a:extLst>
          </p:cNvPr>
          <p:cNvSpPr txBox="1"/>
          <p:nvPr/>
        </p:nvSpPr>
        <p:spPr>
          <a:xfrm>
            <a:off x="301336" y="1153391"/>
            <a:ext cx="11575473" cy="4801314"/>
          </a:xfrm>
          <a:prstGeom prst="rect">
            <a:avLst/>
          </a:prstGeom>
          <a:noFill/>
        </p:spPr>
        <p:txBody>
          <a:bodyPr wrap="square" rtlCol="0">
            <a:spAutoFit/>
          </a:bodyPr>
          <a:lstStyle/>
          <a:p>
            <a:r>
              <a:rPr lang="en-US" altLang="zh-CN" dirty="0"/>
              <a:t>        </a:t>
            </a:r>
            <a:r>
              <a:rPr lang="zh-CN" altLang="en-US" dirty="0"/>
              <a:t>结电容可以用与求</a:t>
            </a:r>
            <a:r>
              <a:rPr lang="en-US" altLang="zh-CN" dirty="0" err="1"/>
              <a:t>pn</a:t>
            </a:r>
            <a:r>
              <a:rPr lang="zh-CN" altLang="en-US" dirty="0"/>
              <a:t>结的结电容一样的方法求得：</a:t>
            </a:r>
            <a:endParaRPr lang="en-US" altLang="zh-CN" dirty="0"/>
          </a:p>
          <a:p>
            <a:endParaRPr lang="en-US" altLang="zh-CN" dirty="0"/>
          </a:p>
          <a:p>
            <a:endParaRPr lang="en-US" altLang="zh-CN" dirty="0"/>
          </a:p>
          <a:p>
            <a:endParaRPr lang="en-US" altLang="zh-CN" dirty="0"/>
          </a:p>
          <a:p>
            <a:r>
              <a:rPr lang="en-US" altLang="zh-CN" dirty="0"/>
              <a:t>C’</a:t>
            </a:r>
            <a:r>
              <a:rPr lang="zh-CN" altLang="en-US" dirty="0"/>
              <a:t>是单位面积电容量。上式的倒数求平方得</a:t>
            </a:r>
            <a:endParaRPr lang="en-US" altLang="zh-CN" dirty="0"/>
          </a:p>
          <a:p>
            <a:endParaRPr lang="en-US" altLang="zh-CN" dirty="0"/>
          </a:p>
          <a:p>
            <a:endParaRPr lang="en-US" altLang="zh-CN" dirty="0"/>
          </a:p>
          <a:p>
            <a:endParaRPr lang="en-US" altLang="zh-CN" dirty="0"/>
          </a:p>
          <a:p>
            <a:r>
              <a:rPr lang="zh-CN" altLang="en-US" dirty="0"/>
              <a:t>利用式</a:t>
            </a:r>
            <a:r>
              <a:rPr lang="en-US" altLang="zh-CN" dirty="0"/>
              <a:t>(9)</a:t>
            </a:r>
            <a:r>
              <a:rPr lang="zh-CN" altLang="en-US" dirty="0"/>
              <a:t>并取一级近似，可得到内建电势差</a:t>
            </a:r>
            <a:r>
              <a:rPr lang="en-US" altLang="zh-CN" dirty="0" err="1"/>
              <a:t>V</a:t>
            </a:r>
            <a:r>
              <a:rPr lang="en-US" altLang="zh-CN" baseline="-25000" dirty="0" err="1"/>
              <a:t>bi</a:t>
            </a:r>
            <a:r>
              <a:rPr lang="zh-CN" altLang="en-US" dirty="0"/>
              <a:t>，式</a:t>
            </a:r>
            <a:r>
              <a:rPr lang="en-US" altLang="zh-CN" dirty="0"/>
              <a:t>(9)</a:t>
            </a:r>
            <a:r>
              <a:rPr lang="zh-CN" altLang="en-US" dirty="0"/>
              <a:t>所表示的曲线的斜率就是半导体的掺杂浓度</a:t>
            </a:r>
            <a:r>
              <a:rPr lang="en-US" altLang="zh-CN" dirty="0"/>
              <a:t>N</a:t>
            </a:r>
            <a:r>
              <a:rPr lang="en-US" altLang="zh-CN" baseline="-25000" dirty="0"/>
              <a:t>d</a:t>
            </a:r>
            <a:r>
              <a:rPr lang="zh-CN" altLang="en-US" dirty="0"/>
              <a:t>。我们还可以计算</a:t>
            </a:r>
            <a:r>
              <a:rPr lang="el-GR" altLang="zh-CN" dirty="0">
                <a:ea typeface="宋体" panose="02010600030101010101" pitchFamily="2" charset="-122"/>
              </a:rPr>
              <a:t>φ</a:t>
            </a:r>
            <a:r>
              <a:rPr lang="en-US" altLang="zh-CN" baseline="-25000" dirty="0">
                <a:ea typeface="宋体" panose="02010600030101010101" pitchFamily="2" charset="-122"/>
              </a:rPr>
              <a:t>n</a:t>
            </a:r>
            <a:r>
              <a:rPr lang="zh-CN" altLang="en-US" dirty="0">
                <a:ea typeface="宋体" panose="02010600030101010101" pitchFamily="2" charset="-122"/>
              </a:rPr>
              <a:t>，并由式</a:t>
            </a:r>
            <a:r>
              <a:rPr lang="en-US" altLang="zh-CN" dirty="0">
                <a:ea typeface="宋体" panose="02010600030101010101" pitchFamily="2" charset="-122"/>
              </a:rPr>
              <a:t>(2)</a:t>
            </a:r>
            <a:r>
              <a:rPr lang="zh-CN" altLang="en-US" dirty="0">
                <a:ea typeface="宋体" panose="02010600030101010101" pitchFamily="2" charset="-122"/>
              </a:rPr>
              <a:t>得出</a:t>
            </a:r>
            <a:r>
              <a:rPr lang="el-GR" altLang="zh-CN" dirty="0">
                <a:ea typeface="宋体" panose="02010600030101010101" pitchFamily="2" charset="-122"/>
              </a:rPr>
              <a:t>φ</a:t>
            </a:r>
            <a:r>
              <a:rPr lang="en-US" altLang="zh-CN" baseline="-25000" dirty="0">
                <a:ea typeface="宋体" panose="02010600030101010101" pitchFamily="2" charset="-122"/>
              </a:rPr>
              <a:t>B0</a:t>
            </a:r>
            <a:r>
              <a:rPr lang="zh-CN" altLang="en-US" dirty="0">
                <a:ea typeface="宋体" panose="02010600030101010101" pitchFamily="2" charset="-122"/>
              </a:rPr>
              <a:t>。</a:t>
            </a:r>
            <a:endParaRPr lang="en-US" altLang="zh-CN" baseline="-25000" dirty="0">
              <a:ea typeface="宋体" panose="02010600030101010101" pitchFamily="2" charset="-122"/>
            </a:endParaRPr>
          </a:p>
          <a:p>
            <a:endParaRPr lang="en-US" altLang="zh-CN" baseline="-25000" dirty="0">
              <a:ea typeface="宋体" panose="02010600030101010101" pitchFamily="2" charset="-122"/>
            </a:endParaRPr>
          </a:p>
          <a:p>
            <a:endParaRPr lang="en-US" altLang="zh-CN" baseline="-25000" dirty="0">
              <a:ea typeface="宋体" panose="02010600030101010101" pitchFamily="2" charset="-122"/>
            </a:endParaRPr>
          </a:p>
          <a:p>
            <a:endParaRPr lang="en-US" altLang="zh-CN" baseline="-25000" dirty="0">
              <a:ea typeface="宋体" panose="02010600030101010101" pitchFamily="2" charset="-122"/>
            </a:endParaRPr>
          </a:p>
          <a:p>
            <a:pPr algn="just"/>
            <a:r>
              <a:rPr lang="zh-CN" altLang="en-US" dirty="0">
                <a:ea typeface="宋体" panose="02010600030101010101" pitchFamily="2" charset="-122"/>
              </a:rPr>
              <a:t>        有些因素会使实际的肖特基势垒高度偏离其理论值，参见式</a:t>
            </a:r>
            <a:r>
              <a:rPr lang="en-US" altLang="zh-CN" dirty="0">
                <a:ea typeface="宋体" panose="02010600030101010101" pitchFamily="2" charset="-122"/>
              </a:rPr>
              <a:t>(1)</a:t>
            </a:r>
            <a:r>
              <a:rPr lang="zh-CN" altLang="en-US" dirty="0">
                <a:ea typeface="宋体" panose="02010600030101010101" pitchFamily="2" charset="-122"/>
              </a:rPr>
              <a:t>。第一种因素是肖特基效应，即势垒的镜像力降低效应。</a:t>
            </a:r>
            <a:endParaRPr lang="en-US" altLang="zh-CN" dirty="0">
              <a:ea typeface="宋体" panose="02010600030101010101" pitchFamily="2" charset="-122"/>
            </a:endParaRPr>
          </a:p>
          <a:p>
            <a:pPr algn="just"/>
            <a:r>
              <a:rPr lang="zh-CN" altLang="en-US" dirty="0">
                <a:ea typeface="宋体" panose="02010600030101010101" pitchFamily="2" charset="-122"/>
              </a:rPr>
              <a:t>        在电介质中距离金属</a:t>
            </a:r>
            <a:r>
              <a:rPr lang="en-US" altLang="zh-CN" dirty="0">
                <a:ea typeface="宋体" panose="02010600030101010101" pitchFamily="2" charset="-122"/>
              </a:rPr>
              <a:t>x</a:t>
            </a:r>
            <a:r>
              <a:rPr lang="zh-CN" altLang="en-US" dirty="0">
                <a:ea typeface="宋体" panose="02010600030101010101" pitchFamily="2" charset="-122"/>
              </a:rPr>
              <a:t>处的电子能够形成电场，电场线与金属表面必须垂直，与一个距金属表面同样距离（在金属内部）的假想正电荷（</a:t>
            </a:r>
            <a:r>
              <a:rPr lang="en-US" altLang="zh-CN" dirty="0">
                <a:ea typeface="宋体" panose="02010600030101010101" pitchFamily="2" charset="-122"/>
              </a:rPr>
              <a:t>+e</a:t>
            </a:r>
            <a:r>
              <a:rPr lang="zh-CN" altLang="en-US" dirty="0">
                <a:ea typeface="宋体" panose="02010600030101010101" pitchFamily="2" charset="-122"/>
              </a:rPr>
              <a:t>）形成的电场相同，这种假想的影响如图</a:t>
            </a:r>
            <a:r>
              <a:rPr lang="en-US" altLang="zh-CN" dirty="0">
                <a:ea typeface="宋体" panose="02010600030101010101" pitchFamily="2" charset="-122"/>
              </a:rPr>
              <a:t>3(a)</a:t>
            </a:r>
            <a:r>
              <a:rPr lang="zh-CN" altLang="en-US" dirty="0">
                <a:ea typeface="宋体" panose="02010600030101010101" pitchFamily="2" charset="-122"/>
              </a:rPr>
              <a:t>所示。对电子的作用力取决于假想电荷的库仑引力，即</a:t>
            </a:r>
          </a:p>
        </p:txBody>
      </p:sp>
      <p:graphicFrame>
        <p:nvGraphicFramePr>
          <p:cNvPr id="7" name="对象 6">
            <a:extLst>
              <a:ext uri="{FF2B5EF4-FFF2-40B4-BE49-F238E27FC236}">
                <a16:creationId xmlns:a16="http://schemas.microsoft.com/office/drawing/2014/main" id="{7E5AA284-82C2-4A16-A93E-094DBDA3D242}"/>
              </a:ext>
            </a:extLst>
          </p:cNvPr>
          <p:cNvGraphicFramePr>
            <a:graphicFrameLocks noChangeAspect="1"/>
          </p:cNvGraphicFramePr>
          <p:nvPr>
            <p:extLst>
              <p:ext uri="{D42A27DB-BD31-4B8C-83A1-F6EECF244321}">
                <p14:modId xmlns:p14="http://schemas.microsoft.com/office/powerpoint/2010/main" val="2764690891"/>
              </p:ext>
            </p:extLst>
          </p:nvPr>
        </p:nvGraphicFramePr>
        <p:xfrm>
          <a:off x="4453580" y="1522723"/>
          <a:ext cx="3270983" cy="751442"/>
        </p:xfrm>
        <a:graphic>
          <a:graphicData uri="http://schemas.openxmlformats.org/presentationml/2006/ole">
            <mc:AlternateContent xmlns:mc="http://schemas.openxmlformats.org/markup-compatibility/2006">
              <mc:Choice xmlns:v="urn:schemas-microsoft-com:vml" Requires="v">
                <p:oleObj name="Equation" r:id="rId2" imgW="1879560" imgH="431640" progId="Equation.DSMT4">
                  <p:embed/>
                </p:oleObj>
              </mc:Choice>
              <mc:Fallback>
                <p:oleObj name="Equation" r:id="rId2" imgW="1879560" imgH="431640" progId="Equation.DSMT4">
                  <p:embed/>
                  <p:pic>
                    <p:nvPicPr>
                      <p:cNvPr id="0" name=""/>
                      <p:cNvPicPr/>
                      <p:nvPr/>
                    </p:nvPicPr>
                    <p:blipFill>
                      <a:blip r:embed="rId3"/>
                      <a:stretch>
                        <a:fillRect/>
                      </a:stretch>
                    </p:blipFill>
                    <p:spPr>
                      <a:xfrm>
                        <a:off x="4453580" y="1522723"/>
                        <a:ext cx="3270983" cy="751442"/>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CCBCE250-282B-44E4-80A8-88DBB4CCD700}"/>
              </a:ext>
            </a:extLst>
          </p:cNvPr>
          <p:cNvGraphicFramePr>
            <a:graphicFrameLocks noChangeAspect="1"/>
          </p:cNvGraphicFramePr>
          <p:nvPr>
            <p:extLst>
              <p:ext uri="{D42A27DB-BD31-4B8C-83A1-F6EECF244321}">
                <p14:modId xmlns:p14="http://schemas.microsoft.com/office/powerpoint/2010/main" val="1779366319"/>
              </p:ext>
            </p:extLst>
          </p:nvPr>
        </p:nvGraphicFramePr>
        <p:xfrm>
          <a:off x="11277600" y="1722159"/>
          <a:ext cx="374605" cy="352569"/>
        </p:xfrm>
        <a:graphic>
          <a:graphicData uri="http://schemas.openxmlformats.org/presentationml/2006/ole">
            <mc:AlternateContent xmlns:mc="http://schemas.openxmlformats.org/markup-compatibility/2006">
              <mc:Choice xmlns:v="urn:schemas-microsoft-com:vml" Requires="v">
                <p:oleObj name="Equation" r:id="rId4" imgW="215640" imgH="203040" progId="Equation.DSMT4">
                  <p:embed/>
                </p:oleObj>
              </mc:Choice>
              <mc:Fallback>
                <p:oleObj name="Equation" r:id="rId4" imgW="215640" imgH="203040" progId="Equation.DSMT4">
                  <p:embed/>
                  <p:pic>
                    <p:nvPicPr>
                      <p:cNvPr id="0" name=""/>
                      <p:cNvPicPr/>
                      <p:nvPr/>
                    </p:nvPicPr>
                    <p:blipFill>
                      <a:blip r:embed="rId5"/>
                      <a:stretch>
                        <a:fillRect/>
                      </a:stretch>
                    </p:blipFill>
                    <p:spPr>
                      <a:xfrm>
                        <a:off x="11277600" y="1722159"/>
                        <a:ext cx="374605" cy="352569"/>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33D2E3BE-09BE-4BCC-B359-98CB11624C99}"/>
              </a:ext>
            </a:extLst>
          </p:cNvPr>
          <p:cNvGraphicFramePr>
            <a:graphicFrameLocks noChangeAspect="1"/>
          </p:cNvGraphicFramePr>
          <p:nvPr>
            <p:extLst>
              <p:ext uri="{D42A27DB-BD31-4B8C-83A1-F6EECF244321}">
                <p14:modId xmlns:p14="http://schemas.microsoft.com/office/powerpoint/2010/main" val="1242565415"/>
              </p:ext>
            </p:extLst>
          </p:nvPr>
        </p:nvGraphicFramePr>
        <p:xfrm>
          <a:off x="5050313" y="2630719"/>
          <a:ext cx="2077516" cy="751442"/>
        </p:xfrm>
        <a:graphic>
          <a:graphicData uri="http://schemas.openxmlformats.org/presentationml/2006/ole">
            <mc:AlternateContent xmlns:mc="http://schemas.openxmlformats.org/markup-compatibility/2006">
              <mc:Choice xmlns:v="urn:schemas-microsoft-com:vml" Requires="v">
                <p:oleObj name="Equation" r:id="rId6" imgW="1193760" imgH="431640" progId="Equation.DSMT4">
                  <p:embed/>
                </p:oleObj>
              </mc:Choice>
              <mc:Fallback>
                <p:oleObj name="Equation" r:id="rId6" imgW="1193760" imgH="431640" progId="Equation.DSMT4">
                  <p:embed/>
                  <p:pic>
                    <p:nvPicPr>
                      <p:cNvPr id="0" name=""/>
                      <p:cNvPicPr/>
                      <p:nvPr/>
                    </p:nvPicPr>
                    <p:blipFill>
                      <a:blip r:embed="rId7"/>
                      <a:stretch>
                        <a:fillRect/>
                      </a:stretch>
                    </p:blipFill>
                    <p:spPr>
                      <a:xfrm>
                        <a:off x="5050313" y="2630719"/>
                        <a:ext cx="2077516" cy="75144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CFA9FB1B-C6AD-4F6B-8D37-93908FEA7E44}"/>
              </a:ext>
            </a:extLst>
          </p:cNvPr>
          <p:cNvGraphicFramePr>
            <a:graphicFrameLocks noChangeAspect="1"/>
          </p:cNvGraphicFramePr>
          <p:nvPr>
            <p:extLst>
              <p:ext uri="{D42A27DB-BD31-4B8C-83A1-F6EECF244321}">
                <p14:modId xmlns:p14="http://schemas.microsoft.com/office/powerpoint/2010/main" val="2728761740"/>
              </p:ext>
            </p:extLst>
          </p:nvPr>
        </p:nvGraphicFramePr>
        <p:xfrm>
          <a:off x="11269568" y="2832810"/>
          <a:ext cx="390668" cy="347260"/>
        </p:xfrm>
        <a:graphic>
          <a:graphicData uri="http://schemas.openxmlformats.org/presentationml/2006/ole">
            <mc:AlternateContent xmlns:mc="http://schemas.openxmlformats.org/markup-compatibility/2006">
              <mc:Choice xmlns:v="urn:schemas-microsoft-com:vml" Requires="v">
                <p:oleObj name="Equation" r:id="rId8" imgW="228600" imgH="203040" progId="Equation.DSMT4">
                  <p:embed/>
                </p:oleObj>
              </mc:Choice>
              <mc:Fallback>
                <p:oleObj name="Equation" r:id="rId8" imgW="228600" imgH="203040" progId="Equation.DSMT4">
                  <p:embed/>
                  <p:pic>
                    <p:nvPicPr>
                      <p:cNvPr id="0" name=""/>
                      <p:cNvPicPr/>
                      <p:nvPr/>
                    </p:nvPicPr>
                    <p:blipFill>
                      <a:blip r:embed="rId9"/>
                      <a:stretch>
                        <a:fillRect/>
                      </a:stretch>
                    </p:blipFill>
                    <p:spPr>
                      <a:xfrm>
                        <a:off x="11269568" y="2832810"/>
                        <a:ext cx="390668" cy="347260"/>
                      </a:xfrm>
                      <a:prstGeom prst="rect">
                        <a:avLst/>
                      </a:prstGeom>
                    </p:spPr>
                  </p:pic>
                </p:oleObj>
              </mc:Fallback>
            </mc:AlternateContent>
          </a:graphicData>
        </a:graphic>
      </p:graphicFrame>
      <p:sp>
        <p:nvSpPr>
          <p:cNvPr id="11" name="矩形 10">
            <a:extLst>
              <a:ext uri="{FF2B5EF4-FFF2-40B4-BE49-F238E27FC236}">
                <a16:creationId xmlns:a16="http://schemas.microsoft.com/office/drawing/2014/main" id="{F28E4E25-4BC5-456A-A58E-CE567431B3F5}"/>
              </a:ext>
            </a:extLst>
          </p:cNvPr>
          <p:cNvSpPr/>
          <p:nvPr/>
        </p:nvSpPr>
        <p:spPr>
          <a:xfrm>
            <a:off x="273153" y="4015713"/>
            <a:ext cx="5570756"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影响肖特基势垒高度的非理想因素</a:t>
            </a:r>
          </a:p>
        </p:txBody>
      </p:sp>
      <p:graphicFrame>
        <p:nvGraphicFramePr>
          <p:cNvPr id="13" name="对象 12">
            <a:extLst>
              <a:ext uri="{FF2B5EF4-FFF2-40B4-BE49-F238E27FC236}">
                <a16:creationId xmlns:a16="http://schemas.microsoft.com/office/drawing/2014/main" id="{074D6819-F8E2-4BBF-BFED-C6761A854DC7}"/>
              </a:ext>
            </a:extLst>
          </p:cNvPr>
          <p:cNvGraphicFramePr>
            <a:graphicFrameLocks noChangeAspect="1"/>
          </p:cNvGraphicFramePr>
          <p:nvPr>
            <p:extLst>
              <p:ext uri="{D42A27DB-BD31-4B8C-83A1-F6EECF244321}">
                <p14:modId xmlns:p14="http://schemas.microsoft.com/office/powerpoint/2010/main" val="1526133187"/>
              </p:ext>
            </p:extLst>
          </p:nvPr>
        </p:nvGraphicFramePr>
        <p:xfrm>
          <a:off x="4727182" y="5836815"/>
          <a:ext cx="2233453" cy="751442"/>
        </p:xfrm>
        <a:graphic>
          <a:graphicData uri="http://schemas.openxmlformats.org/presentationml/2006/ole">
            <mc:AlternateContent xmlns:mc="http://schemas.openxmlformats.org/markup-compatibility/2006">
              <mc:Choice xmlns:v="urn:schemas-microsoft-com:vml" Requires="v">
                <p:oleObj name="Equation" r:id="rId10" imgW="1358640" imgH="457200" progId="Equation.DSMT4">
                  <p:embed/>
                </p:oleObj>
              </mc:Choice>
              <mc:Fallback>
                <p:oleObj name="Equation" r:id="rId10" imgW="1358640" imgH="457200" progId="Equation.DSMT4">
                  <p:embed/>
                  <p:pic>
                    <p:nvPicPr>
                      <p:cNvPr id="0" name=""/>
                      <p:cNvPicPr/>
                      <p:nvPr/>
                    </p:nvPicPr>
                    <p:blipFill>
                      <a:blip r:embed="rId11"/>
                      <a:stretch>
                        <a:fillRect/>
                      </a:stretch>
                    </p:blipFill>
                    <p:spPr>
                      <a:xfrm>
                        <a:off x="4727182" y="5836815"/>
                        <a:ext cx="2233453" cy="751442"/>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93D2445B-AF58-4EBB-96B7-CF98E6640D09}"/>
              </a:ext>
            </a:extLst>
          </p:cNvPr>
          <p:cNvGraphicFramePr>
            <a:graphicFrameLocks noChangeAspect="1"/>
          </p:cNvGraphicFramePr>
          <p:nvPr>
            <p:extLst>
              <p:ext uri="{D42A27DB-BD31-4B8C-83A1-F6EECF244321}">
                <p14:modId xmlns:p14="http://schemas.microsoft.com/office/powerpoint/2010/main" val="1051362765"/>
              </p:ext>
            </p:extLst>
          </p:nvPr>
        </p:nvGraphicFramePr>
        <p:xfrm>
          <a:off x="11199682" y="6028035"/>
          <a:ext cx="530439" cy="369001"/>
        </p:xfrm>
        <a:graphic>
          <a:graphicData uri="http://schemas.openxmlformats.org/presentationml/2006/ole">
            <mc:AlternateContent xmlns:mc="http://schemas.openxmlformats.org/markup-compatibility/2006">
              <mc:Choice xmlns:v="urn:schemas-microsoft-com:vml" Requires="v">
                <p:oleObj name="Equation" r:id="rId12" imgW="291960" imgH="203040" progId="Equation.DSMT4">
                  <p:embed/>
                </p:oleObj>
              </mc:Choice>
              <mc:Fallback>
                <p:oleObj name="Equation" r:id="rId12" imgW="291960" imgH="203040" progId="Equation.DSMT4">
                  <p:embed/>
                  <p:pic>
                    <p:nvPicPr>
                      <p:cNvPr id="0" name=""/>
                      <p:cNvPicPr/>
                      <p:nvPr/>
                    </p:nvPicPr>
                    <p:blipFill>
                      <a:blip r:embed="rId13"/>
                      <a:stretch>
                        <a:fillRect/>
                      </a:stretch>
                    </p:blipFill>
                    <p:spPr>
                      <a:xfrm>
                        <a:off x="11199682" y="6028035"/>
                        <a:ext cx="530439" cy="369001"/>
                      </a:xfrm>
                      <a:prstGeom prst="rect">
                        <a:avLst/>
                      </a:prstGeom>
                    </p:spPr>
                  </p:pic>
                </p:oleObj>
              </mc:Fallback>
            </mc:AlternateContent>
          </a:graphicData>
        </a:graphic>
      </p:graphicFrame>
    </p:spTree>
    <p:extLst>
      <p:ext uri="{BB962C8B-B14F-4D97-AF65-F5344CB8AC3E}">
        <p14:creationId xmlns:p14="http://schemas.microsoft.com/office/powerpoint/2010/main" val="3297704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A094BFF-94DA-43F9-B6AF-C5F61081BBF4}"/>
              </a:ext>
            </a:extLst>
          </p:cNvPr>
          <p:cNvSpPr>
            <a:spLocks noGrp="1"/>
          </p:cNvSpPr>
          <p:nvPr>
            <p:ph type="sldNum" sz="quarter" idx="12"/>
          </p:nvPr>
        </p:nvSpPr>
        <p:spPr/>
        <p:txBody>
          <a:bodyPr/>
          <a:lstStyle/>
          <a:p>
            <a:pPr>
              <a:defRPr/>
            </a:pPr>
            <a:fld id="{DB5F2CA6-A39B-48F7-84D1-AF91BD07D67D}" type="slidenum">
              <a:rPr lang="en-US" altLang="zh-CN" smtClean="0"/>
              <a:pPr>
                <a:defRPr/>
              </a:pPr>
              <a:t>8</a:t>
            </a:fld>
            <a:endParaRPr lang="en-US" altLang="zh-CN"/>
          </a:p>
        </p:txBody>
      </p:sp>
      <p:sp>
        <p:nvSpPr>
          <p:cNvPr id="3" name="矩形 2">
            <a:extLst>
              <a:ext uri="{FF2B5EF4-FFF2-40B4-BE49-F238E27FC236}">
                <a16:creationId xmlns:a16="http://schemas.microsoft.com/office/drawing/2014/main" id="{02A77D19-7653-4E7C-A32D-BADB62795C3F}"/>
              </a:ext>
            </a:extLst>
          </p:cNvPr>
          <p:cNvSpPr/>
          <p:nvPr/>
        </p:nvSpPr>
        <p:spPr>
          <a:xfrm>
            <a:off x="262762" y="482804"/>
            <a:ext cx="5570756"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影响肖特基势垒高度的非理想因素</a:t>
            </a:r>
          </a:p>
        </p:txBody>
      </p:sp>
      <p:sp>
        <p:nvSpPr>
          <p:cNvPr id="2" name="文本框 1">
            <a:extLst>
              <a:ext uri="{FF2B5EF4-FFF2-40B4-BE49-F238E27FC236}">
                <a16:creationId xmlns:a16="http://schemas.microsoft.com/office/drawing/2014/main" id="{4286B16B-9C80-4119-A732-9432CF0259A6}"/>
              </a:ext>
            </a:extLst>
          </p:cNvPr>
          <p:cNvSpPr txBox="1"/>
          <p:nvPr/>
        </p:nvSpPr>
        <p:spPr>
          <a:xfrm>
            <a:off x="270164" y="1070264"/>
            <a:ext cx="11492345" cy="4801314"/>
          </a:xfrm>
          <a:prstGeom prst="rect">
            <a:avLst/>
          </a:prstGeom>
          <a:noFill/>
        </p:spPr>
        <p:txBody>
          <a:bodyPr wrap="square" rtlCol="0">
            <a:spAutoFit/>
          </a:bodyPr>
          <a:lstStyle/>
          <a:p>
            <a:r>
              <a:rPr lang="zh-CN" altLang="en-US" dirty="0"/>
              <a:t>电势的表达式为</a:t>
            </a:r>
            <a:endParaRPr lang="en-US" altLang="zh-CN" dirty="0"/>
          </a:p>
          <a:p>
            <a:endParaRPr lang="en-US" altLang="zh-CN" dirty="0"/>
          </a:p>
          <a:p>
            <a:endParaRPr lang="en-US" altLang="zh-CN" dirty="0"/>
          </a:p>
          <a:p>
            <a:endParaRPr lang="en-US" altLang="zh-CN" dirty="0"/>
          </a:p>
          <a:p>
            <a:r>
              <a:rPr lang="en-US" altLang="zh-CN" dirty="0"/>
              <a:t>x’</a:t>
            </a:r>
            <a:r>
              <a:rPr lang="zh-CN" altLang="en-US" dirty="0"/>
              <a:t>是积分变量，并且假定在</a:t>
            </a:r>
            <a:r>
              <a:rPr lang="en-US" altLang="zh-CN" dirty="0"/>
              <a:t>x=</a:t>
            </a:r>
            <a:r>
              <a:rPr lang="zh-CN" altLang="en-US" dirty="0"/>
              <a:t>∞处电势为零。</a:t>
            </a:r>
            <a:endParaRPr lang="en-US" altLang="zh-CN" dirty="0"/>
          </a:p>
          <a:p>
            <a:r>
              <a:rPr lang="en-US" altLang="zh-CN" dirty="0"/>
              <a:t>        </a:t>
            </a:r>
            <a:r>
              <a:rPr lang="zh-CN" altLang="en-US" dirty="0"/>
              <a:t>电子的电势能为</a:t>
            </a:r>
            <a:r>
              <a:rPr lang="en-US" altLang="zh-CN" dirty="0"/>
              <a:t>-e</a:t>
            </a:r>
            <a:r>
              <a:rPr lang="el-GR" altLang="zh-CN" dirty="0">
                <a:ea typeface="宋体" panose="02010600030101010101" pitchFamily="2" charset="-122"/>
              </a:rPr>
              <a:t>φ</a:t>
            </a:r>
            <a:r>
              <a:rPr lang="en-US" altLang="zh-CN" dirty="0">
                <a:ea typeface="宋体" panose="02010600030101010101" pitchFamily="2" charset="-122"/>
              </a:rPr>
              <a:t>(x)</a:t>
            </a:r>
            <a:r>
              <a:rPr lang="zh-CN" altLang="en-US" dirty="0">
                <a:ea typeface="宋体" panose="02010600030101010101" pitchFamily="2" charset="-122"/>
              </a:rPr>
              <a:t>；图</a:t>
            </a:r>
            <a:r>
              <a:rPr lang="en-US" altLang="zh-CN" dirty="0">
                <a:ea typeface="宋体" panose="02010600030101010101" pitchFamily="2" charset="-122"/>
              </a:rPr>
              <a:t>3(b)</a:t>
            </a:r>
            <a:r>
              <a:rPr lang="zh-CN" altLang="en-US" dirty="0">
                <a:ea typeface="宋体" panose="02010600030101010101" pitchFamily="2" charset="-122"/>
              </a:rPr>
              <a:t>是假设不存在其他电场时的电势能曲线。电介质中存在电场时，电势表达式修正为</a:t>
            </a:r>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在恒定电场影响下，电子的电势能曲线如图</a:t>
            </a:r>
            <a:r>
              <a:rPr lang="en-US" altLang="zh-CN" dirty="0">
                <a:ea typeface="宋体" panose="02010600030101010101" pitchFamily="2" charset="-122"/>
              </a:rPr>
              <a:t>3(c)</a:t>
            </a:r>
            <a:r>
              <a:rPr lang="zh-CN" altLang="en-US" dirty="0">
                <a:ea typeface="宋体" panose="02010600030101010101" pitchFamily="2" charset="-122"/>
              </a:rPr>
              <a:t>所示。由图可见势垒的峰值减小了，这种势垒减小的现象就是肖特基效应。</a:t>
            </a:r>
            <a:endParaRPr lang="en-US" altLang="zh-CN" dirty="0">
              <a:ea typeface="宋体" panose="02010600030101010101" pitchFamily="2" charset="-122"/>
            </a:endParaRPr>
          </a:p>
          <a:p>
            <a:r>
              <a:rPr lang="en-US" altLang="zh-CN" dirty="0">
                <a:ea typeface="宋体" panose="02010600030101010101" pitchFamily="2" charset="-122"/>
              </a:rPr>
              <a:t>        </a:t>
            </a:r>
            <a:r>
              <a:rPr lang="zh-CN" altLang="en-US" dirty="0">
                <a:ea typeface="宋体" panose="02010600030101010101" pitchFamily="2" charset="-122"/>
              </a:rPr>
              <a:t>我们发现肖特基势垒减小</a:t>
            </a:r>
            <a:r>
              <a:rPr lang="en-US" altLang="zh-CN" dirty="0">
                <a:ea typeface="宋体" panose="02010600030101010101" pitchFamily="2" charset="-122"/>
              </a:rPr>
              <a:t>Δ</a:t>
            </a:r>
            <a:r>
              <a:rPr lang="el-GR" altLang="zh-CN" dirty="0">
                <a:ea typeface="宋体" panose="02010600030101010101" pitchFamily="2" charset="-122"/>
              </a:rPr>
              <a:t>φ</a:t>
            </a:r>
            <a:r>
              <a:rPr lang="zh-CN" altLang="en-US" dirty="0">
                <a:ea typeface="宋体" panose="02010600030101010101" pitchFamily="2" charset="-122"/>
              </a:rPr>
              <a:t>，最大势垒对应的</a:t>
            </a:r>
            <a:r>
              <a:rPr lang="en-US" altLang="zh-CN" dirty="0" err="1">
                <a:ea typeface="宋体" panose="02010600030101010101" pitchFamily="2" charset="-122"/>
              </a:rPr>
              <a:t>x</a:t>
            </a:r>
            <a:r>
              <a:rPr lang="en-US" altLang="zh-CN" baseline="-25000" dirty="0" err="1">
                <a:ea typeface="宋体" panose="02010600030101010101" pitchFamily="2" charset="-122"/>
              </a:rPr>
              <a:t>m</a:t>
            </a:r>
            <a:r>
              <a:rPr lang="zh-CN" altLang="en-US" dirty="0">
                <a:ea typeface="宋体" panose="02010600030101010101" pitchFamily="2" charset="-122"/>
              </a:rPr>
              <a:t>可由下式求得：</a:t>
            </a:r>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r>
              <a:rPr lang="zh-CN" altLang="en-US" dirty="0">
                <a:ea typeface="宋体" panose="02010600030101010101" pitchFamily="2" charset="-122"/>
              </a:rPr>
              <a:t>得出</a:t>
            </a:r>
            <a:endParaRPr lang="zh-CN" altLang="en-US" dirty="0"/>
          </a:p>
        </p:txBody>
      </p:sp>
      <p:graphicFrame>
        <p:nvGraphicFramePr>
          <p:cNvPr id="5" name="对象 4">
            <a:extLst>
              <a:ext uri="{FF2B5EF4-FFF2-40B4-BE49-F238E27FC236}">
                <a16:creationId xmlns:a16="http://schemas.microsoft.com/office/drawing/2014/main" id="{D658B9AD-CA47-4198-A981-7E7B2BF7E92F}"/>
              </a:ext>
            </a:extLst>
          </p:cNvPr>
          <p:cNvGraphicFramePr>
            <a:graphicFrameLocks noChangeAspect="1"/>
          </p:cNvGraphicFramePr>
          <p:nvPr>
            <p:extLst>
              <p:ext uri="{D42A27DB-BD31-4B8C-83A1-F6EECF244321}">
                <p14:modId xmlns:p14="http://schemas.microsoft.com/office/powerpoint/2010/main" val="3020814815"/>
              </p:ext>
            </p:extLst>
          </p:nvPr>
        </p:nvGraphicFramePr>
        <p:xfrm>
          <a:off x="3232228" y="1439596"/>
          <a:ext cx="5202579" cy="737032"/>
        </p:xfrm>
        <a:graphic>
          <a:graphicData uri="http://schemas.openxmlformats.org/presentationml/2006/ole">
            <mc:AlternateContent xmlns:mc="http://schemas.openxmlformats.org/markup-compatibility/2006">
              <mc:Choice xmlns:v="urn:schemas-microsoft-com:vml" Requires="v">
                <p:oleObj name="Equation" r:id="rId2" imgW="3047760" imgH="431640" progId="Equation.DSMT4">
                  <p:embed/>
                </p:oleObj>
              </mc:Choice>
              <mc:Fallback>
                <p:oleObj name="Equation" r:id="rId2" imgW="3047760" imgH="431640" progId="Equation.DSMT4">
                  <p:embed/>
                  <p:pic>
                    <p:nvPicPr>
                      <p:cNvPr id="0" name=""/>
                      <p:cNvPicPr/>
                      <p:nvPr/>
                    </p:nvPicPr>
                    <p:blipFill>
                      <a:blip r:embed="rId3"/>
                      <a:stretch>
                        <a:fillRect/>
                      </a:stretch>
                    </p:blipFill>
                    <p:spPr>
                      <a:xfrm>
                        <a:off x="3232228" y="1439596"/>
                        <a:ext cx="5202579" cy="737032"/>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214622B2-927A-4A37-9F2B-D28946BE5901}"/>
              </a:ext>
            </a:extLst>
          </p:cNvPr>
          <p:cNvGraphicFramePr>
            <a:graphicFrameLocks noChangeAspect="1"/>
          </p:cNvGraphicFramePr>
          <p:nvPr>
            <p:extLst>
              <p:ext uri="{D42A27DB-BD31-4B8C-83A1-F6EECF244321}">
                <p14:modId xmlns:p14="http://schemas.microsoft.com/office/powerpoint/2010/main" val="1169312450"/>
              </p:ext>
            </p:extLst>
          </p:nvPr>
        </p:nvGraphicFramePr>
        <p:xfrm>
          <a:off x="11056639" y="1647413"/>
          <a:ext cx="441921" cy="321397"/>
        </p:xfrm>
        <a:graphic>
          <a:graphicData uri="http://schemas.openxmlformats.org/presentationml/2006/ole">
            <mc:AlternateContent xmlns:mc="http://schemas.openxmlformats.org/markup-compatibility/2006">
              <mc:Choice xmlns:v="urn:schemas-microsoft-com:vml" Requires="v">
                <p:oleObj name="Equation" r:id="rId4" imgW="279360" imgH="203040" progId="Equation.DSMT4">
                  <p:embed/>
                </p:oleObj>
              </mc:Choice>
              <mc:Fallback>
                <p:oleObj name="Equation" r:id="rId4" imgW="279360" imgH="203040" progId="Equation.DSMT4">
                  <p:embed/>
                  <p:pic>
                    <p:nvPicPr>
                      <p:cNvPr id="0" name=""/>
                      <p:cNvPicPr/>
                      <p:nvPr/>
                    </p:nvPicPr>
                    <p:blipFill>
                      <a:blip r:embed="rId5"/>
                      <a:stretch>
                        <a:fillRect/>
                      </a:stretch>
                    </p:blipFill>
                    <p:spPr>
                      <a:xfrm>
                        <a:off x="11056639" y="1647413"/>
                        <a:ext cx="441921" cy="321397"/>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73163814-8A8D-40B2-ACC6-9C9F79A84C83}"/>
              </a:ext>
            </a:extLst>
          </p:cNvPr>
          <p:cNvGraphicFramePr>
            <a:graphicFrameLocks noChangeAspect="1"/>
          </p:cNvGraphicFramePr>
          <p:nvPr>
            <p:extLst>
              <p:ext uri="{D42A27DB-BD31-4B8C-83A1-F6EECF244321}">
                <p14:modId xmlns:p14="http://schemas.microsoft.com/office/powerpoint/2010/main" val="2672749722"/>
              </p:ext>
            </p:extLst>
          </p:nvPr>
        </p:nvGraphicFramePr>
        <p:xfrm>
          <a:off x="4727968" y="3060484"/>
          <a:ext cx="2211096" cy="737032"/>
        </p:xfrm>
        <a:graphic>
          <a:graphicData uri="http://schemas.openxmlformats.org/presentationml/2006/ole">
            <mc:AlternateContent xmlns:mc="http://schemas.openxmlformats.org/markup-compatibility/2006">
              <mc:Choice xmlns:v="urn:schemas-microsoft-com:vml" Requires="v">
                <p:oleObj name="Equation" r:id="rId6" imgW="1295280" imgH="431640" progId="Equation.DSMT4">
                  <p:embed/>
                </p:oleObj>
              </mc:Choice>
              <mc:Fallback>
                <p:oleObj name="Equation" r:id="rId6" imgW="1295280" imgH="431640" progId="Equation.DSMT4">
                  <p:embed/>
                  <p:pic>
                    <p:nvPicPr>
                      <p:cNvPr id="0" name=""/>
                      <p:cNvPicPr/>
                      <p:nvPr/>
                    </p:nvPicPr>
                    <p:blipFill>
                      <a:blip r:embed="rId7"/>
                      <a:stretch>
                        <a:fillRect/>
                      </a:stretch>
                    </p:blipFill>
                    <p:spPr>
                      <a:xfrm>
                        <a:off x="4727968" y="3060484"/>
                        <a:ext cx="2211096" cy="737032"/>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A7A8D1AB-33F0-4E59-A79D-674F3E207EE7}"/>
              </a:ext>
            </a:extLst>
          </p:cNvPr>
          <p:cNvGraphicFramePr>
            <a:graphicFrameLocks noChangeAspect="1"/>
          </p:cNvGraphicFramePr>
          <p:nvPr>
            <p:extLst>
              <p:ext uri="{D42A27DB-BD31-4B8C-83A1-F6EECF244321}">
                <p14:modId xmlns:p14="http://schemas.microsoft.com/office/powerpoint/2010/main" val="3386831560"/>
              </p:ext>
            </p:extLst>
          </p:nvPr>
        </p:nvGraphicFramePr>
        <p:xfrm>
          <a:off x="11051490" y="3314602"/>
          <a:ext cx="447070" cy="311005"/>
        </p:xfrm>
        <a:graphic>
          <a:graphicData uri="http://schemas.openxmlformats.org/presentationml/2006/ole">
            <mc:AlternateContent xmlns:mc="http://schemas.openxmlformats.org/markup-compatibility/2006">
              <mc:Choice xmlns:v="urn:schemas-microsoft-com:vml" Requires="v">
                <p:oleObj name="Equation" r:id="rId8" imgW="291960" imgH="203040" progId="Equation.DSMT4">
                  <p:embed/>
                </p:oleObj>
              </mc:Choice>
              <mc:Fallback>
                <p:oleObj name="Equation" r:id="rId8" imgW="291960" imgH="203040" progId="Equation.DSMT4">
                  <p:embed/>
                  <p:pic>
                    <p:nvPicPr>
                      <p:cNvPr id="0" name=""/>
                      <p:cNvPicPr/>
                      <p:nvPr/>
                    </p:nvPicPr>
                    <p:blipFill>
                      <a:blip r:embed="rId9"/>
                      <a:stretch>
                        <a:fillRect/>
                      </a:stretch>
                    </p:blipFill>
                    <p:spPr>
                      <a:xfrm>
                        <a:off x="11051490" y="3314602"/>
                        <a:ext cx="447070" cy="311005"/>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B4F0AD15-5FFB-4411-9C4B-0B099BC151AC}"/>
              </a:ext>
            </a:extLst>
          </p:cNvPr>
          <p:cNvGraphicFramePr>
            <a:graphicFrameLocks noChangeAspect="1"/>
          </p:cNvGraphicFramePr>
          <p:nvPr>
            <p:extLst>
              <p:ext uri="{D42A27DB-BD31-4B8C-83A1-F6EECF244321}">
                <p14:modId xmlns:p14="http://schemas.microsoft.com/office/powerpoint/2010/main" val="570563156"/>
              </p:ext>
            </p:extLst>
          </p:nvPr>
        </p:nvGraphicFramePr>
        <p:xfrm>
          <a:off x="5072711" y="4763582"/>
          <a:ext cx="1521612" cy="737031"/>
        </p:xfrm>
        <a:graphic>
          <a:graphicData uri="http://schemas.openxmlformats.org/presentationml/2006/ole">
            <mc:AlternateContent xmlns:mc="http://schemas.openxmlformats.org/markup-compatibility/2006">
              <mc:Choice xmlns:v="urn:schemas-microsoft-com:vml" Requires="v">
                <p:oleObj name="Equation" r:id="rId10" imgW="812520" imgH="393480" progId="Equation.DSMT4">
                  <p:embed/>
                </p:oleObj>
              </mc:Choice>
              <mc:Fallback>
                <p:oleObj name="Equation" r:id="rId10" imgW="812520" imgH="393480" progId="Equation.DSMT4">
                  <p:embed/>
                  <p:pic>
                    <p:nvPicPr>
                      <p:cNvPr id="0" name=""/>
                      <p:cNvPicPr/>
                      <p:nvPr/>
                    </p:nvPicPr>
                    <p:blipFill>
                      <a:blip r:embed="rId11"/>
                      <a:stretch>
                        <a:fillRect/>
                      </a:stretch>
                    </p:blipFill>
                    <p:spPr>
                      <a:xfrm>
                        <a:off x="5072711" y="4763582"/>
                        <a:ext cx="1521612" cy="737031"/>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D7963059-B1FF-4E4A-82AC-5AAC0F0FDBDE}"/>
              </a:ext>
            </a:extLst>
          </p:cNvPr>
          <p:cNvGraphicFramePr>
            <a:graphicFrameLocks noChangeAspect="1"/>
          </p:cNvGraphicFramePr>
          <p:nvPr>
            <p:extLst>
              <p:ext uri="{D42A27DB-BD31-4B8C-83A1-F6EECF244321}">
                <p14:modId xmlns:p14="http://schemas.microsoft.com/office/powerpoint/2010/main" val="1992202550"/>
              </p:ext>
            </p:extLst>
          </p:nvPr>
        </p:nvGraphicFramePr>
        <p:xfrm>
          <a:off x="11025490" y="4950617"/>
          <a:ext cx="499070" cy="362960"/>
        </p:xfrm>
        <a:graphic>
          <a:graphicData uri="http://schemas.openxmlformats.org/presentationml/2006/ole">
            <mc:AlternateContent xmlns:mc="http://schemas.openxmlformats.org/markup-compatibility/2006">
              <mc:Choice xmlns:v="urn:schemas-microsoft-com:vml" Requires="v">
                <p:oleObj name="Equation" r:id="rId12" imgW="279360" imgH="203040" progId="Equation.DSMT4">
                  <p:embed/>
                </p:oleObj>
              </mc:Choice>
              <mc:Fallback>
                <p:oleObj name="Equation" r:id="rId12" imgW="279360" imgH="203040" progId="Equation.DSMT4">
                  <p:embed/>
                  <p:pic>
                    <p:nvPicPr>
                      <p:cNvPr id="0" name=""/>
                      <p:cNvPicPr/>
                      <p:nvPr/>
                    </p:nvPicPr>
                    <p:blipFill>
                      <a:blip r:embed="rId13"/>
                      <a:stretch>
                        <a:fillRect/>
                      </a:stretch>
                    </p:blipFill>
                    <p:spPr>
                      <a:xfrm>
                        <a:off x="11025490" y="4950617"/>
                        <a:ext cx="499070" cy="362960"/>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D54549E2-5061-46B4-A4BB-7C5C0D76DCAB}"/>
              </a:ext>
            </a:extLst>
          </p:cNvPr>
          <p:cNvGraphicFramePr>
            <a:graphicFrameLocks noChangeAspect="1"/>
          </p:cNvGraphicFramePr>
          <p:nvPr>
            <p:extLst>
              <p:ext uri="{D42A27DB-BD31-4B8C-83A1-F6EECF244321}">
                <p14:modId xmlns:p14="http://schemas.microsoft.com/office/powerpoint/2010/main" val="37570469"/>
              </p:ext>
            </p:extLst>
          </p:nvPr>
        </p:nvGraphicFramePr>
        <p:xfrm>
          <a:off x="5115881" y="5871578"/>
          <a:ext cx="1435271" cy="737031"/>
        </p:xfrm>
        <a:graphic>
          <a:graphicData uri="http://schemas.openxmlformats.org/presentationml/2006/ole">
            <mc:AlternateContent xmlns:mc="http://schemas.openxmlformats.org/markup-compatibility/2006">
              <mc:Choice xmlns:v="urn:schemas-microsoft-com:vml" Requires="v">
                <p:oleObj name="Equation" r:id="rId14" imgW="939600" imgH="482400" progId="Equation.DSMT4">
                  <p:embed/>
                </p:oleObj>
              </mc:Choice>
              <mc:Fallback>
                <p:oleObj name="Equation" r:id="rId14" imgW="939600" imgH="482400" progId="Equation.DSMT4">
                  <p:embed/>
                  <p:pic>
                    <p:nvPicPr>
                      <p:cNvPr id="0" name=""/>
                      <p:cNvPicPr/>
                      <p:nvPr/>
                    </p:nvPicPr>
                    <p:blipFill>
                      <a:blip r:embed="rId15"/>
                      <a:stretch>
                        <a:fillRect/>
                      </a:stretch>
                    </p:blipFill>
                    <p:spPr>
                      <a:xfrm>
                        <a:off x="5115881" y="5871578"/>
                        <a:ext cx="1435271" cy="737031"/>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6341CBD0-38FB-4FBE-AA90-6C54B8B26688}"/>
              </a:ext>
            </a:extLst>
          </p:cNvPr>
          <p:cNvGraphicFramePr>
            <a:graphicFrameLocks noChangeAspect="1"/>
          </p:cNvGraphicFramePr>
          <p:nvPr>
            <p:extLst>
              <p:ext uri="{D42A27DB-BD31-4B8C-83A1-F6EECF244321}">
                <p14:modId xmlns:p14="http://schemas.microsoft.com/office/powerpoint/2010/main" val="3877475433"/>
              </p:ext>
            </p:extLst>
          </p:nvPr>
        </p:nvGraphicFramePr>
        <p:xfrm>
          <a:off x="11051490" y="6082747"/>
          <a:ext cx="476251" cy="331305"/>
        </p:xfrm>
        <a:graphic>
          <a:graphicData uri="http://schemas.openxmlformats.org/presentationml/2006/ole">
            <mc:AlternateContent xmlns:mc="http://schemas.openxmlformats.org/markup-compatibility/2006">
              <mc:Choice xmlns:v="urn:schemas-microsoft-com:vml" Requires="v">
                <p:oleObj name="Equation" r:id="rId16" imgW="291960" imgH="203040" progId="Equation.DSMT4">
                  <p:embed/>
                </p:oleObj>
              </mc:Choice>
              <mc:Fallback>
                <p:oleObj name="Equation" r:id="rId16" imgW="291960" imgH="203040" progId="Equation.DSMT4">
                  <p:embed/>
                  <p:pic>
                    <p:nvPicPr>
                      <p:cNvPr id="0" name=""/>
                      <p:cNvPicPr/>
                      <p:nvPr/>
                    </p:nvPicPr>
                    <p:blipFill>
                      <a:blip r:embed="rId17"/>
                      <a:stretch>
                        <a:fillRect/>
                      </a:stretch>
                    </p:blipFill>
                    <p:spPr>
                      <a:xfrm>
                        <a:off x="11051490" y="6082747"/>
                        <a:ext cx="476251" cy="331305"/>
                      </a:xfrm>
                      <a:prstGeom prst="rect">
                        <a:avLst/>
                      </a:prstGeom>
                    </p:spPr>
                  </p:pic>
                </p:oleObj>
              </mc:Fallback>
            </mc:AlternateContent>
          </a:graphicData>
        </a:graphic>
      </p:graphicFrame>
    </p:spTree>
    <p:extLst>
      <p:ext uri="{BB962C8B-B14F-4D97-AF65-F5344CB8AC3E}">
        <p14:creationId xmlns:p14="http://schemas.microsoft.com/office/powerpoint/2010/main" val="1606935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A094BFF-94DA-43F9-B6AF-C5F61081BBF4}"/>
              </a:ext>
            </a:extLst>
          </p:cNvPr>
          <p:cNvSpPr>
            <a:spLocks noGrp="1"/>
          </p:cNvSpPr>
          <p:nvPr>
            <p:ph type="sldNum" sz="quarter" idx="12"/>
          </p:nvPr>
        </p:nvSpPr>
        <p:spPr/>
        <p:txBody>
          <a:bodyPr/>
          <a:lstStyle/>
          <a:p>
            <a:pPr>
              <a:defRPr/>
            </a:pPr>
            <a:fld id="{DB5F2CA6-A39B-48F7-84D1-AF91BD07D67D}" type="slidenum">
              <a:rPr lang="en-US" altLang="zh-CN" smtClean="0"/>
              <a:pPr>
                <a:defRPr/>
              </a:pPr>
              <a:t>9</a:t>
            </a:fld>
            <a:endParaRPr lang="en-US" altLang="zh-CN"/>
          </a:p>
        </p:txBody>
      </p:sp>
      <p:sp>
        <p:nvSpPr>
          <p:cNvPr id="3" name="矩形 2">
            <a:extLst>
              <a:ext uri="{FF2B5EF4-FFF2-40B4-BE49-F238E27FC236}">
                <a16:creationId xmlns:a16="http://schemas.microsoft.com/office/drawing/2014/main" id="{167FA915-DA1F-4174-BFB2-FC44DB9B16F4}"/>
              </a:ext>
            </a:extLst>
          </p:cNvPr>
          <p:cNvSpPr/>
          <p:nvPr/>
        </p:nvSpPr>
        <p:spPr>
          <a:xfrm>
            <a:off x="262762" y="482804"/>
            <a:ext cx="5570756"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影响肖特基势垒高度的非理想因素</a:t>
            </a:r>
          </a:p>
        </p:txBody>
      </p:sp>
      <p:sp>
        <p:nvSpPr>
          <p:cNvPr id="2" name="文本框 1">
            <a:extLst>
              <a:ext uri="{FF2B5EF4-FFF2-40B4-BE49-F238E27FC236}">
                <a16:creationId xmlns:a16="http://schemas.microsoft.com/office/drawing/2014/main" id="{8F76C3B0-3D02-4F40-8E81-4F86941B3A8B}"/>
              </a:ext>
            </a:extLst>
          </p:cNvPr>
          <p:cNvSpPr txBox="1"/>
          <p:nvPr/>
        </p:nvSpPr>
        <p:spPr>
          <a:xfrm>
            <a:off x="270164" y="1059873"/>
            <a:ext cx="11398827" cy="369332"/>
          </a:xfrm>
          <a:prstGeom prst="rect">
            <a:avLst/>
          </a:prstGeom>
          <a:noFill/>
        </p:spPr>
        <p:txBody>
          <a:bodyPr wrap="square" rtlCol="0">
            <a:spAutoFit/>
          </a:bodyPr>
          <a:lstStyle/>
          <a:p>
            <a:r>
              <a:rPr lang="zh-CN" altLang="en-US" dirty="0"/>
              <a:t>而</a:t>
            </a:r>
          </a:p>
        </p:txBody>
      </p:sp>
      <p:graphicFrame>
        <p:nvGraphicFramePr>
          <p:cNvPr id="5" name="对象 4">
            <a:extLst>
              <a:ext uri="{FF2B5EF4-FFF2-40B4-BE49-F238E27FC236}">
                <a16:creationId xmlns:a16="http://schemas.microsoft.com/office/drawing/2014/main" id="{02941C62-5592-4E06-89FB-D55010D044C7}"/>
              </a:ext>
            </a:extLst>
          </p:cNvPr>
          <p:cNvGraphicFramePr>
            <a:graphicFrameLocks noChangeAspect="1"/>
          </p:cNvGraphicFramePr>
          <p:nvPr>
            <p:extLst>
              <p:ext uri="{D42A27DB-BD31-4B8C-83A1-F6EECF244321}">
                <p14:modId xmlns:p14="http://schemas.microsoft.com/office/powerpoint/2010/main" val="2811788497"/>
              </p:ext>
            </p:extLst>
          </p:nvPr>
        </p:nvGraphicFramePr>
        <p:xfrm>
          <a:off x="5165219" y="1429205"/>
          <a:ext cx="1336598" cy="793605"/>
        </p:xfrm>
        <a:graphic>
          <a:graphicData uri="http://schemas.openxmlformats.org/presentationml/2006/ole">
            <mc:AlternateContent xmlns:mc="http://schemas.openxmlformats.org/markup-compatibility/2006">
              <mc:Choice xmlns:v="urn:schemas-microsoft-com:vml" Requires="v">
                <p:oleObj name="Equation" r:id="rId2" imgW="812520" imgH="482400" progId="Equation.DSMT4">
                  <p:embed/>
                </p:oleObj>
              </mc:Choice>
              <mc:Fallback>
                <p:oleObj name="Equation" r:id="rId2" imgW="812520" imgH="482400" progId="Equation.DSMT4">
                  <p:embed/>
                  <p:pic>
                    <p:nvPicPr>
                      <p:cNvPr id="0" name=""/>
                      <p:cNvPicPr/>
                      <p:nvPr/>
                    </p:nvPicPr>
                    <p:blipFill>
                      <a:blip r:embed="rId3"/>
                      <a:stretch>
                        <a:fillRect/>
                      </a:stretch>
                    </p:blipFill>
                    <p:spPr>
                      <a:xfrm>
                        <a:off x="5165219" y="1429205"/>
                        <a:ext cx="1336598" cy="793605"/>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8DB2074A-950F-4777-9665-0C0E2A4A3A91}"/>
              </a:ext>
            </a:extLst>
          </p:cNvPr>
          <p:cNvGraphicFramePr>
            <a:graphicFrameLocks noChangeAspect="1"/>
          </p:cNvGraphicFramePr>
          <p:nvPr>
            <p:extLst>
              <p:ext uri="{D42A27DB-BD31-4B8C-83A1-F6EECF244321}">
                <p14:modId xmlns:p14="http://schemas.microsoft.com/office/powerpoint/2010/main" val="659241808"/>
              </p:ext>
            </p:extLst>
          </p:nvPr>
        </p:nvGraphicFramePr>
        <p:xfrm>
          <a:off x="11049496" y="1660114"/>
          <a:ext cx="456207" cy="331787"/>
        </p:xfrm>
        <a:graphic>
          <a:graphicData uri="http://schemas.openxmlformats.org/presentationml/2006/ole">
            <mc:AlternateContent xmlns:mc="http://schemas.openxmlformats.org/markup-compatibility/2006">
              <mc:Choice xmlns:v="urn:schemas-microsoft-com:vml" Requires="v">
                <p:oleObj name="Equation" r:id="rId4" imgW="279360" imgH="203040" progId="Equation.DSMT4">
                  <p:embed/>
                </p:oleObj>
              </mc:Choice>
              <mc:Fallback>
                <p:oleObj name="Equation" r:id="rId4" imgW="279360" imgH="203040" progId="Equation.DSMT4">
                  <p:embed/>
                  <p:pic>
                    <p:nvPicPr>
                      <p:cNvPr id="0" name=""/>
                      <p:cNvPicPr/>
                      <p:nvPr/>
                    </p:nvPicPr>
                    <p:blipFill>
                      <a:blip r:embed="rId5"/>
                      <a:stretch>
                        <a:fillRect/>
                      </a:stretch>
                    </p:blipFill>
                    <p:spPr>
                      <a:xfrm>
                        <a:off x="11049496" y="1660114"/>
                        <a:ext cx="456207" cy="331787"/>
                      </a:xfrm>
                      <a:prstGeom prst="rect">
                        <a:avLst/>
                      </a:prstGeom>
                    </p:spPr>
                  </p:pic>
                </p:oleObj>
              </mc:Fallback>
            </mc:AlternateContent>
          </a:graphicData>
        </a:graphic>
      </p:graphicFrame>
      <p:pic>
        <p:nvPicPr>
          <p:cNvPr id="7" name="图片 6">
            <a:extLst>
              <a:ext uri="{FF2B5EF4-FFF2-40B4-BE49-F238E27FC236}">
                <a16:creationId xmlns:a16="http://schemas.microsoft.com/office/drawing/2014/main" id="{9B6DAD1C-1745-4E04-8224-440619709A32}"/>
              </a:ext>
            </a:extLst>
          </p:cNvPr>
          <p:cNvPicPr>
            <a:picLocks noChangeAspect="1"/>
          </p:cNvPicPr>
          <p:nvPr/>
        </p:nvPicPr>
        <p:blipFill>
          <a:blip r:embed="rId6"/>
          <a:stretch>
            <a:fillRect/>
          </a:stretch>
        </p:blipFill>
        <p:spPr>
          <a:xfrm>
            <a:off x="3306791" y="2222810"/>
            <a:ext cx="5053454" cy="3989569"/>
          </a:xfrm>
          <a:prstGeom prst="rect">
            <a:avLst/>
          </a:prstGeom>
        </p:spPr>
      </p:pic>
      <p:sp>
        <p:nvSpPr>
          <p:cNvPr id="8" name="矩形 7">
            <a:extLst>
              <a:ext uri="{FF2B5EF4-FFF2-40B4-BE49-F238E27FC236}">
                <a16:creationId xmlns:a16="http://schemas.microsoft.com/office/drawing/2014/main" id="{385384B2-4F5E-4287-BB62-CFAAB353FD61}"/>
              </a:ext>
            </a:extLst>
          </p:cNvPr>
          <p:cNvSpPr/>
          <p:nvPr/>
        </p:nvSpPr>
        <p:spPr>
          <a:xfrm>
            <a:off x="2214970" y="6212379"/>
            <a:ext cx="7762061"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b="0" cap="none" spc="0" dirty="0">
                <a:ln w="0"/>
                <a:solidFill>
                  <a:schemeClr val="tx1"/>
                </a:solidFill>
                <a:effectLst>
                  <a:outerShdw blurRad="38100" dist="19050" dir="2700000" algn="tl" rotWithShape="0">
                    <a:schemeClr val="dk1">
                      <a:alpha val="40000"/>
                    </a:schemeClr>
                  </a:outerShdw>
                </a:effectLst>
              </a:rPr>
              <a:t>3</a:t>
            </a:r>
            <a:r>
              <a:rPr lang="zh-CN" altLang="en-US" sz="1400" b="0" cap="none" spc="0" dirty="0">
                <a:ln w="0"/>
                <a:solidFill>
                  <a:schemeClr val="tx1"/>
                </a:solidFill>
                <a:effectLst>
                  <a:outerShdw blurRad="38100" dist="19050" dir="2700000" algn="tl" rotWithShape="0">
                    <a:schemeClr val="dk1">
                      <a:alpha val="40000"/>
                    </a:schemeClr>
                  </a:outerShdw>
                </a:effectLst>
              </a:rPr>
              <a:t>：</a:t>
            </a:r>
            <a:r>
              <a:rPr lang="en-US" altLang="zh-CN" sz="1400" dirty="0">
                <a:ln w="0"/>
                <a:effectLst>
                  <a:outerShdw blurRad="38100" dist="19050" dir="2700000" algn="tl" rotWithShape="0">
                    <a:schemeClr val="dk1">
                      <a:alpha val="40000"/>
                    </a:schemeClr>
                  </a:outerShdw>
                </a:effectLst>
              </a:rPr>
              <a:t>(a)</a:t>
            </a:r>
            <a:r>
              <a:rPr lang="zh-CN" altLang="en-US" sz="1400" dirty="0">
                <a:ln w="0"/>
                <a:effectLst>
                  <a:outerShdw blurRad="38100" dist="19050" dir="2700000" algn="tl" rotWithShape="0">
                    <a:schemeClr val="dk1">
                      <a:alpha val="40000"/>
                    </a:schemeClr>
                  </a:outerShdw>
                </a:effectLst>
              </a:rPr>
              <a:t>金属</a:t>
            </a:r>
            <a:r>
              <a:rPr lang="en-US" altLang="zh-CN" sz="1400" dirty="0">
                <a:ln w="0"/>
                <a:effectLst>
                  <a:outerShdw blurRad="38100" dist="19050" dir="2700000" algn="tl" rotWithShape="0">
                    <a:schemeClr val="dk1">
                      <a:alpha val="40000"/>
                    </a:schemeClr>
                  </a:outerShdw>
                </a:effectLst>
              </a:rPr>
              <a:t>-</a:t>
            </a:r>
            <a:r>
              <a:rPr lang="zh-CN" altLang="en-US" sz="1400" dirty="0">
                <a:ln w="0"/>
                <a:effectLst>
                  <a:outerShdw blurRad="38100" dist="19050" dir="2700000" algn="tl" rotWithShape="0">
                    <a:schemeClr val="dk1">
                      <a:alpha val="40000"/>
                    </a:schemeClr>
                  </a:outerShdw>
                </a:effectLst>
              </a:rPr>
              <a:t>电介质表面想象的电场线；</a:t>
            </a:r>
            <a:r>
              <a:rPr lang="en-US" altLang="zh-CN" sz="1400" dirty="0">
                <a:ln w="0"/>
                <a:effectLst>
                  <a:outerShdw blurRad="38100" dist="19050" dir="2700000" algn="tl" rotWithShape="0">
                    <a:schemeClr val="dk1">
                      <a:alpha val="40000"/>
                    </a:schemeClr>
                  </a:outerShdw>
                </a:effectLst>
              </a:rPr>
              <a:t>(b)</a:t>
            </a:r>
            <a:r>
              <a:rPr lang="zh-CN" altLang="en-US" sz="1400" dirty="0">
                <a:ln w="0"/>
                <a:effectLst>
                  <a:outerShdw blurRad="38100" dist="19050" dir="2700000" algn="tl" rotWithShape="0">
                    <a:schemeClr val="dk1">
                      <a:alpha val="40000"/>
                    </a:schemeClr>
                  </a:outerShdw>
                </a:effectLst>
              </a:rPr>
              <a:t>零电场时的电势能曲线；</a:t>
            </a:r>
            <a:r>
              <a:rPr lang="en-US" altLang="zh-CN" sz="1400" dirty="0">
                <a:ln w="0"/>
                <a:effectLst>
                  <a:outerShdw blurRad="38100" dist="19050" dir="2700000" algn="tl" rotWithShape="0">
                    <a:schemeClr val="dk1">
                      <a:alpha val="40000"/>
                    </a:schemeClr>
                  </a:outerShdw>
                </a:effectLst>
              </a:rPr>
              <a:t>(c)</a:t>
            </a:r>
            <a:r>
              <a:rPr lang="zh-CN" altLang="en-US" sz="1400" dirty="0">
                <a:ln w="0"/>
                <a:effectLst>
                  <a:outerShdw blurRad="38100" dist="19050" dir="2700000" algn="tl" rotWithShape="0">
                    <a:schemeClr val="dk1">
                      <a:alpha val="40000"/>
                    </a:schemeClr>
                  </a:outerShdw>
                </a:effectLst>
              </a:rPr>
              <a:t>恒定电场时的电势能曲线</a:t>
            </a:r>
            <a:endParaRPr lang="zh-CN" altLang="en-US" sz="1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71522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A094BFF-94DA-43F9-B6AF-C5F61081BBF4}"/>
              </a:ext>
            </a:extLst>
          </p:cNvPr>
          <p:cNvSpPr>
            <a:spLocks noGrp="1"/>
          </p:cNvSpPr>
          <p:nvPr>
            <p:ph type="sldNum" sz="quarter" idx="12"/>
          </p:nvPr>
        </p:nvSpPr>
        <p:spPr/>
        <p:txBody>
          <a:bodyPr/>
          <a:lstStyle/>
          <a:p>
            <a:pPr>
              <a:defRPr/>
            </a:pPr>
            <a:fld id="{DB5F2CA6-A39B-48F7-84D1-AF91BD07D67D}" type="slidenum">
              <a:rPr lang="en-US" altLang="zh-CN" smtClean="0"/>
              <a:pPr>
                <a:defRPr/>
              </a:pPr>
              <a:t>10</a:t>
            </a:fld>
            <a:endParaRPr lang="en-US" altLang="zh-CN"/>
          </a:p>
        </p:txBody>
      </p:sp>
      <p:sp>
        <p:nvSpPr>
          <p:cNvPr id="3" name="矩形 2">
            <a:extLst>
              <a:ext uri="{FF2B5EF4-FFF2-40B4-BE49-F238E27FC236}">
                <a16:creationId xmlns:a16="http://schemas.microsoft.com/office/drawing/2014/main" id="{ABDE3F28-C38B-4F0A-A6B9-E1BC40C90C65}"/>
              </a:ext>
            </a:extLst>
          </p:cNvPr>
          <p:cNvSpPr/>
          <p:nvPr/>
        </p:nvSpPr>
        <p:spPr>
          <a:xfrm>
            <a:off x="262762" y="482804"/>
            <a:ext cx="5570756"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影响肖特基势垒高度的非理想因素</a:t>
            </a:r>
          </a:p>
        </p:txBody>
      </p:sp>
      <p:sp>
        <p:nvSpPr>
          <p:cNvPr id="2" name="文本框 1">
            <a:extLst>
              <a:ext uri="{FF2B5EF4-FFF2-40B4-BE49-F238E27FC236}">
                <a16:creationId xmlns:a16="http://schemas.microsoft.com/office/drawing/2014/main" id="{30A5FA2E-B887-49E9-AB3E-31CDA06CDA9C}"/>
              </a:ext>
            </a:extLst>
          </p:cNvPr>
          <p:cNvSpPr txBox="1"/>
          <p:nvPr/>
        </p:nvSpPr>
        <p:spPr>
          <a:xfrm>
            <a:off x="290945" y="1028700"/>
            <a:ext cx="11378046" cy="4801314"/>
          </a:xfrm>
          <a:prstGeom prst="rect">
            <a:avLst/>
          </a:prstGeom>
          <a:noFill/>
        </p:spPr>
        <p:txBody>
          <a:bodyPr wrap="square" rtlCol="0">
            <a:spAutoFit/>
          </a:bodyPr>
          <a:lstStyle/>
          <a:p>
            <a:pPr algn="just"/>
            <a:r>
              <a:rPr lang="zh-CN" altLang="en-US" dirty="0"/>
              <a:t>        </a:t>
            </a:r>
            <a:r>
              <a:rPr lang="zh-CN" altLang="en-US" b="1" dirty="0">
                <a:effectLst>
                  <a:outerShdw blurRad="38100" dist="38100" dir="2700000" algn="tl">
                    <a:srgbClr val="000000">
                      <a:alpha val="43137"/>
                    </a:srgbClr>
                  </a:outerShdw>
                </a:effectLst>
              </a:rPr>
              <a:t>界面态</a:t>
            </a:r>
            <a:r>
              <a:rPr lang="en-US" altLang="zh-CN" b="1" dirty="0">
                <a:effectLst>
                  <a:outerShdw blurRad="38100" dist="38100" dir="2700000" algn="tl">
                    <a:srgbClr val="000000">
                      <a:alpha val="43137"/>
                    </a:srgbClr>
                  </a:outerShdw>
                </a:effectLst>
              </a:rPr>
              <a:t>:</a:t>
            </a:r>
            <a:r>
              <a:rPr lang="en-US" altLang="zh-CN" dirty="0"/>
              <a:t>GaAs</a:t>
            </a:r>
            <a:r>
              <a:rPr lang="zh-CN" altLang="en-US" dirty="0"/>
              <a:t>和</a:t>
            </a:r>
            <a:r>
              <a:rPr lang="en-US" altLang="zh-CN" dirty="0"/>
              <a:t>Si</a:t>
            </a:r>
            <a:r>
              <a:rPr lang="zh-CN" altLang="en-US" dirty="0"/>
              <a:t>的肖特基二极管的势垒高度与金属功函数的关系如图</a:t>
            </a:r>
            <a:r>
              <a:rPr lang="en-US" altLang="zh-CN" dirty="0"/>
              <a:t>4</a:t>
            </a:r>
            <a:r>
              <a:rPr lang="zh-CN" altLang="en-US" dirty="0"/>
              <a:t>所示。它们之间呈线性变化，但是曲线与式</a:t>
            </a:r>
            <a:r>
              <a:rPr lang="en-US" altLang="zh-CN" dirty="0"/>
              <a:t>(1)</a:t>
            </a:r>
            <a:r>
              <a:rPr lang="zh-CN" altLang="en-US" dirty="0"/>
              <a:t>给出的关系不相符。金属</a:t>
            </a:r>
            <a:r>
              <a:rPr lang="en-US" altLang="zh-CN" dirty="0"/>
              <a:t>-</a:t>
            </a:r>
            <a:r>
              <a:rPr lang="zh-CN" altLang="en-US" dirty="0"/>
              <a:t>半导体结的势垒高度由金属功函数以及半导体表面和接触面的状态共同决定。</a:t>
            </a:r>
            <a:endParaRPr lang="en-US" altLang="zh-CN" dirty="0"/>
          </a:p>
          <a:p>
            <a:pPr algn="just"/>
            <a:r>
              <a:rPr lang="en-US" altLang="zh-CN" dirty="0"/>
              <a:t>        </a:t>
            </a:r>
            <a:r>
              <a:rPr lang="zh-CN" altLang="en-US" dirty="0"/>
              <a:t>在热平衡状态下</a:t>
            </a:r>
            <a:r>
              <a:rPr lang="en-US" altLang="zh-CN" dirty="0"/>
              <a:t>,</a:t>
            </a:r>
            <a:r>
              <a:rPr lang="zh-CN" altLang="en-US" dirty="0"/>
              <a:t>金属与</a:t>
            </a:r>
            <a:r>
              <a:rPr lang="en-US" altLang="zh-CN" dirty="0"/>
              <a:t>n</a:t>
            </a:r>
            <a:r>
              <a:rPr lang="zh-CN" altLang="en-US" dirty="0"/>
              <a:t>型硅接触的能带图如图</a:t>
            </a:r>
            <a:r>
              <a:rPr lang="en-US" altLang="zh-CN" dirty="0"/>
              <a:t>5</a:t>
            </a:r>
            <a:r>
              <a:rPr lang="zh-CN" altLang="en-US" dirty="0"/>
              <a:t>所示。我们假定在金属与半导体之间存在一条窄的绝缘层，这一层能够形成电势差，但是电子在金属与半导体之间可以自由流动。在金属与半导体的接触表面</a:t>
            </a:r>
            <a:r>
              <a:rPr lang="en-US" altLang="zh-CN" dirty="0"/>
              <a:t>,</a:t>
            </a:r>
            <a:r>
              <a:rPr lang="zh-CN" altLang="en-US" dirty="0"/>
              <a:t>半导体也呈现出表面态分布。假定在表面势</a:t>
            </a:r>
            <a:r>
              <a:rPr lang="en-US" altLang="zh-CN" dirty="0"/>
              <a:t>φ</a:t>
            </a:r>
            <a:r>
              <a:rPr lang="en-US" altLang="zh-CN" baseline="-25000" dirty="0"/>
              <a:t>0</a:t>
            </a:r>
            <a:r>
              <a:rPr lang="zh-CN" altLang="en-US" dirty="0"/>
              <a:t>以下的状态都是施主态，如果表面出现电子</a:t>
            </a:r>
            <a:r>
              <a:rPr lang="en-US" altLang="zh-CN" dirty="0"/>
              <a:t>,</a:t>
            </a:r>
            <a:r>
              <a:rPr lang="zh-CN" altLang="en-US" dirty="0"/>
              <a:t>则将其中和，如果没有电子</a:t>
            </a:r>
            <a:r>
              <a:rPr lang="en-US" altLang="zh-CN" dirty="0"/>
              <a:t>,</a:t>
            </a:r>
            <a:r>
              <a:rPr lang="zh-CN" altLang="en-US" dirty="0"/>
              <a:t>则呈现正电荷。又假定</a:t>
            </a:r>
            <a:r>
              <a:rPr lang="en-US" altLang="zh-CN" dirty="0"/>
              <a:t>φ</a:t>
            </a:r>
            <a:r>
              <a:rPr lang="en-US" altLang="zh-CN" baseline="-25000" dirty="0"/>
              <a:t>0</a:t>
            </a:r>
            <a:r>
              <a:rPr lang="zh-CN" altLang="en-US" dirty="0"/>
              <a:t>，以上的状态都是受主态，如果没有电子，则将其中和，如果有电子，则呈现负电性。</a:t>
            </a:r>
            <a:endParaRPr lang="en-US" altLang="zh-CN" dirty="0"/>
          </a:p>
          <a:p>
            <a:pPr algn="just"/>
            <a:r>
              <a:rPr lang="en-US" altLang="zh-CN" dirty="0"/>
              <a:t>        </a:t>
            </a:r>
            <a:r>
              <a:rPr lang="zh-CN" altLang="en-US" dirty="0"/>
              <a:t>图</a:t>
            </a:r>
            <a:r>
              <a:rPr lang="en-US" altLang="zh-CN" dirty="0"/>
              <a:t>5</a:t>
            </a:r>
            <a:r>
              <a:rPr lang="zh-CN" altLang="en-US" dirty="0"/>
              <a:t>绘出了在</a:t>
            </a:r>
            <a:r>
              <a:rPr lang="en-US" altLang="zh-CN" dirty="0"/>
              <a:t>φ</a:t>
            </a:r>
            <a:r>
              <a:rPr lang="en-US" altLang="zh-CN" baseline="-25000" dirty="0"/>
              <a:t>0</a:t>
            </a:r>
            <a:r>
              <a:rPr lang="zh-CN" altLang="en-US" dirty="0"/>
              <a:t>以上</a:t>
            </a:r>
            <a:r>
              <a:rPr lang="en-US" altLang="zh-CN" dirty="0"/>
              <a:t>E</a:t>
            </a:r>
            <a:r>
              <a:rPr lang="en-US" altLang="zh-CN" baseline="-25000" dirty="0"/>
              <a:t>F</a:t>
            </a:r>
            <a:r>
              <a:rPr lang="zh-CN" altLang="en-US" dirty="0"/>
              <a:t>以下的一些受主状态，这些状态能够吸收电子呈现负电性。假定表面态密度是一个常数并且等于</a:t>
            </a:r>
            <a:r>
              <a:rPr lang="en-US" altLang="zh-CN" dirty="0" err="1"/>
              <a:t>D</a:t>
            </a:r>
            <a:r>
              <a:rPr lang="en-US" altLang="zh-CN" baseline="-25000" dirty="0" err="1"/>
              <a:t>it</a:t>
            </a:r>
            <a:r>
              <a:rPr lang="zh-CN" altLang="en-US" dirty="0"/>
              <a:t>态</a:t>
            </a:r>
            <a:r>
              <a:rPr lang="en-US" altLang="zh-CN" dirty="0"/>
              <a:t>/cm</a:t>
            </a:r>
            <a:r>
              <a:rPr lang="en-US" altLang="zh-CN" baseline="30000" dirty="0"/>
              <a:t>2</a:t>
            </a:r>
            <a:r>
              <a:rPr lang="en-US" altLang="zh-CN" dirty="0"/>
              <a:t>·eV</a:t>
            </a:r>
            <a:r>
              <a:rPr lang="zh-CN" altLang="en-US" dirty="0"/>
              <a:t>，则表面势、表面态密度以及其他半导体参数的关系如下</a:t>
            </a:r>
            <a:r>
              <a:rPr lang="en-US" altLang="zh-CN" dirty="0"/>
              <a:t>:</a:t>
            </a:r>
          </a:p>
          <a:p>
            <a:pPr algn="just"/>
            <a:endParaRPr lang="en-US" altLang="zh-CN" dirty="0"/>
          </a:p>
          <a:p>
            <a:pPr algn="just"/>
            <a:endParaRPr lang="en-US" altLang="zh-CN" dirty="0"/>
          </a:p>
          <a:p>
            <a:pPr algn="just"/>
            <a:endParaRPr lang="en-US" altLang="zh-CN" dirty="0"/>
          </a:p>
          <a:p>
            <a:pPr algn="just"/>
            <a:r>
              <a:rPr lang="en-US" altLang="zh-CN" dirty="0"/>
              <a:t>        </a:t>
            </a:r>
            <a:r>
              <a:rPr lang="zh-CN" altLang="en-US" dirty="0"/>
              <a:t>我们讨论下面两种极限情况。</a:t>
            </a:r>
            <a:endParaRPr lang="en-US" altLang="zh-CN" dirty="0"/>
          </a:p>
          <a:p>
            <a:pPr algn="just"/>
            <a:r>
              <a:rPr lang="en-US" altLang="zh-CN" dirty="0"/>
              <a:t>        </a:t>
            </a:r>
            <a:r>
              <a:rPr lang="zh-CN" altLang="en-US" b="1" dirty="0">
                <a:effectLst>
                  <a:outerShdw blurRad="38100" dist="38100" dir="2700000" algn="tl">
                    <a:srgbClr val="000000">
                      <a:alpha val="43137"/>
                    </a:srgbClr>
                  </a:outerShdw>
                </a:effectLst>
              </a:rPr>
              <a:t>情况</a:t>
            </a:r>
            <a:r>
              <a:rPr lang="en-US" altLang="zh-CN" b="1" dirty="0">
                <a:effectLst>
                  <a:outerShdw blurRad="38100" dist="38100" dir="2700000" algn="tl">
                    <a:srgbClr val="000000">
                      <a:alpha val="43137"/>
                    </a:srgbClr>
                  </a:outerShdw>
                </a:effectLst>
              </a:rPr>
              <a:t>1</a:t>
            </a:r>
            <a:r>
              <a:rPr lang="zh-CN" altLang="en-US" b="1" dirty="0">
                <a:effectLst>
                  <a:outerShdw blurRad="38100" dist="38100" dir="2700000" algn="tl">
                    <a:srgbClr val="000000">
                      <a:alpha val="43137"/>
                    </a:srgbClr>
                  </a:outerShdw>
                </a:effectLst>
              </a:rPr>
              <a:t>：</a:t>
            </a:r>
            <a:r>
              <a:rPr lang="zh-CN" altLang="en-US" dirty="0"/>
              <a:t>使</a:t>
            </a:r>
            <a:r>
              <a:rPr lang="en-US" altLang="zh-CN" dirty="0" err="1"/>
              <a:t>D</a:t>
            </a:r>
            <a:r>
              <a:rPr lang="en-US" altLang="zh-CN" baseline="-25000" dirty="0" err="1"/>
              <a:t>it</a:t>
            </a:r>
            <a:r>
              <a:rPr lang="en-US" altLang="zh-CN" baseline="-25000" dirty="0"/>
              <a:t> </a:t>
            </a:r>
            <a:r>
              <a:rPr lang="zh-CN" altLang="en-US" dirty="0"/>
              <a:t>→∞。在这种情况下，式</a:t>
            </a:r>
            <a:r>
              <a:rPr lang="en-US" altLang="zh-CN" dirty="0"/>
              <a:t>(16)</a:t>
            </a:r>
            <a:r>
              <a:rPr lang="zh-CN" altLang="en-US" dirty="0"/>
              <a:t>右边趋向于零，于是</a:t>
            </a:r>
            <a:endParaRPr lang="en-US" altLang="zh-CN" dirty="0"/>
          </a:p>
          <a:p>
            <a:pPr algn="just"/>
            <a:endParaRPr lang="en-US" altLang="zh-CN" dirty="0"/>
          </a:p>
          <a:p>
            <a:pPr algn="just"/>
            <a:endParaRPr lang="en-US" altLang="zh-CN" dirty="0"/>
          </a:p>
          <a:p>
            <a:pPr algn="just"/>
            <a:endParaRPr lang="en-US" altLang="zh-CN" dirty="0"/>
          </a:p>
          <a:p>
            <a:pPr algn="just"/>
            <a:r>
              <a:rPr lang="zh-CN" altLang="en-US" dirty="0"/>
              <a:t>势垒高度由禁带宽度和      决定。势垒高度全部与金属功函数和半导体电子亲和能无关，费米能级固定为表面式</a:t>
            </a:r>
          </a:p>
        </p:txBody>
      </p:sp>
      <p:graphicFrame>
        <p:nvGraphicFramePr>
          <p:cNvPr id="5" name="对象 4">
            <a:extLst>
              <a:ext uri="{FF2B5EF4-FFF2-40B4-BE49-F238E27FC236}">
                <a16:creationId xmlns:a16="http://schemas.microsoft.com/office/drawing/2014/main" id="{BED01A7C-2D1C-4118-9ECE-6B177364FEE3}"/>
              </a:ext>
            </a:extLst>
          </p:cNvPr>
          <p:cNvGraphicFramePr>
            <a:graphicFrameLocks noChangeAspect="1"/>
          </p:cNvGraphicFramePr>
          <p:nvPr>
            <p:extLst>
              <p:ext uri="{D42A27DB-BD31-4B8C-83A1-F6EECF244321}">
                <p14:modId xmlns:p14="http://schemas.microsoft.com/office/powerpoint/2010/main" val="2668752628"/>
              </p:ext>
            </p:extLst>
          </p:nvPr>
        </p:nvGraphicFramePr>
        <p:xfrm>
          <a:off x="2461016" y="3231572"/>
          <a:ext cx="7269968" cy="789709"/>
        </p:xfrm>
        <a:graphic>
          <a:graphicData uri="http://schemas.openxmlformats.org/presentationml/2006/ole">
            <mc:AlternateContent xmlns:mc="http://schemas.openxmlformats.org/markup-compatibility/2006">
              <mc:Choice xmlns:v="urn:schemas-microsoft-com:vml" Requires="v">
                <p:oleObj name="Equation" r:id="rId2" imgW="3974760" imgH="431640" progId="Equation.DSMT4">
                  <p:embed/>
                </p:oleObj>
              </mc:Choice>
              <mc:Fallback>
                <p:oleObj name="Equation" r:id="rId2" imgW="3974760" imgH="431640" progId="Equation.DSMT4">
                  <p:embed/>
                  <p:pic>
                    <p:nvPicPr>
                      <p:cNvPr id="0" name=""/>
                      <p:cNvPicPr/>
                      <p:nvPr/>
                    </p:nvPicPr>
                    <p:blipFill>
                      <a:blip r:embed="rId3"/>
                      <a:stretch>
                        <a:fillRect/>
                      </a:stretch>
                    </p:blipFill>
                    <p:spPr>
                      <a:xfrm>
                        <a:off x="2461016" y="3231572"/>
                        <a:ext cx="7269968" cy="789709"/>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1F21D06B-8A41-49ED-B7AD-1F1F45CA4D75}"/>
              </a:ext>
            </a:extLst>
          </p:cNvPr>
          <p:cNvGraphicFramePr>
            <a:graphicFrameLocks noChangeAspect="1"/>
          </p:cNvGraphicFramePr>
          <p:nvPr>
            <p:extLst>
              <p:ext uri="{D42A27DB-BD31-4B8C-83A1-F6EECF244321}">
                <p14:modId xmlns:p14="http://schemas.microsoft.com/office/powerpoint/2010/main" val="4089486944"/>
              </p:ext>
            </p:extLst>
          </p:nvPr>
        </p:nvGraphicFramePr>
        <p:xfrm>
          <a:off x="11177110" y="3455337"/>
          <a:ext cx="491881" cy="342178"/>
        </p:xfrm>
        <a:graphic>
          <a:graphicData uri="http://schemas.openxmlformats.org/presentationml/2006/ole">
            <mc:AlternateContent xmlns:mc="http://schemas.openxmlformats.org/markup-compatibility/2006">
              <mc:Choice xmlns:v="urn:schemas-microsoft-com:vml" Requires="v">
                <p:oleObj name="Equation" r:id="rId4" imgW="291960" imgH="203040" progId="Equation.DSMT4">
                  <p:embed/>
                </p:oleObj>
              </mc:Choice>
              <mc:Fallback>
                <p:oleObj name="Equation" r:id="rId4" imgW="291960" imgH="203040" progId="Equation.DSMT4">
                  <p:embed/>
                  <p:pic>
                    <p:nvPicPr>
                      <p:cNvPr id="0" name=""/>
                      <p:cNvPicPr/>
                      <p:nvPr/>
                    </p:nvPicPr>
                    <p:blipFill>
                      <a:blip r:embed="rId5"/>
                      <a:stretch>
                        <a:fillRect/>
                      </a:stretch>
                    </p:blipFill>
                    <p:spPr>
                      <a:xfrm>
                        <a:off x="11177110" y="3455337"/>
                        <a:ext cx="491881" cy="342178"/>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3509DCF9-3F0A-42A4-B2DE-7060D3A613D0}"/>
              </a:ext>
            </a:extLst>
          </p:cNvPr>
          <p:cNvGraphicFramePr>
            <a:graphicFrameLocks noChangeAspect="1"/>
          </p:cNvGraphicFramePr>
          <p:nvPr>
            <p:extLst>
              <p:ext uri="{D42A27DB-BD31-4B8C-83A1-F6EECF244321}">
                <p14:modId xmlns:p14="http://schemas.microsoft.com/office/powerpoint/2010/main" val="3554010098"/>
              </p:ext>
            </p:extLst>
          </p:nvPr>
        </p:nvGraphicFramePr>
        <p:xfrm>
          <a:off x="5000597" y="4722019"/>
          <a:ext cx="2190806" cy="789709"/>
        </p:xfrm>
        <a:graphic>
          <a:graphicData uri="http://schemas.openxmlformats.org/presentationml/2006/ole">
            <mc:AlternateContent xmlns:mc="http://schemas.openxmlformats.org/markup-compatibility/2006">
              <mc:Choice xmlns:v="urn:schemas-microsoft-com:vml" Requires="v">
                <p:oleObj name="Equation" r:id="rId6" imgW="1091880" imgH="393480" progId="Equation.DSMT4">
                  <p:embed/>
                </p:oleObj>
              </mc:Choice>
              <mc:Fallback>
                <p:oleObj name="Equation" r:id="rId6" imgW="1091880" imgH="393480" progId="Equation.DSMT4">
                  <p:embed/>
                  <p:pic>
                    <p:nvPicPr>
                      <p:cNvPr id="0" name=""/>
                      <p:cNvPicPr/>
                      <p:nvPr/>
                    </p:nvPicPr>
                    <p:blipFill>
                      <a:blip r:embed="rId7"/>
                      <a:stretch>
                        <a:fillRect/>
                      </a:stretch>
                    </p:blipFill>
                    <p:spPr>
                      <a:xfrm>
                        <a:off x="5000597" y="4722019"/>
                        <a:ext cx="2190806" cy="789709"/>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10106D63-40A1-461A-BEC9-8C78524DA1AD}"/>
              </a:ext>
            </a:extLst>
          </p:cNvPr>
          <p:cNvGraphicFramePr>
            <a:graphicFrameLocks noChangeAspect="1"/>
          </p:cNvGraphicFramePr>
          <p:nvPr>
            <p:extLst>
              <p:ext uri="{D42A27DB-BD31-4B8C-83A1-F6EECF244321}">
                <p14:modId xmlns:p14="http://schemas.microsoft.com/office/powerpoint/2010/main" val="2446535143"/>
              </p:ext>
            </p:extLst>
          </p:nvPr>
        </p:nvGraphicFramePr>
        <p:xfrm>
          <a:off x="11192046" y="5002500"/>
          <a:ext cx="462007" cy="321396"/>
        </p:xfrm>
        <a:graphic>
          <a:graphicData uri="http://schemas.openxmlformats.org/presentationml/2006/ole">
            <mc:AlternateContent xmlns:mc="http://schemas.openxmlformats.org/markup-compatibility/2006">
              <mc:Choice xmlns:v="urn:schemas-microsoft-com:vml" Requires="v">
                <p:oleObj name="Equation" r:id="rId8" imgW="291960" imgH="203040" progId="Equation.DSMT4">
                  <p:embed/>
                </p:oleObj>
              </mc:Choice>
              <mc:Fallback>
                <p:oleObj name="Equation" r:id="rId8" imgW="291960" imgH="203040" progId="Equation.DSMT4">
                  <p:embed/>
                  <p:pic>
                    <p:nvPicPr>
                      <p:cNvPr id="0" name=""/>
                      <p:cNvPicPr/>
                      <p:nvPr/>
                    </p:nvPicPr>
                    <p:blipFill>
                      <a:blip r:embed="rId9"/>
                      <a:stretch>
                        <a:fillRect/>
                      </a:stretch>
                    </p:blipFill>
                    <p:spPr>
                      <a:xfrm>
                        <a:off x="11192046" y="5002500"/>
                        <a:ext cx="462007" cy="321396"/>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79B2EDA1-52BE-4DCF-BF21-FB96099D97C3}"/>
              </a:ext>
            </a:extLst>
          </p:cNvPr>
          <p:cNvGraphicFramePr>
            <a:graphicFrameLocks noChangeAspect="1"/>
          </p:cNvGraphicFramePr>
          <p:nvPr>
            <p:extLst>
              <p:ext uri="{D42A27DB-BD31-4B8C-83A1-F6EECF244321}">
                <p14:modId xmlns:p14="http://schemas.microsoft.com/office/powerpoint/2010/main" val="3416110563"/>
              </p:ext>
            </p:extLst>
          </p:nvPr>
        </p:nvGraphicFramePr>
        <p:xfrm>
          <a:off x="2684647" y="5326002"/>
          <a:ext cx="363493" cy="503298"/>
        </p:xfrm>
        <a:graphic>
          <a:graphicData uri="http://schemas.openxmlformats.org/presentationml/2006/ole">
            <mc:AlternateContent xmlns:mc="http://schemas.openxmlformats.org/markup-compatibility/2006">
              <mc:Choice xmlns:v="urn:schemas-microsoft-com:vml" Requires="v">
                <p:oleObj name="Equation" r:id="rId10" imgW="164880" imgH="228600" progId="Equation.DSMT4">
                  <p:embed/>
                </p:oleObj>
              </mc:Choice>
              <mc:Fallback>
                <p:oleObj name="Equation" r:id="rId10" imgW="164880" imgH="228600" progId="Equation.DSMT4">
                  <p:embed/>
                  <p:pic>
                    <p:nvPicPr>
                      <p:cNvPr id="0" name=""/>
                      <p:cNvPicPr/>
                      <p:nvPr/>
                    </p:nvPicPr>
                    <p:blipFill>
                      <a:blip r:embed="rId11"/>
                      <a:stretch>
                        <a:fillRect/>
                      </a:stretch>
                    </p:blipFill>
                    <p:spPr>
                      <a:xfrm>
                        <a:off x="2684647" y="5326002"/>
                        <a:ext cx="363493" cy="503298"/>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12E7D830-A938-43D7-841B-B19E74CE19A4}"/>
              </a:ext>
            </a:extLst>
          </p:cNvPr>
          <p:cNvGraphicFramePr>
            <a:graphicFrameLocks noChangeAspect="1"/>
          </p:cNvGraphicFramePr>
          <p:nvPr>
            <p:extLst>
              <p:ext uri="{D42A27DB-BD31-4B8C-83A1-F6EECF244321}">
                <p14:modId xmlns:p14="http://schemas.microsoft.com/office/powerpoint/2010/main" val="1085090516"/>
              </p:ext>
            </p:extLst>
          </p:nvPr>
        </p:nvGraphicFramePr>
        <p:xfrm>
          <a:off x="11423049" y="5339062"/>
          <a:ext cx="363537" cy="503237"/>
        </p:xfrm>
        <a:graphic>
          <a:graphicData uri="http://schemas.openxmlformats.org/presentationml/2006/ole">
            <mc:AlternateContent xmlns:mc="http://schemas.openxmlformats.org/markup-compatibility/2006">
              <mc:Choice xmlns:v="urn:schemas-microsoft-com:vml" Requires="v">
                <p:oleObj name="Equation" r:id="rId10" imgW="362907" imgH="502938" progId="Equation.DSMT4">
                  <p:embed/>
                </p:oleObj>
              </mc:Choice>
              <mc:Fallback>
                <p:oleObj name="Equation" r:id="rId10" imgW="362907" imgH="502938" progId="Equation.DSMT4">
                  <p:embed/>
                  <p:pic>
                    <p:nvPicPr>
                      <p:cNvPr id="0" name=""/>
                      <p:cNvPicPr/>
                      <p:nvPr/>
                    </p:nvPicPr>
                    <p:blipFill>
                      <a:blip r:embed="rId12"/>
                      <a:stretch>
                        <a:fillRect/>
                      </a:stretch>
                    </p:blipFill>
                    <p:spPr>
                      <a:xfrm>
                        <a:off x="11423049" y="5339062"/>
                        <a:ext cx="363537" cy="503237"/>
                      </a:xfrm>
                      <a:prstGeom prst="rect">
                        <a:avLst/>
                      </a:prstGeom>
                    </p:spPr>
                  </p:pic>
                </p:oleObj>
              </mc:Fallback>
            </mc:AlternateContent>
          </a:graphicData>
        </a:graphic>
      </p:graphicFrame>
    </p:spTree>
    <p:extLst>
      <p:ext uri="{BB962C8B-B14F-4D97-AF65-F5344CB8AC3E}">
        <p14:creationId xmlns:p14="http://schemas.microsoft.com/office/powerpoint/2010/main" val="30469028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FA094BFF-94DA-43F9-B6AF-C5F61081BBF4}"/>
              </a:ext>
            </a:extLst>
          </p:cNvPr>
          <p:cNvSpPr>
            <a:spLocks noGrp="1"/>
          </p:cNvSpPr>
          <p:nvPr>
            <p:ph type="sldNum" sz="quarter" idx="12"/>
          </p:nvPr>
        </p:nvSpPr>
        <p:spPr/>
        <p:txBody>
          <a:bodyPr/>
          <a:lstStyle/>
          <a:p>
            <a:pPr>
              <a:defRPr/>
            </a:pPr>
            <a:fld id="{DB5F2CA6-A39B-48F7-84D1-AF91BD07D67D}" type="slidenum">
              <a:rPr lang="en-US" altLang="zh-CN" smtClean="0"/>
              <a:pPr>
                <a:defRPr/>
              </a:pPr>
              <a:t>11</a:t>
            </a:fld>
            <a:endParaRPr lang="en-US" altLang="zh-CN"/>
          </a:p>
        </p:txBody>
      </p:sp>
      <p:sp>
        <p:nvSpPr>
          <p:cNvPr id="3" name="矩形 2">
            <a:extLst>
              <a:ext uri="{FF2B5EF4-FFF2-40B4-BE49-F238E27FC236}">
                <a16:creationId xmlns:a16="http://schemas.microsoft.com/office/drawing/2014/main" id="{DA87FE2A-1142-40EC-B32F-A5EFACD4AAB2}"/>
              </a:ext>
            </a:extLst>
          </p:cNvPr>
          <p:cNvSpPr/>
          <p:nvPr/>
        </p:nvSpPr>
        <p:spPr>
          <a:xfrm>
            <a:off x="262762" y="482804"/>
            <a:ext cx="5570756"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影响肖特基势垒高度的非理想因素</a:t>
            </a:r>
          </a:p>
        </p:txBody>
      </p:sp>
      <p:pic>
        <p:nvPicPr>
          <p:cNvPr id="2" name="图片 1">
            <a:extLst>
              <a:ext uri="{FF2B5EF4-FFF2-40B4-BE49-F238E27FC236}">
                <a16:creationId xmlns:a16="http://schemas.microsoft.com/office/drawing/2014/main" id="{A2330E95-EAA8-47B0-B498-D80AC5609EFA}"/>
              </a:ext>
            </a:extLst>
          </p:cNvPr>
          <p:cNvPicPr>
            <a:picLocks noChangeAspect="1"/>
          </p:cNvPicPr>
          <p:nvPr/>
        </p:nvPicPr>
        <p:blipFill>
          <a:blip r:embed="rId2"/>
          <a:stretch>
            <a:fillRect/>
          </a:stretch>
        </p:blipFill>
        <p:spPr>
          <a:xfrm>
            <a:off x="842794" y="1006024"/>
            <a:ext cx="4410691" cy="4220164"/>
          </a:xfrm>
          <a:prstGeom prst="rect">
            <a:avLst/>
          </a:prstGeom>
        </p:spPr>
      </p:pic>
      <p:pic>
        <p:nvPicPr>
          <p:cNvPr id="5" name="图片 4">
            <a:extLst>
              <a:ext uri="{FF2B5EF4-FFF2-40B4-BE49-F238E27FC236}">
                <a16:creationId xmlns:a16="http://schemas.microsoft.com/office/drawing/2014/main" id="{92C9EA73-B1F8-4C34-9E48-0095B1099ED6}"/>
              </a:ext>
            </a:extLst>
          </p:cNvPr>
          <p:cNvPicPr>
            <a:picLocks noChangeAspect="1"/>
          </p:cNvPicPr>
          <p:nvPr/>
        </p:nvPicPr>
        <p:blipFill>
          <a:blip r:embed="rId3"/>
          <a:stretch>
            <a:fillRect/>
          </a:stretch>
        </p:blipFill>
        <p:spPr>
          <a:xfrm>
            <a:off x="6446518" y="1768130"/>
            <a:ext cx="4582164" cy="2695951"/>
          </a:xfrm>
          <a:prstGeom prst="rect">
            <a:avLst/>
          </a:prstGeom>
        </p:spPr>
      </p:pic>
      <p:sp>
        <p:nvSpPr>
          <p:cNvPr id="6" name="矩形 5">
            <a:extLst>
              <a:ext uri="{FF2B5EF4-FFF2-40B4-BE49-F238E27FC236}">
                <a16:creationId xmlns:a16="http://schemas.microsoft.com/office/drawing/2014/main" id="{43482FF6-95E5-4AA2-8D6A-D923758E628E}"/>
              </a:ext>
            </a:extLst>
          </p:cNvPr>
          <p:cNvSpPr/>
          <p:nvPr/>
        </p:nvSpPr>
        <p:spPr>
          <a:xfrm>
            <a:off x="-31390" y="5226188"/>
            <a:ext cx="6159058" cy="307777"/>
          </a:xfrm>
          <a:prstGeom prst="rect">
            <a:avLst/>
          </a:prstGeom>
          <a:noFill/>
        </p:spPr>
        <p:txBody>
          <a:bodyPr wrap="none" lIns="91440" tIns="45720" rIns="91440" bIns="45720">
            <a:spAutoFit/>
          </a:bodyPr>
          <a:lstStyle/>
          <a:p>
            <a:pPr algn="ctr"/>
            <a:r>
              <a:rPr lang="zh-CN" altLang="en-US" sz="1400" dirty="0">
                <a:ln w="0"/>
                <a:effectLst>
                  <a:outerShdw blurRad="38100" dist="19050" dir="2700000" algn="tl" rotWithShape="0">
                    <a:schemeClr val="dk1">
                      <a:alpha val="40000"/>
                    </a:schemeClr>
                  </a:outerShdw>
                </a:effectLst>
              </a:rPr>
              <a:t>图</a:t>
            </a:r>
            <a:r>
              <a:rPr lang="en-US" altLang="zh-CN" sz="1400" dirty="0">
                <a:ln w="0"/>
                <a:effectLst>
                  <a:outerShdw blurRad="38100" dist="19050" dir="2700000" algn="tl" rotWithShape="0">
                    <a:schemeClr val="dk1">
                      <a:alpha val="40000"/>
                    </a:schemeClr>
                  </a:outerShdw>
                </a:effectLst>
              </a:rPr>
              <a:t>4</a:t>
            </a:r>
            <a:r>
              <a:rPr lang="zh-CN" altLang="en-US" sz="1400" dirty="0">
                <a:ln w="0"/>
                <a:effectLst>
                  <a:outerShdw blurRad="38100" dist="19050" dir="2700000" algn="tl" rotWithShape="0">
                    <a:schemeClr val="dk1">
                      <a:alpha val="40000"/>
                    </a:schemeClr>
                  </a:outerShdw>
                </a:effectLst>
              </a:rPr>
              <a:t>：</a:t>
            </a:r>
            <a:r>
              <a:rPr lang="en-US" altLang="zh-CN" sz="1400" dirty="0">
                <a:ln w="0"/>
                <a:effectLst>
                  <a:outerShdw blurRad="38100" dist="19050" dir="2700000" algn="tl" rotWithShape="0">
                    <a:schemeClr val="dk1">
                      <a:alpha val="40000"/>
                    </a:schemeClr>
                  </a:outerShdw>
                </a:effectLst>
              </a:rPr>
              <a:t>GaAs</a:t>
            </a:r>
            <a:r>
              <a:rPr lang="zh-CN" altLang="en-US" sz="1400" dirty="0">
                <a:ln w="0"/>
                <a:effectLst>
                  <a:outerShdw blurRad="38100" dist="19050" dir="2700000" algn="tl" rotWithShape="0">
                    <a:schemeClr val="dk1">
                      <a:alpha val="40000"/>
                    </a:schemeClr>
                  </a:outerShdw>
                </a:effectLst>
              </a:rPr>
              <a:t>和</a:t>
            </a:r>
            <a:r>
              <a:rPr lang="en-US" altLang="zh-CN" sz="1400" dirty="0">
                <a:ln w="0"/>
                <a:effectLst>
                  <a:outerShdw blurRad="38100" dist="19050" dir="2700000" algn="tl" rotWithShape="0">
                    <a:schemeClr val="dk1">
                      <a:alpha val="40000"/>
                    </a:schemeClr>
                  </a:outerShdw>
                </a:effectLst>
              </a:rPr>
              <a:t>Si</a:t>
            </a:r>
            <a:r>
              <a:rPr lang="zh-CN" altLang="en-US" sz="1400" dirty="0">
                <a:ln w="0"/>
                <a:effectLst>
                  <a:outerShdw blurRad="38100" dist="19050" dir="2700000" algn="tl" rotWithShape="0">
                    <a:schemeClr val="dk1">
                      <a:alpha val="40000"/>
                    </a:schemeClr>
                  </a:outerShdw>
                </a:effectLst>
              </a:rPr>
              <a:t>的肖特基二极管的势垒高度与金属功函数之间的关系</a:t>
            </a:r>
            <a:r>
              <a:rPr lang="en-US" altLang="zh-CN" sz="1400" dirty="0">
                <a:ln w="0"/>
                <a:effectLst>
                  <a:outerShdw blurRad="38100" dist="19050" dir="2700000" algn="tl" rotWithShape="0">
                    <a:schemeClr val="dk1">
                      <a:alpha val="40000"/>
                    </a:schemeClr>
                  </a:outerShdw>
                </a:effectLst>
              </a:rPr>
              <a:t>(</a:t>
            </a:r>
            <a:r>
              <a:rPr lang="zh-CN" altLang="en-US" sz="1400" dirty="0">
                <a:ln w="0"/>
                <a:effectLst>
                  <a:outerShdw blurRad="38100" dist="19050" dir="2700000" algn="tl" rotWithShape="0">
                    <a:schemeClr val="dk1">
                      <a:alpha val="40000"/>
                    </a:schemeClr>
                  </a:outerShdw>
                </a:effectLst>
              </a:rPr>
              <a:t>实验值</a:t>
            </a:r>
            <a:r>
              <a:rPr lang="en-US" altLang="zh-CN" sz="1400" dirty="0">
                <a:ln w="0"/>
                <a:effectLst>
                  <a:outerShdw blurRad="38100" dist="19050" dir="2700000" algn="tl" rotWithShape="0">
                    <a:schemeClr val="dk1">
                      <a:alpha val="40000"/>
                    </a:schemeClr>
                  </a:outerShdw>
                </a:effectLst>
              </a:rPr>
              <a:t>)</a:t>
            </a:r>
            <a:endParaRPr lang="zh-CN" altLang="en-US" sz="1400" b="0" cap="none" spc="0" dirty="0">
              <a:ln w="0"/>
              <a:solidFill>
                <a:schemeClr val="tx1"/>
              </a:solidFill>
              <a:effectLst>
                <a:outerShdw blurRad="38100" dist="19050" dir="2700000" algn="tl" rotWithShape="0">
                  <a:schemeClr val="dk1">
                    <a:alpha val="40000"/>
                  </a:schemeClr>
                </a:outerShdw>
              </a:effectLst>
            </a:endParaRPr>
          </a:p>
        </p:txBody>
      </p:sp>
      <p:sp>
        <p:nvSpPr>
          <p:cNvPr id="8" name="矩形 7">
            <a:extLst>
              <a:ext uri="{FF2B5EF4-FFF2-40B4-BE49-F238E27FC236}">
                <a16:creationId xmlns:a16="http://schemas.microsoft.com/office/drawing/2014/main" id="{840B14A5-1BEE-409A-91FF-BAA047BC577E}"/>
              </a:ext>
            </a:extLst>
          </p:cNvPr>
          <p:cNvSpPr/>
          <p:nvPr/>
        </p:nvSpPr>
        <p:spPr>
          <a:xfrm>
            <a:off x="7134437" y="4464081"/>
            <a:ext cx="3206326" cy="307777"/>
          </a:xfrm>
          <a:prstGeom prst="rect">
            <a:avLst/>
          </a:prstGeom>
          <a:noFill/>
        </p:spPr>
        <p:txBody>
          <a:bodyPr wrap="none" lIns="91440" tIns="45720" rIns="91440" bIns="45720">
            <a:spAutoFit/>
          </a:bodyPr>
          <a:lstStyle/>
          <a:p>
            <a:pPr algn="ctr"/>
            <a:r>
              <a:rPr lang="zh-CN" altLang="en-US" sz="1400" dirty="0">
                <a:ln w="0"/>
                <a:effectLst>
                  <a:outerShdw blurRad="38100" dist="19050" dir="2700000" algn="tl" rotWithShape="0">
                    <a:schemeClr val="dk1">
                      <a:alpha val="40000"/>
                    </a:schemeClr>
                  </a:outerShdw>
                </a:effectLst>
              </a:rPr>
              <a:t>图</a:t>
            </a:r>
            <a:r>
              <a:rPr lang="en-US" altLang="zh-CN" sz="1400" dirty="0">
                <a:ln w="0"/>
                <a:effectLst>
                  <a:outerShdw blurRad="38100" dist="19050" dir="2700000" algn="tl" rotWithShape="0">
                    <a:schemeClr val="dk1">
                      <a:alpha val="40000"/>
                    </a:schemeClr>
                  </a:outerShdw>
                </a:effectLst>
              </a:rPr>
              <a:t>5</a:t>
            </a:r>
            <a:r>
              <a:rPr lang="zh-CN" altLang="en-US" sz="1400" dirty="0">
                <a:ln w="0"/>
                <a:effectLst>
                  <a:outerShdw blurRad="38100" dist="19050" dir="2700000" algn="tl" rotWithShape="0">
                    <a:schemeClr val="dk1">
                      <a:alpha val="40000"/>
                    </a:schemeClr>
                  </a:outerShdw>
                </a:effectLst>
              </a:rPr>
              <a:t>：金属</a:t>
            </a:r>
            <a:r>
              <a:rPr lang="en-US" altLang="zh-CN" sz="1400" dirty="0">
                <a:ln w="0"/>
                <a:effectLst>
                  <a:outerShdw blurRad="38100" dist="19050" dir="2700000" algn="tl" rotWithShape="0">
                    <a:schemeClr val="dk1">
                      <a:alpha val="40000"/>
                    </a:schemeClr>
                  </a:outerShdw>
                </a:effectLst>
              </a:rPr>
              <a:t>-</a:t>
            </a:r>
            <a:r>
              <a:rPr lang="zh-CN" altLang="en-US" sz="1400" dirty="0">
                <a:ln w="0"/>
                <a:effectLst>
                  <a:outerShdw blurRad="38100" dist="19050" dir="2700000" algn="tl" rotWithShape="0">
                    <a:schemeClr val="dk1">
                      <a:alpha val="40000"/>
                    </a:schemeClr>
                  </a:outerShdw>
                </a:effectLst>
              </a:rPr>
              <a:t>半导体结的能带图及表面态</a:t>
            </a:r>
            <a:endParaRPr lang="zh-CN" altLang="en-US" sz="1400" b="0" cap="none" spc="0" dirty="0">
              <a:ln w="0"/>
              <a:solidFill>
                <a:schemeClr val="tx1"/>
              </a:solidFill>
              <a:effectLst>
                <a:outerShdw blurRad="38100" dist="19050" dir="2700000" algn="tl" rotWithShape="0">
                  <a:schemeClr val="dk1">
                    <a:alpha val="40000"/>
                  </a:schemeClr>
                </a:outerShdw>
              </a:effectLst>
            </a:endParaRPr>
          </a:p>
        </p:txBody>
      </p:sp>
      <p:sp>
        <p:nvSpPr>
          <p:cNvPr id="9" name="文本框 8">
            <a:extLst>
              <a:ext uri="{FF2B5EF4-FFF2-40B4-BE49-F238E27FC236}">
                <a16:creationId xmlns:a16="http://schemas.microsoft.com/office/drawing/2014/main" id="{69F5415F-2462-448C-8B1A-2F33DCDD4D42}"/>
              </a:ext>
            </a:extLst>
          </p:cNvPr>
          <p:cNvSpPr txBox="1"/>
          <p:nvPr/>
        </p:nvSpPr>
        <p:spPr>
          <a:xfrm>
            <a:off x="457199" y="5564742"/>
            <a:ext cx="11118273" cy="369332"/>
          </a:xfrm>
          <a:prstGeom prst="rect">
            <a:avLst/>
          </a:prstGeom>
          <a:noFill/>
        </p:spPr>
        <p:txBody>
          <a:bodyPr wrap="square" rtlCol="0">
            <a:spAutoFit/>
          </a:bodyPr>
          <a:lstStyle/>
          <a:p>
            <a:r>
              <a:rPr lang="en-US" altLang="zh-CN" dirty="0"/>
              <a:t>        </a:t>
            </a:r>
            <a:r>
              <a:rPr lang="zh-CN" altLang="en-US" b="1" dirty="0">
                <a:effectLst>
                  <a:outerShdw blurRad="38100" dist="38100" dir="2700000" algn="tl">
                    <a:srgbClr val="000000">
                      <a:alpha val="43137"/>
                    </a:srgbClr>
                  </a:outerShdw>
                </a:effectLst>
              </a:rPr>
              <a:t>情况</a:t>
            </a:r>
            <a:r>
              <a:rPr lang="en-US" altLang="zh-CN" b="1" dirty="0">
                <a:effectLst>
                  <a:outerShdw blurRad="38100" dist="38100" dir="2700000" algn="tl">
                    <a:srgbClr val="000000">
                      <a:alpha val="43137"/>
                    </a:srgbClr>
                  </a:outerShdw>
                </a:effectLst>
              </a:rPr>
              <a:t>2</a:t>
            </a:r>
            <a:r>
              <a:rPr lang="zh-CN" altLang="en-US" b="1" dirty="0">
                <a:effectLst>
                  <a:outerShdw blurRad="38100" dist="38100" dir="2700000" algn="tl">
                    <a:srgbClr val="000000">
                      <a:alpha val="43137"/>
                    </a:srgbClr>
                  </a:outerShdw>
                </a:effectLst>
              </a:rPr>
              <a:t>：</a:t>
            </a:r>
            <a:r>
              <a:rPr lang="zh-CN" altLang="en-US" dirty="0"/>
              <a:t>使</a:t>
            </a:r>
            <a:r>
              <a:rPr lang="en-US" altLang="zh-CN" dirty="0" err="1"/>
              <a:t>D</a:t>
            </a:r>
            <a:r>
              <a:rPr lang="en-US" altLang="zh-CN" baseline="-25000" dirty="0" err="1"/>
              <a:t>it</a:t>
            </a:r>
            <a:r>
              <a:rPr lang="el-GR" altLang="zh-CN" dirty="0">
                <a:ea typeface="宋体" panose="02010600030101010101" pitchFamily="2" charset="-122"/>
              </a:rPr>
              <a:t>δ</a:t>
            </a:r>
            <a:r>
              <a:rPr lang="zh-CN" altLang="en-US" dirty="0">
                <a:ea typeface="宋体" panose="02010600030101010101" pitchFamily="2" charset="-122"/>
              </a:rPr>
              <a:t>→</a:t>
            </a:r>
            <a:r>
              <a:rPr lang="en-US" altLang="zh-CN" dirty="0">
                <a:ea typeface="宋体" panose="02010600030101010101" pitchFamily="2" charset="-122"/>
              </a:rPr>
              <a:t>0</a:t>
            </a:r>
            <a:r>
              <a:rPr lang="zh-CN" altLang="en-US" dirty="0">
                <a:ea typeface="宋体" panose="02010600030101010101" pitchFamily="2" charset="-122"/>
              </a:rPr>
              <a:t>。式</a:t>
            </a:r>
            <a:r>
              <a:rPr lang="en-US" altLang="zh-CN" dirty="0">
                <a:ea typeface="宋体" panose="02010600030101010101" pitchFamily="2" charset="-122"/>
              </a:rPr>
              <a:t>(16)</a:t>
            </a:r>
            <a:r>
              <a:rPr lang="zh-CN" altLang="en-US" dirty="0">
                <a:ea typeface="宋体" panose="02010600030101010101" pitchFamily="2" charset="-122"/>
              </a:rPr>
              <a:t>变为</a:t>
            </a:r>
            <a:endParaRPr lang="zh-CN" altLang="en-US" dirty="0"/>
          </a:p>
        </p:txBody>
      </p:sp>
      <p:graphicFrame>
        <p:nvGraphicFramePr>
          <p:cNvPr id="10" name="对象 9">
            <a:extLst>
              <a:ext uri="{FF2B5EF4-FFF2-40B4-BE49-F238E27FC236}">
                <a16:creationId xmlns:a16="http://schemas.microsoft.com/office/drawing/2014/main" id="{7449E784-DF64-45E1-B2DC-42CAFCDA239F}"/>
              </a:ext>
            </a:extLst>
          </p:cNvPr>
          <p:cNvGraphicFramePr>
            <a:graphicFrameLocks noChangeAspect="1"/>
          </p:cNvGraphicFramePr>
          <p:nvPr>
            <p:extLst>
              <p:ext uri="{D42A27DB-BD31-4B8C-83A1-F6EECF244321}">
                <p14:modId xmlns:p14="http://schemas.microsoft.com/office/powerpoint/2010/main" val="2096988851"/>
              </p:ext>
            </p:extLst>
          </p:nvPr>
        </p:nvGraphicFramePr>
        <p:xfrm>
          <a:off x="5117809" y="5842054"/>
          <a:ext cx="1797051" cy="468796"/>
        </p:xfrm>
        <a:graphic>
          <a:graphicData uri="http://schemas.openxmlformats.org/presentationml/2006/ole">
            <mc:AlternateContent xmlns:mc="http://schemas.openxmlformats.org/markup-compatibility/2006">
              <mc:Choice xmlns:v="urn:schemas-microsoft-com:vml" Requires="v">
                <p:oleObj name="Equation" r:id="rId4" imgW="876240" imgH="228600" progId="Equation.DSMT4">
                  <p:embed/>
                </p:oleObj>
              </mc:Choice>
              <mc:Fallback>
                <p:oleObj name="Equation" r:id="rId4" imgW="876240" imgH="228600" progId="Equation.DSMT4">
                  <p:embed/>
                  <p:pic>
                    <p:nvPicPr>
                      <p:cNvPr id="0" name=""/>
                      <p:cNvPicPr/>
                      <p:nvPr/>
                    </p:nvPicPr>
                    <p:blipFill>
                      <a:blip r:embed="rId5"/>
                      <a:stretch>
                        <a:fillRect/>
                      </a:stretch>
                    </p:blipFill>
                    <p:spPr>
                      <a:xfrm>
                        <a:off x="5117809" y="5842054"/>
                        <a:ext cx="1797051" cy="468796"/>
                      </a:xfrm>
                      <a:prstGeom prst="rect">
                        <a:avLst/>
                      </a:prstGeom>
                    </p:spPr>
                  </p:pic>
                </p:oleObj>
              </mc:Fallback>
            </mc:AlternateContent>
          </a:graphicData>
        </a:graphic>
      </p:graphicFrame>
    </p:spTree>
    <p:extLst>
      <p:ext uri="{BB962C8B-B14F-4D97-AF65-F5344CB8AC3E}">
        <p14:creationId xmlns:p14="http://schemas.microsoft.com/office/powerpoint/2010/main" val="851781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D3A870C-EAC0-4255-9327-7BFBE38BC2A0}"/>
              </a:ext>
            </a:extLst>
          </p:cNvPr>
          <p:cNvSpPr>
            <a:spLocks noGrp="1"/>
          </p:cNvSpPr>
          <p:nvPr>
            <p:ph type="sldNum" sz="quarter" idx="12"/>
          </p:nvPr>
        </p:nvSpPr>
        <p:spPr/>
        <p:txBody>
          <a:bodyPr/>
          <a:lstStyle/>
          <a:p>
            <a:pPr>
              <a:defRPr/>
            </a:pPr>
            <a:fld id="{DB5F2CA6-A39B-48F7-84D1-AF91BD07D67D}" type="slidenum">
              <a:rPr lang="en-US" altLang="zh-CN" smtClean="0"/>
              <a:pPr>
                <a:defRPr/>
              </a:pPr>
              <a:t>12</a:t>
            </a:fld>
            <a:endParaRPr lang="en-US" altLang="zh-CN"/>
          </a:p>
        </p:txBody>
      </p:sp>
      <p:sp>
        <p:nvSpPr>
          <p:cNvPr id="5" name="矩形 4">
            <a:extLst>
              <a:ext uri="{FF2B5EF4-FFF2-40B4-BE49-F238E27FC236}">
                <a16:creationId xmlns:a16="http://schemas.microsoft.com/office/drawing/2014/main" id="{FFF2AAD5-7D58-4958-98D9-DE747D430EF5}"/>
              </a:ext>
            </a:extLst>
          </p:cNvPr>
          <p:cNvSpPr/>
          <p:nvPr/>
        </p:nvSpPr>
        <p:spPr>
          <a:xfrm>
            <a:off x="262762" y="482804"/>
            <a:ext cx="5570756"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影响肖特基势垒高度的非理想因素</a:t>
            </a:r>
          </a:p>
        </p:txBody>
      </p:sp>
      <p:sp>
        <p:nvSpPr>
          <p:cNvPr id="6" name="文本框 5">
            <a:extLst>
              <a:ext uri="{FF2B5EF4-FFF2-40B4-BE49-F238E27FC236}">
                <a16:creationId xmlns:a16="http://schemas.microsoft.com/office/drawing/2014/main" id="{F6570CA1-9349-4BAE-8392-567422FD7460}"/>
              </a:ext>
            </a:extLst>
          </p:cNvPr>
          <p:cNvSpPr txBox="1"/>
          <p:nvPr/>
        </p:nvSpPr>
        <p:spPr>
          <a:xfrm>
            <a:off x="280555" y="1101436"/>
            <a:ext cx="11461172" cy="4524315"/>
          </a:xfrm>
          <a:prstGeom prst="rect">
            <a:avLst/>
          </a:prstGeom>
          <a:noFill/>
        </p:spPr>
        <p:txBody>
          <a:bodyPr wrap="square" rtlCol="0">
            <a:spAutoFit/>
          </a:bodyPr>
          <a:lstStyle/>
          <a:p>
            <a:r>
              <a:rPr lang="zh-CN" altLang="en-US" dirty="0"/>
              <a:t>即原始的理想表达式。</a:t>
            </a:r>
            <a:endParaRPr lang="en-US" altLang="zh-CN" dirty="0"/>
          </a:p>
          <a:p>
            <a:r>
              <a:rPr lang="en-US" altLang="zh-CN" dirty="0"/>
              <a:t>        </a:t>
            </a:r>
            <a:r>
              <a:rPr lang="zh-CN" altLang="en-US" dirty="0"/>
              <a:t>在半导体中</a:t>
            </a:r>
            <a:r>
              <a:rPr lang="en-US" altLang="zh-CN" dirty="0"/>
              <a:t>,</a:t>
            </a:r>
            <a:r>
              <a:rPr lang="zh-CN" altLang="en-US" dirty="0"/>
              <a:t>由于势垒降低的影响</a:t>
            </a:r>
            <a:r>
              <a:rPr lang="en-US" altLang="zh-CN" dirty="0"/>
              <a:t>,</a:t>
            </a:r>
            <a:r>
              <a:rPr lang="zh-CN" altLang="en-US" dirty="0"/>
              <a:t>肖特基势垒高度是电场强度的函数。同时势垒高度也是表面态的函数。由此，理论势垒高度值得以修正。由于表面态密度无法预知，所以势垒高度是一个实验值。</a:t>
            </a:r>
            <a:endParaRPr lang="en-US" altLang="zh-CN" dirty="0"/>
          </a:p>
          <a:p>
            <a:endParaRPr lang="en-US" altLang="zh-CN" dirty="0"/>
          </a:p>
          <a:p>
            <a:endParaRPr lang="en-US" altLang="zh-CN" dirty="0"/>
          </a:p>
          <a:p>
            <a:pPr algn="just"/>
            <a:r>
              <a:rPr lang="zh-CN" altLang="en-US" dirty="0"/>
              <a:t>        与</a:t>
            </a:r>
            <a:r>
              <a:rPr lang="en-US" altLang="zh-CN" dirty="0" err="1"/>
              <a:t>pn</a:t>
            </a:r>
            <a:r>
              <a:rPr lang="zh-CN" altLang="en-US" dirty="0"/>
              <a:t>结的少数载流子导电不同</a:t>
            </a:r>
            <a:r>
              <a:rPr lang="en-US" altLang="zh-CN" dirty="0"/>
              <a:t>,</a:t>
            </a:r>
            <a:r>
              <a:rPr lang="zh-CN" altLang="en-US" dirty="0"/>
              <a:t>金属</a:t>
            </a:r>
            <a:r>
              <a:rPr lang="en-US" altLang="zh-CN" dirty="0"/>
              <a:t>-</a:t>
            </a:r>
            <a:r>
              <a:rPr lang="zh-CN" altLang="en-US" dirty="0"/>
              <a:t>半导体结主要靠多数载流子导电。</a:t>
            </a:r>
            <a:r>
              <a:rPr lang="en-US" altLang="zh-CN" dirty="0"/>
              <a:t>n</a:t>
            </a:r>
            <a:r>
              <a:rPr lang="zh-CN" altLang="en-US" dirty="0"/>
              <a:t>型半导体整流接触的基本过程是电子运动通过势垒，这种现象可以通过</a:t>
            </a:r>
            <a:r>
              <a:rPr lang="zh-CN" altLang="en-US" dirty="0">
                <a:solidFill>
                  <a:srgbClr val="FF0000"/>
                </a:solidFill>
              </a:rPr>
              <a:t>热电子发射理论</a:t>
            </a:r>
            <a:r>
              <a:rPr lang="zh-CN" altLang="en-US" dirty="0"/>
              <a:t>来解释。</a:t>
            </a:r>
            <a:endParaRPr lang="en-US" altLang="zh-CN" dirty="0"/>
          </a:p>
          <a:p>
            <a:pPr algn="just"/>
            <a:r>
              <a:rPr lang="en-US" altLang="zh-CN" dirty="0"/>
              <a:t>        </a:t>
            </a:r>
            <a:r>
              <a:rPr lang="zh-CN" altLang="en-US" dirty="0"/>
              <a:t>热电子发射现象源于势垒高度远大于</a:t>
            </a:r>
            <a:r>
              <a:rPr lang="en-US" altLang="zh-CN" dirty="0" err="1"/>
              <a:t>kT</a:t>
            </a:r>
            <a:r>
              <a:rPr lang="zh-CN" altLang="en-US" dirty="0"/>
              <a:t>这一假定，在这个假定下，可以近似应用麦克斯韦</a:t>
            </a:r>
            <a:r>
              <a:rPr lang="en-US" altLang="zh-CN" dirty="0"/>
              <a:t>-</a:t>
            </a:r>
            <a:r>
              <a:rPr lang="zh-CN" altLang="en-US" dirty="0"/>
              <a:t>玻尔兹曼理论，即在这一过程中热平衡不会受影响。图</a:t>
            </a:r>
            <a:r>
              <a:rPr lang="en-US" altLang="zh-CN" dirty="0"/>
              <a:t>6</a:t>
            </a:r>
            <a:r>
              <a:rPr lang="zh-CN" altLang="en-US" dirty="0"/>
              <a:t>显示了加正偏电压</a:t>
            </a:r>
            <a:r>
              <a:rPr lang="en-US" altLang="zh-CN" dirty="0" err="1"/>
              <a:t>V</a:t>
            </a:r>
            <a:r>
              <a:rPr lang="en-US" altLang="zh-CN" baseline="-25000" dirty="0" err="1"/>
              <a:t>a</a:t>
            </a:r>
            <a:r>
              <a:rPr lang="zh-CN" altLang="en-US" dirty="0"/>
              <a:t>时的一维空间势垒和两种电子电流密度的成分。电流</a:t>
            </a:r>
            <a:r>
              <a:rPr lang="en-US" altLang="zh-CN" dirty="0"/>
              <a:t>J</a:t>
            </a:r>
            <a:r>
              <a:rPr lang="en-US" altLang="zh-CN" baseline="-25000" dirty="0"/>
              <a:t>s</a:t>
            </a:r>
            <a:r>
              <a:rPr lang="zh-CN" altLang="en-US" baseline="-25000" dirty="0"/>
              <a:t>→</a:t>
            </a:r>
            <a:r>
              <a:rPr lang="en-US" altLang="zh-CN" baseline="-25000" dirty="0"/>
              <a:t>m</a:t>
            </a:r>
            <a:r>
              <a:rPr lang="zh-CN" altLang="en-US" dirty="0"/>
              <a:t>是电子从半导体扩散到金属中的电流密度，</a:t>
            </a:r>
            <a:r>
              <a:rPr lang="en-US" altLang="zh-CN" dirty="0" err="1"/>
              <a:t>J</a:t>
            </a:r>
            <a:r>
              <a:rPr lang="en-US" altLang="zh-CN" baseline="-25000" dirty="0" err="1"/>
              <a:t>m</a:t>
            </a:r>
            <a:r>
              <a:rPr lang="zh-CN" altLang="en-US" baseline="-25000" dirty="0"/>
              <a:t>→</a:t>
            </a:r>
            <a:r>
              <a:rPr lang="en-US" altLang="zh-CN" baseline="-25000" dirty="0"/>
              <a:t>s</a:t>
            </a:r>
            <a:r>
              <a:rPr lang="zh-CN" altLang="en-US" dirty="0"/>
              <a:t>是电子从金属扩散到半导体中的电流密度。电流密度符号的下标指出了电子流动的方向。常规电流的方向与电子电流的方向刚好相反。</a:t>
            </a:r>
            <a:endParaRPr lang="en-US" altLang="zh-CN" dirty="0"/>
          </a:p>
          <a:p>
            <a:pPr algn="just"/>
            <a:r>
              <a:rPr lang="en-US" altLang="zh-CN" dirty="0"/>
              <a:t>        </a:t>
            </a:r>
            <a:r>
              <a:rPr lang="zh-CN" altLang="en-US" dirty="0"/>
              <a:t>电流密度</a:t>
            </a:r>
            <a:r>
              <a:rPr lang="en-US" altLang="zh-CN" dirty="0"/>
              <a:t>J</a:t>
            </a:r>
            <a:r>
              <a:rPr lang="en-US" altLang="zh-CN" baseline="-25000" dirty="0"/>
              <a:t>s</a:t>
            </a:r>
            <a:r>
              <a:rPr lang="zh-CN" altLang="en-US" baseline="-25000" dirty="0"/>
              <a:t>→</a:t>
            </a:r>
            <a:r>
              <a:rPr lang="en-US" altLang="zh-CN" baseline="-25000" dirty="0"/>
              <a:t>m</a:t>
            </a:r>
            <a:r>
              <a:rPr lang="zh-CN" altLang="en-US" dirty="0"/>
              <a:t>是电子的浓度的函数，其中电子具有足够克服势垒的</a:t>
            </a:r>
            <a:r>
              <a:rPr lang="en-US" altLang="zh-CN" dirty="0"/>
              <a:t>x</a:t>
            </a:r>
            <a:r>
              <a:rPr lang="zh-CN" altLang="en-US" dirty="0"/>
              <a:t>方向速度。我们可以将电流密度写为</a:t>
            </a:r>
            <a:endParaRPr lang="en-US" altLang="zh-CN" dirty="0"/>
          </a:p>
          <a:p>
            <a:pPr algn="just"/>
            <a:endParaRPr lang="en-US" altLang="zh-CN" dirty="0"/>
          </a:p>
          <a:p>
            <a:pPr algn="just"/>
            <a:endParaRPr lang="en-US" altLang="zh-CN" dirty="0"/>
          </a:p>
          <a:p>
            <a:pPr algn="just"/>
            <a:r>
              <a:rPr lang="en-US" altLang="zh-CN" dirty="0" err="1"/>
              <a:t>E</a:t>
            </a:r>
            <a:r>
              <a:rPr lang="en-US" altLang="zh-CN" baseline="-25000" dirty="0" err="1"/>
              <a:t>c</a:t>
            </a:r>
            <a:r>
              <a:rPr lang="en-US" altLang="zh-CN" dirty="0"/>
              <a:t>’</a:t>
            </a:r>
            <a:r>
              <a:rPr lang="zh-CN" altLang="en-US" dirty="0"/>
              <a:t>是电子能够发射到金属中时所需的最小能量，</a:t>
            </a:r>
            <a:r>
              <a:rPr lang="en-US" altLang="zh-CN" dirty="0" err="1"/>
              <a:t>v</a:t>
            </a:r>
            <a:r>
              <a:rPr lang="en-US" altLang="zh-CN" baseline="-25000" dirty="0" err="1"/>
              <a:t>x</a:t>
            </a:r>
            <a:r>
              <a:rPr lang="zh-CN" altLang="en-US" dirty="0"/>
              <a:t>是载流子沿输运方向的速度，</a:t>
            </a:r>
            <a:r>
              <a:rPr lang="en-US" altLang="zh-CN" dirty="0"/>
              <a:t>e</a:t>
            </a:r>
            <a:r>
              <a:rPr lang="zh-CN" altLang="en-US" dirty="0"/>
              <a:t>是电子所带的电量，电子浓度的增量表示为</a:t>
            </a:r>
            <a:endParaRPr lang="en-US" altLang="zh-CN" dirty="0"/>
          </a:p>
        </p:txBody>
      </p:sp>
      <p:sp>
        <p:nvSpPr>
          <p:cNvPr id="7" name="矩形 6">
            <a:extLst>
              <a:ext uri="{FF2B5EF4-FFF2-40B4-BE49-F238E27FC236}">
                <a16:creationId xmlns:a16="http://schemas.microsoft.com/office/drawing/2014/main" id="{AE9C5F3A-C3F0-4DB6-A51D-B6EE2A076E20}"/>
              </a:ext>
            </a:extLst>
          </p:cNvPr>
          <p:cNvSpPr/>
          <p:nvPr/>
        </p:nvSpPr>
        <p:spPr>
          <a:xfrm>
            <a:off x="262762" y="2024766"/>
            <a:ext cx="2459328"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电流</a:t>
            </a:r>
            <a:r>
              <a:rPr lang="en-US" altLang="zh-CN" sz="2800" b="0" cap="none" spc="0" dirty="0">
                <a:ln w="0"/>
                <a:solidFill>
                  <a:schemeClr val="tx1"/>
                </a:solidFill>
                <a:effectLst>
                  <a:outerShdw blurRad="38100" dist="19050" dir="2700000" algn="tl" rotWithShape="0">
                    <a:schemeClr val="dk1">
                      <a:alpha val="40000"/>
                    </a:schemeClr>
                  </a:outerShdw>
                </a:effectLst>
              </a:rPr>
              <a:t>-</a:t>
            </a:r>
            <a:r>
              <a:rPr lang="zh-CN" altLang="en-US" sz="2800" b="0" cap="none" spc="0" dirty="0">
                <a:ln w="0"/>
                <a:solidFill>
                  <a:schemeClr val="tx1"/>
                </a:solidFill>
                <a:effectLst>
                  <a:outerShdw blurRad="38100" dist="19050" dir="2700000" algn="tl" rotWithShape="0">
                    <a:schemeClr val="dk1">
                      <a:alpha val="40000"/>
                    </a:schemeClr>
                  </a:outerShdw>
                </a:effectLst>
              </a:rPr>
              <a:t>电压关系</a:t>
            </a:r>
          </a:p>
        </p:txBody>
      </p:sp>
      <p:graphicFrame>
        <p:nvGraphicFramePr>
          <p:cNvPr id="8" name="对象 7">
            <a:extLst>
              <a:ext uri="{FF2B5EF4-FFF2-40B4-BE49-F238E27FC236}">
                <a16:creationId xmlns:a16="http://schemas.microsoft.com/office/drawing/2014/main" id="{1DB9CF8A-3504-4D9D-BF3F-14733FFC2A68}"/>
              </a:ext>
            </a:extLst>
          </p:cNvPr>
          <p:cNvGraphicFramePr>
            <a:graphicFrameLocks noChangeAspect="1"/>
          </p:cNvGraphicFramePr>
          <p:nvPr>
            <p:extLst>
              <p:ext uri="{D42A27DB-BD31-4B8C-83A1-F6EECF244321}">
                <p14:modId xmlns:p14="http://schemas.microsoft.com/office/powerpoint/2010/main" val="2625935356"/>
              </p:ext>
            </p:extLst>
          </p:nvPr>
        </p:nvGraphicFramePr>
        <p:xfrm>
          <a:off x="4924108" y="4428197"/>
          <a:ext cx="1818820" cy="636587"/>
        </p:xfrm>
        <a:graphic>
          <a:graphicData uri="http://schemas.openxmlformats.org/presentationml/2006/ole">
            <mc:AlternateContent xmlns:mc="http://schemas.openxmlformats.org/markup-compatibility/2006">
              <mc:Choice xmlns:v="urn:schemas-microsoft-com:vml" Requires="v">
                <p:oleObj name="Equation" r:id="rId2" imgW="1015920" imgH="355320" progId="Equation.DSMT4">
                  <p:embed/>
                </p:oleObj>
              </mc:Choice>
              <mc:Fallback>
                <p:oleObj name="Equation" r:id="rId2" imgW="1015920" imgH="355320" progId="Equation.DSMT4">
                  <p:embed/>
                  <p:pic>
                    <p:nvPicPr>
                      <p:cNvPr id="0" name=""/>
                      <p:cNvPicPr/>
                      <p:nvPr/>
                    </p:nvPicPr>
                    <p:blipFill>
                      <a:blip r:embed="rId3"/>
                      <a:stretch>
                        <a:fillRect/>
                      </a:stretch>
                    </p:blipFill>
                    <p:spPr>
                      <a:xfrm>
                        <a:off x="4924108" y="4428197"/>
                        <a:ext cx="1818820" cy="63658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0C8A9582-6426-439A-96C4-AA4A2FA3C986}"/>
              </a:ext>
            </a:extLst>
          </p:cNvPr>
          <p:cNvGraphicFramePr>
            <a:graphicFrameLocks noChangeAspect="1"/>
          </p:cNvGraphicFramePr>
          <p:nvPr>
            <p:extLst>
              <p:ext uri="{D42A27DB-BD31-4B8C-83A1-F6EECF244321}">
                <p14:modId xmlns:p14="http://schemas.microsoft.com/office/powerpoint/2010/main" val="2836460773"/>
              </p:ext>
            </p:extLst>
          </p:nvPr>
        </p:nvGraphicFramePr>
        <p:xfrm>
          <a:off x="11314095" y="4590987"/>
          <a:ext cx="427632" cy="311005"/>
        </p:xfrm>
        <a:graphic>
          <a:graphicData uri="http://schemas.openxmlformats.org/presentationml/2006/ole">
            <mc:AlternateContent xmlns:mc="http://schemas.openxmlformats.org/markup-compatibility/2006">
              <mc:Choice xmlns:v="urn:schemas-microsoft-com:vml" Requires="v">
                <p:oleObj name="Equation" r:id="rId4" imgW="279360" imgH="203040" progId="Equation.DSMT4">
                  <p:embed/>
                </p:oleObj>
              </mc:Choice>
              <mc:Fallback>
                <p:oleObj name="Equation" r:id="rId4" imgW="279360" imgH="203040" progId="Equation.DSMT4">
                  <p:embed/>
                  <p:pic>
                    <p:nvPicPr>
                      <p:cNvPr id="0" name=""/>
                      <p:cNvPicPr/>
                      <p:nvPr/>
                    </p:nvPicPr>
                    <p:blipFill>
                      <a:blip r:embed="rId5"/>
                      <a:stretch>
                        <a:fillRect/>
                      </a:stretch>
                    </p:blipFill>
                    <p:spPr>
                      <a:xfrm>
                        <a:off x="11314095" y="4590987"/>
                        <a:ext cx="427632" cy="311005"/>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C6BBF581-673B-405A-AEFF-2EA921590A7F}"/>
              </a:ext>
            </a:extLst>
          </p:cNvPr>
          <p:cNvGraphicFramePr>
            <a:graphicFrameLocks noChangeAspect="1"/>
          </p:cNvGraphicFramePr>
          <p:nvPr>
            <p:extLst>
              <p:ext uri="{D42A27DB-BD31-4B8C-83A1-F6EECF244321}">
                <p14:modId xmlns:p14="http://schemas.microsoft.com/office/powerpoint/2010/main" val="3995254127"/>
              </p:ext>
            </p:extLst>
          </p:nvPr>
        </p:nvGraphicFramePr>
        <p:xfrm>
          <a:off x="4703429" y="5625751"/>
          <a:ext cx="2260178" cy="406832"/>
        </p:xfrm>
        <a:graphic>
          <a:graphicData uri="http://schemas.openxmlformats.org/presentationml/2006/ole">
            <mc:AlternateContent xmlns:mc="http://schemas.openxmlformats.org/markup-compatibility/2006">
              <mc:Choice xmlns:v="urn:schemas-microsoft-com:vml" Requires="v">
                <p:oleObj name="Equation" r:id="rId6" imgW="1269720" imgH="228600" progId="Equation.DSMT4">
                  <p:embed/>
                </p:oleObj>
              </mc:Choice>
              <mc:Fallback>
                <p:oleObj name="Equation" r:id="rId6" imgW="1269720" imgH="228600" progId="Equation.DSMT4">
                  <p:embed/>
                  <p:pic>
                    <p:nvPicPr>
                      <p:cNvPr id="0" name=""/>
                      <p:cNvPicPr/>
                      <p:nvPr/>
                    </p:nvPicPr>
                    <p:blipFill>
                      <a:blip r:embed="rId7"/>
                      <a:stretch>
                        <a:fillRect/>
                      </a:stretch>
                    </p:blipFill>
                    <p:spPr>
                      <a:xfrm>
                        <a:off x="4703429" y="5625751"/>
                        <a:ext cx="2260178" cy="40683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852E977C-C14C-48F7-B00D-A9CA564EDEC8}"/>
              </a:ext>
            </a:extLst>
          </p:cNvPr>
          <p:cNvGraphicFramePr>
            <a:graphicFrameLocks noChangeAspect="1"/>
          </p:cNvGraphicFramePr>
          <p:nvPr>
            <p:extLst>
              <p:ext uri="{D42A27DB-BD31-4B8C-83A1-F6EECF244321}">
                <p14:modId xmlns:p14="http://schemas.microsoft.com/office/powerpoint/2010/main" val="3073228174"/>
              </p:ext>
            </p:extLst>
          </p:nvPr>
        </p:nvGraphicFramePr>
        <p:xfrm>
          <a:off x="11281970" y="5658078"/>
          <a:ext cx="491881" cy="342178"/>
        </p:xfrm>
        <a:graphic>
          <a:graphicData uri="http://schemas.openxmlformats.org/presentationml/2006/ole">
            <mc:AlternateContent xmlns:mc="http://schemas.openxmlformats.org/markup-compatibility/2006">
              <mc:Choice xmlns:v="urn:schemas-microsoft-com:vml" Requires="v">
                <p:oleObj name="Equation" r:id="rId8" imgW="291960" imgH="203040" progId="Equation.DSMT4">
                  <p:embed/>
                </p:oleObj>
              </mc:Choice>
              <mc:Fallback>
                <p:oleObj name="Equation" r:id="rId8" imgW="291960" imgH="203040" progId="Equation.DSMT4">
                  <p:embed/>
                  <p:pic>
                    <p:nvPicPr>
                      <p:cNvPr id="0" name=""/>
                      <p:cNvPicPr/>
                      <p:nvPr/>
                    </p:nvPicPr>
                    <p:blipFill>
                      <a:blip r:embed="rId9"/>
                      <a:stretch>
                        <a:fillRect/>
                      </a:stretch>
                    </p:blipFill>
                    <p:spPr>
                      <a:xfrm>
                        <a:off x="11281970" y="5658078"/>
                        <a:ext cx="491881" cy="342178"/>
                      </a:xfrm>
                      <a:prstGeom prst="rect">
                        <a:avLst/>
                      </a:prstGeom>
                    </p:spPr>
                  </p:pic>
                </p:oleObj>
              </mc:Fallback>
            </mc:AlternateContent>
          </a:graphicData>
        </a:graphic>
      </p:graphicFrame>
    </p:spTree>
    <p:extLst>
      <p:ext uri="{BB962C8B-B14F-4D97-AF65-F5344CB8AC3E}">
        <p14:creationId xmlns:p14="http://schemas.microsoft.com/office/powerpoint/2010/main" val="702896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D1F55CF-EEDD-4958-9A95-E94789F3B0AD}"/>
              </a:ext>
            </a:extLst>
          </p:cNvPr>
          <p:cNvSpPr>
            <a:spLocks noGrp="1"/>
          </p:cNvSpPr>
          <p:nvPr>
            <p:ph type="sldNum" sz="quarter" idx="12"/>
          </p:nvPr>
        </p:nvSpPr>
        <p:spPr/>
        <p:txBody>
          <a:bodyPr/>
          <a:lstStyle/>
          <a:p>
            <a:pPr>
              <a:defRPr/>
            </a:pPr>
            <a:fld id="{DB5F2CA6-A39B-48F7-84D1-AF91BD07D67D}" type="slidenum">
              <a:rPr lang="en-US" altLang="zh-CN" smtClean="0"/>
              <a:pPr>
                <a:defRPr/>
              </a:pPr>
              <a:t>13</a:t>
            </a:fld>
            <a:endParaRPr lang="en-US" altLang="zh-CN"/>
          </a:p>
        </p:txBody>
      </p:sp>
      <p:sp>
        <p:nvSpPr>
          <p:cNvPr id="5" name="矩形 4">
            <a:extLst>
              <a:ext uri="{FF2B5EF4-FFF2-40B4-BE49-F238E27FC236}">
                <a16:creationId xmlns:a16="http://schemas.microsoft.com/office/drawing/2014/main" id="{A5D39265-835D-49E3-86C1-1A1BCAAA9B39}"/>
              </a:ext>
            </a:extLst>
          </p:cNvPr>
          <p:cNvSpPr/>
          <p:nvPr/>
        </p:nvSpPr>
        <p:spPr>
          <a:xfrm>
            <a:off x="304325" y="642775"/>
            <a:ext cx="2459328"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电流</a:t>
            </a:r>
            <a:r>
              <a:rPr lang="en-US" altLang="zh-CN" sz="2800" b="0" cap="none" spc="0" dirty="0">
                <a:ln w="0"/>
                <a:solidFill>
                  <a:schemeClr val="tx1"/>
                </a:solidFill>
                <a:effectLst>
                  <a:outerShdw blurRad="38100" dist="19050" dir="2700000" algn="tl" rotWithShape="0">
                    <a:schemeClr val="dk1">
                      <a:alpha val="40000"/>
                    </a:schemeClr>
                  </a:outerShdw>
                </a:effectLst>
              </a:rPr>
              <a:t>-</a:t>
            </a:r>
            <a:r>
              <a:rPr lang="zh-CN" altLang="en-US" sz="2800" b="0" cap="none" spc="0" dirty="0">
                <a:ln w="0"/>
                <a:solidFill>
                  <a:schemeClr val="tx1"/>
                </a:solidFill>
                <a:effectLst>
                  <a:outerShdw blurRad="38100" dist="19050" dir="2700000" algn="tl" rotWithShape="0">
                    <a:schemeClr val="dk1">
                      <a:alpha val="40000"/>
                    </a:schemeClr>
                  </a:outerShdw>
                </a:effectLst>
              </a:rPr>
              <a:t>电压关系</a:t>
            </a:r>
          </a:p>
        </p:txBody>
      </p:sp>
      <p:pic>
        <p:nvPicPr>
          <p:cNvPr id="6" name="图片 5">
            <a:extLst>
              <a:ext uri="{FF2B5EF4-FFF2-40B4-BE49-F238E27FC236}">
                <a16:creationId xmlns:a16="http://schemas.microsoft.com/office/drawing/2014/main" id="{28D2E193-6651-4EF6-A071-8AAB399E8874}"/>
              </a:ext>
            </a:extLst>
          </p:cNvPr>
          <p:cNvPicPr>
            <a:picLocks noChangeAspect="1"/>
          </p:cNvPicPr>
          <p:nvPr/>
        </p:nvPicPr>
        <p:blipFill>
          <a:blip r:embed="rId2"/>
          <a:stretch>
            <a:fillRect/>
          </a:stretch>
        </p:blipFill>
        <p:spPr>
          <a:xfrm>
            <a:off x="3943049" y="1165995"/>
            <a:ext cx="4305901" cy="4563112"/>
          </a:xfrm>
          <a:prstGeom prst="rect">
            <a:avLst/>
          </a:prstGeom>
        </p:spPr>
      </p:pic>
      <p:sp>
        <p:nvSpPr>
          <p:cNvPr id="7" name="矩形 6">
            <a:extLst>
              <a:ext uri="{FF2B5EF4-FFF2-40B4-BE49-F238E27FC236}">
                <a16:creationId xmlns:a16="http://schemas.microsoft.com/office/drawing/2014/main" id="{C4E4E878-22B7-442C-967F-CE42D98B59EA}"/>
              </a:ext>
            </a:extLst>
          </p:cNvPr>
          <p:cNvSpPr/>
          <p:nvPr/>
        </p:nvSpPr>
        <p:spPr>
          <a:xfrm>
            <a:off x="4223531" y="5729107"/>
            <a:ext cx="3744935"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b="0" cap="none" spc="0" dirty="0">
                <a:ln w="0"/>
                <a:solidFill>
                  <a:schemeClr val="tx1"/>
                </a:solidFill>
                <a:effectLst>
                  <a:outerShdw blurRad="38100" dist="19050" dir="2700000" algn="tl" rotWithShape="0">
                    <a:schemeClr val="dk1">
                      <a:alpha val="40000"/>
                    </a:schemeClr>
                  </a:outerShdw>
                </a:effectLst>
              </a:rPr>
              <a:t>6</a:t>
            </a:r>
            <a:r>
              <a:rPr lang="zh-CN" altLang="en-US" sz="1400" dirty="0">
                <a:ln w="0"/>
                <a:effectLst>
                  <a:outerShdw blurRad="38100" dist="19050" dir="2700000" algn="tl" rotWithShape="0">
                    <a:schemeClr val="dk1">
                      <a:alpha val="40000"/>
                    </a:schemeClr>
                  </a:outerShdw>
                </a:effectLst>
              </a:rPr>
              <a:t>：施加正偏电压的金属</a:t>
            </a:r>
            <a:r>
              <a:rPr lang="en-US" altLang="zh-CN" sz="1400" dirty="0">
                <a:ln w="0"/>
                <a:effectLst>
                  <a:outerShdw blurRad="38100" dist="19050" dir="2700000" algn="tl" rotWithShape="0">
                    <a:schemeClr val="dk1">
                      <a:alpha val="40000"/>
                    </a:schemeClr>
                  </a:outerShdw>
                </a:effectLst>
              </a:rPr>
              <a:t>-</a:t>
            </a:r>
            <a:r>
              <a:rPr lang="zh-CN" altLang="en-US" sz="1400" dirty="0">
                <a:ln w="0"/>
                <a:effectLst>
                  <a:outerShdw blurRad="38100" dist="19050" dir="2700000" algn="tl" rotWithShape="0">
                    <a:schemeClr val="dk1">
                      <a:alpha val="40000"/>
                    </a:schemeClr>
                  </a:outerShdw>
                </a:effectLst>
              </a:rPr>
              <a:t>半导体结的能带图</a:t>
            </a:r>
            <a:endParaRPr lang="zh-CN" altLang="en-US" sz="1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62182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D3A870C-EAC0-4255-9327-7BFBE38BC2A0}"/>
              </a:ext>
            </a:extLst>
          </p:cNvPr>
          <p:cNvSpPr>
            <a:spLocks noGrp="1"/>
          </p:cNvSpPr>
          <p:nvPr>
            <p:ph type="sldNum" sz="quarter" idx="12"/>
          </p:nvPr>
        </p:nvSpPr>
        <p:spPr/>
        <p:txBody>
          <a:bodyPr/>
          <a:lstStyle/>
          <a:p>
            <a:pPr>
              <a:defRPr/>
            </a:pPr>
            <a:fld id="{DB5F2CA6-A39B-48F7-84D1-AF91BD07D67D}" type="slidenum">
              <a:rPr lang="en-US" altLang="zh-CN" smtClean="0"/>
              <a:pPr>
                <a:defRPr/>
              </a:pPr>
              <a:t>14</a:t>
            </a:fld>
            <a:endParaRPr lang="en-US" altLang="zh-CN"/>
          </a:p>
        </p:txBody>
      </p:sp>
      <p:sp>
        <p:nvSpPr>
          <p:cNvPr id="3" name="矩形 2">
            <a:extLst>
              <a:ext uri="{FF2B5EF4-FFF2-40B4-BE49-F238E27FC236}">
                <a16:creationId xmlns:a16="http://schemas.microsoft.com/office/drawing/2014/main" id="{A08DEC64-830E-4F3B-A55C-0E8794138966}"/>
              </a:ext>
            </a:extLst>
          </p:cNvPr>
          <p:cNvSpPr/>
          <p:nvPr/>
        </p:nvSpPr>
        <p:spPr>
          <a:xfrm>
            <a:off x="252372" y="528476"/>
            <a:ext cx="2459328"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电流</a:t>
            </a:r>
            <a:r>
              <a:rPr lang="en-US" altLang="zh-CN" sz="2800" b="0" cap="none" spc="0" dirty="0">
                <a:ln w="0"/>
                <a:solidFill>
                  <a:schemeClr val="tx1"/>
                </a:solidFill>
                <a:effectLst>
                  <a:outerShdw blurRad="38100" dist="19050" dir="2700000" algn="tl" rotWithShape="0">
                    <a:schemeClr val="dk1">
                      <a:alpha val="40000"/>
                    </a:schemeClr>
                  </a:outerShdw>
                </a:effectLst>
              </a:rPr>
              <a:t>-</a:t>
            </a:r>
            <a:r>
              <a:rPr lang="zh-CN" altLang="en-US" sz="2800" b="0" cap="none" spc="0" dirty="0">
                <a:ln w="0"/>
                <a:solidFill>
                  <a:schemeClr val="tx1"/>
                </a:solidFill>
                <a:effectLst>
                  <a:outerShdw blurRad="38100" dist="19050" dir="2700000" algn="tl" rotWithShape="0">
                    <a:schemeClr val="dk1">
                      <a:alpha val="40000"/>
                    </a:schemeClr>
                  </a:outerShdw>
                </a:effectLst>
              </a:rPr>
              <a:t>电压关系</a:t>
            </a:r>
          </a:p>
        </p:txBody>
      </p:sp>
      <p:sp>
        <p:nvSpPr>
          <p:cNvPr id="2" name="文本框 1">
            <a:extLst>
              <a:ext uri="{FF2B5EF4-FFF2-40B4-BE49-F238E27FC236}">
                <a16:creationId xmlns:a16="http://schemas.microsoft.com/office/drawing/2014/main" id="{74DD2C0A-97B2-481A-9B71-6F8CA2B509C9}"/>
              </a:ext>
            </a:extLst>
          </p:cNvPr>
          <p:cNvSpPr txBox="1"/>
          <p:nvPr/>
        </p:nvSpPr>
        <p:spPr>
          <a:xfrm>
            <a:off x="238991" y="1122218"/>
            <a:ext cx="11585864" cy="4524315"/>
          </a:xfrm>
          <a:prstGeom prst="rect">
            <a:avLst/>
          </a:prstGeom>
          <a:noFill/>
        </p:spPr>
        <p:txBody>
          <a:bodyPr wrap="square" rtlCol="0">
            <a:spAutoFit/>
          </a:bodyPr>
          <a:lstStyle/>
          <a:p>
            <a:r>
              <a:rPr lang="zh-CN" altLang="en-US" dirty="0"/>
              <a:t>其中</a:t>
            </a:r>
            <a:r>
              <a:rPr lang="en-US" altLang="zh-CN" dirty="0" err="1"/>
              <a:t>g</a:t>
            </a:r>
            <a:r>
              <a:rPr lang="en-US" altLang="zh-CN" baseline="-25000" dirty="0" err="1"/>
              <a:t>c</a:t>
            </a:r>
            <a:r>
              <a:rPr lang="en-US" altLang="zh-CN" dirty="0"/>
              <a:t>(E)</a:t>
            </a:r>
            <a:r>
              <a:rPr lang="zh-CN" altLang="en-US" dirty="0"/>
              <a:t>是导带的状态密度，</a:t>
            </a:r>
            <a:r>
              <a:rPr lang="en-US" altLang="zh-CN" dirty="0" err="1"/>
              <a:t>f</a:t>
            </a:r>
            <a:r>
              <a:rPr lang="en-US" altLang="zh-CN" baseline="-25000" dirty="0" err="1"/>
              <a:t>F</a:t>
            </a:r>
            <a:r>
              <a:rPr lang="en-US" altLang="zh-CN" dirty="0"/>
              <a:t>(E)</a:t>
            </a:r>
            <a:r>
              <a:rPr lang="zh-CN" altLang="en-US" dirty="0"/>
              <a:t>是费米</a:t>
            </a:r>
            <a:r>
              <a:rPr lang="en-US" altLang="zh-CN" dirty="0"/>
              <a:t>-</a:t>
            </a:r>
            <a:r>
              <a:rPr lang="zh-CN" altLang="en-US" dirty="0"/>
              <a:t>狄拉克分布函数。应用麦克斯韦</a:t>
            </a:r>
            <a:r>
              <a:rPr lang="en-US" altLang="zh-CN" dirty="0"/>
              <a:t>-</a:t>
            </a:r>
            <a:r>
              <a:rPr lang="zh-CN" altLang="en-US" dirty="0"/>
              <a:t>玻尔兹曼假定后，我们有</a:t>
            </a:r>
            <a:endParaRPr lang="en-US" altLang="zh-CN" dirty="0"/>
          </a:p>
          <a:p>
            <a:endParaRPr lang="en-US" altLang="zh-CN" dirty="0"/>
          </a:p>
          <a:p>
            <a:endParaRPr lang="en-US" altLang="zh-CN" dirty="0"/>
          </a:p>
          <a:p>
            <a:endParaRPr lang="en-US" altLang="zh-CN" dirty="0"/>
          </a:p>
          <a:p>
            <a:r>
              <a:rPr lang="zh-CN" altLang="en-US" dirty="0"/>
              <a:t>         如果大于</a:t>
            </a:r>
            <a:r>
              <a:rPr lang="en-US" altLang="zh-CN" dirty="0" err="1"/>
              <a:t>E</a:t>
            </a:r>
            <a:r>
              <a:rPr lang="en-US" altLang="zh-CN" baseline="-25000" dirty="0" err="1"/>
              <a:t>c</a:t>
            </a:r>
            <a:r>
              <a:rPr lang="zh-CN" altLang="en-US" dirty="0"/>
              <a:t>的能量全部为动能，则有</a:t>
            </a:r>
            <a:endParaRPr lang="en-US" altLang="zh-CN" dirty="0"/>
          </a:p>
          <a:p>
            <a:endParaRPr lang="en-US" altLang="zh-CN" dirty="0"/>
          </a:p>
          <a:p>
            <a:endParaRPr lang="en-US" altLang="zh-CN" dirty="0"/>
          </a:p>
          <a:p>
            <a:endParaRPr lang="en-US" altLang="zh-CN" dirty="0"/>
          </a:p>
          <a:p>
            <a:r>
              <a:rPr lang="zh-CN" altLang="en-US" dirty="0"/>
              <a:t>则</a:t>
            </a:r>
            <a:r>
              <a:rPr lang="en-US" altLang="zh-CN" dirty="0"/>
              <a:t>M-S</a:t>
            </a:r>
            <a:r>
              <a:rPr lang="zh-CN" altLang="en-US" dirty="0"/>
              <a:t>结中的静电流密度为</a:t>
            </a:r>
            <a:endParaRPr lang="en-US" altLang="zh-CN" dirty="0"/>
          </a:p>
          <a:p>
            <a:endParaRPr lang="en-US" altLang="zh-CN" dirty="0"/>
          </a:p>
          <a:p>
            <a:endParaRPr lang="en-US" altLang="zh-CN" dirty="0"/>
          </a:p>
          <a:p>
            <a:r>
              <a:rPr lang="zh-CN" altLang="en-US" dirty="0"/>
              <a:t>规定金属到半导体的方向为正方向，则有</a:t>
            </a:r>
            <a:endParaRPr lang="en-US" altLang="zh-CN" dirty="0"/>
          </a:p>
          <a:p>
            <a:endParaRPr lang="en-US" altLang="zh-CN" dirty="0"/>
          </a:p>
          <a:p>
            <a:endParaRPr lang="en-US" altLang="zh-CN" dirty="0"/>
          </a:p>
          <a:p>
            <a:endParaRPr lang="en-US" altLang="zh-CN" dirty="0"/>
          </a:p>
          <a:p>
            <a:r>
              <a:rPr lang="zh-CN" altLang="en-US" dirty="0"/>
              <a:t>其中</a:t>
            </a:r>
          </a:p>
        </p:txBody>
      </p:sp>
      <p:graphicFrame>
        <p:nvGraphicFramePr>
          <p:cNvPr id="5" name="对象 4">
            <a:extLst>
              <a:ext uri="{FF2B5EF4-FFF2-40B4-BE49-F238E27FC236}">
                <a16:creationId xmlns:a16="http://schemas.microsoft.com/office/drawing/2014/main" id="{4D9703B9-621A-4639-9ED9-1B092CFE60D3}"/>
              </a:ext>
            </a:extLst>
          </p:cNvPr>
          <p:cNvGraphicFramePr>
            <a:graphicFrameLocks noChangeAspect="1"/>
          </p:cNvGraphicFramePr>
          <p:nvPr>
            <p:extLst>
              <p:ext uri="{D42A27DB-BD31-4B8C-83A1-F6EECF244321}">
                <p14:modId xmlns:p14="http://schemas.microsoft.com/office/powerpoint/2010/main" val="2840006922"/>
              </p:ext>
            </p:extLst>
          </p:nvPr>
        </p:nvGraphicFramePr>
        <p:xfrm>
          <a:off x="3851142" y="1452317"/>
          <a:ext cx="4489715" cy="689119"/>
        </p:xfrm>
        <a:graphic>
          <a:graphicData uri="http://schemas.openxmlformats.org/presentationml/2006/ole">
            <mc:AlternateContent xmlns:mc="http://schemas.openxmlformats.org/markup-compatibility/2006">
              <mc:Choice xmlns:v="urn:schemas-microsoft-com:vml" Requires="v">
                <p:oleObj name="Equation" r:id="rId2" imgW="2730240" imgH="419040" progId="Equation.DSMT4">
                  <p:embed/>
                </p:oleObj>
              </mc:Choice>
              <mc:Fallback>
                <p:oleObj name="Equation" r:id="rId2" imgW="2730240" imgH="419040" progId="Equation.DSMT4">
                  <p:embed/>
                  <p:pic>
                    <p:nvPicPr>
                      <p:cNvPr id="0" name=""/>
                      <p:cNvPicPr/>
                      <p:nvPr/>
                    </p:nvPicPr>
                    <p:blipFill>
                      <a:blip r:embed="rId3"/>
                      <a:stretch>
                        <a:fillRect/>
                      </a:stretch>
                    </p:blipFill>
                    <p:spPr>
                      <a:xfrm>
                        <a:off x="3851142" y="1452317"/>
                        <a:ext cx="4489715" cy="689119"/>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FB204803-2D10-4AF7-B1DD-7EC3506AFB44}"/>
              </a:ext>
            </a:extLst>
          </p:cNvPr>
          <p:cNvGraphicFramePr>
            <a:graphicFrameLocks noChangeAspect="1"/>
          </p:cNvGraphicFramePr>
          <p:nvPr>
            <p:extLst>
              <p:ext uri="{D42A27DB-BD31-4B8C-83A1-F6EECF244321}">
                <p14:modId xmlns:p14="http://schemas.microsoft.com/office/powerpoint/2010/main" val="2901602194"/>
              </p:ext>
            </p:extLst>
          </p:nvPr>
        </p:nvGraphicFramePr>
        <p:xfrm>
          <a:off x="11036553" y="1636178"/>
          <a:ext cx="482094" cy="321396"/>
        </p:xfrm>
        <a:graphic>
          <a:graphicData uri="http://schemas.openxmlformats.org/presentationml/2006/ole">
            <mc:AlternateContent xmlns:mc="http://schemas.openxmlformats.org/markup-compatibility/2006">
              <mc:Choice xmlns:v="urn:schemas-microsoft-com:vml" Requires="v">
                <p:oleObj name="Equation" r:id="rId4" imgW="304560" imgH="203040" progId="Equation.DSMT4">
                  <p:embed/>
                </p:oleObj>
              </mc:Choice>
              <mc:Fallback>
                <p:oleObj name="Equation" r:id="rId4" imgW="304560" imgH="203040" progId="Equation.DSMT4">
                  <p:embed/>
                  <p:pic>
                    <p:nvPicPr>
                      <p:cNvPr id="0" name=""/>
                      <p:cNvPicPr/>
                      <p:nvPr/>
                    </p:nvPicPr>
                    <p:blipFill>
                      <a:blip r:embed="rId5"/>
                      <a:stretch>
                        <a:fillRect/>
                      </a:stretch>
                    </p:blipFill>
                    <p:spPr>
                      <a:xfrm>
                        <a:off x="11036553" y="1636178"/>
                        <a:ext cx="482094" cy="321396"/>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8474D673-DF8A-40E5-965A-1698DD110FB6}"/>
              </a:ext>
            </a:extLst>
          </p:cNvPr>
          <p:cNvGraphicFramePr>
            <a:graphicFrameLocks noChangeAspect="1"/>
          </p:cNvGraphicFramePr>
          <p:nvPr>
            <p:extLst>
              <p:ext uri="{D42A27DB-BD31-4B8C-83A1-F6EECF244321}">
                <p14:modId xmlns:p14="http://schemas.microsoft.com/office/powerpoint/2010/main" val="560344167"/>
              </p:ext>
            </p:extLst>
          </p:nvPr>
        </p:nvGraphicFramePr>
        <p:xfrm>
          <a:off x="5164968" y="2599546"/>
          <a:ext cx="1733910" cy="689118"/>
        </p:xfrm>
        <a:graphic>
          <a:graphicData uri="http://schemas.openxmlformats.org/presentationml/2006/ole">
            <mc:AlternateContent xmlns:mc="http://schemas.openxmlformats.org/markup-compatibility/2006">
              <mc:Choice xmlns:v="urn:schemas-microsoft-com:vml" Requires="v">
                <p:oleObj name="Equation" r:id="rId6" imgW="990360" imgH="393480" progId="Equation.DSMT4">
                  <p:embed/>
                </p:oleObj>
              </mc:Choice>
              <mc:Fallback>
                <p:oleObj name="Equation" r:id="rId6" imgW="990360" imgH="393480" progId="Equation.DSMT4">
                  <p:embed/>
                  <p:pic>
                    <p:nvPicPr>
                      <p:cNvPr id="0" name=""/>
                      <p:cNvPicPr/>
                      <p:nvPr/>
                    </p:nvPicPr>
                    <p:blipFill>
                      <a:blip r:embed="rId7"/>
                      <a:stretch>
                        <a:fillRect/>
                      </a:stretch>
                    </p:blipFill>
                    <p:spPr>
                      <a:xfrm>
                        <a:off x="5164968" y="2599546"/>
                        <a:ext cx="1733910" cy="689118"/>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5BDB536D-F4AF-422A-98A0-04FE201875A8}"/>
              </a:ext>
            </a:extLst>
          </p:cNvPr>
          <p:cNvGraphicFramePr>
            <a:graphicFrameLocks noChangeAspect="1"/>
          </p:cNvGraphicFramePr>
          <p:nvPr>
            <p:extLst>
              <p:ext uri="{D42A27DB-BD31-4B8C-83A1-F6EECF244321}">
                <p14:modId xmlns:p14="http://schemas.microsoft.com/office/powerpoint/2010/main" val="62673608"/>
              </p:ext>
            </p:extLst>
          </p:nvPr>
        </p:nvGraphicFramePr>
        <p:xfrm>
          <a:off x="11055061" y="2789295"/>
          <a:ext cx="445077" cy="309619"/>
        </p:xfrm>
        <a:graphic>
          <a:graphicData uri="http://schemas.openxmlformats.org/presentationml/2006/ole">
            <mc:AlternateContent xmlns:mc="http://schemas.openxmlformats.org/markup-compatibility/2006">
              <mc:Choice xmlns:v="urn:schemas-microsoft-com:vml" Requires="v">
                <p:oleObj name="Equation" r:id="rId8" imgW="291960" imgH="203040" progId="Equation.DSMT4">
                  <p:embed/>
                </p:oleObj>
              </mc:Choice>
              <mc:Fallback>
                <p:oleObj name="Equation" r:id="rId8" imgW="291960" imgH="203040" progId="Equation.DSMT4">
                  <p:embed/>
                  <p:pic>
                    <p:nvPicPr>
                      <p:cNvPr id="0" name=""/>
                      <p:cNvPicPr/>
                      <p:nvPr/>
                    </p:nvPicPr>
                    <p:blipFill>
                      <a:blip r:embed="rId9"/>
                      <a:stretch>
                        <a:fillRect/>
                      </a:stretch>
                    </p:blipFill>
                    <p:spPr>
                      <a:xfrm>
                        <a:off x="11055061" y="2789295"/>
                        <a:ext cx="445077" cy="309619"/>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3DB0E38E-2997-4151-9D7B-EEBE8F0302D8}"/>
              </a:ext>
            </a:extLst>
          </p:cNvPr>
          <p:cNvGraphicFramePr>
            <a:graphicFrameLocks noChangeAspect="1"/>
          </p:cNvGraphicFramePr>
          <p:nvPr>
            <p:extLst>
              <p:ext uri="{D42A27DB-BD31-4B8C-83A1-F6EECF244321}">
                <p14:modId xmlns:p14="http://schemas.microsoft.com/office/powerpoint/2010/main" val="834477483"/>
              </p:ext>
            </p:extLst>
          </p:nvPr>
        </p:nvGraphicFramePr>
        <p:xfrm>
          <a:off x="4983921" y="3707541"/>
          <a:ext cx="2096004" cy="471601"/>
        </p:xfrm>
        <a:graphic>
          <a:graphicData uri="http://schemas.openxmlformats.org/presentationml/2006/ole">
            <mc:AlternateContent xmlns:mc="http://schemas.openxmlformats.org/markup-compatibility/2006">
              <mc:Choice xmlns:v="urn:schemas-microsoft-com:vml" Requires="v">
                <p:oleObj name="Equation" r:id="rId10" imgW="1015920" imgH="228600" progId="Equation.DSMT4">
                  <p:embed/>
                </p:oleObj>
              </mc:Choice>
              <mc:Fallback>
                <p:oleObj name="Equation" r:id="rId10" imgW="1015920" imgH="228600" progId="Equation.DSMT4">
                  <p:embed/>
                  <p:pic>
                    <p:nvPicPr>
                      <p:cNvPr id="0" name=""/>
                      <p:cNvPicPr/>
                      <p:nvPr/>
                    </p:nvPicPr>
                    <p:blipFill>
                      <a:blip r:embed="rId11"/>
                      <a:stretch>
                        <a:fillRect/>
                      </a:stretch>
                    </p:blipFill>
                    <p:spPr>
                      <a:xfrm>
                        <a:off x="4983921" y="3707541"/>
                        <a:ext cx="2096004" cy="471601"/>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3663114E-B54C-40A3-AA8C-6481CB6450E1}"/>
              </a:ext>
            </a:extLst>
          </p:cNvPr>
          <p:cNvGraphicFramePr>
            <a:graphicFrameLocks noChangeAspect="1"/>
          </p:cNvGraphicFramePr>
          <p:nvPr>
            <p:extLst>
              <p:ext uri="{D42A27DB-BD31-4B8C-83A1-F6EECF244321}">
                <p14:modId xmlns:p14="http://schemas.microsoft.com/office/powerpoint/2010/main" val="3305133877"/>
              </p:ext>
            </p:extLst>
          </p:nvPr>
        </p:nvGraphicFramePr>
        <p:xfrm>
          <a:off x="11036553" y="3787839"/>
          <a:ext cx="482094" cy="311005"/>
        </p:xfrm>
        <a:graphic>
          <a:graphicData uri="http://schemas.openxmlformats.org/presentationml/2006/ole">
            <mc:AlternateContent xmlns:mc="http://schemas.openxmlformats.org/markup-compatibility/2006">
              <mc:Choice xmlns:v="urn:schemas-microsoft-com:vml" Requires="v">
                <p:oleObj name="Equation" r:id="rId12" imgW="304560" imgH="203040" progId="Equation.DSMT4">
                  <p:embed/>
                </p:oleObj>
              </mc:Choice>
              <mc:Fallback>
                <p:oleObj name="Equation" r:id="rId12" imgW="304560" imgH="203040" progId="Equation.DSMT4">
                  <p:embed/>
                  <p:pic>
                    <p:nvPicPr>
                      <p:cNvPr id="0" name=""/>
                      <p:cNvPicPr/>
                      <p:nvPr/>
                    </p:nvPicPr>
                    <p:blipFill>
                      <a:blip r:embed="rId13"/>
                      <a:stretch>
                        <a:fillRect/>
                      </a:stretch>
                    </p:blipFill>
                    <p:spPr>
                      <a:xfrm>
                        <a:off x="11036553" y="3787839"/>
                        <a:ext cx="482094" cy="311005"/>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DB00625B-9D26-48AE-A3AE-89105AC50FC1}"/>
              </a:ext>
            </a:extLst>
          </p:cNvPr>
          <p:cNvGraphicFramePr>
            <a:graphicFrameLocks noChangeAspect="1"/>
          </p:cNvGraphicFramePr>
          <p:nvPr>
            <p:extLst>
              <p:ext uri="{D42A27DB-BD31-4B8C-83A1-F6EECF244321}">
                <p14:modId xmlns:p14="http://schemas.microsoft.com/office/powerpoint/2010/main" val="3555032629"/>
              </p:ext>
            </p:extLst>
          </p:nvPr>
        </p:nvGraphicFramePr>
        <p:xfrm>
          <a:off x="4139791" y="4506063"/>
          <a:ext cx="3912417" cy="689119"/>
        </p:xfrm>
        <a:graphic>
          <a:graphicData uri="http://schemas.openxmlformats.org/presentationml/2006/ole">
            <mc:AlternateContent xmlns:mc="http://schemas.openxmlformats.org/markup-compatibility/2006">
              <mc:Choice xmlns:v="urn:schemas-microsoft-com:vml" Requires="v">
                <p:oleObj name="Equation" r:id="rId14" imgW="2234880" imgH="393480" progId="Equation.DSMT4">
                  <p:embed/>
                </p:oleObj>
              </mc:Choice>
              <mc:Fallback>
                <p:oleObj name="Equation" r:id="rId14" imgW="2234880" imgH="393480" progId="Equation.DSMT4">
                  <p:embed/>
                  <p:pic>
                    <p:nvPicPr>
                      <p:cNvPr id="0" name=""/>
                      <p:cNvPicPr/>
                      <p:nvPr/>
                    </p:nvPicPr>
                    <p:blipFill>
                      <a:blip r:embed="rId15"/>
                      <a:stretch>
                        <a:fillRect/>
                      </a:stretch>
                    </p:blipFill>
                    <p:spPr>
                      <a:xfrm>
                        <a:off x="4139791" y="4506063"/>
                        <a:ext cx="3912417" cy="689119"/>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2DF4CFC4-458C-44E1-BAD4-6915023BFC55}"/>
              </a:ext>
            </a:extLst>
          </p:cNvPr>
          <p:cNvGraphicFramePr>
            <a:graphicFrameLocks noChangeAspect="1"/>
          </p:cNvGraphicFramePr>
          <p:nvPr>
            <p:extLst>
              <p:ext uri="{D42A27DB-BD31-4B8C-83A1-F6EECF244321}">
                <p14:modId xmlns:p14="http://schemas.microsoft.com/office/powerpoint/2010/main" val="2133209459"/>
              </p:ext>
            </p:extLst>
          </p:nvPr>
        </p:nvGraphicFramePr>
        <p:xfrm>
          <a:off x="11020964" y="4681097"/>
          <a:ext cx="513269" cy="342179"/>
        </p:xfrm>
        <a:graphic>
          <a:graphicData uri="http://schemas.openxmlformats.org/presentationml/2006/ole">
            <mc:AlternateContent xmlns:mc="http://schemas.openxmlformats.org/markup-compatibility/2006">
              <mc:Choice xmlns:v="urn:schemas-microsoft-com:vml" Requires="v">
                <p:oleObj name="Equation" r:id="rId16" imgW="304560" imgH="203040" progId="Equation.DSMT4">
                  <p:embed/>
                </p:oleObj>
              </mc:Choice>
              <mc:Fallback>
                <p:oleObj name="Equation" r:id="rId16" imgW="304560" imgH="203040" progId="Equation.DSMT4">
                  <p:embed/>
                  <p:pic>
                    <p:nvPicPr>
                      <p:cNvPr id="0" name=""/>
                      <p:cNvPicPr/>
                      <p:nvPr/>
                    </p:nvPicPr>
                    <p:blipFill>
                      <a:blip r:embed="rId17"/>
                      <a:stretch>
                        <a:fillRect/>
                      </a:stretch>
                    </p:blipFill>
                    <p:spPr>
                      <a:xfrm>
                        <a:off x="11020964" y="4681097"/>
                        <a:ext cx="513269" cy="342179"/>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27959F57-0969-4694-AD7A-AE2BCCE13750}"/>
              </a:ext>
            </a:extLst>
          </p:cNvPr>
          <p:cNvGraphicFramePr>
            <a:graphicFrameLocks noChangeAspect="1"/>
          </p:cNvGraphicFramePr>
          <p:nvPr>
            <p:extLst>
              <p:ext uri="{D42A27DB-BD31-4B8C-83A1-F6EECF244321}">
                <p14:modId xmlns:p14="http://schemas.microsoft.com/office/powerpoint/2010/main" val="1973891986"/>
              </p:ext>
            </p:extLst>
          </p:nvPr>
        </p:nvGraphicFramePr>
        <p:xfrm>
          <a:off x="5269716" y="5648850"/>
          <a:ext cx="1524413" cy="689118"/>
        </p:xfrm>
        <a:graphic>
          <a:graphicData uri="http://schemas.openxmlformats.org/presentationml/2006/ole">
            <mc:AlternateContent xmlns:mc="http://schemas.openxmlformats.org/markup-compatibility/2006">
              <mc:Choice xmlns:v="urn:schemas-microsoft-com:vml" Requires="v">
                <p:oleObj name="Equation" r:id="rId18" imgW="927000" imgH="419040" progId="Equation.DSMT4">
                  <p:embed/>
                </p:oleObj>
              </mc:Choice>
              <mc:Fallback>
                <p:oleObj name="Equation" r:id="rId18" imgW="927000" imgH="419040" progId="Equation.DSMT4">
                  <p:embed/>
                  <p:pic>
                    <p:nvPicPr>
                      <p:cNvPr id="0" name=""/>
                      <p:cNvPicPr/>
                      <p:nvPr/>
                    </p:nvPicPr>
                    <p:blipFill>
                      <a:blip r:embed="rId19"/>
                      <a:stretch>
                        <a:fillRect/>
                      </a:stretch>
                    </p:blipFill>
                    <p:spPr>
                      <a:xfrm>
                        <a:off x="5269716" y="5648850"/>
                        <a:ext cx="1524413" cy="689118"/>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5D300F19-1C63-4FC2-A64F-65488834E9FA}"/>
              </a:ext>
            </a:extLst>
          </p:cNvPr>
          <p:cNvGraphicFramePr>
            <a:graphicFrameLocks noChangeAspect="1"/>
          </p:cNvGraphicFramePr>
          <p:nvPr>
            <p:extLst>
              <p:ext uri="{D42A27DB-BD31-4B8C-83A1-F6EECF244321}">
                <p14:modId xmlns:p14="http://schemas.microsoft.com/office/powerpoint/2010/main" val="2850900072"/>
              </p:ext>
            </p:extLst>
          </p:nvPr>
        </p:nvGraphicFramePr>
        <p:xfrm>
          <a:off x="11033630" y="5840024"/>
          <a:ext cx="466508" cy="311005"/>
        </p:xfrm>
        <a:graphic>
          <a:graphicData uri="http://schemas.openxmlformats.org/presentationml/2006/ole">
            <mc:AlternateContent xmlns:mc="http://schemas.openxmlformats.org/markup-compatibility/2006">
              <mc:Choice xmlns:v="urn:schemas-microsoft-com:vml" Requires="v">
                <p:oleObj name="Equation" r:id="rId20" imgW="304560" imgH="203040" progId="Equation.DSMT4">
                  <p:embed/>
                </p:oleObj>
              </mc:Choice>
              <mc:Fallback>
                <p:oleObj name="Equation" r:id="rId20" imgW="304560" imgH="203040" progId="Equation.DSMT4">
                  <p:embed/>
                  <p:pic>
                    <p:nvPicPr>
                      <p:cNvPr id="0" name=""/>
                      <p:cNvPicPr/>
                      <p:nvPr/>
                    </p:nvPicPr>
                    <p:blipFill>
                      <a:blip r:embed="rId21"/>
                      <a:stretch>
                        <a:fillRect/>
                      </a:stretch>
                    </p:blipFill>
                    <p:spPr>
                      <a:xfrm>
                        <a:off x="11033630" y="5840024"/>
                        <a:ext cx="466508" cy="311005"/>
                      </a:xfrm>
                      <a:prstGeom prst="rect">
                        <a:avLst/>
                      </a:prstGeom>
                    </p:spPr>
                  </p:pic>
                </p:oleObj>
              </mc:Fallback>
            </mc:AlternateContent>
          </a:graphicData>
        </a:graphic>
      </p:graphicFrame>
    </p:spTree>
    <p:extLst>
      <p:ext uri="{BB962C8B-B14F-4D97-AF65-F5344CB8AC3E}">
        <p14:creationId xmlns:p14="http://schemas.microsoft.com/office/powerpoint/2010/main" val="38931926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D3A870C-EAC0-4255-9327-7BFBE38BC2A0}"/>
              </a:ext>
            </a:extLst>
          </p:cNvPr>
          <p:cNvSpPr>
            <a:spLocks noGrp="1"/>
          </p:cNvSpPr>
          <p:nvPr>
            <p:ph type="sldNum" sz="quarter" idx="12"/>
          </p:nvPr>
        </p:nvSpPr>
        <p:spPr/>
        <p:txBody>
          <a:bodyPr/>
          <a:lstStyle/>
          <a:p>
            <a:pPr>
              <a:defRPr/>
            </a:pPr>
            <a:fld id="{DB5F2CA6-A39B-48F7-84D1-AF91BD07D67D}" type="slidenum">
              <a:rPr lang="en-US" altLang="zh-CN" smtClean="0"/>
              <a:pPr>
                <a:defRPr/>
              </a:pPr>
              <a:t>15</a:t>
            </a:fld>
            <a:endParaRPr lang="en-US" altLang="zh-CN"/>
          </a:p>
        </p:txBody>
      </p:sp>
      <p:sp>
        <p:nvSpPr>
          <p:cNvPr id="3" name="矩形 2">
            <a:extLst>
              <a:ext uri="{FF2B5EF4-FFF2-40B4-BE49-F238E27FC236}">
                <a16:creationId xmlns:a16="http://schemas.microsoft.com/office/drawing/2014/main" id="{F1E1F5EE-14F7-436C-95EA-1AB95237301E}"/>
              </a:ext>
            </a:extLst>
          </p:cNvPr>
          <p:cNvSpPr/>
          <p:nvPr/>
        </p:nvSpPr>
        <p:spPr>
          <a:xfrm>
            <a:off x="252372" y="528476"/>
            <a:ext cx="2459328"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电流</a:t>
            </a:r>
            <a:r>
              <a:rPr lang="en-US" altLang="zh-CN" sz="2800" b="0" cap="none" spc="0" dirty="0">
                <a:ln w="0"/>
                <a:solidFill>
                  <a:schemeClr val="tx1"/>
                </a:solidFill>
                <a:effectLst>
                  <a:outerShdw blurRad="38100" dist="19050" dir="2700000" algn="tl" rotWithShape="0">
                    <a:schemeClr val="dk1">
                      <a:alpha val="40000"/>
                    </a:schemeClr>
                  </a:outerShdw>
                </a:effectLst>
              </a:rPr>
              <a:t>-</a:t>
            </a:r>
            <a:r>
              <a:rPr lang="zh-CN" altLang="en-US" sz="2800" b="0" cap="none" spc="0" dirty="0">
                <a:ln w="0"/>
                <a:solidFill>
                  <a:schemeClr val="tx1"/>
                </a:solidFill>
                <a:effectLst>
                  <a:outerShdw blurRad="38100" dist="19050" dir="2700000" algn="tl" rotWithShape="0">
                    <a:schemeClr val="dk1">
                      <a:alpha val="40000"/>
                    </a:schemeClr>
                  </a:outerShdw>
                </a:effectLst>
              </a:rPr>
              <a:t>电压关系</a:t>
            </a:r>
          </a:p>
        </p:txBody>
      </p:sp>
      <p:sp>
        <p:nvSpPr>
          <p:cNvPr id="2" name="文本框 1">
            <a:extLst>
              <a:ext uri="{FF2B5EF4-FFF2-40B4-BE49-F238E27FC236}">
                <a16:creationId xmlns:a16="http://schemas.microsoft.com/office/drawing/2014/main" id="{A9C574C3-A1A5-4E5E-AAED-B2B485B8AB73}"/>
              </a:ext>
            </a:extLst>
          </p:cNvPr>
          <p:cNvSpPr txBox="1"/>
          <p:nvPr/>
        </p:nvSpPr>
        <p:spPr>
          <a:xfrm>
            <a:off x="290945" y="1122218"/>
            <a:ext cx="11419610" cy="5355312"/>
          </a:xfrm>
          <a:prstGeom prst="rect">
            <a:avLst/>
          </a:prstGeom>
          <a:noFill/>
        </p:spPr>
        <p:txBody>
          <a:bodyPr wrap="square" rtlCol="0">
            <a:spAutoFit/>
          </a:bodyPr>
          <a:lstStyle/>
          <a:p>
            <a:r>
              <a:rPr lang="zh-CN" altLang="en-US" dirty="0"/>
              <a:t>参数</a:t>
            </a:r>
            <a:r>
              <a:rPr lang="en-US" altLang="zh-CN" dirty="0"/>
              <a:t>A</a:t>
            </a:r>
            <a:r>
              <a:rPr lang="en-US" altLang="zh-CN" baseline="30000" dirty="0"/>
              <a:t>*</a:t>
            </a:r>
            <a:r>
              <a:rPr lang="zh-CN" altLang="en-US" dirty="0"/>
              <a:t>是热电子发射的有效理查森常数。</a:t>
            </a:r>
            <a:endParaRPr lang="en-US" altLang="zh-CN" dirty="0"/>
          </a:p>
          <a:p>
            <a:r>
              <a:rPr lang="en-US" altLang="zh-CN" dirty="0"/>
              <a:t>        </a:t>
            </a:r>
            <a:r>
              <a:rPr lang="zh-CN" altLang="en-US" dirty="0"/>
              <a:t>式</a:t>
            </a:r>
            <a:r>
              <a:rPr lang="en-US" altLang="zh-CN" dirty="0"/>
              <a:t>(23)</a:t>
            </a:r>
            <a:r>
              <a:rPr lang="zh-CN" altLang="en-US" dirty="0"/>
              <a:t>写成普通二极管形式为</a:t>
            </a:r>
            <a:endParaRPr lang="en-US" altLang="zh-CN" dirty="0"/>
          </a:p>
          <a:p>
            <a:endParaRPr lang="en-US" altLang="zh-CN" dirty="0"/>
          </a:p>
          <a:p>
            <a:endParaRPr lang="en-US" altLang="zh-CN" dirty="0"/>
          </a:p>
          <a:p>
            <a:endParaRPr lang="en-US" altLang="zh-CN" dirty="0"/>
          </a:p>
          <a:p>
            <a:r>
              <a:rPr lang="zh-CN" altLang="en-US" dirty="0"/>
              <a:t>其中</a:t>
            </a:r>
            <a:r>
              <a:rPr lang="en-US" altLang="zh-CN" dirty="0" err="1"/>
              <a:t>J</a:t>
            </a:r>
            <a:r>
              <a:rPr lang="en-US" altLang="zh-CN" baseline="-25000" dirty="0" err="1"/>
              <a:t>sT</a:t>
            </a:r>
            <a:r>
              <a:rPr lang="zh-CN" altLang="en-US" dirty="0"/>
              <a:t>是反向饱和电流密度，其表达式为</a:t>
            </a:r>
            <a:endParaRPr lang="en-US" altLang="zh-CN" dirty="0"/>
          </a:p>
          <a:p>
            <a:endParaRPr lang="en-US" altLang="zh-CN" dirty="0"/>
          </a:p>
          <a:p>
            <a:endParaRPr lang="en-US" altLang="zh-CN" dirty="0"/>
          </a:p>
          <a:p>
            <a:endParaRPr lang="en-US" altLang="zh-CN" dirty="0"/>
          </a:p>
          <a:p>
            <a:r>
              <a:rPr lang="zh-CN" altLang="en-US" dirty="0"/>
              <a:t>我们知道，肖特基势垒高度</a:t>
            </a:r>
            <a:r>
              <a:rPr lang="el-GR" altLang="zh-CN" dirty="0">
                <a:ea typeface="宋体" panose="02010600030101010101" pitchFamily="2" charset="-122"/>
              </a:rPr>
              <a:t>φ</a:t>
            </a:r>
            <a:r>
              <a:rPr lang="en-US" altLang="zh-CN" baseline="-25000" dirty="0">
                <a:ea typeface="宋体" panose="02010600030101010101" pitchFamily="2" charset="-122"/>
              </a:rPr>
              <a:t>Bn</a:t>
            </a:r>
            <a:r>
              <a:rPr lang="zh-CN" altLang="en-US" dirty="0">
                <a:ea typeface="宋体" panose="02010600030101010101" pitchFamily="2" charset="-122"/>
              </a:rPr>
              <a:t>的变化是由镜像力降低引起的。由</a:t>
            </a:r>
            <a:r>
              <a:rPr lang="el-GR" altLang="zh-CN" dirty="0">
                <a:ea typeface="宋体" panose="02010600030101010101" pitchFamily="2" charset="-122"/>
              </a:rPr>
              <a:t>φ</a:t>
            </a:r>
            <a:r>
              <a:rPr lang="en-US" altLang="zh-CN" baseline="-25000" dirty="0">
                <a:ea typeface="宋体" panose="02010600030101010101" pitchFamily="2" charset="-122"/>
              </a:rPr>
              <a:t>Bn </a:t>
            </a:r>
            <a:r>
              <a:rPr lang="en-US" altLang="zh-CN" dirty="0">
                <a:ea typeface="宋体" panose="02010600030101010101" pitchFamily="2" charset="-122"/>
              </a:rPr>
              <a:t>=</a:t>
            </a:r>
            <a:r>
              <a:rPr lang="el-GR" altLang="zh-CN" dirty="0">
                <a:ea typeface="宋体" panose="02010600030101010101" pitchFamily="2" charset="-122"/>
              </a:rPr>
              <a:t>φ</a:t>
            </a:r>
            <a:r>
              <a:rPr lang="en-US" altLang="zh-CN" baseline="-25000" dirty="0">
                <a:ea typeface="宋体" panose="02010600030101010101" pitchFamily="2" charset="-122"/>
              </a:rPr>
              <a:t>B0</a:t>
            </a:r>
            <a:r>
              <a:rPr lang="en-US" altLang="zh-CN" dirty="0">
                <a:ea typeface="宋体" panose="02010600030101010101" pitchFamily="2" charset="-122"/>
              </a:rPr>
              <a:t>-Δ</a:t>
            </a:r>
            <a:r>
              <a:rPr lang="el-GR" altLang="zh-CN" dirty="0">
                <a:ea typeface="宋体" panose="02010600030101010101" pitchFamily="2" charset="-122"/>
              </a:rPr>
              <a:t>φ</a:t>
            </a:r>
            <a:r>
              <a:rPr lang="zh-CN" altLang="en-US" dirty="0">
                <a:ea typeface="宋体" panose="02010600030101010101" pitchFamily="2" charset="-122"/>
              </a:rPr>
              <a:t>，式</a:t>
            </a:r>
            <a:r>
              <a:rPr lang="en-US" altLang="zh-CN" dirty="0">
                <a:ea typeface="宋体" panose="02010600030101010101" pitchFamily="2" charset="-122"/>
              </a:rPr>
              <a:t>(26)</a:t>
            </a:r>
            <a:r>
              <a:rPr lang="zh-CN" altLang="en-US" dirty="0">
                <a:ea typeface="宋体" panose="02010600030101010101" pitchFamily="2" charset="-122"/>
              </a:rPr>
              <a:t>可写为</a:t>
            </a:r>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endParaRPr lang="en-US" altLang="zh-CN" dirty="0">
              <a:ea typeface="宋体" panose="02010600030101010101" pitchFamily="2" charset="-122"/>
            </a:endParaRPr>
          </a:p>
          <a:p>
            <a:pPr algn="just"/>
            <a:r>
              <a:rPr lang="zh-CN" altLang="en-US" dirty="0"/>
              <a:t>势垒高度的变化 </a:t>
            </a:r>
            <a:r>
              <a:rPr lang="en-US" altLang="zh-CN" dirty="0" err="1"/>
              <a:t>Δφ</a:t>
            </a:r>
            <a:r>
              <a:rPr lang="zh-CN" altLang="en-US" dirty="0"/>
              <a:t>随着电场强度以及反偏电压的增大而增大，图</a:t>
            </a:r>
            <a:r>
              <a:rPr lang="en-US" altLang="zh-CN" dirty="0"/>
              <a:t>7</a:t>
            </a:r>
            <a:r>
              <a:rPr lang="zh-CN" altLang="en-US" dirty="0"/>
              <a:t>所示为肖特基势垒二极管加反偏电压时的典型电流</a:t>
            </a:r>
            <a:r>
              <a:rPr lang="en-US" altLang="zh-CN" dirty="0"/>
              <a:t>-</a:t>
            </a:r>
            <a:r>
              <a:rPr lang="zh-CN" altLang="en-US" dirty="0"/>
              <a:t>电压特性曲线，反向电流随着反偏电压的增加而增大是由于势垒降低的影响。这幅图也描述了肖特基势垒二极管击穿时的现象。</a:t>
            </a:r>
            <a:endParaRPr lang="en-US" altLang="zh-CN" dirty="0"/>
          </a:p>
          <a:p>
            <a:pPr algn="just"/>
            <a:r>
              <a:rPr lang="en-US" altLang="zh-CN" dirty="0"/>
              <a:t>        </a:t>
            </a:r>
            <a:r>
              <a:rPr lang="zh-CN" altLang="en-US" dirty="0"/>
              <a:t>由于</a:t>
            </a:r>
            <a:r>
              <a:rPr lang="el-GR" altLang="zh-CN" dirty="0">
                <a:ea typeface="宋体" panose="02010600030101010101" pitchFamily="2" charset="-122"/>
              </a:rPr>
              <a:t>φ</a:t>
            </a:r>
            <a:r>
              <a:rPr lang="en-US" altLang="zh-CN" baseline="-25000" dirty="0">
                <a:ea typeface="宋体" panose="02010600030101010101" pitchFamily="2" charset="-122"/>
              </a:rPr>
              <a:t>Bn </a:t>
            </a:r>
            <a:r>
              <a:rPr lang="zh-CN" altLang="en-US" dirty="0">
                <a:ea typeface="宋体" panose="02010600030101010101" pitchFamily="2" charset="-122"/>
              </a:rPr>
              <a:t>呈指数规律变化，实验测得值</a:t>
            </a:r>
            <a:r>
              <a:rPr lang="en-US" altLang="zh-CN" dirty="0">
                <a:ea typeface="宋体" panose="02010600030101010101" pitchFamily="2" charset="-122"/>
              </a:rPr>
              <a:t>A</a:t>
            </a:r>
            <a:r>
              <a:rPr lang="en-US" altLang="zh-CN" baseline="30000" dirty="0">
                <a:ea typeface="宋体" panose="02010600030101010101" pitchFamily="2" charset="-122"/>
              </a:rPr>
              <a:t>*</a:t>
            </a:r>
            <a:r>
              <a:rPr lang="zh-CN" altLang="en-US" dirty="0">
                <a:ea typeface="宋体" panose="02010600030101010101" pitchFamily="2" charset="-122"/>
              </a:rPr>
              <a:t>是强烈依赖于</a:t>
            </a:r>
            <a:r>
              <a:rPr lang="el-GR" altLang="zh-CN" dirty="0">
                <a:ea typeface="宋体" panose="02010600030101010101" pitchFamily="2" charset="-122"/>
              </a:rPr>
              <a:t>φ</a:t>
            </a:r>
            <a:r>
              <a:rPr lang="en-US" altLang="zh-CN" baseline="-25000" dirty="0">
                <a:ea typeface="宋体" panose="02010600030101010101" pitchFamily="2" charset="-122"/>
              </a:rPr>
              <a:t>Bn </a:t>
            </a:r>
            <a:r>
              <a:rPr lang="zh-CN" altLang="en-US" dirty="0">
                <a:ea typeface="宋体" panose="02010600030101010101" pitchFamily="2" charset="-122"/>
              </a:rPr>
              <a:t>的函数，</a:t>
            </a:r>
            <a:r>
              <a:rPr lang="el-GR" altLang="zh-CN" dirty="0">
                <a:ea typeface="宋体" panose="02010600030101010101" pitchFamily="2" charset="-122"/>
              </a:rPr>
              <a:t> φ</a:t>
            </a:r>
            <a:r>
              <a:rPr lang="en-US" altLang="zh-CN" baseline="-25000" dirty="0">
                <a:ea typeface="宋体" panose="02010600030101010101" pitchFamily="2" charset="-122"/>
              </a:rPr>
              <a:t>Bn</a:t>
            </a:r>
            <a:r>
              <a:rPr lang="zh-CN" altLang="en-US" dirty="0">
                <a:ea typeface="宋体" panose="02010600030101010101" pitchFamily="2" charset="-122"/>
              </a:rPr>
              <a:t>的微小变化都会使理查森常数发生明显的变化。有效理查森常数的定义参见式</a:t>
            </a:r>
            <a:r>
              <a:rPr lang="en-US" altLang="zh-CN" dirty="0">
                <a:ea typeface="宋体" panose="02010600030101010101" pitchFamily="2" charset="-122"/>
              </a:rPr>
              <a:t>(24)</a:t>
            </a:r>
            <a:r>
              <a:rPr lang="zh-CN" altLang="en-US" dirty="0">
                <a:ea typeface="宋体" panose="02010600030101010101" pitchFamily="2" charset="-122"/>
              </a:rPr>
              <a:t>，它包含有效电子质量，硅和砷化镓的有效电子质量是明显不同的。事实上，在理查森表达式中，有效电子质量是热电子发射理论中应用有效状态密度函数的直接结果。</a:t>
            </a:r>
            <a:endParaRPr lang="zh-CN" altLang="en-US" dirty="0"/>
          </a:p>
        </p:txBody>
      </p:sp>
      <p:graphicFrame>
        <p:nvGraphicFramePr>
          <p:cNvPr id="5" name="对象 4">
            <a:extLst>
              <a:ext uri="{FF2B5EF4-FFF2-40B4-BE49-F238E27FC236}">
                <a16:creationId xmlns:a16="http://schemas.microsoft.com/office/drawing/2014/main" id="{357710BF-3549-48B3-BA8B-E8AC0FFDA598}"/>
              </a:ext>
            </a:extLst>
          </p:cNvPr>
          <p:cNvGraphicFramePr>
            <a:graphicFrameLocks noChangeAspect="1"/>
          </p:cNvGraphicFramePr>
          <p:nvPr>
            <p:extLst>
              <p:ext uri="{D42A27DB-BD31-4B8C-83A1-F6EECF244321}">
                <p14:modId xmlns:p14="http://schemas.microsoft.com/office/powerpoint/2010/main" val="2559120618"/>
              </p:ext>
            </p:extLst>
          </p:nvPr>
        </p:nvGraphicFramePr>
        <p:xfrm>
          <a:off x="4844560" y="1768549"/>
          <a:ext cx="2502880" cy="746051"/>
        </p:xfrm>
        <a:graphic>
          <a:graphicData uri="http://schemas.openxmlformats.org/presentationml/2006/ole">
            <mc:AlternateContent xmlns:mc="http://schemas.openxmlformats.org/markup-compatibility/2006">
              <mc:Choice xmlns:v="urn:schemas-microsoft-com:vml" Requires="v">
                <p:oleObj name="Equation" r:id="rId2" imgW="1320480" imgH="393480" progId="Equation.DSMT4">
                  <p:embed/>
                </p:oleObj>
              </mc:Choice>
              <mc:Fallback>
                <p:oleObj name="Equation" r:id="rId2" imgW="1320480" imgH="393480" progId="Equation.DSMT4">
                  <p:embed/>
                  <p:pic>
                    <p:nvPicPr>
                      <p:cNvPr id="0" name=""/>
                      <p:cNvPicPr/>
                      <p:nvPr/>
                    </p:nvPicPr>
                    <p:blipFill>
                      <a:blip r:embed="rId3"/>
                      <a:stretch>
                        <a:fillRect/>
                      </a:stretch>
                    </p:blipFill>
                    <p:spPr>
                      <a:xfrm>
                        <a:off x="4844560" y="1768549"/>
                        <a:ext cx="2502880" cy="746051"/>
                      </a:xfrm>
                      <a:prstGeom prst="rect">
                        <a:avLst/>
                      </a:prstGeom>
                    </p:spPr>
                  </p:pic>
                </p:oleObj>
              </mc:Fallback>
            </mc:AlternateContent>
          </a:graphicData>
        </a:graphic>
      </p:graphicFrame>
      <p:graphicFrame>
        <p:nvGraphicFramePr>
          <p:cNvPr id="6" name="对象 5">
            <a:extLst>
              <a:ext uri="{FF2B5EF4-FFF2-40B4-BE49-F238E27FC236}">
                <a16:creationId xmlns:a16="http://schemas.microsoft.com/office/drawing/2014/main" id="{969D7759-A2DA-4546-946A-0B499296CDD2}"/>
              </a:ext>
            </a:extLst>
          </p:cNvPr>
          <p:cNvGraphicFramePr>
            <a:graphicFrameLocks noChangeAspect="1"/>
          </p:cNvGraphicFramePr>
          <p:nvPr>
            <p:extLst>
              <p:ext uri="{D42A27DB-BD31-4B8C-83A1-F6EECF244321}">
                <p14:modId xmlns:p14="http://schemas.microsoft.com/office/powerpoint/2010/main" val="713291524"/>
              </p:ext>
            </p:extLst>
          </p:nvPr>
        </p:nvGraphicFramePr>
        <p:xfrm>
          <a:off x="11044346" y="1986072"/>
          <a:ext cx="466508" cy="311005"/>
        </p:xfrm>
        <a:graphic>
          <a:graphicData uri="http://schemas.openxmlformats.org/presentationml/2006/ole">
            <mc:AlternateContent xmlns:mc="http://schemas.openxmlformats.org/markup-compatibility/2006">
              <mc:Choice xmlns:v="urn:schemas-microsoft-com:vml" Requires="v">
                <p:oleObj name="Equation" r:id="rId4" imgW="304560" imgH="203040" progId="Equation.DSMT4">
                  <p:embed/>
                </p:oleObj>
              </mc:Choice>
              <mc:Fallback>
                <p:oleObj name="Equation" r:id="rId4" imgW="304560" imgH="203040" progId="Equation.DSMT4">
                  <p:embed/>
                  <p:pic>
                    <p:nvPicPr>
                      <p:cNvPr id="0" name=""/>
                      <p:cNvPicPr/>
                      <p:nvPr/>
                    </p:nvPicPr>
                    <p:blipFill>
                      <a:blip r:embed="rId5"/>
                      <a:stretch>
                        <a:fillRect/>
                      </a:stretch>
                    </p:blipFill>
                    <p:spPr>
                      <a:xfrm>
                        <a:off x="11044346" y="1986072"/>
                        <a:ext cx="466508" cy="311005"/>
                      </a:xfrm>
                      <a:prstGeom prst="rect">
                        <a:avLst/>
                      </a:prstGeom>
                    </p:spPr>
                  </p:pic>
                </p:oleObj>
              </mc:Fallback>
            </mc:AlternateContent>
          </a:graphicData>
        </a:graphic>
      </p:graphicFrame>
      <p:graphicFrame>
        <p:nvGraphicFramePr>
          <p:cNvPr id="7" name="对象 6">
            <a:extLst>
              <a:ext uri="{FF2B5EF4-FFF2-40B4-BE49-F238E27FC236}">
                <a16:creationId xmlns:a16="http://schemas.microsoft.com/office/drawing/2014/main" id="{5917D081-4826-41A9-B540-4B777284B951}"/>
              </a:ext>
            </a:extLst>
          </p:cNvPr>
          <p:cNvGraphicFramePr>
            <a:graphicFrameLocks noChangeAspect="1"/>
          </p:cNvGraphicFramePr>
          <p:nvPr>
            <p:extLst>
              <p:ext uri="{D42A27DB-BD31-4B8C-83A1-F6EECF244321}">
                <p14:modId xmlns:p14="http://schemas.microsoft.com/office/powerpoint/2010/main" val="2131765586"/>
              </p:ext>
            </p:extLst>
          </p:nvPr>
        </p:nvGraphicFramePr>
        <p:xfrm>
          <a:off x="4760328" y="2776824"/>
          <a:ext cx="2671344" cy="746051"/>
        </p:xfrm>
        <a:graphic>
          <a:graphicData uri="http://schemas.openxmlformats.org/presentationml/2006/ole">
            <mc:AlternateContent xmlns:mc="http://schemas.openxmlformats.org/markup-compatibility/2006">
              <mc:Choice xmlns:v="urn:schemas-microsoft-com:vml" Requires="v">
                <p:oleObj name="Equation" r:id="rId6" imgW="1409400" imgH="393480" progId="Equation.DSMT4">
                  <p:embed/>
                </p:oleObj>
              </mc:Choice>
              <mc:Fallback>
                <p:oleObj name="Equation" r:id="rId6" imgW="1409400" imgH="393480" progId="Equation.DSMT4">
                  <p:embed/>
                  <p:pic>
                    <p:nvPicPr>
                      <p:cNvPr id="0" name=""/>
                      <p:cNvPicPr/>
                      <p:nvPr/>
                    </p:nvPicPr>
                    <p:blipFill>
                      <a:blip r:embed="rId7"/>
                      <a:stretch>
                        <a:fillRect/>
                      </a:stretch>
                    </p:blipFill>
                    <p:spPr>
                      <a:xfrm>
                        <a:off x="4760328" y="2776824"/>
                        <a:ext cx="2671344" cy="746051"/>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4E5F1E83-FD36-4662-AD1D-4BFEB319A908}"/>
              </a:ext>
            </a:extLst>
          </p:cNvPr>
          <p:cNvGraphicFramePr>
            <a:graphicFrameLocks noChangeAspect="1"/>
          </p:cNvGraphicFramePr>
          <p:nvPr>
            <p:extLst>
              <p:ext uri="{D42A27DB-BD31-4B8C-83A1-F6EECF244321}">
                <p14:modId xmlns:p14="http://schemas.microsoft.com/office/powerpoint/2010/main" val="1928524920"/>
              </p:ext>
            </p:extLst>
          </p:nvPr>
        </p:nvGraphicFramePr>
        <p:xfrm>
          <a:off x="11044346" y="3003528"/>
          <a:ext cx="472209" cy="314806"/>
        </p:xfrm>
        <a:graphic>
          <a:graphicData uri="http://schemas.openxmlformats.org/presentationml/2006/ole">
            <mc:AlternateContent xmlns:mc="http://schemas.openxmlformats.org/markup-compatibility/2006">
              <mc:Choice xmlns:v="urn:schemas-microsoft-com:vml" Requires="v">
                <p:oleObj name="Equation" r:id="rId8" imgW="304560" imgH="203040" progId="Equation.DSMT4">
                  <p:embed/>
                </p:oleObj>
              </mc:Choice>
              <mc:Fallback>
                <p:oleObj name="Equation" r:id="rId8" imgW="304560" imgH="203040" progId="Equation.DSMT4">
                  <p:embed/>
                  <p:pic>
                    <p:nvPicPr>
                      <p:cNvPr id="0" name=""/>
                      <p:cNvPicPr/>
                      <p:nvPr/>
                    </p:nvPicPr>
                    <p:blipFill>
                      <a:blip r:embed="rId9"/>
                      <a:stretch>
                        <a:fillRect/>
                      </a:stretch>
                    </p:blipFill>
                    <p:spPr>
                      <a:xfrm>
                        <a:off x="11044346" y="3003528"/>
                        <a:ext cx="472209" cy="314806"/>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130EDA8E-AB75-44ED-8E73-709454BE8B76}"/>
              </a:ext>
            </a:extLst>
          </p:cNvPr>
          <p:cNvGraphicFramePr>
            <a:graphicFrameLocks noChangeAspect="1"/>
          </p:cNvGraphicFramePr>
          <p:nvPr>
            <p:extLst>
              <p:ext uri="{D42A27DB-BD31-4B8C-83A1-F6EECF244321}">
                <p14:modId xmlns:p14="http://schemas.microsoft.com/office/powerpoint/2010/main" val="4251388889"/>
              </p:ext>
            </p:extLst>
          </p:nvPr>
        </p:nvGraphicFramePr>
        <p:xfrm>
          <a:off x="4170707" y="3984540"/>
          <a:ext cx="3850586" cy="746051"/>
        </p:xfrm>
        <a:graphic>
          <a:graphicData uri="http://schemas.openxmlformats.org/presentationml/2006/ole">
            <mc:AlternateContent xmlns:mc="http://schemas.openxmlformats.org/markup-compatibility/2006">
              <mc:Choice xmlns:v="urn:schemas-microsoft-com:vml" Requires="v">
                <p:oleObj name="Equation" r:id="rId10" imgW="2031840" imgH="393480" progId="Equation.DSMT4">
                  <p:embed/>
                </p:oleObj>
              </mc:Choice>
              <mc:Fallback>
                <p:oleObj name="Equation" r:id="rId10" imgW="2031840" imgH="393480" progId="Equation.DSMT4">
                  <p:embed/>
                  <p:pic>
                    <p:nvPicPr>
                      <p:cNvPr id="0" name=""/>
                      <p:cNvPicPr/>
                      <p:nvPr/>
                    </p:nvPicPr>
                    <p:blipFill>
                      <a:blip r:embed="rId11"/>
                      <a:stretch>
                        <a:fillRect/>
                      </a:stretch>
                    </p:blipFill>
                    <p:spPr>
                      <a:xfrm>
                        <a:off x="4170707" y="3984540"/>
                        <a:ext cx="3850586" cy="746051"/>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8A6A0967-9543-4525-99CE-547CD6B5CBB3}"/>
              </a:ext>
            </a:extLst>
          </p:cNvPr>
          <p:cNvGraphicFramePr>
            <a:graphicFrameLocks noChangeAspect="1"/>
          </p:cNvGraphicFramePr>
          <p:nvPr>
            <p:extLst>
              <p:ext uri="{D42A27DB-BD31-4B8C-83A1-F6EECF244321}">
                <p14:modId xmlns:p14="http://schemas.microsoft.com/office/powerpoint/2010/main" val="1886249605"/>
              </p:ext>
            </p:extLst>
          </p:nvPr>
        </p:nvGraphicFramePr>
        <p:xfrm>
          <a:off x="11025411" y="4237527"/>
          <a:ext cx="504378" cy="336252"/>
        </p:xfrm>
        <a:graphic>
          <a:graphicData uri="http://schemas.openxmlformats.org/presentationml/2006/ole">
            <mc:AlternateContent xmlns:mc="http://schemas.openxmlformats.org/markup-compatibility/2006">
              <mc:Choice xmlns:v="urn:schemas-microsoft-com:vml" Requires="v">
                <p:oleObj name="Equation" r:id="rId12" imgW="304560" imgH="203040" progId="Equation.DSMT4">
                  <p:embed/>
                </p:oleObj>
              </mc:Choice>
              <mc:Fallback>
                <p:oleObj name="Equation" r:id="rId12" imgW="304560" imgH="203040" progId="Equation.DSMT4">
                  <p:embed/>
                  <p:pic>
                    <p:nvPicPr>
                      <p:cNvPr id="0" name=""/>
                      <p:cNvPicPr/>
                      <p:nvPr/>
                    </p:nvPicPr>
                    <p:blipFill>
                      <a:blip r:embed="rId13"/>
                      <a:stretch>
                        <a:fillRect/>
                      </a:stretch>
                    </p:blipFill>
                    <p:spPr>
                      <a:xfrm>
                        <a:off x="11025411" y="4237527"/>
                        <a:ext cx="504378" cy="336252"/>
                      </a:xfrm>
                      <a:prstGeom prst="rect">
                        <a:avLst/>
                      </a:prstGeom>
                    </p:spPr>
                  </p:pic>
                </p:oleObj>
              </mc:Fallback>
            </mc:AlternateContent>
          </a:graphicData>
        </a:graphic>
      </p:graphicFrame>
    </p:spTree>
    <p:extLst>
      <p:ext uri="{BB962C8B-B14F-4D97-AF65-F5344CB8AC3E}">
        <p14:creationId xmlns:p14="http://schemas.microsoft.com/office/powerpoint/2010/main" val="3864786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9D3A870C-EAC0-4255-9327-7BFBE38BC2A0}"/>
              </a:ext>
            </a:extLst>
          </p:cNvPr>
          <p:cNvSpPr>
            <a:spLocks noGrp="1"/>
          </p:cNvSpPr>
          <p:nvPr>
            <p:ph type="sldNum" sz="quarter" idx="12"/>
          </p:nvPr>
        </p:nvSpPr>
        <p:spPr/>
        <p:txBody>
          <a:bodyPr/>
          <a:lstStyle/>
          <a:p>
            <a:pPr>
              <a:defRPr/>
            </a:pPr>
            <a:fld id="{DB5F2CA6-A39B-48F7-84D1-AF91BD07D67D}" type="slidenum">
              <a:rPr lang="en-US" altLang="zh-CN" smtClean="0"/>
              <a:pPr>
                <a:defRPr/>
              </a:pPr>
              <a:t>16</a:t>
            </a:fld>
            <a:endParaRPr lang="en-US" altLang="zh-CN"/>
          </a:p>
        </p:txBody>
      </p:sp>
      <p:pic>
        <p:nvPicPr>
          <p:cNvPr id="5" name="图片 4">
            <a:extLst>
              <a:ext uri="{FF2B5EF4-FFF2-40B4-BE49-F238E27FC236}">
                <a16:creationId xmlns:a16="http://schemas.microsoft.com/office/drawing/2014/main" id="{5EAC46AA-EB9A-4BD4-B982-07CEA68611B6}"/>
              </a:ext>
            </a:extLst>
          </p:cNvPr>
          <p:cNvPicPr>
            <a:picLocks noChangeAspect="1"/>
          </p:cNvPicPr>
          <p:nvPr/>
        </p:nvPicPr>
        <p:blipFill>
          <a:blip r:embed="rId2"/>
          <a:stretch>
            <a:fillRect/>
          </a:stretch>
        </p:blipFill>
        <p:spPr>
          <a:xfrm>
            <a:off x="1056088" y="1032464"/>
            <a:ext cx="2265860" cy="2460077"/>
          </a:xfrm>
          <a:prstGeom prst="rect">
            <a:avLst/>
          </a:prstGeom>
        </p:spPr>
      </p:pic>
      <p:sp>
        <p:nvSpPr>
          <p:cNvPr id="6" name="矩形 5">
            <a:extLst>
              <a:ext uri="{FF2B5EF4-FFF2-40B4-BE49-F238E27FC236}">
                <a16:creationId xmlns:a16="http://schemas.microsoft.com/office/drawing/2014/main" id="{33BD6754-FFD4-48FB-89EB-534F134DECAE}"/>
              </a:ext>
            </a:extLst>
          </p:cNvPr>
          <p:cNvSpPr/>
          <p:nvPr/>
        </p:nvSpPr>
        <p:spPr>
          <a:xfrm>
            <a:off x="0" y="3487949"/>
            <a:ext cx="4551246" cy="307777"/>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dirty="0">
                <a:ln w="0"/>
                <a:effectLst>
                  <a:outerShdw blurRad="38100" dist="19050" dir="2700000" algn="tl" rotWithShape="0">
                    <a:schemeClr val="dk1">
                      <a:alpha val="40000"/>
                    </a:schemeClr>
                  </a:outerShdw>
                </a:effectLst>
              </a:rPr>
              <a:t>7</a:t>
            </a:r>
            <a:r>
              <a:rPr lang="zh-CN" altLang="en-US" sz="1400" b="0" cap="none" spc="0" dirty="0">
                <a:ln w="0"/>
                <a:solidFill>
                  <a:schemeClr val="tx1"/>
                </a:solidFill>
                <a:effectLst>
                  <a:outerShdw blurRad="38100" dist="19050" dir="2700000" algn="tl" rotWithShape="0">
                    <a:schemeClr val="dk1">
                      <a:alpha val="40000"/>
                    </a:schemeClr>
                  </a:outerShdw>
                </a:effectLst>
              </a:rPr>
              <a:t>：</a:t>
            </a:r>
            <a:r>
              <a:rPr lang="en-US" altLang="zh-CN" sz="1400" b="0" cap="none" spc="0" dirty="0" err="1">
                <a:ln w="0"/>
                <a:solidFill>
                  <a:schemeClr val="tx1"/>
                </a:solidFill>
                <a:effectLst>
                  <a:outerShdw blurRad="38100" dist="19050" dir="2700000" algn="tl" rotWithShape="0">
                    <a:schemeClr val="dk1">
                      <a:alpha val="40000"/>
                    </a:schemeClr>
                  </a:outerShdw>
                </a:effectLst>
              </a:rPr>
              <a:t>PtSi</a:t>
            </a:r>
            <a:r>
              <a:rPr lang="en-US" altLang="zh-CN" sz="1400" b="0" cap="none" spc="0" dirty="0">
                <a:ln w="0"/>
                <a:solidFill>
                  <a:schemeClr val="tx1"/>
                </a:solidFill>
                <a:effectLst>
                  <a:outerShdw blurRad="38100" dist="19050" dir="2700000" algn="tl" rotWithShape="0">
                    <a:schemeClr val="dk1">
                      <a:alpha val="40000"/>
                    </a:schemeClr>
                  </a:outerShdw>
                </a:effectLst>
              </a:rPr>
              <a:t>-Si</a:t>
            </a:r>
            <a:r>
              <a:rPr lang="zh-CN" altLang="en-US" sz="1400" b="0" cap="none" spc="0" dirty="0">
                <a:ln w="0"/>
                <a:solidFill>
                  <a:schemeClr val="tx1"/>
                </a:solidFill>
                <a:effectLst>
                  <a:outerShdw blurRad="38100" dist="19050" dir="2700000" algn="tl" rotWithShape="0">
                    <a:schemeClr val="dk1">
                      <a:alpha val="40000"/>
                    </a:schemeClr>
                  </a:outerShdw>
                </a:effectLst>
              </a:rPr>
              <a:t>二极管的反偏电流的理论值和实验值的曲线</a:t>
            </a:r>
          </a:p>
        </p:txBody>
      </p:sp>
      <p:sp>
        <p:nvSpPr>
          <p:cNvPr id="7" name="矩形 6">
            <a:extLst>
              <a:ext uri="{FF2B5EF4-FFF2-40B4-BE49-F238E27FC236}">
                <a16:creationId xmlns:a16="http://schemas.microsoft.com/office/drawing/2014/main" id="{714D3B89-3724-4566-9C85-7C328930FD28}"/>
              </a:ext>
            </a:extLst>
          </p:cNvPr>
          <p:cNvSpPr/>
          <p:nvPr/>
        </p:nvSpPr>
        <p:spPr>
          <a:xfrm>
            <a:off x="218753" y="482309"/>
            <a:ext cx="6288901"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肖特基势垒二极管与</a:t>
            </a:r>
            <a:r>
              <a:rPr lang="en-US" altLang="zh-CN" sz="2800" b="0" cap="none" spc="0" dirty="0" err="1">
                <a:ln w="0"/>
                <a:solidFill>
                  <a:schemeClr val="tx1"/>
                </a:solidFill>
                <a:effectLst>
                  <a:outerShdw blurRad="38100" dist="19050" dir="2700000" algn="tl" rotWithShape="0">
                    <a:schemeClr val="dk1">
                      <a:alpha val="40000"/>
                    </a:schemeClr>
                  </a:outerShdw>
                </a:effectLst>
              </a:rPr>
              <a:t>pn</a:t>
            </a:r>
            <a:r>
              <a:rPr lang="zh-CN" altLang="en-US" sz="2800" b="0" cap="none" spc="0" dirty="0">
                <a:ln w="0"/>
                <a:solidFill>
                  <a:schemeClr val="tx1"/>
                </a:solidFill>
                <a:effectLst>
                  <a:outerShdw blurRad="38100" dist="19050" dir="2700000" algn="tl" rotWithShape="0">
                    <a:schemeClr val="dk1">
                      <a:alpha val="40000"/>
                    </a:schemeClr>
                  </a:outerShdw>
                </a:effectLst>
              </a:rPr>
              <a:t>结二极管的比较</a:t>
            </a:r>
          </a:p>
        </p:txBody>
      </p:sp>
      <p:sp>
        <p:nvSpPr>
          <p:cNvPr id="8" name="文本框 7">
            <a:extLst>
              <a:ext uri="{FF2B5EF4-FFF2-40B4-BE49-F238E27FC236}">
                <a16:creationId xmlns:a16="http://schemas.microsoft.com/office/drawing/2014/main" id="{FB8550BB-C7DA-46B9-902D-3D92D6EBB055}"/>
              </a:ext>
            </a:extLst>
          </p:cNvPr>
          <p:cNvSpPr txBox="1"/>
          <p:nvPr/>
        </p:nvSpPr>
        <p:spPr>
          <a:xfrm>
            <a:off x="4464641" y="1051696"/>
            <a:ext cx="7038738" cy="5355312"/>
          </a:xfrm>
          <a:prstGeom prst="rect">
            <a:avLst/>
          </a:prstGeom>
          <a:noFill/>
        </p:spPr>
        <p:txBody>
          <a:bodyPr wrap="square" rtlCol="0">
            <a:spAutoFit/>
          </a:bodyPr>
          <a:lstStyle/>
          <a:p>
            <a:pPr algn="just"/>
            <a:r>
              <a:rPr lang="zh-CN" altLang="en-US" dirty="0"/>
              <a:t>        尽管式</a:t>
            </a:r>
            <a:r>
              <a:rPr lang="en-US" altLang="zh-CN" dirty="0"/>
              <a:t>(25)</a:t>
            </a:r>
            <a:r>
              <a:rPr lang="zh-CN" altLang="en-US" dirty="0"/>
              <a:t>给出的理想肖特基势垒二极管的电流</a:t>
            </a:r>
            <a:r>
              <a:rPr lang="en-US" altLang="zh-CN" dirty="0"/>
              <a:t>-</a:t>
            </a:r>
            <a:r>
              <a:rPr lang="zh-CN" altLang="en-US" dirty="0"/>
              <a:t>电压关系形式上与</a:t>
            </a:r>
            <a:r>
              <a:rPr lang="en-US" altLang="zh-CN" dirty="0" err="1"/>
              <a:t>pn</a:t>
            </a:r>
            <a:r>
              <a:rPr lang="zh-CN" altLang="en-US" dirty="0"/>
              <a:t>结二极管的相同但是肖特基二极管与</a:t>
            </a:r>
            <a:r>
              <a:rPr lang="en-US" altLang="zh-CN" dirty="0" err="1"/>
              <a:t>pn</a:t>
            </a:r>
            <a:r>
              <a:rPr lang="zh-CN" altLang="en-US" dirty="0"/>
              <a:t>结二极管之间有两点重要的区别</a:t>
            </a:r>
            <a:r>
              <a:rPr lang="en-US" altLang="zh-CN" dirty="0"/>
              <a:t>:</a:t>
            </a:r>
            <a:r>
              <a:rPr lang="zh-CN" altLang="en-US" dirty="0"/>
              <a:t>第一个是反向饱和电流密度的数量级第二个是开关特性。    </a:t>
            </a:r>
            <a:endParaRPr lang="en-US" altLang="zh-CN" dirty="0"/>
          </a:p>
          <a:p>
            <a:pPr algn="just"/>
            <a:r>
              <a:rPr lang="en-US" altLang="zh-CN" dirty="0"/>
              <a:t>        </a:t>
            </a:r>
            <a:r>
              <a:rPr lang="zh-CN" altLang="en-US" dirty="0"/>
              <a:t>肖特基势垒二极管的反向饱和电流密度由式</a:t>
            </a:r>
            <a:r>
              <a:rPr lang="en-US" altLang="zh-CN" dirty="0"/>
              <a:t>(26)</a:t>
            </a:r>
            <a:r>
              <a:rPr lang="zh-CN" altLang="en-US" dirty="0"/>
              <a:t>给出，而理想</a:t>
            </a:r>
            <a:r>
              <a:rPr lang="en-US" altLang="zh-CN" dirty="0" err="1"/>
              <a:t>pn</a:t>
            </a:r>
            <a:r>
              <a:rPr lang="zh-CN" altLang="en-US" dirty="0"/>
              <a:t>结的反向饱和电流密度表示如下：</a:t>
            </a:r>
            <a:endParaRPr lang="en-US" altLang="zh-CN" dirty="0"/>
          </a:p>
          <a:p>
            <a:pPr algn="just"/>
            <a:endParaRPr lang="en-US" altLang="zh-CN" dirty="0"/>
          </a:p>
          <a:p>
            <a:pPr algn="just"/>
            <a:endParaRPr lang="en-US" altLang="zh-CN" dirty="0"/>
          </a:p>
          <a:p>
            <a:pPr algn="just"/>
            <a:endParaRPr lang="en-US" altLang="zh-CN" dirty="0"/>
          </a:p>
          <a:p>
            <a:pPr algn="just"/>
            <a:r>
              <a:rPr lang="zh-CN" altLang="en-US" dirty="0"/>
              <a:t>两个公式的形式有很大区别</a:t>
            </a:r>
            <a:r>
              <a:rPr lang="en-US" altLang="zh-CN" dirty="0"/>
              <a:t>,</a:t>
            </a:r>
            <a:r>
              <a:rPr lang="zh-CN" altLang="en-US" dirty="0"/>
              <a:t>两种器件的电流输运机构是不同的。</a:t>
            </a:r>
            <a:r>
              <a:rPr lang="en-US" altLang="zh-CN" dirty="0" err="1"/>
              <a:t>pn</a:t>
            </a:r>
            <a:r>
              <a:rPr lang="zh-CN" altLang="en-US" dirty="0"/>
              <a:t>结中的电流是由少数载流子的扩散运动决定的，而肖特基势垒二极管中的电流是由</a:t>
            </a:r>
            <a:r>
              <a:rPr lang="zh-CN" altLang="en-US" dirty="0">
                <a:solidFill>
                  <a:srgbClr val="FF0000"/>
                </a:solidFill>
              </a:rPr>
              <a:t>多数载流子通过热电子发射跃过内建电势差而形成的</a:t>
            </a:r>
            <a:r>
              <a:rPr lang="zh-CN" altLang="en-US" dirty="0"/>
              <a:t>。</a:t>
            </a:r>
            <a:endParaRPr lang="en-US" altLang="zh-CN" dirty="0"/>
          </a:p>
          <a:p>
            <a:pPr algn="just"/>
            <a:r>
              <a:rPr lang="zh-CN" altLang="en-US" dirty="0"/>
              <a:t>        我们知道硅</a:t>
            </a:r>
            <a:r>
              <a:rPr lang="en-US" altLang="zh-CN" dirty="0" err="1"/>
              <a:t>pn</a:t>
            </a:r>
            <a:r>
              <a:rPr lang="zh-CN" altLang="en-US" dirty="0"/>
              <a:t>结二极管中的反偏电流由产生电流支配。典型的产生电流密度约为</a:t>
            </a:r>
            <a:r>
              <a:rPr lang="en-US" altLang="zh-CN" dirty="0"/>
              <a:t>10</a:t>
            </a:r>
            <a:r>
              <a:rPr lang="en-US" altLang="zh-CN" baseline="30000" dirty="0"/>
              <a:t>-7</a:t>
            </a:r>
            <a:r>
              <a:rPr lang="en-US" altLang="zh-CN" dirty="0"/>
              <a:t>A/cm</a:t>
            </a:r>
            <a:r>
              <a:rPr lang="en-US" altLang="zh-CN" baseline="30000" dirty="0"/>
              <a:t>2</a:t>
            </a:r>
            <a:r>
              <a:rPr lang="zh-CN" altLang="en-US" dirty="0"/>
              <a:t>，比肖特基势垒二极管的反向饱和电流小</a:t>
            </a:r>
            <a:r>
              <a:rPr lang="en-US" altLang="zh-CN" dirty="0"/>
              <a:t>2~3</a:t>
            </a:r>
            <a:r>
              <a:rPr lang="zh-CN" altLang="en-US" dirty="0"/>
              <a:t>个数量级。产生电流同样存在于反偏肖特基势垒二极管中；总之，产生电流相对于</a:t>
            </a:r>
            <a:r>
              <a:rPr lang="en-US" altLang="zh-CN" dirty="0" err="1"/>
              <a:t>J</a:t>
            </a:r>
            <a:r>
              <a:rPr lang="en-US" altLang="zh-CN" baseline="-25000" dirty="0" err="1"/>
              <a:t>sT</a:t>
            </a:r>
            <a:r>
              <a:rPr lang="zh-CN" altLang="en-US" dirty="0"/>
              <a:t>值来说可以忽略不计。</a:t>
            </a:r>
            <a:endParaRPr lang="en-US" altLang="zh-CN" dirty="0"/>
          </a:p>
          <a:p>
            <a:pPr algn="just"/>
            <a:r>
              <a:rPr lang="en-US" altLang="zh-CN" dirty="0"/>
              <a:t>        </a:t>
            </a:r>
            <a:r>
              <a:rPr lang="zh-CN" altLang="en-US" dirty="0"/>
              <a:t>由于</a:t>
            </a:r>
            <a:r>
              <a:rPr lang="en-US" altLang="zh-CN" dirty="0" err="1"/>
              <a:t>J</a:t>
            </a:r>
            <a:r>
              <a:rPr lang="en-US" altLang="zh-CN" baseline="-25000" dirty="0" err="1"/>
              <a:t>sT</a:t>
            </a:r>
            <a:r>
              <a:rPr lang="en-US" altLang="zh-CN" dirty="0"/>
              <a:t>&gt;&gt;J</a:t>
            </a:r>
            <a:r>
              <a:rPr lang="en-US" altLang="zh-CN" baseline="-25000" dirty="0"/>
              <a:t>s</a:t>
            </a:r>
            <a:r>
              <a:rPr lang="zh-CN" altLang="en-US" dirty="0"/>
              <a:t>，两种二极管正偏时的特性也会不同。图</a:t>
            </a:r>
            <a:r>
              <a:rPr lang="en-US" altLang="zh-CN" dirty="0"/>
              <a:t>8</a:t>
            </a:r>
            <a:r>
              <a:rPr lang="zh-CN" altLang="en-US" dirty="0"/>
              <a:t>是典型的肖特基势垒二极管的电流</a:t>
            </a:r>
            <a:r>
              <a:rPr lang="en-US" altLang="zh-CN" dirty="0"/>
              <a:t>-</a:t>
            </a:r>
            <a:r>
              <a:rPr lang="zh-CN" altLang="en-US" dirty="0"/>
              <a:t>电特性曲线。肖特基二极管的有效开启电压低于</a:t>
            </a:r>
            <a:r>
              <a:rPr lang="en-US" altLang="zh-CN" dirty="0" err="1"/>
              <a:t>pn</a:t>
            </a:r>
            <a:r>
              <a:rPr lang="zh-CN" altLang="en-US" dirty="0"/>
              <a:t>结二极管的有效开启电压。</a:t>
            </a:r>
          </a:p>
        </p:txBody>
      </p:sp>
      <p:graphicFrame>
        <p:nvGraphicFramePr>
          <p:cNvPr id="9" name="对象 8">
            <a:extLst>
              <a:ext uri="{FF2B5EF4-FFF2-40B4-BE49-F238E27FC236}">
                <a16:creationId xmlns:a16="http://schemas.microsoft.com/office/drawing/2014/main" id="{E5822381-659F-48B0-AF7A-FE74D8BCD984}"/>
              </a:ext>
            </a:extLst>
          </p:cNvPr>
          <p:cNvGraphicFramePr>
            <a:graphicFrameLocks noChangeAspect="1"/>
          </p:cNvGraphicFramePr>
          <p:nvPr>
            <p:extLst>
              <p:ext uri="{D42A27DB-BD31-4B8C-83A1-F6EECF244321}">
                <p14:modId xmlns:p14="http://schemas.microsoft.com/office/powerpoint/2010/main" val="3934869021"/>
              </p:ext>
            </p:extLst>
          </p:nvPr>
        </p:nvGraphicFramePr>
        <p:xfrm>
          <a:off x="6804713" y="2529024"/>
          <a:ext cx="2358594" cy="808037"/>
        </p:xfrm>
        <a:graphic>
          <a:graphicData uri="http://schemas.openxmlformats.org/presentationml/2006/ole">
            <mc:AlternateContent xmlns:mc="http://schemas.openxmlformats.org/markup-compatibility/2006">
              <mc:Choice xmlns:v="urn:schemas-microsoft-com:vml" Requires="v">
                <p:oleObj name="Equation" r:id="rId3" imgW="1371600" imgH="469800" progId="Equation.DSMT4">
                  <p:embed/>
                </p:oleObj>
              </mc:Choice>
              <mc:Fallback>
                <p:oleObj name="Equation" r:id="rId3" imgW="1371600" imgH="469800" progId="Equation.DSMT4">
                  <p:embed/>
                  <p:pic>
                    <p:nvPicPr>
                      <p:cNvPr id="0" name=""/>
                      <p:cNvPicPr/>
                      <p:nvPr/>
                    </p:nvPicPr>
                    <p:blipFill>
                      <a:blip r:embed="rId4"/>
                      <a:stretch>
                        <a:fillRect/>
                      </a:stretch>
                    </p:blipFill>
                    <p:spPr>
                      <a:xfrm>
                        <a:off x="6804713" y="2529024"/>
                        <a:ext cx="2358594" cy="808037"/>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4C44BD99-D94E-4DCE-8D69-25CA1D620D4D}"/>
              </a:ext>
            </a:extLst>
          </p:cNvPr>
          <p:cNvGraphicFramePr>
            <a:graphicFrameLocks noChangeAspect="1"/>
          </p:cNvGraphicFramePr>
          <p:nvPr>
            <p:extLst>
              <p:ext uri="{D42A27DB-BD31-4B8C-83A1-F6EECF244321}">
                <p14:modId xmlns:p14="http://schemas.microsoft.com/office/powerpoint/2010/main" val="3859717815"/>
              </p:ext>
            </p:extLst>
          </p:nvPr>
        </p:nvGraphicFramePr>
        <p:xfrm>
          <a:off x="11256883" y="2768711"/>
          <a:ext cx="492991" cy="328661"/>
        </p:xfrm>
        <a:graphic>
          <a:graphicData uri="http://schemas.openxmlformats.org/presentationml/2006/ole">
            <mc:AlternateContent xmlns:mc="http://schemas.openxmlformats.org/markup-compatibility/2006">
              <mc:Choice xmlns:v="urn:schemas-microsoft-com:vml" Requires="v">
                <p:oleObj name="Equation" r:id="rId5" imgW="304560" imgH="203040" progId="Equation.DSMT4">
                  <p:embed/>
                </p:oleObj>
              </mc:Choice>
              <mc:Fallback>
                <p:oleObj name="Equation" r:id="rId5" imgW="304560" imgH="203040" progId="Equation.DSMT4">
                  <p:embed/>
                  <p:pic>
                    <p:nvPicPr>
                      <p:cNvPr id="0" name=""/>
                      <p:cNvPicPr/>
                      <p:nvPr/>
                    </p:nvPicPr>
                    <p:blipFill>
                      <a:blip r:embed="rId6"/>
                      <a:stretch>
                        <a:fillRect/>
                      </a:stretch>
                    </p:blipFill>
                    <p:spPr>
                      <a:xfrm>
                        <a:off x="11256883" y="2768711"/>
                        <a:ext cx="492991" cy="328661"/>
                      </a:xfrm>
                      <a:prstGeom prst="rect">
                        <a:avLst/>
                      </a:prstGeom>
                    </p:spPr>
                  </p:pic>
                </p:oleObj>
              </mc:Fallback>
            </mc:AlternateContent>
          </a:graphicData>
        </a:graphic>
      </p:graphicFrame>
      <p:pic>
        <p:nvPicPr>
          <p:cNvPr id="11" name="图片 10">
            <a:extLst>
              <a:ext uri="{FF2B5EF4-FFF2-40B4-BE49-F238E27FC236}">
                <a16:creationId xmlns:a16="http://schemas.microsoft.com/office/drawing/2014/main" id="{6C80DFD8-6151-4569-89E4-AB8438EBAF4E}"/>
              </a:ext>
            </a:extLst>
          </p:cNvPr>
          <p:cNvPicPr>
            <a:picLocks noChangeAspect="1"/>
          </p:cNvPicPr>
          <p:nvPr/>
        </p:nvPicPr>
        <p:blipFill>
          <a:blip r:embed="rId7"/>
          <a:stretch>
            <a:fillRect/>
          </a:stretch>
        </p:blipFill>
        <p:spPr>
          <a:xfrm>
            <a:off x="717546" y="3729352"/>
            <a:ext cx="2942943" cy="2549237"/>
          </a:xfrm>
          <a:prstGeom prst="rect">
            <a:avLst/>
          </a:prstGeom>
        </p:spPr>
      </p:pic>
      <p:sp>
        <p:nvSpPr>
          <p:cNvPr id="12" name="矩形 11">
            <a:extLst>
              <a:ext uri="{FF2B5EF4-FFF2-40B4-BE49-F238E27FC236}">
                <a16:creationId xmlns:a16="http://schemas.microsoft.com/office/drawing/2014/main" id="{96B699B4-6089-4066-851F-E06BBD75F54F}"/>
              </a:ext>
            </a:extLst>
          </p:cNvPr>
          <p:cNvSpPr/>
          <p:nvPr/>
        </p:nvSpPr>
        <p:spPr>
          <a:xfrm>
            <a:off x="881651" y="6280951"/>
            <a:ext cx="2787943" cy="523220"/>
          </a:xfrm>
          <a:prstGeom prst="rect">
            <a:avLst/>
          </a:prstGeom>
          <a:noFill/>
        </p:spPr>
        <p:txBody>
          <a:bodyPr wrap="none" lIns="91440" tIns="45720" rIns="91440" bIns="45720">
            <a:spAutoFit/>
          </a:bodyPr>
          <a:lstStyle/>
          <a:p>
            <a:pPr algn="ctr"/>
            <a:r>
              <a:rPr lang="zh-CN" altLang="en-US" sz="1400" b="0" cap="none" spc="0" dirty="0">
                <a:ln w="0"/>
                <a:solidFill>
                  <a:schemeClr val="tx1"/>
                </a:solidFill>
                <a:effectLst>
                  <a:outerShdw blurRad="38100" dist="19050" dir="2700000" algn="tl" rotWithShape="0">
                    <a:schemeClr val="dk1">
                      <a:alpha val="40000"/>
                    </a:schemeClr>
                  </a:outerShdw>
                </a:effectLst>
              </a:rPr>
              <a:t>图</a:t>
            </a:r>
            <a:r>
              <a:rPr lang="en-US" altLang="zh-CN" sz="1400" dirty="0">
                <a:ln w="0"/>
                <a:effectLst>
                  <a:outerShdw blurRad="38100" dist="19050" dir="2700000" algn="tl" rotWithShape="0">
                    <a:schemeClr val="dk1">
                      <a:alpha val="40000"/>
                    </a:schemeClr>
                  </a:outerShdw>
                </a:effectLst>
              </a:rPr>
              <a:t>8</a:t>
            </a:r>
            <a:r>
              <a:rPr lang="zh-CN" altLang="en-US" sz="1400" dirty="0">
                <a:ln w="0"/>
                <a:effectLst>
                  <a:outerShdw blurRad="38100" dist="19050" dir="2700000" algn="tl" rotWithShape="0">
                    <a:schemeClr val="dk1">
                      <a:alpha val="40000"/>
                    </a:schemeClr>
                  </a:outerShdw>
                </a:effectLst>
              </a:rPr>
              <a:t>：肖特基二极管和</a:t>
            </a:r>
            <a:r>
              <a:rPr lang="en-US" altLang="zh-CN" sz="1400" dirty="0" err="1">
                <a:ln w="0"/>
                <a:effectLst>
                  <a:outerShdw blurRad="38100" dist="19050" dir="2700000" algn="tl" rotWithShape="0">
                    <a:schemeClr val="dk1">
                      <a:alpha val="40000"/>
                    </a:schemeClr>
                  </a:outerShdw>
                </a:effectLst>
              </a:rPr>
              <a:t>pn</a:t>
            </a:r>
            <a:r>
              <a:rPr lang="zh-CN" altLang="en-US" sz="1400" dirty="0">
                <a:ln w="0"/>
                <a:effectLst>
                  <a:outerShdw blurRad="38100" dist="19050" dir="2700000" algn="tl" rotWithShape="0">
                    <a:schemeClr val="dk1">
                      <a:alpha val="40000"/>
                    </a:schemeClr>
                  </a:outerShdw>
                </a:effectLst>
              </a:rPr>
              <a:t>结二极管</a:t>
            </a:r>
            <a:endParaRPr lang="en-US" altLang="zh-CN" sz="1400" dirty="0">
              <a:ln w="0"/>
              <a:effectLst>
                <a:outerShdw blurRad="38100" dist="19050" dir="2700000" algn="tl" rotWithShape="0">
                  <a:schemeClr val="dk1">
                    <a:alpha val="40000"/>
                  </a:schemeClr>
                </a:outerShdw>
              </a:effectLst>
            </a:endParaRPr>
          </a:p>
          <a:p>
            <a:pPr algn="ctr"/>
            <a:r>
              <a:rPr lang="zh-CN" altLang="en-US" sz="1400" dirty="0">
                <a:ln w="0"/>
                <a:effectLst>
                  <a:outerShdw blurRad="38100" dist="19050" dir="2700000" algn="tl" rotWithShape="0">
                    <a:schemeClr val="dk1">
                      <a:alpha val="40000"/>
                    </a:schemeClr>
                  </a:outerShdw>
                </a:effectLst>
              </a:rPr>
              <a:t>的正偏电流</a:t>
            </a:r>
            <a:r>
              <a:rPr lang="en-US" altLang="zh-CN" sz="1400" dirty="0">
                <a:ln w="0"/>
                <a:effectLst>
                  <a:outerShdw blurRad="38100" dist="19050" dir="2700000" algn="tl" rotWithShape="0">
                    <a:schemeClr val="dk1">
                      <a:alpha val="40000"/>
                    </a:schemeClr>
                  </a:outerShdw>
                </a:effectLst>
              </a:rPr>
              <a:t>-</a:t>
            </a:r>
            <a:r>
              <a:rPr lang="zh-CN" altLang="en-US" sz="1400" dirty="0">
                <a:ln w="0"/>
                <a:effectLst>
                  <a:outerShdw blurRad="38100" dist="19050" dir="2700000" algn="tl" rotWithShape="0">
                    <a:schemeClr val="dk1">
                      <a:alpha val="40000"/>
                    </a:schemeClr>
                  </a:outerShdw>
                </a:effectLst>
              </a:rPr>
              <a:t>电压特性曲线比较</a:t>
            </a:r>
            <a:endParaRPr lang="zh-CN" altLang="en-US" sz="1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8957284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17C406EB-BCD3-4856-8BFE-570A18392676}"/>
              </a:ext>
            </a:extLst>
          </p:cNvPr>
          <p:cNvSpPr>
            <a:spLocks noGrp="1"/>
          </p:cNvSpPr>
          <p:nvPr>
            <p:ph type="sldNum" sz="quarter" idx="12"/>
          </p:nvPr>
        </p:nvSpPr>
        <p:spPr/>
        <p:txBody>
          <a:bodyPr/>
          <a:lstStyle/>
          <a:p>
            <a:pPr>
              <a:defRPr/>
            </a:pPr>
            <a:fld id="{DB5F2CA6-A39B-48F7-84D1-AF91BD07D67D}" type="slidenum">
              <a:rPr lang="en-US" altLang="zh-CN" smtClean="0"/>
              <a:pPr>
                <a:defRPr/>
              </a:pPr>
              <a:t>17</a:t>
            </a:fld>
            <a:endParaRPr lang="en-US" altLang="zh-CN"/>
          </a:p>
        </p:txBody>
      </p:sp>
      <p:sp>
        <p:nvSpPr>
          <p:cNvPr id="5" name="矩形 4">
            <a:extLst>
              <a:ext uri="{FF2B5EF4-FFF2-40B4-BE49-F238E27FC236}">
                <a16:creationId xmlns:a16="http://schemas.microsoft.com/office/drawing/2014/main" id="{D48A4FCD-1295-4CD2-8222-DB225A9BCA1E}"/>
              </a:ext>
            </a:extLst>
          </p:cNvPr>
          <p:cNvSpPr/>
          <p:nvPr/>
        </p:nvSpPr>
        <p:spPr>
          <a:xfrm>
            <a:off x="218753" y="482309"/>
            <a:ext cx="6288901" cy="523220"/>
          </a:xfrm>
          <a:prstGeom prst="rect">
            <a:avLst/>
          </a:prstGeom>
          <a:noFill/>
        </p:spPr>
        <p:txBody>
          <a:bodyPr wrap="none" lIns="91440" tIns="45720" rIns="91440" bIns="45720">
            <a:spAutoFit/>
          </a:bodyPr>
          <a:lstStyle/>
          <a:p>
            <a:pPr algn="ctr"/>
            <a:r>
              <a:rPr lang="zh-CN" altLang="en-US" sz="2800" b="0" cap="none" spc="0" dirty="0">
                <a:ln w="0"/>
                <a:solidFill>
                  <a:schemeClr val="tx1"/>
                </a:solidFill>
                <a:effectLst>
                  <a:outerShdw blurRad="38100" dist="19050" dir="2700000" algn="tl" rotWithShape="0">
                    <a:schemeClr val="dk1">
                      <a:alpha val="40000"/>
                    </a:schemeClr>
                  </a:outerShdw>
                </a:effectLst>
              </a:rPr>
              <a:t>肖特基势垒二极管与</a:t>
            </a:r>
            <a:r>
              <a:rPr lang="en-US" altLang="zh-CN" sz="2800" b="0" cap="none" spc="0" dirty="0" err="1">
                <a:ln w="0"/>
                <a:solidFill>
                  <a:schemeClr val="tx1"/>
                </a:solidFill>
                <a:effectLst>
                  <a:outerShdw blurRad="38100" dist="19050" dir="2700000" algn="tl" rotWithShape="0">
                    <a:schemeClr val="dk1">
                      <a:alpha val="40000"/>
                    </a:schemeClr>
                  </a:outerShdw>
                </a:effectLst>
              </a:rPr>
              <a:t>pn</a:t>
            </a:r>
            <a:r>
              <a:rPr lang="zh-CN" altLang="en-US" sz="2800" b="0" cap="none" spc="0" dirty="0">
                <a:ln w="0"/>
                <a:solidFill>
                  <a:schemeClr val="tx1"/>
                </a:solidFill>
                <a:effectLst>
                  <a:outerShdw blurRad="38100" dist="19050" dir="2700000" algn="tl" rotWithShape="0">
                    <a:schemeClr val="dk1">
                      <a:alpha val="40000"/>
                    </a:schemeClr>
                  </a:outerShdw>
                </a:effectLst>
              </a:rPr>
              <a:t>结二极管的比较</a:t>
            </a:r>
          </a:p>
        </p:txBody>
      </p:sp>
      <p:sp>
        <p:nvSpPr>
          <p:cNvPr id="6" name="文本框 5">
            <a:extLst>
              <a:ext uri="{FF2B5EF4-FFF2-40B4-BE49-F238E27FC236}">
                <a16:creationId xmlns:a16="http://schemas.microsoft.com/office/drawing/2014/main" id="{FA5A08B4-CFEB-4C2C-BDA6-0DFE9678DD3E}"/>
              </a:ext>
            </a:extLst>
          </p:cNvPr>
          <p:cNvSpPr txBox="1"/>
          <p:nvPr/>
        </p:nvSpPr>
        <p:spPr>
          <a:xfrm>
            <a:off x="301336" y="1070264"/>
            <a:ext cx="11274137" cy="3416320"/>
          </a:xfrm>
          <a:prstGeom prst="rect">
            <a:avLst/>
          </a:prstGeom>
          <a:noFill/>
        </p:spPr>
        <p:txBody>
          <a:bodyPr wrap="square" rtlCol="0">
            <a:spAutoFit/>
          </a:bodyPr>
          <a:lstStyle/>
          <a:p>
            <a:pPr algn="just"/>
            <a:r>
              <a:rPr lang="zh-CN" altLang="en-US" dirty="0"/>
              <a:t>        开启电压不同的主要原因是</a:t>
            </a:r>
            <a:r>
              <a:rPr lang="en-US" altLang="zh-CN" dirty="0"/>
              <a:t>,</a:t>
            </a:r>
            <a:r>
              <a:rPr lang="zh-CN" altLang="en-US" dirty="0"/>
              <a:t>金属</a:t>
            </a:r>
            <a:r>
              <a:rPr lang="en-US" altLang="zh-CN" dirty="0"/>
              <a:t>-</a:t>
            </a:r>
            <a:r>
              <a:rPr lang="zh-CN" altLang="en-US" dirty="0"/>
              <a:t>半导体接触与</a:t>
            </a:r>
            <a:r>
              <a:rPr lang="en-US" altLang="zh-CN" dirty="0" err="1"/>
              <a:t>pn</a:t>
            </a:r>
            <a:r>
              <a:rPr lang="zh-CN" altLang="en-US" dirty="0"/>
              <a:t>结中的掺杂具有不同的势垒高度函数但还存在着其他主要的不同。</a:t>
            </a:r>
            <a:endParaRPr lang="en-US" altLang="zh-CN" dirty="0"/>
          </a:p>
          <a:p>
            <a:pPr algn="just"/>
            <a:r>
              <a:rPr lang="en-US" altLang="zh-CN" dirty="0"/>
              <a:t>        </a:t>
            </a:r>
            <a:r>
              <a:rPr lang="zh-CN" altLang="en-US" dirty="0"/>
              <a:t>肖特基势垒二极管和</a:t>
            </a:r>
            <a:r>
              <a:rPr lang="en-US" altLang="zh-CN" dirty="0" err="1"/>
              <a:t>pn</a:t>
            </a:r>
            <a:r>
              <a:rPr lang="zh-CN" altLang="en-US" dirty="0"/>
              <a:t>结二极管的第二个主要不同点在于频率响应，即开关特性。在我们的讨论中</a:t>
            </a:r>
            <a:r>
              <a:rPr lang="en-US" altLang="zh-CN" dirty="0"/>
              <a:t>,</a:t>
            </a:r>
            <a:r>
              <a:rPr lang="zh-CN" altLang="en-US" dirty="0"/>
              <a:t>考虑的肖特基二极管中的电流主要取决于多数载流子通过内建电势的发射电流。例如，如图</a:t>
            </a:r>
            <a:r>
              <a:rPr lang="en-US" altLang="zh-CN" dirty="0"/>
              <a:t>1</a:t>
            </a:r>
            <a:r>
              <a:rPr lang="zh-CN" altLang="en-US" dirty="0"/>
              <a:t>所示的能带图表明金属中的电子能够直接进入邻近半导体中的空位</a:t>
            </a:r>
            <a:r>
              <a:rPr lang="en-US" altLang="zh-CN" dirty="0"/>
              <a:t>,</a:t>
            </a:r>
            <a:r>
              <a:rPr lang="zh-CN" altLang="en-US" dirty="0"/>
              <a:t>如果电子从半导体价带流入金属，结果相当于空穴被注入半导体中</a:t>
            </a:r>
            <a:r>
              <a:rPr lang="en-US" altLang="zh-CN" dirty="0"/>
              <a:t>,</a:t>
            </a:r>
            <a:r>
              <a:rPr lang="zh-CN" altLang="en-US" dirty="0"/>
              <a:t>那么这种空穴的注人会在</a:t>
            </a:r>
            <a:r>
              <a:rPr lang="en-US" altLang="zh-CN" dirty="0"/>
              <a:t>n</a:t>
            </a:r>
            <a:r>
              <a:rPr lang="zh-CN" altLang="en-US" dirty="0"/>
              <a:t>型区域中产生过多的少数载流子</a:t>
            </a:r>
            <a:r>
              <a:rPr lang="en-US" altLang="zh-CN" dirty="0"/>
              <a:t>(</a:t>
            </a:r>
            <a:r>
              <a:rPr lang="zh-CN" altLang="en-US" dirty="0"/>
              <a:t>以下有时简称为少子</a:t>
            </a:r>
            <a:r>
              <a:rPr lang="en-US" altLang="zh-CN" dirty="0"/>
              <a:t>)</a:t>
            </a:r>
            <a:r>
              <a:rPr lang="zh-CN" altLang="en-US" dirty="0"/>
              <a:t>空穴。然而，计算和测量的结果表明，大多数情况下少子空穴电流占总电流的比率相当小。</a:t>
            </a:r>
            <a:endParaRPr lang="en-US" altLang="zh-CN" dirty="0"/>
          </a:p>
          <a:p>
            <a:pPr algn="just"/>
            <a:r>
              <a:rPr lang="en-US" altLang="zh-CN" dirty="0"/>
              <a:t>        </a:t>
            </a:r>
            <a:r>
              <a:rPr lang="zh-CN" altLang="en-US" dirty="0"/>
              <a:t>肖特基势垒二极管是一个多子</a:t>
            </a:r>
            <a:r>
              <a:rPr lang="en-US" altLang="zh-CN" dirty="0"/>
              <a:t>(</a:t>
            </a:r>
            <a:r>
              <a:rPr lang="zh-CN" altLang="en-US" dirty="0"/>
              <a:t>多数载流子</a:t>
            </a:r>
            <a:r>
              <a:rPr lang="en-US" altLang="zh-CN" dirty="0"/>
              <a:t>)</a:t>
            </a:r>
            <a:r>
              <a:rPr lang="zh-CN" altLang="en-US" dirty="0"/>
              <a:t>导电器件，这表明肖特基二极管加正偏电压时不会随之产生扩散电容，不存在扩散电容的肖特基二极管相对于</a:t>
            </a:r>
            <a:r>
              <a:rPr lang="en-US" altLang="zh-CN" dirty="0" err="1"/>
              <a:t>pn</a:t>
            </a:r>
            <a:r>
              <a:rPr lang="zh-CN" altLang="en-US" dirty="0"/>
              <a:t>结二极管来说</a:t>
            </a:r>
            <a:r>
              <a:rPr lang="en-US" altLang="zh-CN" dirty="0"/>
              <a:t>,</a:t>
            </a:r>
            <a:r>
              <a:rPr lang="zh-CN" altLang="en-US" dirty="0"/>
              <a:t>是一个高频器件。同样，当肖特基二极管从正偏转向反偏时，也不存在像</a:t>
            </a:r>
            <a:r>
              <a:rPr lang="en-US" altLang="zh-CN" dirty="0" err="1"/>
              <a:t>pn</a:t>
            </a:r>
            <a:r>
              <a:rPr lang="zh-CN" altLang="en-US" dirty="0"/>
              <a:t>结中发生的少数载流子的存储效应。由于不存在少数载流子存储时间，肖特基二极管可以用于快速开关器件。通常肖特基二极管的开关时间在皮秒数量级，而</a:t>
            </a:r>
            <a:r>
              <a:rPr lang="en-US" altLang="zh-CN" dirty="0" err="1"/>
              <a:t>pn</a:t>
            </a:r>
            <a:r>
              <a:rPr lang="zh-CN" altLang="en-US" dirty="0"/>
              <a:t>结的开关时间通常在纳秒数量级。</a:t>
            </a:r>
          </a:p>
        </p:txBody>
      </p:sp>
      <p:sp>
        <p:nvSpPr>
          <p:cNvPr id="7" name="矩形 6">
            <a:extLst>
              <a:ext uri="{FF2B5EF4-FFF2-40B4-BE49-F238E27FC236}">
                <a16:creationId xmlns:a16="http://schemas.microsoft.com/office/drawing/2014/main" id="{2CC8014A-2C9A-46B9-9BCF-83BBACCE2707}"/>
              </a:ext>
            </a:extLst>
          </p:cNvPr>
          <p:cNvSpPr/>
          <p:nvPr/>
        </p:nvSpPr>
        <p:spPr>
          <a:xfrm>
            <a:off x="2454715" y="4582661"/>
            <a:ext cx="7282570" cy="646331"/>
          </a:xfrm>
          <a:prstGeom prst="rect">
            <a:avLst/>
          </a:prstGeom>
          <a:noFill/>
        </p:spPr>
        <p:txBody>
          <a:bodyPr wrap="none" lIns="91440" tIns="45720" rIns="91440" bIns="45720">
            <a:spAutoFit/>
          </a:bodyPr>
          <a:lstStyle/>
          <a:p>
            <a:pPr algn="ctr"/>
            <a:r>
              <a:rPr lang="zh-CN" altLang="en-US" sz="3600" b="0" cap="none" spc="0" dirty="0">
                <a:ln w="0"/>
                <a:solidFill>
                  <a:srgbClr val="FF0000"/>
                </a:solidFill>
                <a:effectLst>
                  <a:outerShdw blurRad="38100" dist="19050" dir="2700000" algn="tl" rotWithShape="0">
                    <a:schemeClr val="dk1">
                      <a:alpha val="40000"/>
                    </a:schemeClr>
                  </a:outerShdw>
                </a:effectLst>
              </a:rPr>
              <a:t>备注：本</a:t>
            </a:r>
            <a:r>
              <a:rPr lang="en-US" altLang="zh-CN" sz="3600" b="0" cap="none" spc="0" dirty="0">
                <a:ln w="0"/>
                <a:solidFill>
                  <a:srgbClr val="FF0000"/>
                </a:solidFill>
                <a:effectLst>
                  <a:outerShdw blurRad="38100" dist="19050" dir="2700000" algn="tl" rotWithShape="0">
                    <a:schemeClr val="dk1">
                      <a:alpha val="40000"/>
                    </a:schemeClr>
                  </a:outerShdw>
                </a:effectLst>
              </a:rPr>
              <a:t>ppt</a:t>
            </a:r>
            <a:r>
              <a:rPr lang="zh-CN" altLang="en-US" sz="3600" b="0" cap="none" spc="0" dirty="0">
                <a:ln w="0"/>
                <a:solidFill>
                  <a:srgbClr val="FF0000"/>
                </a:solidFill>
                <a:effectLst>
                  <a:outerShdw blurRad="38100" dist="19050" dir="2700000" algn="tl" rotWithShape="0">
                    <a:schemeClr val="dk1">
                      <a:alpha val="40000"/>
                    </a:schemeClr>
                  </a:outerShdw>
                </a:effectLst>
              </a:rPr>
              <a:t>公式输入使用</a:t>
            </a:r>
            <a:r>
              <a:rPr lang="en-US" altLang="zh-CN" sz="3600" b="0" cap="none" spc="0" dirty="0" err="1">
                <a:ln w="0"/>
                <a:solidFill>
                  <a:srgbClr val="FF0000"/>
                </a:solidFill>
                <a:effectLst>
                  <a:outerShdw blurRad="38100" dist="19050" dir="2700000" algn="tl" rotWithShape="0">
                    <a:schemeClr val="dk1">
                      <a:alpha val="40000"/>
                    </a:schemeClr>
                  </a:outerShdw>
                </a:effectLst>
              </a:rPr>
              <a:t>MathType</a:t>
            </a:r>
            <a:endParaRPr lang="zh-CN" altLang="en-US" sz="3600" b="0" cap="none" spc="0" dirty="0">
              <a:ln w="0"/>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484361482"/>
      </p:ext>
    </p:extLst>
  </p:cSld>
  <p:clrMapOvr>
    <a:masterClrMapping/>
  </p:clrMapOvr>
</p:sld>
</file>

<file path=ppt/theme/theme1.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3689</TotalTime>
  <Words>2859</Words>
  <Application>Microsoft Office PowerPoint</Application>
  <PresentationFormat>宽屏</PresentationFormat>
  <Paragraphs>184</Paragraphs>
  <Slides>17</Slides>
  <Notes>0</Notes>
  <HiddenSlides>0</HiddenSlides>
  <MMClips>0</MMClips>
  <ScaleCrop>false</ScaleCrop>
  <HeadingPairs>
    <vt:vector size="8" baseType="variant">
      <vt:variant>
        <vt:lpstr>已用的字体</vt:lpstr>
      </vt:variant>
      <vt:variant>
        <vt:i4>3</vt:i4>
      </vt:variant>
      <vt:variant>
        <vt:lpstr>主题</vt:lpstr>
      </vt:variant>
      <vt:variant>
        <vt:i4>1</vt:i4>
      </vt:variant>
      <vt:variant>
        <vt:lpstr>嵌入 OLE 服务器</vt:lpstr>
      </vt:variant>
      <vt:variant>
        <vt:i4>1</vt:i4>
      </vt:variant>
      <vt:variant>
        <vt:lpstr>幻灯片标题</vt:lpstr>
      </vt:variant>
      <vt:variant>
        <vt:i4>17</vt:i4>
      </vt:variant>
    </vt:vector>
  </HeadingPairs>
  <TitlesOfParts>
    <vt:vector size="22" baseType="lpstr">
      <vt:lpstr>等线</vt:lpstr>
      <vt:lpstr>宋体</vt:lpstr>
      <vt:lpstr>Times New Roman</vt:lpstr>
      <vt:lpstr>1_默认设计模板</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 Y</dc:creator>
  <cp:lastModifiedBy>LF Kristin</cp:lastModifiedBy>
  <cp:revision>348</cp:revision>
  <dcterms:created xsi:type="dcterms:W3CDTF">2020-08-13T13:39:53Z</dcterms:created>
  <dcterms:modified xsi:type="dcterms:W3CDTF">2024-12-29T09:59:30Z</dcterms:modified>
</cp:coreProperties>
</file>