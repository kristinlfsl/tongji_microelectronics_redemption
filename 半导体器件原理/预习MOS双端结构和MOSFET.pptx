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40"/>
  </p:notesMasterIdLst>
  <p:handoutMasterIdLst>
    <p:handoutMasterId r:id="rId41"/>
  </p:handoutMasterIdLst>
  <p:sldIdLst>
    <p:sldId id="1232" r:id="rId2"/>
    <p:sldId id="1252" r:id="rId3"/>
    <p:sldId id="1253" r:id="rId4"/>
    <p:sldId id="1254" r:id="rId5"/>
    <p:sldId id="1255" r:id="rId6"/>
    <p:sldId id="1256" r:id="rId7"/>
    <p:sldId id="1257" r:id="rId8"/>
    <p:sldId id="1258" r:id="rId9"/>
    <p:sldId id="1259" r:id="rId10"/>
    <p:sldId id="1260" r:id="rId11"/>
    <p:sldId id="1261" r:id="rId12"/>
    <p:sldId id="1262" r:id="rId13"/>
    <p:sldId id="1263" r:id="rId14"/>
    <p:sldId id="1264" r:id="rId15"/>
    <p:sldId id="1265" r:id="rId16"/>
    <p:sldId id="1266" r:id="rId17"/>
    <p:sldId id="1267" r:id="rId18"/>
    <p:sldId id="1268" r:id="rId19"/>
    <p:sldId id="1269" r:id="rId20"/>
    <p:sldId id="1270" r:id="rId21"/>
    <p:sldId id="1271" r:id="rId22"/>
    <p:sldId id="1272" r:id="rId23"/>
    <p:sldId id="1273" r:id="rId24"/>
    <p:sldId id="1274" r:id="rId25"/>
    <p:sldId id="1275" r:id="rId26"/>
    <p:sldId id="1276" r:id="rId27"/>
    <p:sldId id="1277" r:id="rId28"/>
    <p:sldId id="1278" r:id="rId29"/>
    <p:sldId id="1279" r:id="rId30"/>
    <p:sldId id="1280" r:id="rId31"/>
    <p:sldId id="1281" r:id="rId32"/>
    <p:sldId id="1282" r:id="rId33"/>
    <p:sldId id="1283" r:id="rId34"/>
    <p:sldId id="1284" r:id="rId35"/>
    <p:sldId id="1285" r:id="rId36"/>
    <p:sldId id="1286" r:id="rId37"/>
    <p:sldId id="1287" r:id="rId38"/>
    <p:sldId id="1288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40" autoAdjust="0"/>
    <p:restoredTop sz="90941" autoAdjust="0"/>
  </p:normalViewPr>
  <p:slideViewPr>
    <p:cSldViewPr snapToGrid="0">
      <p:cViewPr varScale="1">
        <p:scale>
          <a:sx n="74" d="100"/>
          <a:sy n="74" d="100"/>
        </p:scale>
        <p:origin x="490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73CF0A4-E610-495A-919B-CA480C71DE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00D9AB-51EC-4401-AC4D-6157E0C759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BE80A-4039-40DC-A2BA-410E82E5F961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22726D-C38F-45D2-9673-CCF05BC1E4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10E6D5-A087-490B-BC7C-33021FE63D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8A59E-43ED-4AA1-B0F5-93878C5DD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8161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23.wmf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1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9.wmf"/><Relationship Id="rId7" Type="http://schemas.openxmlformats.org/officeDocument/2006/relationships/oleObject" Target="../embeddings/oleObject16.bin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0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eg"/><Relationship Id="rId5" Type="http://schemas.openxmlformats.org/officeDocument/2006/relationships/image" Target="../media/image53.wmf"/><Relationship Id="rId4" Type="http://schemas.openxmlformats.org/officeDocument/2006/relationships/oleObject" Target="../embeddings/oleObject23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BD095E2-5873-46A8-B8F7-078AF9511F47}"/>
              </a:ext>
            </a:extLst>
          </p:cNvPr>
          <p:cNvSpPr/>
          <p:nvPr/>
        </p:nvSpPr>
        <p:spPr>
          <a:xfrm>
            <a:off x="3438862" y="1859133"/>
            <a:ext cx="531427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MOS</a:t>
            </a:r>
            <a:r>
              <a:rPr lang="zh-CN" alt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双端结构和</a:t>
            </a:r>
            <a:r>
              <a:rPr lang="en-US" altLang="zh-CN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MOSFET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DA0312-2E5E-4D35-B163-BF59B81B426E}"/>
              </a:ext>
            </a:extLst>
          </p:cNvPr>
          <p:cNvSpPr/>
          <p:nvPr/>
        </p:nvSpPr>
        <p:spPr>
          <a:xfrm>
            <a:off x="3487147" y="2967542"/>
            <a:ext cx="5217704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自评：</a:t>
            </a:r>
            <a:r>
              <a:rPr lang="en-US" altLang="zh-CN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r>
              <a:rPr lang="en-US" altLang="zh-C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/1</a:t>
            </a:r>
            <a:r>
              <a:rPr lang="en-US" altLang="zh-CN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</a:p>
          <a:p>
            <a:pPr algn="ctr"/>
            <a:r>
              <a:rPr lang="zh-CN" alt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时间：</a:t>
            </a:r>
            <a:endParaRPr lang="zh-CN" alt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31EF5B-60C8-4BAE-BF23-75CAA65B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115B22-8194-4FC8-9614-86C592EEABA0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631450-1979-4930-8A10-FCA449AC3EA0}"/>
              </a:ext>
            </a:extLst>
          </p:cNvPr>
          <p:cNvSpPr/>
          <p:nvPr/>
        </p:nvSpPr>
        <p:spPr>
          <a:xfrm>
            <a:off x="2223881" y="4701869"/>
            <a:ext cx="774423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备注：本</a:t>
            </a:r>
            <a:r>
              <a:rPr lang="en-US" altLang="zh-CN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ppt</a:t>
            </a:r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公式输入使用</a:t>
            </a:r>
            <a:r>
              <a:rPr lang="en-US" altLang="zh-CN" sz="36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MathType</a:t>
            </a:r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</a:t>
            </a:r>
            <a:endParaRPr lang="en-US" altLang="zh-CN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作图来源课本，成员排名不分先后</a:t>
            </a:r>
          </a:p>
        </p:txBody>
      </p:sp>
    </p:spTree>
    <p:extLst>
      <p:ext uri="{BB962C8B-B14F-4D97-AF65-F5344CB8AC3E}">
        <p14:creationId xmlns:p14="http://schemas.microsoft.com/office/powerpoint/2010/main" val="7598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336FEEC-E91A-4286-8748-7B08CF660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093788"/>
            <a:ext cx="822960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主要内容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D388F92-3B85-45BF-B7E5-265D724E3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413" y="2030413"/>
            <a:ext cx="5111750" cy="374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双端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MOS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结构</a:t>
            </a: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电容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-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电压特性</a:t>
            </a: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MOSFET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基本工作原理</a:t>
            </a: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频率限制特性</a:t>
            </a: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小结</a:t>
            </a:r>
          </a:p>
        </p:txBody>
      </p:sp>
    </p:spTree>
    <p:extLst>
      <p:ext uri="{BB962C8B-B14F-4D97-AF65-F5344CB8AC3E}">
        <p14:creationId xmlns:p14="http://schemas.microsoft.com/office/powerpoint/2010/main" val="2808398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D91C583-20FF-4E6F-B074-958A258A3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056" y="527843"/>
            <a:ext cx="8497887" cy="219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n-cs"/>
              </a:rPr>
              <a:t>双端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n-cs"/>
              </a:rPr>
              <a:t>MOS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n-cs"/>
              </a:rPr>
              <a:t>结构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MOSFET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的核心为一个称为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O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S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电容的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金属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-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氧化物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-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半导体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结构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Times New Roman"/>
              <a:ea typeface="楷体_GB2312"/>
              <a:cs typeface="+mn-cs"/>
            </a:endParaRPr>
          </a:p>
        </p:txBody>
      </p:sp>
      <p:sp>
        <p:nvSpPr>
          <p:cNvPr id="5" name="Text Box 119">
            <a:extLst>
              <a:ext uri="{FF2B5EF4-FFF2-40B4-BE49-F238E27FC236}">
                <a16:creationId xmlns:a16="http://schemas.microsoft.com/office/drawing/2014/main" id="{D790A185-3BFF-439C-9704-8A464C90C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5931" y="3405188"/>
            <a:ext cx="3529012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金属可是铝或其他金属，更为通用的是多晶硅</a:t>
            </a:r>
          </a:p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图中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ox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是氧化层厚度，</a:t>
            </a:r>
            <a:r>
              <a:rPr kumimoji="0" lang="el-GR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ε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ox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是氧化层介电常数</a:t>
            </a:r>
          </a:p>
        </p:txBody>
      </p:sp>
      <p:grpSp>
        <p:nvGrpSpPr>
          <p:cNvPr id="6" name="Group 121">
            <a:extLst>
              <a:ext uri="{FF2B5EF4-FFF2-40B4-BE49-F238E27FC236}">
                <a16:creationId xmlns:a16="http://schemas.microsoft.com/office/drawing/2014/main" id="{89258AE3-3BD9-4CFF-ACDC-3CD955D4C89A}"/>
              </a:ext>
            </a:extLst>
          </p:cNvPr>
          <p:cNvGrpSpPr>
            <a:grpSpLocks/>
          </p:cNvGrpSpPr>
          <p:nvPr/>
        </p:nvGrpSpPr>
        <p:grpSpPr bwMode="auto">
          <a:xfrm>
            <a:off x="1680729" y="2974975"/>
            <a:ext cx="3971925" cy="2952750"/>
            <a:chOff x="378" y="1933"/>
            <a:chExt cx="2502" cy="1860"/>
          </a:xfrm>
        </p:grpSpPr>
        <p:sp>
          <p:nvSpPr>
            <p:cNvPr id="7" name="Text Box 118">
              <a:extLst>
                <a:ext uri="{FF2B5EF4-FFF2-40B4-BE49-F238E27FC236}">
                  <a16:creationId xmlns:a16="http://schemas.microsoft.com/office/drawing/2014/main" id="{ABA7B059-07B2-4390-B03B-B24C686C07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3543"/>
              <a:ext cx="19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基本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MOS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电容结构</a:t>
              </a:r>
            </a:p>
          </p:txBody>
        </p:sp>
        <p:pic>
          <p:nvPicPr>
            <p:cNvPr id="8" name="Picture 120" descr="11">
              <a:extLst>
                <a:ext uri="{FF2B5EF4-FFF2-40B4-BE49-F238E27FC236}">
                  <a16:creationId xmlns:a16="http://schemas.microsoft.com/office/drawing/2014/main" id="{DC347A52-AB1A-4CD0-9F50-50E487BE7C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-6000" contrast="2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" y="1933"/>
              <a:ext cx="2502" cy="1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9099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AB5D0D08-043C-44E4-A5C5-886BA7E88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3" y="477838"/>
            <a:ext cx="5761037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1</a:t>
            </a:r>
            <a:r>
              <a:rPr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）能带图</a:t>
            </a:r>
            <a:endParaRPr lang="zh-CN" altLang="en-US" sz="3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1" name="Text Box 18">
            <a:extLst>
              <a:ext uri="{FF2B5EF4-FFF2-40B4-BE49-F238E27FC236}">
                <a16:creationId xmlns:a16="http://schemas.microsoft.com/office/drawing/2014/main" id="{B06E135F-124C-48A6-9B59-6256D4680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6991" y="595313"/>
            <a:ext cx="3960217" cy="466725"/>
          </a:xfrm>
          <a:prstGeom prst="rect">
            <a:avLst/>
          </a:prstGeom>
          <a:solidFill>
            <a:srgbClr val="0000FF"/>
          </a:solidFill>
          <a:ln w="9525" algn="ctr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49" charset="-122"/>
              </a:rPr>
              <a:t>借助平行板电容器加以解释</a:t>
            </a:r>
          </a:p>
        </p:txBody>
      </p:sp>
      <p:sp>
        <p:nvSpPr>
          <p:cNvPr id="12" name="Text Box 19">
            <a:extLst>
              <a:ext uri="{FF2B5EF4-FFF2-40B4-BE49-F238E27FC236}">
                <a16:creationId xmlns:a16="http://schemas.microsoft.com/office/drawing/2014/main" id="{06E78446-2402-4838-A101-DCD35CADF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9270" y="1759743"/>
            <a:ext cx="2555875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加了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负栅压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型衬底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电容器的电场，存在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空穴堆积层</a:t>
            </a:r>
          </a:p>
        </p:txBody>
      </p:sp>
      <p:pic>
        <p:nvPicPr>
          <p:cNvPr id="13" name="Picture 23" descr="11">
            <a:extLst>
              <a:ext uri="{FF2B5EF4-FFF2-40B4-BE49-F238E27FC236}">
                <a16:creationId xmlns:a16="http://schemas.microsoft.com/office/drawing/2014/main" id="{7664FC83-E798-45A2-A74C-1199F6573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361" y="1246981"/>
            <a:ext cx="5200650" cy="240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4" descr="11">
            <a:extLst>
              <a:ext uri="{FF2B5EF4-FFF2-40B4-BE49-F238E27FC236}">
                <a16:creationId xmlns:a16="http://schemas.microsoft.com/office/drawing/2014/main" id="{41353C67-EBD3-44F4-B194-F51706CCC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61" b="13794"/>
          <a:stretch>
            <a:fillRect/>
          </a:stretch>
        </p:blipFill>
        <p:spPr bwMode="auto">
          <a:xfrm>
            <a:off x="1143722" y="4130674"/>
            <a:ext cx="5299075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25">
            <a:extLst>
              <a:ext uri="{FF2B5EF4-FFF2-40B4-BE49-F238E27FC236}">
                <a16:creationId xmlns:a16="http://schemas.microsoft.com/office/drawing/2014/main" id="{5F589D50-3384-47B4-B36A-47E0CDD44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0832" y="4540646"/>
            <a:ext cx="29527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加了负栅压的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型衬底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电容器的能带图</a:t>
            </a:r>
          </a:p>
        </p:txBody>
      </p:sp>
    </p:spTree>
    <p:extLst>
      <p:ext uri="{BB962C8B-B14F-4D97-AF65-F5344CB8AC3E}">
        <p14:creationId xmlns:p14="http://schemas.microsoft.com/office/powerpoint/2010/main" val="395829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3" name="Text Box 38">
            <a:extLst>
              <a:ext uri="{FF2B5EF4-FFF2-40B4-BE49-F238E27FC236}">
                <a16:creationId xmlns:a16="http://schemas.microsoft.com/office/drawing/2014/main" id="{E57C50C3-4465-468C-9C01-6468495E8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0007" y="1311275"/>
            <a:ext cx="2592388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dirty="0"/>
              <a:t>加了</a:t>
            </a:r>
            <a:r>
              <a:rPr lang="zh-CN" altLang="en-US" sz="2400" dirty="0">
                <a:solidFill>
                  <a:srgbClr val="FF0000"/>
                </a:solidFill>
              </a:rPr>
              <a:t>小的正栅压</a:t>
            </a:r>
            <a:r>
              <a:rPr lang="zh-CN" altLang="en-US" sz="2400" dirty="0"/>
              <a:t>的</a:t>
            </a:r>
            <a:r>
              <a:rPr lang="en-US" altLang="zh-CN" sz="2400" dirty="0"/>
              <a:t>p</a:t>
            </a:r>
            <a:r>
              <a:rPr lang="zh-CN" altLang="en-US" sz="2400" dirty="0"/>
              <a:t>型衬底</a:t>
            </a:r>
            <a:r>
              <a:rPr lang="en-US" altLang="zh-CN" sz="2400" dirty="0"/>
              <a:t>MOS</a:t>
            </a:r>
            <a:r>
              <a:rPr lang="zh-CN" altLang="en-US" sz="2400" dirty="0"/>
              <a:t>电容器的电场，产生</a:t>
            </a:r>
            <a:r>
              <a:rPr lang="zh-CN" altLang="en-US" sz="2400" dirty="0">
                <a:solidFill>
                  <a:srgbClr val="0000FF"/>
                </a:solidFill>
              </a:rPr>
              <a:t>空间电荷区</a:t>
            </a:r>
          </a:p>
        </p:txBody>
      </p:sp>
      <p:sp>
        <p:nvSpPr>
          <p:cNvPr id="5" name="Text Box 39">
            <a:extLst>
              <a:ext uri="{FF2B5EF4-FFF2-40B4-BE49-F238E27FC236}">
                <a16:creationId xmlns:a16="http://schemas.microsoft.com/office/drawing/2014/main" id="{8D1906D2-5A6E-4D75-B8DA-0525C6F92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288" y="3860800"/>
            <a:ext cx="2663825" cy="143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 sz="2400" dirty="0"/>
              <a:t>加小正栅压的</a:t>
            </a:r>
            <a:r>
              <a:rPr lang="en-US" altLang="zh-CN" sz="2400" dirty="0"/>
              <a:t>p</a:t>
            </a:r>
            <a:r>
              <a:rPr lang="zh-CN" altLang="en-US" sz="2400" dirty="0"/>
              <a:t>型衬底</a:t>
            </a:r>
            <a:r>
              <a:rPr lang="en-US" altLang="zh-CN" sz="2400" dirty="0"/>
              <a:t>MOS</a:t>
            </a:r>
            <a:r>
              <a:rPr lang="zh-CN" altLang="en-US" sz="2400" dirty="0"/>
              <a:t>电容器的能带图</a:t>
            </a:r>
          </a:p>
        </p:txBody>
      </p:sp>
      <p:pic>
        <p:nvPicPr>
          <p:cNvPr id="6" name="Picture 40" descr="11">
            <a:extLst>
              <a:ext uri="{FF2B5EF4-FFF2-40B4-BE49-F238E27FC236}">
                <a16:creationId xmlns:a16="http://schemas.microsoft.com/office/drawing/2014/main" id="{7CCD7987-B60F-403F-B873-222B94E8E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88" b="11702"/>
          <a:stretch>
            <a:fillRect/>
          </a:stretch>
        </p:blipFill>
        <p:spPr bwMode="auto">
          <a:xfrm>
            <a:off x="1335087" y="681759"/>
            <a:ext cx="5464175" cy="271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41">
            <a:extLst>
              <a:ext uri="{FF2B5EF4-FFF2-40B4-BE49-F238E27FC236}">
                <a16:creationId xmlns:a16="http://schemas.microsoft.com/office/drawing/2014/main" id="{1EECDDA1-AE09-4FC3-9E98-EE126734B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6462" y="2713759"/>
            <a:ext cx="1008063" cy="792163"/>
          </a:xfrm>
          <a:prstGeom prst="ellipse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8" name="Picture 42" descr="11">
            <a:extLst>
              <a:ext uri="{FF2B5EF4-FFF2-40B4-BE49-F238E27FC236}">
                <a16:creationId xmlns:a16="http://schemas.microsoft.com/office/drawing/2014/main" id="{96B56651-FF36-4DEA-8A23-D030164BF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69" b="13794"/>
          <a:stretch>
            <a:fillRect/>
          </a:stretch>
        </p:blipFill>
        <p:spPr bwMode="auto">
          <a:xfrm>
            <a:off x="1335087" y="3935412"/>
            <a:ext cx="5343525" cy="225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43">
            <a:extLst>
              <a:ext uri="{FF2B5EF4-FFF2-40B4-BE49-F238E27FC236}">
                <a16:creationId xmlns:a16="http://schemas.microsoft.com/office/drawing/2014/main" id="{5EAF1260-9076-4FC5-915E-CE5D2AB6C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12" y="5888037"/>
            <a:ext cx="2016125" cy="360363"/>
          </a:xfrm>
          <a:prstGeom prst="ellipse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25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3" name="Picture 39" descr="11">
            <a:extLst>
              <a:ext uri="{FF2B5EF4-FFF2-40B4-BE49-F238E27FC236}">
                <a16:creationId xmlns:a16="http://schemas.microsoft.com/office/drawing/2014/main" id="{AF5A237F-31B7-4C49-B4E9-BE0CD7D18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338" y="944707"/>
            <a:ext cx="6834188" cy="298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40">
            <a:extLst>
              <a:ext uri="{FF2B5EF4-FFF2-40B4-BE49-F238E27FC236}">
                <a16:creationId xmlns:a16="http://schemas.microsoft.com/office/drawing/2014/main" id="{A493C201-EF86-40C5-B1DA-52A27DACA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8813" y="4276870"/>
            <a:ext cx="7704138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随着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正栅压的增大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，半导体与氧化物接触的表面处能带继续弯曲，出现导带距费米能级更近，呈现出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型半导体特点，从而产生了氧化物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半导体界面处的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电子反型层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6" name="Oval 41">
            <a:extLst>
              <a:ext uri="{FF2B5EF4-FFF2-40B4-BE49-F238E27FC236}">
                <a16:creationId xmlns:a16="http://schemas.microsoft.com/office/drawing/2014/main" id="{EEC837B6-DEA4-43C7-81BA-7A8626211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826" y="776432"/>
            <a:ext cx="1366837" cy="576263"/>
          </a:xfrm>
          <a:prstGeom prst="ellipse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672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486949A1-FDAB-4C7F-AF90-069DE4F4D581}"/>
              </a:ext>
            </a:extLst>
          </p:cNvPr>
          <p:cNvGrpSpPr>
            <a:grpSpLocks/>
          </p:cNvGrpSpPr>
          <p:nvPr/>
        </p:nvGrpSpPr>
        <p:grpSpPr bwMode="auto">
          <a:xfrm>
            <a:off x="1194592" y="1057275"/>
            <a:ext cx="4672013" cy="4368800"/>
            <a:chOff x="8" y="814"/>
            <a:chExt cx="2943" cy="2752"/>
          </a:xfrm>
        </p:grpSpPr>
        <p:pic>
          <p:nvPicPr>
            <p:cNvPr id="5" name="Picture 15" descr="11">
              <a:extLst>
                <a:ext uri="{FF2B5EF4-FFF2-40B4-BE49-F238E27FC236}">
                  <a16:creationId xmlns:a16="http://schemas.microsoft.com/office/drawing/2014/main" id="{7B02F795-EE36-40DA-AAD0-AFC6E9DB38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-6000" contrast="4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70" b="12943"/>
            <a:stretch>
              <a:fillRect/>
            </a:stretch>
          </p:blipFill>
          <p:spPr bwMode="auto">
            <a:xfrm>
              <a:off x="22" y="814"/>
              <a:ext cx="2856" cy="1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21" descr="11">
              <a:extLst>
                <a:ext uri="{FF2B5EF4-FFF2-40B4-BE49-F238E27FC236}">
                  <a16:creationId xmlns:a16="http://schemas.microsoft.com/office/drawing/2014/main" id="{C2748C32-79E0-4574-9C4C-55F6C2B41F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-30000" contrast="5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4126"/>
            <a:stretch>
              <a:fillRect/>
            </a:stretch>
          </p:blipFill>
          <p:spPr bwMode="auto">
            <a:xfrm>
              <a:off x="8" y="2513"/>
              <a:ext cx="2943" cy="1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Text Box 14">
            <a:extLst>
              <a:ext uri="{FF2B5EF4-FFF2-40B4-BE49-F238E27FC236}">
                <a16:creationId xmlns:a16="http://schemas.microsoft.com/office/drawing/2014/main" id="{706FA2B6-0ED6-4925-BC99-D6094C714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395143"/>
            <a:ext cx="424815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/>
              <a:t>对于</a:t>
            </a:r>
            <a:r>
              <a:rPr lang="en-US" altLang="zh-CN" sz="2800" dirty="0"/>
              <a:t>n</a:t>
            </a:r>
            <a:r>
              <a:rPr lang="zh-CN" altLang="en-US" sz="2800" dirty="0"/>
              <a:t>型衬底</a:t>
            </a:r>
            <a:r>
              <a:rPr lang="en-US" altLang="zh-CN" sz="2800" dirty="0"/>
              <a:t>MOS</a:t>
            </a:r>
            <a:r>
              <a:rPr lang="zh-CN" altLang="en-US" sz="2800" dirty="0"/>
              <a:t>电容器</a:t>
            </a:r>
          </a:p>
        </p:txBody>
      </p:sp>
      <p:sp>
        <p:nvSpPr>
          <p:cNvPr id="8" name="Text Box 17">
            <a:extLst>
              <a:ext uri="{FF2B5EF4-FFF2-40B4-BE49-F238E27FC236}">
                <a16:creationId xmlns:a16="http://schemas.microsoft.com/office/drawing/2014/main" id="{B5BA2B62-2B0E-4958-9CBB-6936E3AC4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005" y="5602288"/>
            <a:ext cx="2592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</a:rPr>
              <a:t>正栅压</a:t>
            </a:r>
          </a:p>
        </p:txBody>
      </p:sp>
      <p:grpSp>
        <p:nvGrpSpPr>
          <p:cNvPr id="9" name="Group 25">
            <a:extLst>
              <a:ext uri="{FF2B5EF4-FFF2-40B4-BE49-F238E27FC236}">
                <a16:creationId xmlns:a16="http://schemas.microsoft.com/office/drawing/2014/main" id="{F9955B2A-63C5-48C1-87EE-69D0923EAA94}"/>
              </a:ext>
            </a:extLst>
          </p:cNvPr>
          <p:cNvGrpSpPr>
            <a:grpSpLocks/>
          </p:cNvGrpSpPr>
          <p:nvPr/>
        </p:nvGrpSpPr>
        <p:grpSpPr bwMode="auto">
          <a:xfrm>
            <a:off x="6363496" y="1057275"/>
            <a:ext cx="4672012" cy="5032375"/>
            <a:chOff x="2817" y="799"/>
            <a:chExt cx="2943" cy="3170"/>
          </a:xfrm>
        </p:grpSpPr>
        <p:grpSp>
          <p:nvGrpSpPr>
            <p:cNvPr id="10" name="Group 24">
              <a:extLst>
                <a:ext uri="{FF2B5EF4-FFF2-40B4-BE49-F238E27FC236}">
                  <a16:creationId xmlns:a16="http://schemas.microsoft.com/office/drawing/2014/main" id="{249AF9DD-63FF-4455-820D-F6CBCB94A9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7" y="799"/>
              <a:ext cx="2943" cy="2933"/>
              <a:chOff x="2817" y="799"/>
              <a:chExt cx="2943" cy="2933"/>
            </a:xfrm>
          </p:grpSpPr>
          <p:pic>
            <p:nvPicPr>
              <p:cNvPr id="12" name="Picture 16" descr="11">
                <a:extLst>
                  <a:ext uri="{FF2B5EF4-FFF2-40B4-BE49-F238E27FC236}">
                    <a16:creationId xmlns:a16="http://schemas.microsoft.com/office/drawing/2014/main" id="{2E91BA06-04BC-4630-8760-FFD0FA6CEE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lum bright="-6000" contrast="42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413" b="12086"/>
              <a:stretch>
                <a:fillRect/>
              </a:stretch>
            </p:blipFill>
            <p:spPr bwMode="auto">
              <a:xfrm>
                <a:off x="2925" y="799"/>
                <a:ext cx="2811" cy="1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22" descr="11">
                <a:extLst>
                  <a:ext uri="{FF2B5EF4-FFF2-40B4-BE49-F238E27FC236}">
                    <a16:creationId xmlns:a16="http://schemas.microsoft.com/office/drawing/2014/main" id="{A043D7D1-102D-4480-AFEB-D785B8E113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lum bright="-30000" contrast="54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2314" b="36478"/>
              <a:stretch>
                <a:fillRect/>
              </a:stretch>
            </p:blipFill>
            <p:spPr bwMode="auto">
              <a:xfrm>
                <a:off x="2817" y="2462"/>
                <a:ext cx="2943" cy="1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1" name="Text Box 18">
              <a:extLst>
                <a:ext uri="{FF2B5EF4-FFF2-40B4-BE49-F238E27FC236}">
                  <a16:creationId xmlns:a16="http://schemas.microsoft.com/office/drawing/2014/main" id="{83366605-77A7-42A5-A7BC-29DF571DF9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3681"/>
              <a:ext cx="16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solidFill>
                    <a:srgbClr val="0000FF"/>
                  </a:solidFill>
                </a:rPr>
                <a:t>小负栅压</a:t>
              </a:r>
            </a:p>
          </p:txBody>
        </p:sp>
      </p:grpSp>
      <p:sp>
        <p:nvSpPr>
          <p:cNvPr id="14" name="Oval 19">
            <a:extLst>
              <a:ext uri="{FF2B5EF4-FFF2-40B4-BE49-F238E27FC236}">
                <a16:creationId xmlns:a16="http://schemas.microsoft.com/office/drawing/2014/main" id="{0A8A4937-F82B-4C4B-AD47-3515E2275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4" y="2949575"/>
            <a:ext cx="1079500" cy="360363"/>
          </a:xfrm>
          <a:prstGeom prst="ellipse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" name="Oval 20">
            <a:extLst>
              <a:ext uri="{FF2B5EF4-FFF2-40B4-BE49-F238E27FC236}">
                <a16:creationId xmlns:a16="http://schemas.microsoft.com/office/drawing/2014/main" id="{792BC112-ADF7-4223-8C60-68BDC35DE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2596" y="3001962"/>
            <a:ext cx="1152525" cy="576263"/>
          </a:xfrm>
          <a:prstGeom prst="ellipse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711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3" name="Picture 5" descr="11">
            <a:extLst>
              <a:ext uri="{FF2B5EF4-FFF2-40B4-BE49-F238E27FC236}">
                <a16:creationId xmlns:a16="http://schemas.microsoft.com/office/drawing/2014/main" id="{97AF638D-F445-4F17-9EDA-DC54ACEA0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37" b="2852"/>
          <a:stretch>
            <a:fillRect/>
          </a:stretch>
        </p:blipFill>
        <p:spPr bwMode="auto">
          <a:xfrm>
            <a:off x="2499013" y="1122941"/>
            <a:ext cx="7007225" cy="276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B854415A-2F09-4C3F-A90F-D48984D25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9301" y="4324928"/>
            <a:ext cx="7704137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随着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负栅压的增大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，半导体与氧化物接触的表面呈现出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型半导体特点，从而产生了氧化物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半导体界面处的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空穴反型层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6" name="Oval 8">
            <a:extLst>
              <a:ext uri="{FF2B5EF4-FFF2-40B4-BE49-F238E27FC236}">
                <a16:creationId xmlns:a16="http://schemas.microsoft.com/office/drawing/2014/main" id="{DF659BC6-5355-495E-B8E2-1ECB515DA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0988" y="3386716"/>
            <a:ext cx="1655763" cy="647700"/>
          </a:xfrm>
          <a:prstGeom prst="ellipse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682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8B55A39-40C1-4927-AC23-816D2B554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293471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）耗尽层厚度</a:t>
            </a:r>
          </a:p>
        </p:txBody>
      </p:sp>
      <p:pic>
        <p:nvPicPr>
          <p:cNvPr id="5" name="Picture 15" descr="11">
            <a:extLst>
              <a:ext uri="{FF2B5EF4-FFF2-40B4-BE49-F238E27FC236}">
                <a16:creationId xmlns:a16="http://schemas.microsoft.com/office/drawing/2014/main" id="{BE7CC741-C92C-40DC-BB12-C42070E66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885" y="1338227"/>
            <a:ext cx="49085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17">
            <a:extLst>
              <a:ext uri="{FF2B5EF4-FFF2-40B4-BE49-F238E27FC236}">
                <a16:creationId xmlns:a16="http://schemas.microsoft.com/office/drawing/2014/main" id="{1057ABDD-7619-4E59-B3A2-5DF3627A71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941887"/>
              </p:ext>
            </p:extLst>
          </p:nvPr>
        </p:nvGraphicFramePr>
        <p:xfrm>
          <a:off x="7841961" y="2510234"/>
          <a:ext cx="2505075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02960" imgH="482400" progId="Equation.DSMT4">
                  <p:embed/>
                </p:oleObj>
              </mc:Choice>
              <mc:Fallback>
                <p:oleObj name="Equation" r:id="rId3" imgW="1002960" imgH="482400" progId="Equation.DSMT4">
                  <p:embed/>
                  <p:pic>
                    <p:nvPicPr>
                      <p:cNvPr id="202769" name="Object 17">
                        <a:extLst>
                          <a:ext uri="{FF2B5EF4-FFF2-40B4-BE49-F238E27FC236}">
                            <a16:creationId xmlns:a16="http://schemas.microsoft.com/office/drawing/2014/main" id="{0EDE0C41-0042-4C4B-BF4C-7E1AF1D8F1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1961" y="2510234"/>
                        <a:ext cx="2505075" cy="120491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8">
            <a:extLst>
              <a:ext uri="{FF2B5EF4-FFF2-40B4-BE49-F238E27FC236}">
                <a16:creationId xmlns:a16="http://schemas.microsoft.com/office/drawing/2014/main" id="{CE097A2B-C4D7-4027-A214-7D328947A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061" y="1529159"/>
            <a:ext cx="3024188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电势</a:t>
            </a:r>
            <a:r>
              <a:rPr kumimoji="1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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fp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之间的势垒高度：</a:t>
            </a:r>
            <a:endParaRPr kumimoji="0" lang="zh-CN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87294A38-F106-4170-A914-69212BC36E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672685"/>
              </p:ext>
            </p:extLst>
          </p:nvPr>
        </p:nvGraphicFramePr>
        <p:xfrm>
          <a:off x="3365644" y="5026170"/>
          <a:ext cx="2382837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52200" imgH="507960" progId="Equation.DSMT4">
                  <p:embed/>
                </p:oleObj>
              </mc:Choice>
              <mc:Fallback>
                <p:oleObj name="Equation" r:id="rId5" imgW="952200" imgH="507960" progId="Equation.DSMT4">
                  <p:embed/>
                  <p:pic>
                    <p:nvPicPr>
                      <p:cNvPr id="202776" name="Object 24">
                        <a:extLst>
                          <a:ext uri="{FF2B5EF4-FFF2-40B4-BE49-F238E27FC236}">
                            <a16:creationId xmlns:a16="http://schemas.microsoft.com/office/drawing/2014/main" id="{C161BDD5-E35C-4526-900F-2A3DB67F3D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644" y="5026170"/>
                        <a:ext cx="2382837" cy="127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5">
            <a:extLst>
              <a:ext uri="{FF2B5EF4-FFF2-40B4-BE49-F238E27FC236}">
                <a16:creationId xmlns:a16="http://schemas.microsoft.com/office/drawing/2014/main" id="{A6D762BF-4813-4B56-8768-632C40823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644" y="4129233"/>
            <a:ext cx="8497887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表面势</a:t>
            </a:r>
            <a:r>
              <a:rPr kumimoji="1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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是体内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与表面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之间的势垒高度，是横跨空间电荷区的电势差。因此，空间电荷区宽度可类似单边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结，写为</a:t>
            </a:r>
            <a:endParaRPr kumimoji="0" lang="zh-CN" altLang="el-GR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26">
            <a:extLst>
              <a:ext uri="{FF2B5EF4-FFF2-40B4-BE49-F238E27FC236}">
                <a16:creationId xmlns:a16="http://schemas.microsoft.com/office/drawing/2014/main" id="{919533F7-85E4-4DC1-8242-DE6C7BA0CE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986115"/>
              </p:ext>
            </p:extLst>
          </p:nvPr>
        </p:nvGraphicFramePr>
        <p:xfrm>
          <a:off x="6901006" y="5178570"/>
          <a:ext cx="2814638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09400" imgH="507960" progId="Equation.DSMT4">
                  <p:embed/>
                </p:oleObj>
              </mc:Choice>
              <mc:Fallback>
                <p:oleObj name="Equation" r:id="rId7" imgW="1409400" imgH="507960" progId="Equation.DSMT4">
                  <p:embed/>
                  <p:pic>
                    <p:nvPicPr>
                      <p:cNvPr id="202778" name="Object 26">
                        <a:extLst>
                          <a:ext uri="{FF2B5EF4-FFF2-40B4-BE49-F238E27FC236}">
                            <a16:creationId xmlns:a16="http://schemas.microsoft.com/office/drawing/2014/main" id="{ECE0884D-2733-406B-BC92-22FD51650C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1006" y="5178570"/>
                        <a:ext cx="2814638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811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3" name="Picture 4" descr="11">
            <a:extLst>
              <a:ext uri="{FF2B5EF4-FFF2-40B4-BE49-F238E27FC236}">
                <a16:creationId xmlns:a16="http://schemas.microsoft.com/office/drawing/2014/main" id="{5BE2E7D6-5744-41A5-AC09-8A8A3D7DD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584200"/>
            <a:ext cx="5197475" cy="289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71E08BFE-2E0C-47BB-9C2F-34B3A4274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6045" y="1426730"/>
            <a:ext cx="1655762" cy="121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型半导体在阈值反型点时的能带图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4FEDBE7-2F69-47C6-83B6-1BDB3E1E3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056" y="3528218"/>
            <a:ext cx="8497887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表面处的电子浓度等于体内的空穴浓度，该条件称为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阈值反型点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，所加栅压为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阈值电压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当外加栅压大于这一值之后，其变化所引起的空间电荷区变化很小。空间电荷区最大宽度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为</a:t>
            </a:r>
            <a:endParaRPr kumimoji="0" lang="zh-CN" altLang="el-GR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47A7A577-7F99-4C5C-BB7F-6E7558E235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516314"/>
              </p:ext>
            </p:extLst>
          </p:nvPr>
        </p:nvGraphicFramePr>
        <p:xfrm>
          <a:off x="3696133" y="5086349"/>
          <a:ext cx="5367337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45960" imgH="507960" progId="Equation.DSMT4">
                  <p:embed/>
                </p:oleObj>
              </mc:Choice>
              <mc:Fallback>
                <p:oleObj name="Equation" r:id="rId3" imgW="2145960" imgH="507960" progId="Equation.DSMT4">
                  <p:embed/>
                  <p:pic>
                    <p:nvPicPr>
                      <p:cNvPr id="304136" name="Object 8">
                        <a:extLst>
                          <a:ext uri="{FF2B5EF4-FFF2-40B4-BE49-F238E27FC236}">
                            <a16:creationId xmlns:a16="http://schemas.microsoft.com/office/drawing/2014/main" id="{6E338740-CC30-4531-B595-79EA199AA3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6133" y="5086349"/>
                        <a:ext cx="5367337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12A0ABF-5B33-4D5F-B43F-6A44840CA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6133" y="5086349"/>
            <a:ext cx="2555875" cy="1223963"/>
          </a:xfrm>
          <a:prstGeom prst="rect">
            <a:avLst/>
          </a:prstGeom>
          <a:noFill/>
          <a:ln w="19050" algn="ctr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306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725F61D7-08C5-4A17-BAB0-4397CB868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779" y="481806"/>
            <a:ext cx="424815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/>
              <a:t>对于</a:t>
            </a:r>
            <a:r>
              <a:rPr lang="en-US" altLang="zh-CN" sz="2800" dirty="0"/>
              <a:t>n</a:t>
            </a:r>
            <a:r>
              <a:rPr lang="zh-CN" altLang="en-US" sz="2800" dirty="0"/>
              <a:t>型衬底</a:t>
            </a:r>
            <a:r>
              <a:rPr lang="en-US" altLang="zh-CN" sz="2800" dirty="0"/>
              <a:t>MOS</a:t>
            </a:r>
            <a:r>
              <a:rPr lang="zh-CN" altLang="en-US" sz="2800" dirty="0"/>
              <a:t>电容器</a:t>
            </a:r>
          </a:p>
        </p:txBody>
      </p:sp>
      <p:pic>
        <p:nvPicPr>
          <p:cNvPr id="5" name="Picture 5" descr="11">
            <a:extLst>
              <a:ext uri="{FF2B5EF4-FFF2-40B4-BE49-F238E27FC236}">
                <a16:creationId xmlns:a16="http://schemas.microsoft.com/office/drawing/2014/main" id="{3D8F2F03-5784-4D31-8C58-EBB8CAD60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886" y="1236663"/>
            <a:ext cx="5124450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F7838897-CBCF-4BCD-BF6A-CCAA708CA1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372185"/>
              </p:ext>
            </p:extLst>
          </p:nvPr>
        </p:nvGraphicFramePr>
        <p:xfrm>
          <a:off x="7485062" y="2901950"/>
          <a:ext cx="2505075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02960" imgH="482400" progId="Equation.DSMT4">
                  <p:embed/>
                </p:oleObj>
              </mc:Choice>
              <mc:Fallback>
                <p:oleObj name="Equation" r:id="rId3" imgW="1002960" imgH="482400" progId="Equation.DSMT4">
                  <p:embed/>
                  <p:pic>
                    <p:nvPicPr>
                      <p:cNvPr id="305158" name="Object 6">
                        <a:extLst>
                          <a:ext uri="{FF2B5EF4-FFF2-40B4-BE49-F238E27FC236}">
                            <a16:creationId xmlns:a16="http://schemas.microsoft.com/office/drawing/2014/main" id="{5B0C5161-C42F-42BE-98F1-4245B46FCC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5062" y="2901950"/>
                        <a:ext cx="2505075" cy="120491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>
            <a:extLst>
              <a:ext uri="{FF2B5EF4-FFF2-40B4-BE49-F238E27FC236}">
                <a16:creationId xmlns:a16="http://schemas.microsoft.com/office/drawing/2014/main" id="{A97A5B2F-4A66-4535-9D97-848DFEDFE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6312" y="1747838"/>
            <a:ext cx="3024188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</a:pPr>
            <a:r>
              <a:rPr lang="zh-CN" altLang="en-US" sz="2400"/>
              <a:t>电势</a:t>
            </a:r>
            <a:r>
              <a:rPr kumimoji="1" lang="zh-CN" altLang="en-US" sz="2400" i="1">
                <a:sym typeface="Symbol" panose="05050102010706020507" pitchFamily="18" charset="2"/>
              </a:rPr>
              <a:t></a:t>
            </a:r>
            <a:r>
              <a:rPr lang="en-US" altLang="zh-CN" sz="2400" i="1" baseline="-25000">
                <a:cs typeface="Times New Roman" panose="02020603050405020304" pitchFamily="18" charset="0"/>
              </a:rPr>
              <a:t>fn</a:t>
            </a:r>
            <a:r>
              <a:rPr lang="zh-CN" altLang="en-US" sz="2400">
                <a:cs typeface="Times New Roman" panose="02020603050405020304" pitchFamily="18" charset="0"/>
              </a:rPr>
              <a:t>同样是</a:t>
            </a:r>
            <a:r>
              <a:rPr lang="en-US" altLang="zh-CN" sz="2400" i="1">
                <a:cs typeface="Times New Roman" panose="02020603050405020304" pitchFamily="18" charset="0"/>
              </a:rPr>
              <a:t>E</a:t>
            </a:r>
            <a:r>
              <a:rPr lang="en-US" altLang="zh-CN" sz="2400" i="1" baseline="-25000">
                <a:cs typeface="Times New Roman" panose="02020603050405020304" pitchFamily="18" charset="0"/>
              </a:rPr>
              <a:t>Fi</a:t>
            </a:r>
            <a:r>
              <a:rPr lang="zh-CN" altLang="en-US" sz="2400">
                <a:cs typeface="Times New Roman" panose="02020603050405020304" pitchFamily="18" charset="0"/>
              </a:rPr>
              <a:t>和</a:t>
            </a:r>
            <a:r>
              <a:rPr lang="en-US" altLang="zh-CN" sz="2400" i="1">
                <a:cs typeface="Times New Roman" panose="02020603050405020304" pitchFamily="18" charset="0"/>
              </a:rPr>
              <a:t>E</a:t>
            </a:r>
            <a:r>
              <a:rPr lang="en-US" altLang="zh-CN" sz="2400" i="1" baseline="-25000">
                <a:cs typeface="Times New Roman" panose="02020603050405020304" pitchFamily="18" charset="0"/>
              </a:rPr>
              <a:t>F</a:t>
            </a:r>
            <a:r>
              <a:rPr lang="zh-CN" altLang="en-US" sz="2400">
                <a:cs typeface="Times New Roman" panose="02020603050405020304" pitchFamily="18" charset="0"/>
              </a:rPr>
              <a:t>之间的势垒高度：</a:t>
            </a:r>
            <a:endParaRPr lang="zh-CN" altLang="el-GR" sz="2400" i="1"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D1719B89-0379-4386-BA31-0EF8238B32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936526"/>
              </p:ext>
            </p:extLst>
          </p:nvPr>
        </p:nvGraphicFramePr>
        <p:xfrm>
          <a:off x="2984500" y="4872830"/>
          <a:ext cx="62230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89040" imgH="507960" progId="Equation.DSMT4">
                  <p:embed/>
                </p:oleObj>
              </mc:Choice>
              <mc:Fallback>
                <p:oleObj name="Equation" r:id="rId5" imgW="2489040" imgH="507960" progId="Equation.DSMT4">
                  <p:embed/>
                  <p:pic>
                    <p:nvPicPr>
                      <p:cNvPr id="305160" name="Object 8">
                        <a:extLst>
                          <a:ext uri="{FF2B5EF4-FFF2-40B4-BE49-F238E27FC236}">
                            <a16:creationId xmlns:a16="http://schemas.microsoft.com/office/drawing/2014/main" id="{C6D84362-B0C5-4764-8C4F-269A3E7B7D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4872830"/>
                        <a:ext cx="6223000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EB50E8CE-964D-4553-93DD-817623FEA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8150" y="4868068"/>
            <a:ext cx="2592388" cy="1223962"/>
          </a:xfrm>
          <a:prstGeom prst="rect">
            <a:avLst/>
          </a:prstGeom>
          <a:noFill/>
          <a:ln w="19050" algn="ctr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91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grpSp>
        <p:nvGrpSpPr>
          <p:cNvPr id="3" name="组合 19">
            <a:extLst>
              <a:ext uri="{FF2B5EF4-FFF2-40B4-BE49-F238E27FC236}">
                <a16:creationId xmlns:a16="http://schemas.microsoft.com/office/drawing/2014/main" id="{AF716E3E-3E5D-4619-A8FC-50EEF2543574}"/>
              </a:ext>
            </a:extLst>
          </p:cNvPr>
          <p:cNvGrpSpPr>
            <a:grpSpLocks/>
          </p:cNvGrpSpPr>
          <p:nvPr/>
        </p:nvGrpSpPr>
        <p:grpSpPr bwMode="auto">
          <a:xfrm>
            <a:off x="7347673" y="2212975"/>
            <a:ext cx="3357562" cy="4264025"/>
            <a:chOff x="5461868" y="2061334"/>
            <a:chExt cx="3358456" cy="4263756"/>
          </a:xfrm>
        </p:grpSpPr>
        <p:grpSp>
          <p:nvGrpSpPr>
            <p:cNvPr id="5" name="组合 17">
              <a:extLst>
                <a:ext uri="{FF2B5EF4-FFF2-40B4-BE49-F238E27FC236}">
                  <a16:creationId xmlns:a16="http://schemas.microsoft.com/office/drawing/2014/main" id="{0C7FF32F-D61E-4659-9496-180EEC70AF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1868" y="2061334"/>
              <a:ext cx="3358456" cy="4263756"/>
              <a:chOff x="5461868" y="2061334"/>
              <a:chExt cx="3358456" cy="4263756"/>
            </a:xfrm>
          </p:grpSpPr>
          <p:pic>
            <p:nvPicPr>
              <p:cNvPr id="7" name="图片 15" descr="11.22.jpg">
                <a:extLst>
                  <a:ext uri="{FF2B5EF4-FFF2-40B4-BE49-F238E27FC236}">
                    <a16:creationId xmlns:a16="http://schemas.microsoft.com/office/drawing/2014/main" id="{01916AB7-790E-4235-AAE0-C06871C7F6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38" r="444"/>
              <a:stretch>
                <a:fillRect/>
              </a:stretch>
            </p:blipFill>
            <p:spPr bwMode="auto">
              <a:xfrm>
                <a:off x="5461868" y="2077383"/>
                <a:ext cx="3231721" cy="42477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" name="TextBox 16">
                <a:extLst>
                  <a:ext uri="{FF2B5EF4-FFF2-40B4-BE49-F238E27FC236}">
                    <a16:creationId xmlns:a16="http://schemas.microsoft.com/office/drawing/2014/main" id="{EB18F9A5-6265-471F-AECE-154DA9CC42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16268" y="2061334"/>
                <a:ext cx="504056" cy="37856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电子反型电荷密度与表面电势的关系</a:t>
                </a:r>
              </a:p>
            </p:txBody>
          </p:sp>
        </p:grpSp>
        <p:graphicFrame>
          <p:nvGraphicFramePr>
            <p:cNvPr id="6" name="Object 7">
              <a:extLst>
                <a:ext uri="{FF2B5EF4-FFF2-40B4-BE49-F238E27FC236}">
                  <a16:creationId xmlns:a16="http://schemas.microsoft.com/office/drawing/2014/main" id="{20B277D0-FF3F-45C8-AC88-5B83742589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89675" y="2276872"/>
            <a:ext cx="1298575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863280" imgH="241200" progId="Equation.DSMT4">
                    <p:embed/>
                  </p:oleObj>
                </mc:Choice>
                <mc:Fallback>
                  <p:oleObj name="Equation" r:id="rId3" imgW="863280" imgH="241200" progId="Equation.DSMT4">
                    <p:embed/>
                    <p:pic>
                      <p:nvPicPr>
                        <p:cNvPr id="2" name="Object 7">
                          <a:extLst>
                            <a:ext uri="{FF2B5EF4-FFF2-40B4-BE49-F238E27FC236}">
                              <a16:creationId xmlns:a16="http://schemas.microsoft.com/office/drawing/2014/main" id="{2B0B45FC-5557-47F7-9AFD-19B95B07A2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9675" y="2276872"/>
                          <a:ext cx="1298575" cy="363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F3D588DB-3C34-4CE4-B5EE-C1192A7B7284}"/>
              </a:ext>
            </a:extLst>
          </p:cNvPr>
          <p:cNvSpPr txBox="1">
            <a:spLocks noChangeArrowheads="1"/>
          </p:cNvSpPr>
          <p:nvPr/>
        </p:nvSpPr>
        <p:spPr>
          <a:xfrm>
            <a:off x="149514" y="356610"/>
            <a:ext cx="4319588" cy="576263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（</a:t>
            </a:r>
            <a:r>
              <a:rPr lang="en-US" altLang="zh-CN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3</a:t>
            </a: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/>
              </a:rPr>
              <a:t>）表面电荷浓度</a:t>
            </a:r>
          </a:p>
        </p:txBody>
      </p:sp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9B980A95-BFC7-4D35-AE8E-D686E75C88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804009"/>
              </p:ext>
            </p:extLst>
          </p:nvPr>
        </p:nvGraphicFramePr>
        <p:xfrm>
          <a:off x="6812613" y="932873"/>
          <a:ext cx="2671763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431640" progId="Equation.DSMT4">
                  <p:embed/>
                </p:oleObj>
              </mc:Choice>
              <mc:Fallback>
                <p:oleObj name="Equation" r:id="rId5" imgW="1333440" imgH="431640" progId="Equation.DSMT4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B3BA2955-60A0-4899-BD5E-A2573ABE92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2613" y="932873"/>
                        <a:ext cx="2671763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25">
            <a:extLst>
              <a:ext uri="{FF2B5EF4-FFF2-40B4-BE49-F238E27FC236}">
                <a16:creationId xmlns:a16="http://schemas.microsoft.com/office/drawing/2014/main" id="{C6573467-6865-4532-B3D8-56B34D498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613" y="1031298"/>
            <a:ext cx="583406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由第</a:t>
            </a:r>
            <a:r>
              <a:rPr lang="en-US" altLang="zh-CN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cs typeface="Times New Roman" panose="02020603050405020304" pitchFamily="18" charset="0"/>
              </a:rPr>
              <a:t>章中可知，导带中的电子浓度写为</a:t>
            </a:r>
            <a:endParaRPr lang="zh-CN" altLang="el-GR" sz="2400" i="1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15EDC825-769B-4658-B0FB-30DCE56D8B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933321"/>
              </p:ext>
            </p:extLst>
          </p:nvPr>
        </p:nvGraphicFramePr>
        <p:xfrm>
          <a:off x="2161238" y="2102860"/>
          <a:ext cx="340995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01720" imgH="482400" progId="Equation.DSMT4">
                  <p:embed/>
                </p:oleObj>
              </mc:Choice>
              <mc:Fallback>
                <p:oleObj name="Equation" r:id="rId7" imgW="1701720" imgH="482400" progId="Equation.DSMT4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60A183EF-A9D5-43F7-8F26-4179EF3A04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1238" y="2102860"/>
                        <a:ext cx="340995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5">
            <a:extLst>
              <a:ext uri="{FF2B5EF4-FFF2-40B4-BE49-F238E27FC236}">
                <a16:creationId xmlns:a16="http://schemas.microsoft.com/office/drawing/2014/main" id="{590D873E-2B7C-4F38-8FA0-42633BDA1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613" y="1629785"/>
            <a:ext cx="5976938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2400">
                <a:solidFill>
                  <a:srgbClr val="000000"/>
                </a:solidFill>
                <a:cs typeface="Times New Roman" panose="02020603050405020304" pitchFamily="18" charset="0"/>
              </a:rPr>
              <a:t>型半导体衬底，电子反型电荷浓度写为</a:t>
            </a:r>
            <a:endParaRPr lang="zh-CN" altLang="el-GR" sz="2400" i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80F1552-9BF5-45C2-9C8A-905F082AD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613" y="3037898"/>
            <a:ext cx="59769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其中，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△</a:t>
            </a:r>
            <a:r>
              <a:rPr kumimoji="1" lang="zh-CN" altLang="en-US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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是表面电势超过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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fp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的部分。</a:t>
            </a:r>
            <a:endParaRPr kumimoji="0" lang="zh-CN" altLang="el-GR" sz="2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CA692B01-2F61-4648-B4D0-A152AD654E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683310"/>
              </p:ext>
            </p:extLst>
          </p:nvPr>
        </p:nvGraphicFramePr>
        <p:xfrm>
          <a:off x="2305701" y="3968173"/>
          <a:ext cx="2290762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3000" imgH="482400" progId="Equation.DSMT4">
                  <p:embed/>
                </p:oleObj>
              </mc:Choice>
              <mc:Fallback>
                <p:oleObj name="Equation" r:id="rId9" imgW="1143000" imgH="482400" progId="Equation.DSMT4">
                  <p:embed/>
                  <p:pic>
                    <p:nvPicPr>
                      <p:cNvPr id="12" name="Object 5">
                        <a:extLst>
                          <a:ext uri="{FF2B5EF4-FFF2-40B4-BE49-F238E27FC236}">
                            <a16:creationId xmlns:a16="http://schemas.microsoft.com/office/drawing/2014/main" id="{6C2C92FA-F88F-47D3-94E1-205B24318D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5701" y="3968173"/>
                        <a:ext cx="2290762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5">
            <a:extLst>
              <a:ext uri="{FF2B5EF4-FFF2-40B4-BE49-F238E27FC236}">
                <a16:creationId xmlns:a16="http://schemas.microsoft.com/office/drawing/2014/main" id="{AC715F38-067D-4CF9-A8D0-6912A019D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613" y="3534785"/>
            <a:ext cx="44656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00"/>
                </a:solidFill>
                <a:cs typeface="Times New Roman" panose="02020603050405020304" pitchFamily="18" charset="0"/>
              </a:rPr>
              <a:t>则，电子反型电荷浓度可写为</a:t>
            </a:r>
            <a:endParaRPr lang="zh-CN" altLang="el-GR" sz="2400" i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C8A9E411-CF0C-44F3-B824-69B1D115B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613" y="4838123"/>
            <a:ext cx="54006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其中，反型临界点的表面电荷密度</a:t>
            </a:r>
            <a:r>
              <a:rPr kumimoji="1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st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为</a:t>
            </a:r>
            <a:endParaRPr kumimoji="0" lang="zh-CN" altLang="el-GR" sz="2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65DDE727-7741-4EA9-93D1-BC44674794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189674"/>
              </p:ext>
            </p:extLst>
          </p:nvPr>
        </p:nvGraphicFramePr>
        <p:xfrm>
          <a:off x="2589863" y="5238173"/>
          <a:ext cx="192563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66680" imgH="482400" progId="Equation.DSMT4">
                  <p:embed/>
                </p:oleObj>
              </mc:Choice>
              <mc:Fallback>
                <p:oleObj name="Equation" r:id="rId11" imgW="1066680" imgH="482400" progId="Equation.DSMT4">
                  <p:embed/>
                  <p:pic>
                    <p:nvPicPr>
                      <p:cNvPr id="202776" name="Object 6">
                        <a:extLst>
                          <a:ext uri="{FF2B5EF4-FFF2-40B4-BE49-F238E27FC236}">
                            <a16:creationId xmlns:a16="http://schemas.microsoft.com/office/drawing/2014/main" id="{34B6C164-07A7-4BC6-886A-6EF62D8DF4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863" y="5238173"/>
                        <a:ext cx="1925638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14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3" name="Picture 9" descr="11">
            <a:extLst>
              <a:ext uri="{FF2B5EF4-FFF2-40B4-BE49-F238E27FC236}">
                <a16:creationId xmlns:a16="http://schemas.microsoft.com/office/drawing/2014/main" id="{13DF50E5-4603-41EF-BA9C-9DEC219DB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706" y="806450"/>
            <a:ext cx="8510588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C27FE5F2-A0F9-45F2-98B1-7D3C0F12F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59" y="418306"/>
            <a:ext cx="822960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4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）功函数</a:t>
            </a:r>
          </a:p>
        </p:txBody>
      </p:sp>
      <p:grpSp>
        <p:nvGrpSpPr>
          <p:cNvPr id="6" name="Group 13">
            <a:extLst>
              <a:ext uri="{FF2B5EF4-FFF2-40B4-BE49-F238E27FC236}">
                <a16:creationId xmlns:a16="http://schemas.microsoft.com/office/drawing/2014/main" id="{120E41DA-94DE-4AA3-B5C8-1D59D114A225}"/>
              </a:ext>
            </a:extLst>
          </p:cNvPr>
          <p:cNvGrpSpPr>
            <a:grpSpLocks/>
          </p:cNvGrpSpPr>
          <p:nvPr/>
        </p:nvGrpSpPr>
        <p:grpSpPr bwMode="auto">
          <a:xfrm>
            <a:off x="2279650" y="5414963"/>
            <a:ext cx="7632700" cy="1062037"/>
            <a:chOff x="113" y="3329"/>
            <a:chExt cx="4808" cy="669"/>
          </a:xfrm>
        </p:grpSpPr>
        <p:graphicFrame>
          <p:nvGraphicFramePr>
            <p:cNvPr id="7" name="Object 10">
              <a:extLst>
                <a:ext uri="{FF2B5EF4-FFF2-40B4-BE49-F238E27FC236}">
                  <a16:creationId xmlns:a16="http://schemas.microsoft.com/office/drawing/2014/main" id="{2885C681-3CEB-4837-97DB-CFC0F33052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20" y="3329"/>
            <a:ext cx="2201" cy="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87240" imgH="482400" progId="Equation.DSMT4">
                    <p:embed/>
                  </p:oleObj>
                </mc:Choice>
                <mc:Fallback>
                  <p:oleObj name="Equation" r:id="rId3" imgW="1587240" imgH="482400" progId="Equation.DSMT4">
                    <p:embed/>
                    <p:pic>
                      <p:nvPicPr>
                        <p:cNvPr id="5122" name="Object 10">
                          <a:extLst>
                            <a:ext uri="{FF2B5EF4-FFF2-40B4-BE49-F238E27FC236}">
                              <a16:creationId xmlns:a16="http://schemas.microsoft.com/office/drawing/2014/main" id="{BA40DB50-51C2-4CD8-AACD-BD5243FC4C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0" y="3329"/>
                          <a:ext cx="2201" cy="669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12">
              <a:extLst>
                <a:ext uri="{FF2B5EF4-FFF2-40B4-BE49-F238E27FC236}">
                  <a16:creationId xmlns:a16="http://schemas.microsoft.com/office/drawing/2014/main" id="{7304C010-488F-4768-A93D-1A387B543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3531"/>
              <a:ext cx="28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金属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-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半导体功函数差定义为：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851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39262EB-DBFF-4FDC-9C21-DB593AEF0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67" y="370680"/>
            <a:ext cx="822960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5</a:t>
            </a:r>
            <a:r>
              <a:rPr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）平带电压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7F30F2-ED56-4C25-9104-B201CF32D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5978" y="1087438"/>
            <a:ext cx="82677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定义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：当半导体内没有能带弯曲时所加的栅压。此时净空间电荷为零。</a:t>
            </a:r>
          </a:p>
        </p:txBody>
      </p:sp>
      <p:pic>
        <p:nvPicPr>
          <p:cNvPr id="6" name="Picture 6" descr="11">
            <a:extLst>
              <a:ext uri="{FF2B5EF4-FFF2-40B4-BE49-F238E27FC236}">
                <a16:creationId xmlns:a16="http://schemas.microsoft.com/office/drawing/2014/main" id="{9C76A4FB-B841-4B5B-B756-382FB2332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490" y="2122488"/>
            <a:ext cx="41814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11">
            <a:extLst>
              <a:ext uri="{FF2B5EF4-FFF2-40B4-BE49-F238E27FC236}">
                <a16:creationId xmlns:a16="http://schemas.microsoft.com/office/drawing/2014/main" id="{8E229335-91B3-453B-B5E2-53F1DDCDB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128" y="1762125"/>
            <a:ext cx="320040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8">
            <a:extLst>
              <a:ext uri="{FF2B5EF4-FFF2-40B4-BE49-F238E27FC236}">
                <a16:creationId xmlns:a16="http://schemas.microsoft.com/office/drawing/2014/main" id="{6086E9EF-E851-46C1-980A-F78460021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8190" y="4313238"/>
            <a:ext cx="82804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前面的讨论中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假设氧化物中的净电荷为零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，而通常为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正值的净固定电荷可存在于氧化物中靠近氧化物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半导体界面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grpSp>
        <p:nvGrpSpPr>
          <p:cNvPr id="9" name="Group 18">
            <a:extLst>
              <a:ext uri="{FF2B5EF4-FFF2-40B4-BE49-F238E27FC236}">
                <a16:creationId xmlns:a16="http://schemas.microsoft.com/office/drawing/2014/main" id="{DF8C111C-363F-4BEB-A7C1-1714DE8A51DB}"/>
              </a:ext>
            </a:extLst>
          </p:cNvPr>
          <p:cNvGrpSpPr>
            <a:grpSpLocks/>
          </p:cNvGrpSpPr>
          <p:nvPr/>
        </p:nvGrpSpPr>
        <p:grpSpPr bwMode="auto">
          <a:xfrm>
            <a:off x="1402628" y="5335588"/>
            <a:ext cx="4243387" cy="863600"/>
            <a:chOff x="68" y="3445"/>
            <a:chExt cx="2673" cy="544"/>
          </a:xfrm>
        </p:grpSpPr>
        <p:graphicFrame>
          <p:nvGraphicFramePr>
            <p:cNvPr id="10" name="Object 10">
              <a:extLst>
                <a:ext uri="{FF2B5EF4-FFF2-40B4-BE49-F238E27FC236}">
                  <a16:creationId xmlns:a16="http://schemas.microsoft.com/office/drawing/2014/main" id="{8F097D15-BCDB-49EF-80AF-FA3A3ED517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6" y="3445"/>
            <a:ext cx="1585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57120" imgH="431640" progId="Equation.DSMT4">
                    <p:embed/>
                  </p:oleObj>
                </mc:Choice>
                <mc:Fallback>
                  <p:oleObj name="Equation" r:id="rId4" imgW="1257120" imgH="431640" progId="Equation.DSMT4">
                    <p:embed/>
                    <p:pic>
                      <p:nvPicPr>
                        <p:cNvPr id="6146" name="Object 10">
                          <a:extLst>
                            <a:ext uri="{FF2B5EF4-FFF2-40B4-BE49-F238E27FC236}">
                              <a16:creationId xmlns:a16="http://schemas.microsoft.com/office/drawing/2014/main" id="{7BAD76CA-E33A-401E-8CBA-E893FBC85F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6" y="3445"/>
                          <a:ext cx="1585" cy="544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0099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11E4E001-DFA7-42FC-A651-D27B6F34E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" y="3570"/>
              <a:ext cx="11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平带电压为</a:t>
              </a:r>
            </a:p>
          </p:txBody>
        </p:sp>
      </p:grpSp>
      <p:grpSp>
        <p:nvGrpSpPr>
          <p:cNvPr id="12" name="Group 15">
            <a:extLst>
              <a:ext uri="{FF2B5EF4-FFF2-40B4-BE49-F238E27FC236}">
                <a16:creationId xmlns:a16="http://schemas.microsoft.com/office/drawing/2014/main" id="{322FD9BB-92B6-48E5-83C8-137FA43E8CB1}"/>
              </a:ext>
            </a:extLst>
          </p:cNvPr>
          <p:cNvGrpSpPr>
            <a:grpSpLocks/>
          </p:cNvGrpSpPr>
          <p:nvPr/>
        </p:nvGrpSpPr>
        <p:grpSpPr bwMode="auto">
          <a:xfrm>
            <a:off x="5553940" y="5303838"/>
            <a:ext cx="4129088" cy="457200"/>
            <a:chOff x="2683" y="3425"/>
            <a:chExt cx="2601" cy="288"/>
          </a:xfrm>
        </p:grpSpPr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D5E97B04-A3BB-4823-B90F-F6548F875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3425"/>
              <a:ext cx="21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单位面积电荷数</a:t>
              </a: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BFF051EB-6703-4FF7-99AD-BCB204C926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3" y="3572"/>
              <a:ext cx="45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</p:grpSp>
      <p:grpSp>
        <p:nvGrpSpPr>
          <p:cNvPr id="15" name="Group 17">
            <a:extLst>
              <a:ext uri="{FF2B5EF4-FFF2-40B4-BE49-F238E27FC236}">
                <a16:creationId xmlns:a16="http://schemas.microsoft.com/office/drawing/2014/main" id="{C1AF365B-59B3-4014-96B5-9E61608604FD}"/>
              </a:ext>
            </a:extLst>
          </p:cNvPr>
          <p:cNvGrpSpPr>
            <a:grpSpLocks/>
          </p:cNvGrpSpPr>
          <p:nvPr/>
        </p:nvGrpSpPr>
        <p:grpSpPr bwMode="auto">
          <a:xfrm>
            <a:off x="5547590" y="5791200"/>
            <a:ext cx="4464050" cy="457200"/>
            <a:chOff x="2699" y="3732"/>
            <a:chExt cx="2812" cy="288"/>
          </a:xfrm>
        </p:grpSpPr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261E71A2-B39C-4DC2-929B-99C50F50E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3732"/>
              <a:ext cx="2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单位面积的栅氧化层电容</a:t>
              </a: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8DA6D720-BE09-42FB-8F9A-0668D18F4C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99" y="3884"/>
              <a:ext cx="45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906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7BF523-5C2D-4361-8E26-631F18364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22" y="448470"/>
            <a:ext cx="8229600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6</a:t>
            </a:r>
            <a:r>
              <a:rPr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）阈值电压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F8A56F5F-4354-423D-A4AD-1CDAD74FE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434" y="2687637"/>
            <a:ext cx="4140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忽略反型层电荷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，由电荷守恒原理，可得</a:t>
            </a:r>
          </a:p>
        </p:txBody>
      </p:sp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A9156629-5D4D-4841-83FE-135C5020BA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4179226"/>
              </p:ext>
            </p:extLst>
          </p:nvPr>
        </p:nvGraphicFramePr>
        <p:xfrm>
          <a:off x="1959697" y="3632200"/>
          <a:ext cx="317817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279360" progId="Equation.DSMT4">
                  <p:embed/>
                </p:oleObj>
              </mc:Choice>
              <mc:Fallback>
                <p:oleObj name="Equation" r:id="rId2" imgW="1447560" imgH="279360" progId="Equation.DSMT4">
                  <p:embed/>
                  <p:pic>
                    <p:nvPicPr>
                      <p:cNvPr id="310280" name="Object 8">
                        <a:extLst>
                          <a:ext uri="{FF2B5EF4-FFF2-40B4-BE49-F238E27FC236}">
                            <a16:creationId xmlns:a16="http://schemas.microsoft.com/office/drawing/2014/main" id="{F3FAF636-83BF-446A-B390-BEE4836A6F5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697" y="3632200"/>
                        <a:ext cx="317817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9">
            <a:extLst>
              <a:ext uri="{FF2B5EF4-FFF2-40B4-BE49-F238E27FC236}">
                <a16:creationId xmlns:a16="http://schemas.microsoft.com/office/drawing/2014/main" id="{7525C58C-7DB2-4D84-B6B3-3F7A2103F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6459" y="4224337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</a:p>
        </p:txBody>
      </p:sp>
      <p:pic>
        <p:nvPicPr>
          <p:cNvPr id="8" name="Picture 16" descr="11">
            <a:extLst>
              <a:ext uri="{FF2B5EF4-FFF2-40B4-BE49-F238E27FC236}">
                <a16:creationId xmlns:a16="http://schemas.microsoft.com/office/drawing/2014/main" id="{2976EF32-B8CF-424D-8DDA-B87A57604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6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684" y="2255837"/>
            <a:ext cx="3922713" cy="290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8">
            <a:extLst>
              <a:ext uri="{FF2B5EF4-FFF2-40B4-BE49-F238E27FC236}">
                <a16:creationId xmlns:a16="http://schemas.microsoft.com/office/drawing/2014/main" id="{22E10D35-62C5-424C-A51C-8F18058D7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3434" y="1111250"/>
            <a:ext cx="8604250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阈值电压定义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：达到阈值反型点时所需的栅压。</a:t>
            </a:r>
          </a:p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阈值反型点的定义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：对于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型器件当</a:t>
            </a:r>
            <a:r>
              <a:rPr kumimoji="1" lang="zh-CN" altLang="en-US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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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fp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时或对于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型器件当</a:t>
            </a:r>
            <a:r>
              <a:rPr kumimoji="1" lang="zh-CN" altLang="en-US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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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fn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时的器件状态。</a:t>
            </a:r>
            <a:endParaRPr kumimoji="0" lang="zh-CN" altLang="el-GR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20">
            <a:extLst>
              <a:ext uri="{FF2B5EF4-FFF2-40B4-BE49-F238E27FC236}">
                <a16:creationId xmlns:a16="http://schemas.microsoft.com/office/drawing/2014/main" id="{9D7795D3-0685-4FC6-BCCB-530E8B5604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196228"/>
              </p:ext>
            </p:extLst>
          </p:nvPr>
        </p:nvGraphicFramePr>
        <p:xfrm>
          <a:off x="2104159" y="4719637"/>
          <a:ext cx="2846388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95280" imgH="279360" progId="Equation.DSMT4">
                  <p:embed/>
                </p:oleObj>
              </mc:Choice>
              <mc:Fallback>
                <p:oleObj name="Equation" r:id="rId5" imgW="1295280" imgH="279360" progId="Equation.DSMT4">
                  <p:embed/>
                  <p:pic>
                    <p:nvPicPr>
                      <p:cNvPr id="310292" name="Object 20">
                        <a:extLst>
                          <a:ext uri="{FF2B5EF4-FFF2-40B4-BE49-F238E27FC236}">
                            <a16:creationId xmlns:a16="http://schemas.microsoft.com/office/drawing/2014/main" id="{54A2436B-1D3C-4556-AC0D-25E6AB4FFB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4159" y="4719637"/>
                        <a:ext cx="2846388" cy="61436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22">
            <a:extLst>
              <a:ext uri="{FF2B5EF4-FFF2-40B4-BE49-F238E27FC236}">
                <a16:creationId xmlns:a16="http://schemas.microsoft.com/office/drawing/2014/main" id="{7EC277D7-2DE1-4711-89EE-4A5C9666069C}"/>
              </a:ext>
            </a:extLst>
          </p:cNvPr>
          <p:cNvGrpSpPr>
            <a:grpSpLocks/>
          </p:cNvGrpSpPr>
          <p:nvPr/>
        </p:nvGrpSpPr>
        <p:grpSpPr bwMode="auto">
          <a:xfrm>
            <a:off x="1527897" y="5280025"/>
            <a:ext cx="6985000" cy="968375"/>
            <a:chOff x="249" y="3385"/>
            <a:chExt cx="4400" cy="610"/>
          </a:xfrm>
        </p:grpSpPr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E8F2D5B9-E8C7-44F0-983D-D30DF69B7C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3550"/>
              <a:ext cx="18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阈值电压可表示为：</a:t>
              </a:r>
            </a:p>
          </p:txBody>
        </p:sp>
        <p:graphicFrame>
          <p:nvGraphicFramePr>
            <p:cNvPr id="13" name="Object 21">
              <a:extLst>
                <a:ext uri="{FF2B5EF4-FFF2-40B4-BE49-F238E27FC236}">
                  <a16:creationId xmlns:a16="http://schemas.microsoft.com/office/drawing/2014/main" id="{46580A1B-1C34-40E0-89F8-162B53F869F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366" y="3385"/>
            <a:ext cx="2283" cy="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815840" imgH="482400" progId="Equation.DSMT4">
                    <p:embed/>
                  </p:oleObj>
                </mc:Choice>
                <mc:Fallback>
                  <p:oleObj name="Equation" r:id="rId7" imgW="1815840" imgH="482400" progId="Equation.DSMT4">
                    <p:embed/>
                    <p:pic>
                      <p:nvPicPr>
                        <p:cNvPr id="7172" name="Object 21">
                          <a:extLst>
                            <a:ext uri="{FF2B5EF4-FFF2-40B4-BE49-F238E27FC236}">
                              <a16:creationId xmlns:a16="http://schemas.microsoft.com/office/drawing/2014/main" id="{8486B05B-FC65-4B4F-99DB-335683F575F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6" y="3385"/>
                          <a:ext cx="2283" cy="6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2934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6FA8F0E-7EC0-4832-BE22-9C9410AC0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820" y="1724025"/>
            <a:ext cx="891836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p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型、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n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MOS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电容器栅压比较：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p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MOS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电容器，负栅压表明其为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耗尽型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器件；正偏栅压将产生更多的反型层电荷电子。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n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MOS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电容器，负栅压表明其为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增强型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器件；负偏栅压将产生更多的反型层电荷空穴。</a:t>
            </a:r>
          </a:p>
        </p:txBody>
      </p:sp>
    </p:spTree>
    <p:extLst>
      <p:ext uri="{BB962C8B-B14F-4D97-AF65-F5344CB8AC3E}">
        <p14:creationId xmlns:p14="http://schemas.microsoft.com/office/powerpoint/2010/main" val="408135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3" name="Rectangle 119">
            <a:extLst>
              <a:ext uri="{FF2B5EF4-FFF2-40B4-BE49-F238E27FC236}">
                <a16:creationId xmlns:a16="http://schemas.microsoft.com/office/drawing/2014/main" id="{EA7FD9C0-9BBD-4989-BFA9-00329AD66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611" y="673822"/>
            <a:ext cx="343535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电容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-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电压特性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17D8834-7013-4FCA-BE5C-1A0BBC31D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2479" y="1804122"/>
            <a:ext cx="6381750" cy="146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1313" marR="0" lvl="0" indent="-341313" algn="l" defTabSz="914400" rtl="0" eaLnBrk="0" fontAlgn="base" latinLnBrk="0" hangingPunct="0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MOS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电容结构是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MOSFET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的核心</a:t>
            </a:r>
          </a:p>
          <a:p>
            <a:pPr marL="341313" marR="0" lvl="0" indent="-341313" algn="l" defTabSz="914400" rtl="0" eaLnBrk="0" fontAlgn="base" latinLnBrk="0" hangingPunct="0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器件的电容定义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D1AFB565-4550-4BE0-B035-DEE5A0B133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679267"/>
              </p:ext>
            </p:extLst>
          </p:nvPr>
        </p:nvGraphicFramePr>
        <p:xfrm>
          <a:off x="5409623" y="3272559"/>
          <a:ext cx="12985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560" imgH="393480" progId="Equation.DSMT4">
                  <p:embed/>
                </p:oleObj>
              </mc:Choice>
              <mc:Fallback>
                <p:oleObj name="Equation" r:id="rId2" imgW="520560" imgH="393480" progId="Equation.DSMT4">
                  <p:embed/>
                  <p:pic>
                    <p:nvPicPr>
                      <p:cNvPr id="192630" name="Object 2">
                        <a:extLst>
                          <a:ext uri="{FF2B5EF4-FFF2-40B4-BE49-F238E27FC236}">
                            <a16:creationId xmlns:a16="http://schemas.microsoft.com/office/drawing/2014/main" id="{75ACEF7F-3B07-429F-9602-F4099C8EBB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9623" y="3272559"/>
                        <a:ext cx="129857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21">
            <a:extLst>
              <a:ext uri="{FF2B5EF4-FFF2-40B4-BE49-F238E27FC236}">
                <a16:creationId xmlns:a16="http://schemas.microsoft.com/office/drawing/2014/main" id="{45D034EC-559B-452D-BC1F-F7394ACE3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1286" y="4869584"/>
            <a:ext cx="7704137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其中，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dQ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为板上电荷的微分变量，它是穿过电容的电压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dV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的微分变量函数。</a:t>
            </a:r>
          </a:p>
        </p:txBody>
      </p:sp>
    </p:spTree>
    <p:extLst>
      <p:ext uri="{BB962C8B-B14F-4D97-AF65-F5344CB8AC3E}">
        <p14:creationId xmlns:p14="http://schemas.microsoft.com/office/powerpoint/2010/main" val="252739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grpSp>
        <p:nvGrpSpPr>
          <p:cNvPr id="3" name="Group 27">
            <a:extLst>
              <a:ext uri="{FF2B5EF4-FFF2-40B4-BE49-F238E27FC236}">
                <a16:creationId xmlns:a16="http://schemas.microsoft.com/office/drawing/2014/main" id="{7D818B45-3203-42E6-A1D8-88D2D5EDB3A4}"/>
              </a:ext>
            </a:extLst>
          </p:cNvPr>
          <p:cNvGrpSpPr>
            <a:grpSpLocks/>
          </p:cNvGrpSpPr>
          <p:nvPr/>
        </p:nvGrpSpPr>
        <p:grpSpPr bwMode="auto">
          <a:xfrm>
            <a:off x="6150119" y="1470025"/>
            <a:ext cx="4572000" cy="3917950"/>
            <a:chOff x="2925" y="826"/>
            <a:chExt cx="2880" cy="2468"/>
          </a:xfrm>
        </p:grpSpPr>
        <p:pic>
          <p:nvPicPr>
            <p:cNvPr id="5" name="Picture 20" descr="11">
              <a:extLst>
                <a:ext uri="{FF2B5EF4-FFF2-40B4-BE49-F238E27FC236}">
                  <a16:creationId xmlns:a16="http://schemas.microsoft.com/office/drawing/2014/main" id="{00304550-18D9-48FC-BE7A-9F6CBA05F2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610" r="8569"/>
            <a:stretch>
              <a:fillRect/>
            </a:stretch>
          </p:blipFill>
          <p:spPr bwMode="auto">
            <a:xfrm>
              <a:off x="3470" y="826"/>
              <a:ext cx="2222" cy="2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23">
              <a:extLst>
                <a:ext uri="{FF2B5EF4-FFF2-40B4-BE49-F238E27FC236}">
                  <a16:creationId xmlns:a16="http://schemas.microsoft.com/office/drawing/2014/main" id="{84BF4E1E-B4A8-43E4-B8F4-2C43DDF7D1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3044"/>
              <a:ext cx="28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堆积模式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下栅压微变时的微分电荷分布</a:t>
              </a:r>
            </a:p>
          </p:txBody>
        </p:sp>
      </p:grpSp>
      <p:sp>
        <p:nvSpPr>
          <p:cNvPr id="7" name="Rectangle 13">
            <a:extLst>
              <a:ext uri="{FF2B5EF4-FFF2-40B4-BE49-F238E27FC236}">
                <a16:creationId xmlns:a16="http://schemas.microsoft.com/office/drawing/2014/main" id="{41640B3D-4BD5-452A-8D99-96CC3B9EA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15" y="365125"/>
            <a:ext cx="5761037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1</a:t>
            </a:r>
            <a:r>
              <a:rPr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）理想</a:t>
            </a:r>
            <a:r>
              <a:rPr lang="en-US" altLang="zh-CN" sz="32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</a:t>
            </a:r>
            <a:r>
              <a:rPr lang="en-US" altLang="zh-C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-</a:t>
            </a:r>
            <a:r>
              <a:rPr lang="en-US" altLang="zh-CN" sz="32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V</a:t>
            </a:r>
            <a:r>
              <a:rPr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特性</a:t>
            </a:r>
            <a:endParaRPr lang="zh-CN" altLang="en-US" sz="3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8" name="Text Box 24">
            <a:extLst>
              <a:ext uri="{FF2B5EF4-FFF2-40B4-BE49-F238E27FC236}">
                <a16:creationId xmlns:a16="http://schemas.microsoft.com/office/drawing/2014/main" id="{4EB76CAF-840C-4DFD-BCB9-BB4F63AB4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631" y="5459413"/>
            <a:ext cx="79946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堆积模式下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MOS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电容器的单位电容</a:t>
            </a:r>
            <a:r>
              <a:rPr lang="en-US" altLang="zh-CN" sz="2400" b="1" i="1" dirty="0">
                <a:solidFill>
                  <a:srgbClr val="000000"/>
                </a:solidFill>
                <a:ea typeface="楷体_GB2312" pitchFamily="49" charset="-122"/>
              </a:rPr>
              <a:t>C'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，即</a:t>
            </a:r>
            <a:r>
              <a:rPr lang="zh-CN" altLang="en-US" sz="2400" b="1" dirty="0">
                <a:solidFill>
                  <a:srgbClr val="FF00FF"/>
                </a:solidFill>
                <a:ea typeface="楷体_GB2312" pitchFamily="49" charset="-122"/>
              </a:rPr>
              <a:t>栅氧化层电容</a:t>
            </a: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9586FEB0-62D8-491A-A56D-20034A98BA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207233"/>
              </p:ext>
            </p:extLst>
          </p:nvPr>
        </p:nvGraphicFramePr>
        <p:xfrm>
          <a:off x="4275281" y="5861050"/>
          <a:ext cx="357346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34960" imgH="253800" progId="Equation.DSMT4">
                  <p:embed/>
                </p:oleObj>
              </mc:Choice>
              <mc:Fallback>
                <p:oleObj name="Equation" r:id="rId3" imgW="1434960" imgH="253800" progId="Equation.DSMT4">
                  <p:embed/>
                  <p:pic>
                    <p:nvPicPr>
                      <p:cNvPr id="197661" name="Object 2">
                        <a:extLst>
                          <a:ext uri="{FF2B5EF4-FFF2-40B4-BE49-F238E27FC236}">
                            <a16:creationId xmlns:a16="http://schemas.microsoft.com/office/drawing/2014/main" id="{558FA12D-4836-44F4-A889-D851D4B588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281" y="5861050"/>
                        <a:ext cx="3573463" cy="631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34">
            <a:extLst>
              <a:ext uri="{FF2B5EF4-FFF2-40B4-BE49-F238E27FC236}">
                <a16:creationId xmlns:a16="http://schemas.microsoft.com/office/drawing/2014/main" id="{BC9F3C08-860C-4558-9032-BF0A648FD68F}"/>
              </a:ext>
            </a:extLst>
          </p:cNvPr>
          <p:cNvGrpSpPr>
            <a:grpSpLocks/>
          </p:cNvGrpSpPr>
          <p:nvPr/>
        </p:nvGrpSpPr>
        <p:grpSpPr bwMode="auto">
          <a:xfrm>
            <a:off x="1614631" y="1462088"/>
            <a:ext cx="5183188" cy="3925887"/>
            <a:chOff x="68" y="821"/>
            <a:chExt cx="3265" cy="2473"/>
          </a:xfrm>
        </p:grpSpPr>
        <p:grpSp>
          <p:nvGrpSpPr>
            <p:cNvPr id="11" name="Group 28">
              <a:extLst>
                <a:ext uri="{FF2B5EF4-FFF2-40B4-BE49-F238E27FC236}">
                  <a16:creationId xmlns:a16="http://schemas.microsoft.com/office/drawing/2014/main" id="{A44D8ED3-AC18-442C-A3A5-2445ECCBB7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" y="821"/>
              <a:ext cx="3265" cy="2473"/>
              <a:chOff x="68" y="821"/>
              <a:chExt cx="3265" cy="2473"/>
            </a:xfrm>
          </p:grpSpPr>
          <p:pic>
            <p:nvPicPr>
              <p:cNvPr id="16" name="Picture 19" descr="11">
                <a:extLst>
                  <a:ext uri="{FF2B5EF4-FFF2-40B4-BE49-F238E27FC236}">
                    <a16:creationId xmlns:a16="http://schemas.microsoft.com/office/drawing/2014/main" id="{1D24BB05-AB4B-4A1C-885E-1D9A4A389C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59" r="47246"/>
              <a:stretch>
                <a:fillRect/>
              </a:stretch>
            </p:blipFill>
            <p:spPr bwMode="auto">
              <a:xfrm>
                <a:off x="68" y="821"/>
                <a:ext cx="3265" cy="2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" name="Text Box 22">
                <a:extLst>
                  <a:ext uri="{FF2B5EF4-FFF2-40B4-BE49-F238E27FC236}">
                    <a16:creationId xmlns:a16="http://schemas.microsoft.com/office/drawing/2014/main" id="{EBDC5A1D-0741-434C-BAFB-71D672354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" y="3044"/>
                <a:ext cx="274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MOS</a:t>
                </a:r>
                <a:r>
                  <a: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电容器在</a:t>
                </a:r>
                <a:r>
                  <a: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堆积模式</a:t>
                </a:r>
                <a:r>
                  <a: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时的能带图</a:t>
                </a:r>
              </a:p>
            </p:txBody>
          </p:sp>
        </p:grpSp>
        <p:sp>
          <p:nvSpPr>
            <p:cNvPr id="12" name="Line 31">
              <a:extLst>
                <a:ext uri="{FF2B5EF4-FFF2-40B4-BE49-F238E27FC236}">
                  <a16:creationId xmlns:a16="http://schemas.microsoft.com/office/drawing/2014/main" id="{D295C5FB-CC99-47D9-8CC6-EF1356E0C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" y="2478"/>
              <a:ext cx="8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  <p:sp>
          <p:nvSpPr>
            <p:cNvPr id="13" name="Text Box 32">
              <a:extLst>
                <a:ext uri="{FF2B5EF4-FFF2-40B4-BE49-F238E27FC236}">
                  <a16:creationId xmlns:a16="http://schemas.microsoft.com/office/drawing/2014/main" id="{8733394E-893F-4ADF-95AD-35C3858E9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2205"/>
              <a:ext cx="5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  <a:r>
                <a:rPr kumimoji="0" lang="en-US" altLang="zh-CN" sz="20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ox</a:t>
              </a:r>
            </a:p>
          </p:txBody>
        </p:sp>
        <p:sp>
          <p:nvSpPr>
            <p:cNvPr id="14" name="Text Box 33">
              <a:extLst>
                <a:ext uri="{FF2B5EF4-FFF2-40B4-BE49-F238E27FC236}">
                  <a16:creationId xmlns:a16="http://schemas.microsoft.com/office/drawing/2014/main" id="{F79FB56C-B3F0-4D70-825C-669139EA2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1456"/>
              <a:ext cx="5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ε</a:t>
              </a:r>
              <a:r>
                <a:rPr kumimoji="0" lang="en-US" altLang="zh-CN" sz="20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ox</a:t>
              </a:r>
            </a:p>
          </p:txBody>
        </p:sp>
        <p:sp>
          <p:nvSpPr>
            <p:cNvPr id="15" name="Text Box 21">
              <a:extLst>
                <a:ext uri="{FF2B5EF4-FFF2-40B4-BE49-F238E27FC236}">
                  <a16:creationId xmlns:a16="http://schemas.microsoft.com/office/drawing/2014/main" id="{104C3410-087A-4AF6-A934-8B23267753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1139"/>
              <a:ext cx="9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负栅压</a:t>
              </a:r>
            </a:p>
          </p:txBody>
        </p:sp>
      </p:grpSp>
      <p:sp>
        <p:nvSpPr>
          <p:cNvPr id="18" name="Text Box 18">
            <a:extLst>
              <a:ext uri="{FF2B5EF4-FFF2-40B4-BE49-F238E27FC236}">
                <a16:creationId xmlns:a16="http://schemas.microsoft.com/office/drawing/2014/main" id="{D18131E0-35CB-4061-BEF3-7C2AEDE67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9382" y="417513"/>
            <a:ext cx="3673475" cy="720725"/>
          </a:xfrm>
          <a:prstGeom prst="rect">
            <a:avLst/>
          </a:prstGeom>
          <a:solidFill>
            <a:srgbClr val="FFCCCC"/>
          </a:solidFill>
          <a:ln w="19050" algn="ctr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假设</a:t>
            </a:r>
            <a:r>
              <a:rPr lang="zh-CN" altLang="en-US" sz="2000" b="1" dirty="0">
                <a:solidFill>
                  <a:srgbClr val="000000"/>
                </a:solidFill>
                <a:ea typeface="楷体_GB2312" pitchFamily="49" charset="-122"/>
              </a:rPr>
              <a:t>栅氧化层中和氧化层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-</a:t>
            </a:r>
            <a:r>
              <a:rPr lang="zh-CN" altLang="en-US" sz="2000" b="1" dirty="0">
                <a:solidFill>
                  <a:srgbClr val="000000"/>
                </a:solidFill>
                <a:ea typeface="楷体_GB2312" pitchFamily="49" charset="-122"/>
              </a:rPr>
              <a:t>半导体界面处均无陷阱电荷。</a:t>
            </a:r>
          </a:p>
        </p:txBody>
      </p:sp>
    </p:spTree>
    <p:extLst>
      <p:ext uri="{BB962C8B-B14F-4D97-AF65-F5344CB8AC3E}">
        <p14:creationId xmlns:p14="http://schemas.microsoft.com/office/powerpoint/2010/main" val="203163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A3E4F2C-E665-4CB0-B1C2-5C2B3EF7CE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897317"/>
              </p:ext>
            </p:extLst>
          </p:nvPr>
        </p:nvGraphicFramePr>
        <p:xfrm>
          <a:off x="2484294" y="4902200"/>
          <a:ext cx="4348163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520" imgH="672840" progId="Equation.DSMT4">
                  <p:embed/>
                </p:oleObj>
              </mc:Choice>
              <mc:Fallback>
                <p:oleObj name="Equation" r:id="rId2" imgW="2171520" imgH="672840" progId="Equation.DSMT4">
                  <p:embed/>
                  <p:pic>
                    <p:nvPicPr>
                      <p:cNvPr id="201756" name="Object 2">
                        <a:extLst>
                          <a:ext uri="{FF2B5EF4-FFF2-40B4-BE49-F238E27FC236}">
                            <a16:creationId xmlns:a16="http://schemas.microsoft.com/office/drawing/2014/main" id="{468AFE98-E728-40C6-A46F-BDBD6695EB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294" y="4902200"/>
                        <a:ext cx="4348163" cy="1346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0">
            <a:extLst>
              <a:ext uri="{FF2B5EF4-FFF2-40B4-BE49-F238E27FC236}">
                <a16:creationId xmlns:a16="http://schemas.microsoft.com/office/drawing/2014/main" id="{25FE2D53-57DB-4228-B32F-86867905A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7239" y="5091113"/>
            <a:ext cx="3274393" cy="973280"/>
          </a:xfrm>
          <a:prstGeom prst="rect">
            <a:avLst/>
          </a:prstGeom>
          <a:solidFill>
            <a:srgbClr val="CCFFCC"/>
          </a:solidFill>
          <a:ln w="9525" algn="ctr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Aft>
                <a:spcPct val="0"/>
              </a:spcAft>
              <a:defRPr/>
            </a:pPr>
            <a:r>
              <a:rPr lang="en-US" altLang="zh-CN" sz="2400" b="1" i="1" dirty="0">
                <a:solidFill>
                  <a:srgbClr val="000000"/>
                </a:solidFill>
                <a:ea typeface="楷体_GB2312" pitchFamily="49" charset="-122"/>
              </a:rPr>
              <a:t>C'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（耗尽层）随空间电荷宽度的增大而减小</a:t>
            </a:r>
          </a:p>
        </p:txBody>
      </p:sp>
      <p:sp>
        <p:nvSpPr>
          <p:cNvPr id="6" name="Text Box 34">
            <a:extLst>
              <a:ext uri="{FF2B5EF4-FFF2-40B4-BE49-F238E27FC236}">
                <a16:creationId xmlns:a16="http://schemas.microsoft.com/office/drawing/2014/main" id="{F08DA523-0ED2-4D30-BEFB-E15AD419E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5944" y="4010025"/>
            <a:ext cx="8567738" cy="97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栅氧化电容与耗尽层电容串联，电压微小变化将导致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空间电荷宽度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电荷密度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的微小变化。总电容为</a:t>
            </a:r>
          </a:p>
        </p:txBody>
      </p:sp>
      <p:grpSp>
        <p:nvGrpSpPr>
          <p:cNvPr id="7" name="Group 42">
            <a:extLst>
              <a:ext uri="{FF2B5EF4-FFF2-40B4-BE49-F238E27FC236}">
                <a16:creationId xmlns:a16="http://schemas.microsoft.com/office/drawing/2014/main" id="{5B030958-6BA3-4F0E-940D-227DED433FC2}"/>
              </a:ext>
            </a:extLst>
          </p:cNvPr>
          <p:cNvGrpSpPr>
            <a:grpSpLocks/>
          </p:cNvGrpSpPr>
          <p:nvPr/>
        </p:nvGrpSpPr>
        <p:grpSpPr bwMode="auto">
          <a:xfrm>
            <a:off x="1515919" y="585788"/>
            <a:ext cx="4992688" cy="3455987"/>
            <a:chOff x="32" y="391"/>
            <a:chExt cx="3145" cy="2177"/>
          </a:xfrm>
        </p:grpSpPr>
        <p:sp>
          <p:nvSpPr>
            <p:cNvPr id="8" name="Text Box 33">
              <a:extLst>
                <a:ext uri="{FF2B5EF4-FFF2-40B4-BE49-F238E27FC236}">
                  <a16:creationId xmlns:a16="http://schemas.microsoft.com/office/drawing/2014/main" id="{1C972912-9781-49A0-8A08-197BE2BC4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318"/>
              <a:ext cx="258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MOS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电容在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耗尽模式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时的能带图</a:t>
              </a:r>
            </a:p>
          </p:txBody>
        </p:sp>
        <p:pic>
          <p:nvPicPr>
            <p:cNvPr id="9" name="Picture 38" descr="11">
              <a:extLst>
                <a:ext uri="{FF2B5EF4-FFF2-40B4-BE49-F238E27FC236}">
                  <a16:creationId xmlns:a16="http://schemas.microsoft.com/office/drawing/2014/main" id="{03AADCF5-802D-48BD-8F4A-6A3566B77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-6000" contrast="3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45" r="44965"/>
            <a:stretch>
              <a:fillRect/>
            </a:stretch>
          </p:blipFill>
          <p:spPr bwMode="auto">
            <a:xfrm>
              <a:off x="32" y="391"/>
              <a:ext cx="3145" cy="1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Group 47">
            <a:extLst>
              <a:ext uri="{FF2B5EF4-FFF2-40B4-BE49-F238E27FC236}">
                <a16:creationId xmlns:a16="http://schemas.microsoft.com/office/drawing/2014/main" id="{402E0332-70A1-401A-9FA9-AEA44B1B6F62}"/>
              </a:ext>
            </a:extLst>
          </p:cNvPr>
          <p:cNvGrpSpPr>
            <a:grpSpLocks/>
          </p:cNvGrpSpPr>
          <p:nvPr/>
        </p:nvGrpSpPr>
        <p:grpSpPr bwMode="auto">
          <a:xfrm>
            <a:off x="6002194" y="585788"/>
            <a:ext cx="4787900" cy="3455987"/>
            <a:chOff x="2858" y="391"/>
            <a:chExt cx="3016" cy="2177"/>
          </a:xfrm>
        </p:grpSpPr>
        <p:grpSp>
          <p:nvGrpSpPr>
            <p:cNvPr id="11" name="Group 41">
              <a:extLst>
                <a:ext uri="{FF2B5EF4-FFF2-40B4-BE49-F238E27FC236}">
                  <a16:creationId xmlns:a16="http://schemas.microsoft.com/office/drawing/2014/main" id="{35F3B623-B280-4C6F-8F56-7677FB825B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58" y="391"/>
              <a:ext cx="3016" cy="2177"/>
              <a:chOff x="2858" y="391"/>
              <a:chExt cx="3016" cy="2177"/>
            </a:xfrm>
          </p:grpSpPr>
          <p:pic>
            <p:nvPicPr>
              <p:cNvPr id="16" name="Picture 39" descr="11">
                <a:extLst>
                  <a:ext uri="{FF2B5EF4-FFF2-40B4-BE49-F238E27FC236}">
                    <a16:creationId xmlns:a16="http://schemas.microsoft.com/office/drawing/2014/main" id="{F512518D-A78C-492A-BE9C-13D776194D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lum bright="-18000" contrast="48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9018" r="720"/>
              <a:stretch>
                <a:fillRect/>
              </a:stretch>
            </p:blipFill>
            <p:spPr bwMode="auto">
              <a:xfrm>
                <a:off x="3158" y="391"/>
                <a:ext cx="2534" cy="19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" name="Text Box 40">
                <a:extLst>
                  <a:ext uri="{FF2B5EF4-FFF2-40B4-BE49-F238E27FC236}">
                    <a16:creationId xmlns:a16="http://schemas.microsoft.com/office/drawing/2014/main" id="{72D6E54E-F756-4ACB-9ED9-4797255A40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8" y="2318"/>
                <a:ext cx="30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耗尽模式</a:t>
                </a:r>
                <a:r>
                  <a: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当栅压微变时的微分电荷分布</a:t>
                </a:r>
              </a:p>
            </p:txBody>
          </p:sp>
        </p:grpSp>
        <p:sp>
          <p:nvSpPr>
            <p:cNvPr id="12" name="Text Box 43">
              <a:extLst>
                <a:ext uri="{FF2B5EF4-FFF2-40B4-BE49-F238E27FC236}">
                  <a16:creationId xmlns:a16="http://schemas.microsoft.com/office/drawing/2014/main" id="{069B6475-9E72-42BA-81E1-014805D1A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" y="845"/>
              <a:ext cx="4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ε</a:t>
              </a:r>
              <a:r>
                <a:rPr kumimoji="0" lang="en-US" altLang="zh-CN" sz="20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</a:t>
              </a:r>
              <a:endParaRPr kumimoji="0" lang="el-GR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Text Box 44">
              <a:extLst>
                <a:ext uri="{FF2B5EF4-FFF2-40B4-BE49-F238E27FC236}">
                  <a16:creationId xmlns:a16="http://schemas.microsoft.com/office/drawing/2014/main" id="{2039502F-FC14-4A6F-81DC-2006084BE1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799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l-GR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ε</a:t>
              </a:r>
              <a:r>
                <a:rPr kumimoji="0" lang="en-US" altLang="zh-CN" sz="20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ox</a:t>
              </a:r>
              <a:endParaRPr kumimoji="0" lang="el-GR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45">
              <a:extLst>
                <a:ext uri="{FF2B5EF4-FFF2-40B4-BE49-F238E27FC236}">
                  <a16:creationId xmlns:a16="http://schemas.microsoft.com/office/drawing/2014/main" id="{35B0BC80-EA93-4C28-927A-25BD5A920D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1094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ox</a:t>
              </a:r>
              <a:endParaRPr kumimoji="0" lang="el-GR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Line 46">
              <a:extLst>
                <a:ext uri="{FF2B5EF4-FFF2-40B4-BE49-F238E27FC236}">
                  <a16:creationId xmlns:a16="http://schemas.microsoft.com/office/drawing/2014/main" id="{1D780ADA-3891-4993-85B5-F38BBF0BC0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6" y="1344"/>
              <a:ext cx="8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7235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5B92CD5-0ACA-4984-8E4E-55EDAD9C9D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986871"/>
              </p:ext>
            </p:extLst>
          </p:nvPr>
        </p:nvGraphicFramePr>
        <p:xfrm>
          <a:off x="4355235" y="946150"/>
          <a:ext cx="2646363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672840" progId="Equation.DSMT4">
                  <p:embed/>
                </p:oleObj>
              </mc:Choice>
              <mc:Fallback>
                <p:oleObj name="Equation" r:id="rId2" imgW="1320480" imgH="672840" progId="Equation.DSMT4">
                  <p:embed/>
                  <p:pic>
                    <p:nvPicPr>
                      <p:cNvPr id="198661" name="Object 2">
                        <a:extLst>
                          <a:ext uri="{FF2B5EF4-FFF2-40B4-BE49-F238E27FC236}">
                            <a16:creationId xmlns:a16="http://schemas.microsoft.com/office/drawing/2014/main" id="{14DD6127-2BA6-4EDF-969F-4A86C91630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235" y="946150"/>
                        <a:ext cx="2646363" cy="1346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0">
            <a:extLst>
              <a:ext uri="{FF2B5EF4-FFF2-40B4-BE49-F238E27FC236}">
                <a16:creationId xmlns:a16="http://schemas.microsoft.com/office/drawing/2014/main" id="{963BB040-8062-4225-92E9-ECF2FE73D2ED}"/>
              </a:ext>
            </a:extLst>
          </p:cNvPr>
          <p:cNvGrpSpPr>
            <a:grpSpLocks/>
          </p:cNvGrpSpPr>
          <p:nvPr/>
        </p:nvGrpSpPr>
        <p:grpSpPr bwMode="auto">
          <a:xfrm>
            <a:off x="5352329" y="2371725"/>
            <a:ext cx="5564187" cy="3997325"/>
            <a:chOff x="2233" y="1434"/>
            <a:chExt cx="3505" cy="2518"/>
          </a:xfrm>
        </p:grpSpPr>
        <p:pic>
          <p:nvPicPr>
            <p:cNvPr id="6" name="Picture 38" descr="11">
              <a:extLst>
                <a:ext uri="{FF2B5EF4-FFF2-40B4-BE49-F238E27FC236}">
                  <a16:creationId xmlns:a16="http://schemas.microsoft.com/office/drawing/2014/main" id="{49A87D48-42AF-473B-9492-0A863C20A9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7" r="627"/>
            <a:stretch>
              <a:fillRect/>
            </a:stretch>
          </p:blipFill>
          <p:spPr bwMode="auto">
            <a:xfrm>
              <a:off x="2233" y="1434"/>
              <a:ext cx="3505" cy="2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22">
              <a:extLst>
                <a:ext uri="{FF2B5EF4-FFF2-40B4-BE49-F238E27FC236}">
                  <a16:creationId xmlns:a16="http://schemas.microsoft.com/office/drawing/2014/main" id="{2D63C50C-8CF0-453D-B7ED-504453001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3702"/>
              <a:ext cx="29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实线为理想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MOS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电容器的净电容</a:t>
              </a:r>
              <a:endParaRPr kumimoji="0" lang="zh-CN" altLang="el-GR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" name="Text Box 25">
              <a:extLst>
                <a:ext uri="{FF2B5EF4-FFF2-40B4-BE49-F238E27FC236}">
                  <a16:creationId xmlns:a16="http://schemas.microsoft.com/office/drawing/2014/main" id="{1627BEE9-6C92-4C66-8A4B-B6EE4D3F9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" y="3249"/>
              <a:ext cx="5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平带</a:t>
              </a:r>
            </a:p>
          </p:txBody>
        </p:sp>
      </p:grpSp>
      <p:sp>
        <p:nvSpPr>
          <p:cNvPr id="9" name="Text Box 27">
            <a:extLst>
              <a:ext uri="{FF2B5EF4-FFF2-40B4-BE49-F238E27FC236}">
                <a16:creationId xmlns:a16="http://schemas.microsoft.com/office/drawing/2014/main" id="{4C7E5146-4AA4-4082-B232-7DBAFC861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179" y="488950"/>
            <a:ext cx="849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由于达到阈值反型点时，空间电荷区宽度达到最大，此时</a:t>
            </a:r>
          </a:p>
        </p:txBody>
      </p:sp>
      <p:sp>
        <p:nvSpPr>
          <p:cNvPr id="10" name="Text Box 29">
            <a:extLst>
              <a:ext uri="{FF2B5EF4-FFF2-40B4-BE49-F238E27FC236}">
                <a16:creationId xmlns:a16="http://schemas.microsoft.com/office/drawing/2014/main" id="{BF9A37E6-A57C-4F1C-89F1-0FD0D9CBF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603" y="1711325"/>
            <a:ext cx="3313113" cy="393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强反型，理想情况，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电容电压微小变化将导致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反型层电荷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微分变量发生变化，而空间电荷宽度不变。</a:t>
            </a:r>
          </a:p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反型层电荷跟得上电容电压变化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，则总电容就是栅氧化电容</a:t>
            </a:r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D03E2385-C0CD-4024-ADD4-983AE9C904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31305"/>
              </p:ext>
            </p:extLst>
          </p:nvPr>
        </p:nvGraphicFramePr>
        <p:xfrm>
          <a:off x="1597531" y="5613400"/>
          <a:ext cx="24145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06360" imgH="431640" progId="Equation.DSMT4">
                  <p:embed/>
                </p:oleObj>
              </mc:Choice>
              <mc:Fallback>
                <p:oleObj name="Equation" r:id="rId5" imgW="1206360" imgH="431640" progId="Equation.DSMT4">
                  <p:embed/>
                  <p:pic>
                    <p:nvPicPr>
                      <p:cNvPr id="198686" name="Object 3">
                        <a:extLst>
                          <a:ext uri="{FF2B5EF4-FFF2-40B4-BE49-F238E27FC236}">
                            <a16:creationId xmlns:a16="http://schemas.microsoft.com/office/drawing/2014/main" id="{7DDD0773-2945-45E6-871E-75A2A85FA4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531" y="5613400"/>
                        <a:ext cx="24145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704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build="allAtOnce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pic>
        <p:nvPicPr>
          <p:cNvPr id="3" name="Picture 4" descr="11">
            <a:extLst>
              <a:ext uri="{FF2B5EF4-FFF2-40B4-BE49-F238E27FC236}">
                <a16:creationId xmlns:a16="http://schemas.microsoft.com/office/drawing/2014/main" id="{22150F6E-5A42-4978-97FD-5EEEA5C9C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868" y="1606695"/>
            <a:ext cx="6672263" cy="399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BC6EBAB1-934B-4601-AF48-1F33C59AC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7206" y="501795"/>
            <a:ext cx="84963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通过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改变电压坐标轴的符号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，可得到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型衬底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电容器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的理想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特性曲线。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正偏压时为堆积模式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负偏压时为反型模式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5F1A7688-5040-4563-8613-6FB54B558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3631" y="5762770"/>
            <a:ext cx="741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型衬底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电容器理想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低频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电容和栅压的函数关系图</a:t>
            </a:r>
          </a:p>
        </p:txBody>
      </p:sp>
    </p:spTree>
    <p:extLst>
      <p:ext uri="{BB962C8B-B14F-4D97-AF65-F5344CB8AC3E}">
        <p14:creationId xmlns:p14="http://schemas.microsoft.com/office/powerpoint/2010/main" val="3962697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877DFC-2F77-47FD-B990-C85E71B96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" y="314326"/>
            <a:ext cx="3887788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n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n-cs"/>
              </a:rPr>
              <a:t>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n-cs"/>
              </a:rPr>
              <a:t>）频率特性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9FAF63AA-66B3-4F95-9169-6D245C028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331" y="3473451"/>
            <a:ext cx="3419475" cy="275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FF"/>
                </a:solidFill>
                <a:cs typeface="Times New Roman" panose="02020603050405020304" pitchFamily="18" charset="0"/>
              </a:rPr>
              <a:t>反型层中的电子浓度不能瞬间发生改变</a:t>
            </a:r>
            <a:r>
              <a:rPr lang="zh-CN" altLang="en-US" sz="2400">
                <a:solidFill>
                  <a:srgbClr val="000000"/>
                </a:solidFill>
                <a:cs typeface="Times New Roman" panose="02020603050405020304" pitchFamily="18" charset="0"/>
              </a:rPr>
              <a:t>；高频时，只有金属和空间电荷区中的电荷发生改变，</a:t>
            </a:r>
            <a:r>
              <a:rPr lang="en-US" altLang="zh-CN" sz="2400">
                <a:solidFill>
                  <a:srgbClr val="000000"/>
                </a:solidFill>
                <a:cs typeface="Times New Roman" panose="02020603050405020304" pitchFamily="18" charset="0"/>
              </a:rPr>
              <a:t>MOS</a:t>
            </a:r>
            <a:r>
              <a:rPr lang="zh-CN" altLang="en-US" sz="2400">
                <a:solidFill>
                  <a:srgbClr val="000000"/>
                </a:solidFill>
                <a:cs typeface="Times New Roman" panose="02020603050405020304" pitchFamily="18" charset="0"/>
              </a:rPr>
              <a:t>电容器的电容就是前面所述的</a:t>
            </a:r>
            <a:r>
              <a:rPr lang="en-US" altLang="zh-CN" sz="2400" i="1">
                <a:solidFill>
                  <a:srgbClr val="000000"/>
                </a:solidFill>
                <a:cs typeface="Times New Roman" panose="02020603050405020304" pitchFamily="18" charset="0"/>
              </a:rPr>
              <a:t>C'</a:t>
            </a:r>
            <a:r>
              <a:rPr lang="en-US" altLang="zh-CN" sz="2400" i="1" baseline="-25000">
                <a:solidFill>
                  <a:srgbClr val="000000"/>
                </a:solidFill>
                <a:cs typeface="Times New Roman" panose="02020603050405020304" pitchFamily="18" charset="0"/>
              </a:rPr>
              <a:t>min</a:t>
            </a:r>
            <a:r>
              <a:rPr lang="zh-CN" altLang="en-US" sz="2400">
                <a:solidFill>
                  <a:srgbClr val="000000"/>
                </a:solidFill>
                <a:cs typeface="Times New Roman" panose="02020603050405020304" pitchFamily="18" charset="0"/>
              </a:rPr>
              <a:t>。</a:t>
            </a:r>
            <a:endParaRPr lang="zh-CN" altLang="el-GR" sz="2400" baseline="-2500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B7C8FC8D-EC82-46F7-B778-73667BF40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043" y="1023938"/>
            <a:ext cx="8496300" cy="2555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反型层电荷密度改变的电子来源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：</a:t>
            </a:r>
          </a:p>
          <a:p>
            <a:pPr marL="342000" indent="-342000" fontAlgn="base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一是来自通过空间电荷区的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p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型衬底中的少子电子的的扩散，即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反偏</a:t>
            </a:r>
            <a:r>
              <a:rPr lang="en-US" altLang="zh-CN" sz="2400" b="1" dirty="0" err="1">
                <a:solidFill>
                  <a:srgbClr val="FF0000"/>
                </a:solidFill>
                <a:ea typeface="楷体_GB2312" pitchFamily="49" charset="-122"/>
              </a:rPr>
              <a:t>pn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结中理想饱和电流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的产生；</a:t>
            </a:r>
          </a:p>
          <a:p>
            <a:pPr marL="342000" indent="-342000" fontAlgn="base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二是在空间电荷区中由热运动形成的电子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空穴对，即</a:t>
            </a:r>
            <a:r>
              <a:rPr lang="en-US" altLang="zh-CN" sz="2400" b="1" dirty="0" err="1">
                <a:solidFill>
                  <a:srgbClr val="000000"/>
                </a:solidFill>
                <a:ea typeface="楷体_GB2312" pitchFamily="49" charset="-122"/>
              </a:rPr>
              <a:t>pn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结中</a:t>
            </a:r>
            <a:r>
              <a:rPr lang="zh-CN" altLang="en-US" sz="2400" b="1" dirty="0">
                <a:solidFill>
                  <a:srgbClr val="CC3300"/>
                </a:solidFill>
                <a:ea typeface="楷体_GB2312" pitchFamily="49" charset="-122"/>
              </a:rPr>
              <a:t>反偏产生电流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。</a:t>
            </a:r>
          </a:p>
        </p:txBody>
      </p:sp>
      <p:pic>
        <p:nvPicPr>
          <p:cNvPr id="7" name="Picture 13" descr="11">
            <a:extLst>
              <a:ext uri="{FF2B5EF4-FFF2-40B4-BE49-F238E27FC236}">
                <a16:creationId xmlns:a16="http://schemas.microsoft.com/office/drawing/2014/main" id="{99058F59-8BF6-4A7B-ABED-33434DFCA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2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318" y="3241676"/>
            <a:ext cx="531495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4">
            <a:extLst>
              <a:ext uri="{FF2B5EF4-FFF2-40B4-BE49-F238E27FC236}">
                <a16:creationId xmlns:a16="http://schemas.microsoft.com/office/drawing/2014/main" id="{36CBFCD8-8FE2-4863-BC2E-55953A829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1943" y="3817938"/>
            <a:ext cx="12239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反型模式</a:t>
            </a:r>
          </a:p>
        </p:txBody>
      </p:sp>
    </p:spTree>
    <p:extLst>
      <p:ext uri="{BB962C8B-B14F-4D97-AF65-F5344CB8AC3E}">
        <p14:creationId xmlns:p14="http://schemas.microsoft.com/office/powerpoint/2010/main" val="3155357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allAtOnce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pic>
        <p:nvPicPr>
          <p:cNvPr id="3" name="Picture 4" descr="11">
            <a:extLst>
              <a:ext uri="{FF2B5EF4-FFF2-40B4-BE49-F238E27FC236}">
                <a16:creationId xmlns:a16="http://schemas.microsoft.com/office/drawing/2014/main" id="{E9AEF0CD-780C-4E3F-87EA-51AC33F3D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616" y="703262"/>
            <a:ext cx="5743575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771E80F3-A07B-4A11-9DCA-219564398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3016" y="1771650"/>
            <a:ext cx="1944687" cy="159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型衬底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电容器低频和高频电容与栅压的函数关系图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28C8E95F-4518-4822-8E7F-3B406EAFC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9816" y="4700587"/>
            <a:ext cx="7129462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3</a:t>
            </a:r>
            <a:r>
              <a:rPr lang="zh-CN" alt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）固定栅氧化层和界面电荷效应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80497684-0FD8-463B-9D5A-F3E9C3A42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4278" y="5280025"/>
            <a:ext cx="84963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前面讨论的是理想情况下的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特性，实际上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固定的栅氧化层电荷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氧化层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半导体界面的电荷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会改变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特性曲线。</a:t>
            </a:r>
          </a:p>
        </p:txBody>
      </p:sp>
    </p:spTree>
    <p:extLst>
      <p:ext uri="{BB962C8B-B14F-4D97-AF65-F5344CB8AC3E}">
        <p14:creationId xmlns:p14="http://schemas.microsoft.com/office/powerpoint/2010/main" val="326827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pic>
        <p:nvPicPr>
          <p:cNvPr id="3" name="图片 4" descr="11.31.jpg">
            <a:extLst>
              <a:ext uri="{FF2B5EF4-FFF2-40B4-BE49-F238E27FC236}">
                <a16:creationId xmlns:a16="http://schemas.microsoft.com/office/drawing/2014/main" id="{624AAB46-7C1A-4374-B4E3-7AAD6800F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490682"/>
            <a:ext cx="534035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5" descr="11.32.jpg">
            <a:extLst>
              <a:ext uri="{FF2B5EF4-FFF2-40B4-BE49-F238E27FC236}">
                <a16:creationId xmlns:a16="http://schemas.microsoft.com/office/drawing/2014/main" id="{E4E94CB8-248A-4772-8884-9EC192258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" t="7974"/>
          <a:stretch>
            <a:fillRect/>
          </a:stretch>
        </p:blipFill>
        <p:spPr bwMode="auto">
          <a:xfrm>
            <a:off x="6726815" y="4171950"/>
            <a:ext cx="3746500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369B98F0-6C7F-40E9-88D2-C077FF073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3590" y="1306224"/>
            <a:ext cx="2879725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不同有效氧化层陷阱电荷值下，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型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电容器高频电容与栅压的函数关系图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C7D3AD43-5AAD-456C-B437-3E57330F3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912" y="4740275"/>
            <a:ext cx="2663825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氧化层界面处表明界面态的示意图</a:t>
            </a:r>
          </a:p>
        </p:txBody>
      </p:sp>
    </p:spTree>
    <p:extLst>
      <p:ext uri="{BB962C8B-B14F-4D97-AF65-F5344CB8AC3E}">
        <p14:creationId xmlns:p14="http://schemas.microsoft.com/office/powerpoint/2010/main" val="961004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pic>
        <p:nvPicPr>
          <p:cNvPr id="3" name="图片 3" descr="11.33.jpg">
            <a:extLst>
              <a:ext uri="{FF2B5EF4-FFF2-40B4-BE49-F238E27FC236}">
                <a16:creationId xmlns:a16="http://schemas.microsoft.com/office/drawing/2014/main" id="{5A02E9B7-122B-4BFC-AB54-AB0269AED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" t="613" r="662" b="613"/>
          <a:stretch>
            <a:fillRect/>
          </a:stretch>
        </p:blipFill>
        <p:spPr bwMode="auto">
          <a:xfrm>
            <a:off x="1569244" y="809047"/>
            <a:ext cx="9053512" cy="488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324F8EF9-E5E6-41D8-8013-EEE2CA092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6569" y="5838247"/>
            <a:ext cx="8748712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电容器偏置时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型半导体中被表面态俘获的电荷及其能带图。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77E888AD-0C88-4A7B-9F6B-EFC4A90E1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4706" y="2766435"/>
            <a:ext cx="1855788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禁带中央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D58D605D-E665-453B-830D-76C674616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6456" y="2668010"/>
            <a:ext cx="2176463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堆积模式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A4A55210-88B3-44DC-865B-06ADC8461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6281" y="5374697"/>
            <a:ext cx="2176463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反型模型</a:t>
            </a:r>
          </a:p>
        </p:txBody>
      </p:sp>
    </p:spTree>
    <p:extLst>
      <p:ext uri="{BB962C8B-B14F-4D97-AF65-F5344CB8AC3E}">
        <p14:creationId xmlns:p14="http://schemas.microsoft.com/office/powerpoint/2010/main" val="3463926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pic>
        <p:nvPicPr>
          <p:cNvPr id="3" name="图片 3" descr="11.34.jpg">
            <a:extLst>
              <a:ext uri="{FF2B5EF4-FFF2-40B4-BE49-F238E27FC236}">
                <a16:creationId xmlns:a16="http://schemas.microsoft.com/office/drawing/2014/main" id="{DEAD4100-E3D4-43DE-AAC8-528AAE4C8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25" y="904587"/>
            <a:ext cx="561975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41483C17-782B-4702-B963-F2EEDD6CD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1798" y="5005676"/>
            <a:ext cx="705643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电容器的高频</a:t>
            </a:r>
            <a:r>
              <a:rPr kumimoji="0" lang="en-US" altLang="zh-CN" sz="22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en-US" altLang="zh-CN" sz="22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特性曲线，说明界面态效应</a:t>
            </a:r>
          </a:p>
        </p:txBody>
      </p:sp>
    </p:spTree>
    <p:extLst>
      <p:ext uri="{BB962C8B-B14F-4D97-AF65-F5344CB8AC3E}">
        <p14:creationId xmlns:p14="http://schemas.microsoft.com/office/powerpoint/2010/main" val="2290622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7DE6CF8-8F85-470E-9A41-B805CE220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229" y="528926"/>
            <a:ext cx="549397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0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MOSFET</a:t>
            </a:r>
            <a:r>
              <a:rPr lang="zh-CN" altLang="en-US" sz="40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基本工作原理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E560D78-4283-4337-A999-1976FAAB7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174" y="1422256"/>
            <a:ext cx="842962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场效应晶体管的电路是由于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反型层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以及氧化层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半导体界面相邻的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沟道区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中的电荷的流动形成。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AE34F0C-93B6-4420-BD27-C2633779A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886" y="2646218"/>
            <a:ext cx="4249738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1</a:t>
            </a:r>
            <a:r>
              <a:rPr lang="zh-CN" alt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r>
              <a:rPr lang="en-US" altLang="zh-CN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MOSFET</a:t>
            </a:r>
            <a:r>
              <a:rPr lang="zh-CN" alt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结构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E9143131-0306-41BF-B548-559335339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3836" y="3457431"/>
            <a:ext cx="8208963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1950" indent="-3619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61950" marR="0" lvl="0" indent="-361950" defTabSz="914400" eaLnBrk="1" fontAlgn="base" latinLnBrk="0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MOSFET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器件共有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种类型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沟道增强型、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沟道增强型、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沟道耗尽型、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沟道耗尽型。</a:t>
            </a:r>
          </a:p>
          <a:p>
            <a:pPr marL="361950" marR="0" lvl="0" indent="-361950" defTabSz="914400" eaLnBrk="1" fontAlgn="base" latinLnBrk="0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增强的含义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：氧化层下面的半导体衬底在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零栅压时不是反型的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361950" marR="0" lvl="0" indent="-361950" defTabSz="914400" eaLnBrk="1" fontAlgn="base" latinLnBrk="0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耗尽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栅压为零时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氧化层下面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已经存在沟道区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4517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build="allAtOnce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E0AA343B-A92B-4573-91DD-277B0B221F2B}"/>
              </a:ext>
            </a:extLst>
          </p:cNvPr>
          <p:cNvGrpSpPr>
            <a:grpSpLocks/>
          </p:cNvGrpSpPr>
          <p:nvPr/>
        </p:nvGrpSpPr>
        <p:grpSpPr bwMode="auto">
          <a:xfrm>
            <a:off x="1981345" y="257175"/>
            <a:ext cx="3925887" cy="2906713"/>
            <a:chOff x="227" y="378"/>
            <a:chExt cx="2473" cy="1831"/>
          </a:xfrm>
        </p:grpSpPr>
        <p:pic>
          <p:nvPicPr>
            <p:cNvPr id="5" name="Picture 4" descr="11">
              <a:extLst>
                <a:ext uri="{FF2B5EF4-FFF2-40B4-BE49-F238E27FC236}">
                  <a16:creationId xmlns:a16="http://schemas.microsoft.com/office/drawing/2014/main" id="{34382239-31A3-418B-9422-168E8BDB67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12" b="912"/>
            <a:stretch>
              <a:fillRect/>
            </a:stretch>
          </p:blipFill>
          <p:spPr bwMode="auto">
            <a:xfrm>
              <a:off x="227" y="378"/>
              <a:ext cx="2473" cy="1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47C8B454-676D-457A-900C-0B88F9ED5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1888"/>
              <a:ext cx="11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沟增强型</a:t>
              </a:r>
            </a:p>
          </p:txBody>
        </p:sp>
      </p:grpSp>
      <p:grpSp>
        <p:nvGrpSpPr>
          <p:cNvPr id="7" name="Group 15">
            <a:extLst>
              <a:ext uri="{FF2B5EF4-FFF2-40B4-BE49-F238E27FC236}">
                <a16:creationId xmlns:a16="http://schemas.microsoft.com/office/drawing/2014/main" id="{39A75B46-260A-4A28-898F-71AB74EE12C7}"/>
              </a:ext>
            </a:extLst>
          </p:cNvPr>
          <p:cNvGrpSpPr>
            <a:grpSpLocks/>
          </p:cNvGrpSpPr>
          <p:nvPr/>
        </p:nvGrpSpPr>
        <p:grpSpPr bwMode="auto">
          <a:xfrm>
            <a:off x="6448570" y="277813"/>
            <a:ext cx="3854450" cy="2965450"/>
            <a:chOff x="3041" y="391"/>
            <a:chExt cx="2428" cy="1868"/>
          </a:xfrm>
        </p:grpSpPr>
        <p:pic>
          <p:nvPicPr>
            <p:cNvPr id="8" name="Picture 5" descr="11">
              <a:extLst>
                <a:ext uri="{FF2B5EF4-FFF2-40B4-BE49-F238E27FC236}">
                  <a16:creationId xmlns:a16="http://schemas.microsoft.com/office/drawing/2014/main" id="{2BC844D1-F2C1-42F9-B428-0E212000B1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6"/>
            <a:stretch>
              <a:fillRect/>
            </a:stretch>
          </p:blipFill>
          <p:spPr bwMode="auto">
            <a:xfrm>
              <a:off x="3041" y="391"/>
              <a:ext cx="2428" cy="1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03241468-CEC9-4EAA-9DE5-A561DC0103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6" y="1888"/>
              <a:ext cx="11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沟耗尽型</a:t>
              </a:r>
            </a:p>
          </p:txBody>
        </p:sp>
      </p:grpSp>
      <p:grpSp>
        <p:nvGrpSpPr>
          <p:cNvPr id="10" name="Group 14">
            <a:extLst>
              <a:ext uri="{FF2B5EF4-FFF2-40B4-BE49-F238E27FC236}">
                <a16:creationId xmlns:a16="http://schemas.microsoft.com/office/drawing/2014/main" id="{5ED468C2-8BF0-48D1-ACD9-A2EA78F564B2}"/>
              </a:ext>
            </a:extLst>
          </p:cNvPr>
          <p:cNvGrpSpPr>
            <a:grpSpLocks/>
          </p:cNvGrpSpPr>
          <p:nvPr/>
        </p:nvGrpSpPr>
        <p:grpSpPr bwMode="auto">
          <a:xfrm>
            <a:off x="1863870" y="3309938"/>
            <a:ext cx="8866187" cy="3116262"/>
            <a:chOff x="153" y="2301"/>
            <a:chExt cx="5585" cy="1963"/>
          </a:xfrm>
        </p:grpSpPr>
        <p:pic>
          <p:nvPicPr>
            <p:cNvPr id="11" name="Picture 6" descr="11">
              <a:extLst>
                <a:ext uri="{FF2B5EF4-FFF2-40B4-BE49-F238E27FC236}">
                  <a16:creationId xmlns:a16="http://schemas.microsoft.com/office/drawing/2014/main" id="{8A316768-A669-45F4-9316-3A2D3D0903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-6000" contras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68" r="1645" b="5212"/>
            <a:stretch>
              <a:fillRect/>
            </a:stretch>
          </p:blipFill>
          <p:spPr bwMode="auto">
            <a:xfrm>
              <a:off x="153" y="2301"/>
              <a:ext cx="5429" cy="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 Box 7">
              <a:extLst>
                <a:ext uri="{FF2B5EF4-FFF2-40B4-BE49-F238E27FC236}">
                  <a16:creationId xmlns:a16="http://schemas.microsoft.com/office/drawing/2014/main" id="{5CE22F31-784F-4DDE-A4D0-23AAC5E6D4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7" y="3156"/>
              <a:ext cx="181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27456C28-355B-40DB-9EFD-946A05768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" y="3860"/>
              <a:ext cx="11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66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66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沟增强型</a:t>
              </a: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5CF154FD-1FA1-4A91-AE01-FA6D34EF81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" y="3838"/>
              <a:ext cx="11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沟耗尽型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389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72BD086C-899A-42F3-8A75-52B2BDA2F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133" y="331066"/>
            <a:ext cx="5628121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）电流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-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电压关系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——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概念</a:t>
            </a: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4AD5173F-275B-407F-A2AD-F81668376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688" y="4386118"/>
            <a:ext cx="889317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1313" marR="0" lvl="0" indent="-341313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图（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），此种偏置下，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无电子反型层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，漏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衬底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pn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结反偏，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漏电流为零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（忽略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pn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结漏电流）。</a:t>
            </a:r>
          </a:p>
          <a:p>
            <a:pPr marL="341313" marR="0" lvl="0" indent="-341313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图（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）电子反型层产生，加一较小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DS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，反型层电子从源流到漏，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电流从漏到源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；此理想情况，无电流从氧化层向栅流过。</a:t>
            </a:r>
          </a:p>
        </p:txBody>
      </p:sp>
      <p:pic>
        <p:nvPicPr>
          <p:cNvPr id="6" name="Picture 15" descr="11">
            <a:extLst>
              <a:ext uri="{FF2B5EF4-FFF2-40B4-BE49-F238E27FC236}">
                <a16:creationId xmlns:a16="http://schemas.microsoft.com/office/drawing/2014/main" id="{27FE40E8-6FFD-49BE-A2D1-3B1228297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" t="3273" r="1300" b="3273"/>
          <a:stretch>
            <a:fillRect/>
          </a:stretch>
        </p:blipFill>
        <p:spPr bwMode="auto">
          <a:xfrm>
            <a:off x="1309688" y="1134918"/>
            <a:ext cx="8697912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016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B0FAFFD6-040E-4EE9-8330-2CB4B8F53C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013514"/>
              </p:ext>
            </p:extLst>
          </p:nvPr>
        </p:nvGraphicFramePr>
        <p:xfrm>
          <a:off x="2111086" y="2543175"/>
          <a:ext cx="18605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393480" progId="Equation.DSMT4">
                  <p:embed/>
                </p:oleObj>
              </mc:Choice>
              <mc:Fallback>
                <p:oleObj name="Equation" r:id="rId2" imgW="927000" imgH="393480" progId="Equation.DSMT4">
                  <p:embed/>
                  <p:pic>
                    <p:nvPicPr>
                      <p:cNvPr id="297996" name="Object 2">
                        <a:extLst>
                          <a:ext uri="{FF2B5EF4-FFF2-40B4-BE49-F238E27FC236}">
                            <a16:creationId xmlns:a16="http://schemas.microsoft.com/office/drawing/2014/main" id="{DEDE7F21-C8B7-48A4-B4ED-1C590AAEB1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086" y="2543175"/>
                        <a:ext cx="18605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3763BA94-F590-46D8-93E9-B3528B36BE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952608"/>
              </p:ext>
            </p:extLst>
          </p:nvPr>
        </p:nvGraphicFramePr>
        <p:xfrm>
          <a:off x="5338474" y="1193800"/>
          <a:ext cx="15446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400" imgH="228600" progId="Equation.DSMT4">
                  <p:embed/>
                </p:oleObj>
              </mc:Choice>
              <mc:Fallback>
                <p:oleObj name="Equation" r:id="rId4" imgW="698400" imgH="228600" progId="Equation.DSMT4">
                  <p:embed/>
                  <p:pic>
                    <p:nvPicPr>
                      <p:cNvPr id="297990" name="Object 3">
                        <a:extLst>
                          <a:ext uri="{FF2B5EF4-FFF2-40B4-BE49-F238E27FC236}">
                            <a16:creationId xmlns:a16="http://schemas.microsoft.com/office/drawing/2014/main" id="{6A1301B6-01ED-497C-9178-A33D31065C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8474" y="1193800"/>
                        <a:ext cx="154463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22" descr="11">
            <a:extLst>
              <a:ext uri="{FF2B5EF4-FFF2-40B4-BE49-F238E27FC236}">
                <a16:creationId xmlns:a16="http://schemas.microsoft.com/office/drawing/2014/main" id="{959AEE76-806F-4EC0-98EB-1CEA58262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-18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936" y="2346325"/>
            <a:ext cx="375285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3">
            <a:extLst>
              <a:ext uri="{FF2B5EF4-FFF2-40B4-BE49-F238E27FC236}">
                <a16:creationId xmlns:a16="http://schemas.microsoft.com/office/drawing/2014/main" id="{D26C94BE-CA4C-4B5A-8299-5AF83D975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461" y="530225"/>
            <a:ext cx="61214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1313" marR="0" lvl="0" indent="-341313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对于较小的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DS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沟道区具有电阻的特性</a:t>
            </a:r>
          </a:p>
        </p:txBody>
      </p:sp>
      <p:sp>
        <p:nvSpPr>
          <p:cNvPr id="8" name="Text Box 25">
            <a:extLst>
              <a:ext uri="{FF2B5EF4-FFF2-40B4-BE49-F238E27FC236}">
                <a16:creationId xmlns:a16="http://schemas.microsoft.com/office/drawing/2014/main" id="{BA4A2558-D403-449E-94E5-0F3E99773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486" y="1744662"/>
            <a:ext cx="504031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式中，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DS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→0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时的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沟道电导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grpSp>
        <p:nvGrpSpPr>
          <p:cNvPr id="9" name="Group 52">
            <a:extLst>
              <a:ext uri="{FF2B5EF4-FFF2-40B4-BE49-F238E27FC236}">
                <a16:creationId xmlns:a16="http://schemas.microsoft.com/office/drawing/2014/main" id="{D8AB595D-D350-4EAD-908E-43E3699F0FF0}"/>
              </a:ext>
            </a:extLst>
          </p:cNvPr>
          <p:cNvGrpSpPr>
            <a:grpSpLocks/>
          </p:cNvGrpSpPr>
          <p:nvPr/>
        </p:nvGrpSpPr>
        <p:grpSpPr bwMode="auto">
          <a:xfrm>
            <a:off x="6346536" y="1122362"/>
            <a:ext cx="2520950" cy="576263"/>
            <a:chOff x="3016" y="754"/>
            <a:chExt cx="1588" cy="363"/>
          </a:xfrm>
        </p:grpSpPr>
        <p:grpSp>
          <p:nvGrpSpPr>
            <p:cNvPr id="10" name="Group 34">
              <a:extLst>
                <a:ext uri="{FF2B5EF4-FFF2-40B4-BE49-F238E27FC236}">
                  <a16:creationId xmlns:a16="http://schemas.microsoft.com/office/drawing/2014/main" id="{DBDD6D97-58CE-4E98-9DB1-8174885D20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5" y="764"/>
              <a:ext cx="1179" cy="334"/>
              <a:chOff x="3425" y="764"/>
              <a:chExt cx="1179" cy="334"/>
            </a:xfrm>
          </p:grpSpPr>
          <p:sp>
            <p:nvSpPr>
              <p:cNvPr id="12" name="Text Box 29">
                <a:extLst>
                  <a:ext uri="{FF2B5EF4-FFF2-40B4-BE49-F238E27FC236}">
                    <a16:creationId xmlns:a16="http://schemas.microsoft.com/office/drawing/2014/main" id="{B1408964-A1C6-4E98-98E5-C4518E84FF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7" y="764"/>
                <a:ext cx="907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漏电压</a:t>
                </a:r>
              </a:p>
            </p:txBody>
          </p:sp>
          <p:sp>
            <p:nvSpPr>
              <p:cNvPr id="13" name="Line 30">
                <a:extLst>
                  <a:ext uri="{FF2B5EF4-FFF2-40B4-BE49-F238E27FC236}">
                    <a16:creationId xmlns:a16="http://schemas.microsoft.com/office/drawing/2014/main" id="{A4501FDC-55A6-4FE0-A2DD-77DA28A66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25" y="935"/>
                <a:ext cx="31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</p:grpSp>
        <p:sp>
          <p:nvSpPr>
            <p:cNvPr id="11" name="Oval 31">
              <a:extLst>
                <a:ext uri="{FF2B5EF4-FFF2-40B4-BE49-F238E27FC236}">
                  <a16:creationId xmlns:a16="http://schemas.microsoft.com/office/drawing/2014/main" id="{8F229345-D6A8-4D2C-95C0-98CF2E187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754"/>
              <a:ext cx="363" cy="363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4" name="Group 51">
            <a:extLst>
              <a:ext uri="{FF2B5EF4-FFF2-40B4-BE49-F238E27FC236}">
                <a16:creationId xmlns:a16="http://schemas.microsoft.com/office/drawing/2014/main" id="{A9D93BA3-0612-49BC-8085-BB0633D94685}"/>
              </a:ext>
            </a:extLst>
          </p:cNvPr>
          <p:cNvGrpSpPr>
            <a:grpSpLocks/>
          </p:cNvGrpSpPr>
          <p:nvPr/>
        </p:nvGrpSpPr>
        <p:grpSpPr bwMode="auto">
          <a:xfrm>
            <a:off x="3898611" y="1138237"/>
            <a:ext cx="1873250" cy="530225"/>
            <a:chOff x="1474" y="764"/>
            <a:chExt cx="1180" cy="334"/>
          </a:xfrm>
        </p:grpSpPr>
        <p:grpSp>
          <p:nvGrpSpPr>
            <p:cNvPr id="15" name="Group 33">
              <a:extLst>
                <a:ext uri="{FF2B5EF4-FFF2-40B4-BE49-F238E27FC236}">
                  <a16:creationId xmlns:a16="http://schemas.microsoft.com/office/drawing/2014/main" id="{577E2DC2-5E09-4C82-ABDB-02A183642F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4" y="764"/>
              <a:ext cx="907" cy="334"/>
              <a:chOff x="1474" y="764"/>
              <a:chExt cx="907" cy="334"/>
            </a:xfrm>
          </p:grpSpPr>
          <p:sp>
            <p:nvSpPr>
              <p:cNvPr id="17" name="Text Box 26">
                <a:extLst>
                  <a:ext uri="{FF2B5EF4-FFF2-40B4-BE49-F238E27FC236}">
                    <a16:creationId xmlns:a16="http://schemas.microsoft.com/office/drawing/2014/main" id="{9B5950FF-ED58-45EB-B0AA-C5353C5890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4" y="764"/>
                <a:ext cx="907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漏电流</a:t>
                </a:r>
              </a:p>
            </p:txBody>
          </p:sp>
          <p:sp>
            <p:nvSpPr>
              <p:cNvPr id="18" name="Line 27">
                <a:extLst>
                  <a:ext uri="{FF2B5EF4-FFF2-40B4-BE49-F238E27FC236}">
                    <a16:creationId xmlns:a16="http://schemas.microsoft.com/office/drawing/2014/main" id="{3D96C51E-4B25-4CE9-8606-785385AFA9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9" y="955"/>
                <a:ext cx="27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</p:grpSp>
        <p:sp>
          <p:nvSpPr>
            <p:cNvPr id="16" name="Oval 32">
              <a:extLst>
                <a:ext uri="{FF2B5EF4-FFF2-40B4-BE49-F238E27FC236}">
                  <a16:creationId xmlns:a16="http://schemas.microsoft.com/office/drawing/2014/main" id="{8EAC8203-20CE-4749-B513-40FADC308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819"/>
              <a:ext cx="273" cy="272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9" name="Group 40">
            <a:extLst>
              <a:ext uri="{FF2B5EF4-FFF2-40B4-BE49-F238E27FC236}">
                <a16:creationId xmlns:a16="http://schemas.microsoft.com/office/drawing/2014/main" id="{2865C56E-55D4-4474-B6EC-C2747536183E}"/>
              </a:ext>
            </a:extLst>
          </p:cNvPr>
          <p:cNvGrpSpPr>
            <a:grpSpLocks/>
          </p:cNvGrpSpPr>
          <p:nvPr/>
        </p:nvGrpSpPr>
        <p:grpSpPr bwMode="auto">
          <a:xfrm>
            <a:off x="4043074" y="2322512"/>
            <a:ext cx="2232025" cy="1247775"/>
            <a:chOff x="1565" y="1389"/>
            <a:chExt cx="1406" cy="786"/>
          </a:xfrm>
        </p:grpSpPr>
        <p:sp>
          <p:nvSpPr>
            <p:cNvPr id="20" name="Text Box 36">
              <a:extLst>
                <a:ext uri="{FF2B5EF4-FFF2-40B4-BE49-F238E27FC236}">
                  <a16:creationId xmlns:a16="http://schemas.microsoft.com/office/drawing/2014/main" id="{118D3C13-8576-473B-84CF-3509CCE73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" y="1389"/>
              <a:ext cx="1134" cy="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单位面积的反型层电荷数量</a:t>
              </a:r>
            </a:p>
            <a:p>
              <a:pPr marL="0" marR="0" lvl="0" indent="0" defTabSz="91440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栅压的函数</a:t>
              </a:r>
            </a:p>
          </p:txBody>
        </p:sp>
        <p:sp>
          <p:nvSpPr>
            <p:cNvPr id="21" name="Line 37">
              <a:extLst>
                <a:ext uri="{FF2B5EF4-FFF2-40B4-BE49-F238E27FC236}">
                  <a16:creationId xmlns:a16="http://schemas.microsoft.com/office/drawing/2014/main" id="{486D4624-EE12-49BC-BDAD-0FB968F36D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5" y="1786"/>
              <a:ext cx="3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</p:grpSp>
      <p:sp>
        <p:nvSpPr>
          <p:cNvPr id="22" name="Oval 38">
            <a:extLst>
              <a:ext uri="{FF2B5EF4-FFF2-40B4-BE49-F238E27FC236}">
                <a16:creationId xmlns:a16="http://schemas.microsoft.com/office/drawing/2014/main" id="{06E388D6-F89D-44D6-A082-9F1C904B9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311" y="2617787"/>
            <a:ext cx="576263" cy="576263"/>
          </a:xfrm>
          <a:prstGeom prst="ellipse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Text Box 41">
            <a:extLst>
              <a:ext uri="{FF2B5EF4-FFF2-40B4-BE49-F238E27FC236}">
                <a16:creationId xmlns:a16="http://schemas.microsoft.com/office/drawing/2014/main" id="{C0E61A05-CAF1-4034-8EFE-FBB449356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8386" y="3667452"/>
            <a:ext cx="4248150" cy="1434945"/>
          </a:xfrm>
          <a:prstGeom prst="rect">
            <a:avLst/>
          </a:prstGeom>
          <a:solidFill>
            <a:srgbClr val="CCFFCC"/>
          </a:solidFill>
          <a:ln w="9525" algn="ctr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fontAlgn="base">
              <a:lnSpc>
                <a:spcPct val="125000"/>
              </a:lnSpc>
              <a:spcAft>
                <a:spcPct val="0"/>
              </a:spcAft>
              <a:defRPr/>
            </a:pPr>
            <a:r>
              <a:rPr lang="zh-CN" altLang="en-US" sz="2400" b="1">
                <a:solidFill>
                  <a:srgbClr val="000000"/>
                </a:solidFill>
                <a:ea typeface="楷体_GB2312" pitchFamily="49" charset="-122"/>
              </a:rPr>
              <a:t>基本</a:t>
            </a:r>
            <a:r>
              <a:rPr lang="en-US" altLang="zh-CN" sz="2400" b="1">
                <a:solidFill>
                  <a:srgbClr val="000000"/>
                </a:solidFill>
                <a:ea typeface="楷体_GB2312" pitchFamily="49" charset="-122"/>
              </a:rPr>
              <a:t>MOS</a:t>
            </a:r>
            <a:r>
              <a:rPr lang="zh-CN" altLang="en-US" sz="2400" b="1">
                <a:solidFill>
                  <a:srgbClr val="000000"/>
                </a:solidFill>
                <a:ea typeface="楷体_GB2312" pitchFamily="49" charset="-122"/>
              </a:rPr>
              <a:t>晶体管的工作机理为栅压对沟道电导的调制作用，而沟道电导决定漏电流</a:t>
            </a:r>
          </a:p>
        </p:txBody>
      </p:sp>
      <p:sp>
        <p:nvSpPr>
          <p:cNvPr id="24" name="Text Box 42">
            <a:extLst>
              <a:ext uri="{FF2B5EF4-FFF2-40B4-BE49-F238E27FC236}">
                <a16:creationId xmlns:a16="http://schemas.microsoft.com/office/drawing/2014/main" id="{7F054F0C-47B9-4477-9C19-8024AA00A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461" y="5233987"/>
            <a:ext cx="4752975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1313" marR="0" lvl="0" indent="-341313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GS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&gt;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时，沟道反型层电荷密度增大，从而增大沟道电导。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5" name="Group 53">
            <a:extLst>
              <a:ext uri="{FF2B5EF4-FFF2-40B4-BE49-F238E27FC236}">
                <a16:creationId xmlns:a16="http://schemas.microsoft.com/office/drawing/2014/main" id="{94E4FA6F-AAA6-427A-88FB-870DE1883313}"/>
              </a:ext>
            </a:extLst>
          </p:cNvPr>
          <p:cNvGrpSpPr>
            <a:grpSpLocks/>
          </p:cNvGrpSpPr>
          <p:nvPr/>
        </p:nvGrpSpPr>
        <p:grpSpPr bwMode="auto">
          <a:xfrm>
            <a:off x="7499061" y="3533775"/>
            <a:ext cx="1150938" cy="2268537"/>
            <a:chOff x="3742" y="2273"/>
            <a:chExt cx="725" cy="1429"/>
          </a:xfrm>
        </p:grpSpPr>
        <p:sp>
          <p:nvSpPr>
            <p:cNvPr id="26" name="Freeform 43">
              <a:extLst>
                <a:ext uri="{FF2B5EF4-FFF2-40B4-BE49-F238E27FC236}">
                  <a16:creationId xmlns:a16="http://schemas.microsoft.com/office/drawing/2014/main" id="{921F299B-7BFE-45F2-8A87-955525921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2568"/>
              <a:ext cx="408" cy="1134"/>
            </a:xfrm>
            <a:custGeom>
              <a:avLst/>
              <a:gdLst>
                <a:gd name="T0" fmla="*/ 1234 w 317"/>
                <a:gd name="T1" fmla="*/ 1723 h 1043"/>
                <a:gd name="T2" fmla="*/ 1234 w 317"/>
                <a:gd name="T3" fmla="*/ 824 h 1043"/>
                <a:gd name="T4" fmla="*/ 0 w 317"/>
                <a:gd name="T5" fmla="*/ 0 h 1043"/>
                <a:gd name="T6" fmla="*/ 0 60000 65536"/>
                <a:gd name="T7" fmla="*/ 0 60000 65536"/>
                <a:gd name="T8" fmla="*/ 0 60000 65536"/>
                <a:gd name="T9" fmla="*/ 0 w 317"/>
                <a:gd name="T10" fmla="*/ 0 h 1043"/>
                <a:gd name="T11" fmla="*/ 317 w 317"/>
                <a:gd name="T12" fmla="*/ 1043 h 10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7" h="1043">
                  <a:moveTo>
                    <a:pt x="272" y="1043"/>
                  </a:moveTo>
                  <a:cubicBezTo>
                    <a:pt x="294" y="858"/>
                    <a:pt x="317" y="673"/>
                    <a:pt x="272" y="499"/>
                  </a:cubicBezTo>
                  <a:cubicBezTo>
                    <a:pt x="227" y="325"/>
                    <a:pt x="113" y="162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  <p:sp>
          <p:nvSpPr>
            <p:cNvPr id="27" name="Text Box 44">
              <a:extLst>
                <a:ext uri="{FF2B5EF4-FFF2-40B4-BE49-F238E27FC236}">
                  <a16:creationId xmlns:a16="http://schemas.microsoft.com/office/drawing/2014/main" id="{76F80C93-D6B5-42EF-A2E9-3A5517871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2" y="2273"/>
              <a:ext cx="59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kumimoji="0" lang="en-US" altLang="zh-CN" sz="20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↑</a:t>
              </a:r>
            </a:p>
          </p:txBody>
        </p:sp>
      </p:grpSp>
      <p:grpSp>
        <p:nvGrpSpPr>
          <p:cNvPr id="28" name="Group 50">
            <a:extLst>
              <a:ext uri="{FF2B5EF4-FFF2-40B4-BE49-F238E27FC236}">
                <a16:creationId xmlns:a16="http://schemas.microsoft.com/office/drawing/2014/main" id="{15F585FF-CC7E-4747-B419-0BF407C16F18}"/>
              </a:ext>
            </a:extLst>
          </p:cNvPr>
          <p:cNvGrpSpPr>
            <a:grpSpLocks/>
          </p:cNvGrpSpPr>
          <p:nvPr/>
        </p:nvGrpSpPr>
        <p:grpSpPr bwMode="auto">
          <a:xfrm>
            <a:off x="1485611" y="2433637"/>
            <a:ext cx="1652588" cy="415925"/>
            <a:chOff x="-46" y="1580"/>
            <a:chExt cx="1041" cy="262"/>
          </a:xfrm>
        </p:grpSpPr>
        <p:sp>
          <p:nvSpPr>
            <p:cNvPr id="29" name="Oval 45">
              <a:extLst>
                <a:ext uri="{FF2B5EF4-FFF2-40B4-BE49-F238E27FC236}">
                  <a16:creationId xmlns:a16="http://schemas.microsoft.com/office/drawing/2014/main" id="{1B015FA7-F380-469A-B3AF-DEB27BAE3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" y="1661"/>
              <a:ext cx="272" cy="181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0" name="Text Box 47">
              <a:extLst>
                <a:ext uri="{FF2B5EF4-FFF2-40B4-BE49-F238E27FC236}">
                  <a16:creationId xmlns:a16="http://schemas.microsoft.com/office/drawing/2014/main" id="{08B07F34-2D24-41AB-B738-40C8D9111F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6" y="1580"/>
              <a:ext cx="8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沟道宽度</a:t>
              </a:r>
            </a:p>
          </p:txBody>
        </p:sp>
      </p:grpSp>
      <p:grpSp>
        <p:nvGrpSpPr>
          <p:cNvPr id="31" name="Group 49">
            <a:extLst>
              <a:ext uri="{FF2B5EF4-FFF2-40B4-BE49-F238E27FC236}">
                <a16:creationId xmlns:a16="http://schemas.microsoft.com/office/drawing/2014/main" id="{7226FC0E-F45B-473D-92AD-FCF078E8339C}"/>
              </a:ext>
            </a:extLst>
          </p:cNvPr>
          <p:cNvGrpSpPr>
            <a:grpSpLocks/>
          </p:cNvGrpSpPr>
          <p:nvPr/>
        </p:nvGrpSpPr>
        <p:grpSpPr bwMode="auto">
          <a:xfrm>
            <a:off x="1561811" y="2994025"/>
            <a:ext cx="1584325" cy="541337"/>
            <a:chOff x="2" y="1933"/>
            <a:chExt cx="998" cy="341"/>
          </a:xfrm>
        </p:grpSpPr>
        <p:sp>
          <p:nvSpPr>
            <p:cNvPr id="32" name="Oval 46">
              <a:extLst>
                <a:ext uri="{FF2B5EF4-FFF2-40B4-BE49-F238E27FC236}">
                  <a16:creationId xmlns:a16="http://schemas.microsoft.com/office/drawing/2014/main" id="{A8CD75CE-19AF-47B7-86D8-B9C30016B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" y="1933"/>
              <a:ext cx="237" cy="272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3" name="Text Box 48">
              <a:extLst>
                <a:ext uri="{FF2B5EF4-FFF2-40B4-BE49-F238E27FC236}">
                  <a16:creationId xmlns:a16="http://schemas.microsoft.com/office/drawing/2014/main" id="{E39487A3-0535-4173-9F34-105F9F060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" y="2024"/>
              <a:ext cx="8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沟道长度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824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8" grpId="0" build="allAtOnce"/>
      <p:bldP spid="22" grpId="0" animBg="1"/>
      <p:bldP spid="24" grpId="0" build="allAtOnce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6428" y="6302375"/>
            <a:ext cx="2540000" cy="457200"/>
          </a:xfrm>
        </p:spPr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0C5D74F4-F110-4061-8FF7-B11FE3E79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4898" y="1734704"/>
            <a:ext cx="3382963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1313" marR="0" lvl="0" indent="-341313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GS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&gt;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DS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较小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时，相对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电荷密度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在沟道长度方向上为一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常数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4255672C-0E37-4705-AAA3-AD38D7AFB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5848" y="3719079"/>
            <a:ext cx="3673475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1313" marR="0" lvl="0" indent="-341313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随着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DS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增大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，漏端附近的氧化层压降减小，意味着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漏端附近反型层电荷密度也将减小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E9761B73-03F8-4FB5-99FB-ECB01A2496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389371"/>
              </p:ext>
            </p:extLst>
          </p:nvPr>
        </p:nvGraphicFramePr>
        <p:xfrm>
          <a:off x="7543223" y="726642"/>
          <a:ext cx="18605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393480" progId="Equation.DSMT4">
                  <p:embed/>
                </p:oleObj>
              </mc:Choice>
              <mc:Fallback>
                <p:oleObj name="Equation" r:id="rId2" imgW="927000" imgH="393480" progId="Equation.DSMT4">
                  <p:embed/>
                  <p:pic>
                    <p:nvPicPr>
                      <p:cNvPr id="13314" name="Object 2">
                        <a:extLst>
                          <a:ext uri="{FF2B5EF4-FFF2-40B4-BE49-F238E27FC236}">
                            <a16:creationId xmlns:a16="http://schemas.microsoft.com/office/drawing/2014/main" id="{4B4EC740-35B6-43A0-82C7-0881305F0C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223" y="726642"/>
                        <a:ext cx="18605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4" descr="11">
            <a:extLst>
              <a:ext uri="{FF2B5EF4-FFF2-40B4-BE49-F238E27FC236}">
                <a16:creationId xmlns:a16="http://schemas.microsoft.com/office/drawing/2014/main" id="{8B30C399-D99D-4416-BBE2-98D8834DD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40" r="7198" b="46953"/>
          <a:stretch>
            <a:fillRect/>
          </a:stretch>
        </p:blipFill>
        <p:spPr bwMode="auto">
          <a:xfrm>
            <a:off x="4306311" y="327025"/>
            <a:ext cx="1492250" cy="620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11">
            <a:extLst>
              <a:ext uri="{FF2B5EF4-FFF2-40B4-BE49-F238E27FC236}">
                <a16:creationId xmlns:a16="http://schemas.microsoft.com/office/drawing/2014/main" id="{706D2B53-A2DB-4240-B326-B3DD65A12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4" r="50592" b="46953"/>
          <a:stretch>
            <a:fillRect/>
          </a:stretch>
        </p:blipFill>
        <p:spPr bwMode="auto">
          <a:xfrm>
            <a:off x="1312286" y="327025"/>
            <a:ext cx="3030537" cy="620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936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5" grpId="0" build="allAtOnce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pic>
        <p:nvPicPr>
          <p:cNvPr id="3" name="Picture 4" descr="11">
            <a:extLst>
              <a:ext uri="{FF2B5EF4-FFF2-40B4-BE49-F238E27FC236}">
                <a16:creationId xmlns:a16="http://schemas.microsoft.com/office/drawing/2014/main" id="{41A67D10-47B7-4C24-BC1A-29D72E1DA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" t="53104" r="45972"/>
          <a:stretch>
            <a:fillRect/>
          </a:stretch>
        </p:blipFill>
        <p:spPr bwMode="auto">
          <a:xfrm>
            <a:off x="1595828" y="682625"/>
            <a:ext cx="3278188" cy="529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0954C3FE-4376-4CF5-BCC1-0E05EF4FD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616" y="842962"/>
            <a:ext cx="3249612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1313" marR="0" lvl="0" indent="-341313" algn="just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DS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增大到漏端氧化层压降为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时，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漏端反型电荷密度为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，此时漏端电导为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FDBBA578-720A-482C-AAE9-665A30742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6178" y="3386137"/>
            <a:ext cx="332105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1313" marR="0" lvl="0" indent="-341313" algn="just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DS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&gt; 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DS</a:t>
            </a:r>
            <a:r>
              <a:rPr kumimoji="0" lang="zh-CN" altLang="en-US" sz="2400" b="1" i="0" u="none" strike="noStrike" kern="0" cap="none" spc="0" normalizeH="0" baseline="-2500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0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sat</a:t>
            </a:r>
            <a:r>
              <a:rPr kumimoji="0" lang="zh-CN" altLang="en-US" sz="2400" b="1" i="0" u="none" strike="noStrike" kern="0" cap="none" spc="0" normalizeH="0" baseline="-2500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时，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沟道反型电荷为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的点移向源端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。在电荷为零的点处，电子被注入空间电荷区，并被电场扫向漏端。</a:t>
            </a:r>
          </a:p>
        </p:txBody>
      </p:sp>
      <p:pic>
        <p:nvPicPr>
          <p:cNvPr id="7" name="Picture 4" descr="11">
            <a:extLst>
              <a:ext uri="{FF2B5EF4-FFF2-40B4-BE49-F238E27FC236}">
                <a16:creationId xmlns:a16="http://schemas.microsoft.com/office/drawing/2014/main" id="{C64C224B-3F6B-437C-8158-7F1EE75C7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36" t="53104"/>
          <a:stretch>
            <a:fillRect/>
          </a:stretch>
        </p:blipFill>
        <p:spPr bwMode="auto">
          <a:xfrm>
            <a:off x="4780353" y="687387"/>
            <a:ext cx="1852613" cy="529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4">
            <a:extLst>
              <a:ext uri="{FF2B5EF4-FFF2-40B4-BE49-F238E27FC236}">
                <a16:creationId xmlns:a16="http://schemas.microsoft.com/office/drawing/2014/main" id="{2B761403-1055-4F4E-B705-C3B518CC2BA9}"/>
              </a:ext>
            </a:extLst>
          </p:cNvPr>
          <p:cNvGrpSpPr>
            <a:grpSpLocks/>
          </p:cNvGrpSpPr>
          <p:nvPr/>
        </p:nvGrpSpPr>
        <p:grpSpPr bwMode="auto">
          <a:xfrm>
            <a:off x="4040578" y="2627312"/>
            <a:ext cx="3673475" cy="744538"/>
            <a:chOff x="2245" y="1661"/>
            <a:chExt cx="2314" cy="469"/>
          </a:xfrm>
        </p:grpSpPr>
        <p:sp>
          <p:nvSpPr>
            <p:cNvPr id="9" name="Oval 12">
              <a:extLst>
                <a:ext uri="{FF2B5EF4-FFF2-40B4-BE49-F238E27FC236}">
                  <a16:creationId xmlns:a16="http://schemas.microsoft.com/office/drawing/2014/main" id="{8542D79A-0BDA-4BDC-8808-284F2216B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1661"/>
              <a:ext cx="499" cy="181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" name="Text Box 13">
              <a:extLst>
                <a:ext uri="{FF2B5EF4-FFF2-40B4-BE49-F238E27FC236}">
                  <a16:creationId xmlns:a16="http://schemas.microsoft.com/office/drawing/2014/main" id="{3437DA48-842A-4155-8DAD-2A9E1D5540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1842"/>
              <a:ext cx="23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漏端氧化层压降为</a:t>
              </a:r>
              <a:r>
                <a:rPr kumimoji="0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kumimoji="0" lang="en-US" altLang="zh-CN" sz="20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时的</a:t>
              </a:r>
              <a:r>
                <a:rPr kumimoji="0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kumimoji="0" lang="en-US" altLang="zh-CN" sz="20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DS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1" name="Oval 11">
            <a:extLst>
              <a:ext uri="{FF2B5EF4-FFF2-40B4-BE49-F238E27FC236}">
                <a16:creationId xmlns:a16="http://schemas.microsoft.com/office/drawing/2014/main" id="{9A3CB58B-2BB9-4465-AA42-86362B263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0666" y="4356100"/>
            <a:ext cx="647700" cy="431800"/>
          </a:xfrm>
          <a:prstGeom prst="ellipse">
            <a:avLst/>
          </a:prstGeom>
          <a:noFill/>
          <a:ln w="1905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206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build="allAtOnce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C449FF26-DCE4-4040-A98B-35974D5ABA28}"/>
              </a:ext>
            </a:extLst>
          </p:cNvPr>
          <p:cNvGrpSpPr>
            <a:grpSpLocks/>
          </p:cNvGrpSpPr>
          <p:nvPr/>
        </p:nvGrpSpPr>
        <p:grpSpPr bwMode="auto">
          <a:xfrm>
            <a:off x="5374626" y="1494631"/>
            <a:ext cx="4968875" cy="3868738"/>
            <a:chOff x="1947" y="799"/>
            <a:chExt cx="3130" cy="2437"/>
          </a:xfrm>
        </p:grpSpPr>
        <p:pic>
          <p:nvPicPr>
            <p:cNvPr id="5" name="Picture 4" descr="11">
              <a:extLst>
                <a:ext uri="{FF2B5EF4-FFF2-40B4-BE49-F238E27FC236}">
                  <a16:creationId xmlns:a16="http://schemas.microsoft.com/office/drawing/2014/main" id="{33B4BFFE-754F-4DB5-AD48-4FBACD2D99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8" y="799"/>
              <a:ext cx="2520" cy="2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F4A852-B14F-4CE4-9B65-D3B201FC6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7" y="2986"/>
              <a:ext cx="31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沟道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增强型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MOSFET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的</a:t>
              </a:r>
              <a:r>
                <a:rPr kumimoji="0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kumimoji="0" lang="en-US" altLang="zh-CN" sz="20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-</a:t>
              </a:r>
              <a:r>
                <a:rPr kumimoji="0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kumimoji="0" lang="en-US" altLang="zh-CN" sz="20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DS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特性曲线</a:t>
              </a:r>
            </a:p>
          </p:txBody>
        </p:sp>
      </p:grpSp>
      <p:grpSp>
        <p:nvGrpSpPr>
          <p:cNvPr id="7" name="Group 8">
            <a:extLst>
              <a:ext uri="{FF2B5EF4-FFF2-40B4-BE49-F238E27FC236}">
                <a16:creationId xmlns:a16="http://schemas.microsoft.com/office/drawing/2014/main" id="{92328A05-50BB-4C1F-9E84-0FC1C495B0DC}"/>
              </a:ext>
            </a:extLst>
          </p:cNvPr>
          <p:cNvGrpSpPr>
            <a:grpSpLocks/>
          </p:cNvGrpSpPr>
          <p:nvPr/>
        </p:nvGrpSpPr>
        <p:grpSpPr bwMode="auto">
          <a:xfrm>
            <a:off x="7863826" y="1999456"/>
            <a:ext cx="2808287" cy="2663825"/>
            <a:chOff x="3515" y="1117"/>
            <a:chExt cx="1769" cy="1678"/>
          </a:xfrm>
        </p:grpSpPr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4C21E2E1-0493-4866-8963-BF82E1D69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1117"/>
              <a:ext cx="1043" cy="167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D6AE71E0-EFC6-4E70-A7BC-546CC960E6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1752"/>
              <a:ext cx="8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饱和区</a:t>
              </a:r>
            </a:p>
          </p:txBody>
        </p:sp>
      </p:grpSp>
      <p:pic>
        <p:nvPicPr>
          <p:cNvPr id="10" name="Picture 10" descr="11">
            <a:extLst>
              <a:ext uri="{FF2B5EF4-FFF2-40B4-BE49-F238E27FC236}">
                <a16:creationId xmlns:a16="http://schemas.microsoft.com/office/drawing/2014/main" id="{C4AFA242-CDA0-4744-BA98-EF59283B6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47" t="81090" r="-1241" b="2303"/>
          <a:stretch>
            <a:fillRect/>
          </a:stretch>
        </p:blipFill>
        <p:spPr bwMode="auto">
          <a:xfrm>
            <a:off x="1815451" y="3634581"/>
            <a:ext cx="26098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1" descr="11">
            <a:extLst>
              <a:ext uri="{FF2B5EF4-FFF2-40B4-BE49-F238E27FC236}">
                <a16:creationId xmlns:a16="http://schemas.microsoft.com/office/drawing/2014/main" id="{11061568-05A2-4BDF-B7EA-836180BE7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36000" contrast="8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53"/>
          <a:stretch>
            <a:fillRect/>
          </a:stretch>
        </p:blipFill>
        <p:spPr bwMode="auto">
          <a:xfrm>
            <a:off x="1886888" y="835819"/>
            <a:ext cx="2820988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4">
            <a:extLst>
              <a:ext uri="{FF2B5EF4-FFF2-40B4-BE49-F238E27FC236}">
                <a16:creationId xmlns:a16="http://schemas.microsoft.com/office/drawing/2014/main" id="{A2ABB718-D7A4-4EFE-8F93-18E7455B724F}"/>
              </a:ext>
            </a:extLst>
          </p:cNvPr>
          <p:cNvGrpSpPr>
            <a:grpSpLocks/>
          </p:cNvGrpSpPr>
          <p:nvPr/>
        </p:nvGrpSpPr>
        <p:grpSpPr bwMode="auto">
          <a:xfrm>
            <a:off x="4768201" y="2123281"/>
            <a:ext cx="544512" cy="2952750"/>
            <a:chOff x="1973" y="1344"/>
            <a:chExt cx="343" cy="1860"/>
          </a:xfrm>
        </p:grpSpPr>
        <p:sp>
          <p:nvSpPr>
            <p:cNvPr id="13" name="AutoShape 12">
              <a:extLst>
                <a:ext uri="{FF2B5EF4-FFF2-40B4-BE49-F238E27FC236}">
                  <a16:creationId xmlns:a16="http://schemas.microsoft.com/office/drawing/2014/main" id="{F220DB4B-E2C5-4770-B178-6B28592B4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3" y="1344"/>
              <a:ext cx="46" cy="1860"/>
            </a:xfrm>
            <a:prstGeom prst="rightBrace">
              <a:avLst>
                <a:gd name="adj1" fmla="val 336957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4" name="AutoShape 13">
              <a:extLst>
                <a:ext uri="{FF2B5EF4-FFF2-40B4-BE49-F238E27FC236}">
                  <a16:creationId xmlns:a16="http://schemas.microsoft.com/office/drawing/2014/main" id="{56214BA8-714E-4172-A356-D9E4AAD40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9" y="2175"/>
              <a:ext cx="227" cy="182"/>
            </a:xfrm>
            <a:prstGeom prst="rightArrow">
              <a:avLst>
                <a:gd name="adj1" fmla="val 50000"/>
                <a:gd name="adj2" fmla="val 31181"/>
              </a:avLst>
            </a:prstGeom>
            <a:solidFill>
              <a:srgbClr val="BBE0E3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508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C039DD4A-3730-49E0-BD3D-A18853CEE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7429" y="330345"/>
            <a:ext cx="8567737" cy="345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沟道耗尽型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MOSFET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一种情况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沟道是由金属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半导体功函数差和固定氧化层电荷生成的电子反型层；</a:t>
            </a:r>
          </a:p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另一种情况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沟道是一个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型半导体区。</a:t>
            </a:r>
          </a:p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负栅压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可在氧化层下产生一空间电荷区，从而减小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沟道区的厚度，进而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减小，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减小。</a:t>
            </a:r>
          </a:p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正栅压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可产生一电子堆积层，从而增大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4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77AE37D0-F832-4858-A378-7670D35E8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1466" y="4300682"/>
            <a:ext cx="20161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为使器件正常截止，沟道厚度必须小于最大空间电荷宽度</a:t>
            </a:r>
          </a:p>
        </p:txBody>
      </p:sp>
      <p:pic>
        <p:nvPicPr>
          <p:cNvPr id="6" name="Picture 4" descr="11">
            <a:extLst>
              <a:ext uri="{FF2B5EF4-FFF2-40B4-BE49-F238E27FC236}">
                <a16:creationId xmlns:a16="http://schemas.microsoft.com/office/drawing/2014/main" id="{B7DC010A-9B5D-4E6B-9D84-D2BE7EE66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2054" y="3868882"/>
            <a:ext cx="3300412" cy="272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 descr="11">
            <a:extLst>
              <a:ext uri="{FF2B5EF4-FFF2-40B4-BE49-F238E27FC236}">
                <a16:creationId xmlns:a16="http://schemas.microsoft.com/office/drawing/2014/main" id="{2FFAFD99-D9B5-4D68-96DA-A2C7128FB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" t="3600" r="13799" b="6429"/>
          <a:stretch>
            <a:fillRect/>
          </a:stretch>
        </p:blipFill>
        <p:spPr bwMode="auto">
          <a:xfrm>
            <a:off x="1632816" y="3697432"/>
            <a:ext cx="2968625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464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99D9CA-9769-4E0B-B3F6-626E7CBD1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743" y="315913"/>
            <a:ext cx="2665413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（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4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）跨导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381DA7B-9BE8-4095-9A08-E3BB833C1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106" y="896938"/>
            <a:ext cx="8424862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MOSFET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的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跨导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g</a:t>
            </a:r>
            <a:r>
              <a:rPr kumimoji="0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（晶体管增益）：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相对栅压的漏电流的变化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MOSFET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电路设计中，晶体管的尺寸，尤其是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沟道宽度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W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是一个重要的工程设计参数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。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CCD9530-7B13-4E93-99D9-BD41BB951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743" y="3051175"/>
            <a:ext cx="403225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5</a:t>
            </a:r>
            <a:r>
              <a:rPr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）衬底偏置效应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A2D9F25-C1D5-47C8-8B5C-F57577486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2918" y="3752850"/>
            <a:ext cx="8543925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1313" marR="0" lvl="0" indent="-341313" defTabSz="914400" eaLnBrk="1" fontAlgn="base" latinLnBrk="0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前面讨论的情况，衬底（体）都于源相连并接地。</a:t>
            </a:r>
          </a:p>
          <a:p>
            <a:pPr marL="341313" marR="0" lvl="0" indent="-341313" defTabSz="914400" eaLnBrk="1" fontAlgn="base" latinLnBrk="0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MOSFET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电路中，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源和衬底不一定是相同电势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341313" marR="0" lvl="0" indent="-341313" defTabSz="914400" eaLnBrk="1" fontAlgn="base" latinLnBrk="0" hangingPunct="1">
              <a:lnSpc>
                <a:spcPct val="125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源到衬底的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pn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结必须为零或反偏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，以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型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MOSFET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为例，即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SB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≥0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7570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pic>
        <p:nvPicPr>
          <p:cNvPr id="3" name="Picture 35" descr="11">
            <a:extLst>
              <a:ext uri="{FF2B5EF4-FFF2-40B4-BE49-F238E27FC236}">
                <a16:creationId xmlns:a16="http://schemas.microsoft.com/office/drawing/2014/main" id="{92E95233-E3AC-449B-B2C6-16EBEE1BB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771" y="2633662"/>
            <a:ext cx="4760913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A4E37A23-BD5F-4CD2-947C-128ADCB9F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34" y="303212"/>
            <a:ext cx="325596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ctr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n-cs"/>
              </a:rPr>
              <a:t>频率限制特性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3EF7E826-9F8E-426A-B289-09DF77660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171" y="2117725"/>
            <a:ext cx="4464050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1</a:t>
            </a:r>
            <a:r>
              <a:rPr lang="zh-CN" alt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）小信号等效电路</a:t>
            </a:r>
          </a:p>
        </p:txBody>
      </p:sp>
      <p:sp>
        <p:nvSpPr>
          <p:cNvPr id="7" name="Text Box 36">
            <a:extLst>
              <a:ext uri="{FF2B5EF4-FFF2-40B4-BE49-F238E27FC236}">
                <a16:creationId xmlns:a16="http://schemas.microsoft.com/office/drawing/2014/main" id="{3B090A0E-7913-407F-973E-9EF90E656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671" y="1144587"/>
            <a:ext cx="860425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MOSFET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被用于线性放大电路，用小信号等效电路进行分析，等效电路包括产生频率效应的电容和电阻。</a:t>
            </a:r>
          </a:p>
        </p:txBody>
      </p:sp>
      <p:grpSp>
        <p:nvGrpSpPr>
          <p:cNvPr id="8" name="Group 51">
            <a:extLst>
              <a:ext uri="{FF2B5EF4-FFF2-40B4-BE49-F238E27FC236}">
                <a16:creationId xmlns:a16="http://schemas.microsoft.com/office/drawing/2014/main" id="{23B866EB-80AE-4D5D-867D-8F3BACA6E7FF}"/>
              </a:ext>
            </a:extLst>
          </p:cNvPr>
          <p:cNvGrpSpPr>
            <a:grpSpLocks/>
          </p:cNvGrpSpPr>
          <p:nvPr/>
        </p:nvGrpSpPr>
        <p:grpSpPr bwMode="auto">
          <a:xfrm>
            <a:off x="7484109" y="4440237"/>
            <a:ext cx="2622550" cy="396875"/>
            <a:chOff x="3833" y="2850"/>
            <a:chExt cx="1652" cy="250"/>
          </a:xfrm>
        </p:grpSpPr>
        <p:sp>
          <p:nvSpPr>
            <p:cNvPr id="9" name="Text Box 34">
              <a:extLst>
                <a:ext uri="{FF2B5EF4-FFF2-40B4-BE49-F238E27FC236}">
                  <a16:creationId xmlns:a16="http://schemas.microsoft.com/office/drawing/2014/main" id="{74432135-541B-4E35-905C-185251347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0" y="2850"/>
              <a:ext cx="1315" cy="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66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漏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66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-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66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衬底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66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pn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66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结电容</a:t>
              </a:r>
            </a:p>
          </p:txBody>
        </p:sp>
        <p:sp>
          <p:nvSpPr>
            <p:cNvPr id="10" name="Oval 37">
              <a:extLst>
                <a:ext uri="{FF2B5EF4-FFF2-40B4-BE49-F238E27FC236}">
                  <a16:creationId xmlns:a16="http://schemas.microsoft.com/office/drawing/2014/main" id="{26A4E9FD-5BF1-4D15-B374-D6E9211ED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860"/>
              <a:ext cx="317" cy="227"/>
            </a:xfrm>
            <a:prstGeom prst="ellipse">
              <a:avLst/>
            </a:prstGeom>
            <a:noFill/>
            <a:ln w="9525" algn="ctr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2" name="Text Box 33">
            <a:extLst>
              <a:ext uri="{FF2B5EF4-FFF2-40B4-BE49-F238E27FC236}">
                <a16:creationId xmlns:a16="http://schemas.microsoft.com/office/drawing/2014/main" id="{0EE529E2-ADE0-4D0F-A882-4E49A3DC4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4204" y="2933700"/>
            <a:ext cx="3744912" cy="701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栅极电容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，体现栅极与源、漏附近沟道电荷间的相互作用</a:t>
            </a:r>
          </a:p>
        </p:txBody>
      </p:sp>
      <p:sp>
        <p:nvSpPr>
          <p:cNvPr id="13" name="Oval 38">
            <a:extLst>
              <a:ext uri="{FF2B5EF4-FFF2-40B4-BE49-F238E27FC236}">
                <a16:creationId xmlns:a16="http://schemas.microsoft.com/office/drawing/2014/main" id="{CC5DAC31-FD55-458A-8A18-4624B9AC9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486" y="3382854"/>
            <a:ext cx="1008062" cy="433388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4" name="Group 48">
            <a:extLst>
              <a:ext uri="{FF2B5EF4-FFF2-40B4-BE49-F238E27FC236}">
                <a16:creationId xmlns:a16="http://schemas.microsoft.com/office/drawing/2014/main" id="{6D31B24D-C0CE-47E1-B64A-1FFDDBB30B17}"/>
              </a:ext>
            </a:extLst>
          </p:cNvPr>
          <p:cNvGrpSpPr>
            <a:grpSpLocks/>
          </p:cNvGrpSpPr>
          <p:nvPr/>
        </p:nvGrpSpPr>
        <p:grpSpPr bwMode="auto">
          <a:xfrm>
            <a:off x="5044598" y="2722346"/>
            <a:ext cx="2392363" cy="989013"/>
            <a:chOff x="2280" y="1774"/>
            <a:chExt cx="1507" cy="623"/>
          </a:xfrm>
        </p:grpSpPr>
        <p:sp>
          <p:nvSpPr>
            <p:cNvPr id="15" name="Line 43">
              <a:extLst>
                <a:ext uri="{FF2B5EF4-FFF2-40B4-BE49-F238E27FC236}">
                  <a16:creationId xmlns:a16="http://schemas.microsoft.com/office/drawing/2014/main" id="{5330E892-DC12-4478-9557-EC677538AC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52" y="2069"/>
              <a:ext cx="318" cy="1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  <p:grpSp>
          <p:nvGrpSpPr>
            <p:cNvPr id="16" name="Group 47">
              <a:extLst>
                <a:ext uri="{FF2B5EF4-FFF2-40B4-BE49-F238E27FC236}">
                  <a16:creationId xmlns:a16="http://schemas.microsoft.com/office/drawing/2014/main" id="{1C2E9DBE-6923-49A7-BC80-75F5D140EE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0" y="1774"/>
              <a:ext cx="1507" cy="623"/>
              <a:chOff x="2280" y="1774"/>
              <a:chExt cx="1507" cy="623"/>
            </a:xfrm>
          </p:grpSpPr>
          <p:grpSp>
            <p:nvGrpSpPr>
              <p:cNvPr id="17" name="Group 44">
                <a:extLst>
                  <a:ext uri="{FF2B5EF4-FFF2-40B4-BE49-F238E27FC236}">
                    <a16:creationId xmlns:a16="http://schemas.microsoft.com/office/drawing/2014/main" id="{5F06CC5B-5D47-42C1-873E-BF518867FF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80" y="2069"/>
                <a:ext cx="1456" cy="328"/>
                <a:chOff x="2280" y="2069"/>
                <a:chExt cx="1456" cy="328"/>
              </a:xfrm>
            </p:grpSpPr>
            <p:sp>
              <p:nvSpPr>
                <p:cNvPr id="19" name="Oval 39">
                  <a:extLst>
                    <a:ext uri="{FF2B5EF4-FFF2-40B4-BE49-F238E27FC236}">
                      <a16:creationId xmlns:a16="http://schemas.microsoft.com/office/drawing/2014/main" id="{E3098D60-ABE8-4AF4-B2B2-63E80EAA26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0" y="2115"/>
                  <a:ext cx="272" cy="272"/>
                </a:xfrm>
                <a:prstGeom prst="ellipse">
                  <a:avLst/>
                </a:prstGeom>
                <a:noFill/>
                <a:ln w="9525" algn="ctr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20" name="Oval 40">
                  <a:extLst>
                    <a:ext uri="{FF2B5EF4-FFF2-40B4-BE49-F238E27FC236}">
                      <a16:creationId xmlns:a16="http://schemas.microsoft.com/office/drawing/2014/main" id="{189EAB9C-74EE-4D0A-A40A-4C933FDE2B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64" y="2125"/>
                  <a:ext cx="272" cy="272"/>
                </a:xfrm>
                <a:prstGeom prst="ellipse">
                  <a:avLst/>
                </a:prstGeom>
                <a:noFill/>
                <a:ln w="9525" algn="ctr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21" name="Line 42">
                  <a:extLst>
                    <a:ext uri="{FF2B5EF4-FFF2-40B4-BE49-F238E27FC236}">
                      <a16:creationId xmlns:a16="http://schemas.microsoft.com/office/drawing/2014/main" id="{E5F8963B-90D7-4540-944B-11AE5C8C39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62" y="2069"/>
                  <a:ext cx="545" cy="136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楷体_GB2312" pitchFamily="49" charset="-122"/>
                  </a:endParaRPr>
                </a:p>
              </p:txBody>
            </p:sp>
          </p:grpSp>
          <p:sp>
            <p:nvSpPr>
              <p:cNvPr id="18" name="Text Box 46">
                <a:extLst>
                  <a:ext uri="{FF2B5EF4-FFF2-40B4-BE49-F238E27FC236}">
                    <a16:creationId xmlns:a16="http://schemas.microsoft.com/office/drawing/2014/main" id="{54EE705C-AD4F-436A-9A50-9451DE4D2F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2" y="1774"/>
                <a:ext cx="1315" cy="2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寄生或交叠电容</a:t>
                </a:r>
              </a:p>
            </p:txBody>
          </p:sp>
        </p:grpSp>
      </p:grpSp>
      <p:grpSp>
        <p:nvGrpSpPr>
          <p:cNvPr id="22" name="Group 57">
            <a:extLst>
              <a:ext uri="{FF2B5EF4-FFF2-40B4-BE49-F238E27FC236}">
                <a16:creationId xmlns:a16="http://schemas.microsoft.com/office/drawing/2014/main" id="{15D06B20-7609-4D71-BB7D-F78FC3B4FF02}"/>
              </a:ext>
            </a:extLst>
          </p:cNvPr>
          <p:cNvGrpSpPr>
            <a:grpSpLocks/>
          </p:cNvGrpSpPr>
          <p:nvPr/>
        </p:nvGrpSpPr>
        <p:grpSpPr bwMode="auto">
          <a:xfrm>
            <a:off x="1865946" y="4137025"/>
            <a:ext cx="6049963" cy="773112"/>
            <a:chOff x="294" y="2659"/>
            <a:chExt cx="3811" cy="487"/>
          </a:xfrm>
        </p:grpSpPr>
        <p:sp>
          <p:nvSpPr>
            <p:cNvPr id="23" name="Oval 49">
              <a:extLst>
                <a:ext uri="{FF2B5EF4-FFF2-40B4-BE49-F238E27FC236}">
                  <a16:creationId xmlns:a16="http://schemas.microsoft.com/office/drawing/2014/main" id="{32F6C77D-FD6D-41B4-84FD-C13CC580E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2659"/>
              <a:ext cx="272" cy="227"/>
            </a:xfrm>
            <a:prstGeom prst="ellipse">
              <a:avLst/>
            </a:prstGeom>
            <a:noFill/>
            <a:ln w="9525" algn="ctr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4" name="Oval 50">
              <a:extLst>
                <a:ext uri="{FF2B5EF4-FFF2-40B4-BE49-F238E27FC236}">
                  <a16:creationId xmlns:a16="http://schemas.microsoft.com/office/drawing/2014/main" id="{A5CBF7BB-211E-4AF7-8ECB-96129AE0E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2704"/>
              <a:ext cx="182" cy="136"/>
            </a:xfrm>
            <a:prstGeom prst="ellipse">
              <a:avLst/>
            </a:prstGeom>
            <a:noFill/>
            <a:ln w="9525" algn="ctr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5" name="Line 52">
              <a:extLst>
                <a:ext uri="{FF2B5EF4-FFF2-40B4-BE49-F238E27FC236}">
                  <a16:creationId xmlns:a16="http://schemas.microsoft.com/office/drawing/2014/main" id="{EF80480B-A8F3-4FE4-ABD0-74D973F782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83" y="2795"/>
              <a:ext cx="499" cy="91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  <p:sp>
          <p:nvSpPr>
            <p:cNvPr id="26" name="Line 53">
              <a:extLst>
                <a:ext uri="{FF2B5EF4-FFF2-40B4-BE49-F238E27FC236}">
                  <a16:creationId xmlns:a16="http://schemas.microsoft.com/office/drawing/2014/main" id="{5772CF71-F4ED-45B4-AD2E-344B9D3E3F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83" y="2795"/>
              <a:ext cx="2540" cy="136"/>
            </a:xfrm>
            <a:prstGeom prst="line">
              <a:avLst/>
            </a:prstGeom>
            <a:noFill/>
            <a:ln w="952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  <p:sp>
          <p:nvSpPr>
            <p:cNvPr id="27" name="Text Box 56">
              <a:extLst>
                <a:ext uri="{FF2B5EF4-FFF2-40B4-BE49-F238E27FC236}">
                  <a16:creationId xmlns:a16="http://schemas.microsoft.com/office/drawing/2014/main" id="{DB5106EF-9B9C-4AA0-885E-DF0A638E5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" y="2704"/>
              <a:ext cx="1180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和源、漏极相关的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串联电阻</a:t>
              </a:r>
            </a:p>
          </p:txBody>
        </p:sp>
      </p:grpSp>
      <p:grpSp>
        <p:nvGrpSpPr>
          <p:cNvPr id="28" name="Group 61">
            <a:extLst>
              <a:ext uri="{FF2B5EF4-FFF2-40B4-BE49-F238E27FC236}">
                <a16:creationId xmlns:a16="http://schemas.microsoft.com/office/drawing/2014/main" id="{E2604208-C771-4C1E-B94C-44930CBB2070}"/>
              </a:ext>
            </a:extLst>
          </p:cNvPr>
          <p:cNvGrpSpPr>
            <a:grpSpLocks/>
          </p:cNvGrpSpPr>
          <p:nvPr/>
        </p:nvGrpSpPr>
        <p:grpSpPr bwMode="auto">
          <a:xfrm>
            <a:off x="5571171" y="4137025"/>
            <a:ext cx="2089150" cy="1349375"/>
            <a:chOff x="2628" y="2659"/>
            <a:chExt cx="1316" cy="850"/>
          </a:xfrm>
        </p:grpSpPr>
        <p:sp>
          <p:nvSpPr>
            <p:cNvPr id="29" name="Oval 58">
              <a:extLst>
                <a:ext uri="{FF2B5EF4-FFF2-40B4-BE49-F238E27FC236}">
                  <a16:creationId xmlns:a16="http://schemas.microsoft.com/office/drawing/2014/main" id="{AA5FEEDF-F3BC-4718-99B3-EA93BB247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2659"/>
              <a:ext cx="181" cy="181"/>
            </a:xfrm>
            <a:prstGeom prst="ellipse">
              <a:avLst/>
            </a:prstGeom>
            <a:noFill/>
            <a:ln w="9525" algn="ctr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0" name="Line 59">
              <a:extLst>
                <a:ext uri="{FF2B5EF4-FFF2-40B4-BE49-F238E27FC236}">
                  <a16:creationId xmlns:a16="http://schemas.microsoft.com/office/drawing/2014/main" id="{F6138C95-C091-4552-BE7A-1D4A4F4AA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840"/>
              <a:ext cx="0" cy="18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  <p:sp>
          <p:nvSpPr>
            <p:cNvPr id="31" name="Text Box 60">
              <a:extLst>
                <a:ext uri="{FF2B5EF4-FFF2-40B4-BE49-F238E27FC236}">
                  <a16:creationId xmlns:a16="http://schemas.microsoft.com/office/drawing/2014/main" id="{06E45004-DF11-41AB-85D7-4F8178046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" y="3067"/>
              <a:ext cx="1316" cy="4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内部栅源电压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，控制沟道电流</a:t>
              </a:r>
            </a:p>
          </p:txBody>
        </p:sp>
      </p:grp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90C2BF3-00BA-4821-A63D-93DC92FE3977}"/>
              </a:ext>
            </a:extLst>
          </p:cNvPr>
          <p:cNvCxnSpPr>
            <a:stCxn id="13" idx="7"/>
          </p:cNvCxnSpPr>
          <p:nvPr/>
        </p:nvCxnSpPr>
        <p:spPr bwMode="auto">
          <a:xfrm flipV="1">
            <a:off x="6528921" y="3298609"/>
            <a:ext cx="1999763" cy="1477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98813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4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40B590A9-3625-43F9-A084-95FFBDC90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05163"/>
            <a:ext cx="6911975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2</a:t>
            </a:r>
            <a:r>
              <a:rPr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）频率限制因素与截止频率</a:t>
            </a: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1FEBD62C-7A20-429B-8573-E3D07E440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650" y="3708400"/>
            <a:ext cx="7704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MOSFET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中有两个基本的频率限制因素。</a:t>
            </a:r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185D4DDE-F657-4211-AD0B-B8C4E008A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650" y="4114800"/>
            <a:ext cx="4608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第一个因素为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沟道输运时间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7" name="Text Box 15">
            <a:extLst>
              <a:ext uri="{FF2B5EF4-FFF2-40B4-BE49-F238E27FC236}">
                <a16:creationId xmlns:a16="http://schemas.microsoft.com/office/drawing/2014/main" id="{975CDB63-1516-48DB-BFC5-C62C747D3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213" y="4572000"/>
            <a:ext cx="5327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另一个因素为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栅电极或电容充电时间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grpSp>
        <p:nvGrpSpPr>
          <p:cNvPr id="8" name="Group 19">
            <a:extLst>
              <a:ext uri="{FF2B5EF4-FFF2-40B4-BE49-F238E27FC236}">
                <a16:creationId xmlns:a16="http://schemas.microsoft.com/office/drawing/2014/main" id="{0311351B-B5C3-4E56-8AAF-C68818846D28}"/>
              </a:ext>
            </a:extLst>
          </p:cNvPr>
          <p:cNvGrpSpPr>
            <a:grpSpLocks/>
          </p:cNvGrpSpPr>
          <p:nvPr/>
        </p:nvGrpSpPr>
        <p:grpSpPr bwMode="auto">
          <a:xfrm>
            <a:off x="2689225" y="1003300"/>
            <a:ext cx="6697663" cy="2673350"/>
            <a:chOff x="758" y="774"/>
            <a:chExt cx="4219" cy="1684"/>
          </a:xfrm>
        </p:grpSpPr>
        <p:pic>
          <p:nvPicPr>
            <p:cNvPr id="9" name="Picture 17" descr="11">
              <a:extLst>
                <a:ext uri="{FF2B5EF4-FFF2-40B4-BE49-F238E27FC236}">
                  <a16:creationId xmlns:a16="http://schemas.microsoft.com/office/drawing/2014/main" id="{2072F987-6E2F-4D07-BC2B-CC84093349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-12000" contrast="2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0" y="774"/>
              <a:ext cx="2550" cy="1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18">
              <a:extLst>
                <a:ext uri="{FF2B5EF4-FFF2-40B4-BE49-F238E27FC236}">
                  <a16:creationId xmlns:a16="http://schemas.microsoft.com/office/drawing/2014/main" id="{06FBCF06-8E69-4DF0-AC4F-24A5F333EE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2170"/>
              <a:ext cx="4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共源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沟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MOSFET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的高频小信号等效电路</a:t>
              </a:r>
            </a:p>
          </p:txBody>
        </p:sp>
      </p:grpSp>
      <p:sp>
        <p:nvSpPr>
          <p:cNvPr id="11" name="Text Box 20">
            <a:extLst>
              <a:ext uri="{FF2B5EF4-FFF2-40B4-BE49-F238E27FC236}">
                <a16:creationId xmlns:a16="http://schemas.microsoft.com/office/drawing/2014/main" id="{292E4249-4B4E-4A8F-8064-0562B6F76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213" y="5051425"/>
            <a:ext cx="8207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截止频率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：器件的电流增益为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时的频率，或是当输入电流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等于理想负载电流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时的频率。</a:t>
            </a:r>
          </a:p>
        </p:txBody>
      </p:sp>
    </p:spTree>
    <p:extLst>
      <p:ext uri="{BB962C8B-B14F-4D97-AF65-F5344CB8AC3E}">
        <p14:creationId xmlns:p14="http://schemas.microsoft.com/office/powerpoint/2010/main" val="35999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0A479-A79D-496E-80E1-4F1E4E7D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F2CA6-A39B-48F7-84D1-AF91BD07D67D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A54B84-7904-4526-8706-4638A2461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087" y="719931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楷体_GB2312"/>
                <a:cs typeface="+mj-cs"/>
              </a:rPr>
              <a:t>小  结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29C8962-85BB-445D-A810-49F404594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25" y="1650206"/>
            <a:ext cx="6635750" cy="355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MOS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电容器的三种工作模式，以及一些关键的参数</a:t>
            </a:r>
          </a:p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MOS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电容器的理想</a:t>
            </a:r>
            <a:r>
              <a:rPr kumimoji="0" lang="en-US" altLang="zh-CN" sz="32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C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-</a:t>
            </a:r>
            <a:r>
              <a:rPr kumimoji="0" lang="en-US" altLang="zh-CN" sz="32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V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特性</a:t>
            </a:r>
          </a:p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MOSFET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的基本物理结构</a:t>
            </a:r>
          </a:p>
          <a:p>
            <a:pPr marL="342900" marR="0" lvl="0" indent="-342900" algn="l" defTabSz="914400" rtl="0" eaLnBrk="0" fontAlgn="base" latinLnBrk="0" hangingPunct="0">
              <a:lnSpc>
                <a:spcPct val="125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MOSFET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楷体_GB2312"/>
                <a:cs typeface="+mn-cs"/>
              </a:rPr>
              <a:t>的频率特性</a:t>
            </a:r>
          </a:p>
        </p:txBody>
      </p:sp>
    </p:spTree>
    <p:extLst>
      <p:ext uri="{BB962C8B-B14F-4D97-AF65-F5344CB8AC3E}">
        <p14:creationId xmlns:p14="http://schemas.microsoft.com/office/powerpoint/2010/main" val="1664679575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3251</TotalTime>
  <Words>1968</Words>
  <Application>Microsoft Office PowerPoint</Application>
  <PresentationFormat>宽屏</PresentationFormat>
  <Paragraphs>202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等线</vt:lpstr>
      <vt:lpstr>楷体_GB2312</vt:lpstr>
      <vt:lpstr>宋体</vt:lpstr>
      <vt:lpstr>Arial</vt:lpstr>
      <vt:lpstr>Symbol</vt:lpstr>
      <vt:lpstr>Times New Roman</vt:lpstr>
      <vt:lpstr>1_默认设计模板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LF Kristin</cp:lastModifiedBy>
  <cp:revision>304</cp:revision>
  <dcterms:created xsi:type="dcterms:W3CDTF">2020-08-13T13:39:53Z</dcterms:created>
  <dcterms:modified xsi:type="dcterms:W3CDTF">2024-12-29T09:59:41Z</dcterms:modified>
</cp:coreProperties>
</file>