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9"/>
  </p:notesMasterIdLst>
  <p:handoutMasterIdLst>
    <p:handoutMasterId r:id="rId40"/>
  </p:handoutMasterIdLst>
  <p:sldIdLst>
    <p:sldId id="1232" r:id="rId2"/>
    <p:sldId id="1233" r:id="rId3"/>
    <p:sldId id="1236" r:id="rId4"/>
    <p:sldId id="1237" r:id="rId5"/>
    <p:sldId id="1234" r:id="rId6"/>
    <p:sldId id="1235" r:id="rId7"/>
    <p:sldId id="1238" r:id="rId8"/>
    <p:sldId id="1240" r:id="rId9"/>
    <p:sldId id="1249" r:id="rId10"/>
    <p:sldId id="1250" r:id="rId11"/>
    <p:sldId id="1251" r:id="rId12"/>
    <p:sldId id="1252" r:id="rId13"/>
    <p:sldId id="1253" r:id="rId14"/>
    <p:sldId id="1254" r:id="rId15"/>
    <p:sldId id="1255" r:id="rId16"/>
    <p:sldId id="1256" r:id="rId17"/>
    <p:sldId id="1257" r:id="rId18"/>
    <p:sldId id="1258" r:id="rId19"/>
    <p:sldId id="1259" r:id="rId20"/>
    <p:sldId id="1260" r:id="rId21"/>
    <p:sldId id="1261" r:id="rId22"/>
    <p:sldId id="1262" r:id="rId23"/>
    <p:sldId id="1263" r:id="rId24"/>
    <p:sldId id="1264" r:id="rId25"/>
    <p:sldId id="1265" r:id="rId26"/>
    <p:sldId id="1266" r:id="rId27"/>
    <p:sldId id="1267" r:id="rId28"/>
    <p:sldId id="1268" r:id="rId29"/>
    <p:sldId id="1241" r:id="rId30"/>
    <p:sldId id="1248" r:id="rId31"/>
    <p:sldId id="1247" r:id="rId32"/>
    <p:sldId id="1246" r:id="rId33"/>
    <p:sldId id="1245" r:id="rId34"/>
    <p:sldId id="1244" r:id="rId35"/>
    <p:sldId id="1243" r:id="rId36"/>
    <p:sldId id="1242" r:id="rId37"/>
    <p:sldId id="1239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B7A13C7-1C99-4814-9FF9-6E28295C1067}">
          <p14:sldIdLst>
            <p14:sldId id="1232"/>
            <p14:sldId id="1233"/>
            <p14:sldId id="1236"/>
            <p14:sldId id="1237"/>
            <p14:sldId id="1234"/>
            <p14:sldId id="1235"/>
            <p14:sldId id="1238"/>
            <p14:sldId id="1240"/>
            <p14:sldId id="1249"/>
            <p14:sldId id="1250"/>
            <p14:sldId id="1251"/>
            <p14:sldId id="1252"/>
            <p14:sldId id="1253"/>
            <p14:sldId id="1254"/>
            <p14:sldId id="1255"/>
            <p14:sldId id="1256"/>
            <p14:sldId id="1257"/>
            <p14:sldId id="1258"/>
            <p14:sldId id="1259"/>
            <p14:sldId id="1260"/>
            <p14:sldId id="1261"/>
            <p14:sldId id="1262"/>
            <p14:sldId id="1263"/>
            <p14:sldId id="1264"/>
            <p14:sldId id="1265"/>
            <p14:sldId id="1266"/>
            <p14:sldId id="1267"/>
            <p14:sldId id="1268"/>
            <p14:sldId id="1241"/>
            <p14:sldId id="1248"/>
            <p14:sldId id="1247"/>
            <p14:sldId id="1246"/>
            <p14:sldId id="1245"/>
            <p14:sldId id="1244"/>
            <p14:sldId id="1243"/>
            <p14:sldId id="1242"/>
            <p14:sldId id="12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  <p:cmAuthor id="2" name="AW" initials="A" lastIdx="2" clrIdx="1">
    <p:extLst>
      <p:ext uri="{19B8F6BF-5375-455C-9EA6-DF929625EA0E}">
        <p15:presenceInfo xmlns:p15="http://schemas.microsoft.com/office/powerpoint/2012/main" userId="3a9c846bd157d73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90941" autoAdjust="0"/>
  </p:normalViewPr>
  <p:slideViewPr>
    <p:cSldViewPr snapToGrid="0">
      <p:cViewPr varScale="1">
        <p:scale>
          <a:sx n="74" d="100"/>
          <a:sy n="74" d="100"/>
        </p:scale>
        <p:origin x="466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73CF0A4-E610-495A-919B-CA480C71DE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00D9AB-51EC-4401-AC4D-6157E0C75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BE80A-4039-40DC-A2BA-410E82E5F961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22726D-C38F-45D2-9673-CCF05BC1E4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10E6D5-A087-490B-BC7C-33021FE63D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8A59E-43ED-4AA1-B0F5-93878C5DD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8161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06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16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4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39.jpe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42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50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eg"/><Relationship Id="rId4" Type="http://schemas.openxmlformats.org/officeDocument/2006/relationships/image" Target="../media/image53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38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D095E2-5873-46A8-B8F7-078AF9511F47}"/>
              </a:ext>
            </a:extLst>
          </p:cNvPr>
          <p:cNvSpPr/>
          <p:nvPr/>
        </p:nvSpPr>
        <p:spPr>
          <a:xfrm>
            <a:off x="4618674" y="2136063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双极性晶体管</a:t>
            </a:r>
            <a:endParaRPr lang="en-US" altLang="zh-CN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DA0312-2E5E-4D35-B163-BF59B81B426E}"/>
              </a:ext>
            </a:extLst>
          </p:cNvPr>
          <p:cNvSpPr/>
          <p:nvPr/>
        </p:nvSpPr>
        <p:spPr>
          <a:xfrm>
            <a:off x="4791796" y="3245657"/>
            <a:ext cx="2178802" cy="18158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姓名：</a:t>
            </a:r>
            <a:endParaRPr lang="en-US" altLang="zh-CN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学号：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自评：</a:t>
            </a:r>
            <a:r>
              <a:rPr lang="en-US" altLang="zh-C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8.5/1</a:t>
            </a:r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  <a:p>
            <a:r>
              <a:rPr lang="zh-CN" alt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时间：</a:t>
            </a:r>
            <a:endParaRPr lang="zh-CN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31EF5B-60C8-4BAE-BF23-75CAA65B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115B22-8194-4FC8-9614-86C592EEABA0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9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8B399D-89AA-4FF9-9A3D-EA4C9AB3FD35}"/>
              </a:ext>
            </a:extLst>
          </p:cNvPr>
          <p:cNvSpPr/>
          <p:nvPr/>
        </p:nvSpPr>
        <p:spPr>
          <a:xfrm>
            <a:off x="5060872" y="428489"/>
            <a:ext cx="22365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主要内容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B92250-0EAA-40D2-A168-FDD023830C28}"/>
              </a:ext>
            </a:extLst>
          </p:cNvPr>
          <p:cNvSpPr/>
          <p:nvPr/>
        </p:nvSpPr>
        <p:spPr>
          <a:xfrm>
            <a:off x="4220898" y="1186827"/>
            <a:ext cx="3916457" cy="488492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 b="1" dirty="0"/>
              <a:t>双极晶体管的工作原理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 b="1" dirty="0"/>
              <a:t>少子的分布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 b="1" dirty="0"/>
              <a:t>低频共基极电流增益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 b="1" dirty="0"/>
              <a:t>非理想效应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 b="1" dirty="0"/>
              <a:t>等效电路模型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 b="1" dirty="0"/>
              <a:t>频率上限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 b="1" dirty="0"/>
              <a:t>大信号开关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 b="1" dirty="0"/>
              <a:t>小结</a:t>
            </a:r>
            <a:endParaRPr lang="zh-CN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3917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1D58B47-0A10-430C-99A3-2174254DF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131" y="527447"/>
            <a:ext cx="8567738" cy="5803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晶体管基本工作原理</a:t>
            </a:r>
            <a:r>
              <a:rPr lang="zh-CN" altLang="en-US" sz="2800" b="1" kern="0" dirty="0"/>
              <a:t>：在器件的两个端点之间施加电压，从而控制第三端的电流。</a:t>
            </a:r>
          </a:p>
          <a:p>
            <a:pPr eaLnBrk="1" hangingPunct="1"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800" b="1" kern="0" dirty="0">
                <a:solidFill>
                  <a:srgbClr val="FF00FF"/>
                </a:solidFill>
              </a:rPr>
              <a:t>最基本的三种晶体管</a:t>
            </a:r>
            <a:r>
              <a:rPr lang="zh-CN" altLang="en-US" sz="2800" b="1" kern="0" dirty="0"/>
              <a:t>：双极晶体管、金属</a:t>
            </a:r>
            <a:r>
              <a:rPr lang="en-US" altLang="zh-CN" sz="2800" b="1" kern="0" dirty="0"/>
              <a:t>-</a:t>
            </a:r>
            <a:r>
              <a:rPr lang="zh-CN" altLang="en-US" sz="2800" b="1" kern="0" dirty="0"/>
              <a:t>氧化物</a:t>
            </a:r>
            <a:r>
              <a:rPr lang="en-US" altLang="zh-CN" sz="2800" b="1" kern="0" dirty="0"/>
              <a:t>-</a:t>
            </a:r>
            <a:r>
              <a:rPr lang="zh-CN" altLang="en-US" sz="2800" b="1" kern="0" dirty="0"/>
              <a:t>半导体场效应晶体管、结型场效应晶体管。</a:t>
            </a:r>
          </a:p>
          <a:p>
            <a:pPr eaLnBrk="1" hangingPunct="1"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800" b="1" kern="0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双极</a:t>
            </a:r>
            <a:r>
              <a:rPr lang="zh-CN" altLang="en-US" sz="2800" b="1" kern="0" dirty="0"/>
              <a:t>晶体管：在此器件中包含电子和空穴</a:t>
            </a:r>
            <a:r>
              <a:rPr lang="zh-CN" altLang="en-US" sz="2800" b="1" kern="0" dirty="0">
                <a:solidFill>
                  <a:srgbClr val="663300"/>
                </a:solidFill>
              </a:rPr>
              <a:t>两种极性不同</a:t>
            </a:r>
            <a:r>
              <a:rPr lang="zh-CN" altLang="en-US" sz="2800" b="1" kern="0" dirty="0"/>
              <a:t>的载流子运动。</a:t>
            </a:r>
          </a:p>
          <a:p>
            <a:pPr lvl="1" eaLnBrk="1" hangingPunct="1"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b="1" kern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双极晶体管中</a:t>
            </a:r>
            <a:r>
              <a:rPr lang="zh-CN" altLang="en-US" b="1" kern="0" dirty="0"/>
              <a:t>有</a:t>
            </a:r>
            <a:r>
              <a:rPr lang="en-US" altLang="zh-CN" b="1" kern="0" dirty="0"/>
              <a:t>2</a:t>
            </a:r>
            <a:r>
              <a:rPr lang="zh-CN" altLang="en-US" b="1" kern="0" dirty="0"/>
              <a:t>个</a:t>
            </a:r>
            <a:r>
              <a:rPr lang="en-US" altLang="zh-CN" b="1" kern="0" dirty="0" err="1"/>
              <a:t>pn</a:t>
            </a:r>
            <a:r>
              <a:rPr lang="zh-CN" altLang="en-US" b="1" kern="0" dirty="0"/>
              <a:t>结，结电压的正负情况可以有多种组合，导致器件有不同的工作模式。</a:t>
            </a:r>
          </a:p>
          <a:p>
            <a:pPr lvl="1" eaLnBrk="1" hangingPunct="1"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b="1" kern="0" dirty="0"/>
              <a:t>是一种电压控制的电流源。</a:t>
            </a:r>
          </a:p>
          <a:p>
            <a:pPr lvl="1" eaLnBrk="1" hangingPunct="1"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b="1" kern="0" dirty="0"/>
              <a:t>两种等效电路模型，适用于不同的情况。</a:t>
            </a:r>
          </a:p>
        </p:txBody>
      </p:sp>
    </p:spTree>
    <p:extLst>
      <p:ext uri="{BB962C8B-B14F-4D97-AF65-F5344CB8AC3E}">
        <p14:creationId xmlns:p14="http://schemas.microsoft.com/office/powerpoint/2010/main" val="75930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512350-2C55-48B4-8EBB-47EE88C1B2C8}"/>
              </a:ext>
            </a:extLst>
          </p:cNvPr>
          <p:cNvSpPr/>
          <p:nvPr/>
        </p:nvSpPr>
        <p:spPr>
          <a:xfrm>
            <a:off x="356568" y="307262"/>
            <a:ext cx="42883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双极晶体管的工作原理</a:t>
            </a:r>
            <a:endParaRPr lang="zh-CN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4EACE8-3975-4416-A6E8-CDC7A16A07FC}"/>
              </a:ext>
            </a:extLst>
          </p:cNvPr>
          <p:cNvSpPr/>
          <p:nvPr/>
        </p:nvSpPr>
        <p:spPr>
          <a:xfrm>
            <a:off x="0" y="892037"/>
            <a:ext cx="6574169" cy="290393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lvl="0" indent="-342900" fontAlgn="base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三个掺杂不同的扩散区、两个</a:t>
            </a:r>
            <a:r>
              <a:rPr lang="en-US" altLang="zh-CN" sz="2000" b="1" kern="0" dirty="0" err="1">
                <a:solidFill>
                  <a:srgbClr val="000000"/>
                </a:solidFill>
                <a:ea typeface="楷体_GB2312"/>
              </a:rPr>
              <a:t>pn</a:t>
            </a: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结</a:t>
            </a:r>
          </a:p>
          <a:p>
            <a:pPr marL="742950" lvl="1" indent="-28575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三端分别为发射极（</a:t>
            </a:r>
            <a:r>
              <a:rPr lang="en-US" altLang="zh-CN" sz="2000" b="1" kern="0" dirty="0">
                <a:solidFill>
                  <a:srgbClr val="000000"/>
                </a:solidFill>
                <a:ea typeface="楷体_GB2312"/>
              </a:rPr>
              <a:t>E</a:t>
            </a: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）、基极（</a:t>
            </a:r>
            <a:r>
              <a:rPr lang="en-US" altLang="zh-CN" sz="2000" b="1" kern="0" dirty="0">
                <a:solidFill>
                  <a:srgbClr val="000000"/>
                </a:solidFill>
                <a:ea typeface="楷体_GB2312"/>
              </a:rPr>
              <a:t>B</a:t>
            </a: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）、集电极（</a:t>
            </a:r>
            <a:r>
              <a:rPr lang="en-US" altLang="zh-CN" sz="2000" b="1" kern="0" dirty="0">
                <a:solidFill>
                  <a:srgbClr val="000000"/>
                </a:solidFill>
                <a:ea typeface="楷体_GB2312"/>
              </a:rPr>
              <a:t>C</a:t>
            </a: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）</a:t>
            </a:r>
            <a:endParaRPr lang="en-US" altLang="zh-CN" sz="2000" b="1" kern="0" dirty="0">
              <a:solidFill>
                <a:srgbClr val="000000"/>
              </a:solidFill>
              <a:ea typeface="楷体_GB2312"/>
            </a:endParaRPr>
          </a:p>
          <a:p>
            <a:pPr marL="742950" lvl="1" indent="-28575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相对于少子扩散长度，</a:t>
            </a:r>
            <a:r>
              <a:rPr lang="zh-CN" altLang="en-US" sz="2000" b="1" kern="0" dirty="0">
                <a:solidFill>
                  <a:srgbClr val="0000FF"/>
                </a:solidFill>
                <a:ea typeface="楷体_GB2312"/>
              </a:rPr>
              <a:t>基区宽度很小</a:t>
            </a:r>
          </a:p>
          <a:p>
            <a:pPr marL="742950" lvl="1" indent="-28575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en-US" sz="2000" b="1" kern="0" dirty="0">
                <a:solidFill>
                  <a:srgbClr val="CC3300"/>
                </a:solidFill>
                <a:ea typeface="楷体_GB2312"/>
              </a:rPr>
              <a:t>发射区掺杂浓度最高</a:t>
            </a: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，</a:t>
            </a:r>
            <a:r>
              <a:rPr lang="zh-CN" altLang="en-US" sz="2000" b="1" kern="0" dirty="0">
                <a:solidFill>
                  <a:srgbClr val="FF00FF"/>
                </a:solidFill>
                <a:ea typeface="楷体_GB2312"/>
              </a:rPr>
              <a:t>集电区掺杂浓度最低</a:t>
            </a:r>
          </a:p>
          <a:p>
            <a:pPr marL="342900" lvl="0" indent="-342900" fontAlgn="base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zh-CN" sz="2000" b="1" kern="0" dirty="0" err="1">
                <a:solidFill>
                  <a:srgbClr val="000000"/>
                </a:solidFill>
                <a:ea typeface="楷体_GB2312"/>
              </a:rPr>
              <a:t>pn</a:t>
            </a: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结的结论将直接应用于双极晶体管的研究</a:t>
            </a:r>
          </a:p>
          <a:p>
            <a:pPr marL="342900" lvl="0" indent="-342900" fontAlgn="base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双极晶体管不是对称器件，包括</a:t>
            </a:r>
            <a:r>
              <a:rPr lang="zh-CN" altLang="en-US" sz="2000" b="1" kern="0" dirty="0">
                <a:solidFill>
                  <a:srgbClr val="FF0000"/>
                </a:solidFill>
                <a:ea typeface="楷体_GB2312"/>
              </a:rPr>
              <a:t>掺杂浓度</a:t>
            </a:r>
            <a:r>
              <a:rPr lang="zh-CN" altLang="en-US" sz="2000" b="1" kern="0" dirty="0">
                <a:solidFill>
                  <a:srgbClr val="000000"/>
                </a:solidFill>
                <a:ea typeface="楷体_GB2312"/>
              </a:rPr>
              <a:t>和</a:t>
            </a:r>
            <a:r>
              <a:rPr lang="zh-CN" altLang="en-US" sz="2000" b="1" kern="0" dirty="0">
                <a:solidFill>
                  <a:srgbClr val="006600"/>
                </a:solidFill>
                <a:ea typeface="楷体_GB2312"/>
              </a:rPr>
              <a:t>几何形状</a:t>
            </a:r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C6844C7A-F1D1-43B1-AA74-10AC514003E3}"/>
              </a:ext>
            </a:extLst>
          </p:cNvPr>
          <p:cNvGrpSpPr>
            <a:grpSpLocks/>
          </p:cNvGrpSpPr>
          <p:nvPr/>
        </p:nvGrpSpPr>
        <p:grpSpPr bwMode="auto">
          <a:xfrm>
            <a:off x="6574169" y="1849582"/>
            <a:ext cx="4837172" cy="1674055"/>
            <a:chOff x="441" y="259"/>
            <a:chExt cx="4856" cy="1651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33B51ACF-A94A-4C4C-88D3-D432BCBD2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1515"/>
              <a:ext cx="4539" cy="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(</a:t>
              </a:r>
              <a:r>
                <a:rPr lang="en-US" altLang="zh-CN" sz="1400" dirty="0"/>
                <a:t>a)</a:t>
              </a:r>
              <a:r>
                <a:rPr lang="en-US" altLang="zh-CN" sz="1400" dirty="0" err="1"/>
                <a:t>npn</a:t>
              </a:r>
              <a:r>
                <a:rPr lang="zh-CN" altLang="en-US" sz="1400" dirty="0"/>
                <a:t>型</a:t>
              </a:r>
              <a:r>
                <a:rPr lang="en-US" altLang="zh-CN" sz="1400" dirty="0"/>
                <a:t>(b)</a:t>
              </a:r>
              <a:r>
                <a:rPr lang="en-US" altLang="zh-CN" sz="1400" dirty="0" err="1"/>
                <a:t>pnp</a:t>
              </a:r>
              <a:r>
                <a:rPr lang="zh-CN" altLang="en-US" sz="1400" dirty="0"/>
                <a:t>型双极晶体管的简化结构图及电路符号</a:t>
              </a:r>
            </a:p>
          </p:txBody>
        </p:sp>
        <p:pic>
          <p:nvPicPr>
            <p:cNvPr id="7" name="Picture 6" descr="10">
              <a:extLst>
                <a:ext uri="{FF2B5EF4-FFF2-40B4-BE49-F238E27FC236}">
                  <a16:creationId xmlns:a16="http://schemas.microsoft.com/office/drawing/2014/main" id="{81C4777A-A7F6-4E4E-865B-655003EDB9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0" b="818"/>
            <a:stretch>
              <a:fillRect/>
            </a:stretch>
          </p:blipFill>
          <p:spPr bwMode="auto">
            <a:xfrm>
              <a:off x="441" y="259"/>
              <a:ext cx="4856" cy="1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B20D7442-AD19-4790-85F4-792CFD099DA0}"/>
              </a:ext>
            </a:extLst>
          </p:cNvPr>
          <p:cNvGrpSpPr>
            <a:grpSpLocks/>
          </p:cNvGrpSpPr>
          <p:nvPr/>
        </p:nvGrpSpPr>
        <p:grpSpPr bwMode="auto">
          <a:xfrm>
            <a:off x="1969170" y="3861468"/>
            <a:ext cx="8253659" cy="2504348"/>
            <a:chOff x="-10" y="2004"/>
            <a:chExt cx="5760" cy="1920"/>
          </a:xfrm>
        </p:grpSpPr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73EE738D-7121-4C66-8A47-45FFF1EDC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" y="3688"/>
              <a:ext cx="576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dirty="0"/>
                <a:t>(a)</a:t>
              </a:r>
              <a:r>
                <a:rPr lang="zh-CN" altLang="en-US" sz="1400" dirty="0"/>
                <a:t>集成电路中的常规</a:t>
              </a:r>
              <a:r>
                <a:rPr lang="en-US" altLang="zh-CN" sz="1400" dirty="0" err="1"/>
                <a:t>npn</a:t>
              </a:r>
              <a:r>
                <a:rPr lang="zh-CN" altLang="en-US" sz="1400" dirty="0"/>
                <a:t>型双极晶体管</a:t>
              </a:r>
              <a:r>
                <a:rPr lang="en-US" altLang="zh-CN" sz="1400" dirty="0"/>
                <a:t>(b)</a:t>
              </a:r>
              <a:r>
                <a:rPr lang="zh-CN" altLang="en-US" sz="1400" dirty="0"/>
                <a:t>氧化物隔离的</a:t>
              </a:r>
              <a:r>
                <a:rPr lang="en-US" altLang="zh-CN" sz="1400" dirty="0" err="1"/>
                <a:t>npn</a:t>
              </a:r>
              <a:r>
                <a:rPr lang="zh-CN" altLang="en-US" sz="1400" dirty="0"/>
                <a:t>型双极晶体管截面图</a:t>
              </a:r>
            </a:p>
          </p:txBody>
        </p:sp>
        <p:pic>
          <p:nvPicPr>
            <p:cNvPr id="10" name="Picture 9" descr="10">
              <a:extLst>
                <a:ext uri="{FF2B5EF4-FFF2-40B4-BE49-F238E27FC236}">
                  <a16:creationId xmlns:a16="http://schemas.microsoft.com/office/drawing/2014/main" id="{07A4EDC9-3730-4B57-92AB-B60D69ECF3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" r="331"/>
            <a:stretch>
              <a:fillRect/>
            </a:stretch>
          </p:blipFill>
          <p:spPr bwMode="auto">
            <a:xfrm>
              <a:off x="12" y="2004"/>
              <a:ext cx="5718" cy="1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1384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5" name="Text Box 22">
            <a:extLst>
              <a:ext uri="{FF2B5EF4-FFF2-40B4-BE49-F238E27FC236}">
                <a16:creationId xmlns:a16="http://schemas.microsoft.com/office/drawing/2014/main" id="{25B90173-DAD5-47B4-B3B3-93CB4008F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68" y="815039"/>
            <a:ext cx="5688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</a:rPr>
              <a:t>B-E</a:t>
            </a:r>
            <a:r>
              <a:rPr lang="zh-CN" altLang="en-US" dirty="0">
                <a:solidFill>
                  <a:srgbClr val="0000FF"/>
                </a:solidFill>
              </a:rPr>
              <a:t>结正偏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B-C</a:t>
            </a:r>
            <a:r>
              <a:rPr lang="zh-CN" altLang="en-US" dirty="0">
                <a:solidFill>
                  <a:srgbClr val="FF0000"/>
                </a:solidFill>
              </a:rPr>
              <a:t>结反偏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06600"/>
                </a:solidFill>
              </a:rPr>
              <a:t>正向有源模式</a:t>
            </a:r>
            <a:r>
              <a:rPr lang="zh-CN" altLang="en-US" dirty="0"/>
              <a:t>）</a:t>
            </a:r>
            <a:r>
              <a:rPr lang="en-US" altLang="zh-CN" dirty="0"/>
              <a:t>-</a:t>
            </a:r>
            <a:r>
              <a:rPr lang="zh-CN" altLang="en-US" dirty="0"/>
              <a:t>共基</a:t>
            </a:r>
          </a:p>
        </p:txBody>
      </p:sp>
      <p:sp>
        <p:nvSpPr>
          <p:cNvPr id="6" name="Text Box 23">
            <a:extLst>
              <a:ext uri="{FF2B5EF4-FFF2-40B4-BE49-F238E27FC236}">
                <a16:creationId xmlns:a16="http://schemas.microsoft.com/office/drawing/2014/main" id="{B4C9CF19-1A05-4DD0-AD94-1F2BF30B1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68" y="1211914"/>
            <a:ext cx="4572000" cy="55705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0000FF"/>
                </a:solidFill>
              </a:rPr>
              <a:t>B-E</a:t>
            </a:r>
            <a:r>
              <a:rPr lang="zh-CN" altLang="en-US" dirty="0">
                <a:solidFill>
                  <a:srgbClr val="0000FF"/>
                </a:solidFill>
              </a:rPr>
              <a:t>结正偏</a:t>
            </a:r>
            <a:r>
              <a:rPr lang="zh-CN" altLang="en-US" dirty="0"/>
              <a:t>：电子从发射区越过发射结注入到基区；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B-C</a:t>
            </a:r>
            <a:r>
              <a:rPr lang="zh-CN" altLang="en-US" dirty="0">
                <a:solidFill>
                  <a:srgbClr val="FF0000"/>
                </a:solidFill>
              </a:rPr>
              <a:t>结反偏</a:t>
            </a:r>
            <a:r>
              <a:rPr lang="zh-CN" altLang="en-US" dirty="0"/>
              <a:t>：理想情况下</a:t>
            </a:r>
            <a:r>
              <a:rPr lang="en-US" altLang="zh-CN" dirty="0"/>
              <a:t>B-C</a:t>
            </a:r>
            <a:r>
              <a:rPr lang="zh-CN" altLang="en-US" dirty="0"/>
              <a:t>结边界处，少子电子的浓度为零。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/>
              <a:t>图</a:t>
            </a:r>
            <a:r>
              <a:rPr lang="en-US" altLang="zh-CN" dirty="0"/>
              <a:t>(b)</a:t>
            </a:r>
            <a:r>
              <a:rPr lang="zh-CN" altLang="en-US" dirty="0"/>
              <a:t>中电子浓度梯度标明：发射区注入的电子会越过基区扩散到</a:t>
            </a:r>
            <a:r>
              <a:rPr lang="en-US" altLang="zh-CN" dirty="0"/>
              <a:t>B-C</a:t>
            </a:r>
            <a:r>
              <a:rPr lang="zh-CN" altLang="en-US" dirty="0"/>
              <a:t>结的空间电荷区，那里的电场会把电子扫到集电区。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/>
              <a:t>为了使尽可能多的电子到达集电区，而不是和基区多子空穴复合；与少子电子扩散长度相比，</a:t>
            </a:r>
            <a:r>
              <a:rPr lang="zh-CN" altLang="en-US" dirty="0">
                <a:solidFill>
                  <a:srgbClr val="CC3300"/>
                </a:solidFill>
              </a:rPr>
              <a:t>基区宽度必须很小</a:t>
            </a:r>
            <a:r>
              <a:rPr lang="zh-CN" altLang="en-US" dirty="0"/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/>
              <a:t>当基区宽度很小时，少子</a:t>
            </a:r>
            <a:r>
              <a:rPr lang="zh-CN" altLang="en-US" dirty="0">
                <a:solidFill>
                  <a:srgbClr val="FF00FF"/>
                </a:solidFill>
              </a:rPr>
              <a:t>电子浓度是</a:t>
            </a:r>
            <a:r>
              <a:rPr lang="en-US" altLang="zh-CN" dirty="0">
                <a:solidFill>
                  <a:srgbClr val="FF00FF"/>
                </a:solidFill>
              </a:rPr>
              <a:t>B-E</a:t>
            </a:r>
            <a:r>
              <a:rPr lang="zh-CN" altLang="en-US" dirty="0">
                <a:solidFill>
                  <a:srgbClr val="FF00FF"/>
                </a:solidFill>
              </a:rPr>
              <a:t>结电压和</a:t>
            </a:r>
            <a:r>
              <a:rPr lang="en-US" altLang="zh-CN" dirty="0">
                <a:solidFill>
                  <a:srgbClr val="FF00FF"/>
                </a:solidFill>
              </a:rPr>
              <a:t>B-C</a:t>
            </a:r>
            <a:r>
              <a:rPr lang="zh-CN" altLang="en-US" dirty="0">
                <a:solidFill>
                  <a:srgbClr val="FF00FF"/>
                </a:solidFill>
              </a:rPr>
              <a:t>结电压的函数</a:t>
            </a:r>
            <a:r>
              <a:rPr lang="zh-CN" altLang="en-US" dirty="0"/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/>
              <a:t>两个结距离很近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008080"/>
                </a:solidFill>
              </a:rPr>
              <a:t>互作用</a:t>
            </a:r>
            <a:r>
              <a:rPr lang="en-US" altLang="zh-CN" dirty="0" err="1">
                <a:solidFill>
                  <a:srgbClr val="008080"/>
                </a:solidFill>
              </a:rPr>
              <a:t>pn</a:t>
            </a:r>
            <a:r>
              <a:rPr lang="zh-CN" altLang="en-US" dirty="0">
                <a:solidFill>
                  <a:srgbClr val="008080"/>
                </a:solidFill>
              </a:rPr>
              <a:t>结</a:t>
            </a:r>
            <a:r>
              <a:rPr lang="zh-CN" altLang="en-US" dirty="0"/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F2AA5E-C58A-4DB0-B069-8676EA0AB9D9}"/>
              </a:ext>
            </a:extLst>
          </p:cNvPr>
          <p:cNvSpPr/>
          <p:nvPr/>
        </p:nvSpPr>
        <p:spPr>
          <a:xfrm>
            <a:off x="356568" y="307262"/>
            <a:ext cx="42883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双极晶体管的工作原理</a:t>
            </a:r>
            <a:endParaRPr lang="zh-CN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Picture 17">
            <a:extLst>
              <a:ext uri="{FF2B5EF4-FFF2-40B4-BE49-F238E27FC236}">
                <a16:creationId xmlns:a16="http://schemas.microsoft.com/office/drawing/2014/main" id="{47EEDADE-8B7D-4A89-A3C4-4DB4291E9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" r="325"/>
          <a:stretch>
            <a:fillRect/>
          </a:stretch>
        </p:blipFill>
        <p:spPr bwMode="auto">
          <a:xfrm>
            <a:off x="5594681" y="1230525"/>
            <a:ext cx="5839641" cy="392039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2">
            <a:extLst>
              <a:ext uri="{FF2B5EF4-FFF2-40B4-BE49-F238E27FC236}">
                <a16:creationId xmlns:a16="http://schemas.microsoft.com/office/drawing/2014/main" id="{AA16B832-87AD-4659-BE22-A669491C9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125" y="5169532"/>
            <a:ext cx="6240751" cy="722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latinLnBrk="1" hangingPunct="1"/>
            <a:r>
              <a:rPr lang="en-US" altLang="zh-CN" sz="1400" dirty="0"/>
              <a:t>(a)</a:t>
            </a:r>
            <a:r>
              <a:rPr lang="en-US" altLang="zh-CN" sz="1400" dirty="0" err="1"/>
              <a:t>npn</a:t>
            </a:r>
            <a:r>
              <a:rPr lang="zh-CN" altLang="en-US" sz="1400" dirty="0"/>
              <a:t>型双极晶体管工作在正向有源区的偏置情况</a:t>
            </a:r>
            <a:r>
              <a:rPr lang="en-US" altLang="zh-CN" sz="1400" dirty="0"/>
              <a:t>(b)</a:t>
            </a:r>
            <a:r>
              <a:rPr lang="zh-CN" altLang="en-US" sz="1400" dirty="0"/>
              <a:t>工作于正向有源区，</a:t>
            </a:r>
            <a:r>
              <a:rPr lang="en-US" altLang="zh-CN" sz="1400" dirty="0" err="1"/>
              <a:t>npn</a:t>
            </a:r>
            <a:r>
              <a:rPr lang="zh-CN" altLang="en-US" sz="1400" dirty="0"/>
              <a:t>型</a:t>
            </a:r>
          </a:p>
          <a:p>
            <a:pPr eaLnBrk="1" latinLnBrk="1" hangingPunct="1"/>
            <a:r>
              <a:rPr lang="zh-CN" altLang="en-US" sz="1400" dirty="0"/>
              <a:t>双极晶体管中少子的分布</a:t>
            </a:r>
            <a:r>
              <a:rPr lang="en-US" altLang="zh-CN" sz="1400" dirty="0"/>
              <a:t>(c)</a:t>
            </a:r>
            <a:r>
              <a:rPr lang="zh-CN" altLang="en-US" sz="1400" dirty="0"/>
              <a:t>零偏和正向有源区时，</a:t>
            </a:r>
            <a:r>
              <a:rPr lang="en-US" altLang="zh-CN" sz="1400" dirty="0" err="1"/>
              <a:t>npn</a:t>
            </a:r>
            <a:r>
              <a:rPr lang="zh-CN" altLang="en-US" sz="1400" dirty="0"/>
              <a:t>型双极晶体管的能带图</a:t>
            </a:r>
          </a:p>
        </p:txBody>
      </p:sp>
    </p:spTree>
    <p:extLst>
      <p:ext uri="{BB962C8B-B14F-4D97-AF65-F5344CB8AC3E}">
        <p14:creationId xmlns:p14="http://schemas.microsoft.com/office/powerpoint/2010/main" val="34078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 build="allAtOnce" animBg="1"/>
      <p:bldP spid="6" grpId="1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3" name="Text Box 21">
            <a:extLst>
              <a:ext uri="{FF2B5EF4-FFF2-40B4-BE49-F238E27FC236}">
                <a16:creationId xmlns:a16="http://schemas.microsoft.com/office/drawing/2014/main" id="{231EEED3-FFAD-49EA-9110-899964964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439" y="1533361"/>
            <a:ext cx="6349994" cy="1384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dirty="0"/>
              <a:t>图中显示了正向有源模式下电子从</a:t>
            </a:r>
            <a:r>
              <a:rPr lang="en-US" altLang="zh-CN" sz="2400" dirty="0"/>
              <a:t>n</a:t>
            </a:r>
            <a:r>
              <a:rPr lang="zh-CN" altLang="en-US" sz="2400" dirty="0"/>
              <a:t>型发射区注入（因此称为</a:t>
            </a:r>
            <a:r>
              <a:rPr lang="zh-CN" altLang="en-US" sz="2400" dirty="0">
                <a:solidFill>
                  <a:srgbClr val="0000FF"/>
                </a:solidFill>
              </a:rPr>
              <a:t>发射区</a:t>
            </a:r>
            <a:r>
              <a:rPr lang="zh-CN" altLang="en-US" sz="2400" dirty="0"/>
              <a:t>）和电子在集电区被收集（因此称为</a:t>
            </a:r>
            <a:r>
              <a:rPr lang="zh-CN" altLang="en-US" sz="2400" dirty="0">
                <a:solidFill>
                  <a:srgbClr val="FF0000"/>
                </a:solidFill>
              </a:rPr>
              <a:t>集电区</a:t>
            </a:r>
            <a:r>
              <a:rPr lang="zh-CN" altLang="en-US" sz="2400" dirty="0"/>
              <a:t>）的截面图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26E2DD-B542-480F-8877-55DE07511ACA}"/>
              </a:ext>
            </a:extLst>
          </p:cNvPr>
          <p:cNvSpPr/>
          <p:nvPr/>
        </p:nvSpPr>
        <p:spPr>
          <a:xfrm>
            <a:off x="356568" y="307262"/>
            <a:ext cx="42883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双极晶体管的工作原理</a:t>
            </a:r>
            <a:endParaRPr lang="zh-CN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3061E44-8D92-4074-835B-BC12A1B0F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68" y="753571"/>
            <a:ext cx="3723963" cy="2666810"/>
          </a:xfrm>
          <a:prstGeom prst="rect">
            <a:avLst/>
          </a:prstGeom>
        </p:spPr>
      </p:pic>
      <p:sp>
        <p:nvSpPr>
          <p:cNvPr id="6" name="Rectangle 13">
            <a:extLst>
              <a:ext uri="{FF2B5EF4-FFF2-40B4-BE49-F238E27FC236}">
                <a16:creationId xmlns:a16="http://schemas.microsoft.com/office/drawing/2014/main" id="{923D292A-C49B-4576-966D-BE0E1395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25" y="3558847"/>
            <a:ext cx="3634959" cy="35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）晶体管电流的简化表达式</a:t>
            </a:r>
          </a:p>
        </p:txBody>
      </p:sp>
      <p:pic>
        <p:nvPicPr>
          <p:cNvPr id="7" name="Picture 15" descr="10">
            <a:extLst>
              <a:ext uri="{FF2B5EF4-FFF2-40B4-BE49-F238E27FC236}">
                <a16:creationId xmlns:a16="http://schemas.microsoft.com/office/drawing/2014/main" id="{167E564B-496D-4D22-97AC-74F53027C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" t="594" r="1971" b="1781"/>
          <a:stretch>
            <a:fillRect/>
          </a:stretch>
        </p:blipFill>
        <p:spPr bwMode="auto">
          <a:xfrm>
            <a:off x="1346134" y="4052768"/>
            <a:ext cx="3191597" cy="2652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84BDC3F-0432-4B44-A049-8FCE3FE518ED}"/>
              </a:ext>
            </a:extLst>
          </p:cNvPr>
          <p:cNvSpPr/>
          <p:nvPr/>
        </p:nvSpPr>
        <p:spPr>
          <a:xfrm>
            <a:off x="5443827" y="4052768"/>
            <a:ext cx="4791219" cy="1875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理想情况下，基区少子电子浓度是基区宽度的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线性函数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，表明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没有复合发生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。电子扩散过基区，后被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B-C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结空间电荷区电场</a:t>
            </a:r>
            <a:r>
              <a:rPr lang="zh-CN" altLang="en-US" sz="24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扫入集电区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3402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graphicFrame>
        <p:nvGraphicFramePr>
          <p:cNvPr id="3" name="Object 25">
            <a:extLst>
              <a:ext uri="{FF2B5EF4-FFF2-40B4-BE49-F238E27FC236}">
                <a16:creationId xmlns:a16="http://schemas.microsoft.com/office/drawing/2014/main" id="{F7630B8A-AEC7-484E-921B-033A2566A7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210050"/>
              </p:ext>
            </p:extLst>
          </p:nvPr>
        </p:nvGraphicFramePr>
        <p:xfrm>
          <a:off x="3013797" y="1203325"/>
          <a:ext cx="6262687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482400" progId="Equation.DSMT4">
                  <p:embed/>
                </p:oleObj>
              </mc:Choice>
              <mc:Fallback>
                <p:oleObj name="Equation" r:id="rId2" imgW="2514600" imgH="482400" progId="Equation.DSMT4">
                  <p:embed/>
                  <p:pic>
                    <p:nvPicPr>
                      <p:cNvPr id="201753" name="Object 25">
                        <a:extLst>
                          <a:ext uri="{FF2B5EF4-FFF2-40B4-BE49-F238E27FC236}">
                            <a16:creationId xmlns:a16="http://schemas.microsoft.com/office/drawing/2014/main" id="{D32B8333-79D3-41E2-9F7E-01E09A0316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797" y="1203325"/>
                        <a:ext cx="6262687" cy="1198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6">
            <a:extLst>
              <a:ext uri="{FF2B5EF4-FFF2-40B4-BE49-F238E27FC236}">
                <a16:creationId xmlns:a16="http://schemas.microsoft.com/office/drawing/2014/main" id="{321CA56E-4526-4B32-87B3-5B2641344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309" y="646112"/>
            <a:ext cx="475932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1313" indent="-341313" eaLnBrk="1" hangingPunct="1">
              <a:spcBef>
                <a:spcPct val="0"/>
              </a:spcBef>
            </a:pPr>
            <a:r>
              <a:rPr lang="zh-CN" altLang="en-US" sz="2800" b="1" kern="0"/>
              <a:t>集电极电流：扩散电流</a:t>
            </a:r>
            <a:endParaRPr lang="zh-CN" altLang="en-US" sz="2800" b="1" kern="0" dirty="0"/>
          </a:p>
        </p:txBody>
      </p:sp>
      <p:graphicFrame>
        <p:nvGraphicFramePr>
          <p:cNvPr id="6" name="Object 27">
            <a:extLst>
              <a:ext uri="{FF2B5EF4-FFF2-40B4-BE49-F238E27FC236}">
                <a16:creationId xmlns:a16="http://schemas.microsoft.com/office/drawing/2014/main" id="{2AB954B2-8616-43CA-91FD-3E174E477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639262"/>
              </p:ext>
            </p:extLst>
          </p:nvPr>
        </p:nvGraphicFramePr>
        <p:xfrm>
          <a:off x="6249122" y="2562225"/>
          <a:ext cx="27924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482400" progId="Equation.DSMT4">
                  <p:embed/>
                </p:oleObj>
              </mc:Choice>
              <mc:Fallback>
                <p:oleObj name="Equation" r:id="rId4" imgW="1396800" imgH="482400" progId="Equation.DSMT4">
                  <p:embed/>
                  <p:pic>
                    <p:nvPicPr>
                      <p:cNvPr id="201755" name="Object 27">
                        <a:extLst>
                          <a:ext uri="{FF2B5EF4-FFF2-40B4-BE49-F238E27FC236}">
                            <a16:creationId xmlns:a16="http://schemas.microsoft.com/office/drawing/2014/main" id="{13027CFA-8435-489A-B88B-CEDD81CFC2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9122" y="2562225"/>
                        <a:ext cx="27924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8">
            <a:extLst>
              <a:ext uri="{FF2B5EF4-FFF2-40B4-BE49-F238E27FC236}">
                <a16:creationId xmlns:a16="http://schemas.microsoft.com/office/drawing/2014/main" id="{AD881ACF-85EC-4883-8DB9-DCBF342AEB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5631563"/>
              </p:ext>
            </p:extLst>
          </p:nvPr>
        </p:nvGraphicFramePr>
        <p:xfrm>
          <a:off x="2061297" y="3722687"/>
          <a:ext cx="8164512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63760" imgH="482400" progId="Equation.DSMT4">
                  <p:embed/>
                </p:oleObj>
              </mc:Choice>
              <mc:Fallback>
                <p:oleObj name="Equation" r:id="rId6" imgW="3263760" imgH="482400" progId="Equation.DSMT4">
                  <p:embed/>
                  <p:pic>
                    <p:nvPicPr>
                      <p:cNvPr id="201756" name="Object 28">
                        <a:extLst>
                          <a:ext uri="{FF2B5EF4-FFF2-40B4-BE49-F238E27FC236}">
                            <a16:creationId xmlns:a16="http://schemas.microsoft.com/office/drawing/2014/main" id="{71B1B4C9-4FBF-4B95-9630-8A25E90609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1297" y="3722687"/>
                        <a:ext cx="8164512" cy="1204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29">
            <a:extLst>
              <a:ext uri="{FF2B5EF4-FFF2-40B4-BE49-F238E27FC236}">
                <a16:creationId xmlns:a16="http://schemas.microsoft.com/office/drawing/2014/main" id="{FB489671-436F-4558-BAB2-B62B91C8BA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4472" y="2446337"/>
            <a:ext cx="0" cy="1258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30">
            <a:extLst>
              <a:ext uri="{FF2B5EF4-FFF2-40B4-BE49-F238E27FC236}">
                <a16:creationId xmlns:a16="http://schemas.microsoft.com/office/drawing/2014/main" id="{7984415F-E63E-4162-AECE-196753A4A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759" y="57912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晶体管</a:t>
            </a:r>
            <a:r>
              <a:rPr lang="zh-CN" altLang="en-US" sz="2400">
                <a:solidFill>
                  <a:srgbClr val="0000FF"/>
                </a:solidFill>
              </a:rPr>
              <a:t>基本工作原理</a:t>
            </a:r>
            <a:r>
              <a:rPr lang="zh-CN" altLang="en-US" sz="2400"/>
              <a:t>：器件</a:t>
            </a:r>
            <a:r>
              <a:rPr lang="zh-CN" altLang="en-US" sz="2400">
                <a:solidFill>
                  <a:srgbClr val="FF0000"/>
                </a:solidFill>
              </a:rPr>
              <a:t>一端的电流</a:t>
            </a:r>
            <a:r>
              <a:rPr lang="zh-CN" altLang="en-US" sz="2400"/>
              <a:t>由加到</a:t>
            </a:r>
            <a:r>
              <a:rPr lang="zh-CN" altLang="en-US" sz="2400">
                <a:solidFill>
                  <a:srgbClr val="FF00FF"/>
                </a:solidFill>
              </a:rPr>
              <a:t>另外两端的电压</a:t>
            </a:r>
            <a:r>
              <a:rPr lang="zh-CN" altLang="en-US" sz="2400"/>
              <a:t>控制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98EBF3BB-F990-4F21-BD02-525F6DA54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634" y="3959225"/>
            <a:ext cx="720725" cy="720725"/>
          </a:xfrm>
          <a:prstGeom prst="ellipse">
            <a:avLst/>
          </a:prstGeom>
          <a:noFill/>
          <a:ln w="2857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Oval 32">
            <a:extLst>
              <a:ext uri="{FF2B5EF4-FFF2-40B4-BE49-F238E27FC236}">
                <a16:creationId xmlns:a16="http://schemas.microsoft.com/office/drawing/2014/main" id="{B5C4A433-CC79-4384-8BB3-EF849B3E0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0459" y="3670300"/>
            <a:ext cx="720725" cy="720725"/>
          </a:xfrm>
          <a:prstGeom prst="ellipse">
            <a:avLst/>
          </a:prstGeom>
          <a:noFill/>
          <a:ln w="2857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Text Box 33">
            <a:extLst>
              <a:ext uri="{FF2B5EF4-FFF2-40B4-BE49-F238E27FC236}">
                <a16:creationId xmlns:a16="http://schemas.microsoft.com/office/drawing/2014/main" id="{58F2A196-DBB7-4C46-A0D4-46AFCB57F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3526" y="4895130"/>
            <a:ext cx="1583730" cy="369332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b="1" dirty="0"/>
              <a:t>集电极电流</a:t>
            </a:r>
          </a:p>
        </p:txBody>
      </p:sp>
      <p:sp>
        <p:nvSpPr>
          <p:cNvPr id="13" name="Text Box 34">
            <a:extLst>
              <a:ext uri="{FF2B5EF4-FFF2-40B4-BE49-F238E27FC236}">
                <a16:creationId xmlns:a16="http://schemas.microsoft.com/office/drawing/2014/main" id="{A3EBD3D9-DEE9-46E4-9978-58FCEA5D6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8659" y="4967287"/>
            <a:ext cx="1655763" cy="646331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b="1" dirty="0"/>
              <a:t>基极和发射极间的电压</a:t>
            </a:r>
          </a:p>
        </p:txBody>
      </p:sp>
    </p:spTree>
    <p:extLst>
      <p:ext uri="{BB962C8B-B14F-4D97-AF65-F5344CB8AC3E}">
        <p14:creationId xmlns:p14="http://schemas.microsoft.com/office/powerpoint/2010/main" val="337534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A86D0-C38B-43D9-A604-79876AEA6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914" y="599354"/>
            <a:ext cx="3887788" cy="70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1313" indent="-341313" eaLnBrk="1" hangingPunct="1">
              <a:spcBef>
                <a:spcPct val="0"/>
              </a:spcBef>
            </a:pPr>
            <a:r>
              <a:rPr lang="zh-CN" altLang="en-US" sz="2800" b="1" kern="0"/>
              <a:t>发射极电流：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D8B20C5E-22EB-486A-84EE-280AC521B7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980046"/>
              </p:ext>
            </p:extLst>
          </p:nvPr>
        </p:nvGraphicFramePr>
        <p:xfrm>
          <a:off x="5240627" y="1812204"/>
          <a:ext cx="21383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482400" progId="Equation.DSMT4">
                  <p:embed/>
                </p:oleObj>
              </mc:Choice>
              <mc:Fallback>
                <p:oleObj name="Equation" r:id="rId2" imgW="1066680" imgH="482400" progId="Equation.DSMT4">
                  <p:embed/>
                  <p:pic>
                    <p:nvPicPr>
                      <p:cNvPr id="198661" name="Object 5">
                        <a:extLst>
                          <a:ext uri="{FF2B5EF4-FFF2-40B4-BE49-F238E27FC236}">
                            <a16:creationId xmlns:a16="http://schemas.microsoft.com/office/drawing/2014/main" id="{1C961D53-C4CE-4C30-A828-A1BCBC50F5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627" y="1812204"/>
                        <a:ext cx="2138362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2">
            <a:extLst>
              <a:ext uri="{FF2B5EF4-FFF2-40B4-BE49-F238E27FC236}">
                <a16:creationId xmlns:a16="http://schemas.microsoft.com/office/drawing/2014/main" id="{56543AEC-BDE2-4E31-9B25-C88449BB9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914" y="5604741"/>
            <a:ext cx="698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l-GR" altLang="zh-CN" sz="2400" i="1"/>
              <a:t>α</a:t>
            </a:r>
            <a:r>
              <a:rPr lang="zh-CN" altLang="en-US" sz="2400">
                <a:latin typeface="楷体_GB2312" pitchFamily="49" charset="-122"/>
              </a:rPr>
              <a:t>称为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</a:rPr>
              <a:t>共基极电流增益</a:t>
            </a:r>
            <a:r>
              <a:rPr lang="zh-CN" altLang="en-US" sz="2400">
                <a:latin typeface="楷体_GB2312" pitchFamily="49" charset="-122"/>
              </a:rPr>
              <a:t>。该增益尽可能接近</a:t>
            </a:r>
            <a:r>
              <a:rPr lang="en-US" altLang="zh-CN" sz="2400">
                <a:latin typeface="楷体_GB2312" pitchFamily="49" charset="-122"/>
              </a:rPr>
              <a:t>1</a:t>
            </a:r>
            <a:r>
              <a:rPr lang="zh-CN" altLang="en-US" sz="2400">
                <a:latin typeface="楷体_GB2312" pitchFamily="49" charset="-122"/>
              </a:rPr>
              <a:t>。</a:t>
            </a:r>
            <a:endParaRPr lang="zh-CN" altLang="el-GR" sz="2400">
              <a:latin typeface="楷体_GB2312" pitchFamily="49" charset="-122"/>
            </a:endParaRP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id="{3243CC1D-5D4B-4EDD-AEED-584FF8E4F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789" y="4117254"/>
            <a:ext cx="395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/>
              <a:t>总的发射极电流为：</a:t>
            </a:r>
          </a:p>
        </p:txBody>
      </p:sp>
      <p:sp>
        <p:nvSpPr>
          <p:cNvPr id="8" name="Text Box 27">
            <a:extLst>
              <a:ext uri="{FF2B5EF4-FFF2-40B4-BE49-F238E27FC236}">
                <a16:creationId xmlns:a16="http://schemas.microsoft.com/office/drawing/2014/main" id="{401C7C2C-A112-4F91-ACF9-F63F6D254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914" y="1380404"/>
            <a:ext cx="748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一部分</a:t>
            </a:r>
            <a:r>
              <a:rPr lang="zh-CN" altLang="en-US" sz="2400"/>
              <a:t>电流是发射区注入基区的电子电流，即</a:t>
            </a:r>
            <a:r>
              <a:rPr lang="en-US" altLang="zh-CN" sz="2400" i="1"/>
              <a:t>i</a:t>
            </a:r>
            <a:r>
              <a:rPr lang="en-US" altLang="zh-CN" sz="2400" i="1" baseline="-25000"/>
              <a:t>C</a:t>
            </a:r>
            <a:r>
              <a:rPr lang="zh-CN" altLang="en-US" sz="2400"/>
              <a:t>。</a:t>
            </a:r>
          </a:p>
        </p:txBody>
      </p:sp>
      <p:sp>
        <p:nvSpPr>
          <p:cNvPr id="9" name="Text Box 29">
            <a:extLst>
              <a:ext uri="{FF2B5EF4-FFF2-40B4-BE49-F238E27FC236}">
                <a16:creationId xmlns:a16="http://schemas.microsoft.com/office/drawing/2014/main" id="{EAC2A02D-A301-4038-ABF9-AD866CF15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914" y="2796454"/>
            <a:ext cx="5976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另一部分</a:t>
            </a:r>
            <a:r>
              <a:rPr lang="zh-CN" altLang="en-US" sz="2400"/>
              <a:t>电流是正偏</a:t>
            </a:r>
            <a:r>
              <a:rPr lang="en-US" altLang="zh-CN" sz="2400"/>
              <a:t>B-E</a:t>
            </a:r>
            <a:r>
              <a:rPr lang="zh-CN" altLang="en-US" sz="2400"/>
              <a:t>结电流，即</a:t>
            </a:r>
            <a:r>
              <a:rPr lang="en-US" altLang="zh-CN" sz="2400" i="1"/>
              <a:t>i</a:t>
            </a:r>
            <a:r>
              <a:rPr lang="en-US" altLang="zh-CN" sz="2400" i="1" baseline="-25000"/>
              <a:t>E</a:t>
            </a:r>
            <a:r>
              <a:rPr lang="en-US" altLang="zh-CN" sz="2400" baseline="-25000"/>
              <a:t>2</a:t>
            </a:r>
            <a:r>
              <a:rPr lang="zh-CN" altLang="en-US" sz="2400"/>
              <a:t>。</a:t>
            </a:r>
          </a:p>
        </p:txBody>
      </p:sp>
      <p:graphicFrame>
        <p:nvGraphicFramePr>
          <p:cNvPr id="10" name="Object 30">
            <a:extLst>
              <a:ext uri="{FF2B5EF4-FFF2-40B4-BE49-F238E27FC236}">
                <a16:creationId xmlns:a16="http://schemas.microsoft.com/office/drawing/2014/main" id="{C9B33C8E-5369-4606-BF8E-D0029CDA95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730980"/>
              </p:ext>
            </p:extLst>
          </p:nvPr>
        </p:nvGraphicFramePr>
        <p:xfrm>
          <a:off x="5145377" y="3312391"/>
          <a:ext cx="23352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482400" progId="Equation.DSMT4">
                  <p:embed/>
                </p:oleObj>
              </mc:Choice>
              <mc:Fallback>
                <p:oleObj name="Equation" r:id="rId4" imgW="1168200" imgH="482400" progId="Equation.DSMT4">
                  <p:embed/>
                  <p:pic>
                    <p:nvPicPr>
                      <p:cNvPr id="198686" name="Object 30">
                        <a:extLst>
                          <a:ext uri="{FF2B5EF4-FFF2-40B4-BE49-F238E27FC236}">
                            <a16:creationId xmlns:a16="http://schemas.microsoft.com/office/drawing/2014/main" id="{9715B3A6-904B-43DE-ABDC-653B57A563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377" y="3312391"/>
                        <a:ext cx="23352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3">
            <a:extLst>
              <a:ext uri="{FF2B5EF4-FFF2-40B4-BE49-F238E27FC236}">
                <a16:creationId xmlns:a16="http://schemas.microsoft.com/office/drawing/2014/main" id="{64A56D33-1DBA-473C-AFD6-E03AC86477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0816475"/>
              </p:ext>
            </p:extLst>
          </p:nvPr>
        </p:nvGraphicFramePr>
        <p:xfrm>
          <a:off x="4631027" y="4477616"/>
          <a:ext cx="33686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760" imgH="482400" progId="Equation.DSMT4">
                  <p:embed/>
                </p:oleObj>
              </mc:Choice>
              <mc:Fallback>
                <p:oleObj name="Equation" r:id="rId6" imgW="1688760" imgH="482400" progId="Equation.DSMT4">
                  <p:embed/>
                  <p:pic>
                    <p:nvPicPr>
                      <p:cNvPr id="198689" name="Object 33">
                        <a:extLst>
                          <a:ext uri="{FF2B5EF4-FFF2-40B4-BE49-F238E27FC236}">
                            <a16:creationId xmlns:a16="http://schemas.microsoft.com/office/drawing/2014/main" id="{21931E16-7FFB-428C-85B8-9B947455294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1027" y="4477616"/>
                        <a:ext cx="3368675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4">
            <a:extLst>
              <a:ext uri="{FF2B5EF4-FFF2-40B4-BE49-F238E27FC236}">
                <a16:creationId xmlns:a16="http://schemas.microsoft.com/office/drawing/2014/main" id="{85C09565-5ADE-4A29-9D6E-26FD18387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734287"/>
              </p:ext>
            </p:extLst>
          </p:nvPr>
        </p:nvGraphicFramePr>
        <p:xfrm>
          <a:off x="8488652" y="3217141"/>
          <a:ext cx="17764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431640" progId="Equation.DSMT4">
                  <p:embed/>
                </p:oleObj>
              </mc:Choice>
              <mc:Fallback>
                <p:oleObj name="Equation" r:id="rId8" imgW="888840" imgH="431640" progId="Equation.DSMT4">
                  <p:embed/>
                  <p:pic>
                    <p:nvPicPr>
                      <p:cNvPr id="198690" name="Object 34">
                        <a:extLst>
                          <a:ext uri="{FF2B5EF4-FFF2-40B4-BE49-F238E27FC236}">
                            <a16:creationId xmlns:a16="http://schemas.microsoft.com/office/drawing/2014/main" id="{A72ED428-E326-49C8-963B-3D02F550D0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8652" y="3217141"/>
                        <a:ext cx="17764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35">
            <a:extLst>
              <a:ext uri="{FF2B5EF4-FFF2-40B4-BE49-F238E27FC236}">
                <a16:creationId xmlns:a16="http://schemas.microsoft.com/office/drawing/2014/main" id="{F64E71C7-8583-4B6A-B9EF-CA3F015C6D78}"/>
              </a:ext>
            </a:extLst>
          </p:cNvPr>
          <p:cNvSpPr>
            <a:spLocks/>
          </p:cNvSpPr>
          <p:nvPr/>
        </p:nvSpPr>
        <p:spPr bwMode="auto">
          <a:xfrm>
            <a:off x="8001289" y="2172566"/>
            <a:ext cx="287338" cy="2951163"/>
          </a:xfrm>
          <a:prstGeom prst="rightBrace">
            <a:avLst>
              <a:gd name="adj1" fmla="val 855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1254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5255" y="6238876"/>
            <a:ext cx="2540000" cy="457200"/>
          </a:xfrm>
        </p:spPr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1EFEA9-B989-41BA-BDCC-2061C2E72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789" y="491549"/>
            <a:ext cx="3887788" cy="70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1313" indent="-341313" eaLnBrk="1" hangingPunct="1">
              <a:spcBef>
                <a:spcPct val="0"/>
              </a:spcBef>
            </a:pPr>
            <a:r>
              <a:rPr lang="zh-CN" altLang="en-US" sz="2800" b="1" kern="0"/>
              <a:t>基极电流：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105D095-81A7-4BB6-88B1-B844FBC2B0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130458"/>
              </p:ext>
            </p:extLst>
          </p:nvPr>
        </p:nvGraphicFramePr>
        <p:xfrm>
          <a:off x="5318414" y="3345873"/>
          <a:ext cx="198596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360" imgH="482400" progId="Equation.DSMT4">
                  <p:embed/>
                </p:oleObj>
              </mc:Choice>
              <mc:Fallback>
                <p:oleObj name="Equation" r:id="rId2" imgW="990360" imgH="482400" progId="Equation.DSMT4">
                  <p:embed/>
                  <p:pic>
                    <p:nvPicPr>
                      <p:cNvPr id="280579" name="Object 3">
                        <a:extLst>
                          <a:ext uri="{FF2B5EF4-FFF2-40B4-BE49-F238E27FC236}">
                            <a16:creationId xmlns:a16="http://schemas.microsoft.com/office/drawing/2014/main" id="{6F8997DA-F52E-495D-8C4F-8704C5B845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414" y="3345873"/>
                        <a:ext cx="1985963" cy="965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>
            <a:extLst>
              <a:ext uri="{FF2B5EF4-FFF2-40B4-BE49-F238E27FC236}">
                <a16:creationId xmlns:a16="http://schemas.microsoft.com/office/drawing/2014/main" id="{B75238BA-B9D1-488D-9DAE-2037BAF06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452" y="5608061"/>
            <a:ext cx="8964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l-GR" altLang="zh-CN" sz="2400" i="1">
                <a:cs typeface="Times New Roman" panose="02020603050405020304" pitchFamily="18" charset="0"/>
              </a:rPr>
              <a:t>β</a:t>
            </a:r>
            <a:r>
              <a:rPr lang="zh-CN" altLang="en-US" sz="2400">
                <a:cs typeface="Times New Roman" panose="02020603050405020304" pitchFamily="18" charset="0"/>
              </a:rPr>
              <a:t>为</a:t>
            </a:r>
            <a:r>
              <a:rPr lang="zh-CN" altLang="en-US" sz="2400">
                <a:solidFill>
                  <a:srgbClr val="FF0000"/>
                </a:solidFill>
                <a:cs typeface="Times New Roman" panose="02020603050405020304" pitchFamily="18" charset="0"/>
              </a:rPr>
              <a:t>共发射极电流增益</a:t>
            </a:r>
            <a:r>
              <a:rPr lang="zh-CN" altLang="en-US" sz="2400">
                <a:cs typeface="Times New Roman" panose="02020603050405020304" pitchFamily="18" charset="0"/>
              </a:rPr>
              <a:t>，其值远大于</a:t>
            </a:r>
            <a:r>
              <a:rPr lang="en-US" altLang="zh-CN" sz="2400">
                <a:cs typeface="Times New Roman" panose="02020603050405020304" pitchFamily="18" charset="0"/>
              </a:rPr>
              <a:t>1</a:t>
            </a:r>
            <a:r>
              <a:rPr lang="zh-CN" altLang="en-US" sz="2400">
                <a:cs typeface="Times New Roman" panose="02020603050405020304" pitchFamily="18" charset="0"/>
              </a:rPr>
              <a:t>（数量级为</a:t>
            </a:r>
            <a:r>
              <a:rPr lang="en-US" altLang="zh-CN" sz="2400">
                <a:cs typeface="Times New Roman" panose="02020603050405020304" pitchFamily="18" charset="0"/>
              </a:rPr>
              <a:t>100</a:t>
            </a:r>
            <a:r>
              <a:rPr lang="zh-CN" altLang="en-US" sz="2400">
                <a:cs typeface="Times New Roman" panose="02020603050405020304" pitchFamily="18" charset="0"/>
              </a:rPr>
              <a:t>或更大）。</a:t>
            </a:r>
            <a:endParaRPr lang="zh-CN" altLang="el-GR" sz="2400">
              <a:cs typeface="Times New Roman" panose="02020603050405020304" pitchFamily="18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BD11592-8971-4363-8239-FB1DD9872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789" y="4358698"/>
            <a:ext cx="395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/>
              <a:t>总的基极电流为：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3D911E79-B045-48A6-9DC9-7E00B699C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4377" y="999548"/>
            <a:ext cx="5688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一部分</a:t>
            </a:r>
            <a:r>
              <a:rPr lang="zh-CN" altLang="en-US" sz="2400"/>
              <a:t>电流</a:t>
            </a:r>
            <a:r>
              <a:rPr lang="en-US" altLang="zh-CN" i="1"/>
              <a:t>i</a:t>
            </a:r>
            <a:r>
              <a:rPr lang="en-US" altLang="zh-CN" i="1" baseline="-25000"/>
              <a:t>Ba</a:t>
            </a:r>
            <a:r>
              <a:rPr lang="zh-CN" altLang="en-US" sz="2400"/>
              <a:t>是</a:t>
            </a:r>
            <a:r>
              <a:rPr lang="en-US" altLang="zh-CN" sz="2400"/>
              <a:t>B-E</a:t>
            </a:r>
            <a:r>
              <a:rPr lang="zh-CN" altLang="en-US" sz="2400"/>
              <a:t>结电流，即</a:t>
            </a:r>
            <a:r>
              <a:rPr lang="en-US" altLang="zh-CN" sz="2400" i="1"/>
              <a:t>i</a:t>
            </a:r>
            <a:r>
              <a:rPr lang="en-US" altLang="zh-CN" sz="2400" i="1" baseline="-25000"/>
              <a:t>E</a:t>
            </a:r>
            <a:r>
              <a:rPr lang="en-US" altLang="zh-CN" sz="2400" baseline="-25000"/>
              <a:t>2</a:t>
            </a:r>
            <a:r>
              <a:rPr lang="zh-CN" altLang="en-US" sz="2400"/>
              <a:t>。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4F02ED25-A9EB-4E81-87E3-DC0D0CF65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939" y="2480686"/>
            <a:ext cx="633571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另一部分</a:t>
            </a:r>
            <a:r>
              <a:rPr lang="zh-CN" altLang="en-US" sz="2400"/>
              <a:t>是基区空穴复合电流，记为即</a:t>
            </a:r>
            <a:r>
              <a:rPr lang="en-US" altLang="zh-CN" sz="2400" i="1"/>
              <a:t>i</a:t>
            </a:r>
            <a:r>
              <a:rPr lang="en-US" altLang="zh-CN" sz="2400" i="1" baseline="-25000"/>
              <a:t>Bb</a:t>
            </a:r>
            <a:r>
              <a:rPr lang="zh-CN" altLang="en-US" sz="2400"/>
              <a:t>。</a:t>
            </a:r>
          </a:p>
          <a:p>
            <a:pPr algn="l" eaLnBrk="1" hangingPunct="1">
              <a:spcBef>
                <a:spcPct val="20000"/>
              </a:spcBef>
            </a:pPr>
            <a:r>
              <a:rPr lang="zh-CN" altLang="en-US" sz="2400"/>
              <a:t>直接依赖于基区中少子电子的数量。</a:t>
            </a:r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BA7421E9-9BF6-41F3-9DEA-BDA5D3CD49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566179"/>
              </p:ext>
            </p:extLst>
          </p:nvPr>
        </p:nvGraphicFramePr>
        <p:xfrm>
          <a:off x="5145377" y="1474211"/>
          <a:ext cx="23352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482400" progId="Equation.DSMT4">
                  <p:embed/>
                </p:oleObj>
              </mc:Choice>
              <mc:Fallback>
                <p:oleObj name="Equation" r:id="rId4" imgW="1168200" imgH="482400" progId="Equation.DSMT4">
                  <p:embed/>
                  <p:pic>
                    <p:nvPicPr>
                      <p:cNvPr id="280584" name="Object 8">
                        <a:extLst>
                          <a:ext uri="{FF2B5EF4-FFF2-40B4-BE49-F238E27FC236}">
                            <a16:creationId xmlns:a16="http://schemas.microsoft.com/office/drawing/2014/main" id="{A2E59F68-A16A-4873-A6C7-6C8426A0ED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377" y="1474211"/>
                        <a:ext cx="23352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26B68F93-4603-4237-8CF4-476312AE05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1997941"/>
              </p:ext>
            </p:extLst>
          </p:nvPr>
        </p:nvGraphicFramePr>
        <p:xfrm>
          <a:off x="4770727" y="4571423"/>
          <a:ext cx="30892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9080" imgH="482400" progId="Equation.DSMT4">
                  <p:embed/>
                </p:oleObj>
              </mc:Choice>
              <mc:Fallback>
                <p:oleObj name="Equation" r:id="rId6" imgW="1549080" imgH="482400" progId="Equation.DSMT4">
                  <p:embed/>
                  <p:pic>
                    <p:nvPicPr>
                      <p:cNvPr id="280585" name="Object 9">
                        <a:extLst>
                          <a:ext uri="{FF2B5EF4-FFF2-40B4-BE49-F238E27FC236}">
                            <a16:creationId xmlns:a16="http://schemas.microsoft.com/office/drawing/2014/main" id="{29E8E259-F1B4-4EFD-8662-7ACB01AF937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727" y="4571423"/>
                        <a:ext cx="3089275" cy="965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1A74811C-85BF-4EAB-BB51-0924F292EF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001981"/>
              </p:ext>
            </p:extLst>
          </p:nvPr>
        </p:nvGraphicFramePr>
        <p:xfrm>
          <a:off x="8488652" y="3123623"/>
          <a:ext cx="17764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431640" progId="Equation.DSMT4">
                  <p:embed/>
                </p:oleObj>
              </mc:Choice>
              <mc:Fallback>
                <p:oleObj name="Equation" r:id="rId8" imgW="888840" imgH="431640" progId="Equation.DSMT4">
                  <p:embed/>
                  <p:pic>
                    <p:nvPicPr>
                      <p:cNvPr id="280586" name="Object 10">
                        <a:extLst>
                          <a:ext uri="{FF2B5EF4-FFF2-40B4-BE49-F238E27FC236}">
                            <a16:creationId xmlns:a16="http://schemas.microsoft.com/office/drawing/2014/main" id="{A80E322D-4D14-458D-870F-25E9CAC11A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8652" y="3123623"/>
                        <a:ext cx="17764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11">
            <a:extLst>
              <a:ext uri="{FF2B5EF4-FFF2-40B4-BE49-F238E27FC236}">
                <a16:creationId xmlns:a16="http://schemas.microsoft.com/office/drawing/2014/main" id="{F4ABCC8C-5F65-42FE-93F2-19FDC78D65FE}"/>
              </a:ext>
            </a:extLst>
          </p:cNvPr>
          <p:cNvSpPr>
            <a:spLocks/>
          </p:cNvSpPr>
          <p:nvPr/>
        </p:nvSpPr>
        <p:spPr bwMode="auto">
          <a:xfrm>
            <a:off x="7983827" y="1863148"/>
            <a:ext cx="304800" cy="3311525"/>
          </a:xfrm>
          <a:prstGeom prst="rightBrace">
            <a:avLst>
              <a:gd name="adj1" fmla="val 9053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9526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112621C-3F02-429A-AA0C-1B64FDBF4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2907" y="417657"/>
            <a:ext cx="3394075" cy="647700"/>
          </a:xfrm>
        </p:spPr>
        <p:txBody>
          <a:bodyPr/>
          <a:lstStyle/>
          <a:p>
            <a:pPr algn="l" eaLnBrk="1" hangingPunct="1"/>
            <a:r>
              <a:rPr lang="zh-CN" altLang="en-US" sz="3200" dirty="0">
                <a:effectLst/>
              </a:rPr>
              <a:t>（</a:t>
            </a:r>
            <a:r>
              <a:rPr lang="en-US" altLang="zh-CN" sz="3200" dirty="0">
                <a:effectLst/>
              </a:rPr>
              <a:t>3</a:t>
            </a:r>
            <a:r>
              <a:rPr lang="zh-CN" altLang="en-US" sz="3200" dirty="0">
                <a:effectLst/>
              </a:rPr>
              <a:t>）工作模式</a:t>
            </a:r>
          </a:p>
        </p:txBody>
      </p:sp>
      <p:pic>
        <p:nvPicPr>
          <p:cNvPr id="5" name="Picture 10" descr="10">
            <a:extLst>
              <a:ext uri="{FF2B5EF4-FFF2-40B4-BE49-F238E27FC236}">
                <a16:creationId xmlns:a16="http://schemas.microsoft.com/office/drawing/2014/main" id="{F31AB0FD-1E72-465F-B0E8-D75A4F830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2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" b="1074"/>
          <a:stretch>
            <a:fillRect/>
          </a:stretch>
        </p:blipFill>
        <p:spPr bwMode="auto">
          <a:xfrm>
            <a:off x="819004" y="3864841"/>
            <a:ext cx="4357687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1">
            <a:extLst>
              <a:ext uri="{FF2B5EF4-FFF2-40B4-BE49-F238E27FC236}">
                <a16:creationId xmlns:a16="http://schemas.microsoft.com/office/drawing/2014/main" id="{65C48F3C-FBAD-4012-9865-026BAEF2B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5166" y="3765550"/>
            <a:ext cx="4465637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dirty="0"/>
              <a:t>①</a:t>
            </a:r>
            <a:r>
              <a:rPr lang="en-US" altLang="zh-CN" sz="2400" dirty="0">
                <a:solidFill>
                  <a:srgbClr val="FF0000"/>
                </a:solidFill>
              </a:rPr>
              <a:t>B-E</a:t>
            </a:r>
            <a:r>
              <a:rPr lang="zh-CN" altLang="en-US" sz="2400" dirty="0">
                <a:solidFill>
                  <a:srgbClr val="FF0000"/>
                </a:solidFill>
              </a:rPr>
              <a:t>反偏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B-C</a:t>
            </a:r>
            <a:r>
              <a:rPr lang="zh-CN" altLang="en-US" sz="2400" dirty="0">
                <a:solidFill>
                  <a:srgbClr val="FF0000"/>
                </a:solidFill>
              </a:rPr>
              <a:t>反偏</a:t>
            </a:r>
            <a:r>
              <a:rPr lang="zh-CN" altLang="en-US" sz="2400" dirty="0"/>
              <a:t>：</a:t>
            </a:r>
            <a:r>
              <a:rPr lang="zh-CN" altLang="en-US" sz="2400" dirty="0">
                <a:solidFill>
                  <a:srgbClr val="0000FF"/>
                </a:solidFill>
              </a:rPr>
              <a:t>截止</a:t>
            </a:r>
            <a:r>
              <a:rPr lang="zh-CN" altLang="en-US" sz="2400" dirty="0"/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dirty="0"/>
              <a:t>②</a:t>
            </a:r>
            <a:r>
              <a:rPr lang="en-US" altLang="zh-CN" sz="2400" dirty="0">
                <a:solidFill>
                  <a:srgbClr val="FF0000"/>
                </a:solidFill>
              </a:rPr>
              <a:t>B-E</a:t>
            </a:r>
            <a:r>
              <a:rPr lang="zh-CN" altLang="en-US" sz="2400" dirty="0">
                <a:solidFill>
                  <a:srgbClr val="FF0000"/>
                </a:solidFill>
              </a:rPr>
              <a:t>正偏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B-C</a:t>
            </a:r>
            <a:r>
              <a:rPr lang="zh-CN" altLang="en-US" sz="2400" dirty="0">
                <a:solidFill>
                  <a:srgbClr val="FF0000"/>
                </a:solidFill>
              </a:rPr>
              <a:t>反偏</a:t>
            </a:r>
            <a:r>
              <a:rPr lang="zh-CN" altLang="en-US" sz="2400" dirty="0"/>
              <a:t>：</a:t>
            </a:r>
            <a:r>
              <a:rPr lang="zh-CN" altLang="en-US" sz="2400" dirty="0">
                <a:solidFill>
                  <a:srgbClr val="0000FF"/>
                </a:solidFill>
              </a:rPr>
              <a:t>正向有源区</a:t>
            </a:r>
            <a:r>
              <a:rPr lang="zh-CN" altLang="en-US" sz="2400" dirty="0"/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dirty="0"/>
              <a:t>③</a:t>
            </a:r>
            <a:r>
              <a:rPr lang="en-US" altLang="zh-CN" sz="2400" dirty="0">
                <a:solidFill>
                  <a:srgbClr val="FF0000"/>
                </a:solidFill>
              </a:rPr>
              <a:t>B-E</a:t>
            </a:r>
            <a:r>
              <a:rPr lang="zh-CN" altLang="en-US" sz="2400" dirty="0">
                <a:solidFill>
                  <a:srgbClr val="FF0000"/>
                </a:solidFill>
              </a:rPr>
              <a:t>正偏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B-C</a:t>
            </a:r>
            <a:r>
              <a:rPr lang="zh-CN" altLang="en-US" sz="2400" dirty="0">
                <a:solidFill>
                  <a:srgbClr val="FF0000"/>
                </a:solidFill>
              </a:rPr>
              <a:t>正偏</a:t>
            </a:r>
            <a:r>
              <a:rPr lang="zh-CN" altLang="en-US" sz="2400" dirty="0"/>
              <a:t>：</a:t>
            </a:r>
            <a:r>
              <a:rPr lang="zh-CN" altLang="en-US" sz="2400" dirty="0">
                <a:solidFill>
                  <a:srgbClr val="0000FF"/>
                </a:solidFill>
              </a:rPr>
              <a:t>饱和</a:t>
            </a:r>
            <a:r>
              <a:rPr lang="zh-CN" altLang="en-US" sz="2400" dirty="0"/>
              <a:t>。</a:t>
            </a: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dirty="0"/>
              <a:t>④ </a:t>
            </a:r>
            <a:r>
              <a:rPr lang="en-US" altLang="zh-CN" sz="2400" dirty="0">
                <a:solidFill>
                  <a:srgbClr val="FF0000"/>
                </a:solidFill>
              </a:rPr>
              <a:t>B-E</a:t>
            </a:r>
            <a:r>
              <a:rPr lang="zh-CN" altLang="en-US" sz="2400" dirty="0">
                <a:solidFill>
                  <a:srgbClr val="FF0000"/>
                </a:solidFill>
              </a:rPr>
              <a:t>反偏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B-C</a:t>
            </a:r>
            <a:r>
              <a:rPr lang="zh-CN" altLang="en-US" sz="2400" dirty="0">
                <a:solidFill>
                  <a:srgbClr val="FF0000"/>
                </a:solidFill>
              </a:rPr>
              <a:t>正偏</a:t>
            </a:r>
            <a:r>
              <a:rPr lang="zh-CN" altLang="en-US" sz="2400" dirty="0"/>
              <a:t>：</a:t>
            </a:r>
            <a:r>
              <a:rPr lang="zh-CN" altLang="en-US" sz="2400" dirty="0">
                <a:solidFill>
                  <a:srgbClr val="0000FF"/>
                </a:solidFill>
              </a:rPr>
              <a:t>反向有源区</a:t>
            </a:r>
            <a:r>
              <a:rPr lang="zh-CN" altLang="en-US" sz="2400" dirty="0"/>
              <a:t>。</a:t>
            </a:r>
          </a:p>
        </p:txBody>
      </p:sp>
      <p:pic>
        <p:nvPicPr>
          <p:cNvPr id="7" name="Picture 12" descr="10">
            <a:extLst>
              <a:ext uri="{FF2B5EF4-FFF2-40B4-BE49-F238E27FC236}">
                <a16:creationId xmlns:a16="http://schemas.microsoft.com/office/drawing/2014/main" id="{5AB77D24-4EF4-4F8F-BCF3-BAA9BBDD7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2" b="12738"/>
          <a:stretch>
            <a:fillRect/>
          </a:stretch>
        </p:blipFill>
        <p:spPr bwMode="auto">
          <a:xfrm>
            <a:off x="7030028" y="960437"/>
            <a:ext cx="2855912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4">
            <a:extLst>
              <a:ext uri="{FF2B5EF4-FFF2-40B4-BE49-F238E27FC236}">
                <a16:creationId xmlns:a16="http://schemas.microsoft.com/office/drawing/2014/main" id="{D66AAC92-7E2C-41A3-87BF-6A16196CCC8B}"/>
              </a:ext>
            </a:extLst>
          </p:cNvPr>
          <p:cNvGrpSpPr>
            <a:grpSpLocks/>
          </p:cNvGrpSpPr>
          <p:nvPr/>
        </p:nvGrpSpPr>
        <p:grpSpPr bwMode="auto">
          <a:xfrm>
            <a:off x="1501197" y="1065357"/>
            <a:ext cx="2993303" cy="2799484"/>
            <a:chOff x="431" y="799"/>
            <a:chExt cx="2024" cy="1976"/>
          </a:xfrm>
        </p:grpSpPr>
        <p:pic>
          <p:nvPicPr>
            <p:cNvPr id="9" name="Picture 9" descr="10">
              <a:extLst>
                <a:ext uri="{FF2B5EF4-FFF2-40B4-BE49-F238E27FC236}">
                  <a16:creationId xmlns:a16="http://schemas.microsoft.com/office/drawing/2014/main" id="{65B57C2B-8A9F-4FEF-8474-412E93E7BF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-12000"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799"/>
              <a:ext cx="2024" cy="1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B2A5E87A-E8CD-468E-B7DD-175A1D25E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117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共射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080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6376E39-EABA-45FB-85AA-C2D25BB3F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575" y="1223511"/>
            <a:ext cx="4537075" cy="216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400" b="1" kern="0" dirty="0"/>
              <a:t>双极晶体管和其他元件相连，可实现电压、电流放大。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b="1" kern="0" dirty="0"/>
              <a:t>正向有源区，电压增益，电压放大器</a:t>
            </a:r>
          </a:p>
        </p:txBody>
      </p:sp>
      <p:pic>
        <p:nvPicPr>
          <p:cNvPr id="5" name="Picture 5" descr="10">
            <a:extLst>
              <a:ext uri="{FF2B5EF4-FFF2-40B4-BE49-F238E27FC236}">
                <a16:creationId xmlns:a16="http://schemas.microsoft.com/office/drawing/2014/main" id="{7CB88A3C-A55D-43BC-9028-D5426DE39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5" b="1010"/>
          <a:stretch>
            <a:fillRect/>
          </a:stretch>
        </p:blipFill>
        <p:spPr bwMode="auto">
          <a:xfrm>
            <a:off x="917575" y="3473902"/>
            <a:ext cx="8842375" cy="317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7">
            <a:extLst>
              <a:ext uri="{FF2B5EF4-FFF2-40B4-BE49-F238E27FC236}">
                <a16:creationId xmlns:a16="http://schemas.microsoft.com/office/drawing/2014/main" id="{7663493B-157B-4A24-874E-B914EBDE419A}"/>
              </a:ext>
            </a:extLst>
          </p:cNvPr>
          <p:cNvGrpSpPr>
            <a:grpSpLocks/>
          </p:cNvGrpSpPr>
          <p:nvPr/>
        </p:nvGrpSpPr>
        <p:grpSpPr bwMode="auto">
          <a:xfrm>
            <a:off x="6480464" y="476250"/>
            <a:ext cx="3982748" cy="3016972"/>
            <a:chOff x="3013" y="19"/>
            <a:chExt cx="2727" cy="2149"/>
          </a:xfrm>
        </p:grpSpPr>
        <p:pic>
          <p:nvPicPr>
            <p:cNvPr id="7" name="Picture 4" descr="10">
              <a:extLst>
                <a:ext uri="{FF2B5EF4-FFF2-40B4-BE49-F238E27FC236}">
                  <a16:creationId xmlns:a16="http://schemas.microsoft.com/office/drawing/2014/main" id="{92383B5D-3DE6-4505-B7BE-A427666DEB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7" t="940" r="737"/>
            <a:stretch>
              <a:fillRect/>
            </a:stretch>
          </p:blipFill>
          <p:spPr bwMode="auto">
            <a:xfrm>
              <a:off x="3013" y="19"/>
              <a:ext cx="2727" cy="2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5F60A197-4FBC-4C30-AA66-8531DE4349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" y="1570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共射</a:t>
              </a:r>
            </a:p>
          </p:txBody>
        </p:sp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45653439-2799-4B2E-9401-409A55540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5538"/>
            <a:ext cx="5338763" cy="796925"/>
          </a:xfrm>
        </p:spPr>
        <p:txBody>
          <a:bodyPr/>
          <a:lstStyle/>
          <a:p>
            <a:pPr algn="l" eaLnBrk="1" hangingPunct="1"/>
            <a:r>
              <a:rPr lang="zh-CN" altLang="en-US" sz="3200" dirty="0">
                <a:effectLst/>
              </a:rPr>
              <a:t>（</a:t>
            </a:r>
            <a:r>
              <a:rPr lang="en-US" altLang="zh-CN" sz="3200" dirty="0">
                <a:effectLst/>
              </a:rPr>
              <a:t>4</a:t>
            </a:r>
            <a:r>
              <a:rPr lang="zh-CN" altLang="en-US" sz="3200" dirty="0">
                <a:effectLst/>
              </a:rPr>
              <a:t>）双极晶体管放大电路</a:t>
            </a:r>
          </a:p>
        </p:txBody>
      </p:sp>
    </p:spTree>
    <p:extLst>
      <p:ext uri="{BB962C8B-B14F-4D97-AF65-F5344CB8AC3E}">
        <p14:creationId xmlns:p14="http://schemas.microsoft.com/office/powerpoint/2010/main" val="85917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578AC8-8EBD-4742-AEF6-890CABE70BC7}"/>
              </a:ext>
            </a:extLst>
          </p:cNvPr>
          <p:cNvSpPr/>
          <p:nvPr/>
        </p:nvSpPr>
        <p:spPr>
          <a:xfrm>
            <a:off x="603171" y="452735"/>
            <a:ext cx="223651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少子的分布</a:t>
            </a:r>
            <a:endParaRPr lang="zh-CN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D2EA868-C31C-435D-9560-8AF8188D8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7713" y="906765"/>
            <a:ext cx="72009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zh-CN" altLang="en-US" sz="2400" dirty="0"/>
              <a:t>双极晶体管的电流是由</a:t>
            </a:r>
            <a:r>
              <a:rPr lang="zh-CN" altLang="en-US" sz="2400" dirty="0">
                <a:solidFill>
                  <a:srgbClr val="0000FF"/>
                </a:solidFill>
              </a:rPr>
              <a:t>少子的扩散</a:t>
            </a:r>
            <a:r>
              <a:rPr lang="zh-CN" altLang="en-US" sz="2400" dirty="0"/>
              <a:t>决定的。</a:t>
            </a:r>
          </a:p>
        </p:txBody>
      </p:sp>
      <p:pic>
        <p:nvPicPr>
          <p:cNvPr id="6" name="Picture 7" descr="table10">
            <a:extLst>
              <a:ext uri="{FF2B5EF4-FFF2-40B4-BE49-F238E27FC236}">
                <a16:creationId xmlns:a16="http://schemas.microsoft.com/office/drawing/2014/main" id="{10D1F0F8-B2BB-4A11-8C57-692432B1A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0" b="1718"/>
          <a:stretch>
            <a:fillRect/>
          </a:stretch>
        </p:blipFill>
        <p:spPr bwMode="auto">
          <a:xfrm>
            <a:off x="1753387" y="1465263"/>
            <a:ext cx="8943975" cy="524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665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48CF3792-6000-464C-BBA1-A41D61CC2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7" y="419966"/>
            <a:ext cx="8640763" cy="647700"/>
          </a:xfrm>
        </p:spPr>
        <p:txBody>
          <a:bodyPr/>
          <a:lstStyle/>
          <a:p>
            <a:pPr algn="l" eaLnBrk="1" hangingPunct="1"/>
            <a:r>
              <a:rPr lang="zh-CN" altLang="en-US" sz="3200" dirty="0">
                <a:effectLst/>
              </a:rPr>
              <a:t>（</a:t>
            </a:r>
            <a:r>
              <a:rPr lang="en-US" altLang="zh-CN" sz="3200" dirty="0">
                <a:effectLst/>
              </a:rPr>
              <a:t>1</a:t>
            </a:r>
            <a:r>
              <a:rPr lang="zh-CN" altLang="en-US" sz="3200" dirty="0">
                <a:effectLst/>
              </a:rPr>
              <a:t>）正向有源模式：</a:t>
            </a:r>
            <a:r>
              <a:rPr lang="en-US" altLang="zh-CN" sz="3200" dirty="0">
                <a:effectLst/>
              </a:rPr>
              <a:t>B-E</a:t>
            </a:r>
            <a:r>
              <a:rPr lang="zh-CN" altLang="en-US" sz="3200" dirty="0">
                <a:effectLst/>
              </a:rPr>
              <a:t>结正偏，</a:t>
            </a:r>
            <a:r>
              <a:rPr lang="en-US" altLang="zh-CN" sz="3200" dirty="0">
                <a:effectLst/>
              </a:rPr>
              <a:t>B-C</a:t>
            </a:r>
            <a:r>
              <a:rPr lang="zh-CN" altLang="en-US" sz="3200" dirty="0">
                <a:effectLst/>
              </a:rPr>
              <a:t>结反偏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435DEDF-0787-46C7-9701-676128733C94}"/>
              </a:ext>
            </a:extLst>
          </p:cNvPr>
          <p:cNvSpPr txBox="1">
            <a:spLocks noChangeArrowheads="1"/>
          </p:cNvSpPr>
          <p:nvPr/>
        </p:nvSpPr>
        <p:spPr>
          <a:xfrm>
            <a:off x="1130300" y="3305608"/>
            <a:ext cx="8713788" cy="15779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1313" indent="-341313" eaLnBrk="1" hangingPunct="1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 kern="0"/>
              <a:t>均匀掺杂</a:t>
            </a:r>
            <a:r>
              <a:rPr lang="en-US" altLang="zh-CN" sz="2400" b="1" kern="0"/>
              <a:t>npn</a:t>
            </a:r>
            <a:r>
              <a:rPr lang="zh-CN" altLang="en-US" sz="2400" b="1" kern="0"/>
              <a:t>双极晶体管。</a:t>
            </a:r>
          </a:p>
          <a:p>
            <a:pPr marL="341313" indent="-341313" eaLnBrk="1" hangingPunct="1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 kern="0"/>
              <a:t>单独考虑每个区域时，将起点移到空间电荷区边界，采用正的坐标值。</a:t>
            </a:r>
          </a:p>
        </p:txBody>
      </p:sp>
      <p:pic>
        <p:nvPicPr>
          <p:cNvPr id="6" name="Picture 12" descr="10">
            <a:extLst>
              <a:ext uri="{FF2B5EF4-FFF2-40B4-BE49-F238E27FC236}">
                <a16:creationId xmlns:a16="http://schemas.microsoft.com/office/drawing/2014/main" id="{CD9E5D8E-183B-4649-BFD9-8AD553AF5FE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lum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" b="1563"/>
          <a:stretch>
            <a:fillRect/>
          </a:stretch>
        </p:blipFill>
        <p:spPr>
          <a:xfrm>
            <a:off x="3126581" y="1067666"/>
            <a:ext cx="5938837" cy="2228850"/>
          </a:xfrm>
          <a:noFill/>
        </p:spPr>
      </p:pic>
      <p:sp>
        <p:nvSpPr>
          <p:cNvPr id="7" name="Text Box 13">
            <a:extLst>
              <a:ext uri="{FF2B5EF4-FFF2-40B4-BE49-F238E27FC236}">
                <a16:creationId xmlns:a16="http://schemas.microsoft.com/office/drawing/2014/main" id="{39CA56A5-E1A7-4FB5-8BE9-291CB9B1E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4777220"/>
            <a:ext cx="8642350" cy="15541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000" indent="-342000" algn="l">
              <a:lnSpc>
                <a:spcPct val="125000"/>
              </a:lnSpc>
              <a:spcBef>
                <a:spcPts val="600"/>
              </a:spcBef>
              <a:buFontTx/>
              <a:buChar char="•"/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中性集电区长度</a:t>
            </a:r>
            <a:r>
              <a:rPr lang="zh-CN" altLang="en-US" sz="2400" dirty="0">
                <a:latin typeface="+mn-lt"/>
                <a:ea typeface="+mn-ea"/>
              </a:rPr>
              <a:t>比集电区内少子扩散长度大得多。</a:t>
            </a:r>
          </a:p>
          <a:p>
            <a:pPr marL="342000" indent="-342000" algn="l">
              <a:lnSpc>
                <a:spcPct val="125000"/>
              </a:lnSpc>
              <a:spcBef>
                <a:spcPts val="600"/>
              </a:spcBef>
              <a:buFontTx/>
              <a:buChar char="•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</a:rPr>
              <a:t>中性发射区</a:t>
            </a:r>
            <a:r>
              <a:rPr lang="zh-CN" altLang="en-US" sz="2400" dirty="0">
                <a:latin typeface="+mn-lt"/>
                <a:ea typeface="+mn-ea"/>
              </a:rPr>
              <a:t>有限长，假设</a:t>
            </a:r>
            <a:r>
              <a:rPr lang="en-US" altLang="zh-CN" sz="2400" i="1" dirty="0">
                <a:latin typeface="+mn-lt"/>
                <a:ea typeface="+mn-ea"/>
              </a:rPr>
              <a:t>x′</a:t>
            </a:r>
            <a:r>
              <a:rPr lang="en-US" altLang="zh-CN" sz="2400" dirty="0">
                <a:latin typeface="+mn-lt"/>
                <a:ea typeface="+mn-ea"/>
              </a:rPr>
              <a:t>=</a:t>
            </a:r>
            <a:r>
              <a:rPr lang="en-US" altLang="zh-CN" sz="2400" i="1" dirty="0" err="1">
                <a:latin typeface="+mn-lt"/>
                <a:ea typeface="+mn-ea"/>
              </a:rPr>
              <a:t>x</a:t>
            </a:r>
            <a:r>
              <a:rPr lang="en-US" altLang="zh-CN" sz="2400" i="1" baseline="-25000" dirty="0" err="1">
                <a:latin typeface="+mn-lt"/>
                <a:ea typeface="+mn-ea"/>
              </a:rPr>
              <a:t>E</a:t>
            </a:r>
            <a:r>
              <a:rPr lang="zh-CN" altLang="en-US" sz="2400" dirty="0">
                <a:latin typeface="+mn-lt"/>
                <a:ea typeface="+mn-ea"/>
              </a:rPr>
              <a:t>处</a:t>
            </a:r>
            <a:r>
              <a:rPr lang="zh-CN" altLang="en-US" sz="2400" dirty="0">
                <a:solidFill>
                  <a:srgbClr val="006600"/>
                </a:solidFill>
                <a:latin typeface="+mn-lt"/>
                <a:ea typeface="+mn-ea"/>
              </a:rPr>
              <a:t>表面复合速率</a:t>
            </a:r>
            <a:r>
              <a:rPr lang="zh-CN" altLang="en-US" sz="2400" dirty="0">
                <a:latin typeface="+mn-lt"/>
                <a:ea typeface="+mn-ea"/>
              </a:rPr>
              <a:t>无限大，即此处过剩少子浓度为零。</a:t>
            </a:r>
          </a:p>
        </p:txBody>
      </p:sp>
    </p:spTree>
    <p:extLst>
      <p:ext uri="{BB962C8B-B14F-4D97-AF65-F5344CB8AC3E}">
        <p14:creationId xmlns:p14="http://schemas.microsoft.com/office/powerpoint/2010/main" val="139619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9279805-4A51-4582-AAF4-36B1BD071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606" y="430213"/>
            <a:ext cx="8640762" cy="172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kern="0">
                <a:latin typeface="楷体_GB2312" pitchFamily="49" charset="-122"/>
              </a:rPr>
              <a:t>①</a:t>
            </a:r>
            <a:r>
              <a:rPr lang="zh-CN" altLang="en-US" sz="2800" b="1" kern="0"/>
              <a:t>基区</a:t>
            </a:r>
          </a:p>
          <a:p>
            <a:pPr marL="457200" lvl="1" indent="0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kern="0"/>
              <a:t>稳态下，</a:t>
            </a:r>
            <a:r>
              <a:rPr lang="zh-CN" altLang="en-US" sz="2400" b="1" kern="0">
                <a:solidFill>
                  <a:srgbClr val="0000FF"/>
                </a:solidFill>
              </a:rPr>
              <a:t>过剩少子</a:t>
            </a:r>
            <a:r>
              <a:rPr lang="zh-CN" altLang="en-US" sz="2400" b="1" kern="0"/>
              <a:t>电子</a:t>
            </a:r>
            <a:r>
              <a:rPr lang="zh-CN" altLang="en-US" sz="2400" b="1" kern="0">
                <a:solidFill>
                  <a:srgbClr val="0000FF"/>
                </a:solidFill>
              </a:rPr>
              <a:t>浓度</a:t>
            </a:r>
            <a:r>
              <a:rPr lang="zh-CN" altLang="en-US" sz="2400" b="1" kern="0"/>
              <a:t>可通过</a:t>
            </a:r>
            <a:r>
              <a:rPr lang="zh-CN" altLang="en-US" sz="2400" b="1" kern="0">
                <a:solidFill>
                  <a:srgbClr val="0000FF"/>
                </a:solidFill>
              </a:rPr>
              <a:t>双极输运方程</a:t>
            </a:r>
            <a:r>
              <a:rPr lang="zh-CN" altLang="en-US" sz="2400" b="1" kern="0"/>
              <a:t>得到。</a:t>
            </a:r>
          </a:p>
          <a:p>
            <a:pPr marL="457200" lvl="1" indent="0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kern="0"/>
              <a:t>中性区，电场为零，无过剩载流子产生，稳态下输运方程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5636E50B-D5BC-42E1-908E-B35CFD485B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331333"/>
              </p:ext>
            </p:extLst>
          </p:nvPr>
        </p:nvGraphicFramePr>
        <p:xfrm>
          <a:off x="3838431" y="1974850"/>
          <a:ext cx="368935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482400" progId="Equation.DSMT4">
                  <p:embed/>
                </p:oleObj>
              </mc:Choice>
              <mc:Fallback>
                <p:oleObj name="Equation" r:id="rId2" imgW="1841400" imgH="482400" progId="Equation.DSMT4">
                  <p:embed/>
                  <p:pic>
                    <p:nvPicPr>
                      <p:cNvPr id="212997" name="Object 5">
                        <a:extLst>
                          <a:ext uri="{FF2B5EF4-FFF2-40B4-BE49-F238E27FC236}">
                            <a16:creationId xmlns:a16="http://schemas.microsoft.com/office/drawing/2014/main" id="{A009E797-3DAE-4FCC-8844-BC02D25613D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431" y="1974850"/>
                        <a:ext cx="3689350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9">
            <a:extLst>
              <a:ext uri="{FF2B5EF4-FFF2-40B4-BE49-F238E27FC236}">
                <a16:creationId xmlns:a16="http://schemas.microsoft.com/office/drawing/2014/main" id="{9544790F-33A2-487B-9EE5-8E03D5DC92E1}"/>
              </a:ext>
            </a:extLst>
          </p:cNvPr>
          <p:cNvGrpSpPr>
            <a:grpSpLocks/>
          </p:cNvGrpSpPr>
          <p:nvPr/>
        </p:nvGrpSpPr>
        <p:grpSpPr bwMode="auto">
          <a:xfrm>
            <a:off x="1612756" y="2919413"/>
            <a:ext cx="6673850" cy="968375"/>
            <a:chOff x="521" y="1855"/>
            <a:chExt cx="4204" cy="610"/>
          </a:xfrm>
        </p:grpSpPr>
        <p:graphicFrame>
          <p:nvGraphicFramePr>
            <p:cNvPr id="7" name="Object 12">
              <a:extLst>
                <a:ext uri="{FF2B5EF4-FFF2-40B4-BE49-F238E27FC236}">
                  <a16:creationId xmlns:a16="http://schemas.microsoft.com/office/drawing/2014/main" id="{406690D2-169C-4D9E-87BF-B615C459562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73" y="1855"/>
            <a:ext cx="2752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84120" imgH="482400" progId="Equation.DSMT4">
                    <p:embed/>
                  </p:oleObj>
                </mc:Choice>
                <mc:Fallback>
                  <p:oleObj name="Equation" r:id="rId4" imgW="2184120" imgH="482400" progId="Equation.DSMT4">
                    <p:embed/>
                    <p:pic>
                      <p:nvPicPr>
                        <p:cNvPr id="4102" name="Object 12">
                          <a:extLst>
                            <a:ext uri="{FF2B5EF4-FFF2-40B4-BE49-F238E27FC236}">
                              <a16:creationId xmlns:a16="http://schemas.microsoft.com/office/drawing/2014/main" id="{679E884E-BC89-4BB9-8B47-C463945BD56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1855"/>
                          <a:ext cx="2752" cy="6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AA0E5F3B-F053-4C7C-9E26-A29C2E156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044"/>
              <a:ext cx="1588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2400"/>
                <a:t>通解表示为</a:t>
              </a:r>
            </a:p>
          </p:txBody>
        </p:sp>
      </p:grpSp>
      <p:grpSp>
        <p:nvGrpSpPr>
          <p:cNvPr id="9" name="Group 20">
            <a:extLst>
              <a:ext uri="{FF2B5EF4-FFF2-40B4-BE49-F238E27FC236}">
                <a16:creationId xmlns:a16="http://schemas.microsoft.com/office/drawing/2014/main" id="{4D8C8E78-6A4A-42D6-ABCF-FEFE4C502A84}"/>
              </a:ext>
            </a:extLst>
          </p:cNvPr>
          <p:cNvGrpSpPr>
            <a:grpSpLocks/>
          </p:cNvGrpSpPr>
          <p:nvPr/>
        </p:nvGrpSpPr>
        <p:grpSpPr bwMode="auto">
          <a:xfrm>
            <a:off x="1622281" y="4032250"/>
            <a:ext cx="5578475" cy="914400"/>
            <a:chOff x="612" y="2809"/>
            <a:chExt cx="3514" cy="576"/>
          </a:xfrm>
        </p:grpSpPr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17628DC8-BE8D-4A04-9DF2-47913A199B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0" y="2809"/>
            <a:ext cx="2376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879560" imgH="457200" progId="Equation.DSMT4">
                    <p:embed/>
                  </p:oleObj>
                </mc:Choice>
                <mc:Fallback>
                  <p:oleObj name="Equation" r:id="rId6" imgW="1879560" imgH="457200" progId="Equation.DSMT4">
                    <p:embed/>
                    <p:pic>
                      <p:nvPicPr>
                        <p:cNvPr id="4101" name="Object 11">
                          <a:extLst>
                            <a:ext uri="{FF2B5EF4-FFF2-40B4-BE49-F238E27FC236}">
                              <a16:creationId xmlns:a16="http://schemas.microsoft.com/office/drawing/2014/main" id="{8E3F7758-2555-493B-AA09-E63919C605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0" y="2809"/>
                          <a:ext cx="2376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01A75B5A-4E7C-4FA3-B1F0-F851818A5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966"/>
              <a:ext cx="1134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400"/>
                <a:t>B-E</a:t>
              </a:r>
              <a:r>
                <a:rPr lang="zh-CN" altLang="en-US" sz="2400"/>
                <a:t>结正偏</a:t>
              </a:r>
            </a:p>
          </p:txBody>
        </p:sp>
      </p:grpSp>
      <p:sp>
        <p:nvSpPr>
          <p:cNvPr id="12" name="Rectangle 15">
            <a:extLst>
              <a:ext uri="{FF2B5EF4-FFF2-40B4-BE49-F238E27FC236}">
                <a16:creationId xmlns:a16="http://schemas.microsoft.com/office/drawing/2014/main" id="{0101AB83-4D63-4988-AD37-742B95A6E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231" y="3816350"/>
            <a:ext cx="19542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/>
              <a:t>边界条件：</a:t>
            </a:r>
          </a:p>
        </p:txBody>
      </p:sp>
      <p:grpSp>
        <p:nvGrpSpPr>
          <p:cNvPr id="13" name="Group 21">
            <a:extLst>
              <a:ext uri="{FF2B5EF4-FFF2-40B4-BE49-F238E27FC236}">
                <a16:creationId xmlns:a16="http://schemas.microsoft.com/office/drawing/2014/main" id="{659B4AEF-0EAB-43BE-957F-71107A64D621}"/>
              </a:ext>
            </a:extLst>
          </p:cNvPr>
          <p:cNvGrpSpPr>
            <a:grpSpLocks/>
          </p:cNvGrpSpPr>
          <p:nvPr/>
        </p:nvGrpSpPr>
        <p:grpSpPr bwMode="auto">
          <a:xfrm>
            <a:off x="1612756" y="4824413"/>
            <a:ext cx="3787775" cy="508000"/>
            <a:chOff x="612" y="3362"/>
            <a:chExt cx="2386" cy="320"/>
          </a:xfrm>
        </p:grpSpPr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836F3423-7DC3-4082-B63C-E5F8F6C94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3385"/>
              <a:ext cx="1225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400"/>
                <a:t>B-C</a:t>
              </a:r>
              <a:r>
                <a:rPr lang="zh-CN" altLang="en-US" sz="2400"/>
                <a:t>结反偏</a:t>
              </a:r>
            </a:p>
          </p:txBody>
        </p:sp>
        <p:graphicFrame>
          <p:nvGraphicFramePr>
            <p:cNvPr id="15" name="Object 17">
              <a:extLst>
                <a:ext uri="{FF2B5EF4-FFF2-40B4-BE49-F238E27FC236}">
                  <a16:creationId xmlns:a16="http://schemas.microsoft.com/office/drawing/2014/main" id="{482F42C5-BD66-432D-BEEE-4D67C8272A1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753" y="3362"/>
            <a:ext cx="1245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90360" imgH="253800" progId="Equation.DSMT4">
                    <p:embed/>
                  </p:oleObj>
                </mc:Choice>
                <mc:Fallback>
                  <p:oleObj name="Equation" r:id="rId8" imgW="990360" imgH="253800" progId="Equation.DSMT4">
                    <p:embed/>
                    <p:pic>
                      <p:nvPicPr>
                        <p:cNvPr id="4100" name="Object 17">
                          <a:extLst>
                            <a:ext uri="{FF2B5EF4-FFF2-40B4-BE49-F238E27FC236}">
                              <a16:creationId xmlns:a16="http://schemas.microsoft.com/office/drawing/2014/main" id="{08CF63C3-339F-4DD5-8ADF-038C056F490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3" y="3362"/>
                          <a:ext cx="1245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25">
            <a:extLst>
              <a:ext uri="{FF2B5EF4-FFF2-40B4-BE49-F238E27FC236}">
                <a16:creationId xmlns:a16="http://schemas.microsoft.com/office/drawing/2014/main" id="{E8761B52-AFA4-4667-93D8-A8581FAD98FD}"/>
              </a:ext>
            </a:extLst>
          </p:cNvPr>
          <p:cNvGrpSpPr>
            <a:grpSpLocks/>
          </p:cNvGrpSpPr>
          <p:nvPr/>
        </p:nvGrpSpPr>
        <p:grpSpPr bwMode="auto">
          <a:xfrm>
            <a:off x="1590531" y="5283200"/>
            <a:ext cx="8064500" cy="965200"/>
            <a:chOff x="68" y="3434"/>
            <a:chExt cx="5080" cy="608"/>
          </a:xfrm>
        </p:grpSpPr>
        <p:graphicFrame>
          <p:nvGraphicFramePr>
            <p:cNvPr id="17" name="Object 23">
              <a:extLst>
                <a:ext uri="{FF2B5EF4-FFF2-40B4-BE49-F238E27FC236}">
                  <a16:creationId xmlns:a16="http://schemas.microsoft.com/office/drawing/2014/main" id="{9D2F7F7E-0E04-431A-BFFE-1FD82B0E56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48" y="3434"/>
            <a:ext cx="3500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68400" imgH="482400" progId="Equation.DSMT4">
                    <p:embed/>
                  </p:oleObj>
                </mc:Choice>
                <mc:Fallback>
                  <p:oleObj name="Equation" r:id="rId10" imgW="2768400" imgH="482400" progId="Equation.DSMT4">
                    <p:embed/>
                    <p:pic>
                      <p:nvPicPr>
                        <p:cNvPr id="4099" name="Object 23">
                          <a:extLst>
                            <a:ext uri="{FF2B5EF4-FFF2-40B4-BE49-F238E27FC236}">
                              <a16:creationId xmlns:a16="http://schemas.microsoft.com/office/drawing/2014/main" id="{DA5B73FE-32FF-4B62-BDE7-02454CCB19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8" y="3434"/>
                          <a:ext cx="3500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24">
              <a:extLst>
                <a:ext uri="{FF2B5EF4-FFF2-40B4-BE49-F238E27FC236}">
                  <a16:creationId xmlns:a16="http://schemas.microsoft.com/office/drawing/2014/main" id="{3E54107F-3AC6-488B-B69F-42D00DDF4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3587"/>
              <a:ext cx="1814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2400"/>
                <a:t>通过</a:t>
              </a:r>
              <a:r>
                <a:rPr lang="zh-CN" altLang="en-US" sz="2400">
                  <a:solidFill>
                    <a:srgbClr val="FF0000"/>
                  </a:solidFill>
                </a:rPr>
                <a:t>线性近似</a:t>
              </a:r>
              <a:r>
                <a:rPr lang="zh-CN" altLang="en-US" sz="2400"/>
                <a:t>得：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341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3FBA60-C7C4-4E21-B763-06F8142EC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511" y="527050"/>
            <a:ext cx="7185025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sz="2800" b="1" kern="0">
                <a:latin typeface="楷体_GB2312" pitchFamily="49" charset="-122"/>
              </a:rPr>
              <a:t>②</a:t>
            </a:r>
            <a:r>
              <a:rPr lang="zh-CN" altLang="en-US" sz="2800" b="1" kern="0"/>
              <a:t>发射区</a:t>
            </a:r>
          </a:p>
          <a:p>
            <a:pPr marL="457200" lvl="1" indent="0" eaLnBrk="1" hangingPunct="1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 kern="0"/>
              <a:t>同样，使用稳态下过剩少子的双极输运方程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BA5FD5A7-5176-4A5B-A38E-5367A4A957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635457"/>
              </p:ext>
            </p:extLst>
          </p:nvPr>
        </p:nvGraphicFramePr>
        <p:xfrm>
          <a:off x="4226936" y="1616075"/>
          <a:ext cx="3911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482400" progId="Equation.DSMT4">
                  <p:embed/>
                </p:oleObj>
              </mc:Choice>
              <mc:Fallback>
                <p:oleObj name="Equation" r:id="rId2" imgW="1955520" imgH="482400" progId="Equation.DSMT4">
                  <p:embed/>
                  <p:pic>
                    <p:nvPicPr>
                      <p:cNvPr id="290819" name="Object 3">
                        <a:extLst>
                          <a:ext uri="{FF2B5EF4-FFF2-40B4-BE49-F238E27FC236}">
                            <a16:creationId xmlns:a16="http://schemas.microsoft.com/office/drawing/2014/main" id="{2FFBCD17-AA46-4AE5-9F47-BCDB9A305F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6936" y="1616075"/>
                        <a:ext cx="3911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7">
            <a:extLst>
              <a:ext uri="{FF2B5EF4-FFF2-40B4-BE49-F238E27FC236}">
                <a16:creationId xmlns:a16="http://schemas.microsoft.com/office/drawing/2014/main" id="{7729B385-1F48-44C3-906A-967E2E5A9C3F}"/>
              </a:ext>
            </a:extLst>
          </p:cNvPr>
          <p:cNvGrpSpPr>
            <a:grpSpLocks/>
          </p:cNvGrpSpPr>
          <p:nvPr/>
        </p:nvGrpSpPr>
        <p:grpSpPr bwMode="auto">
          <a:xfrm>
            <a:off x="2152073" y="2595563"/>
            <a:ext cx="6788150" cy="965200"/>
            <a:chOff x="264" y="1678"/>
            <a:chExt cx="4276" cy="608"/>
          </a:xfrm>
        </p:grpSpPr>
        <p:graphicFrame>
          <p:nvGraphicFramePr>
            <p:cNvPr id="7" name="Object 5">
              <a:extLst>
                <a:ext uri="{FF2B5EF4-FFF2-40B4-BE49-F238E27FC236}">
                  <a16:creationId xmlns:a16="http://schemas.microsoft.com/office/drawing/2014/main" id="{E682FED7-FDD9-46E9-AEEB-7142444D76F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44" y="1678"/>
            <a:ext cx="2896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98600" imgH="482400" progId="Equation.DSMT4">
                    <p:embed/>
                  </p:oleObj>
                </mc:Choice>
                <mc:Fallback>
                  <p:oleObj name="Equation" r:id="rId4" imgW="2298600" imgH="482400" progId="Equation.DSMT4">
                    <p:embed/>
                    <p:pic>
                      <p:nvPicPr>
                        <p:cNvPr id="5126" name="Object 5">
                          <a:extLst>
                            <a:ext uri="{FF2B5EF4-FFF2-40B4-BE49-F238E27FC236}">
                              <a16:creationId xmlns:a16="http://schemas.microsoft.com/office/drawing/2014/main" id="{D35AC788-C0EC-4791-B30C-30C03051E0D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4" y="1678"/>
                          <a:ext cx="2896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53D3034-BBDE-4A34-A2A9-5095EBDDE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1850"/>
              <a:ext cx="1588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2400"/>
                <a:t>通解表示为</a:t>
              </a:r>
            </a:p>
          </p:txBody>
        </p:sp>
      </p:grpSp>
      <p:grpSp>
        <p:nvGrpSpPr>
          <p:cNvPr id="9" name="Group 18">
            <a:extLst>
              <a:ext uri="{FF2B5EF4-FFF2-40B4-BE49-F238E27FC236}">
                <a16:creationId xmlns:a16="http://schemas.microsoft.com/office/drawing/2014/main" id="{B4D708DF-1A4D-489D-BCEA-F1CA6466814E}"/>
              </a:ext>
            </a:extLst>
          </p:cNvPr>
          <p:cNvGrpSpPr>
            <a:grpSpLocks/>
          </p:cNvGrpSpPr>
          <p:nvPr/>
        </p:nvGrpSpPr>
        <p:grpSpPr bwMode="auto">
          <a:xfrm>
            <a:off x="2106036" y="3813175"/>
            <a:ext cx="5610225" cy="914400"/>
            <a:chOff x="364" y="2410"/>
            <a:chExt cx="3534" cy="576"/>
          </a:xfrm>
        </p:grpSpPr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4545A29B-BB1E-4D61-85AA-05281FC95F7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470" y="2410"/>
            <a:ext cx="24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30320" imgH="457200" progId="Equation.DSMT4">
                    <p:embed/>
                  </p:oleObj>
                </mc:Choice>
                <mc:Fallback>
                  <p:oleObj name="Equation" r:id="rId6" imgW="1930320" imgH="457200" progId="Equation.DSMT4">
                    <p:embed/>
                    <p:pic>
                      <p:nvPicPr>
                        <p:cNvPr id="5125" name="Object 8">
                          <a:extLst>
                            <a:ext uri="{FF2B5EF4-FFF2-40B4-BE49-F238E27FC236}">
                              <a16:creationId xmlns:a16="http://schemas.microsoft.com/office/drawing/2014/main" id="{CC461F94-8935-4B71-A2D9-4CF4FBCF6DE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0" y="2410"/>
                          <a:ext cx="24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F1BC223A-B56D-4E37-B799-32708E695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" y="2557"/>
              <a:ext cx="1134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400"/>
                <a:t>B-E</a:t>
              </a:r>
              <a:r>
                <a:rPr lang="zh-CN" altLang="en-US" sz="2400"/>
                <a:t>结正偏</a:t>
              </a:r>
            </a:p>
          </p:txBody>
        </p:sp>
      </p:grpSp>
      <p:sp>
        <p:nvSpPr>
          <p:cNvPr id="12" name="Rectangle 10">
            <a:extLst>
              <a:ext uri="{FF2B5EF4-FFF2-40B4-BE49-F238E27FC236}">
                <a16:creationId xmlns:a16="http://schemas.microsoft.com/office/drawing/2014/main" id="{27795CC3-C0F3-4CAF-B16C-F78998AB5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386" y="3560763"/>
            <a:ext cx="19542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/>
              <a:t>边界条件：</a:t>
            </a:r>
          </a:p>
        </p:txBody>
      </p:sp>
      <p:grpSp>
        <p:nvGrpSpPr>
          <p:cNvPr id="13" name="Group 19">
            <a:extLst>
              <a:ext uri="{FF2B5EF4-FFF2-40B4-BE49-F238E27FC236}">
                <a16:creationId xmlns:a16="http://schemas.microsoft.com/office/drawing/2014/main" id="{63856F79-6FA3-447D-8B80-5B9BB20E76E7}"/>
              </a:ext>
            </a:extLst>
          </p:cNvPr>
          <p:cNvGrpSpPr>
            <a:grpSpLocks/>
          </p:cNvGrpSpPr>
          <p:nvPr/>
        </p:nvGrpSpPr>
        <p:grpSpPr bwMode="auto">
          <a:xfrm>
            <a:off x="2115561" y="4784725"/>
            <a:ext cx="6356350" cy="508000"/>
            <a:chOff x="295" y="3022"/>
            <a:chExt cx="4004" cy="320"/>
          </a:xfrm>
        </p:grpSpPr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C2908CE6-A371-4E76-B06E-0126A1221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3042"/>
              <a:ext cx="308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400" i="1"/>
                <a:t>x</a:t>
              </a:r>
              <a:r>
                <a:rPr lang="en-US" altLang="zh-CN" sz="2400" i="1">
                  <a:cs typeface="Times New Roman" panose="02020603050405020304" pitchFamily="18" charset="0"/>
                </a:rPr>
                <a:t>´</a:t>
              </a:r>
              <a:r>
                <a:rPr lang="en-US" altLang="zh-CN" sz="2400"/>
                <a:t>=</a:t>
              </a:r>
              <a:r>
                <a:rPr lang="en-US" altLang="zh-CN" sz="2400" i="1"/>
                <a:t>x</a:t>
              </a:r>
              <a:r>
                <a:rPr lang="en-US" altLang="zh-CN" sz="2400" i="1" baseline="-25000"/>
                <a:t>E</a:t>
              </a:r>
              <a:r>
                <a:rPr lang="zh-CN" altLang="en-US" sz="2400"/>
                <a:t>处，表面复合速度无限大</a:t>
              </a:r>
            </a:p>
          </p:txBody>
        </p:sp>
        <p:graphicFrame>
          <p:nvGraphicFramePr>
            <p:cNvPr id="15" name="Object 13">
              <a:extLst>
                <a:ext uri="{FF2B5EF4-FFF2-40B4-BE49-F238E27FC236}">
                  <a16:creationId xmlns:a16="http://schemas.microsoft.com/office/drawing/2014/main" id="{FD2985CC-3FC3-4BA1-9B85-084328C323A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56" y="3022"/>
            <a:ext cx="104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25480" imgH="253800" progId="Equation.DSMT4">
                    <p:embed/>
                  </p:oleObj>
                </mc:Choice>
                <mc:Fallback>
                  <p:oleObj name="Equation" r:id="rId8" imgW="825480" imgH="253800" progId="Equation.DSMT4">
                    <p:embed/>
                    <p:pic>
                      <p:nvPicPr>
                        <p:cNvPr id="5124" name="Object 13">
                          <a:extLst>
                            <a:ext uri="{FF2B5EF4-FFF2-40B4-BE49-F238E27FC236}">
                              <a16:creationId xmlns:a16="http://schemas.microsoft.com/office/drawing/2014/main" id="{17B32A33-39A3-4FBA-9027-847B7DDB24C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6" y="3022"/>
                          <a:ext cx="1043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14">
            <a:extLst>
              <a:ext uri="{FF2B5EF4-FFF2-40B4-BE49-F238E27FC236}">
                <a16:creationId xmlns:a16="http://schemas.microsoft.com/office/drawing/2014/main" id="{8F0EB6A6-F885-46B4-B5A9-AE8DAF397538}"/>
              </a:ext>
            </a:extLst>
          </p:cNvPr>
          <p:cNvGrpSpPr>
            <a:grpSpLocks/>
          </p:cNvGrpSpPr>
          <p:nvPr/>
        </p:nvGrpSpPr>
        <p:grpSpPr bwMode="auto">
          <a:xfrm>
            <a:off x="2099686" y="5334000"/>
            <a:ext cx="7821612" cy="914400"/>
            <a:chOff x="68" y="3450"/>
            <a:chExt cx="4927" cy="576"/>
          </a:xfrm>
        </p:grpSpPr>
        <p:graphicFrame>
          <p:nvGraphicFramePr>
            <p:cNvPr id="17" name="Object 15">
              <a:extLst>
                <a:ext uri="{FF2B5EF4-FFF2-40B4-BE49-F238E27FC236}">
                  <a16:creationId xmlns:a16="http://schemas.microsoft.com/office/drawing/2014/main" id="{B12FB43E-C84B-4AE0-8CDF-1619DE1157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00" y="3450"/>
            <a:ext cx="3195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527200" imgH="457200" progId="Equation.DSMT4">
                    <p:embed/>
                  </p:oleObj>
                </mc:Choice>
                <mc:Fallback>
                  <p:oleObj name="Equation" r:id="rId10" imgW="2527200" imgH="457200" progId="Equation.DSMT4">
                    <p:embed/>
                    <p:pic>
                      <p:nvPicPr>
                        <p:cNvPr id="5123" name="Object 15">
                          <a:extLst>
                            <a:ext uri="{FF2B5EF4-FFF2-40B4-BE49-F238E27FC236}">
                              <a16:creationId xmlns:a16="http://schemas.microsoft.com/office/drawing/2014/main" id="{34D962EB-E920-4EA8-A94C-886EEE1DF1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0" y="3450"/>
                          <a:ext cx="3195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4248B85F-F082-49B9-A223-5B832DCD0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3587"/>
              <a:ext cx="1814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2400"/>
                <a:t>通过</a:t>
              </a:r>
              <a:r>
                <a:rPr lang="zh-CN" altLang="en-US" sz="2400">
                  <a:solidFill>
                    <a:srgbClr val="FF0000"/>
                  </a:solidFill>
                </a:rPr>
                <a:t>线性近似</a:t>
              </a:r>
              <a:r>
                <a:rPr lang="zh-CN" altLang="en-US" sz="2400"/>
                <a:t>得：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775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A6C25-A7A2-46F5-887C-C362037B3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224" y="534987"/>
            <a:ext cx="7345362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sz="2800" b="1" kern="0">
                <a:latin typeface="楷体_GB2312" pitchFamily="49" charset="-122"/>
              </a:rPr>
              <a:t>③</a:t>
            </a:r>
            <a:r>
              <a:rPr lang="zh-CN" altLang="en-US" sz="2800" b="1" kern="0">
                <a:latin typeface="楷体_GB2312" pitchFamily="49" charset="-122"/>
              </a:rPr>
              <a:t>集电区</a:t>
            </a:r>
          </a:p>
          <a:p>
            <a:pPr marL="457200" lvl="1" indent="0" eaLnBrk="1" hangingPunct="1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 kern="0"/>
              <a:t>稳态下过剩少子输运方程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7663D72-1DB7-44A6-9C42-9AE76BD201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50194"/>
              </p:ext>
            </p:extLst>
          </p:nvPr>
        </p:nvGraphicFramePr>
        <p:xfrm>
          <a:off x="4112924" y="1628775"/>
          <a:ext cx="37893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482400" progId="Equation.DSMT4">
                  <p:embed/>
                </p:oleObj>
              </mc:Choice>
              <mc:Fallback>
                <p:oleObj name="Equation" r:id="rId2" imgW="1993680" imgH="482400" progId="Equation.DSMT4">
                  <p:embed/>
                  <p:pic>
                    <p:nvPicPr>
                      <p:cNvPr id="292867" name="Object 3">
                        <a:extLst>
                          <a:ext uri="{FF2B5EF4-FFF2-40B4-BE49-F238E27FC236}">
                            <a16:creationId xmlns:a16="http://schemas.microsoft.com/office/drawing/2014/main" id="{D75C980B-47BC-4B40-BB43-B6F6A5D46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2924" y="1628775"/>
                        <a:ext cx="37893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">
            <a:extLst>
              <a:ext uri="{FF2B5EF4-FFF2-40B4-BE49-F238E27FC236}">
                <a16:creationId xmlns:a16="http://schemas.microsoft.com/office/drawing/2014/main" id="{338A6B04-69A7-4001-8C71-3954F1B587D0}"/>
              </a:ext>
            </a:extLst>
          </p:cNvPr>
          <p:cNvGrpSpPr>
            <a:grpSpLocks/>
          </p:cNvGrpSpPr>
          <p:nvPr/>
        </p:nvGrpSpPr>
        <p:grpSpPr bwMode="auto">
          <a:xfrm>
            <a:off x="1912649" y="2584450"/>
            <a:ext cx="6813550" cy="968375"/>
            <a:chOff x="521" y="1855"/>
            <a:chExt cx="4292" cy="610"/>
          </a:xfrm>
        </p:grpSpPr>
        <p:graphicFrame>
          <p:nvGraphicFramePr>
            <p:cNvPr id="7" name="Object 5">
              <a:extLst>
                <a:ext uri="{FF2B5EF4-FFF2-40B4-BE49-F238E27FC236}">
                  <a16:creationId xmlns:a16="http://schemas.microsoft.com/office/drawing/2014/main" id="{56CE41C3-BA89-4A33-884D-A8858D020AC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85" y="1855"/>
            <a:ext cx="2928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323800" imgH="482400" progId="Equation.DSMT4">
                    <p:embed/>
                  </p:oleObj>
                </mc:Choice>
                <mc:Fallback>
                  <p:oleObj name="Equation" r:id="rId4" imgW="2323800" imgH="482400" progId="Equation.DSMT4">
                    <p:embed/>
                    <p:pic>
                      <p:nvPicPr>
                        <p:cNvPr id="6150" name="Object 5">
                          <a:extLst>
                            <a:ext uri="{FF2B5EF4-FFF2-40B4-BE49-F238E27FC236}">
                              <a16:creationId xmlns:a16="http://schemas.microsoft.com/office/drawing/2014/main" id="{F48FBF1E-3E1A-4C79-BCC7-9177F10B7A6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5" y="1855"/>
                          <a:ext cx="2928" cy="6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FF1F2BFB-06B9-45A4-B504-D66C05A95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044"/>
              <a:ext cx="1588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2400"/>
                <a:t>通解表示为</a:t>
              </a:r>
            </a:p>
          </p:txBody>
        </p:sp>
      </p:grpSp>
      <p:grpSp>
        <p:nvGrpSpPr>
          <p:cNvPr id="9" name="Group 17">
            <a:extLst>
              <a:ext uri="{FF2B5EF4-FFF2-40B4-BE49-F238E27FC236}">
                <a16:creationId xmlns:a16="http://schemas.microsoft.com/office/drawing/2014/main" id="{AEF2EC3F-8065-436A-B94F-8D58D43C956F}"/>
              </a:ext>
            </a:extLst>
          </p:cNvPr>
          <p:cNvGrpSpPr>
            <a:grpSpLocks/>
          </p:cNvGrpSpPr>
          <p:nvPr/>
        </p:nvGrpSpPr>
        <p:grpSpPr bwMode="auto">
          <a:xfrm>
            <a:off x="1899949" y="4129087"/>
            <a:ext cx="5411787" cy="508000"/>
            <a:chOff x="315" y="2606"/>
            <a:chExt cx="3409" cy="320"/>
          </a:xfrm>
        </p:grpSpPr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54571432-A58B-453A-8B9C-591AED0C59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37" y="2606"/>
            <a:ext cx="168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33440" imgH="253800" progId="Equation.DSMT4">
                    <p:embed/>
                  </p:oleObj>
                </mc:Choice>
                <mc:Fallback>
                  <p:oleObj name="Equation" r:id="rId6" imgW="1333440" imgH="253800" progId="Equation.DSMT4">
                    <p:embed/>
                    <p:pic>
                      <p:nvPicPr>
                        <p:cNvPr id="6149" name="Object 8">
                          <a:extLst>
                            <a:ext uri="{FF2B5EF4-FFF2-40B4-BE49-F238E27FC236}">
                              <a16:creationId xmlns:a16="http://schemas.microsoft.com/office/drawing/2014/main" id="{BB71E8C0-D8C4-4362-B6AD-0F103A1192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7" y="2606"/>
                          <a:ext cx="1687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7CF15737-E33B-4184-9803-9C0A12BF3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" y="2638"/>
              <a:ext cx="152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2400"/>
                <a:t>集电区无限长</a:t>
              </a:r>
            </a:p>
          </p:txBody>
        </p:sp>
      </p:grpSp>
      <p:sp>
        <p:nvSpPr>
          <p:cNvPr id="12" name="Rectangle 10">
            <a:extLst>
              <a:ext uri="{FF2B5EF4-FFF2-40B4-BE49-F238E27FC236}">
                <a16:creationId xmlns:a16="http://schemas.microsoft.com/office/drawing/2014/main" id="{561739EE-CCBB-4B3E-B83F-F94306893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349" y="3624262"/>
            <a:ext cx="19542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/>
              <a:t>边界条件：</a:t>
            </a:r>
          </a:p>
        </p:txBody>
      </p:sp>
      <p:grpSp>
        <p:nvGrpSpPr>
          <p:cNvPr id="13" name="Group 18">
            <a:extLst>
              <a:ext uri="{FF2B5EF4-FFF2-40B4-BE49-F238E27FC236}">
                <a16:creationId xmlns:a16="http://schemas.microsoft.com/office/drawing/2014/main" id="{6F73DFEC-84D5-4DBD-976D-1B46CCC4F94D}"/>
              </a:ext>
            </a:extLst>
          </p:cNvPr>
          <p:cNvGrpSpPr>
            <a:grpSpLocks/>
          </p:cNvGrpSpPr>
          <p:nvPr/>
        </p:nvGrpSpPr>
        <p:grpSpPr bwMode="auto">
          <a:xfrm>
            <a:off x="1984086" y="4703762"/>
            <a:ext cx="4176713" cy="508000"/>
            <a:chOff x="340" y="3022"/>
            <a:chExt cx="2631" cy="320"/>
          </a:xfrm>
        </p:grpSpPr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34F1EFAD-6B41-42FF-9B4D-AD39A11D2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3045"/>
              <a:ext cx="1225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400"/>
                <a:t>B-C</a:t>
              </a:r>
              <a:r>
                <a:rPr lang="zh-CN" altLang="en-US" sz="2400"/>
                <a:t>结反偏</a:t>
              </a:r>
            </a:p>
          </p:txBody>
        </p:sp>
        <p:graphicFrame>
          <p:nvGraphicFramePr>
            <p:cNvPr id="15" name="Object 13">
              <a:extLst>
                <a:ext uri="{FF2B5EF4-FFF2-40B4-BE49-F238E27FC236}">
                  <a16:creationId xmlns:a16="http://schemas.microsoft.com/office/drawing/2014/main" id="{BF70C338-E2FF-4BBB-A677-84BAFF1F252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758" y="3022"/>
            <a:ext cx="121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65160" imgH="253800" progId="Equation.DSMT4">
                    <p:embed/>
                  </p:oleObj>
                </mc:Choice>
                <mc:Fallback>
                  <p:oleObj name="Equation" r:id="rId8" imgW="965160" imgH="253800" progId="Equation.DSMT4">
                    <p:embed/>
                    <p:pic>
                      <p:nvPicPr>
                        <p:cNvPr id="6148" name="Object 13">
                          <a:extLst>
                            <a:ext uri="{FF2B5EF4-FFF2-40B4-BE49-F238E27FC236}">
                              <a16:creationId xmlns:a16="http://schemas.microsoft.com/office/drawing/2014/main" id="{746AAAC8-B362-4A95-B6BD-1BC7DB2215D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8" y="3022"/>
                          <a:ext cx="1213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994B4FAE-A97C-4115-B466-B70288B8C2CA}"/>
              </a:ext>
            </a:extLst>
          </p:cNvPr>
          <p:cNvGrpSpPr>
            <a:grpSpLocks/>
          </p:cNvGrpSpPr>
          <p:nvPr/>
        </p:nvGrpSpPr>
        <p:grpSpPr bwMode="auto">
          <a:xfrm>
            <a:off x="1896774" y="5283200"/>
            <a:ext cx="6796087" cy="965200"/>
            <a:chOff x="295" y="3321"/>
            <a:chExt cx="4281" cy="608"/>
          </a:xfrm>
        </p:grpSpPr>
        <p:graphicFrame>
          <p:nvGraphicFramePr>
            <p:cNvPr id="17" name="Object 15">
              <a:extLst>
                <a:ext uri="{FF2B5EF4-FFF2-40B4-BE49-F238E27FC236}">
                  <a16:creationId xmlns:a16="http://schemas.microsoft.com/office/drawing/2014/main" id="{5A75AB28-36ED-4721-929E-12EF51FE6F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0" y="3321"/>
            <a:ext cx="2136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88760" imgH="482400" progId="Equation.DSMT4">
                    <p:embed/>
                  </p:oleObj>
                </mc:Choice>
                <mc:Fallback>
                  <p:oleObj name="Equation" r:id="rId10" imgW="1688760" imgH="482400" progId="Equation.DSMT4">
                    <p:embed/>
                    <p:pic>
                      <p:nvPicPr>
                        <p:cNvPr id="6147" name="Object 15">
                          <a:extLst>
                            <a:ext uri="{FF2B5EF4-FFF2-40B4-BE49-F238E27FC236}">
                              <a16:creationId xmlns:a16="http://schemas.microsoft.com/office/drawing/2014/main" id="{A74FB9EB-4209-426C-9767-BD2C87187E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0" y="3321"/>
                          <a:ext cx="2136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397F64DC-A8A3-456D-BB85-E825A3516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3474"/>
              <a:ext cx="213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2400"/>
                <a:t>集电区过剩少子浓度：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672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3" name="Picture 4" descr="10">
            <a:extLst>
              <a:ext uri="{FF2B5EF4-FFF2-40B4-BE49-F238E27FC236}">
                <a16:creationId xmlns:a16="http://schemas.microsoft.com/office/drawing/2014/main" id="{99C20413-444A-4D99-8123-E2DC55944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" r="2339" b="957"/>
          <a:stretch>
            <a:fillRect/>
          </a:stretch>
        </p:blipFill>
        <p:spPr bwMode="auto">
          <a:xfrm>
            <a:off x="2708275" y="631825"/>
            <a:ext cx="57150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16300846-F94C-4889-BC7D-B5674A5C2CA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152775"/>
            <a:ext cx="6932613" cy="2160588"/>
            <a:chOff x="10" y="2024"/>
            <a:chExt cx="4367" cy="1361"/>
          </a:xfrm>
        </p:grpSpPr>
        <p:graphicFrame>
          <p:nvGraphicFramePr>
            <p:cNvPr id="6" name="Object 12">
              <a:extLst>
                <a:ext uri="{FF2B5EF4-FFF2-40B4-BE49-F238E27FC236}">
                  <a16:creationId xmlns:a16="http://schemas.microsoft.com/office/drawing/2014/main" id="{66E970F9-5DA7-4971-A13B-8115E1359F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3219657"/>
                </p:ext>
              </p:extLst>
            </p:nvPr>
          </p:nvGraphicFramePr>
          <p:xfrm>
            <a:off x="10" y="2809"/>
            <a:ext cx="4367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454200" imgH="457200" progId="Equation.DSMT4">
                    <p:embed/>
                  </p:oleObj>
                </mc:Choice>
                <mc:Fallback>
                  <p:oleObj name="Equation" r:id="rId4" imgW="3454200" imgH="457200" progId="Equation.DSMT4">
                    <p:embed/>
                    <p:pic>
                      <p:nvPicPr>
                        <p:cNvPr id="7172" name="Object 12">
                          <a:extLst>
                            <a:ext uri="{FF2B5EF4-FFF2-40B4-BE49-F238E27FC236}">
                              <a16:creationId xmlns:a16="http://schemas.microsoft.com/office/drawing/2014/main" id="{F95DAE91-DD7C-4AE4-8BAC-08E65A1511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" y="2809"/>
                          <a:ext cx="4367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Freeform 15">
              <a:extLst>
                <a:ext uri="{FF2B5EF4-FFF2-40B4-BE49-F238E27FC236}">
                  <a16:creationId xmlns:a16="http://schemas.microsoft.com/office/drawing/2014/main" id="{E16B8A92-427E-4027-8E8C-5B767C03D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" y="2024"/>
              <a:ext cx="589" cy="1043"/>
            </a:xfrm>
            <a:custGeom>
              <a:avLst/>
              <a:gdLst>
                <a:gd name="T0" fmla="*/ 0 w 1360"/>
                <a:gd name="T1" fmla="*/ 1043 h 1043"/>
                <a:gd name="T2" fmla="*/ 0 w 1360"/>
                <a:gd name="T3" fmla="*/ 227 h 1043"/>
                <a:gd name="T4" fmla="*/ 2 w 1360"/>
                <a:gd name="T5" fmla="*/ 0 h 1043"/>
                <a:gd name="T6" fmla="*/ 0 60000 65536"/>
                <a:gd name="T7" fmla="*/ 0 60000 65536"/>
                <a:gd name="T8" fmla="*/ 0 60000 65536"/>
                <a:gd name="T9" fmla="*/ 0 w 1360"/>
                <a:gd name="T10" fmla="*/ 0 h 1043"/>
                <a:gd name="T11" fmla="*/ 1360 w 1360"/>
                <a:gd name="T12" fmla="*/ 1043 h 1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0" h="1043">
                  <a:moveTo>
                    <a:pt x="0" y="1043"/>
                  </a:moveTo>
                  <a:cubicBezTo>
                    <a:pt x="67" y="722"/>
                    <a:pt x="135" y="401"/>
                    <a:pt x="362" y="227"/>
                  </a:cubicBezTo>
                  <a:cubicBezTo>
                    <a:pt x="589" y="53"/>
                    <a:pt x="1186" y="38"/>
                    <a:pt x="136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oup 18">
            <a:extLst>
              <a:ext uri="{FF2B5EF4-FFF2-40B4-BE49-F238E27FC236}">
                <a16:creationId xmlns:a16="http://schemas.microsoft.com/office/drawing/2014/main" id="{79A0156D-C2A1-4B5F-BA1B-FC3503F55698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505075"/>
            <a:ext cx="7264400" cy="3743325"/>
            <a:chOff x="1162" y="1616"/>
            <a:chExt cx="4576" cy="2358"/>
          </a:xfrm>
        </p:grpSpPr>
        <p:graphicFrame>
          <p:nvGraphicFramePr>
            <p:cNvPr id="9" name="Object 6">
              <a:extLst>
                <a:ext uri="{FF2B5EF4-FFF2-40B4-BE49-F238E27FC236}">
                  <a16:creationId xmlns:a16="http://schemas.microsoft.com/office/drawing/2014/main" id="{547A0804-47DC-4EE3-B020-0C3E5581C4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8990304"/>
                </p:ext>
              </p:extLst>
            </p:nvPr>
          </p:nvGraphicFramePr>
          <p:xfrm>
            <a:off x="1162" y="3366"/>
            <a:ext cx="4576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19440" imgH="482400" progId="Equation.DSMT4">
                    <p:embed/>
                  </p:oleObj>
                </mc:Choice>
                <mc:Fallback>
                  <p:oleObj name="Equation" r:id="rId6" imgW="3619440" imgH="482400" progId="Equation.DSMT4">
                    <p:embed/>
                    <p:pic>
                      <p:nvPicPr>
                        <p:cNvPr id="7171" name="Object 6">
                          <a:extLst>
                            <a:ext uri="{FF2B5EF4-FFF2-40B4-BE49-F238E27FC236}">
                              <a16:creationId xmlns:a16="http://schemas.microsoft.com/office/drawing/2014/main" id="{FF38D903-B38E-47F7-A9DD-C9052542E3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2" y="3366"/>
                          <a:ext cx="4576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C8C0EB39-BD78-4AEE-A296-3850DFDBB3D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09" y="1616"/>
              <a:ext cx="635" cy="1950"/>
            </a:xfrm>
            <a:custGeom>
              <a:avLst/>
              <a:gdLst>
                <a:gd name="T0" fmla="*/ 0 w 680"/>
                <a:gd name="T1" fmla="*/ 0 h 1723"/>
                <a:gd name="T2" fmla="*/ 315 w 680"/>
                <a:gd name="T3" fmla="*/ 1586 h 1723"/>
                <a:gd name="T4" fmla="*/ 393 w 680"/>
                <a:gd name="T5" fmla="*/ 4637 h 1723"/>
                <a:gd name="T6" fmla="*/ 0 60000 65536"/>
                <a:gd name="T7" fmla="*/ 0 60000 65536"/>
                <a:gd name="T8" fmla="*/ 0 60000 65536"/>
                <a:gd name="T9" fmla="*/ 0 w 680"/>
                <a:gd name="T10" fmla="*/ 0 h 1723"/>
                <a:gd name="T11" fmla="*/ 680 w 680"/>
                <a:gd name="T12" fmla="*/ 1723 h 17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0" h="1723">
                  <a:moveTo>
                    <a:pt x="0" y="0"/>
                  </a:moveTo>
                  <a:cubicBezTo>
                    <a:pt x="215" y="151"/>
                    <a:pt x="431" y="302"/>
                    <a:pt x="544" y="589"/>
                  </a:cubicBezTo>
                  <a:cubicBezTo>
                    <a:pt x="657" y="876"/>
                    <a:pt x="668" y="1299"/>
                    <a:pt x="680" y="1723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21">
            <a:extLst>
              <a:ext uri="{FF2B5EF4-FFF2-40B4-BE49-F238E27FC236}">
                <a16:creationId xmlns:a16="http://schemas.microsoft.com/office/drawing/2014/main" id="{33777175-7408-4197-BF66-B4FA8CCB641F}"/>
              </a:ext>
            </a:extLst>
          </p:cNvPr>
          <p:cNvGrpSpPr>
            <a:grpSpLocks/>
          </p:cNvGrpSpPr>
          <p:nvPr/>
        </p:nvGrpSpPr>
        <p:grpSpPr bwMode="auto">
          <a:xfrm>
            <a:off x="6680200" y="1160463"/>
            <a:ext cx="3338513" cy="2208212"/>
            <a:chOff x="3642" y="769"/>
            <a:chExt cx="2103" cy="1391"/>
          </a:xfrm>
        </p:grpSpPr>
        <p:graphicFrame>
          <p:nvGraphicFramePr>
            <p:cNvPr id="12" name="Object 9">
              <a:extLst>
                <a:ext uri="{FF2B5EF4-FFF2-40B4-BE49-F238E27FC236}">
                  <a16:creationId xmlns:a16="http://schemas.microsoft.com/office/drawing/2014/main" id="{06738BBA-20EB-48D9-B268-E1055399F9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2" y="769"/>
            <a:ext cx="2103" cy="8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63560" imgH="660240" progId="Equation.DSMT4">
                    <p:embed/>
                  </p:oleObj>
                </mc:Choice>
                <mc:Fallback>
                  <p:oleObj name="Equation" r:id="rId8" imgW="1663560" imgH="660240" progId="Equation.DSMT4">
                    <p:embed/>
                    <p:pic>
                      <p:nvPicPr>
                        <p:cNvPr id="7170" name="Object 9">
                          <a:extLst>
                            <a:ext uri="{FF2B5EF4-FFF2-40B4-BE49-F238E27FC236}">
                              <a16:creationId xmlns:a16="http://schemas.microsoft.com/office/drawing/2014/main" id="{68D081B2-E011-447A-A5BF-437F63EF77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2" y="769"/>
                          <a:ext cx="2103" cy="8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4130312B-2322-4CFF-B027-7BAF8CE1B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064"/>
              <a:ext cx="726" cy="1096"/>
            </a:xfrm>
            <a:custGeom>
              <a:avLst/>
              <a:gdLst>
                <a:gd name="T0" fmla="*/ 726 w 726"/>
                <a:gd name="T1" fmla="*/ 7 h 1096"/>
                <a:gd name="T2" fmla="*/ 590 w 726"/>
                <a:gd name="T3" fmla="*/ 53 h 1096"/>
                <a:gd name="T4" fmla="*/ 91 w 726"/>
                <a:gd name="T5" fmla="*/ 325 h 1096"/>
                <a:gd name="T6" fmla="*/ 46 w 726"/>
                <a:gd name="T7" fmla="*/ 1096 h 10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6"/>
                <a:gd name="T13" fmla="*/ 0 h 1096"/>
                <a:gd name="T14" fmla="*/ 726 w 726"/>
                <a:gd name="T15" fmla="*/ 1096 h 10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6" h="1096">
                  <a:moveTo>
                    <a:pt x="726" y="7"/>
                  </a:moveTo>
                  <a:cubicBezTo>
                    <a:pt x="711" y="3"/>
                    <a:pt x="696" y="0"/>
                    <a:pt x="590" y="53"/>
                  </a:cubicBezTo>
                  <a:cubicBezTo>
                    <a:pt x="484" y="106"/>
                    <a:pt x="182" y="151"/>
                    <a:pt x="91" y="325"/>
                  </a:cubicBezTo>
                  <a:cubicBezTo>
                    <a:pt x="0" y="499"/>
                    <a:pt x="23" y="797"/>
                    <a:pt x="46" y="109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8965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3E055-7CBC-4760-BD0B-228ABE7F1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956" y="292100"/>
            <a:ext cx="4284663" cy="79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3200" kern="0" dirty="0"/>
              <a:t>（</a:t>
            </a:r>
            <a:r>
              <a:rPr lang="en-US" altLang="zh-CN" sz="3200" kern="0" dirty="0"/>
              <a:t>2</a:t>
            </a:r>
            <a:r>
              <a:rPr lang="zh-CN" altLang="en-US" sz="3200" kern="0" dirty="0"/>
              <a:t>）其他工作模式</a:t>
            </a:r>
          </a:p>
        </p:txBody>
      </p:sp>
      <p:pic>
        <p:nvPicPr>
          <p:cNvPr id="5" name="Picture 4" descr="10">
            <a:extLst>
              <a:ext uri="{FF2B5EF4-FFF2-40B4-BE49-F238E27FC236}">
                <a16:creationId xmlns:a16="http://schemas.microsoft.com/office/drawing/2014/main" id="{B5954218-654F-4897-9822-B735A5CF5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" r="51414"/>
          <a:stretch>
            <a:fillRect/>
          </a:stretch>
        </p:blipFill>
        <p:spPr bwMode="auto">
          <a:xfrm>
            <a:off x="1348582" y="1089025"/>
            <a:ext cx="532765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A9C6BF6C-638A-4F0B-8811-433E75DBE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7669" y="1289050"/>
            <a:ext cx="3457575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 sz="2400"/>
              <a:t>（</a:t>
            </a:r>
            <a:r>
              <a:rPr lang="en-US" altLang="zh-CN" sz="2400"/>
              <a:t>a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FF00FF"/>
                </a:solidFill>
              </a:rPr>
              <a:t>截止</a:t>
            </a:r>
            <a:r>
              <a:rPr lang="zh-CN" altLang="en-US" sz="2400"/>
              <a:t>：</a:t>
            </a:r>
            <a:r>
              <a:rPr lang="en-US" altLang="zh-CN" sz="2400"/>
              <a:t>B-E</a:t>
            </a:r>
            <a:r>
              <a:rPr lang="zh-CN" altLang="en-US" sz="2400"/>
              <a:t>结，</a:t>
            </a:r>
            <a:r>
              <a:rPr lang="en-US" altLang="zh-CN" sz="2400"/>
              <a:t>B-C</a:t>
            </a:r>
            <a:r>
              <a:rPr lang="zh-CN" altLang="en-US" sz="2400"/>
              <a:t>结均反偏，空间电荷区边界少子浓度均为零。</a:t>
            </a: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0B00ED9B-C84D-4DD0-8BC0-22F0C334B82B}"/>
              </a:ext>
            </a:extLst>
          </p:cNvPr>
          <p:cNvGrpSpPr>
            <a:grpSpLocks/>
          </p:cNvGrpSpPr>
          <p:nvPr/>
        </p:nvGrpSpPr>
        <p:grpSpPr bwMode="auto">
          <a:xfrm>
            <a:off x="1327944" y="3905250"/>
            <a:ext cx="8877300" cy="2800350"/>
            <a:chOff x="10" y="2538"/>
            <a:chExt cx="5592" cy="1764"/>
          </a:xfrm>
        </p:grpSpPr>
        <p:pic>
          <p:nvPicPr>
            <p:cNvPr id="8" name="Picture 5" descr="10">
              <a:extLst>
                <a:ext uri="{FF2B5EF4-FFF2-40B4-BE49-F238E27FC236}">
                  <a16:creationId xmlns:a16="http://schemas.microsoft.com/office/drawing/2014/main" id="{90FB455F-B04C-4F10-B573-1DB632B8FA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842" r="571"/>
            <a:stretch>
              <a:fillRect/>
            </a:stretch>
          </p:blipFill>
          <p:spPr bwMode="auto">
            <a:xfrm>
              <a:off x="10" y="2538"/>
              <a:ext cx="3402" cy="1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5C88C665-8017-43BC-B48C-C203DFD36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2635"/>
              <a:ext cx="2178" cy="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25000"/>
                </a:lnSpc>
              </a:pPr>
              <a:r>
                <a:rPr lang="zh-CN" altLang="en-US" sz="2400"/>
                <a:t>（</a:t>
              </a:r>
              <a:r>
                <a:rPr lang="en-US" altLang="zh-CN" sz="2400"/>
                <a:t>b</a:t>
              </a:r>
              <a:r>
                <a:rPr lang="zh-CN" altLang="en-US" sz="2400"/>
                <a:t>）</a:t>
              </a:r>
              <a:r>
                <a:rPr lang="zh-CN" altLang="en-US" sz="2400">
                  <a:solidFill>
                    <a:srgbClr val="0000FF"/>
                  </a:solidFill>
                </a:rPr>
                <a:t>饱和</a:t>
              </a:r>
              <a:r>
                <a:rPr lang="zh-CN" altLang="en-US" sz="2400"/>
                <a:t>：</a:t>
              </a:r>
              <a:r>
                <a:rPr lang="en-US" altLang="zh-CN" sz="2400"/>
                <a:t>B-E</a:t>
              </a:r>
              <a:r>
                <a:rPr lang="zh-CN" altLang="en-US" sz="2400"/>
                <a:t>结，</a:t>
              </a:r>
              <a:r>
                <a:rPr lang="en-US" altLang="zh-CN" sz="2400"/>
                <a:t>B-C</a:t>
              </a:r>
              <a:r>
                <a:rPr lang="zh-CN" altLang="en-US" sz="2400"/>
                <a:t>结均正偏，空间电荷区边界存在过剩少子。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26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pic>
        <p:nvPicPr>
          <p:cNvPr id="3" name="Picture 4" descr="10">
            <a:extLst>
              <a:ext uri="{FF2B5EF4-FFF2-40B4-BE49-F238E27FC236}">
                <a16:creationId xmlns:a16="http://schemas.microsoft.com/office/drawing/2014/main" id="{5C681CBA-E6EA-4FEA-BC05-93C79DB6C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42000" contras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" t="16740" r="52875"/>
          <a:stretch>
            <a:fillRect/>
          </a:stretch>
        </p:blipFill>
        <p:spPr bwMode="auto">
          <a:xfrm>
            <a:off x="986704" y="516009"/>
            <a:ext cx="4613275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10">
            <a:extLst>
              <a:ext uri="{FF2B5EF4-FFF2-40B4-BE49-F238E27FC236}">
                <a16:creationId xmlns:a16="http://schemas.microsoft.com/office/drawing/2014/main" id="{C54F5A2F-8054-4B9A-B426-36097796F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9" r="653"/>
          <a:stretch>
            <a:fillRect/>
          </a:stretch>
        </p:blipFill>
        <p:spPr bwMode="auto">
          <a:xfrm>
            <a:off x="986704" y="3514004"/>
            <a:ext cx="4840288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D2D53DEE-C8BD-4D4D-B4DE-01A875DC5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6455" y="2575791"/>
            <a:ext cx="3816350" cy="379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400" dirty="0">
                <a:solidFill>
                  <a:srgbClr val="006600"/>
                </a:solidFill>
              </a:rPr>
              <a:t>反向有源区</a:t>
            </a:r>
            <a:r>
              <a:rPr lang="zh-CN" altLang="en-US" sz="2400" dirty="0"/>
              <a:t>：</a:t>
            </a:r>
            <a:r>
              <a:rPr lang="en-US" altLang="zh-CN" sz="2400" dirty="0"/>
              <a:t>B-E</a:t>
            </a:r>
            <a:r>
              <a:rPr lang="zh-CN" altLang="en-US" sz="2400" dirty="0"/>
              <a:t>结反偏，</a:t>
            </a:r>
            <a:r>
              <a:rPr lang="en-US" altLang="zh-CN" sz="2400" dirty="0"/>
              <a:t>B-C</a:t>
            </a:r>
            <a:r>
              <a:rPr lang="zh-CN" altLang="en-US" sz="2400" dirty="0"/>
              <a:t>结正偏。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400" dirty="0"/>
              <a:t>与正向有源区中的发射极、集电极</a:t>
            </a:r>
            <a:r>
              <a:rPr lang="zh-CN" altLang="en-US" sz="2400" dirty="0">
                <a:solidFill>
                  <a:srgbClr val="FF0000"/>
                </a:solidFill>
              </a:rPr>
              <a:t>电流反向</a:t>
            </a:r>
            <a:r>
              <a:rPr lang="zh-CN" altLang="en-US" sz="2400" dirty="0"/>
              <a:t>。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400" dirty="0"/>
              <a:t>由于</a:t>
            </a:r>
            <a:r>
              <a:rPr lang="en-US" altLang="zh-CN" sz="2400" dirty="0"/>
              <a:t>B</a:t>
            </a:r>
            <a:r>
              <a:rPr lang="zh-CN" altLang="en-US" sz="2400" dirty="0"/>
              <a:t>、</a:t>
            </a:r>
            <a:r>
              <a:rPr lang="en-US" altLang="zh-CN" sz="2400" dirty="0"/>
              <a:t>E</a:t>
            </a:r>
            <a:r>
              <a:rPr lang="zh-CN" altLang="en-US" sz="2400" dirty="0"/>
              <a:t>区相对掺杂浓度和</a:t>
            </a:r>
            <a:r>
              <a:rPr lang="en-US" altLang="zh-CN" sz="2400" dirty="0"/>
              <a:t>B</a:t>
            </a:r>
            <a:r>
              <a:rPr lang="zh-CN" altLang="en-US" sz="2400" dirty="0"/>
              <a:t>、</a:t>
            </a:r>
            <a:r>
              <a:rPr lang="en-US" altLang="zh-CN" sz="2400" dirty="0"/>
              <a:t>C</a:t>
            </a:r>
            <a:r>
              <a:rPr lang="zh-CN" altLang="en-US" sz="2400" dirty="0"/>
              <a:t>区相对掺杂浓度不同，</a:t>
            </a:r>
            <a:r>
              <a:rPr lang="zh-CN" altLang="en-US" sz="2400" dirty="0">
                <a:solidFill>
                  <a:srgbClr val="0000FF"/>
                </a:solidFill>
              </a:rPr>
              <a:t>非几何对称</a:t>
            </a:r>
            <a:r>
              <a:rPr lang="zh-CN" altLang="en-US" sz="2400" dirty="0"/>
              <a:t>，两者的特性大不相同。</a:t>
            </a:r>
          </a:p>
        </p:txBody>
      </p:sp>
      <p:pic>
        <p:nvPicPr>
          <p:cNvPr id="7" name="Picture 7" descr="10">
            <a:extLst>
              <a:ext uri="{FF2B5EF4-FFF2-40B4-BE49-F238E27FC236}">
                <a16:creationId xmlns:a16="http://schemas.microsoft.com/office/drawing/2014/main" id="{E0271417-9ACB-47F3-B335-11A690286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" r="2339" b="957"/>
          <a:stretch>
            <a:fillRect/>
          </a:stretch>
        </p:blipFill>
        <p:spPr bwMode="auto">
          <a:xfrm>
            <a:off x="7308850" y="489671"/>
            <a:ext cx="2857500" cy="18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26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158CE3-75DE-4C42-922F-27DCF48C058E}"/>
              </a:ext>
            </a:extLst>
          </p:cNvPr>
          <p:cNvSpPr/>
          <p:nvPr/>
        </p:nvSpPr>
        <p:spPr>
          <a:xfrm>
            <a:off x="468234" y="452735"/>
            <a:ext cx="387798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低频共基极电流增益</a:t>
            </a:r>
            <a:endParaRPr lang="zh-CN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3" descr="10">
            <a:extLst>
              <a:ext uri="{FF2B5EF4-FFF2-40B4-BE49-F238E27FC236}">
                <a16:creationId xmlns:a16="http://schemas.microsoft.com/office/drawing/2014/main" id="{D0FEDC0F-5A1E-4809-A444-E67E52333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999672"/>
            <a:ext cx="70866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6BAAA3F7-00B0-4086-B402-3172AF21B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37" y="5247697"/>
            <a:ext cx="7561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npn</a:t>
            </a:r>
            <a:r>
              <a:rPr lang="zh-CN" altLang="en-US" sz="2400"/>
              <a:t>型晶体管，正向有源区，粒子流密度和粒子流成分</a:t>
            </a: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2B1EA5A1-9425-4C37-BFFA-922D8C69131A}"/>
              </a:ext>
            </a:extLst>
          </p:cNvPr>
          <p:cNvGrpSpPr>
            <a:grpSpLocks/>
          </p:cNvGrpSpPr>
          <p:nvPr/>
        </p:nvGrpSpPr>
        <p:grpSpPr bwMode="auto">
          <a:xfrm>
            <a:off x="2190750" y="1264660"/>
            <a:ext cx="4105275" cy="1168400"/>
            <a:chOff x="521" y="1252"/>
            <a:chExt cx="2586" cy="615"/>
          </a:xfrm>
        </p:grpSpPr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208C474C-AC86-4B33-8E4D-69C0D1471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252"/>
              <a:ext cx="2586" cy="23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200"/>
                <a:t>从发射区注入到基区中的电子流</a:t>
              </a:r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5CBAF639-A7E2-4995-9FF2-4BBCC5C9E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1677"/>
              <a:ext cx="295" cy="190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E325CCF0-6F80-4907-B7BB-66E5356D0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4" y="1486"/>
              <a:ext cx="431" cy="1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9">
            <a:extLst>
              <a:ext uri="{FF2B5EF4-FFF2-40B4-BE49-F238E27FC236}">
                <a16:creationId xmlns:a16="http://schemas.microsoft.com/office/drawing/2014/main" id="{52F2AF24-D3CA-4020-AAC4-8DACE1F4F2B4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348797"/>
            <a:ext cx="3040062" cy="1074738"/>
            <a:chOff x="2961" y="1289"/>
            <a:chExt cx="1915" cy="535"/>
          </a:xfrm>
        </p:grpSpPr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FA9B74C3-2D80-4A2D-B190-FC6D7DFD8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1627"/>
              <a:ext cx="272" cy="197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6AD7FF02-D988-4959-826E-2EB332564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1289"/>
              <a:ext cx="1724" cy="217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200"/>
                <a:t>到达集电区的电子流</a:t>
              </a: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E9D65723-2CB0-4738-B859-9BE7A88D89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7" y="1503"/>
              <a:ext cx="635" cy="1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13">
            <a:extLst>
              <a:ext uri="{FF2B5EF4-FFF2-40B4-BE49-F238E27FC236}">
                <a16:creationId xmlns:a16="http://schemas.microsoft.com/office/drawing/2014/main" id="{25907B4D-DC1A-4462-8D77-9B84A238CF7E}"/>
              </a:ext>
            </a:extLst>
          </p:cNvPr>
          <p:cNvGrpSpPr>
            <a:grpSpLocks/>
          </p:cNvGrpSpPr>
          <p:nvPr/>
        </p:nvGrpSpPr>
        <p:grpSpPr bwMode="auto">
          <a:xfrm>
            <a:off x="2190750" y="1875847"/>
            <a:ext cx="2111375" cy="1465263"/>
            <a:chOff x="501" y="1549"/>
            <a:chExt cx="1330" cy="923"/>
          </a:xfrm>
        </p:grpSpPr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C4131BA9-DD05-4864-9025-1C3B3F91A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9" y="2200"/>
              <a:ext cx="272" cy="272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82D10867-3AD1-44C5-B892-E3D7C5289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" y="1549"/>
              <a:ext cx="1316" cy="567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zh-CN" altLang="en-US" sz="2200"/>
                <a:t>从基区注入发射区的空穴流</a:t>
              </a: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8DB93C5E-4A0A-4274-9DB8-AB7C4B1E6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3" y="2125"/>
              <a:ext cx="159" cy="1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50A4EDD2-DF16-4B71-9F54-6E14DE81A98C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352222"/>
            <a:ext cx="2482850" cy="1322388"/>
            <a:chOff x="285" y="2479"/>
            <a:chExt cx="1564" cy="833"/>
          </a:xfrm>
        </p:grpSpPr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30857224-4A72-452E-B87D-32D19903E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" y="2573"/>
              <a:ext cx="249" cy="249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637C5B8F-B6D3-4195-A0D6-7D811DCFFF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8" y="2739"/>
              <a:ext cx="295" cy="159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17CEE6DB-3A79-4F16-95E5-9CC3FB11D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" y="2479"/>
              <a:ext cx="1033" cy="83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zh-CN" altLang="en-US" sz="2200"/>
                <a:t>正偏</a:t>
              </a:r>
              <a:r>
                <a:rPr lang="en-US" altLang="zh-CN" sz="2200"/>
                <a:t>B-E</a:t>
              </a:r>
              <a:r>
                <a:rPr lang="zh-CN" altLang="en-US" sz="2200"/>
                <a:t>结空间电荷区复合电子流</a:t>
              </a:r>
            </a:p>
          </p:txBody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4AC0362F-576C-4F7C-B915-2B8CF1DC67BE}"/>
              </a:ext>
            </a:extLst>
          </p:cNvPr>
          <p:cNvGrpSpPr>
            <a:grpSpLocks/>
          </p:cNvGrpSpPr>
          <p:nvPr/>
        </p:nvGrpSpPr>
        <p:grpSpPr bwMode="auto">
          <a:xfrm>
            <a:off x="6278562" y="2086985"/>
            <a:ext cx="3398838" cy="1150937"/>
            <a:chOff x="3082" y="1702"/>
            <a:chExt cx="1878" cy="725"/>
          </a:xfrm>
        </p:grpSpPr>
        <p:sp>
          <p:nvSpPr>
            <p:cNvPr id="24" name="Oval 22">
              <a:extLst>
                <a:ext uri="{FF2B5EF4-FFF2-40B4-BE49-F238E27FC236}">
                  <a16:creationId xmlns:a16="http://schemas.microsoft.com/office/drawing/2014/main" id="{87B4BA7D-C341-49EE-A9CD-160CC9DF6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2" y="2178"/>
              <a:ext cx="239" cy="249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E91A8A49-00D5-44F8-BE20-14DE555FE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00" y="1943"/>
              <a:ext cx="247" cy="26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76307A72-DB20-4F1C-A2EB-DE44FA7675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7" y="1702"/>
              <a:ext cx="1413" cy="567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zh-CN" altLang="en-US" sz="2200"/>
                <a:t>反偏</a:t>
              </a:r>
              <a:r>
                <a:rPr lang="en-US" altLang="zh-CN" sz="2200"/>
                <a:t>B-C</a:t>
              </a:r>
              <a:r>
                <a:rPr lang="zh-CN" altLang="en-US" sz="2200"/>
                <a:t>结空间电荷区产生空穴流</a:t>
              </a: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88581A13-CCB3-41F7-9C6F-1B1F064CA34D}"/>
              </a:ext>
            </a:extLst>
          </p:cNvPr>
          <p:cNvGrpSpPr>
            <a:grpSpLocks/>
          </p:cNvGrpSpPr>
          <p:nvPr/>
        </p:nvGrpSpPr>
        <p:grpSpPr bwMode="auto">
          <a:xfrm>
            <a:off x="7334250" y="3336347"/>
            <a:ext cx="2890837" cy="900113"/>
            <a:chOff x="3741" y="2469"/>
            <a:chExt cx="1821" cy="567"/>
          </a:xfrm>
        </p:grpSpPr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CAEAB2F9-139A-47F8-BD6D-B95D105A73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14" y="2746"/>
              <a:ext cx="45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31B64C80-A1EB-45BA-A8F4-FC3586659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3" y="2469"/>
              <a:ext cx="1089" cy="567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en-US" altLang="zh-CN" sz="2200"/>
                <a:t>B-C</a:t>
              </a:r>
              <a:r>
                <a:rPr lang="zh-CN" altLang="en-US" sz="2200"/>
                <a:t>结的反向饱和电流</a:t>
              </a:r>
            </a:p>
          </p:txBody>
        </p:sp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7D981F9E-7CB0-4549-99E2-6328A09D8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2569"/>
              <a:ext cx="295" cy="29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1" name="Group 29">
            <a:extLst>
              <a:ext uri="{FF2B5EF4-FFF2-40B4-BE49-F238E27FC236}">
                <a16:creationId xmlns:a16="http://schemas.microsoft.com/office/drawing/2014/main" id="{A8BFDE63-3179-4551-A9D2-4F94F4B1AD7E}"/>
              </a:ext>
            </a:extLst>
          </p:cNvPr>
          <p:cNvGrpSpPr>
            <a:grpSpLocks/>
          </p:cNvGrpSpPr>
          <p:nvPr/>
        </p:nvGrpSpPr>
        <p:grpSpPr bwMode="auto">
          <a:xfrm>
            <a:off x="3519487" y="3414135"/>
            <a:ext cx="2451100" cy="1660525"/>
            <a:chOff x="1338" y="2534"/>
            <a:chExt cx="1544" cy="913"/>
          </a:xfrm>
        </p:grpSpPr>
        <p:sp>
          <p:nvSpPr>
            <p:cNvPr id="32" name="Oval 30">
              <a:extLst>
                <a:ext uri="{FF2B5EF4-FFF2-40B4-BE49-F238E27FC236}">
                  <a16:creationId xmlns:a16="http://schemas.microsoft.com/office/drawing/2014/main" id="{6046E832-65F6-4B15-A8BE-6A55C4A87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7" y="2534"/>
              <a:ext cx="295" cy="238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F4EB679F-1456-4E77-B845-687AD50BB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2952"/>
              <a:ext cx="1361" cy="49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zh-CN" altLang="en-US" sz="2200"/>
                <a:t>基区复合时需要补充的空穴流</a:t>
              </a:r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7CDFF221-568D-4992-A3F0-C6A02736C6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6" y="2730"/>
              <a:ext cx="272" cy="2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364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pic>
        <p:nvPicPr>
          <p:cNvPr id="3" name="Picture 26" descr="10">
            <a:extLst>
              <a:ext uri="{FF2B5EF4-FFF2-40B4-BE49-F238E27FC236}">
                <a16:creationId xmlns:a16="http://schemas.microsoft.com/office/drawing/2014/main" id="{3D723696-14B8-43C6-85BD-0B20076C1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" t="1227" r="1016" b="1227"/>
          <a:stretch>
            <a:fillRect/>
          </a:stretch>
        </p:blipFill>
        <p:spPr bwMode="auto">
          <a:xfrm>
            <a:off x="6574921" y="456696"/>
            <a:ext cx="4195763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10">
            <a:extLst>
              <a:ext uri="{FF2B5EF4-FFF2-40B4-BE49-F238E27FC236}">
                <a16:creationId xmlns:a16="http://schemas.microsoft.com/office/drawing/2014/main" id="{77D0A01A-4E81-4893-B2DA-4F793A08B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4"/>
          <a:stretch>
            <a:fillRect/>
          </a:stretch>
        </p:blipFill>
        <p:spPr bwMode="auto">
          <a:xfrm>
            <a:off x="1359189" y="2198977"/>
            <a:ext cx="6953250" cy="439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23">
            <a:extLst>
              <a:ext uri="{FF2B5EF4-FFF2-40B4-BE49-F238E27FC236}">
                <a16:creationId xmlns:a16="http://schemas.microsoft.com/office/drawing/2014/main" id="{4EF3853F-24CA-4953-B922-1A140A7A1466}"/>
              </a:ext>
            </a:extLst>
          </p:cNvPr>
          <p:cNvGrpSpPr>
            <a:grpSpLocks/>
          </p:cNvGrpSpPr>
          <p:nvPr/>
        </p:nvGrpSpPr>
        <p:grpSpPr bwMode="auto">
          <a:xfrm>
            <a:off x="4567527" y="3286414"/>
            <a:ext cx="2736850" cy="844550"/>
            <a:chOff x="2789" y="1673"/>
            <a:chExt cx="1724" cy="532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BCC5AE38-A9C7-4E84-A95F-D7D0F6117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2" y="1673"/>
              <a:ext cx="1451" cy="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/>
                <a:t>流入基区补充因复合而消失 的空穴流</a:t>
              </a:r>
            </a:p>
          </p:txBody>
        </p:sp>
        <p:sp>
          <p:nvSpPr>
            <p:cNvPr id="8" name="Oval 10">
              <a:extLst>
                <a:ext uri="{FF2B5EF4-FFF2-40B4-BE49-F238E27FC236}">
                  <a16:creationId xmlns:a16="http://schemas.microsoft.com/office/drawing/2014/main" id="{E28F5AB6-0262-4741-BF4B-77403F280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1887"/>
              <a:ext cx="317" cy="31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9" name="Group 20">
            <a:extLst>
              <a:ext uri="{FF2B5EF4-FFF2-40B4-BE49-F238E27FC236}">
                <a16:creationId xmlns:a16="http://schemas.microsoft.com/office/drawing/2014/main" id="{45739450-6939-4AE8-A16B-20FF9D835F40}"/>
              </a:ext>
            </a:extLst>
          </p:cNvPr>
          <p:cNvGrpSpPr>
            <a:grpSpLocks/>
          </p:cNvGrpSpPr>
          <p:nvPr/>
        </p:nvGrpSpPr>
        <p:grpSpPr bwMode="auto">
          <a:xfrm>
            <a:off x="678152" y="3842039"/>
            <a:ext cx="2308225" cy="847725"/>
            <a:chOff x="339" y="2023"/>
            <a:chExt cx="1454" cy="534"/>
          </a:xfrm>
        </p:grpSpPr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C42F130D-E01C-4815-AF1A-1FBBCD9D3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" y="2115"/>
              <a:ext cx="131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发射区</a:t>
              </a:r>
              <a:r>
                <a:rPr lang="en-US" altLang="zh-CN" i="1"/>
                <a:t>x′</a:t>
              </a:r>
              <a:r>
                <a:rPr lang="en-US" altLang="zh-CN"/>
                <a:t>=0</a:t>
              </a:r>
              <a:r>
                <a:rPr lang="zh-CN" altLang="en-US"/>
                <a:t>处少子空穴扩散电流</a:t>
              </a:r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F5BA6750-0FD1-4E11-B079-CDFB6FC35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" y="2023"/>
              <a:ext cx="249" cy="31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2" name="Group 19">
            <a:extLst>
              <a:ext uri="{FF2B5EF4-FFF2-40B4-BE49-F238E27FC236}">
                <a16:creationId xmlns:a16="http://schemas.microsoft.com/office/drawing/2014/main" id="{61E85901-57C4-4408-8641-8B5B48321A64}"/>
              </a:ext>
            </a:extLst>
          </p:cNvPr>
          <p:cNvGrpSpPr>
            <a:grpSpLocks/>
          </p:cNvGrpSpPr>
          <p:nvPr/>
        </p:nvGrpSpPr>
        <p:grpSpPr bwMode="auto">
          <a:xfrm>
            <a:off x="679739" y="3267364"/>
            <a:ext cx="2311400" cy="720725"/>
            <a:chOff x="340" y="1661"/>
            <a:chExt cx="1456" cy="454"/>
          </a:xfrm>
        </p:grpSpPr>
        <p:sp>
          <p:nvSpPr>
            <p:cNvPr id="13" name="Text Box 7">
              <a:extLst>
                <a:ext uri="{FF2B5EF4-FFF2-40B4-BE49-F238E27FC236}">
                  <a16:creationId xmlns:a16="http://schemas.microsoft.com/office/drawing/2014/main" id="{60376DA8-5D3C-4C6B-96F1-D769C2B6C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73"/>
              <a:ext cx="127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正偏</a:t>
              </a:r>
              <a:r>
                <a:rPr lang="en-US" altLang="zh-CN"/>
                <a:t>B-E</a:t>
              </a:r>
              <a:r>
                <a:rPr lang="zh-CN" altLang="en-US"/>
                <a:t>结中载流子复合电流</a:t>
              </a:r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D2A8297A-8457-4546-8A1D-CC9F1E413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1661"/>
              <a:ext cx="272" cy="31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5" name="Group 21">
            <a:extLst>
              <a:ext uri="{FF2B5EF4-FFF2-40B4-BE49-F238E27FC236}">
                <a16:creationId xmlns:a16="http://schemas.microsoft.com/office/drawing/2014/main" id="{FE58492A-7D1B-4D47-AECF-231FB499ECE5}"/>
              </a:ext>
            </a:extLst>
          </p:cNvPr>
          <p:cNvGrpSpPr>
            <a:grpSpLocks/>
          </p:cNvGrpSpPr>
          <p:nvPr/>
        </p:nvGrpSpPr>
        <p:grpSpPr bwMode="auto">
          <a:xfrm>
            <a:off x="2011652" y="1470314"/>
            <a:ext cx="1979612" cy="1581150"/>
            <a:chOff x="1179" y="529"/>
            <a:chExt cx="1247" cy="996"/>
          </a:xfrm>
        </p:grpSpPr>
        <p:sp>
          <p:nvSpPr>
            <p:cNvPr id="16" name="Text Box 3">
              <a:extLst>
                <a:ext uri="{FF2B5EF4-FFF2-40B4-BE49-F238E27FC236}">
                  <a16:creationId xmlns:a16="http://schemas.microsoft.com/office/drawing/2014/main" id="{9841A715-34F6-4255-99C3-0210ADF787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529"/>
              <a:ext cx="1247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基区</a:t>
              </a:r>
              <a:r>
                <a:rPr lang="en-US" altLang="zh-CN" i="1"/>
                <a:t>x</a:t>
              </a:r>
              <a:r>
                <a:rPr lang="en-US" altLang="zh-CN"/>
                <a:t>=0</a:t>
              </a:r>
              <a:r>
                <a:rPr lang="zh-CN" altLang="en-US"/>
                <a:t>处少子电子扩散电流</a:t>
              </a:r>
            </a:p>
          </p:txBody>
        </p:sp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B61AF848-7A92-4D99-B8BA-250DDD799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1162"/>
              <a:ext cx="317" cy="363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8569F561-01BE-434C-B86F-9ECF20856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955"/>
              <a:ext cx="204" cy="24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22">
            <a:extLst>
              <a:ext uri="{FF2B5EF4-FFF2-40B4-BE49-F238E27FC236}">
                <a16:creationId xmlns:a16="http://schemas.microsoft.com/office/drawing/2014/main" id="{C598547B-3ECB-42FD-893B-5D70F98767FC}"/>
              </a:ext>
            </a:extLst>
          </p:cNvPr>
          <p:cNvGrpSpPr>
            <a:grpSpLocks/>
          </p:cNvGrpSpPr>
          <p:nvPr/>
        </p:nvGrpSpPr>
        <p:grpSpPr bwMode="auto">
          <a:xfrm>
            <a:off x="3826164" y="1454439"/>
            <a:ext cx="2051050" cy="1571625"/>
            <a:chOff x="2347" y="519"/>
            <a:chExt cx="1292" cy="990"/>
          </a:xfrm>
        </p:grpSpPr>
        <p:sp>
          <p:nvSpPr>
            <p:cNvPr id="20" name="Text Box 4">
              <a:extLst>
                <a:ext uri="{FF2B5EF4-FFF2-40B4-BE49-F238E27FC236}">
                  <a16:creationId xmlns:a16="http://schemas.microsoft.com/office/drawing/2014/main" id="{6F4AF083-2321-4449-B6FD-F215D0ECF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" y="519"/>
              <a:ext cx="129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基区</a:t>
              </a:r>
              <a:r>
                <a:rPr lang="en-US" altLang="zh-CN" i="1"/>
                <a:t>x</a:t>
              </a:r>
              <a:r>
                <a:rPr lang="en-US" altLang="zh-CN"/>
                <a:t>=</a:t>
              </a:r>
              <a:r>
                <a:rPr lang="en-US" altLang="zh-CN" i="1"/>
                <a:t>x</a:t>
              </a:r>
              <a:r>
                <a:rPr lang="en-US" altLang="zh-CN" i="1" baseline="-25000"/>
                <a:t>B</a:t>
              </a:r>
              <a:r>
                <a:rPr lang="zh-CN" altLang="en-US"/>
                <a:t>处少子电子扩散电流</a:t>
              </a:r>
            </a:p>
          </p:txBody>
        </p:sp>
        <p:sp>
          <p:nvSpPr>
            <p:cNvPr id="21" name="Oval 15">
              <a:extLst>
                <a:ext uri="{FF2B5EF4-FFF2-40B4-BE49-F238E27FC236}">
                  <a16:creationId xmlns:a16="http://schemas.microsoft.com/office/drawing/2014/main" id="{B4897893-BF17-4DA9-85F9-39F16C81E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8" y="1192"/>
              <a:ext cx="249" cy="317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40257F6F-DB60-4284-971A-E06266913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935"/>
              <a:ext cx="91" cy="24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24">
            <a:extLst>
              <a:ext uri="{FF2B5EF4-FFF2-40B4-BE49-F238E27FC236}">
                <a16:creationId xmlns:a16="http://schemas.microsoft.com/office/drawing/2014/main" id="{0BB22C6C-338A-4985-8DFD-D022B409EC5A}"/>
              </a:ext>
            </a:extLst>
          </p:cNvPr>
          <p:cNvGrpSpPr>
            <a:grpSpLocks/>
          </p:cNvGrpSpPr>
          <p:nvPr/>
        </p:nvGrpSpPr>
        <p:grpSpPr bwMode="auto">
          <a:xfrm>
            <a:off x="6151852" y="4002377"/>
            <a:ext cx="1655762" cy="903287"/>
            <a:chOff x="3787" y="2124"/>
            <a:chExt cx="1043" cy="569"/>
          </a:xfrm>
        </p:grpSpPr>
        <p:sp>
          <p:nvSpPr>
            <p:cNvPr id="24" name="Text Box 8">
              <a:extLst>
                <a:ext uri="{FF2B5EF4-FFF2-40B4-BE49-F238E27FC236}">
                  <a16:creationId xmlns:a16="http://schemas.microsoft.com/office/drawing/2014/main" id="{52E0E4D0-F98F-4341-911B-2CD8AE22A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251"/>
              <a:ext cx="104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反偏</a:t>
              </a:r>
              <a:r>
                <a:rPr lang="en-US" altLang="zh-CN"/>
                <a:t>B-C</a:t>
              </a:r>
              <a:r>
                <a:rPr lang="zh-CN" altLang="en-US"/>
                <a:t>结中产生电流</a:t>
              </a:r>
            </a:p>
          </p:txBody>
        </p:sp>
        <p:sp>
          <p:nvSpPr>
            <p:cNvPr id="25" name="Oval 17">
              <a:extLst>
                <a:ext uri="{FF2B5EF4-FFF2-40B4-BE49-F238E27FC236}">
                  <a16:creationId xmlns:a16="http://schemas.microsoft.com/office/drawing/2014/main" id="{904D034A-0861-45E8-8D00-DFBFC2B05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" y="2124"/>
              <a:ext cx="181" cy="181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0FDAE4-69D0-438D-8828-C32CB4B3BA15}"/>
              </a:ext>
            </a:extLst>
          </p:cNvPr>
          <p:cNvGrpSpPr>
            <a:grpSpLocks/>
          </p:cNvGrpSpPr>
          <p:nvPr/>
        </p:nvGrpSpPr>
        <p:grpSpPr bwMode="auto">
          <a:xfrm>
            <a:off x="6917027" y="4870739"/>
            <a:ext cx="1755775" cy="701675"/>
            <a:chOff x="4269" y="2671"/>
            <a:chExt cx="1106" cy="442"/>
          </a:xfrm>
        </p:grpSpPr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A0A19C45-79EA-48CB-9E70-3E77D31DB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2671"/>
              <a:ext cx="907" cy="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反偏</a:t>
              </a:r>
              <a:r>
                <a:rPr lang="en-US" altLang="zh-CN"/>
                <a:t>B-C</a:t>
              </a:r>
              <a:r>
                <a:rPr lang="zh-CN" altLang="en-US"/>
                <a:t>结饱和电流</a:t>
              </a:r>
            </a:p>
          </p:txBody>
        </p:sp>
        <p:sp>
          <p:nvSpPr>
            <p:cNvPr id="28" name="Oval 18">
              <a:extLst>
                <a:ext uri="{FF2B5EF4-FFF2-40B4-BE49-F238E27FC236}">
                  <a16:creationId xmlns:a16="http://schemas.microsoft.com/office/drawing/2014/main" id="{8DCD8A11-5AF4-4094-8FE3-631880896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9" y="2785"/>
              <a:ext cx="227" cy="227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031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07BE70AE-5F4D-4BA1-A0F5-EBED35CAC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6334" y="475240"/>
            <a:ext cx="691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/>
              <a:t>小信号或是正弦信号的共基极电流增益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5ED645B-8C43-49B1-968F-E822A2E08E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7560108"/>
              </p:ext>
            </p:extLst>
          </p:nvPr>
        </p:nvGraphicFramePr>
        <p:xfrm>
          <a:off x="3967884" y="907040"/>
          <a:ext cx="41195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444240" progId="Equation.DSMT4">
                  <p:embed/>
                </p:oleObj>
              </mc:Choice>
              <mc:Fallback>
                <p:oleObj name="Equation" r:id="rId2" imgW="2057400" imgH="444240" progId="Equation.DSMT4">
                  <p:embed/>
                  <p:pic>
                    <p:nvPicPr>
                      <p:cNvPr id="302083" name="Object 3">
                        <a:extLst>
                          <a:ext uri="{FF2B5EF4-FFF2-40B4-BE49-F238E27FC236}">
                            <a16:creationId xmlns:a16="http://schemas.microsoft.com/office/drawing/2014/main" id="{D34C6677-B92B-452A-9908-0CFBF2B654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884" y="907040"/>
                        <a:ext cx="4119563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">
            <a:extLst>
              <a:ext uri="{FF2B5EF4-FFF2-40B4-BE49-F238E27FC236}">
                <a16:creationId xmlns:a16="http://schemas.microsoft.com/office/drawing/2014/main" id="{5732E8D7-C2A4-4740-AA99-BD1245C79C15}"/>
              </a:ext>
            </a:extLst>
          </p:cNvPr>
          <p:cNvGrpSpPr>
            <a:grpSpLocks/>
          </p:cNvGrpSpPr>
          <p:nvPr/>
        </p:nvGrpSpPr>
        <p:grpSpPr bwMode="auto">
          <a:xfrm>
            <a:off x="1980334" y="1699202"/>
            <a:ext cx="5867400" cy="1016000"/>
            <a:chOff x="249" y="1481"/>
            <a:chExt cx="3696" cy="640"/>
          </a:xfrm>
        </p:grpSpPr>
        <p:graphicFrame>
          <p:nvGraphicFramePr>
            <p:cNvPr id="7" name="Object 5">
              <a:extLst>
                <a:ext uri="{FF2B5EF4-FFF2-40B4-BE49-F238E27FC236}">
                  <a16:creationId xmlns:a16="http://schemas.microsoft.com/office/drawing/2014/main" id="{94DDF205-1867-494B-A962-C52AF177D3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65" y="1481"/>
            <a:ext cx="1280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15920" imgH="507960" progId="Equation.DSMT4">
                    <p:embed/>
                  </p:oleObj>
                </mc:Choice>
                <mc:Fallback>
                  <p:oleObj name="Equation" r:id="rId4" imgW="1015920" imgH="507960" progId="Equation.DSMT4">
                    <p:embed/>
                    <p:pic>
                      <p:nvPicPr>
                        <p:cNvPr id="8197" name="Object 5">
                          <a:extLst>
                            <a:ext uri="{FF2B5EF4-FFF2-40B4-BE49-F238E27FC236}">
                              <a16:creationId xmlns:a16="http://schemas.microsoft.com/office/drawing/2014/main" id="{70823034-A057-45CF-8954-6EBD943D9C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5" y="1481"/>
                          <a:ext cx="1280" cy="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AC0D49F8-2E2D-4D70-A384-736BD1E4C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1671"/>
              <a:ext cx="20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rgbClr val="FF0000"/>
                  </a:solidFill>
                </a:rPr>
                <a:t>发射极注入效率系数</a:t>
              </a:r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979C3E8E-2586-4DA4-9FAA-07BFF493E2C6}"/>
              </a:ext>
            </a:extLst>
          </p:cNvPr>
          <p:cNvGrpSpPr>
            <a:grpSpLocks/>
          </p:cNvGrpSpPr>
          <p:nvPr/>
        </p:nvGrpSpPr>
        <p:grpSpPr bwMode="auto">
          <a:xfrm>
            <a:off x="1959697" y="3212090"/>
            <a:ext cx="5600700" cy="965200"/>
            <a:chOff x="273" y="2307"/>
            <a:chExt cx="3528" cy="608"/>
          </a:xfrm>
        </p:grpSpPr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CFE61267-12C9-44D5-8D1B-16BEB3EDC4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57" y="2307"/>
            <a:ext cx="944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49160" imgH="482400" progId="Equation.DSMT4">
                    <p:embed/>
                  </p:oleObj>
                </mc:Choice>
                <mc:Fallback>
                  <p:oleObj name="Equation" r:id="rId6" imgW="749160" imgH="482400" progId="Equation.DSMT4">
                    <p:embed/>
                    <p:pic>
                      <p:nvPicPr>
                        <p:cNvPr id="8196" name="Object 8">
                          <a:extLst>
                            <a:ext uri="{FF2B5EF4-FFF2-40B4-BE49-F238E27FC236}">
                              <a16:creationId xmlns:a16="http://schemas.microsoft.com/office/drawing/2014/main" id="{6D2BE174-3189-429C-9320-A6E8BEE504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" y="2307"/>
                          <a:ext cx="944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F9240F9A-484A-45D6-8615-4A2054827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" y="2481"/>
              <a:ext cx="20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rgbClr val="0000FF"/>
                  </a:solidFill>
                </a:rPr>
                <a:t>基区输运系数</a:t>
              </a:r>
            </a:p>
          </p:txBody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C658AAFB-EA70-402C-B540-DC67D432C191}"/>
              </a:ext>
            </a:extLst>
          </p:cNvPr>
          <p:cNvGrpSpPr>
            <a:grpSpLocks/>
          </p:cNvGrpSpPr>
          <p:nvPr/>
        </p:nvGrpSpPr>
        <p:grpSpPr bwMode="auto">
          <a:xfrm>
            <a:off x="1980334" y="4720215"/>
            <a:ext cx="5948363" cy="939800"/>
            <a:chOff x="318" y="2910"/>
            <a:chExt cx="3747" cy="592"/>
          </a:xfrm>
        </p:grpSpPr>
        <p:graphicFrame>
          <p:nvGraphicFramePr>
            <p:cNvPr id="13" name="Object 11">
              <a:extLst>
                <a:ext uri="{FF2B5EF4-FFF2-40B4-BE49-F238E27FC236}">
                  <a16:creationId xmlns:a16="http://schemas.microsoft.com/office/drawing/2014/main" id="{E2B47D2C-9D73-482D-B038-299AD273CA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3" y="2910"/>
            <a:ext cx="1472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68200" imgH="469800" progId="Equation.DSMT4">
                    <p:embed/>
                  </p:oleObj>
                </mc:Choice>
                <mc:Fallback>
                  <p:oleObj name="Equation" r:id="rId8" imgW="1168200" imgH="469800" progId="Equation.DSMT4">
                    <p:embed/>
                    <p:pic>
                      <p:nvPicPr>
                        <p:cNvPr id="8195" name="Object 11">
                          <a:extLst>
                            <a:ext uri="{FF2B5EF4-FFF2-40B4-BE49-F238E27FC236}">
                              <a16:creationId xmlns:a16="http://schemas.microsoft.com/office/drawing/2014/main" id="{59216130-3289-476B-ADE6-8B715231A2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3" y="2910"/>
                          <a:ext cx="1472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2A62AB50-B0DF-4B85-83B7-76CEE341D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" y="3076"/>
              <a:ext cx="1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rgbClr val="CC00CC"/>
                  </a:solidFill>
                </a:rPr>
                <a:t>复合系数</a:t>
              </a:r>
            </a:p>
          </p:txBody>
        </p:sp>
      </p:grpSp>
      <p:sp>
        <p:nvSpPr>
          <p:cNvPr id="15" name="Text Box 13">
            <a:extLst>
              <a:ext uri="{FF2B5EF4-FFF2-40B4-BE49-F238E27FC236}">
                <a16:creationId xmlns:a16="http://schemas.microsoft.com/office/drawing/2014/main" id="{DE30484D-63A0-4F12-BA53-E20FDC4A3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259" y="2754890"/>
            <a:ext cx="770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/>
              <a:t>考虑了</a:t>
            </a:r>
            <a:r>
              <a:rPr lang="zh-CN" altLang="en-US" sz="2400">
                <a:solidFill>
                  <a:srgbClr val="FF0000"/>
                </a:solidFill>
              </a:rPr>
              <a:t>发射区中的少子空穴扩散电流对电流增益的影响</a:t>
            </a:r>
            <a:r>
              <a:rPr lang="zh-CN" altLang="en-US" sz="2400"/>
              <a:t>。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746EC9B8-C0B6-414E-9493-C769AF466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259" y="4220152"/>
            <a:ext cx="770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/>
              <a:t>考虑了</a:t>
            </a:r>
            <a:r>
              <a:rPr lang="zh-CN" altLang="en-US" sz="2400">
                <a:solidFill>
                  <a:srgbClr val="0000FF"/>
                </a:solidFill>
              </a:rPr>
              <a:t>基区中过剩少子电子的复合的影响</a:t>
            </a:r>
            <a:r>
              <a:rPr lang="zh-CN" altLang="en-US" sz="2400"/>
              <a:t>。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199F61C1-9123-41B6-9A96-A80839967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822" y="5634615"/>
            <a:ext cx="7704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/>
              <a:t>考虑了</a:t>
            </a:r>
            <a:r>
              <a:rPr lang="zh-CN" altLang="en-US" sz="2400">
                <a:solidFill>
                  <a:srgbClr val="CC00CC"/>
                </a:solidFill>
              </a:rPr>
              <a:t>正偏</a:t>
            </a:r>
            <a:r>
              <a:rPr lang="en-US" altLang="zh-CN" sz="2400">
                <a:solidFill>
                  <a:srgbClr val="CC00CC"/>
                </a:solidFill>
              </a:rPr>
              <a:t>B-E</a:t>
            </a:r>
            <a:r>
              <a:rPr lang="zh-CN" altLang="en-US" sz="2400">
                <a:solidFill>
                  <a:srgbClr val="CC00CC"/>
                </a:solidFill>
              </a:rPr>
              <a:t>结中的复合的影响</a:t>
            </a:r>
            <a:r>
              <a:rPr lang="zh-CN" altLang="en-US" sz="240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3995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222965-6481-4E75-9872-DBD23024B761}"/>
              </a:ext>
            </a:extLst>
          </p:cNvPr>
          <p:cNvSpPr/>
          <p:nvPr/>
        </p:nvSpPr>
        <p:spPr>
          <a:xfrm>
            <a:off x="520044" y="400780"/>
            <a:ext cx="223651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+mj-cs"/>
              </a:rPr>
              <a:t>非理想效应</a:t>
            </a:r>
            <a:endParaRPr lang="zh-CN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CFD7B40B-81FA-4988-B09F-A9369965D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050132"/>
            <a:ext cx="8229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1" kern="0" dirty="0"/>
              <a:t>（</a:t>
            </a:r>
            <a:r>
              <a:rPr lang="en-US" altLang="zh-CN" b="1" kern="0" dirty="0"/>
              <a:t>1</a:t>
            </a:r>
            <a:r>
              <a:rPr lang="zh-CN" altLang="en-US" b="1" kern="0" dirty="0"/>
              <a:t>）基区宽度调制效应（厄尔利效应）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966E20A9-A8BF-4889-A0B2-28405078A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975" y="2151064"/>
            <a:ext cx="3743325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en-US" altLang="zh-CN" sz="2800" dirty="0"/>
              <a:t>B-C</a:t>
            </a:r>
            <a:r>
              <a:rPr lang="zh-CN" altLang="en-US" sz="2800" dirty="0"/>
              <a:t>结反偏电压增加</a:t>
            </a:r>
          </a:p>
          <a:p>
            <a:pPr lvl="1" algn="l" eaLnBrk="1" hangingPunct="1">
              <a:lnSpc>
                <a:spcPct val="125000"/>
              </a:lnSpc>
              <a:spcBef>
                <a:spcPts val="600"/>
              </a:spcBef>
              <a:buFont typeface="华文中宋" panose="02010600040101010101" pitchFamily="2" charset="-122"/>
              <a:buChar char="→"/>
            </a:pPr>
            <a:r>
              <a:rPr lang="en-US" altLang="zh-CN" sz="2400" dirty="0"/>
              <a:t>B-C</a:t>
            </a:r>
            <a:r>
              <a:rPr lang="zh-CN" altLang="en-US" sz="2400" dirty="0"/>
              <a:t>结空间电荷区宽度增加</a:t>
            </a:r>
          </a:p>
          <a:p>
            <a:pPr lvl="1" algn="l" eaLnBrk="1" hangingPunct="1">
              <a:lnSpc>
                <a:spcPct val="125000"/>
              </a:lnSpc>
              <a:spcBef>
                <a:spcPts val="600"/>
              </a:spcBef>
              <a:buFont typeface="华文中宋" panose="02010600040101010101" pitchFamily="2" charset="-122"/>
              <a:buChar char="→"/>
            </a:pPr>
            <a:r>
              <a:rPr lang="zh-CN" altLang="en-US" sz="2400" dirty="0"/>
              <a:t>基区扩散区宽度减小</a:t>
            </a:r>
          </a:p>
          <a:p>
            <a:pPr lvl="1" algn="l" eaLnBrk="1" hangingPunct="1">
              <a:lnSpc>
                <a:spcPct val="125000"/>
              </a:lnSpc>
              <a:spcBef>
                <a:spcPts val="600"/>
              </a:spcBef>
              <a:buFont typeface="华文中宋" panose="02010600040101010101" pitchFamily="2" charset="-122"/>
              <a:buChar char="→"/>
            </a:pPr>
            <a:r>
              <a:rPr lang="zh-CN" altLang="en-US" sz="2400" dirty="0"/>
              <a:t>少子浓度梯度增加</a:t>
            </a:r>
          </a:p>
          <a:p>
            <a:pPr lvl="1" algn="l" eaLnBrk="1" hangingPunct="1">
              <a:lnSpc>
                <a:spcPct val="125000"/>
              </a:lnSpc>
              <a:spcBef>
                <a:spcPts val="600"/>
              </a:spcBef>
              <a:buFont typeface="华文中宋" panose="02010600040101010101" pitchFamily="2" charset="-122"/>
              <a:buChar char="→"/>
            </a:pPr>
            <a:r>
              <a:rPr lang="zh-CN" altLang="en-US" sz="2400" dirty="0"/>
              <a:t>集电极电流增加</a:t>
            </a:r>
          </a:p>
        </p:txBody>
      </p:sp>
      <p:pic>
        <p:nvPicPr>
          <p:cNvPr id="7" name="Picture 19" descr="10">
            <a:extLst>
              <a:ext uri="{FF2B5EF4-FFF2-40B4-BE49-F238E27FC236}">
                <a16:creationId xmlns:a16="http://schemas.microsoft.com/office/drawing/2014/main" id="{5870AC39-500F-4DE3-B586-438527BAF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" r="902"/>
          <a:stretch>
            <a:fillRect/>
          </a:stretch>
        </p:blipFill>
        <p:spPr bwMode="auto">
          <a:xfrm>
            <a:off x="6130350" y="2253853"/>
            <a:ext cx="5019675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706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pic>
        <p:nvPicPr>
          <p:cNvPr id="3" name="Picture 4" descr="10">
            <a:extLst>
              <a:ext uri="{FF2B5EF4-FFF2-40B4-BE49-F238E27FC236}">
                <a16:creationId xmlns:a16="http://schemas.microsoft.com/office/drawing/2014/main" id="{73199FDB-0832-43C5-BF91-88E06B67A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149" y="576263"/>
            <a:ext cx="5819775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644B38C6-5261-497A-BB30-E8F7DB203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011" y="3224213"/>
            <a:ext cx="8496300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en-US" altLang="zh-CN" sz="2800" i="1"/>
              <a:t>I</a:t>
            </a:r>
            <a:r>
              <a:rPr lang="en-US" altLang="zh-CN" sz="2800" i="1" baseline="-25000"/>
              <a:t>C</a:t>
            </a:r>
            <a:r>
              <a:rPr lang="zh-CN" altLang="en-US" sz="2800"/>
              <a:t>受</a:t>
            </a:r>
            <a:r>
              <a:rPr lang="en-US" altLang="zh-CN" sz="2800" i="1"/>
              <a:t>V</a:t>
            </a:r>
            <a:r>
              <a:rPr lang="en-US" altLang="zh-CN" sz="2800" i="1" baseline="-25000"/>
              <a:t>BE</a:t>
            </a:r>
            <a:r>
              <a:rPr lang="zh-CN" altLang="en-US" sz="2800"/>
              <a:t>控制，因此两者有一对应关系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/>
              <a:t>理想情况下，</a:t>
            </a:r>
            <a:r>
              <a:rPr lang="en-US" altLang="zh-CN" sz="2800" i="1"/>
              <a:t>I</a:t>
            </a:r>
            <a:r>
              <a:rPr lang="en-US" altLang="zh-CN" sz="2800" i="1" baseline="-25000"/>
              <a:t>c</a:t>
            </a:r>
            <a:r>
              <a:rPr lang="zh-CN" altLang="en-US" sz="2800"/>
              <a:t>与</a:t>
            </a:r>
            <a:r>
              <a:rPr lang="en-US" altLang="zh-CN" sz="2800" i="1"/>
              <a:t>V</a:t>
            </a:r>
            <a:r>
              <a:rPr lang="en-US" altLang="zh-CN" sz="2800" i="1" baseline="-25000"/>
              <a:t>BC</a:t>
            </a:r>
            <a:r>
              <a:rPr lang="zh-CN" altLang="en-US" sz="2800"/>
              <a:t>无关（上图中曲线斜率为零）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/>
              <a:t>由于存在基区宽度调制效应，上图中曲线倾斜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/>
              <a:t>厄尔利电压（</a:t>
            </a:r>
            <a:r>
              <a:rPr lang="en-US" altLang="zh-CN" sz="2800"/>
              <a:t>|</a:t>
            </a:r>
            <a:r>
              <a:rPr lang="en-US" altLang="zh-CN" sz="2800" i="1"/>
              <a:t>V</a:t>
            </a:r>
            <a:r>
              <a:rPr lang="en-US" altLang="zh-CN" sz="2800" i="1" baseline="-25000"/>
              <a:t>A</a:t>
            </a:r>
            <a:r>
              <a:rPr lang="en-US" altLang="zh-CN" sz="2800"/>
              <a:t>|</a:t>
            </a:r>
            <a:r>
              <a:rPr lang="zh-CN" altLang="en-US" sz="2800"/>
              <a:t>），描述晶体管特性一共有参数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800"/>
              <a:t>制造误差引起窄基区晶体管</a:t>
            </a:r>
            <a:r>
              <a:rPr lang="en-US" altLang="zh-CN" sz="2800" i="1"/>
              <a:t>x</a:t>
            </a:r>
            <a:r>
              <a:rPr lang="en-US" altLang="zh-CN" sz="2800" i="1" baseline="-25000"/>
              <a:t>B</a:t>
            </a:r>
            <a:r>
              <a:rPr lang="zh-CN" altLang="en-US" sz="2800"/>
              <a:t>变化，导致</a:t>
            </a:r>
            <a:r>
              <a:rPr lang="en-US" altLang="zh-CN" sz="2800" i="1"/>
              <a:t>I</a:t>
            </a:r>
            <a:r>
              <a:rPr lang="en-US" altLang="zh-CN" sz="2800" i="1" baseline="-25000"/>
              <a:t>C</a:t>
            </a:r>
            <a:r>
              <a:rPr lang="zh-CN" altLang="en-US" sz="2800"/>
              <a:t>变化</a:t>
            </a:r>
          </a:p>
        </p:txBody>
      </p:sp>
    </p:spTree>
    <p:extLst>
      <p:ext uri="{BB962C8B-B14F-4D97-AF65-F5344CB8AC3E}">
        <p14:creationId xmlns:p14="http://schemas.microsoft.com/office/powerpoint/2010/main" val="169840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384C4B-41B6-43A9-AB85-63EC0D26F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9950" y="482600"/>
            <a:ext cx="3827462" cy="796925"/>
          </a:xfrm>
        </p:spPr>
        <p:txBody>
          <a:bodyPr/>
          <a:lstStyle/>
          <a:p>
            <a:pPr algn="l"/>
            <a:r>
              <a:rPr lang="zh-CN" altLang="en-US" sz="3200" dirty="0">
                <a:effectLst/>
              </a:rPr>
              <a:t>（</a:t>
            </a:r>
            <a:r>
              <a:rPr lang="en-US" altLang="zh-CN" sz="3200" dirty="0">
                <a:effectLst/>
              </a:rPr>
              <a:t>2</a:t>
            </a:r>
            <a:r>
              <a:rPr lang="zh-CN" altLang="en-US" sz="3200" dirty="0">
                <a:effectLst/>
              </a:rPr>
              <a:t>）大注入效应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96A39E6F-A9B7-48C9-9EFE-DFDDAF9B3D1E}"/>
              </a:ext>
            </a:extLst>
          </p:cNvPr>
          <p:cNvSpPr txBox="1">
            <a:spLocks noChangeArrowheads="1"/>
          </p:cNvSpPr>
          <p:nvPr/>
        </p:nvSpPr>
        <p:spPr>
          <a:xfrm>
            <a:off x="5419581" y="1279525"/>
            <a:ext cx="4895850" cy="49688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1313" indent="-341313">
              <a:lnSpc>
                <a:spcPct val="125000"/>
              </a:lnSpc>
              <a:spcBef>
                <a:spcPts val="600"/>
              </a:spcBef>
            </a:pPr>
            <a:r>
              <a:rPr lang="zh-CN" altLang="en-US" sz="2800" b="1" kern="0"/>
              <a:t>大注入晶体管发生两种效应</a:t>
            </a:r>
          </a:p>
          <a:p>
            <a:pPr marL="457200" lvl="1" indent="0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 kern="0">
                <a:solidFill>
                  <a:srgbClr val="FF0000"/>
                </a:solidFill>
              </a:rPr>
              <a:t>发射极注入效率会降低</a:t>
            </a:r>
          </a:p>
          <a:p>
            <a:pPr marL="457200" lvl="1" indent="0"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 kern="0"/>
              <a:t>基区过剩少子浓度和集电极电流随</a:t>
            </a:r>
            <a:r>
              <a:rPr lang="en-US" altLang="zh-CN" sz="2400" b="1" kern="0"/>
              <a:t>B-E</a:t>
            </a:r>
            <a:r>
              <a:rPr lang="zh-CN" altLang="en-US" sz="2400" b="1" kern="0"/>
              <a:t>结电压增大的速度变缓</a:t>
            </a:r>
          </a:p>
          <a:p>
            <a:pPr marL="341313" indent="-341313">
              <a:lnSpc>
                <a:spcPct val="125000"/>
              </a:lnSpc>
              <a:spcBef>
                <a:spcPts val="600"/>
              </a:spcBef>
            </a:pPr>
            <a:r>
              <a:rPr lang="zh-CN" altLang="en-US" sz="2800" b="1" kern="0"/>
              <a:t>发射极注入效率系数</a:t>
            </a:r>
          </a:p>
          <a:p>
            <a:pPr marL="457200" lvl="1" indent="0">
              <a:lnSpc>
                <a:spcPct val="125000"/>
              </a:lnSpc>
              <a:spcBef>
                <a:spcPts val="600"/>
              </a:spcBef>
            </a:pPr>
            <a:endParaRPr lang="zh-CN" altLang="en-US" sz="2400" b="1" kern="0"/>
          </a:p>
          <a:p>
            <a:pPr marL="457200" lvl="1" indent="0">
              <a:lnSpc>
                <a:spcPct val="125000"/>
              </a:lnSpc>
              <a:spcBef>
                <a:spcPts val="600"/>
              </a:spcBef>
            </a:pPr>
            <a:endParaRPr lang="zh-CN" altLang="en-US" sz="2400" b="1" kern="0"/>
          </a:p>
          <a:p>
            <a:pPr marL="341313" indent="-341313">
              <a:lnSpc>
                <a:spcPct val="125000"/>
              </a:lnSpc>
              <a:spcBef>
                <a:spcPts val="600"/>
              </a:spcBef>
            </a:pPr>
            <a:r>
              <a:rPr lang="zh-CN" altLang="en-US" sz="2800" b="1" kern="0"/>
              <a:t>左图为小注入和大注入时，基区中少子和多子浓度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F0C1BDB4-A40A-4DCD-9020-4362DCB28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861208"/>
              </p:ext>
            </p:extLst>
          </p:nvPr>
        </p:nvGraphicFramePr>
        <p:xfrm>
          <a:off x="6795943" y="4071937"/>
          <a:ext cx="1727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3280" imgH="444240" progId="Equation.DSMT4">
                  <p:embed/>
                </p:oleObj>
              </mc:Choice>
              <mc:Fallback>
                <p:oleObj name="Equation" r:id="rId3" imgW="863280" imgH="444240" progId="Equation.DSMT4">
                  <p:embed/>
                  <p:pic>
                    <p:nvPicPr>
                      <p:cNvPr id="304142" name="Object 2">
                        <a:extLst>
                          <a:ext uri="{FF2B5EF4-FFF2-40B4-BE49-F238E27FC236}">
                            <a16:creationId xmlns:a16="http://schemas.microsoft.com/office/drawing/2014/main" id="{033514D2-9454-4A82-A533-5F1C2EFFC5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5943" y="4071937"/>
                        <a:ext cx="1727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9">
            <a:extLst>
              <a:ext uri="{FF2B5EF4-FFF2-40B4-BE49-F238E27FC236}">
                <a16:creationId xmlns:a16="http://schemas.microsoft.com/office/drawing/2014/main" id="{0A82F830-FD58-4931-8901-8CABD948D697}"/>
              </a:ext>
            </a:extLst>
          </p:cNvPr>
          <p:cNvGrpSpPr>
            <a:grpSpLocks/>
          </p:cNvGrpSpPr>
          <p:nvPr/>
        </p:nvGrpSpPr>
        <p:grpSpPr bwMode="auto">
          <a:xfrm>
            <a:off x="747424" y="1585118"/>
            <a:ext cx="3709988" cy="4357687"/>
            <a:chOff x="180" y="1117"/>
            <a:chExt cx="2337" cy="2745"/>
          </a:xfrm>
        </p:grpSpPr>
        <p:pic>
          <p:nvPicPr>
            <p:cNvPr id="8" name="Picture 7" descr="10">
              <a:extLst>
                <a:ext uri="{FF2B5EF4-FFF2-40B4-BE49-F238E27FC236}">
                  <a16:creationId xmlns:a16="http://schemas.microsoft.com/office/drawing/2014/main" id="{0A1FCE24-F889-4344-BA50-AB6375E059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" y="1117"/>
              <a:ext cx="2337" cy="2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16">
              <a:extLst>
                <a:ext uri="{FF2B5EF4-FFF2-40B4-BE49-F238E27FC236}">
                  <a16:creationId xmlns:a16="http://schemas.microsoft.com/office/drawing/2014/main" id="{B6703FB2-C245-42DB-9B2F-804F1BBA6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3612"/>
              <a:ext cx="2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实线</a:t>
              </a:r>
              <a:r>
                <a:rPr lang="zh-CN" altLang="en-US"/>
                <a:t>为小注入，</a:t>
              </a:r>
              <a:r>
                <a:rPr lang="zh-CN" altLang="en-US">
                  <a:solidFill>
                    <a:srgbClr val="0000FF"/>
                  </a:solidFill>
                </a:rPr>
                <a:t>虚线</a:t>
              </a:r>
              <a:r>
                <a:rPr lang="zh-CN" altLang="en-US"/>
                <a:t>为大注入</a:t>
              </a:r>
            </a:p>
          </p:txBody>
        </p:sp>
        <p:sp>
          <p:nvSpPr>
            <p:cNvPr id="10" name="Rectangle 17">
              <a:extLst>
                <a:ext uri="{FF2B5EF4-FFF2-40B4-BE49-F238E27FC236}">
                  <a16:creationId xmlns:a16="http://schemas.microsoft.com/office/drawing/2014/main" id="{B69B7384-D090-4DCC-AB0A-17A1C08AA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" y="1471"/>
              <a:ext cx="54" cy="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" name="Text Box 18">
              <a:extLst>
                <a:ext uri="{FF2B5EF4-FFF2-40B4-BE49-F238E27FC236}">
                  <a16:creationId xmlns:a16="http://schemas.microsoft.com/office/drawing/2014/main" id="{9E021913-7E57-44D3-94B5-9FB9F4294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419"/>
              <a:ext cx="181" cy="1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10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140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3" name="Picture 4" descr="10">
            <a:extLst>
              <a:ext uri="{FF2B5EF4-FFF2-40B4-BE49-F238E27FC236}">
                <a16:creationId xmlns:a16="http://schemas.microsoft.com/office/drawing/2014/main" id="{23CB890C-09C5-42C1-97D1-AABD7EA0C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977" y="1103312"/>
            <a:ext cx="4610100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3B66CD1D-79E4-4BD3-AD8C-12D3FD39C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9606" y="2190749"/>
            <a:ext cx="3455988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38138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ts val="1800"/>
              </a:spcBef>
              <a:buFontTx/>
              <a:buChar char="•"/>
            </a:pPr>
            <a:r>
              <a:rPr lang="zh-CN" altLang="en-US" sz="2800" dirty="0">
                <a:solidFill>
                  <a:srgbClr val="FF0000"/>
                </a:solidFill>
              </a:rPr>
              <a:t>小电流</a:t>
            </a:r>
            <a:r>
              <a:rPr lang="zh-CN" altLang="en-US" sz="2800" dirty="0"/>
              <a:t>时增益较小：复合系数较小</a:t>
            </a:r>
          </a:p>
          <a:p>
            <a:pPr algn="l" eaLnBrk="1" hangingPunct="1">
              <a:lnSpc>
                <a:spcPct val="125000"/>
              </a:lnSpc>
              <a:spcBef>
                <a:spcPts val="1800"/>
              </a:spcBef>
              <a:buFontTx/>
              <a:buChar char="•"/>
            </a:pPr>
            <a:r>
              <a:rPr lang="zh-CN" altLang="en-US" sz="2800" dirty="0">
                <a:solidFill>
                  <a:srgbClr val="0000FF"/>
                </a:solidFill>
              </a:rPr>
              <a:t>大电流</a:t>
            </a:r>
            <a:r>
              <a:rPr lang="zh-CN" altLang="en-US" sz="2800" dirty="0"/>
              <a:t>时增益下降：大注入效应的影响</a:t>
            </a:r>
          </a:p>
        </p:txBody>
      </p:sp>
    </p:spTree>
    <p:extLst>
      <p:ext uri="{BB962C8B-B14F-4D97-AF65-F5344CB8AC3E}">
        <p14:creationId xmlns:p14="http://schemas.microsoft.com/office/powerpoint/2010/main" val="27389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pic>
        <p:nvPicPr>
          <p:cNvPr id="3" name="Picture 5" descr="10">
            <a:extLst>
              <a:ext uri="{FF2B5EF4-FFF2-40B4-BE49-F238E27FC236}">
                <a16:creationId xmlns:a16="http://schemas.microsoft.com/office/drawing/2014/main" id="{54ECC9F9-02F3-4FC5-A18F-440A4AE5A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08" y="1561811"/>
            <a:ext cx="3602037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B6901AF5-E32B-48E6-8822-79747A655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558" y="421986"/>
            <a:ext cx="873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–"/>
            </a:pPr>
            <a:r>
              <a:rPr lang="zh-CN" altLang="en-US" sz="2400">
                <a:solidFill>
                  <a:srgbClr val="FF0000"/>
                </a:solidFill>
              </a:rPr>
              <a:t>基区过剩少子浓度和集电极电流随</a:t>
            </a:r>
            <a:r>
              <a:rPr lang="en-US" altLang="zh-CN" sz="2400">
                <a:solidFill>
                  <a:srgbClr val="FF0000"/>
                </a:solidFill>
              </a:rPr>
              <a:t>B-E</a:t>
            </a:r>
            <a:r>
              <a:rPr lang="zh-CN" altLang="en-US" sz="2400">
                <a:solidFill>
                  <a:srgbClr val="FF0000"/>
                </a:solidFill>
              </a:rPr>
              <a:t>结电压增大的速度变缓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22FE84FC-F1FD-46F8-80C2-3F5ED167B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973" y="1068243"/>
            <a:ext cx="48244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/>
              <a:t>小注入基区空间电荷区边界处</a:t>
            </a: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9F39F03A-CFEA-48CB-995C-C49268DBE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056410"/>
              </p:ext>
            </p:extLst>
          </p:nvPr>
        </p:nvGraphicFramePr>
        <p:xfrm>
          <a:off x="6533573" y="1593706"/>
          <a:ext cx="27860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431640" progId="Equation.DSMT4">
                  <p:embed/>
                </p:oleObj>
              </mc:Choice>
              <mc:Fallback>
                <p:oleObj name="Equation" r:id="rId3" imgW="1396800" imgH="431640" progId="Equation.DSMT4">
                  <p:embed/>
                  <p:pic>
                    <p:nvPicPr>
                      <p:cNvPr id="307209" name="Object 2">
                        <a:extLst>
                          <a:ext uri="{FF2B5EF4-FFF2-40B4-BE49-F238E27FC236}">
                            <a16:creationId xmlns:a16="http://schemas.microsoft.com/office/drawing/2014/main" id="{C814E9E5-D622-4108-9FB6-22EA2C7DE4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3573" y="1593706"/>
                        <a:ext cx="278606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F591AF64-22D5-4A2B-B802-E94773F0A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35440"/>
              </p:ext>
            </p:extLst>
          </p:nvPr>
        </p:nvGraphicFramePr>
        <p:xfrm>
          <a:off x="6533573" y="2385868"/>
          <a:ext cx="15732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320" imgH="253800" progId="Equation.DSMT4">
                  <p:embed/>
                </p:oleObj>
              </mc:Choice>
              <mc:Fallback>
                <p:oleObj name="Equation" r:id="rId5" imgW="787320" imgH="253800" progId="Equation.DSMT4">
                  <p:embed/>
                  <p:pic>
                    <p:nvPicPr>
                      <p:cNvPr id="307211" name="Object 3">
                        <a:extLst>
                          <a:ext uri="{FF2B5EF4-FFF2-40B4-BE49-F238E27FC236}">
                            <a16:creationId xmlns:a16="http://schemas.microsoft.com/office/drawing/2014/main" id="{2B2DAD0E-2097-4A34-BF2E-D13DEF3CB7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3573" y="2385868"/>
                        <a:ext cx="15732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DB0D1992-70DB-4CB5-BDF7-3BA740B530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660730"/>
              </p:ext>
            </p:extLst>
          </p:nvPr>
        </p:nvGraphicFramePr>
        <p:xfrm>
          <a:off x="6678036" y="4408343"/>
          <a:ext cx="28622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34960" imgH="431640" progId="Equation.DSMT4">
                  <p:embed/>
                </p:oleObj>
              </mc:Choice>
              <mc:Fallback>
                <p:oleObj name="Equation" r:id="rId7" imgW="1434960" imgH="431640" progId="Equation.DSMT4">
                  <p:embed/>
                  <p:pic>
                    <p:nvPicPr>
                      <p:cNvPr id="307212" name="Object 4">
                        <a:extLst>
                          <a:ext uri="{FF2B5EF4-FFF2-40B4-BE49-F238E27FC236}">
                            <a16:creationId xmlns:a16="http://schemas.microsoft.com/office/drawing/2014/main" id="{205CEFC2-63E3-465E-85CE-6984A2A09A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8036" y="4408343"/>
                        <a:ext cx="28622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5">
            <a:extLst>
              <a:ext uri="{FF2B5EF4-FFF2-40B4-BE49-F238E27FC236}">
                <a16:creationId xmlns:a16="http://schemas.microsoft.com/office/drawing/2014/main" id="{F56B2900-B913-4EE2-AF1F-7124DC9B0660}"/>
              </a:ext>
            </a:extLst>
          </p:cNvPr>
          <p:cNvGrpSpPr>
            <a:grpSpLocks/>
          </p:cNvGrpSpPr>
          <p:nvPr/>
        </p:nvGrpSpPr>
        <p:grpSpPr bwMode="auto">
          <a:xfrm>
            <a:off x="5669973" y="2968481"/>
            <a:ext cx="4649788" cy="863600"/>
            <a:chOff x="2381" y="1797"/>
            <a:chExt cx="2929" cy="544"/>
          </a:xfrm>
        </p:grpSpPr>
        <p:graphicFrame>
          <p:nvGraphicFramePr>
            <p:cNvPr id="11" name="Object 5">
              <a:extLst>
                <a:ext uri="{FF2B5EF4-FFF2-40B4-BE49-F238E27FC236}">
                  <a16:creationId xmlns:a16="http://schemas.microsoft.com/office/drawing/2014/main" id="{AFF87687-840C-4110-9937-D834016240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9" y="1797"/>
            <a:ext cx="2521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006280" imgH="431640" progId="Equation.DSMT4">
                    <p:embed/>
                  </p:oleObj>
                </mc:Choice>
                <mc:Fallback>
                  <p:oleObj name="Equation" r:id="rId9" imgW="2006280" imgH="431640" progId="Equation.DSMT4">
                    <p:embed/>
                    <p:pic>
                      <p:nvPicPr>
                        <p:cNvPr id="10245" name="Object 5">
                          <a:extLst>
                            <a:ext uri="{FF2B5EF4-FFF2-40B4-BE49-F238E27FC236}">
                              <a16:creationId xmlns:a16="http://schemas.microsoft.com/office/drawing/2014/main" id="{BDD938FB-08FB-4857-935B-44F920F16B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1797"/>
                          <a:ext cx="2521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B9DC740B-67BA-4794-933A-95099D2BB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1898"/>
              <a:ext cx="40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400"/>
                <a:t>则</a:t>
              </a:r>
            </a:p>
          </p:txBody>
        </p:sp>
      </p:grpSp>
      <p:sp>
        <p:nvSpPr>
          <p:cNvPr id="13" name="Text Box 16">
            <a:extLst>
              <a:ext uri="{FF2B5EF4-FFF2-40B4-BE49-F238E27FC236}">
                <a16:creationId xmlns:a16="http://schemas.microsoft.com/office/drawing/2014/main" id="{9DACDBD1-9949-4606-900E-17A55E1B8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973" y="3878118"/>
            <a:ext cx="50403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/>
              <a:t>大注入</a:t>
            </a:r>
            <a:r>
              <a:rPr lang="en-US" altLang="zh-CN" i="1"/>
              <a:t>n</a:t>
            </a:r>
            <a:r>
              <a:rPr lang="en-US" altLang="zh-CN" i="1" baseline="-25000"/>
              <a:t>p</a:t>
            </a:r>
            <a:r>
              <a:rPr lang="en-US" altLang="zh-CN"/>
              <a:t>(0)</a:t>
            </a:r>
            <a:r>
              <a:rPr lang="zh-CN" altLang="en-US"/>
              <a:t>、</a:t>
            </a:r>
            <a:r>
              <a:rPr lang="en-US" altLang="zh-CN" i="1"/>
              <a:t>p</a:t>
            </a:r>
            <a:r>
              <a:rPr lang="en-US" altLang="zh-CN" i="1" baseline="-25000"/>
              <a:t>p</a:t>
            </a:r>
            <a:r>
              <a:rPr lang="en-US" altLang="zh-CN"/>
              <a:t>(0)</a:t>
            </a:r>
            <a:r>
              <a:rPr lang="zh-CN" altLang="en-US" sz="2400"/>
              <a:t>基本处于同一量级</a:t>
            </a:r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9F422560-0618-4F6A-BA20-A2F3C2A7E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5511" y="5533881"/>
            <a:ext cx="52197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/>
              <a:t>同</a:t>
            </a:r>
            <a:r>
              <a:rPr lang="en-US" altLang="zh-CN" sz="2400"/>
              <a:t>pn</a:t>
            </a:r>
            <a:r>
              <a:rPr lang="zh-CN" altLang="en-US" sz="2400"/>
              <a:t>结二极管中的串联电阻效应近似</a:t>
            </a:r>
          </a:p>
        </p:txBody>
      </p:sp>
    </p:spTree>
    <p:extLst>
      <p:ext uri="{BB962C8B-B14F-4D97-AF65-F5344CB8AC3E}">
        <p14:creationId xmlns:p14="http://schemas.microsoft.com/office/powerpoint/2010/main" val="395840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30958B4-2F46-4439-998A-CCA9E9429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551" y="305594"/>
            <a:ext cx="4535488" cy="796925"/>
          </a:xfrm>
        </p:spPr>
        <p:txBody>
          <a:bodyPr/>
          <a:lstStyle/>
          <a:p>
            <a:pPr algn="l"/>
            <a:r>
              <a:rPr lang="zh-CN" altLang="en-US" sz="3200" dirty="0">
                <a:effectLst/>
              </a:rPr>
              <a:t>（</a:t>
            </a:r>
            <a:r>
              <a:rPr lang="en-US" altLang="zh-CN" sz="3200" dirty="0">
                <a:effectLst/>
              </a:rPr>
              <a:t>3</a:t>
            </a:r>
            <a:r>
              <a:rPr lang="zh-CN" altLang="en-US" sz="3200" dirty="0">
                <a:effectLst/>
              </a:rPr>
              <a:t>）发射区禁带变窄</a:t>
            </a:r>
          </a:p>
        </p:txBody>
      </p:sp>
      <p:pic>
        <p:nvPicPr>
          <p:cNvPr id="5" name="Picture 5" descr="10">
            <a:extLst>
              <a:ext uri="{FF2B5EF4-FFF2-40B4-BE49-F238E27FC236}">
                <a16:creationId xmlns:a16="http://schemas.microsoft.com/office/drawing/2014/main" id="{D1DBCBD1-1589-4439-A397-51BF3057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6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924" y="1962150"/>
            <a:ext cx="5495925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965CE935-14D5-485A-8807-49BC96770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7" y="5791200"/>
            <a:ext cx="8785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/>
              <a:t>发射区</a:t>
            </a:r>
            <a:r>
              <a:rPr lang="zh-CN" altLang="en-US" sz="2400">
                <a:solidFill>
                  <a:srgbClr val="FF0000"/>
                </a:solidFill>
              </a:rPr>
              <a:t>掺杂很高</a:t>
            </a:r>
            <a:r>
              <a:rPr lang="zh-CN" altLang="en-US" sz="2400"/>
              <a:t>时，由于禁带变窄效应，使电流增益比预期小。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F4E8AEF-FFB7-4A39-82A0-BA889E0AA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49" y="1039813"/>
            <a:ext cx="8496300" cy="97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lang="zh-CN" altLang="en-US" sz="2400" dirty="0"/>
              <a:t>发射区掺杂浓度对基区掺杂浓度比值增加，发射极注入效率会增加并接近于</a:t>
            </a:r>
            <a:r>
              <a:rPr lang="en-US" altLang="zh-CN" sz="2400" dirty="0"/>
              <a:t>1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8368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3723D5-F211-4504-8D2E-98C13830DE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49" y="554038"/>
            <a:ext cx="4608513" cy="796925"/>
          </a:xfrm>
        </p:spPr>
        <p:txBody>
          <a:bodyPr/>
          <a:lstStyle/>
          <a:p>
            <a:pPr algn="l"/>
            <a:r>
              <a:rPr lang="zh-CN" altLang="en-US" sz="3200" dirty="0">
                <a:effectLst/>
              </a:rPr>
              <a:t>（</a:t>
            </a:r>
            <a:r>
              <a:rPr lang="en-US" altLang="zh-CN" sz="3200" dirty="0">
                <a:effectLst/>
              </a:rPr>
              <a:t>4</a:t>
            </a:r>
            <a:r>
              <a:rPr lang="zh-CN" altLang="en-US" sz="3200" dirty="0">
                <a:effectLst/>
              </a:rPr>
              <a:t>）电流集边效应</a:t>
            </a:r>
          </a:p>
        </p:txBody>
      </p:sp>
      <p:pic>
        <p:nvPicPr>
          <p:cNvPr id="5" name="Picture 6" descr="10">
            <a:extLst>
              <a:ext uri="{FF2B5EF4-FFF2-40B4-BE49-F238E27FC236}">
                <a16:creationId xmlns:a16="http://schemas.microsoft.com/office/drawing/2014/main" id="{D413355A-C25A-4560-86AF-9C4FEC394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6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187" y="1655763"/>
            <a:ext cx="43656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>
            <a:extLst>
              <a:ext uri="{FF2B5EF4-FFF2-40B4-BE49-F238E27FC236}">
                <a16:creationId xmlns:a16="http://schemas.microsoft.com/office/drawing/2014/main" id="{A263F131-F7C0-437F-A135-3676E83AD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1" y="3311381"/>
            <a:ext cx="5616575" cy="26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400" dirty="0"/>
              <a:t>基区宽度很小（典型值</a:t>
            </a:r>
            <a:r>
              <a:rPr lang="en-US" altLang="zh-CN" sz="2400" dirty="0"/>
              <a:t>&lt;1</a:t>
            </a:r>
            <a:r>
              <a:rPr lang="zh-CN" altLang="en-US" sz="2400" dirty="0"/>
              <a:t>微米）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400" dirty="0"/>
              <a:t>基区电阻相当大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400" dirty="0"/>
              <a:t>导致发射区下存在横向电势差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400" dirty="0"/>
              <a:t>相对于中心，较多电子从边缘注入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 sz="2400" dirty="0"/>
              <a:t>发射极电流集中在边缘</a:t>
            </a:r>
          </a:p>
        </p:txBody>
      </p:sp>
    </p:spTree>
    <p:extLst>
      <p:ext uri="{BB962C8B-B14F-4D97-AF65-F5344CB8AC3E}">
        <p14:creationId xmlns:p14="http://schemas.microsoft.com/office/powerpoint/2010/main" val="414427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BBAE8-D297-4A40-8A79-1202F56FC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1279" y="505257"/>
            <a:ext cx="3671887" cy="796925"/>
          </a:xfrm>
        </p:spPr>
        <p:txBody>
          <a:bodyPr/>
          <a:lstStyle/>
          <a:p>
            <a:pPr algn="l"/>
            <a:r>
              <a:rPr lang="zh-CN" altLang="en-US" sz="3200" dirty="0">
                <a:effectLst/>
              </a:rPr>
              <a:t>（</a:t>
            </a:r>
            <a:r>
              <a:rPr lang="en-US" altLang="zh-CN" sz="3200" dirty="0">
                <a:effectLst/>
              </a:rPr>
              <a:t>6</a:t>
            </a:r>
            <a:r>
              <a:rPr lang="zh-CN" altLang="en-US" sz="3200" dirty="0">
                <a:effectLst/>
              </a:rPr>
              <a:t>）击穿电压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C63FE-EABF-4FB7-82D3-B12ECFF35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962" y="1915823"/>
            <a:ext cx="745807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800" b="1" kern="0" dirty="0"/>
              <a:t>两种击穿机制：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800" b="1" kern="0" dirty="0">
                <a:solidFill>
                  <a:srgbClr val="FF0000"/>
                </a:solidFill>
              </a:rPr>
              <a:t>穿通</a:t>
            </a:r>
          </a:p>
          <a:p>
            <a:pPr lvl="1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 kern="0" dirty="0"/>
              <a:t>随着反偏</a:t>
            </a:r>
            <a:r>
              <a:rPr lang="en-US" altLang="zh-CN" sz="2400" b="1" kern="0" dirty="0"/>
              <a:t>B-C</a:t>
            </a:r>
            <a:r>
              <a:rPr lang="zh-CN" altLang="en-US" sz="2400" b="1" kern="0" dirty="0"/>
              <a:t>结电压的增加，</a:t>
            </a:r>
            <a:r>
              <a:rPr lang="en-US" altLang="zh-CN" sz="2400" b="1" kern="0" dirty="0"/>
              <a:t>B-C</a:t>
            </a:r>
            <a:r>
              <a:rPr lang="zh-CN" altLang="en-US" sz="2400" b="1" kern="0" dirty="0"/>
              <a:t>空间电荷区宽度扩展进中性基区中，</a:t>
            </a:r>
            <a:r>
              <a:rPr lang="en-US" altLang="zh-CN" sz="2400" b="1" kern="0" dirty="0"/>
              <a:t>B-C</a:t>
            </a:r>
            <a:r>
              <a:rPr lang="zh-CN" altLang="en-US" sz="2400" b="1" kern="0" dirty="0"/>
              <a:t>结耗尽区穿透基区到达</a:t>
            </a:r>
            <a:r>
              <a:rPr lang="en-US" altLang="zh-CN" sz="2400" b="1" kern="0" dirty="0"/>
              <a:t>B-E</a:t>
            </a:r>
            <a:r>
              <a:rPr lang="zh-CN" altLang="en-US" sz="2400" b="1" kern="0" dirty="0"/>
              <a:t>结。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800" b="1" kern="0" dirty="0">
                <a:solidFill>
                  <a:srgbClr val="0000FF"/>
                </a:solidFill>
              </a:rPr>
              <a:t>雪崩击穿</a:t>
            </a:r>
          </a:p>
        </p:txBody>
      </p:sp>
    </p:spTree>
    <p:extLst>
      <p:ext uri="{BB962C8B-B14F-4D97-AF65-F5344CB8AC3E}">
        <p14:creationId xmlns:p14="http://schemas.microsoft.com/office/powerpoint/2010/main" val="78232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AA37BB-67D0-4C50-B6F7-358E19920DE9}"/>
              </a:ext>
            </a:extLst>
          </p:cNvPr>
          <p:cNvSpPr/>
          <p:nvPr/>
        </p:nvSpPr>
        <p:spPr>
          <a:xfrm>
            <a:off x="512287" y="494298"/>
            <a:ext cx="264687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+mj-cs"/>
              </a:rPr>
              <a:t>等效电路模型</a:t>
            </a:r>
            <a:endParaRPr lang="zh-CN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EC7411D-FD75-4D13-A803-B086A51FF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" y="1000417"/>
            <a:ext cx="68405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</a:t>
            </a:r>
            <a:r>
              <a:rPr lang="en-US" altLang="zh-CN" sz="3200" dirty="0"/>
              <a:t>E-M</a:t>
            </a:r>
            <a:r>
              <a:rPr lang="zh-CN" altLang="en-US" sz="3200" dirty="0"/>
              <a:t>模型：适用于任何模式</a:t>
            </a: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A0927C8E-6CDB-4ECB-827F-AC5DE5ACA43E}"/>
              </a:ext>
            </a:extLst>
          </p:cNvPr>
          <p:cNvGrpSpPr>
            <a:grpSpLocks/>
          </p:cNvGrpSpPr>
          <p:nvPr/>
        </p:nvGrpSpPr>
        <p:grpSpPr bwMode="auto">
          <a:xfrm>
            <a:off x="512287" y="2446481"/>
            <a:ext cx="4022725" cy="2414587"/>
            <a:chOff x="34" y="1117"/>
            <a:chExt cx="2534" cy="1521"/>
          </a:xfrm>
        </p:grpSpPr>
        <p:pic>
          <p:nvPicPr>
            <p:cNvPr id="7" name="Picture 4" descr="10">
              <a:extLst>
                <a:ext uri="{FF2B5EF4-FFF2-40B4-BE49-F238E27FC236}">
                  <a16:creationId xmlns:a16="http://schemas.microsoft.com/office/drawing/2014/main" id="{EA58A01A-54BA-4466-999C-A353E040B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2" t="3937" r="874" b="1968"/>
            <a:stretch>
              <a:fillRect/>
            </a:stretch>
          </p:blipFill>
          <p:spPr bwMode="auto">
            <a:xfrm>
              <a:off x="34" y="1117"/>
              <a:ext cx="2534" cy="1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045863F6-1AD9-4A34-B6D6-7EECFEB40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" y="2196"/>
              <a:ext cx="172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E-M</a:t>
              </a:r>
              <a:r>
                <a:rPr lang="zh-CN" altLang="en-US"/>
                <a:t>模型中定义的电流方向、电压极性</a:t>
              </a:r>
            </a:p>
          </p:txBody>
        </p:sp>
      </p:grpSp>
      <p:grpSp>
        <p:nvGrpSpPr>
          <p:cNvPr id="9" name="Group 10">
            <a:extLst>
              <a:ext uri="{FF2B5EF4-FFF2-40B4-BE49-F238E27FC236}">
                <a16:creationId xmlns:a16="http://schemas.microsoft.com/office/drawing/2014/main" id="{0AC39D14-72E0-4333-8864-131A53976DAC}"/>
              </a:ext>
            </a:extLst>
          </p:cNvPr>
          <p:cNvGrpSpPr>
            <a:grpSpLocks/>
          </p:cNvGrpSpPr>
          <p:nvPr/>
        </p:nvGrpSpPr>
        <p:grpSpPr bwMode="auto">
          <a:xfrm>
            <a:off x="5171209" y="1908318"/>
            <a:ext cx="5983288" cy="3349625"/>
            <a:chOff x="1968" y="1797"/>
            <a:chExt cx="3769" cy="2110"/>
          </a:xfrm>
        </p:grpSpPr>
        <p:pic>
          <p:nvPicPr>
            <p:cNvPr id="10" name="Picture 5" descr="10">
              <a:extLst>
                <a:ext uri="{FF2B5EF4-FFF2-40B4-BE49-F238E27FC236}">
                  <a16:creationId xmlns:a16="http://schemas.microsoft.com/office/drawing/2014/main" id="{E5B9BA47-655C-4ACD-A515-6EF32C64C7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98"/>
            <a:stretch>
              <a:fillRect/>
            </a:stretch>
          </p:blipFill>
          <p:spPr bwMode="auto">
            <a:xfrm>
              <a:off x="1968" y="1797"/>
              <a:ext cx="3769" cy="18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2154A58C-D16E-4F3F-9CE5-9D78475C5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2" y="3657"/>
              <a:ext cx="31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基本</a:t>
              </a:r>
              <a:r>
                <a:rPr lang="en-US" altLang="zh-CN"/>
                <a:t>E-M</a:t>
              </a:r>
              <a:r>
                <a:rPr lang="zh-CN" altLang="en-US"/>
                <a:t>模型等效电路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253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A704E-1701-4E9B-BFFD-5B0FB9464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254" y="474519"/>
            <a:ext cx="4772025" cy="647700"/>
          </a:xfrm>
        </p:spPr>
        <p:txBody>
          <a:bodyPr/>
          <a:lstStyle/>
          <a:p>
            <a:pPr algn="l" eaLnBrk="1" hangingPunct="1"/>
            <a:r>
              <a:rPr lang="zh-CN" alt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lang="en-US" altLang="zh-CN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lang="zh-CN" alt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r>
              <a:rPr lang="en-US" altLang="zh-CN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G-P</a:t>
            </a:r>
            <a:r>
              <a:rPr lang="zh-CN" alt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模型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7EA0F75-92D3-42D3-BDBF-49FB01055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870" y="1071277"/>
            <a:ext cx="8424863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E-M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模型相比，考虑了更多的物理特性，可用于分析基区为非均匀掺杂的情况。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1EFD43-B35B-491D-BF12-AC7E89334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5" y="2263632"/>
            <a:ext cx="47720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3200" dirty="0"/>
              <a:t>（</a:t>
            </a:r>
            <a:r>
              <a:rPr lang="en-US" altLang="zh-CN" sz="3200" dirty="0"/>
              <a:t>3</a:t>
            </a:r>
            <a:r>
              <a:rPr lang="zh-CN" altLang="en-US" sz="3200" dirty="0"/>
              <a:t>）</a:t>
            </a:r>
            <a:r>
              <a:rPr lang="en-US" altLang="zh-CN" sz="3200" dirty="0"/>
              <a:t>H-P</a:t>
            </a:r>
            <a:r>
              <a:rPr lang="zh-CN" altLang="en-US" sz="3200" dirty="0"/>
              <a:t>模型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116BF-B86A-450E-BEA9-181557424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870" y="2862263"/>
            <a:ext cx="63373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 dirty="0"/>
              <a:t>小信号，线性放大电路，正向有源区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B8ED907-1A4C-4A16-BA0B-BAEFC7F10022}"/>
              </a:ext>
            </a:extLst>
          </p:cNvPr>
          <p:cNvGrpSpPr>
            <a:grpSpLocks/>
          </p:cNvGrpSpPr>
          <p:nvPr/>
        </p:nvGrpSpPr>
        <p:grpSpPr bwMode="auto">
          <a:xfrm>
            <a:off x="2658268" y="3541856"/>
            <a:ext cx="6875463" cy="2841625"/>
            <a:chOff x="908" y="2172"/>
            <a:chExt cx="4331" cy="1790"/>
          </a:xfrm>
        </p:grpSpPr>
        <p:pic>
          <p:nvPicPr>
            <p:cNvPr id="9" name="Picture 4" descr="10">
              <a:extLst>
                <a:ext uri="{FF2B5EF4-FFF2-40B4-BE49-F238E27FC236}">
                  <a16:creationId xmlns:a16="http://schemas.microsoft.com/office/drawing/2014/main" id="{3E82E3D8-40E3-4DDE-B2BA-081363EA20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" y="2172"/>
              <a:ext cx="3406" cy="1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F4AC24C0-9888-48B6-9377-03284EB77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" y="2999"/>
              <a:ext cx="11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H-P</a:t>
              </a:r>
              <a:r>
                <a:rPr lang="zh-CN" altLang="en-US"/>
                <a:t>等效电路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468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9A2E07-3645-4F8B-ADD8-FBF18D043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2589" y="246640"/>
            <a:ext cx="1861848" cy="7969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频率上限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BDAB9A6-259C-4A7B-B33C-410AB2AAB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1155411"/>
            <a:ext cx="10029103" cy="524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b="1" kern="0" dirty="0"/>
              <a:t>（</a:t>
            </a:r>
            <a:r>
              <a:rPr lang="en-US" altLang="zh-CN" sz="2800" b="1" kern="0" dirty="0"/>
              <a:t>1</a:t>
            </a:r>
            <a:r>
              <a:rPr lang="zh-CN" altLang="en-US" sz="2800" b="1" kern="0" dirty="0"/>
              <a:t>）延时因子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kern="0" dirty="0"/>
              <a:t>双极晶体管是一种时间渡越器件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kern="0" dirty="0"/>
              <a:t>发射区到集电区的总时间常数可由</a:t>
            </a:r>
            <a:r>
              <a:rPr lang="en-US" altLang="zh-CN" sz="2400" b="1" kern="0" dirty="0"/>
              <a:t>4</a:t>
            </a:r>
            <a:r>
              <a:rPr lang="zh-CN" altLang="en-US" sz="2400" b="1" kern="0" dirty="0"/>
              <a:t>个相互独立的时间常数组成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b="1" kern="0" dirty="0"/>
              <a:t>（</a:t>
            </a:r>
            <a:r>
              <a:rPr lang="en-US" altLang="zh-CN" sz="2800" b="1" kern="0" dirty="0"/>
              <a:t>2</a:t>
            </a:r>
            <a:r>
              <a:rPr lang="zh-CN" altLang="en-US" sz="2800" b="1" kern="0" dirty="0"/>
              <a:t>）晶体管截止频率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kern="0" dirty="0">
                <a:solidFill>
                  <a:srgbClr val="CC00CC"/>
                </a:solidFill>
              </a:rPr>
              <a:t>电流增益是频率的函数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l-GR" altLang="zh-CN" sz="2400" b="1" i="1" kern="0" dirty="0">
                <a:solidFill>
                  <a:srgbClr val="0000FF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400" b="1" kern="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400" b="1" kern="0" dirty="0">
                <a:solidFill>
                  <a:srgbClr val="0000FF"/>
                </a:solidFill>
                <a:cs typeface="Times New Roman" panose="02020603050405020304" pitchFamily="18" charset="0"/>
              </a:rPr>
              <a:t>截止频率</a:t>
            </a:r>
            <a:r>
              <a:rPr lang="en-US" altLang="zh-CN" sz="2400" b="1" i="1" kern="0" dirty="0">
                <a:solidFill>
                  <a:srgbClr val="0000FF"/>
                </a:solidFill>
                <a:cs typeface="Times New Roman" panose="02020603050405020304" pitchFamily="18" charset="0"/>
              </a:rPr>
              <a:t>f</a:t>
            </a:r>
            <a:r>
              <a:rPr lang="el-GR" altLang="zh-CN" sz="2400" b="1" i="1" kern="0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400" b="1" kern="0" dirty="0">
                <a:cs typeface="Times New Roman" panose="02020603050405020304" pitchFamily="18" charset="0"/>
              </a:rPr>
              <a:t>：共基极电流增益幅值变为其低频值的</a:t>
            </a:r>
            <a:r>
              <a:rPr lang="en-US" altLang="zh-CN" sz="2400" b="1" kern="0" dirty="0">
                <a:cs typeface="Times New Roman" panose="02020603050405020304" pitchFamily="18" charset="0"/>
              </a:rPr>
              <a:t>0.707</a:t>
            </a:r>
            <a:r>
              <a:rPr lang="zh-CN" altLang="en-US" sz="2400" b="1" kern="0" dirty="0">
                <a:cs typeface="Times New Roman" panose="02020603050405020304" pitchFamily="18" charset="0"/>
              </a:rPr>
              <a:t>时的频率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截止频率</a:t>
            </a:r>
            <a:r>
              <a:rPr lang="en-US" altLang="zh-CN" sz="2400" b="1" i="1" kern="0" dirty="0" err="1">
                <a:solidFill>
                  <a:srgbClr val="FF0000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sz="2400" b="1" i="1" kern="0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cs typeface="Times New Roman" panose="02020603050405020304" pitchFamily="18" charset="0"/>
              </a:rPr>
              <a:t>：共发射极电流增益的幅值为</a:t>
            </a:r>
            <a:r>
              <a:rPr lang="en-US" altLang="zh-CN" sz="2400" b="1" kern="0" dirty="0"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cs typeface="Times New Roman" panose="02020603050405020304" pitchFamily="18" charset="0"/>
              </a:rPr>
              <a:t>时的频率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l-GR" altLang="zh-CN" sz="2400" b="1" i="1" kern="0" dirty="0">
                <a:solidFill>
                  <a:srgbClr val="006600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2400" b="1" kern="0" dirty="0">
                <a:solidFill>
                  <a:srgbClr val="006600"/>
                </a:solidFill>
                <a:cs typeface="Times New Roman" panose="02020603050405020304" pitchFamily="18" charset="0"/>
              </a:rPr>
              <a:t>截止频率</a:t>
            </a:r>
            <a:r>
              <a:rPr lang="en-US" altLang="zh-CN" sz="2400" b="1" i="1" kern="0" dirty="0">
                <a:solidFill>
                  <a:srgbClr val="006600"/>
                </a:solidFill>
                <a:cs typeface="Times New Roman" panose="02020603050405020304" pitchFamily="18" charset="0"/>
              </a:rPr>
              <a:t>f</a:t>
            </a:r>
            <a:r>
              <a:rPr lang="el-GR" altLang="zh-CN" sz="2400" b="1" i="1" kern="0" baseline="-25000" dirty="0">
                <a:solidFill>
                  <a:srgbClr val="006600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2400" b="1" kern="0" dirty="0">
                <a:cs typeface="Times New Roman" panose="02020603050405020304" pitchFamily="18" charset="0"/>
              </a:rPr>
              <a:t>：共发射极电流增益幅值下降到其低频值的</a:t>
            </a:r>
            <a:r>
              <a:rPr lang="en-US" altLang="zh-CN" sz="2400" b="1" kern="0" dirty="0">
                <a:cs typeface="Times New Roman" panose="02020603050405020304" pitchFamily="18" charset="0"/>
              </a:rPr>
              <a:t>0.707</a:t>
            </a:r>
            <a:r>
              <a:rPr lang="zh-CN" altLang="en-US" sz="2400" b="1" kern="0" dirty="0">
                <a:cs typeface="Times New Roman" panose="02020603050405020304" pitchFamily="18" charset="0"/>
              </a:rPr>
              <a:t>时的频率</a:t>
            </a:r>
          </a:p>
        </p:txBody>
      </p:sp>
    </p:spTree>
    <p:extLst>
      <p:ext uri="{BB962C8B-B14F-4D97-AF65-F5344CB8AC3E}">
        <p14:creationId xmlns:p14="http://schemas.microsoft.com/office/powerpoint/2010/main" val="104307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C27B3B-8333-4B2E-AD1E-A17479A62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9022" y="283585"/>
            <a:ext cx="2306638" cy="719138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大信号开关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A47B3C-6AAC-48D7-9C85-E8EDCC65A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091" y="1002723"/>
            <a:ext cx="4249738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）开关特性</a:t>
            </a:r>
          </a:p>
        </p:txBody>
      </p:sp>
      <p:pic>
        <p:nvPicPr>
          <p:cNvPr id="6" name="Picture 4" descr="10">
            <a:extLst>
              <a:ext uri="{FF2B5EF4-FFF2-40B4-BE49-F238E27FC236}">
                <a16:creationId xmlns:a16="http://schemas.microsoft.com/office/drawing/2014/main" id="{413C9D45-ABA3-4496-8498-E95A9B3B3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917"/>
          <a:stretch>
            <a:fillRect/>
          </a:stretch>
        </p:blipFill>
        <p:spPr bwMode="auto">
          <a:xfrm>
            <a:off x="1204480" y="1660237"/>
            <a:ext cx="6953250" cy="466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C1B6DBC7-85ED-4466-AD87-BF43DA339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8793" y="1645950"/>
            <a:ext cx="24638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lang="zh-CN" altLang="en-US"/>
              <a:t>（</a:t>
            </a:r>
            <a:r>
              <a:rPr lang="en-US" altLang="zh-CN"/>
              <a:t>a</a:t>
            </a:r>
            <a:r>
              <a:rPr lang="zh-CN" altLang="en-US"/>
              <a:t>）研究晶体管开关特性所用的电路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1CA0266-3A37-4166-BDD0-315E33027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2531" y="4000972"/>
            <a:ext cx="3600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）驱动晶体管的基极输入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1D21BD2F-69BA-4EAE-B8D8-9582062D7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068" y="4900325"/>
            <a:ext cx="3563937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lang="zh-CN" altLang="en-US"/>
              <a:t>（</a:t>
            </a:r>
            <a:r>
              <a:rPr lang="en-US" altLang="zh-CN"/>
              <a:t>c</a:t>
            </a:r>
            <a:r>
              <a:rPr lang="zh-CN" altLang="en-US"/>
              <a:t>）晶体管工作状态转换过程中集电极电流随时间的变化</a:t>
            </a:r>
          </a:p>
        </p:txBody>
      </p:sp>
      <p:grpSp>
        <p:nvGrpSpPr>
          <p:cNvPr id="10" name="Group 20">
            <a:extLst>
              <a:ext uri="{FF2B5EF4-FFF2-40B4-BE49-F238E27FC236}">
                <a16:creationId xmlns:a16="http://schemas.microsoft.com/office/drawing/2014/main" id="{00AACC90-DEC0-4B49-8F09-C7AB1754F3F0}"/>
              </a:ext>
            </a:extLst>
          </p:cNvPr>
          <p:cNvGrpSpPr>
            <a:grpSpLocks/>
          </p:cNvGrpSpPr>
          <p:nvPr/>
        </p:nvGrpSpPr>
        <p:grpSpPr bwMode="auto">
          <a:xfrm>
            <a:off x="1161617" y="4697125"/>
            <a:ext cx="2244726" cy="850900"/>
            <a:chOff x="79" y="2985"/>
            <a:chExt cx="1414" cy="536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5A51EDE8-A1CD-4DC8-9031-1991A6AB7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" y="3249"/>
              <a:ext cx="700" cy="272"/>
            </a:xfrm>
            <a:custGeom>
              <a:avLst/>
              <a:gdLst>
                <a:gd name="T0" fmla="*/ 0 w 808"/>
                <a:gd name="T1" fmla="*/ 0 h 272"/>
                <a:gd name="T2" fmla="*/ 250 w 808"/>
                <a:gd name="T3" fmla="*/ 45 h 272"/>
                <a:gd name="T4" fmla="*/ 283 w 808"/>
                <a:gd name="T5" fmla="*/ 272 h 272"/>
                <a:gd name="T6" fmla="*/ 0 60000 65536"/>
                <a:gd name="T7" fmla="*/ 0 60000 65536"/>
                <a:gd name="T8" fmla="*/ 0 60000 65536"/>
                <a:gd name="T9" fmla="*/ 0 w 808"/>
                <a:gd name="T10" fmla="*/ 0 h 272"/>
                <a:gd name="T11" fmla="*/ 808 w 808"/>
                <a:gd name="T12" fmla="*/ 272 h 2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8" h="272">
                  <a:moveTo>
                    <a:pt x="0" y="0"/>
                  </a:moveTo>
                  <a:cubicBezTo>
                    <a:pt x="276" y="0"/>
                    <a:pt x="552" y="0"/>
                    <a:pt x="680" y="45"/>
                  </a:cubicBezTo>
                  <a:cubicBezTo>
                    <a:pt x="808" y="90"/>
                    <a:pt x="789" y="181"/>
                    <a:pt x="771" y="272"/>
                  </a:cubicBez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6397042C-AC3B-4107-A247-C6C1A9E74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" y="2985"/>
              <a:ext cx="816" cy="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zh-CN" altLang="en-US"/>
                <a:t>轻微正偏延迟时间</a:t>
              </a:r>
            </a:p>
          </p:txBody>
        </p:sp>
      </p:grpSp>
      <p:grpSp>
        <p:nvGrpSpPr>
          <p:cNvPr id="13" name="Group 21">
            <a:extLst>
              <a:ext uri="{FF2B5EF4-FFF2-40B4-BE49-F238E27FC236}">
                <a16:creationId xmlns:a16="http://schemas.microsoft.com/office/drawing/2014/main" id="{31EFCFB8-4077-4D53-B878-39C3398BC5E5}"/>
              </a:ext>
            </a:extLst>
          </p:cNvPr>
          <p:cNvGrpSpPr>
            <a:grpSpLocks/>
          </p:cNvGrpSpPr>
          <p:nvPr/>
        </p:nvGrpSpPr>
        <p:grpSpPr bwMode="auto">
          <a:xfrm>
            <a:off x="5808230" y="5779800"/>
            <a:ext cx="3184525" cy="517525"/>
            <a:chOff x="3006" y="3694"/>
            <a:chExt cx="2006" cy="32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87FC0CB2-9CB6-4D8A-8127-EBEBAD7F1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" y="3694"/>
              <a:ext cx="373" cy="235"/>
            </a:xfrm>
            <a:custGeom>
              <a:avLst/>
              <a:gdLst>
                <a:gd name="T0" fmla="*/ 23 w 590"/>
                <a:gd name="T1" fmla="*/ 227 h 235"/>
                <a:gd name="T2" fmla="*/ 20 w 590"/>
                <a:gd name="T3" fmla="*/ 227 h 235"/>
                <a:gd name="T4" fmla="*/ 4 w 590"/>
                <a:gd name="T5" fmla="*/ 181 h 235"/>
                <a:gd name="T6" fmla="*/ 0 w 590"/>
                <a:gd name="T7" fmla="*/ 0 h 2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0"/>
                <a:gd name="T13" fmla="*/ 0 h 235"/>
                <a:gd name="T14" fmla="*/ 590 w 590"/>
                <a:gd name="T15" fmla="*/ 235 h 2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0" h="235">
                  <a:moveTo>
                    <a:pt x="590" y="227"/>
                  </a:moveTo>
                  <a:cubicBezTo>
                    <a:pt x="586" y="231"/>
                    <a:pt x="582" y="235"/>
                    <a:pt x="499" y="227"/>
                  </a:cubicBezTo>
                  <a:cubicBezTo>
                    <a:pt x="416" y="219"/>
                    <a:pt x="174" y="219"/>
                    <a:pt x="91" y="181"/>
                  </a:cubicBezTo>
                  <a:cubicBezTo>
                    <a:pt x="8" y="143"/>
                    <a:pt x="4" y="71"/>
                    <a:pt x="0" y="0"/>
                  </a:cubicBez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CF9653D1-92A6-4E7E-88F4-54F6292E9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3770"/>
              <a:ext cx="16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B-C</a:t>
              </a:r>
              <a:r>
                <a:rPr lang="zh-CN" altLang="en-US"/>
                <a:t>反偏，下降时间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7A5C088-3586-4158-9AB5-2FAFA88378C6}"/>
              </a:ext>
            </a:extLst>
          </p:cNvPr>
          <p:cNvGrpSpPr>
            <a:grpSpLocks/>
          </p:cNvGrpSpPr>
          <p:nvPr/>
        </p:nvGrpSpPr>
        <p:grpSpPr bwMode="auto">
          <a:xfrm>
            <a:off x="2712605" y="5503575"/>
            <a:ext cx="1800225" cy="858837"/>
            <a:chOff x="1056" y="3493"/>
            <a:chExt cx="1134" cy="541"/>
          </a:xfrm>
        </p:grpSpPr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5610A72A-96D9-4A69-9DB9-7BDA2D950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28" y="3493"/>
              <a:ext cx="0" cy="31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C7D369F5-8A43-4CA8-80EC-77E4376A0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784"/>
              <a:ext cx="113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上升时间</a:t>
              </a:r>
            </a:p>
          </p:txBody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B98751A8-7E7F-4159-8D5C-C3994C9E89D1}"/>
              </a:ext>
            </a:extLst>
          </p:cNvPr>
          <p:cNvGrpSpPr>
            <a:grpSpLocks/>
          </p:cNvGrpSpPr>
          <p:nvPr/>
        </p:nvGrpSpPr>
        <p:grpSpPr bwMode="auto">
          <a:xfrm>
            <a:off x="4441393" y="5495637"/>
            <a:ext cx="1800225" cy="858838"/>
            <a:chOff x="1056" y="3493"/>
            <a:chExt cx="1134" cy="541"/>
          </a:xfrm>
        </p:grpSpPr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E3C56E8C-EF3A-4037-803D-8F03C520B9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28" y="3493"/>
              <a:ext cx="0" cy="31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B0F597B4-8FC3-478A-8DF3-CE8802411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784"/>
              <a:ext cx="113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存储时间</a:t>
              </a:r>
            </a:p>
          </p:txBody>
        </p:sp>
      </p:grpSp>
      <p:pic>
        <p:nvPicPr>
          <p:cNvPr id="22" name="Picture 22" descr="10">
            <a:extLst>
              <a:ext uri="{FF2B5EF4-FFF2-40B4-BE49-F238E27FC236}">
                <a16:creationId xmlns:a16="http://schemas.microsoft.com/office/drawing/2014/main" id="{4F067BC7-3714-4359-8546-CF48A1529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22"/>
          <a:stretch>
            <a:fillRect/>
          </a:stretch>
        </p:blipFill>
        <p:spPr bwMode="auto">
          <a:xfrm>
            <a:off x="7632268" y="1083181"/>
            <a:ext cx="3089275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43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3E95761-2B40-4233-8AC5-406134A7E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5030" y="476178"/>
            <a:ext cx="4516004" cy="6477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lang="en-US" altLang="zh-CN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lang="zh-CN" alt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）肖特基钳位晶体管</a:t>
            </a:r>
          </a:p>
        </p:txBody>
      </p:sp>
      <p:pic>
        <p:nvPicPr>
          <p:cNvPr id="5" name="Picture 5" descr="10">
            <a:extLst>
              <a:ext uri="{FF2B5EF4-FFF2-40B4-BE49-F238E27FC236}">
                <a16:creationId xmlns:a16="http://schemas.microsoft.com/office/drawing/2014/main" id="{030B8DE5-6D84-46FC-860E-4CDE8FEB5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770" y="1187450"/>
            <a:ext cx="4991100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BC163EE7-7ABD-4E66-B2D4-2BB24083F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870" y="3019425"/>
            <a:ext cx="1584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lang="zh-CN" altLang="en-US"/>
              <a:t>（</a:t>
            </a:r>
            <a:r>
              <a:rPr lang="en-US" altLang="zh-CN"/>
              <a:t>a</a:t>
            </a:r>
            <a:r>
              <a:rPr lang="zh-CN" altLang="en-US"/>
              <a:t>）肖特基钳位晶体管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48687AC6-4ED7-4924-8E48-02B0D868F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807" y="2625725"/>
            <a:ext cx="1871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/>
              <a:t>（</a:t>
            </a:r>
            <a:r>
              <a:rPr lang="en-US" altLang="zh-CN"/>
              <a:t>b</a:t>
            </a:r>
            <a:r>
              <a:rPr lang="zh-CN" altLang="en-US"/>
              <a:t>）电路符号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B592D69-A86B-4950-BE36-AFD5614FE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257" y="4386263"/>
            <a:ext cx="8720138" cy="186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/>
              <a:t>减小存储时间、提高晶体管转换速度的一种常用方法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/>
              <a:t>一个普通</a:t>
            </a:r>
            <a:r>
              <a:rPr lang="en-US" altLang="zh-CN"/>
              <a:t>npn</a:t>
            </a:r>
            <a:r>
              <a:rPr lang="zh-CN" altLang="en-US"/>
              <a:t>型晶体管，加一个肖特基二极管（基极、集电极间）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/>
              <a:t>正向有源区，</a:t>
            </a:r>
            <a:r>
              <a:rPr lang="en-US" altLang="zh-CN"/>
              <a:t>B-C</a:t>
            </a:r>
            <a:r>
              <a:rPr lang="zh-CN" altLang="en-US"/>
              <a:t>结反偏，肖特基二极管反偏，不起作用，普通晶体管</a:t>
            </a:r>
          </a:p>
          <a:p>
            <a:pPr algn="l" eaLnBrk="1" hangingPunct="1">
              <a:lnSpc>
                <a:spcPct val="125000"/>
              </a:lnSpc>
              <a:spcBef>
                <a:spcPts val="600"/>
              </a:spcBef>
              <a:buFontTx/>
              <a:buChar char="•"/>
            </a:pPr>
            <a:r>
              <a:rPr lang="zh-CN" altLang="en-US"/>
              <a:t>饱和区，</a:t>
            </a:r>
            <a:r>
              <a:rPr lang="en-US" altLang="zh-CN"/>
              <a:t>B-C</a:t>
            </a:r>
            <a:r>
              <a:rPr lang="zh-CN" altLang="en-US"/>
              <a:t>结正偏，肖特基二极管正偏（</a:t>
            </a:r>
            <a:r>
              <a:rPr lang="zh-CN" altLang="en-US">
                <a:solidFill>
                  <a:srgbClr val="0000FF"/>
                </a:solidFill>
              </a:rPr>
              <a:t>开启电压小</a:t>
            </a:r>
            <a:r>
              <a:rPr lang="zh-CN" altLang="en-US"/>
              <a:t>），</a:t>
            </a:r>
            <a:r>
              <a:rPr lang="zh-CN" altLang="en-US">
                <a:solidFill>
                  <a:srgbClr val="CC00CC"/>
                </a:solidFill>
              </a:rPr>
              <a:t>减小存储时间</a:t>
            </a:r>
          </a:p>
        </p:txBody>
      </p:sp>
    </p:spTree>
    <p:extLst>
      <p:ext uri="{BB962C8B-B14F-4D97-AF65-F5344CB8AC3E}">
        <p14:creationId xmlns:p14="http://schemas.microsoft.com/office/powerpoint/2010/main" val="417422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54F43B-334A-4E80-9B6B-9DE28CA65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620713"/>
            <a:ext cx="8229600" cy="7969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小  结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03C42E4-0612-4D69-A2F7-4F2A82FB0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1417638"/>
            <a:ext cx="10287000" cy="466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双极晶体管的基本工作原理，互作用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结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种工作模式，正向有源区的少子分布情况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几个非理想效应：</a:t>
            </a:r>
          </a:p>
          <a:p>
            <a:pPr lvl="1">
              <a:lnSpc>
                <a:spcPct val="125000"/>
              </a:lnSpc>
              <a:spcBef>
                <a:spcPts val="6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基区宽度调制、大注入、发射区禁带变窄、电流集边、击穿机制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三种等效模型，主要适用范围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截止频率、开关特性</a:t>
            </a:r>
          </a:p>
        </p:txBody>
      </p:sp>
    </p:spTree>
    <p:extLst>
      <p:ext uri="{BB962C8B-B14F-4D97-AF65-F5344CB8AC3E}">
        <p14:creationId xmlns:p14="http://schemas.microsoft.com/office/powerpoint/2010/main" val="3995081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A5D0-5218-4211-920F-CD3EEE2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64675A-4F8A-4F9A-B7BE-CC5B8A76D529}"/>
              </a:ext>
            </a:extLst>
          </p:cNvPr>
          <p:cNvSpPr/>
          <p:nvPr/>
        </p:nvSpPr>
        <p:spPr>
          <a:xfrm>
            <a:off x="707441" y="3105834"/>
            <a:ext cx="1077711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备注：本</a:t>
            </a:r>
            <a:r>
              <a:rPr lang="en-US" altLang="zh-CN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ppt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公式输入使用</a:t>
            </a:r>
            <a:r>
              <a:rPr lang="en-US" altLang="zh-CN" sz="36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MathType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，作图来源课本</a:t>
            </a:r>
          </a:p>
        </p:txBody>
      </p:sp>
    </p:spTree>
    <p:extLst>
      <p:ext uri="{BB962C8B-B14F-4D97-AF65-F5344CB8AC3E}">
        <p14:creationId xmlns:p14="http://schemas.microsoft.com/office/powerpoint/2010/main" val="2752215915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3113</TotalTime>
  <Words>2044</Words>
  <Application>Microsoft Office PowerPoint</Application>
  <PresentationFormat>宽屏</PresentationFormat>
  <Paragraphs>250</Paragraphs>
  <Slides>37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等线</vt:lpstr>
      <vt:lpstr>黑体</vt:lpstr>
      <vt:lpstr>华文中宋</vt:lpstr>
      <vt:lpstr>楷体_GB2312</vt:lpstr>
      <vt:lpstr>Times New Roman</vt:lpstr>
      <vt:lpstr>1_默认设计模板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（3）工作模式</vt:lpstr>
      <vt:lpstr>（4）双极晶体管放大电路</vt:lpstr>
      <vt:lpstr>PowerPoint 演示文稿</vt:lpstr>
      <vt:lpstr>（1）正向有源模式：B-E结正偏，B-C结反偏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（2）大注入效应</vt:lpstr>
      <vt:lpstr>PowerPoint 演示文稿</vt:lpstr>
      <vt:lpstr>PowerPoint 演示文稿</vt:lpstr>
      <vt:lpstr>（3）发射区禁带变窄</vt:lpstr>
      <vt:lpstr>（4）电流集边效应</vt:lpstr>
      <vt:lpstr>（6）击穿电压</vt:lpstr>
      <vt:lpstr>PowerPoint 演示文稿</vt:lpstr>
      <vt:lpstr>（2）G-P模型</vt:lpstr>
      <vt:lpstr>频率上限</vt:lpstr>
      <vt:lpstr>大信号开关</vt:lpstr>
      <vt:lpstr>（2）肖特基钳位晶体管</vt:lpstr>
      <vt:lpstr>小  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LF Kristin</cp:lastModifiedBy>
  <cp:revision>287</cp:revision>
  <dcterms:created xsi:type="dcterms:W3CDTF">2020-08-13T13:39:53Z</dcterms:created>
  <dcterms:modified xsi:type="dcterms:W3CDTF">2024-12-29T09:59:14Z</dcterms:modified>
</cp:coreProperties>
</file>