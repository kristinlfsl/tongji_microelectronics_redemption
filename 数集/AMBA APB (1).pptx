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8" d="100"/>
          <a:sy n="118" d="100"/>
        </p:scale>
        <p:origin x="96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50241D-5FF5-46B6-A677-D51E0331C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89DCDCE-CEBA-4F7B-9AA1-A8FD4C277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0F8ACFC-9778-4B3D-9836-4D17D4964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41442B-4E7F-463B-9380-739B74924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E58DB4-346B-4C58-98C4-8582E9B222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78252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753F2-C95D-47AB-84B4-C5FF6103C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A27471-A162-4BD5-8FA3-A772614BB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87E2C4D-3F37-4634-B55B-FE08E5DC3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A756C0-57FD-4674-BCA2-B8AB940AF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446250-E97C-4B97-AB22-967289B7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78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2B8A9B-1750-44B6-886F-ACC833819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59A7DB-9962-494E-AB36-057C19C2A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D01A76-87C8-4B66-A96D-61A91EEB7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912BC6-6FBF-4366-9318-186C3A2C1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17E05B7-A65F-45F6-BE07-D3B2C39D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46507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9F9849-EEB5-4760-BD91-3FC691E26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3A9D8FD-D432-4C2E-AEBE-EB3E0D46DE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F02E505-A7FE-4676-9EBA-8323D3D0B0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351BE12-56BD-4497-8208-0EC9EAAD4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7BA0360-231B-4602-82D2-10D1AF96B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19D1A7B-0431-42D7-A35F-2750205A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35778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E9BF29-B33C-4286-902C-50F456A9B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E58599-AE1F-4233-9E50-7606BF3E16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B31A0D3-F36A-4BB4-9DF5-C85C244E32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7D97030-AE07-4667-BFE3-340D086568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8EDBD3-0A32-4B53-A020-86B1349439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E53DD9A-E202-468E-9ED0-D02396D1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0244EE04-41FE-4E10-A9D8-B0CAFF02A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56EEEAD-B2F7-49AE-979D-6BA854DEF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17321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D6C576B-F899-4522-A4CF-FA12424E5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FBEE98F-4CF1-474C-8BC3-083E58DE8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237C150-B421-47B2-9C07-83D5F42F9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E902565-D470-4D77-B5C7-4A7FF5779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156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5D27D9F-9AEB-47EF-BD91-D34E58177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AF6658-CEF0-4A2D-B280-516B0B78A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C911484-3609-4938-BAA1-F4CD1AB0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2133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388353-599D-4869-9C0E-77DA0F43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D78DDC-9F51-4008-B519-6DDAE6753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DB09F42-03EA-48E9-BF03-1047CEB26B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4337862-3EE2-4A50-A076-F2B2D6692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56EADC-5B24-4656-9093-007D7D3A8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7B2E303-1E16-4B66-9344-06C984126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3744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EC63E9-B2C1-4DDB-B3DA-05CAE9F07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70FC59-D7BA-4D29-A772-90AF0AA76DE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EFE19EE-9BF1-4E5F-B65A-D4442E9637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7A16CA8-FD26-4B9B-A60E-19063E170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46266C9-4A5B-48E5-BCDE-51397E82E5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65703C-F269-495D-A467-F338B9661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72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29BAC0-82AB-410B-849C-B9FF13D46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79BD9C6-63B1-42B8-A875-768BF963AD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CAFFBE-BA53-431D-88AF-1161A8A15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D529F1-DF9B-493E-938F-907D64409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7F2C050-A4CD-4E66-8962-8A3D4C7DF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397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349BE5-4DFB-4464-8DE5-1B020EDE16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F77CA3-BA19-4BCC-8A79-97172441D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72DE01-1368-4729-9463-D070A3BC6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8D827C-2442-4DBC-84D6-0849FC40A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C1A158-E9CB-4534-B1BE-7096E343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322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E5486C6-4FA3-4FFF-B89F-FC1B8F891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F69638-FCF2-4CEF-AE9F-E155D8EE6B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E37292-BE48-489E-B0FA-AE5B870EC6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24C8BE-CBF2-44FF-819E-23F70028C20A}" type="datetimeFigureOut">
              <a:rPr lang="zh-CN" altLang="en-US" smtClean="0"/>
              <a:t>2022/4/14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9420EEA-900D-47A7-A370-60BB8CB333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FBFD338-5B3D-4B32-AFA5-7F5348EED2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C99BB-6681-4F60-95DD-A16982DAF7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8154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7169B7-DE64-43F3-B361-9FA770234BB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SoC</a:t>
            </a:r>
            <a:r>
              <a:rPr lang="zh-CN" altLang="en-US" dirty="0"/>
              <a:t>总线互联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572AB14-1B3F-478C-9EF2-7697EFE94D9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AMBA APB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8030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9515A35-EC44-403D-82C6-2B0261532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AMBA 2.0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总线简介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917BA4-A622-4533-8E28-9DCC94214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AMBA 2.0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总线协议定义了三种总线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高级高性能总线（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AHB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高级系统总线（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ASB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高级外设总线（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APB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） 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41147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81E16F-C8DE-45AB-BD21-67318A6CE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基于</a:t>
            </a:r>
            <a:r>
              <a:rPr lang="en-US" altLang="zh-CN" b="1" dirty="0">
                <a:latin typeface="宋体" panose="02010600030101010101" pitchFamily="2" charset="-122"/>
                <a:ea typeface="宋体" panose="02010600030101010101" pitchFamily="2" charset="-122"/>
              </a:rPr>
              <a:t>AMBA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的微控制器总线架构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D03E45C4-CE2F-495C-AD0C-64952497D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4049" y="1400139"/>
            <a:ext cx="7743826" cy="541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317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2FB8BF-598F-4FF6-A59B-61E2B9E1A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术语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F0BE46A-E340-4619-AFEA-D01D21FADF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6850"/>
            <a:ext cx="10515600" cy="5391149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总线周期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：总线时间的基本单元。对于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AHB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APB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协议定义为从上升沿到上升沿的转移。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ASB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的总线周期定义为从下降沿到下降沿的转移。总线信号时序参考于总线周期时钟；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总线传输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AHB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或者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ASB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总线传输是对数据目标的读写操作，可能会持续一个或者多个总线周期。总线传输在收到从机地址的完成响应后终止。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ASB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总线支持的传输大小包括字节（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8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位）、半字（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16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位）、字（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32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位）。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AHB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又支持较宽的数据传输，包括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64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位和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128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位的数据传输。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APB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总线传输是对数据目标的读写操作，总是需要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个总线周期；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突发操作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：突发操作定义为一个或多个数据传输，由总线主机发起，在地址空间增加时传输宽度保持一致。每次传输增加的（地址）步长由传输大小决定（字节，半字，字），对于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APB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而言不支持突发操作；</a:t>
            </a:r>
          </a:p>
        </p:txBody>
      </p:sp>
    </p:spTree>
    <p:extLst>
      <p:ext uri="{BB962C8B-B14F-4D97-AF65-F5344CB8AC3E}">
        <p14:creationId xmlns:p14="http://schemas.microsoft.com/office/powerpoint/2010/main" val="2504967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E11722-CD84-4B61-9D32-BB191C8D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AMBA AHB</a:t>
            </a:r>
            <a:r>
              <a:rPr lang="zh-CN" altLang="en-US" dirty="0"/>
              <a:t>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7CA5A-B814-49BB-855B-A2F956D2F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dirty="0"/>
              <a:t>AHB</a:t>
            </a:r>
            <a:r>
              <a:rPr lang="zh-CN" altLang="en-US" dirty="0"/>
              <a:t>是为提出高性能可综合设计的要求而产生的新一代</a:t>
            </a:r>
            <a:r>
              <a:rPr lang="en-US" altLang="zh-CN" dirty="0"/>
              <a:t>AMBA</a:t>
            </a:r>
            <a:r>
              <a:rPr lang="zh-CN" altLang="en-US" dirty="0"/>
              <a:t>总线，支持多总线主机和提供高带宽操作。</a:t>
            </a:r>
            <a:r>
              <a:rPr lang="en-US" altLang="zh-CN" dirty="0"/>
              <a:t>(AHB: Advanced High-performance Bus)</a:t>
            </a:r>
          </a:p>
          <a:p>
            <a:pPr marL="0" indent="0">
              <a:buNone/>
            </a:pPr>
            <a:r>
              <a:rPr lang="en-US" altLang="zh-CN" dirty="0"/>
              <a:t>AHB </a:t>
            </a:r>
            <a:r>
              <a:rPr lang="zh-CN" altLang="en-US" dirty="0"/>
              <a:t>实现了高性能、高时钟频率系统的以下特征要求：</a:t>
            </a:r>
            <a:endParaRPr lang="en-US" altLang="zh-CN" dirty="0"/>
          </a:p>
          <a:p>
            <a:r>
              <a:rPr lang="zh-CN" altLang="en-US" dirty="0"/>
              <a:t>突发传输；</a:t>
            </a:r>
            <a:endParaRPr lang="en-US" altLang="zh-CN" dirty="0"/>
          </a:p>
          <a:p>
            <a:r>
              <a:rPr lang="zh-CN" altLang="en-US" dirty="0"/>
              <a:t>分块处理；</a:t>
            </a:r>
            <a:endParaRPr lang="en-US" altLang="zh-CN" dirty="0"/>
          </a:p>
          <a:p>
            <a:r>
              <a:rPr lang="zh-CN" altLang="en-US" dirty="0"/>
              <a:t>单周期总线主机移交；</a:t>
            </a:r>
            <a:endParaRPr lang="en-US" altLang="zh-CN" dirty="0"/>
          </a:p>
          <a:p>
            <a:r>
              <a:rPr lang="zh-CN" altLang="en-US" dirty="0"/>
              <a:t>单时钟沿操作；</a:t>
            </a:r>
            <a:endParaRPr lang="en-US" altLang="zh-CN" dirty="0"/>
          </a:p>
          <a:p>
            <a:r>
              <a:rPr lang="zh-CN" altLang="en-US" dirty="0"/>
              <a:t>非三态执行；</a:t>
            </a:r>
            <a:endParaRPr lang="en-US" altLang="zh-CN" dirty="0"/>
          </a:p>
          <a:p>
            <a:r>
              <a:rPr lang="zh-CN" altLang="en-US" dirty="0"/>
              <a:t>更宽的数据总线架构（ </a:t>
            </a:r>
            <a:r>
              <a:rPr lang="en-US" altLang="zh-CN" dirty="0"/>
              <a:t>64 </a:t>
            </a:r>
            <a:r>
              <a:rPr lang="zh-CN" altLang="en-US" dirty="0"/>
              <a:t>位或者 </a:t>
            </a:r>
            <a:r>
              <a:rPr lang="en-US" altLang="zh-CN" dirty="0"/>
              <a:t>128 </a:t>
            </a:r>
            <a:r>
              <a:rPr lang="zh-CN" altLang="en-US" dirty="0"/>
              <a:t>位）。 </a:t>
            </a:r>
          </a:p>
        </p:txBody>
      </p:sp>
    </p:spTree>
    <p:extLst>
      <p:ext uri="{BB962C8B-B14F-4D97-AF65-F5344CB8AC3E}">
        <p14:creationId xmlns:p14="http://schemas.microsoft.com/office/powerpoint/2010/main" val="2220349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E11722-CD84-4B61-9D32-BB191C8D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AMBA ASB</a:t>
            </a:r>
            <a:r>
              <a:rPr lang="zh-CN" altLang="en-US" dirty="0"/>
              <a:t>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7CA5A-B814-49BB-855B-A2F956D2F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dirty="0"/>
              <a:t>ASB </a:t>
            </a:r>
            <a:r>
              <a:rPr lang="zh-CN" altLang="en-US" dirty="0"/>
              <a:t>是第一代 </a:t>
            </a:r>
            <a:r>
              <a:rPr lang="en-US" altLang="zh-CN" dirty="0"/>
              <a:t>AMBA </a:t>
            </a:r>
            <a:r>
              <a:rPr lang="zh-CN" altLang="en-US" dirty="0"/>
              <a:t>系统总线</a:t>
            </a:r>
            <a:r>
              <a:rPr lang="en-US" altLang="zh-CN" dirty="0"/>
              <a:t>,</a:t>
            </a:r>
            <a:r>
              <a:rPr lang="zh-CN" altLang="en-US" dirty="0"/>
              <a:t> </a:t>
            </a:r>
            <a:r>
              <a:rPr lang="en-US" altLang="zh-CN" dirty="0"/>
              <a:t>ASB </a:t>
            </a:r>
            <a:r>
              <a:rPr lang="zh-CN" altLang="en-US" dirty="0"/>
              <a:t>位于当前的 </a:t>
            </a:r>
            <a:r>
              <a:rPr lang="en-US" altLang="zh-CN" dirty="0"/>
              <a:t>APB </a:t>
            </a:r>
            <a:r>
              <a:rPr lang="zh-CN" altLang="en-US" dirty="0"/>
              <a:t>之上并且实现高性能系统的以下要求： </a:t>
            </a:r>
            <a:endParaRPr lang="en-US" altLang="zh-CN" dirty="0"/>
          </a:p>
          <a:p>
            <a:r>
              <a:rPr lang="zh-CN" altLang="en-US" dirty="0"/>
              <a:t>突发传输 </a:t>
            </a:r>
            <a:endParaRPr lang="en-US" altLang="zh-CN" dirty="0"/>
          </a:p>
          <a:p>
            <a:r>
              <a:rPr lang="zh-CN" altLang="en-US" dirty="0"/>
              <a:t>通道传输操作 </a:t>
            </a:r>
            <a:endParaRPr lang="en-US" altLang="zh-CN" dirty="0"/>
          </a:p>
          <a:p>
            <a:r>
              <a:rPr lang="zh-CN" altLang="en-US" dirty="0"/>
              <a:t>多总线主机 </a:t>
            </a:r>
          </a:p>
        </p:txBody>
      </p:sp>
    </p:spTree>
    <p:extLst>
      <p:ext uri="{BB962C8B-B14F-4D97-AF65-F5344CB8AC3E}">
        <p14:creationId xmlns:p14="http://schemas.microsoft.com/office/powerpoint/2010/main" val="2487150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E11722-CD84-4B61-9D32-BB191C8D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AMBA APB</a:t>
            </a:r>
            <a:r>
              <a:rPr lang="zh-CN" altLang="en-US" dirty="0"/>
              <a:t>介绍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7CA5A-B814-49BB-855B-A2F956D2F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APB </a:t>
            </a:r>
            <a:r>
              <a:rPr lang="zh-CN" altLang="en-US" dirty="0"/>
              <a:t>作为主总线高性能通道的二级总线，封装为 </a:t>
            </a:r>
            <a:r>
              <a:rPr lang="en-US" altLang="zh-CN" dirty="0"/>
              <a:t>AHB </a:t>
            </a:r>
            <a:r>
              <a:rPr lang="zh-CN" altLang="en-US" dirty="0"/>
              <a:t>或者 </a:t>
            </a:r>
            <a:r>
              <a:rPr lang="en-US" altLang="zh-CN" dirty="0"/>
              <a:t>ASB </a:t>
            </a:r>
            <a:r>
              <a:rPr lang="zh-CN" altLang="en-US" dirty="0"/>
              <a:t>的一个外设，提供基本外设宏单元之间的通信接口。</a:t>
            </a:r>
            <a:endParaRPr lang="en-US" altLang="zh-CN" dirty="0"/>
          </a:p>
          <a:p>
            <a:pPr marL="0" indent="0">
              <a:buNone/>
            </a:pPr>
            <a:br>
              <a:rPr lang="zh-CN" altLang="en-US" dirty="0"/>
            </a:br>
            <a:r>
              <a:rPr lang="zh-CN" altLang="en-US" dirty="0"/>
              <a:t>这些典型的外设有以下特征：</a:t>
            </a:r>
            <a:endParaRPr lang="en-US" altLang="zh-CN" dirty="0"/>
          </a:p>
          <a:p>
            <a:r>
              <a:rPr lang="zh-CN" altLang="en-US" dirty="0"/>
              <a:t>有存储器映射的寄存器接口</a:t>
            </a:r>
            <a:endParaRPr lang="en-US" altLang="zh-CN" dirty="0"/>
          </a:p>
          <a:p>
            <a:r>
              <a:rPr lang="zh-CN" altLang="en-US" dirty="0"/>
              <a:t>没有高带宽接口</a:t>
            </a:r>
            <a:endParaRPr lang="en-US" altLang="zh-CN" dirty="0"/>
          </a:p>
          <a:p>
            <a:r>
              <a:rPr lang="zh-CN" altLang="en-US" dirty="0"/>
              <a:t>通过可编程的控制来访问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379327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4E11722-CD84-4B61-9D32-BB191C8D3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系统总线的选择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5B7CA5A-B814-49BB-855B-A2F956D2F4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81125"/>
            <a:ext cx="10515600" cy="53149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完整的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AHB/ASB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用作：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总线主机；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片上存储模块；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片外存储器接口；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带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FIFO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接口的高带宽外设；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DMA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从机外设；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简单的 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APB </a:t>
            </a:r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外设接口建议用作：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简单的寄存器映射从机设备；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时钟不能够全局布通的超低功耗接口；</a:t>
            </a:r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宋体" panose="02010600030101010101" pitchFamily="2" charset="-122"/>
                <a:ea typeface="宋体" panose="02010600030101010101" pitchFamily="2" charset="-122"/>
              </a:rPr>
              <a:t>分组窄总线外设应避免挂接到系统总线上；</a:t>
            </a:r>
          </a:p>
        </p:txBody>
      </p:sp>
    </p:spTree>
    <p:extLst>
      <p:ext uri="{BB962C8B-B14F-4D97-AF65-F5344CB8AC3E}">
        <p14:creationId xmlns:p14="http://schemas.microsoft.com/office/powerpoint/2010/main" val="2320755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852FB4-E34F-466C-BE7F-586AD39A6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8900"/>
            <a:ext cx="10515600" cy="892175"/>
          </a:xfrm>
        </p:spPr>
        <p:txBody>
          <a:bodyPr/>
          <a:lstStyle/>
          <a:p>
            <a:r>
              <a:rPr lang="en-US" altLang="zh-CN" dirty="0"/>
              <a:t>AMBA APB</a:t>
            </a:r>
            <a:r>
              <a:rPr lang="zh-CN" altLang="en-US" dirty="0"/>
              <a:t>信号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58B146C6-E170-4CBF-8238-DE25569E9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801362"/>
            <a:ext cx="8982075" cy="6056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3959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7131B-FD30-41E3-A0A0-45B24CA9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规范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4E962F-F1C9-494E-9797-83DB33834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APB </a:t>
            </a:r>
            <a:r>
              <a:rPr lang="zh-CN" altLang="en-US" dirty="0"/>
              <a:t>规范主要包括以下内容：</a:t>
            </a:r>
            <a:endParaRPr lang="en-US" altLang="zh-CN" dirty="0"/>
          </a:p>
          <a:p>
            <a:r>
              <a:rPr lang="zh-CN" altLang="en-US" dirty="0"/>
              <a:t>状态图</a:t>
            </a:r>
            <a:endParaRPr lang="en-US" altLang="zh-CN" dirty="0"/>
          </a:p>
          <a:p>
            <a:r>
              <a:rPr lang="zh-CN" altLang="en-US" dirty="0"/>
              <a:t>写传输</a:t>
            </a:r>
            <a:endParaRPr lang="en-US" altLang="zh-CN" dirty="0"/>
          </a:p>
          <a:p>
            <a:r>
              <a:rPr lang="zh-CN" altLang="en-US" dirty="0"/>
              <a:t>读传输 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581085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D7131B-FD30-41E3-A0A0-45B24CA9B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规范之状态图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5540A4B-6BAF-4D0E-8C81-10BEB321B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612" y="1340024"/>
            <a:ext cx="3424238" cy="542272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AB2A1516-F98B-4CE6-BFFD-79015FC6689E}"/>
              </a:ext>
            </a:extLst>
          </p:cNvPr>
          <p:cNvSpPr txBox="1"/>
          <p:nvPr/>
        </p:nvSpPr>
        <p:spPr>
          <a:xfrm>
            <a:off x="4438650" y="1562098"/>
            <a:ext cx="721995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IDLE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状态：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外设总线的默认状态；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SETUP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状态：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当有传输要求时总线转移到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SETUP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状态，对应的选择信号</a:t>
            </a:r>
            <a:r>
              <a:rPr lang="en-US" altLang="zh-CN" sz="2800" dirty="0" err="1">
                <a:latin typeface="宋体" panose="02010600030101010101" pitchFamily="2" charset="-122"/>
                <a:ea typeface="宋体" panose="02010600030101010101" pitchFamily="2" charset="-122"/>
              </a:rPr>
              <a:t>PSELx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为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，总线仅在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SETUP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状态保持一个时钟周期并将总是在下一个时钟的上升沿移动到 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ENABLE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状态；</a:t>
            </a:r>
            <a:endParaRPr lang="en-US" altLang="zh-CN" sz="2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ENABLE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状态：</a:t>
            </a:r>
            <a:endParaRPr lang="en-US" altLang="zh-CN" sz="2800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使能信号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PENABLE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ENABLE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状态中为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，地址、写和选择信号都在从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SETUP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ENABLE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状态的转变过程中保持稳定；</a:t>
            </a:r>
          </a:p>
        </p:txBody>
      </p:sp>
    </p:spTree>
    <p:extLst>
      <p:ext uri="{BB962C8B-B14F-4D97-AF65-F5344CB8AC3E}">
        <p14:creationId xmlns:p14="http://schemas.microsoft.com/office/powerpoint/2010/main" val="984863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ACF04-B0EF-4C2B-8E68-ACC341E05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规范之写传输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BCF2DD9-8841-4259-87FD-A7B91E8FC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2483690"/>
            <a:ext cx="5943600" cy="388230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6FA7E815-A669-4CB4-845C-F67896903F06}"/>
              </a:ext>
            </a:extLst>
          </p:cNvPr>
          <p:cNvSpPr/>
          <p:nvPr/>
        </p:nvSpPr>
        <p:spPr>
          <a:xfrm>
            <a:off x="285749" y="1479049"/>
            <a:ext cx="10887075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写传输开始于地址、写数据、写信号和选择信号在时钟上升沿之后的全部改变。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25DA93-2375-4BBF-9F08-9AF0BD5EB375}"/>
              </a:ext>
            </a:extLst>
          </p:cNvPr>
          <p:cNvSpPr/>
          <p:nvPr/>
        </p:nvSpPr>
        <p:spPr>
          <a:xfrm>
            <a:off x="104773" y="2433156"/>
            <a:ext cx="612457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使能信号 PENABLE在传输结束时失效，选择信号也将变成低电平，除非当前传输之后紧跟着另一个到该外设的传输。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为了降低功率消耗，地址信号和写信号将在传输之后不再改变，直到下一个传输发生为止。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协议仅要求在使能信号上有一个规则的转变（跳变），在背靠背传输情况下选择和写信号可能有小跳变。</a:t>
            </a:r>
          </a:p>
        </p:txBody>
      </p:sp>
    </p:spTree>
    <p:extLst>
      <p:ext uri="{BB962C8B-B14F-4D97-AF65-F5344CB8AC3E}">
        <p14:creationId xmlns:p14="http://schemas.microsoft.com/office/powerpoint/2010/main" val="38911146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ACF04-B0EF-4C2B-8E68-ACC341E05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54108"/>
          </a:xfrm>
        </p:spPr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规范之读传输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25DA93-2375-4BBF-9F08-9AF0BD5EB375}"/>
              </a:ext>
            </a:extLst>
          </p:cNvPr>
          <p:cNvSpPr/>
          <p:nvPr/>
        </p:nvSpPr>
        <p:spPr>
          <a:xfrm>
            <a:off x="400048" y="1319234"/>
            <a:ext cx="1095375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地址、写、选择和选通信号的时序都和写传输一样。在读传输的情况下，从机必须在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EANBLE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周期提供数据。数据在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ENABLE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周期末尾的时钟上升沿被采样。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FF606D3-68DC-4196-8BD1-6CF33C7C71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726" y="2419581"/>
            <a:ext cx="6550174" cy="4330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6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07EDA1-A4AA-496B-8F5E-CB1916DF5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26" y="19117"/>
            <a:ext cx="10515600" cy="815974"/>
          </a:xfrm>
        </p:spPr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桥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B08A367-F224-4A46-A5F2-DD4DDF2EEC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076" y="2303463"/>
            <a:ext cx="6726298" cy="394645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F1309C49-11EF-471C-AFB8-C345095D1FD4}"/>
              </a:ext>
            </a:extLst>
          </p:cNvPr>
          <p:cNvSpPr/>
          <p:nvPr/>
        </p:nvSpPr>
        <p:spPr>
          <a:xfrm>
            <a:off x="76199" y="2014534"/>
            <a:ext cx="545782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桥接单元将系统总线传输转换成APB传输并实现下列功能：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锁存地址并使之在整个传输期间有效；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译码地址和产生一个外设选择信号PSELx，在一个传输期间只有一个选择信号有效；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对于写传输驱动数据到APB上；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对于读传输驱动 APB 数据到系统总线上；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为传输产生一个时序选通信号PENABLE；</a:t>
            </a:r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id="{E1D36E45-BA24-41F4-8BE5-923540BFF69E}"/>
              </a:ext>
            </a:extLst>
          </p:cNvPr>
          <p:cNvSpPr txBox="1">
            <a:spLocks/>
          </p:cNvSpPr>
          <p:nvPr/>
        </p:nvSpPr>
        <p:spPr>
          <a:xfrm>
            <a:off x="76200" y="833435"/>
            <a:ext cx="11725274" cy="7191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APB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桥是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AMBA APB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中的唯一总线主机，</a:t>
            </a:r>
            <a:r>
              <a:rPr lang="en-US" altLang="zh-CN" sz="2800" dirty="0">
                <a:latin typeface="宋体" panose="02010600030101010101" pitchFamily="2" charset="-122"/>
                <a:ea typeface="宋体" panose="02010600030101010101" pitchFamily="2" charset="-122"/>
              </a:rPr>
              <a:t>APB </a:t>
            </a:r>
            <a:r>
              <a:rPr lang="zh-CN" altLang="en-US" sz="2800" dirty="0">
                <a:latin typeface="宋体" panose="02010600030101010101" pitchFamily="2" charset="-122"/>
                <a:ea typeface="宋体" panose="02010600030101010101" pitchFamily="2" charset="-122"/>
              </a:rPr>
              <a:t>桥也是高级系统总线中的一个从机</a:t>
            </a:r>
          </a:p>
        </p:txBody>
      </p:sp>
    </p:spTree>
    <p:extLst>
      <p:ext uri="{BB962C8B-B14F-4D97-AF65-F5344CB8AC3E}">
        <p14:creationId xmlns:p14="http://schemas.microsoft.com/office/powerpoint/2010/main" val="7693896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BEFE3-CF8F-40A3-8BC6-F517E6CD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907" y="133350"/>
            <a:ext cx="10515600" cy="923925"/>
          </a:xfrm>
        </p:spPr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桥时序图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4517EF3-82C6-40E7-8362-ED17D0306A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3924" y="123825"/>
            <a:ext cx="7125183" cy="671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528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B2B0C77B-CA47-4B0F-9F2B-A662F35D1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1" y="2314569"/>
            <a:ext cx="8200319" cy="4524314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E07EDA1-A4AA-496B-8F5E-CB1916DF5E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7026" y="19117"/>
            <a:ext cx="10515600" cy="815974"/>
          </a:xfrm>
        </p:spPr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 </a:t>
            </a:r>
            <a:r>
              <a:rPr lang="en-US" altLang="zh-CN" dirty="0"/>
              <a:t>Slave</a:t>
            </a:r>
            <a:endParaRPr lang="zh-CN" alt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1309C49-11EF-471C-AFB8-C345095D1FD4}"/>
              </a:ext>
            </a:extLst>
          </p:cNvPr>
          <p:cNvSpPr/>
          <p:nvPr/>
        </p:nvSpPr>
        <p:spPr>
          <a:xfrm>
            <a:off x="5381626" y="709609"/>
            <a:ext cx="626745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）对写传输可以在下列要点时被锁存：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当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PSEL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为高时，在任意一个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PCLK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的上升沿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当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PSLE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为高时在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PENABLE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的上升沿</a:t>
            </a:r>
            <a:r>
              <a:rPr lang="zh-CN" altLang="en-US" sz="3200" dirty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</a:p>
          <a:p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选择信号 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PSELx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，地址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PADDR 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和写信号 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PWRITE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可以组合来决定哪个寄存器由写操作来更新。</a:t>
            </a:r>
            <a:endParaRPr lang="en-US" altLang="zh-CN" sz="2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b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</a:b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2400" dirty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）对读传输数据可以在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PWRITE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为低电平且 </a:t>
            </a:r>
            <a:r>
              <a:rPr lang="en-US" altLang="zh-CN" sz="2400" b="1" dirty="0" err="1">
                <a:latin typeface="宋体" panose="02010600030101010101" pitchFamily="2" charset="-122"/>
                <a:ea typeface="宋体" panose="02010600030101010101" pitchFamily="2" charset="-122"/>
              </a:rPr>
              <a:t>PSELx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和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PENABLE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都为高电平时被驱动到数据总线上，此时</a:t>
            </a:r>
            <a:r>
              <a:rPr lang="en-US" altLang="zh-CN" sz="2400" b="1" dirty="0">
                <a:latin typeface="宋体" panose="02010600030101010101" pitchFamily="2" charset="-122"/>
                <a:ea typeface="宋体" panose="02010600030101010101" pitchFamily="2" charset="-122"/>
              </a:rPr>
              <a:t>PADDR</a:t>
            </a:r>
            <a:r>
              <a:rPr lang="zh-CN" altLang="en-US" sz="2400" dirty="0">
                <a:latin typeface="宋体" panose="02010600030101010101" pitchFamily="2" charset="-122"/>
                <a:ea typeface="宋体" panose="02010600030101010101" pitchFamily="2" charset="-122"/>
              </a:rPr>
              <a:t>被用来决定哪个寄存器应该被读取。</a:t>
            </a:r>
            <a:endParaRPr lang="zh-CN" altLang="en-US" sz="3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711020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2BEFE3-CF8F-40A3-8BC6-F517E6CDA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5029" y="157626"/>
            <a:ext cx="10515600" cy="923925"/>
          </a:xfrm>
        </p:spPr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 </a:t>
            </a:r>
            <a:r>
              <a:rPr lang="en-US" altLang="zh-CN" dirty="0"/>
              <a:t>Slave</a:t>
            </a:r>
            <a:r>
              <a:rPr lang="zh-CN" altLang="en-US" dirty="0"/>
              <a:t>时序图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15EF1DA-A5B4-4C1D-8236-512AEA4E5C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0814" y="292306"/>
            <a:ext cx="6772275" cy="6408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172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F9D1AE-913C-4D3A-9826-D1AC31B19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到</a:t>
            </a:r>
            <a:r>
              <a:rPr lang="en-US" altLang="zh-CN" dirty="0"/>
              <a:t>AHB</a:t>
            </a:r>
            <a:r>
              <a:rPr lang="zh-CN" altLang="en-US" dirty="0"/>
              <a:t>的接口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EDA5A33-4A95-41F9-A739-6066C3B14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AMBA APB </a:t>
            </a:r>
            <a:r>
              <a:rPr lang="zh-CN" altLang="en-US" dirty="0"/>
              <a:t>到 </a:t>
            </a:r>
            <a:r>
              <a:rPr lang="en-US" altLang="zh-CN" dirty="0"/>
              <a:t>AHB </a:t>
            </a:r>
            <a:r>
              <a:rPr lang="zh-CN" altLang="en-US" dirty="0"/>
              <a:t>的接口描述如下： </a:t>
            </a:r>
            <a:endParaRPr lang="en-US" altLang="zh-CN" dirty="0"/>
          </a:p>
          <a:p>
            <a:r>
              <a:rPr lang="zh-CN" altLang="en-US" dirty="0"/>
              <a:t>读传输</a:t>
            </a:r>
            <a:endParaRPr lang="en-US" altLang="zh-CN" dirty="0"/>
          </a:p>
          <a:p>
            <a:r>
              <a:rPr lang="zh-CN" altLang="en-US" dirty="0"/>
              <a:t>写传输</a:t>
            </a:r>
            <a:endParaRPr lang="en-US" altLang="zh-CN" dirty="0"/>
          </a:p>
          <a:p>
            <a:r>
              <a:rPr lang="zh-CN" altLang="en-US" dirty="0"/>
              <a:t>背靠背传输</a:t>
            </a:r>
            <a:br>
              <a:rPr lang="zh-CN" altLang="en-US" dirty="0"/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87140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2A9C6-5722-479A-B8F2-05054134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75"/>
            <a:ext cx="10267950" cy="854075"/>
          </a:xfrm>
        </p:spPr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到</a:t>
            </a:r>
            <a:r>
              <a:rPr lang="en-US" altLang="zh-CN" dirty="0"/>
              <a:t>AHB</a:t>
            </a:r>
            <a:r>
              <a:rPr lang="zh-CN" altLang="en-US" dirty="0"/>
              <a:t>的接口：读传输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AA5D53-8B28-47A3-9D5A-AFD119A39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6" y="933450"/>
            <a:ext cx="5981699" cy="5243513"/>
          </a:xfrm>
        </p:spPr>
        <p:txBody>
          <a:bodyPr>
            <a:normAutofit/>
          </a:bodyPr>
          <a:lstStyle/>
          <a:p>
            <a:r>
              <a:rPr lang="zh-CN" altLang="en-US" dirty="0"/>
              <a:t>传输在</a:t>
            </a:r>
            <a:r>
              <a:rPr lang="en-US" altLang="zh-CN" dirty="0"/>
              <a:t>AHB</a:t>
            </a:r>
            <a:r>
              <a:rPr lang="zh-CN" altLang="en-US" dirty="0"/>
              <a:t>上的时刻</a:t>
            </a:r>
            <a:r>
              <a:rPr lang="en-US" altLang="zh-CN" dirty="0"/>
              <a:t>T1</a:t>
            </a:r>
            <a:r>
              <a:rPr lang="zh-CN" altLang="en-US" dirty="0"/>
              <a:t>发起并且地址在</a:t>
            </a:r>
            <a:r>
              <a:rPr lang="en-US" altLang="zh-CN" dirty="0"/>
              <a:t>T2</a:t>
            </a:r>
            <a:r>
              <a:rPr lang="zh-CN" altLang="en-US" dirty="0"/>
              <a:t>被</a:t>
            </a:r>
            <a:r>
              <a:rPr lang="en-US" altLang="zh-CN" dirty="0"/>
              <a:t>APB</a:t>
            </a:r>
            <a:r>
              <a:rPr lang="zh-CN" altLang="en-US" dirty="0"/>
              <a:t>桥采样，该地址被广播并且产生合适的外设选择信号；</a:t>
            </a:r>
            <a:endParaRPr lang="en-US" altLang="zh-CN" dirty="0"/>
          </a:p>
          <a:p>
            <a:r>
              <a:rPr lang="zh-CN" altLang="en-US" dirty="0"/>
              <a:t>在</a:t>
            </a:r>
            <a:r>
              <a:rPr lang="en-US" altLang="zh-CN" dirty="0"/>
              <a:t>ENABLE</a:t>
            </a:r>
            <a:r>
              <a:rPr lang="zh-CN" altLang="en-US" dirty="0"/>
              <a:t>周期期间外设提供读数据。读数据可能直接发回到</a:t>
            </a:r>
            <a:r>
              <a:rPr lang="en-US" altLang="zh-CN" dirty="0"/>
              <a:t>AHB</a:t>
            </a:r>
            <a:r>
              <a:rPr lang="zh-CN" altLang="en-US" dirty="0"/>
              <a:t>，在时钟频率很高的系统中可能需要桥在</a:t>
            </a:r>
            <a:r>
              <a:rPr lang="en-US" altLang="zh-CN" dirty="0"/>
              <a:t>ENABLE</a:t>
            </a:r>
            <a:r>
              <a:rPr lang="zh-CN" altLang="en-US" dirty="0"/>
              <a:t>周期结束时寄存读数据然后桥在接下来的周期将该数据驱动回</a:t>
            </a:r>
            <a:r>
              <a:rPr lang="en-US" altLang="zh-CN" dirty="0"/>
              <a:t>AHB</a:t>
            </a:r>
            <a:r>
              <a:rPr lang="zh-CN" altLang="en-US" dirty="0"/>
              <a:t>总线主机；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5F0B96-07ED-4AFB-AD06-946A43B00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50" y="855811"/>
            <a:ext cx="5343525" cy="59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4447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D2007-40D5-49E7-821E-40611CB0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到</a:t>
            </a:r>
            <a:r>
              <a:rPr lang="en-US" altLang="zh-CN" dirty="0"/>
              <a:t>AHB</a:t>
            </a:r>
            <a:r>
              <a:rPr lang="zh-CN" altLang="en-US" dirty="0"/>
              <a:t>的接口：突发读传输（</a:t>
            </a:r>
            <a:r>
              <a:rPr lang="en-US" altLang="zh-CN" dirty="0"/>
              <a:t>Burst</a:t>
            </a:r>
            <a:r>
              <a:rPr lang="zh-CN" altLang="en-US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8B0928F-411E-467F-9651-7EB89DEC08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499" y="1806575"/>
            <a:ext cx="8105775" cy="421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5466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B72A9C6-5722-479A-B8F2-050541345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9375"/>
            <a:ext cx="10267950" cy="854075"/>
          </a:xfrm>
        </p:spPr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到</a:t>
            </a:r>
            <a:r>
              <a:rPr lang="en-US" altLang="zh-CN" dirty="0"/>
              <a:t>AHB</a:t>
            </a:r>
            <a:r>
              <a:rPr lang="zh-CN" altLang="en-US" dirty="0"/>
              <a:t>的接口：写传输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AA5D53-8B28-47A3-9D5A-AFD119A391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0976" y="933450"/>
            <a:ext cx="5981699" cy="5243513"/>
          </a:xfrm>
        </p:spPr>
        <p:txBody>
          <a:bodyPr>
            <a:normAutofit/>
          </a:bodyPr>
          <a:lstStyle/>
          <a:p>
            <a:r>
              <a:rPr lang="zh-CN" altLang="en-US" dirty="0"/>
              <a:t>单个到 </a:t>
            </a:r>
            <a:r>
              <a:rPr lang="en-US" altLang="zh-CN" dirty="0"/>
              <a:t>AHB </a:t>
            </a:r>
            <a:r>
              <a:rPr lang="zh-CN" altLang="en-US" dirty="0"/>
              <a:t>的写传输可以零等待状态发生。</a:t>
            </a:r>
            <a:r>
              <a:rPr lang="en-US" altLang="zh-CN" dirty="0"/>
              <a:t>APB </a:t>
            </a:r>
            <a:r>
              <a:rPr lang="zh-CN" altLang="en-US" dirty="0"/>
              <a:t>桥负责采样传输的地址和数据并在</a:t>
            </a:r>
            <a:r>
              <a:rPr lang="en-US" altLang="zh-CN" dirty="0"/>
              <a:t>APB </a:t>
            </a:r>
            <a:r>
              <a:rPr lang="zh-CN" altLang="en-US" dirty="0"/>
              <a:t>的写传输期间保持这些数据值。 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对于</a:t>
            </a:r>
            <a:r>
              <a:rPr lang="en-US" altLang="zh-CN" dirty="0"/>
              <a:t>Burst</a:t>
            </a:r>
            <a:r>
              <a:rPr lang="zh-CN" altLang="en-US" dirty="0"/>
              <a:t>传输，第一个传输可以零等待状态完成，之后到外设总线的传输将为每个传输的执行要求一个等待状态。 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05F0B96-07ED-4AFB-AD06-946A43B004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9850" y="855811"/>
            <a:ext cx="5343525" cy="5958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757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D2007-40D5-49E7-821E-40611CB07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APB</a:t>
            </a:r>
            <a:r>
              <a:rPr lang="zh-CN" altLang="en-US" dirty="0"/>
              <a:t>到</a:t>
            </a:r>
            <a:r>
              <a:rPr lang="en-US" altLang="zh-CN" dirty="0"/>
              <a:t>AHB</a:t>
            </a:r>
            <a:r>
              <a:rPr lang="zh-CN" altLang="en-US" dirty="0"/>
              <a:t>的接口：突发写传输（</a:t>
            </a:r>
            <a:r>
              <a:rPr lang="en-US" altLang="zh-CN" dirty="0"/>
              <a:t>Burst</a:t>
            </a:r>
            <a:r>
              <a:rPr lang="zh-CN" altLang="en-US" dirty="0"/>
              <a:t>）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8BC7ACB-089B-47B6-86F9-BFBFA4E211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765" y="1800224"/>
            <a:ext cx="9860296" cy="4600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2718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CD2007-40D5-49E7-821E-40611CB07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925" y="365125"/>
            <a:ext cx="10810875" cy="1325563"/>
          </a:xfrm>
        </p:spPr>
        <p:txBody>
          <a:bodyPr>
            <a:normAutofit/>
          </a:bodyPr>
          <a:lstStyle/>
          <a:p>
            <a:r>
              <a:rPr lang="en-US" altLang="zh-CN" sz="4000" dirty="0"/>
              <a:t>APB</a:t>
            </a:r>
            <a:r>
              <a:rPr lang="zh-CN" altLang="en-US" sz="4000" dirty="0"/>
              <a:t>到</a:t>
            </a:r>
            <a:r>
              <a:rPr lang="en-US" altLang="zh-CN" sz="4000" dirty="0"/>
              <a:t>AHB</a:t>
            </a:r>
            <a:r>
              <a:rPr lang="zh-CN" altLang="en-US" sz="4000" dirty="0"/>
              <a:t>的接口：背靠背传输（</a:t>
            </a:r>
            <a:r>
              <a:rPr lang="en-US" altLang="zh-CN" sz="4000" dirty="0"/>
              <a:t>Back to Back</a:t>
            </a:r>
            <a:r>
              <a:rPr lang="zh-CN" altLang="en-US" sz="4000" dirty="0"/>
              <a:t>）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9DDBA3-4D77-4BF5-BB92-97A550B7F0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69" y="1457326"/>
            <a:ext cx="10490306" cy="5326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48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</TotalTime>
  <Words>1198</Words>
  <Application>Microsoft Office PowerPoint</Application>
  <PresentationFormat>宽屏</PresentationFormat>
  <Paragraphs>93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28" baseType="lpstr">
      <vt:lpstr>等线</vt:lpstr>
      <vt:lpstr>等线 Light</vt:lpstr>
      <vt:lpstr>宋体</vt:lpstr>
      <vt:lpstr>Arial</vt:lpstr>
      <vt:lpstr>Office 主题​​</vt:lpstr>
      <vt:lpstr>SoC总线互联</vt:lpstr>
      <vt:lpstr>AMBA 2.0 总线简介</vt:lpstr>
      <vt:lpstr>基于AMBA 的微控制器总线架构</vt:lpstr>
      <vt:lpstr>术语</vt:lpstr>
      <vt:lpstr>AMBA AHB介绍</vt:lpstr>
      <vt:lpstr>AMBA ASB介绍</vt:lpstr>
      <vt:lpstr>AMBA APB介绍</vt:lpstr>
      <vt:lpstr>系统总线的选择</vt:lpstr>
      <vt:lpstr>AMBA APB信号</vt:lpstr>
      <vt:lpstr>APB规范</vt:lpstr>
      <vt:lpstr>APB规范之状态图</vt:lpstr>
      <vt:lpstr>APB规范之写传输</vt:lpstr>
      <vt:lpstr>APB规范之读传输</vt:lpstr>
      <vt:lpstr>APB桥</vt:lpstr>
      <vt:lpstr>APB桥时序图</vt:lpstr>
      <vt:lpstr>APB Slave</vt:lpstr>
      <vt:lpstr>APB Slave时序图</vt:lpstr>
      <vt:lpstr>APB到AHB的接口</vt:lpstr>
      <vt:lpstr>APB到AHB的接口：读传输</vt:lpstr>
      <vt:lpstr>APB到AHB的接口：突发读传输（Burst）</vt:lpstr>
      <vt:lpstr>APB到AHB的接口：写传输</vt:lpstr>
      <vt:lpstr>APB到AHB的接口：突发写传输（Burst）</vt:lpstr>
      <vt:lpstr>APB到AHB的接口：背靠背传输（Back to Back）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SoC总线互联</dc:title>
  <dc:creator>z</dc:creator>
  <cp:lastModifiedBy>z</cp:lastModifiedBy>
  <cp:revision>25</cp:revision>
  <dcterms:created xsi:type="dcterms:W3CDTF">2022-03-30T13:53:44Z</dcterms:created>
  <dcterms:modified xsi:type="dcterms:W3CDTF">2022-04-14T03:26:37Z</dcterms:modified>
</cp:coreProperties>
</file>