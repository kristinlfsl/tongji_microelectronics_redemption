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56" r:id="rId2"/>
    <p:sldId id="257" r:id="rId3"/>
    <p:sldId id="258" r:id="rId4"/>
    <p:sldId id="259" r:id="rId5"/>
    <p:sldId id="261" r:id="rId6"/>
    <p:sldId id="260" r:id="rId7"/>
    <p:sldId id="269" r:id="rId8"/>
    <p:sldId id="270" r:id="rId9"/>
    <p:sldId id="271" r:id="rId10"/>
    <p:sldId id="272" r:id="rId11"/>
    <p:sldId id="276" r:id="rId12"/>
    <p:sldId id="288" r:id="rId13"/>
    <p:sldId id="294" r:id="rId14"/>
    <p:sldId id="295" r:id="rId15"/>
    <p:sldId id="262" r:id="rId16"/>
    <p:sldId id="268" r:id="rId17"/>
    <p:sldId id="267" r:id="rId18"/>
    <p:sldId id="278" r:id="rId19"/>
    <p:sldId id="290" r:id="rId20"/>
    <p:sldId id="291" r:id="rId21"/>
    <p:sldId id="296" r:id="rId22"/>
    <p:sldId id="304" r:id="rId23"/>
    <p:sldId id="306" r:id="rId24"/>
    <p:sldId id="308" r:id="rId25"/>
    <p:sldId id="265" r:id="rId26"/>
    <p:sldId id="309" r:id="rId27"/>
    <p:sldId id="310" r:id="rId28"/>
    <p:sldId id="279" r:id="rId29"/>
    <p:sldId id="280" r:id="rId30"/>
    <p:sldId id="282" r:id="rId31"/>
    <p:sldId id="283" r:id="rId32"/>
    <p:sldId id="284" r:id="rId33"/>
    <p:sldId id="311" r:id="rId34"/>
    <p:sldId id="312" r:id="rId35"/>
    <p:sldId id="293" r:id="rId36"/>
    <p:sldId id="313" r:id="rId37"/>
    <p:sldId id="299" r:id="rId38"/>
    <p:sldId id="314" r:id="rId39"/>
    <p:sldId id="315" r:id="rId40"/>
    <p:sldId id="266" r:id="rId41"/>
    <p:sldId id="316" r:id="rId42"/>
    <p:sldId id="317" r:id="rId43"/>
    <p:sldId id="321" r:id="rId44"/>
    <p:sldId id="322" r:id="rId45"/>
    <p:sldId id="275" r:id="rId46"/>
    <p:sldId id="318" r:id="rId47"/>
    <p:sldId id="320" r:id="rId48"/>
    <p:sldId id="319" r:id="rId49"/>
    <p:sldId id="286" r:id="rId50"/>
    <p:sldId id="292" r:id="rId51"/>
    <p:sldId id="323" r:id="rId52"/>
    <p:sldId id="297" r:id="rId53"/>
    <p:sldId id="324" r:id="rId54"/>
    <p:sldId id="325" r:id="rId55"/>
    <p:sldId id="326" r:id="rId56"/>
    <p:sldId id="327" r:id="rId57"/>
    <p:sldId id="328" r:id="rId5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 initials="z" lastIdx="0" clrIdx="0">
    <p:extLst>
      <p:ext uri="{19B8F6BF-5375-455C-9EA6-DF929625EA0E}">
        <p15:presenceInfo xmlns:p15="http://schemas.microsoft.com/office/powerpoint/2012/main" userId="z"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69" autoAdjust="0"/>
    <p:restoredTop sz="93315" autoAdjust="0"/>
  </p:normalViewPr>
  <p:slideViewPr>
    <p:cSldViewPr snapToGrid="0">
      <p:cViewPr varScale="1">
        <p:scale>
          <a:sx n="135" d="100"/>
          <a:sy n="135" d="100"/>
        </p:scale>
        <p:origin x="21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F5A106-B7BF-4247-8D4E-F60A53334C5A}" type="datetimeFigureOut">
              <a:rPr lang="zh-CN" altLang="en-US" smtClean="0"/>
              <a:t>2022/4/7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6C2BFD-EB2C-43CE-9C79-0E9B7B0287DB}" type="slidenum">
              <a:rPr lang="zh-CN" altLang="en-US" smtClean="0"/>
              <a:t>‹#›</a:t>
            </a:fld>
            <a:endParaRPr lang="zh-CN" altLang="en-US"/>
          </a:p>
        </p:txBody>
      </p:sp>
    </p:spTree>
    <p:extLst>
      <p:ext uri="{BB962C8B-B14F-4D97-AF65-F5344CB8AC3E}">
        <p14:creationId xmlns:p14="http://schemas.microsoft.com/office/powerpoint/2010/main" val="723553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9E6C2BFD-EB2C-43CE-9C79-0E9B7B0287DB}" type="slidenum">
              <a:rPr lang="zh-CN" altLang="en-US" smtClean="0"/>
              <a:t>1</a:t>
            </a:fld>
            <a:endParaRPr lang="zh-CN" altLang="en-US"/>
          </a:p>
        </p:txBody>
      </p:sp>
    </p:spTree>
    <p:extLst>
      <p:ext uri="{BB962C8B-B14F-4D97-AF65-F5344CB8AC3E}">
        <p14:creationId xmlns:p14="http://schemas.microsoft.com/office/powerpoint/2010/main" val="10758154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F6145A6-E7A2-4073-8C28-F01C2E4291D5}"/>
              </a:ext>
            </a:extLst>
          </p:cNvPr>
          <p:cNvSpPr>
            <a:spLocks noGrp="1" noChangeArrowheads="1"/>
          </p:cNvSpPr>
          <p:nvPr>
            <p:ph type="sldNum" sz="quarter" idx="5"/>
          </p:nvPr>
        </p:nvSpPr>
        <p:spPr>
          <a:ln/>
        </p:spPr>
        <p:txBody>
          <a:bodyPr/>
          <a:lstStyle/>
          <a:p>
            <a:fld id="{B4BEAA4D-F478-41F8-BBF1-D2FB2FEAAF15}" type="slidenum">
              <a:rPr lang="en-US" altLang="zh-CN"/>
              <a:pPr/>
              <a:t>7</a:t>
            </a:fld>
            <a:endParaRPr lang="en-US" altLang="zh-CN"/>
          </a:p>
        </p:txBody>
      </p:sp>
      <p:sp>
        <p:nvSpPr>
          <p:cNvPr id="21506" name="Rectangle 2">
            <a:extLst>
              <a:ext uri="{FF2B5EF4-FFF2-40B4-BE49-F238E27FC236}">
                <a16:creationId xmlns:a16="http://schemas.microsoft.com/office/drawing/2014/main" id="{8D385F77-E0FF-4C0F-9848-1EB1E1F7BD62}"/>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1507" name="Rectangle 3">
            <a:extLst>
              <a:ext uri="{FF2B5EF4-FFF2-40B4-BE49-F238E27FC236}">
                <a16:creationId xmlns:a16="http://schemas.microsoft.com/office/drawing/2014/main" id="{CCA059D2-ADD6-4576-9DFB-15550D6325E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A7C3DEF-76B8-4DD7-B524-0531FC3AFBA1}"/>
              </a:ext>
            </a:extLst>
          </p:cNvPr>
          <p:cNvSpPr>
            <a:spLocks noGrp="1" noChangeArrowheads="1"/>
          </p:cNvSpPr>
          <p:nvPr>
            <p:ph type="sldNum" sz="quarter" idx="5"/>
          </p:nvPr>
        </p:nvSpPr>
        <p:spPr>
          <a:ln/>
        </p:spPr>
        <p:txBody>
          <a:bodyPr/>
          <a:lstStyle/>
          <a:p>
            <a:fld id="{83290968-40F9-4CFB-BD01-6E71BEAF2B69}" type="slidenum">
              <a:rPr lang="en-US" altLang="zh-CN"/>
              <a:pPr/>
              <a:t>8</a:t>
            </a:fld>
            <a:endParaRPr lang="en-US" altLang="zh-CN"/>
          </a:p>
        </p:txBody>
      </p:sp>
      <p:sp>
        <p:nvSpPr>
          <p:cNvPr id="23554" name="Rectangle 2">
            <a:extLst>
              <a:ext uri="{FF2B5EF4-FFF2-40B4-BE49-F238E27FC236}">
                <a16:creationId xmlns:a16="http://schemas.microsoft.com/office/drawing/2014/main" id="{6CB95B30-6660-4290-8E47-0806B045D80F}"/>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3555" name="Rectangle 3">
            <a:extLst>
              <a:ext uri="{FF2B5EF4-FFF2-40B4-BE49-F238E27FC236}">
                <a16:creationId xmlns:a16="http://schemas.microsoft.com/office/drawing/2014/main" id="{02FEF311-E5EC-4F4E-B5C8-33868F6804C9}"/>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zh-CN" altLang="en-US"/>
              <a:t>全局变量、静态任务和静态函数也可以在</a:t>
            </a:r>
            <a:r>
              <a:rPr lang="en-US" altLang="zh-CN"/>
              <a:t>package</a:t>
            </a:r>
            <a:r>
              <a:rPr lang="zh-CN" altLang="en-US"/>
              <a:t>中定义，但不可综合！！！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F312E67-109B-4E31-A6CB-444E54E439FA}"/>
              </a:ext>
            </a:extLst>
          </p:cNvPr>
          <p:cNvSpPr>
            <a:spLocks noGrp="1" noChangeArrowheads="1"/>
          </p:cNvSpPr>
          <p:nvPr>
            <p:ph type="sldNum" sz="quarter" idx="5"/>
          </p:nvPr>
        </p:nvSpPr>
        <p:spPr>
          <a:ln/>
        </p:spPr>
        <p:txBody>
          <a:bodyPr/>
          <a:lstStyle/>
          <a:p>
            <a:fld id="{EC9533FA-B0CE-4F11-8488-16362A1D1CAB}" type="slidenum">
              <a:rPr lang="en-US" altLang="zh-CN"/>
              <a:pPr/>
              <a:t>9</a:t>
            </a:fld>
            <a:endParaRPr lang="en-US" altLang="zh-CN"/>
          </a:p>
        </p:txBody>
      </p:sp>
      <p:sp>
        <p:nvSpPr>
          <p:cNvPr id="27650" name="Rectangle 2">
            <a:extLst>
              <a:ext uri="{FF2B5EF4-FFF2-40B4-BE49-F238E27FC236}">
                <a16:creationId xmlns:a16="http://schemas.microsoft.com/office/drawing/2014/main" id="{AAED58AA-86D2-4EE5-A534-82DE44FC06FE}"/>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7651" name="Rectangle 3">
            <a:extLst>
              <a:ext uri="{FF2B5EF4-FFF2-40B4-BE49-F238E27FC236}">
                <a16:creationId xmlns:a16="http://schemas.microsoft.com/office/drawing/2014/main" id="{C7BEBE50-556D-4ACE-973E-B129C36DD2D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F312E67-109B-4E31-A6CB-444E54E439FA}"/>
              </a:ext>
            </a:extLst>
          </p:cNvPr>
          <p:cNvSpPr>
            <a:spLocks noGrp="1" noChangeArrowheads="1"/>
          </p:cNvSpPr>
          <p:nvPr>
            <p:ph type="sldNum" sz="quarter" idx="5"/>
          </p:nvPr>
        </p:nvSpPr>
        <p:spPr>
          <a:ln/>
        </p:spPr>
        <p:txBody>
          <a:bodyPr/>
          <a:lstStyle/>
          <a:p>
            <a:fld id="{EC9533FA-B0CE-4F11-8488-16362A1D1CAB}" type="slidenum">
              <a:rPr lang="en-US" altLang="zh-CN"/>
              <a:pPr/>
              <a:t>10</a:t>
            </a:fld>
            <a:endParaRPr lang="en-US" altLang="zh-CN"/>
          </a:p>
        </p:txBody>
      </p:sp>
      <p:sp>
        <p:nvSpPr>
          <p:cNvPr id="27650" name="Rectangle 2">
            <a:extLst>
              <a:ext uri="{FF2B5EF4-FFF2-40B4-BE49-F238E27FC236}">
                <a16:creationId xmlns:a16="http://schemas.microsoft.com/office/drawing/2014/main" id="{AAED58AA-86D2-4EE5-A534-82DE44FC06FE}"/>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7651" name="Rectangle 3">
            <a:extLst>
              <a:ext uri="{FF2B5EF4-FFF2-40B4-BE49-F238E27FC236}">
                <a16:creationId xmlns:a16="http://schemas.microsoft.com/office/drawing/2014/main" id="{C7BEBE50-556D-4ACE-973E-B129C36DD2D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extLst>
      <p:ext uri="{BB962C8B-B14F-4D97-AF65-F5344CB8AC3E}">
        <p14:creationId xmlns:p14="http://schemas.microsoft.com/office/powerpoint/2010/main" val="365134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63E122-070F-4E22-B518-1D53352A4591}"/>
              </a:ext>
            </a:extLst>
          </p:cNvPr>
          <p:cNvSpPr>
            <a:spLocks noGrp="1" noChangeArrowheads="1"/>
          </p:cNvSpPr>
          <p:nvPr>
            <p:ph type="sldNum" sz="quarter" idx="5"/>
          </p:nvPr>
        </p:nvSpPr>
        <p:spPr>
          <a:ln/>
        </p:spPr>
        <p:txBody>
          <a:bodyPr/>
          <a:lstStyle/>
          <a:p>
            <a:fld id="{10461DB8-0725-4EFA-A599-9683EDFD156D}" type="slidenum">
              <a:rPr lang="en-US" altLang="zh-CN"/>
              <a:pPr/>
              <a:t>11</a:t>
            </a:fld>
            <a:endParaRPr lang="en-US" altLang="zh-CN"/>
          </a:p>
        </p:txBody>
      </p:sp>
      <p:sp>
        <p:nvSpPr>
          <p:cNvPr id="37890" name="Rectangle 2">
            <a:extLst>
              <a:ext uri="{FF2B5EF4-FFF2-40B4-BE49-F238E27FC236}">
                <a16:creationId xmlns:a16="http://schemas.microsoft.com/office/drawing/2014/main" id="{CA767B35-504D-4412-8C56-1865371D09D8}"/>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7891" name="Rectangle 3">
            <a:extLst>
              <a:ext uri="{FF2B5EF4-FFF2-40B4-BE49-F238E27FC236}">
                <a16:creationId xmlns:a16="http://schemas.microsoft.com/office/drawing/2014/main" id="{5BA3C761-CAF3-4D02-A50B-99259BBEAA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8B67650-45E7-4B56-9DE8-F77C6364078E}"/>
              </a:ext>
            </a:extLst>
          </p:cNvPr>
          <p:cNvSpPr>
            <a:spLocks noGrp="1" noChangeArrowheads="1"/>
          </p:cNvSpPr>
          <p:nvPr>
            <p:ph type="sldNum" sz="quarter" idx="5"/>
          </p:nvPr>
        </p:nvSpPr>
        <p:spPr>
          <a:ln/>
        </p:spPr>
        <p:txBody>
          <a:bodyPr/>
          <a:lstStyle/>
          <a:p>
            <a:fld id="{E519F9CE-B268-4F46-A19D-BB05AC664ECB}" type="slidenum">
              <a:rPr lang="en-US" altLang="zh-CN"/>
              <a:pPr/>
              <a:t>12</a:t>
            </a:fld>
            <a:endParaRPr lang="en-US" altLang="zh-CN"/>
          </a:p>
        </p:txBody>
      </p:sp>
      <p:sp>
        <p:nvSpPr>
          <p:cNvPr id="62466" name="Rectangle 2">
            <a:extLst>
              <a:ext uri="{FF2B5EF4-FFF2-40B4-BE49-F238E27FC236}">
                <a16:creationId xmlns:a16="http://schemas.microsoft.com/office/drawing/2014/main" id="{26E285F2-406A-4CB9-9515-FBEECA49F098}"/>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2467" name="Rectangle 3">
            <a:extLst>
              <a:ext uri="{FF2B5EF4-FFF2-40B4-BE49-F238E27FC236}">
                <a16:creationId xmlns:a16="http://schemas.microsoft.com/office/drawing/2014/main" id="{2EBE6CBE-0B9F-4FA3-B950-5CB9F1E563D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zh-CN" altLang="en-US"/>
              <a:t>自动任务和函数每次调用时才分配存储区，因为对每个模块来说，引用的自动任务或函数的存储区是独立，保证了综合前后行为相同。</a:t>
            </a:r>
          </a:p>
          <a:p>
            <a:r>
              <a:rPr lang="zh-CN" altLang="en-US"/>
              <a:t>编译单元域中定义的</a:t>
            </a:r>
            <a:r>
              <a:rPr lang="en-US" altLang="zh-CN"/>
              <a:t>parameter</a:t>
            </a:r>
            <a:r>
              <a:rPr lang="zh-CN" altLang="en-US"/>
              <a:t>常量不能重新定义，综合将把编译单元域中声明的常量看成文本值</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22F6757-3B49-4F36-BA6D-2F766759BADD}"/>
              </a:ext>
            </a:extLst>
          </p:cNvPr>
          <p:cNvSpPr>
            <a:spLocks noGrp="1" noChangeArrowheads="1"/>
          </p:cNvSpPr>
          <p:nvPr>
            <p:ph type="sldNum" sz="quarter" idx="5"/>
          </p:nvPr>
        </p:nvSpPr>
        <p:spPr>
          <a:ln/>
        </p:spPr>
        <p:txBody>
          <a:bodyPr/>
          <a:lstStyle/>
          <a:p>
            <a:fld id="{E0C48857-3BAC-44C0-8636-5FE295A38CAC}" type="slidenum">
              <a:rPr lang="en-US" altLang="zh-CN"/>
              <a:pPr/>
              <a:t>13</a:t>
            </a:fld>
            <a:endParaRPr lang="en-US" altLang="zh-CN"/>
          </a:p>
        </p:txBody>
      </p:sp>
      <p:sp>
        <p:nvSpPr>
          <p:cNvPr id="74754" name="Rectangle 2">
            <a:extLst>
              <a:ext uri="{FF2B5EF4-FFF2-40B4-BE49-F238E27FC236}">
                <a16:creationId xmlns:a16="http://schemas.microsoft.com/office/drawing/2014/main" id="{FE6A8946-ECC8-4058-A0F1-5D87CC0B080C}"/>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4755" name="Rectangle 3">
            <a:extLst>
              <a:ext uri="{FF2B5EF4-FFF2-40B4-BE49-F238E27FC236}">
                <a16:creationId xmlns:a16="http://schemas.microsoft.com/office/drawing/2014/main" id="{0AB0E8C2-C2D3-4855-B94B-62AA8FFAB4F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en-US" altLang="zh-CN"/>
              <a:t>timeunit and timeprecision</a:t>
            </a:r>
            <a:r>
              <a:rPr lang="zh-CN" altLang="en-US"/>
              <a:t>除可以用</a:t>
            </a:r>
            <a:r>
              <a:rPr lang="en-US" altLang="zh-CN"/>
              <a:t>Verilog</a:t>
            </a:r>
            <a:r>
              <a:rPr lang="zh-CN" altLang="en-US"/>
              <a:t>中的时间单位外，还可以用一个特殊的单位：</a:t>
            </a:r>
            <a:r>
              <a:rPr lang="en-US" altLang="zh-CN"/>
              <a:t>step</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C46A989-9B33-45B1-9530-A0F77A065F36}"/>
              </a:ext>
            </a:extLst>
          </p:cNvPr>
          <p:cNvSpPr>
            <a:spLocks noGrp="1" noChangeArrowheads="1"/>
          </p:cNvSpPr>
          <p:nvPr>
            <p:ph type="sldNum" sz="quarter" idx="5"/>
          </p:nvPr>
        </p:nvSpPr>
        <p:spPr>
          <a:ln/>
        </p:spPr>
        <p:txBody>
          <a:bodyPr/>
          <a:lstStyle/>
          <a:p>
            <a:fld id="{87F8BD17-37AE-4D33-8049-3CDDF7E51178}" type="slidenum">
              <a:rPr lang="en-US" altLang="zh-CN"/>
              <a:pPr/>
              <a:t>14</a:t>
            </a:fld>
            <a:endParaRPr lang="en-US" altLang="zh-CN"/>
          </a:p>
        </p:txBody>
      </p:sp>
      <p:sp>
        <p:nvSpPr>
          <p:cNvPr id="76802" name="Rectangle 2">
            <a:extLst>
              <a:ext uri="{FF2B5EF4-FFF2-40B4-BE49-F238E27FC236}">
                <a16:creationId xmlns:a16="http://schemas.microsoft.com/office/drawing/2014/main" id="{5F9C05F3-9AA0-4D06-B7E8-61BD513BA84F}"/>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6803" name="Rectangle 3">
            <a:extLst>
              <a:ext uri="{FF2B5EF4-FFF2-40B4-BE49-F238E27FC236}">
                <a16:creationId xmlns:a16="http://schemas.microsoft.com/office/drawing/2014/main" id="{689DC050-4CC9-4305-A7B7-09C7DAAB396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0E506A2-85B3-47E0-89FA-7A8395D8D8E3}"/>
              </a:ext>
            </a:extLst>
          </p:cNvPr>
          <p:cNvSpPr>
            <a:spLocks noGrp="1" noChangeArrowheads="1"/>
          </p:cNvSpPr>
          <p:nvPr>
            <p:ph type="sldNum" sz="quarter" idx="5"/>
          </p:nvPr>
        </p:nvSpPr>
        <p:spPr>
          <a:ln/>
        </p:spPr>
        <p:txBody>
          <a:bodyPr/>
          <a:lstStyle/>
          <a:p>
            <a:fld id="{8A44ACFB-6EBD-493C-B383-714241AC2E52}" type="slidenum">
              <a:rPr lang="en-US" altLang="zh-CN"/>
              <a:pPr/>
              <a:t>17</a:t>
            </a:fld>
            <a:endParaRPr lang="en-US" altLang="zh-CN"/>
          </a:p>
        </p:txBody>
      </p:sp>
      <p:sp>
        <p:nvSpPr>
          <p:cNvPr id="24578" name="Rectangle 2">
            <a:extLst>
              <a:ext uri="{FF2B5EF4-FFF2-40B4-BE49-F238E27FC236}">
                <a16:creationId xmlns:a16="http://schemas.microsoft.com/office/drawing/2014/main" id="{18E76256-4CC0-4F12-BB1B-BACACD4DC0DA}"/>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4579" name="Rectangle 3">
            <a:extLst>
              <a:ext uri="{FF2B5EF4-FFF2-40B4-BE49-F238E27FC236}">
                <a16:creationId xmlns:a16="http://schemas.microsoft.com/office/drawing/2014/main" id="{D0F19038-A20E-42FF-BD2C-DA1F13D7046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C141DF-6BD6-49C2-9DA4-2D304A967D8B}"/>
              </a:ext>
            </a:extLst>
          </p:cNvPr>
          <p:cNvSpPr>
            <a:spLocks noGrp="1" noChangeArrowheads="1"/>
          </p:cNvSpPr>
          <p:nvPr>
            <p:ph type="sldNum" sz="quarter" idx="5"/>
          </p:nvPr>
        </p:nvSpPr>
        <p:spPr>
          <a:ln/>
        </p:spPr>
        <p:txBody>
          <a:bodyPr/>
          <a:lstStyle/>
          <a:p>
            <a:fld id="{8E171BD6-0003-48DB-8431-A92A7F97A311}" type="slidenum">
              <a:rPr lang="en-US" altLang="zh-CN"/>
              <a:pPr/>
              <a:t>18</a:t>
            </a:fld>
            <a:endParaRPr lang="en-US" altLang="zh-CN"/>
          </a:p>
        </p:txBody>
      </p:sp>
      <p:sp>
        <p:nvSpPr>
          <p:cNvPr id="47106" name="Rectangle 2">
            <a:extLst>
              <a:ext uri="{FF2B5EF4-FFF2-40B4-BE49-F238E27FC236}">
                <a16:creationId xmlns:a16="http://schemas.microsoft.com/office/drawing/2014/main" id="{0656392C-52EB-444D-9640-4360CBC781D2}"/>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7107" name="Rectangle 3">
            <a:extLst>
              <a:ext uri="{FF2B5EF4-FFF2-40B4-BE49-F238E27FC236}">
                <a16:creationId xmlns:a16="http://schemas.microsoft.com/office/drawing/2014/main" id="{BA7545B3-EE5E-424C-9073-61F9AE415A5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r>
              <a:rPr lang="zh-CN" altLang="en-US"/>
              <a:t>显式声明为自动变量的例子，函数执行完后再次运行时，</a:t>
            </a:r>
            <a:r>
              <a:rPr lang="en-US" altLang="zh-CN"/>
              <a:t>count</a:t>
            </a:r>
            <a:r>
              <a:rPr lang="zh-CN" altLang="en-US"/>
              <a:t>，</a:t>
            </a:r>
            <a:r>
              <a:rPr lang="en-US" altLang="zh-CN"/>
              <a:t>temp</a:t>
            </a:r>
            <a:r>
              <a:rPr lang="zh-CN" altLang="en-US"/>
              <a:t>值重新初始化</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99C46F7-3B9D-4070-B442-79682C915512}"/>
              </a:ext>
            </a:extLst>
          </p:cNvPr>
          <p:cNvSpPr>
            <a:spLocks noGrp="1" noChangeArrowheads="1"/>
          </p:cNvSpPr>
          <p:nvPr>
            <p:ph type="sldNum" sz="quarter" idx="5"/>
          </p:nvPr>
        </p:nvSpPr>
        <p:spPr>
          <a:ln/>
        </p:spPr>
        <p:txBody>
          <a:bodyPr/>
          <a:lstStyle/>
          <a:p>
            <a:fld id="{DC482695-CB95-4985-BC35-26CF119D8EF2}" type="slidenum">
              <a:rPr lang="en-US" altLang="zh-CN"/>
              <a:pPr/>
              <a:t>19</a:t>
            </a:fld>
            <a:endParaRPr lang="en-US" altLang="zh-CN"/>
          </a:p>
        </p:txBody>
      </p:sp>
      <p:sp>
        <p:nvSpPr>
          <p:cNvPr id="71682" name="Rectangle 2">
            <a:extLst>
              <a:ext uri="{FF2B5EF4-FFF2-40B4-BE49-F238E27FC236}">
                <a16:creationId xmlns:a16="http://schemas.microsoft.com/office/drawing/2014/main" id="{0ADB85BD-6CC5-4CCE-8F73-4C2152E4FD9C}"/>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1683" name="Rectangle 3">
            <a:extLst>
              <a:ext uri="{FF2B5EF4-FFF2-40B4-BE49-F238E27FC236}">
                <a16:creationId xmlns:a16="http://schemas.microsoft.com/office/drawing/2014/main" id="{A093B6FE-3C59-4722-9A1B-315ECDD027F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7C0FD72-B1A1-4ABC-BE18-283C929EDDE6}"/>
              </a:ext>
            </a:extLst>
          </p:cNvPr>
          <p:cNvSpPr>
            <a:spLocks noGrp="1" noChangeArrowheads="1"/>
          </p:cNvSpPr>
          <p:nvPr>
            <p:ph type="sldNum" sz="quarter" idx="5"/>
          </p:nvPr>
        </p:nvSpPr>
        <p:spPr>
          <a:ln/>
        </p:spPr>
        <p:txBody>
          <a:bodyPr/>
          <a:lstStyle/>
          <a:p>
            <a:fld id="{FE61A6C7-A7FE-4239-BE1C-73D33D553A97}" type="slidenum">
              <a:rPr lang="en-US" altLang="zh-CN"/>
              <a:pPr/>
              <a:t>20</a:t>
            </a:fld>
            <a:endParaRPr lang="en-US" altLang="zh-CN"/>
          </a:p>
        </p:txBody>
      </p:sp>
      <p:sp>
        <p:nvSpPr>
          <p:cNvPr id="73730" name="Rectangle 2">
            <a:extLst>
              <a:ext uri="{FF2B5EF4-FFF2-40B4-BE49-F238E27FC236}">
                <a16:creationId xmlns:a16="http://schemas.microsoft.com/office/drawing/2014/main" id="{12C39247-9467-438F-878C-F48A8B24ED44}"/>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3731" name="Rectangle 3">
            <a:extLst>
              <a:ext uri="{FF2B5EF4-FFF2-40B4-BE49-F238E27FC236}">
                <a16:creationId xmlns:a16="http://schemas.microsoft.com/office/drawing/2014/main" id="{6D7A1366-517A-47C9-9B95-43BE4A6AB7E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71E40C-454B-4AEA-B119-262139061BFA}"/>
              </a:ext>
            </a:extLst>
          </p:cNvPr>
          <p:cNvSpPr>
            <a:spLocks noGrp="1" noChangeArrowheads="1"/>
          </p:cNvSpPr>
          <p:nvPr>
            <p:ph type="sldNum" sz="quarter" idx="5"/>
          </p:nvPr>
        </p:nvSpPr>
        <p:spPr>
          <a:ln/>
        </p:spPr>
        <p:txBody>
          <a:bodyPr/>
          <a:lstStyle/>
          <a:p>
            <a:fld id="{2A1964CF-6AC4-4BE4-9FAA-EBD2222D8417}" type="slidenum">
              <a:rPr lang="en-US" altLang="zh-CN"/>
              <a:pPr/>
              <a:t>21</a:t>
            </a:fld>
            <a:endParaRPr lang="en-US" altLang="zh-CN"/>
          </a:p>
        </p:txBody>
      </p:sp>
      <p:sp>
        <p:nvSpPr>
          <p:cNvPr id="79874" name="Rectangle 2">
            <a:extLst>
              <a:ext uri="{FF2B5EF4-FFF2-40B4-BE49-F238E27FC236}">
                <a16:creationId xmlns:a16="http://schemas.microsoft.com/office/drawing/2014/main" id="{8B3C11CD-15B7-45D4-B3F9-D018A6A00DD0}"/>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9875" name="Rectangle 3">
            <a:extLst>
              <a:ext uri="{FF2B5EF4-FFF2-40B4-BE49-F238E27FC236}">
                <a16:creationId xmlns:a16="http://schemas.microsoft.com/office/drawing/2014/main" id="{E282BE5A-765E-434F-986E-6E0565F9A0A8}"/>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1C627BD-D21C-4715-B56B-D2A194A212D8}"/>
              </a:ext>
            </a:extLst>
          </p:cNvPr>
          <p:cNvSpPr>
            <a:spLocks noGrp="1" noChangeArrowheads="1"/>
          </p:cNvSpPr>
          <p:nvPr>
            <p:ph type="sldNum" sz="quarter" idx="5"/>
          </p:nvPr>
        </p:nvSpPr>
        <p:spPr>
          <a:ln/>
        </p:spPr>
        <p:txBody>
          <a:bodyPr/>
          <a:lstStyle/>
          <a:p>
            <a:fld id="{8598A564-ED7F-4895-9EFC-0A58D7B86EBD}" type="slidenum">
              <a:rPr lang="en-US" altLang="zh-CN"/>
              <a:pPr/>
              <a:t>22</a:t>
            </a:fld>
            <a:endParaRPr lang="en-US" altLang="zh-CN"/>
          </a:p>
        </p:txBody>
      </p:sp>
      <p:sp>
        <p:nvSpPr>
          <p:cNvPr id="100354" name="Rectangle 2">
            <a:extLst>
              <a:ext uri="{FF2B5EF4-FFF2-40B4-BE49-F238E27FC236}">
                <a16:creationId xmlns:a16="http://schemas.microsoft.com/office/drawing/2014/main" id="{E9E42938-ABDC-4A41-B657-E569F8FD3575}"/>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100355" name="Rectangle 3">
            <a:extLst>
              <a:ext uri="{FF2B5EF4-FFF2-40B4-BE49-F238E27FC236}">
                <a16:creationId xmlns:a16="http://schemas.microsoft.com/office/drawing/2014/main" id="{7FAEB051-E577-4F5C-8D1F-097EC3CB6EC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24F3435-6352-4B2F-8061-52E903224F1F}"/>
              </a:ext>
            </a:extLst>
          </p:cNvPr>
          <p:cNvSpPr>
            <a:spLocks noGrp="1" noChangeArrowheads="1"/>
          </p:cNvSpPr>
          <p:nvPr>
            <p:ph type="sldNum" sz="quarter" idx="5"/>
          </p:nvPr>
        </p:nvSpPr>
        <p:spPr>
          <a:ln/>
        </p:spPr>
        <p:txBody>
          <a:bodyPr/>
          <a:lstStyle/>
          <a:p>
            <a:fld id="{3E34CEF2-F12E-4CE4-93BC-DAE05CE01AF1}" type="slidenum">
              <a:rPr lang="en-US" altLang="zh-CN"/>
              <a:pPr/>
              <a:t>23</a:t>
            </a:fld>
            <a:endParaRPr lang="en-US" altLang="zh-CN"/>
          </a:p>
        </p:txBody>
      </p:sp>
      <p:sp>
        <p:nvSpPr>
          <p:cNvPr id="7170" name="Rectangle 2">
            <a:extLst>
              <a:ext uri="{FF2B5EF4-FFF2-40B4-BE49-F238E27FC236}">
                <a16:creationId xmlns:a16="http://schemas.microsoft.com/office/drawing/2014/main" id="{F9951BFD-4758-46AD-B9F9-37888DC96531}"/>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171" name="Rectangle 3">
            <a:extLst>
              <a:ext uri="{FF2B5EF4-FFF2-40B4-BE49-F238E27FC236}">
                <a16:creationId xmlns:a16="http://schemas.microsoft.com/office/drawing/2014/main" id="{AC8562D1-25E1-4650-A203-4B5F9C61B4D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buFontTx/>
              <a:buAutoNum type="arabicPeriod"/>
            </a:pPr>
            <a:r>
              <a:rPr lang="zh-CN" altLang="en-US"/>
              <a:t>结构体与数组成员不同：结构体是不同类型和尺寸的变量、常量的集合，数组是同类型同尺寸的元素集合</a:t>
            </a:r>
          </a:p>
          <a:p>
            <a:pPr marL="228600" indent="-228600">
              <a:buFontTx/>
              <a:buAutoNum type="arabicPeriod"/>
            </a:pPr>
            <a:r>
              <a:rPr lang="zh-CN" altLang="en-US"/>
              <a:t>引用方式不同：结构体通过成员名称引用，数组通过索引引用</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AE7D0A0-358C-4DEE-BF0B-1DA3A49863A9}"/>
              </a:ext>
            </a:extLst>
          </p:cNvPr>
          <p:cNvSpPr>
            <a:spLocks noGrp="1" noChangeArrowheads="1"/>
          </p:cNvSpPr>
          <p:nvPr>
            <p:ph type="sldNum" sz="quarter" idx="5"/>
          </p:nvPr>
        </p:nvSpPr>
        <p:spPr>
          <a:ln/>
        </p:spPr>
        <p:txBody>
          <a:bodyPr/>
          <a:lstStyle/>
          <a:p>
            <a:fld id="{7214E9BB-0C76-4085-A3A7-FB76F093B1C2}" type="slidenum">
              <a:rPr lang="en-US" altLang="zh-CN"/>
              <a:pPr/>
              <a:t>24</a:t>
            </a:fld>
            <a:endParaRPr lang="en-US" altLang="zh-CN"/>
          </a:p>
        </p:txBody>
      </p:sp>
      <p:sp>
        <p:nvSpPr>
          <p:cNvPr id="15362" name="Rectangle 2">
            <a:extLst>
              <a:ext uri="{FF2B5EF4-FFF2-40B4-BE49-F238E27FC236}">
                <a16:creationId xmlns:a16="http://schemas.microsoft.com/office/drawing/2014/main" id="{6B5921F2-BE1B-4D1B-A369-887D5D6DCEC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15363" name="Rectangle 3">
            <a:extLst>
              <a:ext uri="{FF2B5EF4-FFF2-40B4-BE49-F238E27FC236}">
                <a16:creationId xmlns:a16="http://schemas.microsoft.com/office/drawing/2014/main" id="{A908DEC0-34B0-4D26-8576-96DD97E5CA5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zh-CN" altLang="en-US"/>
              <a:t>三种方法</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07AEEB-FBCF-4DAB-953B-7075A806A489}"/>
              </a:ext>
            </a:extLst>
          </p:cNvPr>
          <p:cNvSpPr>
            <a:spLocks noGrp="1" noChangeArrowheads="1"/>
          </p:cNvSpPr>
          <p:nvPr>
            <p:ph type="sldNum" sz="quarter" idx="5"/>
          </p:nvPr>
        </p:nvSpPr>
        <p:spPr>
          <a:ln/>
        </p:spPr>
        <p:txBody>
          <a:bodyPr/>
          <a:lstStyle/>
          <a:p>
            <a:fld id="{3D415B42-63DB-403B-9768-616543EAD443}" type="slidenum">
              <a:rPr lang="en-US" altLang="zh-CN"/>
              <a:pPr/>
              <a:t>25</a:t>
            </a:fld>
            <a:endParaRPr lang="en-US" altLang="zh-CN"/>
          </a:p>
        </p:txBody>
      </p:sp>
      <p:sp>
        <p:nvSpPr>
          <p:cNvPr id="21506" name="Rectangle 2">
            <a:extLst>
              <a:ext uri="{FF2B5EF4-FFF2-40B4-BE49-F238E27FC236}">
                <a16:creationId xmlns:a16="http://schemas.microsoft.com/office/drawing/2014/main" id="{E5A1C32D-CAF2-4FA9-82F3-9B79F7506AB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1507" name="Rectangle 3">
            <a:extLst>
              <a:ext uri="{FF2B5EF4-FFF2-40B4-BE49-F238E27FC236}">
                <a16:creationId xmlns:a16="http://schemas.microsoft.com/office/drawing/2014/main" id="{68F3254F-AA91-4737-9826-2102E7C2F3CB}"/>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F2CC1D2-10D3-4372-B5E1-3FDC9D39462A}"/>
              </a:ext>
            </a:extLst>
          </p:cNvPr>
          <p:cNvSpPr>
            <a:spLocks noGrp="1" noChangeArrowheads="1"/>
          </p:cNvSpPr>
          <p:nvPr>
            <p:ph type="sldNum" sz="quarter" idx="5"/>
          </p:nvPr>
        </p:nvSpPr>
        <p:spPr>
          <a:ln/>
        </p:spPr>
        <p:txBody>
          <a:bodyPr/>
          <a:lstStyle/>
          <a:p>
            <a:fld id="{0B7BA5A3-A47F-4A5E-A54C-E2134685A09F}" type="slidenum">
              <a:rPr lang="en-US" altLang="zh-CN"/>
              <a:pPr/>
              <a:t>26</a:t>
            </a:fld>
            <a:endParaRPr lang="en-US" altLang="zh-CN"/>
          </a:p>
        </p:txBody>
      </p:sp>
      <p:sp>
        <p:nvSpPr>
          <p:cNvPr id="29698" name="Rectangle 2">
            <a:extLst>
              <a:ext uri="{FF2B5EF4-FFF2-40B4-BE49-F238E27FC236}">
                <a16:creationId xmlns:a16="http://schemas.microsoft.com/office/drawing/2014/main" id="{8B2C3F46-D69C-47D6-B2AB-CCCC76B92B08}"/>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9699" name="Rectangle 3">
            <a:extLst>
              <a:ext uri="{FF2B5EF4-FFF2-40B4-BE49-F238E27FC236}">
                <a16:creationId xmlns:a16="http://schemas.microsoft.com/office/drawing/2014/main" id="{93101647-8E13-4B88-B07C-6DD04365225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en-US" altLang="zh-CN"/>
              <a:t>data.u = -5;  -5</a:t>
            </a:r>
            <a:r>
              <a:rPr lang="zh-CN" altLang="en-US"/>
              <a:t>按</a:t>
            </a:r>
            <a:r>
              <a:rPr lang="en-US" altLang="zh-CN"/>
              <a:t>2</a:t>
            </a:r>
            <a:r>
              <a:rPr lang="zh-CN" altLang="en-US"/>
              <a:t>的补存储，显示时，把它按正数显示</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8C10265-6D4F-41D1-8FB8-A03DCCEEDE49}"/>
              </a:ext>
            </a:extLst>
          </p:cNvPr>
          <p:cNvSpPr>
            <a:spLocks noGrp="1" noChangeArrowheads="1"/>
          </p:cNvSpPr>
          <p:nvPr>
            <p:ph type="sldNum" sz="quarter" idx="5"/>
          </p:nvPr>
        </p:nvSpPr>
        <p:spPr>
          <a:ln/>
        </p:spPr>
        <p:txBody>
          <a:bodyPr/>
          <a:lstStyle/>
          <a:p>
            <a:fld id="{F8B4BDA2-8A53-4130-9E11-62759C99AF81}" type="slidenum">
              <a:rPr lang="en-US" altLang="zh-CN"/>
              <a:pPr/>
              <a:t>27</a:t>
            </a:fld>
            <a:endParaRPr lang="en-US" altLang="zh-CN"/>
          </a:p>
        </p:txBody>
      </p:sp>
      <p:sp>
        <p:nvSpPr>
          <p:cNvPr id="35842" name="Rectangle 2">
            <a:extLst>
              <a:ext uri="{FF2B5EF4-FFF2-40B4-BE49-F238E27FC236}">
                <a16:creationId xmlns:a16="http://schemas.microsoft.com/office/drawing/2014/main" id="{03877E91-34F9-4F72-93E7-DF676B22F243}"/>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5843" name="Rectangle 3">
            <a:extLst>
              <a:ext uri="{FF2B5EF4-FFF2-40B4-BE49-F238E27FC236}">
                <a16:creationId xmlns:a16="http://schemas.microsoft.com/office/drawing/2014/main" id="{D1AF6754-6E36-42CF-B3D5-0953AC992BF4}"/>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E0D817-1FDE-4B4C-B12E-FF8AAF905AEB}"/>
              </a:ext>
            </a:extLst>
          </p:cNvPr>
          <p:cNvSpPr>
            <a:spLocks noGrp="1" noChangeArrowheads="1"/>
          </p:cNvSpPr>
          <p:nvPr>
            <p:ph type="sldNum" sz="quarter" idx="5"/>
          </p:nvPr>
        </p:nvSpPr>
        <p:spPr>
          <a:ln/>
        </p:spPr>
        <p:txBody>
          <a:bodyPr/>
          <a:lstStyle/>
          <a:p>
            <a:fld id="{14661B11-1B8D-437E-A72C-F891DC6A03C4}" type="slidenum">
              <a:rPr lang="en-US" altLang="zh-CN"/>
              <a:pPr/>
              <a:t>28</a:t>
            </a:fld>
            <a:endParaRPr lang="en-US" altLang="zh-CN"/>
          </a:p>
        </p:txBody>
      </p:sp>
      <p:sp>
        <p:nvSpPr>
          <p:cNvPr id="50178" name="Rectangle 2">
            <a:extLst>
              <a:ext uri="{FF2B5EF4-FFF2-40B4-BE49-F238E27FC236}">
                <a16:creationId xmlns:a16="http://schemas.microsoft.com/office/drawing/2014/main" id="{8525C032-DCFC-4962-9897-9B76C1C220C1}"/>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0179" name="Rectangle 3">
            <a:extLst>
              <a:ext uri="{FF2B5EF4-FFF2-40B4-BE49-F238E27FC236}">
                <a16:creationId xmlns:a16="http://schemas.microsoft.com/office/drawing/2014/main" id="{934BC0E2-F575-47F0-8765-B606E9F642C4}"/>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606DEF5-F02E-4929-B67F-4C4BC48D5AA4}"/>
              </a:ext>
            </a:extLst>
          </p:cNvPr>
          <p:cNvSpPr>
            <a:spLocks noGrp="1" noChangeArrowheads="1"/>
          </p:cNvSpPr>
          <p:nvPr>
            <p:ph type="sldNum" sz="quarter" idx="5"/>
          </p:nvPr>
        </p:nvSpPr>
        <p:spPr>
          <a:ln/>
        </p:spPr>
        <p:txBody>
          <a:bodyPr/>
          <a:lstStyle/>
          <a:p>
            <a:fld id="{84E2EE78-D5D1-40C6-9133-E478AE508D0B}" type="slidenum">
              <a:rPr lang="en-US" altLang="zh-CN"/>
              <a:pPr/>
              <a:t>29</a:t>
            </a:fld>
            <a:endParaRPr lang="en-US" altLang="zh-CN"/>
          </a:p>
        </p:txBody>
      </p:sp>
      <p:sp>
        <p:nvSpPr>
          <p:cNvPr id="52226" name="Rectangle 2">
            <a:extLst>
              <a:ext uri="{FF2B5EF4-FFF2-40B4-BE49-F238E27FC236}">
                <a16:creationId xmlns:a16="http://schemas.microsoft.com/office/drawing/2014/main" id="{E482DD0B-5A64-4BCA-8336-5F6DC3131E0D}"/>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2227" name="Rectangle 3">
            <a:extLst>
              <a:ext uri="{FF2B5EF4-FFF2-40B4-BE49-F238E27FC236}">
                <a16:creationId xmlns:a16="http://schemas.microsoft.com/office/drawing/2014/main" id="{29325A92-64A6-4EBB-922E-959211A7DD0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en-US" altLang="zh-CN"/>
              <a:t>verilog</a:t>
            </a:r>
            <a:r>
              <a:rPr lang="zh-CN" altLang="en-US"/>
              <a:t>限制数组一次只能访问一个元素或一个元素的</a:t>
            </a:r>
            <a:r>
              <a:rPr lang="en-US" altLang="zh-CN"/>
              <a:t>1</a:t>
            </a:r>
            <a:r>
              <a:rPr lang="zh-CN" altLang="en-US"/>
              <a:t>位或部分位，试图访问多个元素是错误的</a:t>
            </a:r>
          </a:p>
          <a:p>
            <a:pPr marL="228600" indent="-228600"/>
            <a:r>
              <a:rPr lang="en-US" altLang="zh-CN"/>
              <a:t>integer k [7 : 0] [3 : 0] [7 : 0];</a:t>
            </a:r>
          </a:p>
          <a:p>
            <a:pPr marL="228600" indent="-228600"/>
            <a:r>
              <a:rPr lang="en-US" altLang="zh-CN"/>
              <a:t>integer s;</a:t>
            </a:r>
          </a:p>
          <a:p>
            <a:pPr marL="228600" indent="-228600"/>
            <a:r>
              <a:rPr lang="en-US" altLang="zh-CN"/>
              <a:t>s = k[3][0][1]; //</a:t>
            </a:r>
            <a:r>
              <a:rPr lang="zh-CN" altLang="en-US"/>
              <a:t>合法</a:t>
            </a:r>
          </a:p>
          <a:p>
            <a:pPr marL="228600" indent="-228600"/>
            <a:r>
              <a:rPr lang="en-US" altLang="zh-CN"/>
              <a:t>s = k[3][0]; //</a:t>
            </a:r>
            <a:r>
              <a:rPr lang="zh-CN" altLang="en-US"/>
              <a:t>不合法，选择了</a:t>
            </a:r>
            <a:r>
              <a:rPr lang="en-US" altLang="zh-CN"/>
              <a:t>8</a:t>
            </a:r>
            <a:r>
              <a:rPr lang="zh-CN" altLang="en-US"/>
              <a:t>个元素</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EBFD0F4-4422-4B87-96D9-C3560E30F1A1}"/>
              </a:ext>
            </a:extLst>
          </p:cNvPr>
          <p:cNvSpPr>
            <a:spLocks noGrp="1" noChangeArrowheads="1"/>
          </p:cNvSpPr>
          <p:nvPr>
            <p:ph type="sldNum" sz="quarter" idx="5"/>
          </p:nvPr>
        </p:nvSpPr>
        <p:spPr>
          <a:ln/>
        </p:spPr>
        <p:txBody>
          <a:bodyPr/>
          <a:lstStyle/>
          <a:p>
            <a:fld id="{85D8C671-C7DC-4D30-A9D3-865270E27BFF}" type="slidenum">
              <a:rPr lang="en-US" altLang="zh-CN"/>
              <a:pPr/>
              <a:t>30</a:t>
            </a:fld>
            <a:endParaRPr lang="en-US" altLang="zh-CN"/>
          </a:p>
        </p:txBody>
      </p:sp>
      <p:sp>
        <p:nvSpPr>
          <p:cNvPr id="56322" name="Rectangle 2">
            <a:extLst>
              <a:ext uri="{FF2B5EF4-FFF2-40B4-BE49-F238E27FC236}">
                <a16:creationId xmlns:a16="http://schemas.microsoft.com/office/drawing/2014/main" id="{1D75D615-87BC-4251-8654-86FD370BAF9F}"/>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6323" name="Rectangle 3">
            <a:extLst>
              <a:ext uri="{FF2B5EF4-FFF2-40B4-BE49-F238E27FC236}">
                <a16:creationId xmlns:a16="http://schemas.microsoft.com/office/drawing/2014/main" id="{5E282968-AA96-449C-B926-F31C494763B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AFFED53-AECF-408F-901A-EB6D9041B4D9}"/>
              </a:ext>
            </a:extLst>
          </p:cNvPr>
          <p:cNvSpPr>
            <a:spLocks noGrp="1" noChangeArrowheads="1"/>
          </p:cNvSpPr>
          <p:nvPr>
            <p:ph type="sldNum" sz="quarter" idx="5"/>
          </p:nvPr>
        </p:nvSpPr>
        <p:spPr>
          <a:ln/>
        </p:spPr>
        <p:txBody>
          <a:bodyPr/>
          <a:lstStyle/>
          <a:p>
            <a:fld id="{2F84B9EE-C45F-4528-82EC-1E50AF321907}" type="slidenum">
              <a:rPr lang="en-US" altLang="zh-CN"/>
              <a:pPr/>
              <a:t>31</a:t>
            </a:fld>
            <a:endParaRPr lang="en-US" altLang="zh-CN"/>
          </a:p>
        </p:txBody>
      </p:sp>
      <p:sp>
        <p:nvSpPr>
          <p:cNvPr id="58370" name="Rectangle 2">
            <a:extLst>
              <a:ext uri="{FF2B5EF4-FFF2-40B4-BE49-F238E27FC236}">
                <a16:creationId xmlns:a16="http://schemas.microsoft.com/office/drawing/2014/main" id="{7F01354C-DED5-4E30-B31B-D16F4A3958E3}"/>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8371" name="Rectangle 3">
            <a:extLst>
              <a:ext uri="{FF2B5EF4-FFF2-40B4-BE49-F238E27FC236}">
                <a16:creationId xmlns:a16="http://schemas.microsoft.com/office/drawing/2014/main" id="{AF2A45BF-B1EF-4E05-BA93-A1201F6D8E6D}"/>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zh-CN" altLang="en-US"/>
              <a:t>压缩数组的操作：所有对向量的操作都可以应用到压缩数组上，如拼接操作、算术操作、位操作、逻辑操作等</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E6727D-EA99-4495-968A-5CEAADB0467D}"/>
              </a:ext>
            </a:extLst>
          </p:cNvPr>
          <p:cNvSpPr>
            <a:spLocks noGrp="1" noChangeArrowheads="1"/>
          </p:cNvSpPr>
          <p:nvPr>
            <p:ph type="sldNum" sz="quarter" idx="5"/>
          </p:nvPr>
        </p:nvSpPr>
        <p:spPr>
          <a:ln/>
        </p:spPr>
        <p:txBody>
          <a:bodyPr/>
          <a:lstStyle/>
          <a:p>
            <a:fld id="{AB9C5BDC-3237-45D2-AC54-F13E57396EFE}" type="slidenum">
              <a:rPr lang="en-US" altLang="zh-CN"/>
              <a:pPr/>
              <a:t>32</a:t>
            </a:fld>
            <a:endParaRPr lang="en-US" altLang="zh-CN"/>
          </a:p>
        </p:txBody>
      </p:sp>
      <p:sp>
        <p:nvSpPr>
          <p:cNvPr id="60418" name="Rectangle 2">
            <a:extLst>
              <a:ext uri="{FF2B5EF4-FFF2-40B4-BE49-F238E27FC236}">
                <a16:creationId xmlns:a16="http://schemas.microsoft.com/office/drawing/2014/main" id="{F7EDCB6B-BF8F-47A4-AF6B-88D74DBD757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0419" name="Rectangle 3">
            <a:extLst>
              <a:ext uri="{FF2B5EF4-FFF2-40B4-BE49-F238E27FC236}">
                <a16:creationId xmlns:a16="http://schemas.microsoft.com/office/drawing/2014/main" id="{D1A8C7A4-5987-42DF-9A35-413842967B0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639336-6176-4EBF-A04A-B438ED4C87C7}"/>
              </a:ext>
            </a:extLst>
          </p:cNvPr>
          <p:cNvSpPr>
            <a:spLocks noGrp="1" noChangeArrowheads="1"/>
          </p:cNvSpPr>
          <p:nvPr>
            <p:ph type="sldNum" sz="quarter" idx="5"/>
          </p:nvPr>
        </p:nvSpPr>
        <p:spPr>
          <a:ln/>
        </p:spPr>
        <p:txBody>
          <a:bodyPr/>
          <a:lstStyle/>
          <a:p>
            <a:fld id="{04F1C861-8849-42BD-8475-08FDC8073533}" type="slidenum">
              <a:rPr lang="en-US" altLang="zh-CN"/>
              <a:pPr/>
              <a:t>33</a:t>
            </a:fld>
            <a:endParaRPr lang="en-US" altLang="zh-CN"/>
          </a:p>
        </p:txBody>
      </p:sp>
      <p:sp>
        <p:nvSpPr>
          <p:cNvPr id="68610" name="Rectangle 2">
            <a:extLst>
              <a:ext uri="{FF2B5EF4-FFF2-40B4-BE49-F238E27FC236}">
                <a16:creationId xmlns:a16="http://schemas.microsoft.com/office/drawing/2014/main" id="{A7FDCFE4-D752-4261-BFDC-BFE69B6C6094}"/>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68611" name="Rectangle 3">
            <a:extLst>
              <a:ext uri="{FF2B5EF4-FFF2-40B4-BE49-F238E27FC236}">
                <a16:creationId xmlns:a16="http://schemas.microsoft.com/office/drawing/2014/main" id="{62B9696E-F49D-46B7-92DF-98513B2B8AC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6A8F34-8D5E-4720-AEFF-2B160058A4B1}"/>
              </a:ext>
            </a:extLst>
          </p:cNvPr>
          <p:cNvSpPr>
            <a:spLocks noGrp="1" noChangeArrowheads="1"/>
          </p:cNvSpPr>
          <p:nvPr>
            <p:ph type="sldNum" sz="quarter" idx="5"/>
          </p:nvPr>
        </p:nvSpPr>
        <p:spPr>
          <a:ln/>
        </p:spPr>
        <p:txBody>
          <a:bodyPr/>
          <a:lstStyle/>
          <a:p>
            <a:fld id="{0D1C61DC-02AA-4849-B0BC-B53CC9D7D7E4}" type="slidenum">
              <a:rPr lang="en-US" altLang="zh-CN"/>
              <a:pPr/>
              <a:t>34</a:t>
            </a:fld>
            <a:endParaRPr lang="en-US" altLang="zh-CN"/>
          </a:p>
        </p:txBody>
      </p:sp>
      <p:sp>
        <p:nvSpPr>
          <p:cNvPr id="72706" name="Rectangle 2">
            <a:extLst>
              <a:ext uri="{FF2B5EF4-FFF2-40B4-BE49-F238E27FC236}">
                <a16:creationId xmlns:a16="http://schemas.microsoft.com/office/drawing/2014/main" id="{7F263B5D-2E8C-4C4F-A16E-7B957C0D0B6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2707" name="Rectangle 3">
            <a:extLst>
              <a:ext uri="{FF2B5EF4-FFF2-40B4-BE49-F238E27FC236}">
                <a16:creationId xmlns:a16="http://schemas.microsoft.com/office/drawing/2014/main" id="{DAD26057-9E49-4151-8C70-1344F2A07C1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0B06839-844E-4D92-8DF8-D0ABA7B276F7}"/>
              </a:ext>
            </a:extLst>
          </p:cNvPr>
          <p:cNvSpPr>
            <a:spLocks noGrp="1" noChangeArrowheads="1"/>
          </p:cNvSpPr>
          <p:nvPr>
            <p:ph type="sldNum" sz="quarter" idx="5"/>
          </p:nvPr>
        </p:nvSpPr>
        <p:spPr>
          <a:ln/>
        </p:spPr>
        <p:txBody>
          <a:bodyPr/>
          <a:lstStyle/>
          <a:p>
            <a:fld id="{13B5C47E-AE33-4249-B61E-FCB8FAFB370F}" type="slidenum">
              <a:rPr lang="en-US" altLang="zh-CN"/>
              <a:pPr/>
              <a:t>35</a:t>
            </a:fld>
            <a:endParaRPr lang="en-US" altLang="zh-CN"/>
          </a:p>
        </p:txBody>
      </p:sp>
      <p:sp>
        <p:nvSpPr>
          <p:cNvPr id="78850" name="Rectangle 2">
            <a:extLst>
              <a:ext uri="{FF2B5EF4-FFF2-40B4-BE49-F238E27FC236}">
                <a16:creationId xmlns:a16="http://schemas.microsoft.com/office/drawing/2014/main" id="{CC9CCD05-8770-4C10-8403-F90507AC559B}"/>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8851" name="Rectangle 3">
            <a:extLst>
              <a:ext uri="{FF2B5EF4-FFF2-40B4-BE49-F238E27FC236}">
                <a16:creationId xmlns:a16="http://schemas.microsoft.com/office/drawing/2014/main" id="{7A630DD4-A6A2-47EB-9E87-6B7C59A10664}"/>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8D9DF4A-B168-405D-B7E1-D40F2DD6C656}"/>
              </a:ext>
            </a:extLst>
          </p:cNvPr>
          <p:cNvSpPr>
            <a:spLocks noGrp="1" noChangeArrowheads="1"/>
          </p:cNvSpPr>
          <p:nvPr>
            <p:ph type="sldNum" sz="quarter" idx="5"/>
          </p:nvPr>
        </p:nvSpPr>
        <p:spPr>
          <a:ln/>
        </p:spPr>
        <p:txBody>
          <a:bodyPr/>
          <a:lstStyle/>
          <a:p>
            <a:fld id="{2823EAF8-8B33-41AE-A02D-9F5F13A77FD1}" type="slidenum">
              <a:rPr lang="en-US" altLang="zh-CN"/>
              <a:pPr/>
              <a:t>36</a:t>
            </a:fld>
            <a:endParaRPr lang="en-US" altLang="zh-CN"/>
          </a:p>
        </p:txBody>
      </p:sp>
      <p:sp>
        <p:nvSpPr>
          <p:cNvPr id="80898" name="Rectangle 2">
            <a:extLst>
              <a:ext uri="{FF2B5EF4-FFF2-40B4-BE49-F238E27FC236}">
                <a16:creationId xmlns:a16="http://schemas.microsoft.com/office/drawing/2014/main" id="{896DEE46-D342-4FC7-ABD1-C9AB9B248EAE}"/>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80899" name="Rectangle 3">
            <a:extLst>
              <a:ext uri="{FF2B5EF4-FFF2-40B4-BE49-F238E27FC236}">
                <a16:creationId xmlns:a16="http://schemas.microsoft.com/office/drawing/2014/main" id="{15666BE6-6EC1-4FEE-8CE9-767E29B7641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6C1EEF7-7D87-4508-85D5-022672E86711}"/>
              </a:ext>
            </a:extLst>
          </p:cNvPr>
          <p:cNvSpPr>
            <a:spLocks noGrp="1" noChangeArrowheads="1"/>
          </p:cNvSpPr>
          <p:nvPr>
            <p:ph type="sldNum" sz="quarter" idx="5"/>
          </p:nvPr>
        </p:nvSpPr>
        <p:spPr>
          <a:ln/>
        </p:spPr>
        <p:txBody>
          <a:bodyPr/>
          <a:lstStyle/>
          <a:p>
            <a:fld id="{02ABC60E-3C49-4482-BDB7-34CF8918779F}" type="slidenum">
              <a:rPr lang="en-US" altLang="zh-CN"/>
              <a:pPr/>
              <a:t>37</a:t>
            </a:fld>
            <a:endParaRPr lang="en-US" altLang="zh-CN"/>
          </a:p>
        </p:txBody>
      </p:sp>
      <p:sp>
        <p:nvSpPr>
          <p:cNvPr id="91138" name="Rectangle 2">
            <a:extLst>
              <a:ext uri="{FF2B5EF4-FFF2-40B4-BE49-F238E27FC236}">
                <a16:creationId xmlns:a16="http://schemas.microsoft.com/office/drawing/2014/main" id="{475DE088-C617-488E-9BD6-931E0578B5E0}"/>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91139" name="Rectangle 3">
            <a:extLst>
              <a:ext uri="{FF2B5EF4-FFF2-40B4-BE49-F238E27FC236}">
                <a16:creationId xmlns:a16="http://schemas.microsoft.com/office/drawing/2014/main" id="{CF51E151-B6BA-4B8B-9A97-DC85BA80BC6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770671E-3E1A-4DCD-8B5B-2FDDC53DD81B}"/>
              </a:ext>
            </a:extLst>
          </p:cNvPr>
          <p:cNvSpPr>
            <a:spLocks noGrp="1" noChangeArrowheads="1"/>
          </p:cNvSpPr>
          <p:nvPr>
            <p:ph type="sldNum" sz="quarter" idx="5"/>
          </p:nvPr>
        </p:nvSpPr>
        <p:spPr>
          <a:ln/>
        </p:spPr>
        <p:txBody>
          <a:bodyPr/>
          <a:lstStyle/>
          <a:p>
            <a:fld id="{0EE51E7A-236E-4D04-B5E1-1412654EBA5A}" type="slidenum">
              <a:rPr lang="en-US" altLang="zh-CN"/>
              <a:pPr/>
              <a:t>38</a:t>
            </a:fld>
            <a:endParaRPr lang="en-US" altLang="zh-CN"/>
          </a:p>
        </p:txBody>
      </p:sp>
      <p:sp>
        <p:nvSpPr>
          <p:cNvPr id="5122" name="Rectangle 2">
            <a:extLst>
              <a:ext uri="{FF2B5EF4-FFF2-40B4-BE49-F238E27FC236}">
                <a16:creationId xmlns:a16="http://schemas.microsoft.com/office/drawing/2014/main" id="{51EBC7F8-DDDE-451A-9580-9E29F3D156F0}"/>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123" name="Rectangle 3">
            <a:extLst>
              <a:ext uri="{FF2B5EF4-FFF2-40B4-BE49-F238E27FC236}">
                <a16:creationId xmlns:a16="http://schemas.microsoft.com/office/drawing/2014/main" id="{63850E4A-9F00-4E3B-8338-E86B526EC08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6FD0AD8-69E0-4EEF-89C4-4C5DCA739F8A}"/>
              </a:ext>
            </a:extLst>
          </p:cNvPr>
          <p:cNvSpPr>
            <a:spLocks noGrp="1" noChangeArrowheads="1"/>
          </p:cNvSpPr>
          <p:nvPr>
            <p:ph type="sldNum" sz="quarter" idx="5"/>
          </p:nvPr>
        </p:nvSpPr>
        <p:spPr>
          <a:ln/>
        </p:spPr>
        <p:txBody>
          <a:bodyPr/>
          <a:lstStyle/>
          <a:p>
            <a:fld id="{E7C28710-4292-479C-A568-7A9D3C8864AB}" type="slidenum">
              <a:rPr lang="en-US" altLang="zh-CN"/>
              <a:pPr/>
              <a:t>39</a:t>
            </a:fld>
            <a:endParaRPr lang="en-US" altLang="zh-CN"/>
          </a:p>
        </p:txBody>
      </p:sp>
      <p:sp>
        <p:nvSpPr>
          <p:cNvPr id="11266" name="Rectangle 2">
            <a:extLst>
              <a:ext uri="{FF2B5EF4-FFF2-40B4-BE49-F238E27FC236}">
                <a16:creationId xmlns:a16="http://schemas.microsoft.com/office/drawing/2014/main" id="{5EE45AE8-34FB-4C25-8F3D-E9F1D6E2D412}"/>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11267" name="Rectangle 3">
            <a:extLst>
              <a:ext uri="{FF2B5EF4-FFF2-40B4-BE49-F238E27FC236}">
                <a16:creationId xmlns:a16="http://schemas.microsoft.com/office/drawing/2014/main" id="{B23ED41C-D7BF-452E-B82B-5E89EE50ED8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4B3F56D-C1F2-404C-8B75-DC1BC26D0600}"/>
              </a:ext>
            </a:extLst>
          </p:cNvPr>
          <p:cNvSpPr>
            <a:spLocks noGrp="1" noChangeArrowheads="1"/>
          </p:cNvSpPr>
          <p:nvPr>
            <p:ph type="sldNum" sz="quarter" idx="5"/>
          </p:nvPr>
        </p:nvSpPr>
        <p:spPr>
          <a:ln/>
        </p:spPr>
        <p:txBody>
          <a:bodyPr/>
          <a:lstStyle/>
          <a:p>
            <a:fld id="{494D7A2E-127A-4CD1-8BD5-FC8B76453C61}" type="slidenum">
              <a:rPr lang="en-US" altLang="zh-CN"/>
              <a:pPr/>
              <a:t>40</a:t>
            </a:fld>
            <a:endParaRPr lang="en-US" altLang="zh-CN"/>
          </a:p>
        </p:txBody>
      </p:sp>
      <p:sp>
        <p:nvSpPr>
          <p:cNvPr id="23554" name="Rectangle 2">
            <a:extLst>
              <a:ext uri="{FF2B5EF4-FFF2-40B4-BE49-F238E27FC236}">
                <a16:creationId xmlns:a16="http://schemas.microsoft.com/office/drawing/2014/main" id="{15B95C45-C7E9-43B8-92A7-BC33252BBB89}"/>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3555" name="Rectangle 3">
            <a:extLst>
              <a:ext uri="{FF2B5EF4-FFF2-40B4-BE49-F238E27FC236}">
                <a16:creationId xmlns:a16="http://schemas.microsoft.com/office/drawing/2014/main" id="{BAF90C6C-349A-44D9-A9D5-2E84C7ACD584}"/>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C9ECE7-2DFA-45E1-AA54-403E215F2520}"/>
              </a:ext>
            </a:extLst>
          </p:cNvPr>
          <p:cNvSpPr>
            <a:spLocks noGrp="1" noChangeArrowheads="1"/>
          </p:cNvSpPr>
          <p:nvPr>
            <p:ph type="sldNum" sz="quarter" idx="5"/>
          </p:nvPr>
        </p:nvSpPr>
        <p:spPr>
          <a:ln/>
        </p:spPr>
        <p:txBody>
          <a:bodyPr/>
          <a:lstStyle/>
          <a:p>
            <a:fld id="{9C593223-78C4-4FB5-B3BB-EBCDD386D3C0}" type="slidenum">
              <a:rPr lang="en-US" altLang="zh-CN"/>
              <a:pPr/>
              <a:t>41</a:t>
            </a:fld>
            <a:endParaRPr lang="en-US" altLang="zh-CN"/>
          </a:p>
        </p:txBody>
      </p:sp>
      <p:sp>
        <p:nvSpPr>
          <p:cNvPr id="21506" name="Rectangle 2">
            <a:extLst>
              <a:ext uri="{FF2B5EF4-FFF2-40B4-BE49-F238E27FC236}">
                <a16:creationId xmlns:a16="http://schemas.microsoft.com/office/drawing/2014/main" id="{D41C6C1F-6BF5-474E-9F16-1F95ACC4B8D5}"/>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1507" name="Rectangle 3">
            <a:extLst>
              <a:ext uri="{FF2B5EF4-FFF2-40B4-BE49-F238E27FC236}">
                <a16:creationId xmlns:a16="http://schemas.microsoft.com/office/drawing/2014/main" id="{9C917BB7-89DC-41F8-8480-98B8107A7F4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5C6F19F-7E92-4873-8B3F-05FED8D48AAC}"/>
              </a:ext>
            </a:extLst>
          </p:cNvPr>
          <p:cNvSpPr>
            <a:spLocks noGrp="1" noChangeArrowheads="1"/>
          </p:cNvSpPr>
          <p:nvPr>
            <p:ph type="sldNum" sz="quarter" idx="5"/>
          </p:nvPr>
        </p:nvSpPr>
        <p:spPr>
          <a:ln/>
        </p:spPr>
        <p:txBody>
          <a:bodyPr/>
          <a:lstStyle/>
          <a:p>
            <a:fld id="{3ACEC550-7800-4CA5-8CB6-3DE6DA557687}" type="slidenum">
              <a:rPr lang="en-US" altLang="zh-CN"/>
              <a:pPr/>
              <a:t>42</a:t>
            </a:fld>
            <a:endParaRPr lang="en-US" altLang="zh-CN"/>
          </a:p>
        </p:txBody>
      </p:sp>
      <p:sp>
        <p:nvSpPr>
          <p:cNvPr id="25602" name="Rectangle 2">
            <a:extLst>
              <a:ext uri="{FF2B5EF4-FFF2-40B4-BE49-F238E27FC236}">
                <a16:creationId xmlns:a16="http://schemas.microsoft.com/office/drawing/2014/main" id="{A3BAC298-3D8D-4E92-90CE-A011387241E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5603" name="Rectangle 3">
            <a:extLst>
              <a:ext uri="{FF2B5EF4-FFF2-40B4-BE49-F238E27FC236}">
                <a16:creationId xmlns:a16="http://schemas.microsoft.com/office/drawing/2014/main" id="{80769E3B-46C1-4F2F-BE3A-2D1C5A8EF62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15103A-7DAF-41BF-9D25-768CEA2CE486}"/>
              </a:ext>
            </a:extLst>
          </p:cNvPr>
          <p:cNvSpPr>
            <a:spLocks noGrp="1" noChangeArrowheads="1"/>
          </p:cNvSpPr>
          <p:nvPr>
            <p:ph type="sldNum" sz="quarter" idx="5"/>
          </p:nvPr>
        </p:nvSpPr>
        <p:spPr>
          <a:ln/>
        </p:spPr>
        <p:txBody>
          <a:bodyPr/>
          <a:lstStyle/>
          <a:p>
            <a:fld id="{05695F2B-6834-47CE-9137-929298C584DA}" type="slidenum">
              <a:rPr lang="en-US" altLang="zh-CN"/>
              <a:pPr/>
              <a:t>43</a:t>
            </a:fld>
            <a:endParaRPr lang="en-US" altLang="zh-CN"/>
          </a:p>
        </p:txBody>
      </p:sp>
      <p:sp>
        <p:nvSpPr>
          <p:cNvPr id="31746" name="Rectangle 2">
            <a:extLst>
              <a:ext uri="{FF2B5EF4-FFF2-40B4-BE49-F238E27FC236}">
                <a16:creationId xmlns:a16="http://schemas.microsoft.com/office/drawing/2014/main" id="{4C2F64C5-83F0-41E1-A229-44919E438313}"/>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1747" name="Rectangle 3">
            <a:extLst>
              <a:ext uri="{FF2B5EF4-FFF2-40B4-BE49-F238E27FC236}">
                <a16:creationId xmlns:a16="http://schemas.microsoft.com/office/drawing/2014/main" id="{8DE5ADF1-BF5F-4749-9808-7361BA2768B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801242B-5095-4F25-8CA0-134013073FBA}"/>
              </a:ext>
            </a:extLst>
          </p:cNvPr>
          <p:cNvSpPr>
            <a:spLocks noGrp="1" noChangeArrowheads="1"/>
          </p:cNvSpPr>
          <p:nvPr>
            <p:ph type="sldNum" sz="quarter" idx="5"/>
          </p:nvPr>
        </p:nvSpPr>
        <p:spPr>
          <a:ln/>
        </p:spPr>
        <p:txBody>
          <a:bodyPr/>
          <a:lstStyle/>
          <a:p>
            <a:fld id="{6FA8D880-26C7-4364-B1C4-4C7707EFFAE2}" type="slidenum">
              <a:rPr lang="en-US" altLang="zh-CN"/>
              <a:pPr/>
              <a:t>44</a:t>
            </a:fld>
            <a:endParaRPr lang="en-US" altLang="zh-CN"/>
          </a:p>
        </p:txBody>
      </p:sp>
      <p:sp>
        <p:nvSpPr>
          <p:cNvPr id="35842" name="Rectangle 2">
            <a:extLst>
              <a:ext uri="{FF2B5EF4-FFF2-40B4-BE49-F238E27FC236}">
                <a16:creationId xmlns:a16="http://schemas.microsoft.com/office/drawing/2014/main" id="{4C370FB2-9744-479F-BA69-3B86687BBCBE}"/>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5843" name="Rectangle 3">
            <a:extLst>
              <a:ext uri="{FF2B5EF4-FFF2-40B4-BE49-F238E27FC236}">
                <a16:creationId xmlns:a16="http://schemas.microsoft.com/office/drawing/2014/main" id="{1D4A7287-93D9-49DE-AB62-43237ABF903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E4FC60F-DF42-425A-A9FC-8FC742727F0A}"/>
              </a:ext>
            </a:extLst>
          </p:cNvPr>
          <p:cNvSpPr>
            <a:spLocks noGrp="1" noChangeArrowheads="1"/>
          </p:cNvSpPr>
          <p:nvPr>
            <p:ph type="sldNum" sz="quarter" idx="5"/>
          </p:nvPr>
        </p:nvSpPr>
        <p:spPr>
          <a:ln/>
        </p:spPr>
        <p:txBody>
          <a:bodyPr/>
          <a:lstStyle/>
          <a:p>
            <a:fld id="{1F746FD2-8A9C-45B9-80CE-6D967596D313}" type="slidenum">
              <a:rPr lang="en-US" altLang="zh-CN"/>
              <a:pPr/>
              <a:t>45</a:t>
            </a:fld>
            <a:endParaRPr lang="en-US" altLang="zh-CN"/>
          </a:p>
        </p:txBody>
      </p:sp>
      <p:sp>
        <p:nvSpPr>
          <p:cNvPr id="41986" name="Rectangle 2">
            <a:extLst>
              <a:ext uri="{FF2B5EF4-FFF2-40B4-BE49-F238E27FC236}">
                <a16:creationId xmlns:a16="http://schemas.microsoft.com/office/drawing/2014/main" id="{F16A3483-312D-4706-B240-FB392C66BF82}"/>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41987" name="Rectangle 3">
            <a:extLst>
              <a:ext uri="{FF2B5EF4-FFF2-40B4-BE49-F238E27FC236}">
                <a16:creationId xmlns:a16="http://schemas.microsoft.com/office/drawing/2014/main" id="{959808B8-C01C-4FC8-9C11-9E679EC0179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r>
              <a:rPr lang="zh-CN" altLang="en-US">
                <a:solidFill>
                  <a:srgbClr val="0000FF"/>
                </a:solidFill>
              </a:rPr>
              <a:t>压缩数组在传递给任务或函数时被当作向量，如果形参与实参不匹配时，向量按</a:t>
            </a:r>
            <a:r>
              <a:rPr lang="en-US" altLang="zh-CN">
                <a:solidFill>
                  <a:srgbClr val="0000FF"/>
                </a:solidFill>
              </a:rPr>
              <a:t>verilog</a:t>
            </a:r>
            <a:r>
              <a:rPr lang="zh-CN" altLang="en-US">
                <a:solidFill>
                  <a:srgbClr val="0000FF"/>
                </a:solidFill>
              </a:rPr>
              <a:t>向量赋值规则扩展或截断；非压缩数组的形参和实参必须是结构和元素类型精确匹配（维数和维度宽度相同，元素的压缩宽度相同）。</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5C6F19F-7E92-4873-8B3F-05FED8D48AAC}"/>
              </a:ext>
            </a:extLst>
          </p:cNvPr>
          <p:cNvSpPr>
            <a:spLocks noGrp="1" noChangeArrowheads="1"/>
          </p:cNvSpPr>
          <p:nvPr>
            <p:ph type="sldNum" sz="quarter" idx="5"/>
          </p:nvPr>
        </p:nvSpPr>
        <p:spPr>
          <a:ln/>
        </p:spPr>
        <p:txBody>
          <a:bodyPr/>
          <a:lstStyle/>
          <a:p>
            <a:fld id="{3ACEC550-7800-4CA5-8CB6-3DE6DA557687}" type="slidenum">
              <a:rPr lang="en-US" altLang="zh-CN"/>
              <a:pPr/>
              <a:t>46</a:t>
            </a:fld>
            <a:endParaRPr lang="en-US" altLang="zh-CN"/>
          </a:p>
        </p:txBody>
      </p:sp>
      <p:sp>
        <p:nvSpPr>
          <p:cNvPr id="25602" name="Rectangle 2">
            <a:extLst>
              <a:ext uri="{FF2B5EF4-FFF2-40B4-BE49-F238E27FC236}">
                <a16:creationId xmlns:a16="http://schemas.microsoft.com/office/drawing/2014/main" id="{A3BAC298-3D8D-4E92-90CE-A011387241E6}"/>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5603" name="Rectangle 3">
            <a:extLst>
              <a:ext uri="{FF2B5EF4-FFF2-40B4-BE49-F238E27FC236}">
                <a16:creationId xmlns:a16="http://schemas.microsoft.com/office/drawing/2014/main" id="{80769E3B-46C1-4F2F-BE3A-2D1C5A8EF62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extLst>
      <p:ext uri="{BB962C8B-B14F-4D97-AF65-F5344CB8AC3E}">
        <p14:creationId xmlns:p14="http://schemas.microsoft.com/office/powerpoint/2010/main" val="231464020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F20714F-17CB-4378-84C5-EB5D0740428D}"/>
              </a:ext>
            </a:extLst>
          </p:cNvPr>
          <p:cNvSpPr>
            <a:spLocks noGrp="1" noChangeArrowheads="1"/>
          </p:cNvSpPr>
          <p:nvPr>
            <p:ph type="sldNum" sz="quarter" idx="5"/>
          </p:nvPr>
        </p:nvSpPr>
        <p:spPr>
          <a:ln/>
        </p:spPr>
        <p:txBody>
          <a:bodyPr/>
          <a:lstStyle/>
          <a:p>
            <a:fld id="{F3A86AD3-99C3-4C88-B8C1-CF7660DE30B2}" type="slidenum">
              <a:rPr lang="en-US" altLang="zh-CN"/>
              <a:pPr/>
              <a:t>47</a:t>
            </a:fld>
            <a:endParaRPr lang="en-US" altLang="zh-CN"/>
          </a:p>
        </p:txBody>
      </p:sp>
      <p:sp>
        <p:nvSpPr>
          <p:cNvPr id="52226" name="Rectangle 2">
            <a:extLst>
              <a:ext uri="{FF2B5EF4-FFF2-40B4-BE49-F238E27FC236}">
                <a16:creationId xmlns:a16="http://schemas.microsoft.com/office/drawing/2014/main" id="{473EF6E6-CD9E-4A5B-9C59-59C57893277D}"/>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52227" name="Rectangle 3">
            <a:extLst>
              <a:ext uri="{FF2B5EF4-FFF2-40B4-BE49-F238E27FC236}">
                <a16:creationId xmlns:a16="http://schemas.microsoft.com/office/drawing/2014/main" id="{266AFE98-AEBB-4EA7-9117-38F301836A0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solidFill>
                <a:srgbClr val="0000FF"/>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69F1062-9906-4B70-AE4A-13FD44CE5B2E}"/>
              </a:ext>
            </a:extLst>
          </p:cNvPr>
          <p:cNvSpPr>
            <a:spLocks noGrp="1" noChangeArrowheads="1"/>
          </p:cNvSpPr>
          <p:nvPr>
            <p:ph type="sldNum" sz="quarter" idx="5"/>
          </p:nvPr>
        </p:nvSpPr>
        <p:spPr>
          <a:ln/>
        </p:spPr>
        <p:txBody>
          <a:bodyPr/>
          <a:lstStyle/>
          <a:p>
            <a:fld id="{17E4F479-74B8-482A-8FDA-0E885206DD65}" type="slidenum">
              <a:rPr lang="en-US" altLang="zh-CN"/>
              <a:pPr/>
              <a:t>48</a:t>
            </a:fld>
            <a:endParaRPr lang="en-US" altLang="zh-CN"/>
          </a:p>
        </p:txBody>
      </p:sp>
      <p:sp>
        <p:nvSpPr>
          <p:cNvPr id="29698" name="Rectangle 2">
            <a:extLst>
              <a:ext uri="{FF2B5EF4-FFF2-40B4-BE49-F238E27FC236}">
                <a16:creationId xmlns:a16="http://schemas.microsoft.com/office/drawing/2014/main" id="{E18AACB7-36D2-49DC-8D93-1F84BA2B0DC7}"/>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29699" name="Rectangle 3">
            <a:extLst>
              <a:ext uri="{FF2B5EF4-FFF2-40B4-BE49-F238E27FC236}">
                <a16:creationId xmlns:a16="http://schemas.microsoft.com/office/drawing/2014/main" id="{F055B6D7-C6C3-46DD-8A01-7C726509660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lang="zh-CN"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BA9334-1444-405A-8CBC-AE78C809393F}"/>
              </a:ext>
            </a:extLst>
          </p:cNvPr>
          <p:cNvSpPr>
            <a:spLocks noGrp="1" noChangeArrowheads="1"/>
          </p:cNvSpPr>
          <p:nvPr>
            <p:ph type="sldNum" sz="quarter" idx="5"/>
          </p:nvPr>
        </p:nvSpPr>
        <p:spPr>
          <a:ln/>
        </p:spPr>
        <p:txBody>
          <a:bodyPr/>
          <a:lstStyle/>
          <a:p>
            <a:fld id="{9ED855ED-1CE0-41FB-B04B-E6E2C171B374}" type="slidenum">
              <a:rPr lang="en-US" altLang="zh-CN"/>
              <a:pPr/>
              <a:t>49</a:t>
            </a:fld>
            <a:endParaRPr lang="en-US" altLang="zh-CN"/>
          </a:p>
        </p:txBody>
      </p:sp>
      <p:sp>
        <p:nvSpPr>
          <p:cNvPr id="70658" name="Rectangle 2">
            <a:extLst>
              <a:ext uri="{FF2B5EF4-FFF2-40B4-BE49-F238E27FC236}">
                <a16:creationId xmlns:a16="http://schemas.microsoft.com/office/drawing/2014/main" id="{6ED643BF-986E-4A2D-A11D-BF41E8E50DE0}"/>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70659" name="Rectangle 3">
            <a:extLst>
              <a:ext uri="{FF2B5EF4-FFF2-40B4-BE49-F238E27FC236}">
                <a16:creationId xmlns:a16="http://schemas.microsoft.com/office/drawing/2014/main" id="{495C21BE-3468-4966-9957-4777A220EFF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a:solidFill>
                <a:srgbClr val="0000FF"/>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5181665-9D7D-4F31-908F-4183972F2D90}"/>
              </a:ext>
            </a:extLst>
          </p:cNvPr>
          <p:cNvSpPr>
            <a:spLocks noGrp="1" noChangeArrowheads="1"/>
          </p:cNvSpPr>
          <p:nvPr>
            <p:ph type="sldNum" sz="quarter" idx="5"/>
          </p:nvPr>
        </p:nvSpPr>
        <p:spPr>
          <a:ln/>
        </p:spPr>
        <p:txBody>
          <a:bodyPr/>
          <a:lstStyle/>
          <a:p>
            <a:fld id="{E82C1AF7-BFA1-4C94-8E8D-A632F9E0785F}" type="slidenum">
              <a:rPr lang="en-US" altLang="zh-CN"/>
              <a:pPr/>
              <a:t>50</a:t>
            </a:fld>
            <a:endParaRPr lang="en-US" altLang="zh-CN"/>
          </a:p>
        </p:txBody>
      </p:sp>
      <p:sp>
        <p:nvSpPr>
          <p:cNvPr id="82946" name="Rectangle 2">
            <a:extLst>
              <a:ext uri="{FF2B5EF4-FFF2-40B4-BE49-F238E27FC236}">
                <a16:creationId xmlns:a16="http://schemas.microsoft.com/office/drawing/2014/main" id="{605A60CB-9AAF-4617-8C31-A43A97DE9077}"/>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82947" name="Rectangle 3">
            <a:extLst>
              <a:ext uri="{FF2B5EF4-FFF2-40B4-BE49-F238E27FC236}">
                <a16:creationId xmlns:a16="http://schemas.microsoft.com/office/drawing/2014/main" id="{EDC51514-3BAC-4472-B4B2-BC1A71C2EB8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a:solidFill>
                <a:srgbClr val="0000FF"/>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54E02FD-708F-4601-BABC-AA670109991E}"/>
              </a:ext>
            </a:extLst>
          </p:cNvPr>
          <p:cNvSpPr>
            <a:spLocks noGrp="1" noChangeArrowheads="1"/>
          </p:cNvSpPr>
          <p:nvPr>
            <p:ph type="sldNum" sz="quarter" idx="5"/>
          </p:nvPr>
        </p:nvSpPr>
        <p:spPr>
          <a:ln/>
        </p:spPr>
        <p:txBody>
          <a:bodyPr/>
          <a:lstStyle/>
          <a:p>
            <a:fld id="{66C5F979-60A9-4C8C-9F11-93CD935376EC}" type="slidenum">
              <a:rPr lang="en-US" altLang="zh-CN"/>
              <a:pPr/>
              <a:t>51</a:t>
            </a:fld>
            <a:endParaRPr lang="en-US" altLang="zh-CN"/>
          </a:p>
        </p:txBody>
      </p:sp>
      <p:sp>
        <p:nvSpPr>
          <p:cNvPr id="91138" name="Rectangle 2">
            <a:extLst>
              <a:ext uri="{FF2B5EF4-FFF2-40B4-BE49-F238E27FC236}">
                <a16:creationId xmlns:a16="http://schemas.microsoft.com/office/drawing/2014/main" id="{93549FE1-78DE-4449-9310-AC3B542857BB}"/>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91139" name="Rectangle 3">
            <a:extLst>
              <a:ext uri="{FF2B5EF4-FFF2-40B4-BE49-F238E27FC236}">
                <a16:creationId xmlns:a16="http://schemas.microsoft.com/office/drawing/2014/main" id="{BCE45BB2-406B-46B8-99B0-70A2175422C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a:solidFill>
                <a:srgbClr val="0000FF"/>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1AF5E83-CFDC-40DE-B672-72962FCC4816}"/>
              </a:ext>
            </a:extLst>
          </p:cNvPr>
          <p:cNvSpPr>
            <a:spLocks noGrp="1" noChangeArrowheads="1"/>
          </p:cNvSpPr>
          <p:nvPr>
            <p:ph type="sldNum" sz="quarter" idx="5"/>
          </p:nvPr>
        </p:nvSpPr>
        <p:spPr>
          <a:ln/>
        </p:spPr>
        <p:txBody>
          <a:bodyPr/>
          <a:lstStyle/>
          <a:p>
            <a:fld id="{E9D56D7C-CEF5-42AA-8E34-B86240EBD61C}" type="slidenum">
              <a:rPr lang="en-US" altLang="zh-CN"/>
              <a:pPr/>
              <a:t>52</a:t>
            </a:fld>
            <a:endParaRPr lang="en-US" altLang="zh-CN"/>
          </a:p>
        </p:txBody>
      </p:sp>
      <p:sp>
        <p:nvSpPr>
          <p:cNvPr id="93186" name="Rectangle 2">
            <a:extLst>
              <a:ext uri="{FF2B5EF4-FFF2-40B4-BE49-F238E27FC236}">
                <a16:creationId xmlns:a16="http://schemas.microsoft.com/office/drawing/2014/main" id="{51951923-ED9E-4838-B52A-9D9A08B2AC0A}"/>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93187" name="Rectangle 3">
            <a:extLst>
              <a:ext uri="{FF2B5EF4-FFF2-40B4-BE49-F238E27FC236}">
                <a16:creationId xmlns:a16="http://schemas.microsoft.com/office/drawing/2014/main" id="{FE8E71B5-9CE1-42E7-9418-5A3F64FACDD4}"/>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a:solidFill>
                <a:srgbClr val="0000FF"/>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35FAED8-FAAC-4BD1-924B-D4E62EDFF8D8}"/>
              </a:ext>
            </a:extLst>
          </p:cNvPr>
          <p:cNvSpPr>
            <a:spLocks noGrp="1" noChangeArrowheads="1"/>
          </p:cNvSpPr>
          <p:nvPr>
            <p:ph type="sldNum" sz="quarter" idx="5"/>
          </p:nvPr>
        </p:nvSpPr>
        <p:spPr>
          <a:ln/>
        </p:spPr>
        <p:txBody>
          <a:bodyPr/>
          <a:lstStyle/>
          <a:p>
            <a:fld id="{DD9E260F-7BB2-4734-B00E-0AF1D5EDBA5F}" type="slidenum">
              <a:rPr lang="en-US" altLang="zh-CN"/>
              <a:pPr/>
              <a:t>53</a:t>
            </a:fld>
            <a:endParaRPr lang="en-US" altLang="zh-CN"/>
          </a:p>
        </p:txBody>
      </p:sp>
      <p:sp>
        <p:nvSpPr>
          <p:cNvPr id="13314" name="Rectangle 2">
            <a:extLst>
              <a:ext uri="{FF2B5EF4-FFF2-40B4-BE49-F238E27FC236}">
                <a16:creationId xmlns:a16="http://schemas.microsoft.com/office/drawing/2014/main" id="{5AF1AE3F-17C6-45F5-A3A9-D757941DFD41}"/>
              </a:ext>
            </a:extLst>
          </p:cNvPr>
          <p:cNvSpPr>
            <a:spLocks noGrp="1" noRot="1" noChangeAspect="1" noChangeArrowheads="1" noTextEdit="1"/>
          </p:cNvSpPr>
          <p:nvPr>
            <p:ph type="sldImg"/>
          </p:nvPr>
        </p:nvSpPr>
        <p:spPr>
          <a:ln/>
        </p:spPr>
      </p:sp>
      <p:sp>
        <p:nvSpPr>
          <p:cNvPr id="13315" name="Rectangle 3">
            <a:extLst>
              <a:ext uri="{FF2B5EF4-FFF2-40B4-BE49-F238E27FC236}">
                <a16:creationId xmlns:a16="http://schemas.microsoft.com/office/drawing/2014/main" id="{49A3809D-A0F0-4FB9-AB20-2F65B7327675}"/>
              </a:ext>
            </a:extLst>
          </p:cNvPr>
          <p:cNvSpPr>
            <a:spLocks noGrp="1" noChangeArrowheads="1"/>
          </p:cNvSpPr>
          <p:nvPr>
            <p:ph type="body" idx="1"/>
          </p:nvPr>
        </p:nvSpPr>
        <p:spPr>
          <a:xfrm>
            <a:off x="914400" y="4343400"/>
            <a:ext cx="5029200" cy="4114800"/>
          </a:xfrm>
        </p:spPr>
        <p:txBody>
          <a:bodyPr/>
          <a:lstStyle/>
          <a:p>
            <a:pPr marL="228600" indent="-228600"/>
            <a:endParaRPr kumimoji="1" lang="zh-CN" altLang="zh-CN">
              <a:solidFill>
                <a:srgbClr val="0000FF"/>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BC16B8-702A-413A-B8B7-2BBC6EF56BE5}"/>
              </a:ext>
            </a:extLst>
          </p:cNvPr>
          <p:cNvSpPr>
            <a:spLocks noGrp="1" noChangeArrowheads="1"/>
          </p:cNvSpPr>
          <p:nvPr>
            <p:ph type="sldNum" sz="quarter" idx="5"/>
          </p:nvPr>
        </p:nvSpPr>
        <p:spPr>
          <a:ln/>
        </p:spPr>
        <p:txBody>
          <a:bodyPr/>
          <a:lstStyle/>
          <a:p>
            <a:fld id="{31816174-EE18-423F-ADC0-75BB02F53929}" type="slidenum">
              <a:rPr lang="en-US" altLang="zh-CN"/>
              <a:pPr/>
              <a:t>54</a:t>
            </a:fld>
            <a:endParaRPr lang="en-US" altLang="zh-CN"/>
          </a:p>
        </p:txBody>
      </p:sp>
      <p:sp>
        <p:nvSpPr>
          <p:cNvPr id="15362" name="Rectangle 2">
            <a:extLst>
              <a:ext uri="{FF2B5EF4-FFF2-40B4-BE49-F238E27FC236}">
                <a16:creationId xmlns:a16="http://schemas.microsoft.com/office/drawing/2014/main" id="{9CDE8EC5-2AF5-44D3-8EB7-1BEAB78BA50D}"/>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EFD3ED26-8485-4109-92A2-07EF2201F836}"/>
              </a:ext>
            </a:extLst>
          </p:cNvPr>
          <p:cNvSpPr>
            <a:spLocks noGrp="1" noChangeArrowheads="1"/>
          </p:cNvSpPr>
          <p:nvPr>
            <p:ph type="body" idx="1"/>
          </p:nvPr>
        </p:nvSpPr>
        <p:spPr>
          <a:xfrm>
            <a:off x="914400" y="4343400"/>
            <a:ext cx="5029200" cy="4114800"/>
          </a:xfrm>
        </p:spPr>
        <p:txBody>
          <a:bodyPr/>
          <a:lstStyle/>
          <a:p>
            <a:pPr marL="228600" indent="-228600"/>
            <a:endParaRPr kumimoji="1" lang="zh-CN" altLang="zh-CN">
              <a:solidFill>
                <a:srgbClr val="0000FF"/>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D5B785C-40BF-41D8-89A5-5F91F5EB453C}"/>
              </a:ext>
            </a:extLst>
          </p:cNvPr>
          <p:cNvSpPr>
            <a:spLocks noGrp="1" noChangeArrowheads="1"/>
          </p:cNvSpPr>
          <p:nvPr>
            <p:ph type="sldNum" sz="quarter" idx="5"/>
          </p:nvPr>
        </p:nvSpPr>
        <p:spPr>
          <a:ln/>
        </p:spPr>
        <p:txBody>
          <a:bodyPr/>
          <a:lstStyle/>
          <a:p>
            <a:fld id="{13907F89-6CFD-47CE-BCFD-6131A19F9025}" type="slidenum">
              <a:rPr lang="en-US" altLang="zh-CN"/>
              <a:pPr/>
              <a:t>55</a:t>
            </a:fld>
            <a:endParaRPr lang="en-US" altLang="zh-CN"/>
          </a:p>
        </p:txBody>
      </p:sp>
      <p:sp>
        <p:nvSpPr>
          <p:cNvPr id="29698" name="Rectangle 2">
            <a:extLst>
              <a:ext uri="{FF2B5EF4-FFF2-40B4-BE49-F238E27FC236}">
                <a16:creationId xmlns:a16="http://schemas.microsoft.com/office/drawing/2014/main" id="{C7E57242-DF38-4D91-B1B6-E37DAE1BE3C5}"/>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A232F228-832B-484A-86EF-D70641F9232D}"/>
              </a:ext>
            </a:extLst>
          </p:cNvPr>
          <p:cNvSpPr>
            <a:spLocks noGrp="1" noChangeArrowheads="1"/>
          </p:cNvSpPr>
          <p:nvPr>
            <p:ph type="body" idx="1"/>
          </p:nvPr>
        </p:nvSpPr>
        <p:spPr>
          <a:xfrm>
            <a:off x="914400" y="4343400"/>
            <a:ext cx="5029200" cy="4114800"/>
          </a:xfrm>
        </p:spPr>
        <p:txBody>
          <a:bodyP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00FF"/>
                </a:solidFill>
              </a:rPr>
              <a:t>对大型设计建模时，使用接口方法，模块间的通信细节可以在接口中描述，与模块间通信相关的代码就不需要在每个模块重复编写，因此，接口不仅可以用来封装连接模块的数据，还可以用来封装模块间通信协议。</a:t>
            </a:r>
          </a:p>
          <a:p>
            <a:pPr marL="228600" indent="-228600"/>
            <a:endParaRPr kumimoji="1" lang="zh-CN" altLang="zh-CN" dirty="0">
              <a:solidFill>
                <a:srgbClr val="0000FF"/>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5324255-05BF-47D8-8722-5F3BC6265D34}"/>
              </a:ext>
            </a:extLst>
          </p:cNvPr>
          <p:cNvSpPr>
            <a:spLocks noGrp="1" noChangeArrowheads="1"/>
          </p:cNvSpPr>
          <p:nvPr>
            <p:ph type="sldNum" sz="quarter" idx="5"/>
          </p:nvPr>
        </p:nvSpPr>
        <p:spPr>
          <a:ln/>
        </p:spPr>
        <p:txBody>
          <a:bodyPr/>
          <a:lstStyle/>
          <a:p>
            <a:fld id="{218D4506-7B15-4475-AEB5-0A9531E8AF8F}" type="slidenum">
              <a:rPr lang="en-US" altLang="zh-CN"/>
              <a:pPr/>
              <a:t>56</a:t>
            </a:fld>
            <a:endParaRPr lang="en-US" altLang="zh-CN"/>
          </a:p>
        </p:txBody>
      </p:sp>
      <p:sp>
        <p:nvSpPr>
          <p:cNvPr id="33794" name="Rectangle 2">
            <a:extLst>
              <a:ext uri="{FF2B5EF4-FFF2-40B4-BE49-F238E27FC236}">
                <a16:creationId xmlns:a16="http://schemas.microsoft.com/office/drawing/2014/main" id="{8002742E-570E-4724-B755-2DBB9A660653}"/>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3795" name="Rectangle 3">
            <a:extLst>
              <a:ext uri="{FF2B5EF4-FFF2-40B4-BE49-F238E27FC236}">
                <a16:creationId xmlns:a16="http://schemas.microsoft.com/office/drawing/2014/main" id="{B35190CB-BDD2-4352-8347-2FE4AACF906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dirty="0">
              <a:solidFill>
                <a:srgbClr val="0000FF"/>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BFC7E5B-7805-464D-8687-E043A8C24C63}"/>
              </a:ext>
            </a:extLst>
          </p:cNvPr>
          <p:cNvSpPr>
            <a:spLocks noGrp="1" noChangeArrowheads="1"/>
          </p:cNvSpPr>
          <p:nvPr>
            <p:ph type="sldNum" sz="quarter" idx="5"/>
          </p:nvPr>
        </p:nvSpPr>
        <p:spPr>
          <a:ln/>
        </p:spPr>
        <p:txBody>
          <a:bodyPr/>
          <a:lstStyle/>
          <a:p>
            <a:fld id="{8C756164-5D0E-491F-9E81-3BC458C13C5C}" type="slidenum">
              <a:rPr lang="en-US" altLang="zh-CN"/>
              <a:pPr/>
              <a:t>57</a:t>
            </a:fld>
            <a:endParaRPr lang="en-US" altLang="zh-CN"/>
          </a:p>
        </p:txBody>
      </p:sp>
      <p:sp>
        <p:nvSpPr>
          <p:cNvPr id="39938" name="Rectangle 2">
            <a:extLst>
              <a:ext uri="{FF2B5EF4-FFF2-40B4-BE49-F238E27FC236}">
                <a16:creationId xmlns:a16="http://schemas.microsoft.com/office/drawing/2014/main" id="{C01B2CE2-F0E7-4691-8652-C53593BBEDB8}"/>
              </a:ext>
            </a:extLst>
          </p:cNvPr>
          <p:cNvSpPr>
            <a:spLocks noGrp="1" noRot="1" noChangeAspect="1" noChangeArrowheads="1" noTextEdit="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p:spPr>
      </p:sp>
      <p:sp>
        <p:nvSpPr>
          <p:cNvPr id="39939" name="Rectangle 3">
            <a:extLst>
              <a:ext uri="{FF2B5EF4-FFF2-40B4-BE49-F238E27FC236}">
                <a16:creationId xmlns:a16="http://schemas.microsoft.com/office/drawing/2014/main" id="{E625FE64-2886-47E6-AEC5-77591B1BEE4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pPr marL="228600" indent="-228600"/>
            <a:endParaRPr kumimoji="1" lang="zh-CN" altLang="zh-CN">
              <a:solidFill>
                <a:srgbClr val="0000FF"/>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1F0A35-23B5-452E-A0E4-D6BD6B6740B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FA2C07D-5A78-4497-9015-46DBAF87E8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2ACBBB9-7AC9-4893-A639-875C180C7A31}"/>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9D797BAD-B39B-4254-B186-1576BCFF652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C0571E4-31F2-44CF-811C-FDEE53A8E9B9}"/>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25030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D3E974-A326-49D8-80EC-8EF23D320ED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1754BF3-3A29-43B2-BC67-E56A9E8D0F70}"/>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61FD727-1B68-4127-8261-7D70463D0376}"/>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FDC1148B-3891-4783-8DD9-989E3C84E1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227EC12-2C61-45E3-B8DB-BBB212B9688F}"/>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2594564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C5245E-F23A-4822-A1D5-FC2D7E2FF47A}"/>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8FB9324-C8AF-4840-8989-CE783472480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42C61C44-5FA8-42CC-9846-1EF89DE73197}"/>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488D48E3-F845-4419-AA0A-71B2F42667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5DD1249-E7D3-40D5-B263-F3ADC9628413}"/>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1139620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3D002B-DA39-4E7D-AF23-6706CC701E2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199E764-3DB1-46A2-8535-18AECB5B1A9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28CFAA4-A91A-4F9F-BFD2-016B1019F4F7}"/>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8B00C57-897E-4465-A855-52303A3F05EE}"/>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6" name="页脚占位符 5">
            <a:extLst>
              <a:ext uri="{FF2B5EF4-FFF2-40B4-BE49-F238E27FC236}">
                <a16:creationId xmlns:a16="http://schemas.microsoft.com/office/drawing/2014/main" id="{7B2DAB3E-2261-448A-9963-0A753F45518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E0DFA0F-EE82-4C62-802C-4C0331F01954}"/>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1829118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FE6813-3FDC-4A38-BAE8-05C9BCEB26E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09FC4C9-6F11-491D-B30C-7AB878A6BA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C8F5F18-B068-45CE-AF66-EDED7B398EE0}"/>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8EAAD20B-1140-4657-8C08-AABE33C8B3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3BC6AFB-77E7-4DA2-B65D-40C5E3DEFDCA}"/>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B6A970F-D479-4191-A8BF-D2760EE9BC7E}"/>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8" name="页脚占位符 7">
            <a:extLst>
              <a:ext uri="{FF2B5EF4-FFF2-40B4-BE49-F238E27FC236}">
                <a16:creationId xmlns:a16="http://schemas.microsoft.com/office/drawing/2014/main" id="{4906F407-8F2E-47CC-80FD-79ACA1500A3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F9449E5-D7B0-49F1-BC72-C37825618667}"/>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2065938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58695-7A89-49D4-916D-98B48B55B36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1896371-3542-4C50-9B7E-5B7F87097459}"/>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4" name="页脚占位符 3">
            <a:extLst>
              <a:ext uri="{FF2B5EF4-FFF2-40B4-BE49-F238E27FC236}">
                <a16:creationId xmlns:a16="http://schemas.microsoft.com/office/drawing/2014/main" id="{398ED5BF-F33C-4484-BCE5-3BFD425B90F7}"/>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3C4C2CF-B5F2-467F-ACE0-E3394C36DFDC}"/>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297184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9A325F-D2A2-4993-99F3-D70AEF96519F}"/>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3" name="页脚占位符 2">
            <a:extLst>
              <a:ext uri="{FF2B5EF4-FFF2-40B4-BE49-F238E27FC236}">
                <a16:creationId xmlns:a16="http://schemas.microsoft.com/office/drawing/2014/main" id="{21F8CFB4-A01D-4514-A0CE-FFC937BD00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F0D1498B-7922-466D-BF86-02D11B170826}"/>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237197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35F9BD-041A-4170-96F5-CBE2F32FE67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3C52AD-383A-40BD-AE4D-89E333DBA3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16A2062-1990-4D8E-87FD-472E9D2E3E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24F244E9-1B34-4841-9DC3-142E1C95F888}"/>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6" name="页脚占位符 5">
            <a:extLst>
              <a:ext uri="{FF2B5EF4-FFF2-40B4-BE49-F238E27FC236}">
                <a16:creationId xmlns:a16="http://schemas.microsoft.com/office/drawing/2014/main" id="{DA6C49FC-E9F5-4318-A968-5FAA6B302F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3CF50C1-2BA3-47B2-90D4-A530E2B79723}"/>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811738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F8C007-89AA-4582-939C-2EAB9A64C9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03665E8-1FCD-493C-A740-57497756CE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462AA06-3E6D-4945-8FA0-E974C85E289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8251E4C5-5631-485F-A269-C19D7AC13B59}"/>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6" name="页脚占位符 5">
            <a:extLst>
              <a:ext uri="{FF2B5EF4-FFF2-40B4-BE49-F238E27FC236}">
                <a16:creationId xmlns:a16="http://schemas.microsoft.com/office/drawing/2014/main" id="{545985D8-5C87-4567-96EB-E2D47E31FB6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6018D45-8CF5-4D3A-9263-6F632069C83E}"/>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1652679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74ED9B-7DF6-42FF-B491-AD9CC8D7E5D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861C63-EDAC-4B8C-9E23-85086D759C0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F7DB245A-0C0B-4644-942A-24B0F03B3E3D}"/>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FAD0DB38-C8A0-4DEE-9EC6-9132268D35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7790D58-BF0B-465F-8CD2-A6C418FD6285}"/>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3979838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9349288-E5D1-4384-990D-977FA2A71C1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22EAA0-B28B-41E8-B80D-2F1E790A168F}"/>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802399A-F35C-4481-98FA-78A4A36848AF}"/>
              </a:ext>
            </a:extLst>
          </p:cNvPr>
          <p:cNvSpPr>
            <a:spLocks noGrp="1"/>
          </p:cNvSpPr>
          <p:nvPr>
            <p:ph type="dt" sz="half" idx="10"/>
          </p:nvPr>
        </p:nvSpPr>
        <p:spPr/>
        <p:txBody>
          <a:body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A1D0EAD8-D6CF-4A5F-9A39-BB2D372D76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9AE8C0-D4A7-46C8-9049-AC1CF11DB8B4}"/>
              </a:ext>
            </a:extLst>
          </p:cNvPr>
          <p:cNvSpPr>
            <a:spLocks noGrp="1"/>
          </p:cNvSpPr>
          <p:nvPr>
            <p:ph type="sldNum" sz="quarter" idx="12"/>
          </p:nvPr>
        </p:nvSpPr>
        <p:spPr/>
        <p:txBody>
          <a:body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4066113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E36F46C-C2E8-47C5-8AA5-A656200830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F0F9ACE-1BCB-4E8B-A823-B176A39D39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C6BD0C15-36EE-4DAF-A544-6373D78B15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7D9EA6-CFA3-4987-8A2F-CE21CD5D0656}" type="datetimeFigureOut">
              <a:rPr lang="zh-CN" altLang="en-US" smtClean="0"/>
              <a:t>2022/4/7</a:t>
            </a:fld>
            <a:endParaRPr lang="zh-CN" altLang="en-US"/>
          </a:p>
        </p:txBody>
      </p:sp>
      <p:sp>
        <p:nvSpPr>
          <p:cNvPr id="5" name="页脚占位符 4">
            <a:extLst>
              <a:ext uri="{FF2B5EF4-FFF2-40B4-BE49-F238E27FC236}">
                <a16:creationId xmlns:a16="http://schemas.microsoft.com/office/drawing/2014/main" id="{BBC0DC7E-A708-4338-95CE-B8185B6206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E0BE101-7118-4A90-B101-528953B763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EFF5C5-A69D-46BF-A97C-F595D3114B98}" type="slidenum">
              <a:rPr lang="zh-CN" altLang="en-US" smtClean="0"/>
              <a:t>‹#›</a:t>
            </a:fld>
            <a:endParaRPr lang="zh-CN" altLang="en-US"/>
          </a:p>
        </p:txBody>
      </p:sp>
    </p:spTree>
    <p:extLst>
      <p:ext uri="{BB962C8B-B14F-4D97-AF65-F5344CB8AC3E}">
        <p14:creationId xmlns:p14="http://schemas.microsoft.com/office/powerpoint/2010/main" val="38358609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443121-21B7-4C45-97E2-C0556DF05051}"/>
              </a:ext>
            </a:extLst>
          </p:cNvPr>
          <p:cNvSpPr>
            <a:spLocks noGrp="1"/>
          </p:cNvSpPr>
          <p:nvPr>
            <p:ph type="ctrTitle"/>
          </p:nvPr>
        </p:nvSpPr>
        <p:spPr>
          <a:xfrm>
            <a:off x="1524000" y="1122363"/>
            <a:ext cx="9144000" cy="2387600"/>
          </a:xfrm>
        </p:spPr>
        <p:txBody>
          <a:bodyPr>
            <a:normAutofit/>
          </a:bodyPr>
          <a:lstStyle/>
          <a:p>
            <a:r>
              <a:rPr lang="en-US" altLang="zh-CN" dirty="0"/>
              <a:t>System Verilog </a:t>
            </a:r>
            <a:r>
              <a:rPr lang="zh-CN" altLang="en-US" dirty="0"/>
              <a:t>简介</a:t>
            </a:r>
            <a:br>
              <a:rPr lang="zh-CN" altLang="en-US" dirty="0"/>
            </a:br>
            <a:endParaRPr lang="zh-CN" altLang="en-US" dirty="0"/>
          </a:p>
        </p:txBody>
      </p:sp>
      <p:sp>
        <p:nvSpPr>
          <p:cNvPr id="3" name="副标题 2">
            <a:extLst>
              <a:ext uri="{FF2B5EF4-FFF2-40B4-BE49-F238E27FC236}">
                <a16:creationId xmlns:a16="http://schemas.microsoft.com/office/drawing/2014/main" id="{694637E1-1D97-450B-99E2-EDB70AE7EE7C}"/>
              </a:ext>
            </a:extLst>
          </p:cNvPr>
          <p:cNvSpPr>
            <a:spLocks noGrp="1"/>
          </p:cNvSpPr>
          <p:nvPr>
            <p:ph type="subTitle" idx="1"/>
          </p:nvPr>
        </p:nvSpPr>
        <p:spPr>
          <a:xfrm>
            <a:off x="0" y="3362036"/>
            <a:ext cx="12192000" cy="1951182"/>
          </a:xfrm>
        </p:spPr>
        <p:txBody>
          <a:bodyPr>
            <a:normAutofit fontScale="85000" lnSpcReduction="20000"/>
          </a:bodyPr>
          <a:lstStyle/>
          <a:p>
            <a:r>
              <a:rPr lang="en-US" altLang="zh-CN" sz="3200" dirty="0">
                <a:solidFill>
                  <a:srgbClr val="FF0000"/>
                </a:solidFill>
              </a:rPr>
              <a:t>Synthesizable</a:t>
            </a:r>
            <a:r>
              <a:rPr lang="en-US" altLang="zh-CN" sz="3200" dirty="0"/>
              <a:t> </a:t>
            </a:r>
            <a:r>
              <a:rPr lang="en-US" altLang="zh-CN" sz="3200" dirty="0" err="1"/>
              <a:t>SystemVerilog</a:t>
            </a:r>
            <a:r>
              <a:rPr lang="en-US" altLang="zh-CN" sz="3200" dirty="0"/>
              <a:t> For Design</a:t>
            </a:r>
          </a:p>
          <a:p>
            <a:endParaRPr lang="en-US" altLang="zh-CN" sz="3200" dirty="0"/>
          </a:p>
          <a:p>
            <a:endParaRPr lang="en-US" altLang="zh-CN" sz="3200" dirty="0"/>
          </a:p>
          <a:p>
            <a:pPr algn="l"/>
            <a:r>
              <a:rPr lang="zh-CN" altLang="en-US" dirty="0"/>
              <a:t>参考书：</a:t>
            </a:r>
            <a:endParaRPr lang="en-US" altLang="zh-CN" dirty="0"/>
          </a:p>
          <a:p>
            <a:pPr algn="l"/>
            <a:r>
              <a:rPr lang="en-US" altLang="zh-CN" dirty="0"/>
              <a:t>1.</a:t>
            </a:r>
            <a:r>
              <a:rPr lang="en-US" altLang="zh-CN" dirty="0">
                <a:solidFill>
                  <a:srgbClr val="000099"/>
                </a:solidFill>
                <a:latin typeface="Arial" panose="020B0604020202020204" pitchFamily="34" charset="0"/>
              </a:rPr>
              <a:t> </a:t>
            </a:r>
            <a:r>
              <a:rPr lang="en-US" altLang="zh-CN" dirty="0" err="1"/>
              <a:t>Sauart</a:t>
            </a:r>
            <a:r>
              <a:rPr lang="en-US" altLang="zh-CN" dirty="0"/>
              <a:t> Sutherland, Simon </a:t>
            </a:r>
            <a:r>
              <a:rPr lang="en-US" altLang="zh-CN" dirty="0" err="1"/>
              <a:t>Davidmann</a:t>
            </a:r>
            <a:r>
              <a:rPr lang="en-US" altLang="zh-CN" dirty="0"/>
              <a:t>,</a:t>
            </a:r>
            <a:r>
              <a:rPr lang="zh-CN" altLang="en-US" dirty="0"/>
              <a:t> </a:t>
            </a:r>
            <a:r>
              <a:rPr lang="en-US" altLang="zh-CN" dirty="0"/>
              <a:t>Peter Flake : </a:t>
            </a:r>
            <a:r>
              <a:rPr lang="en-US" altLang="zh-CN" dirty="0" err="1"/>
              <a:t>SystemVerilog</a:t>
            </a:r>
            <a:r>
              <a:rPr lang="en-US" altLang="zh-CN" dirty="0"/>
              <a:t> for Design.2nd Ed</a:t>
            </a:r>
            <a:endParaRPr lang="zh-CN" altLang="en-US" dirty="0"/>
          </a:p>
        </p:txBody>
      </p:sp>
    </p:spTree>
    <p:extLst>
      <p:ext uri="{BB962C8B-B14F-4D97-AF65-F5344CB8AC3E}">
        <p14:creationId xmlns:p14="http://schemas.microsoft.com/office/powerpoint/2010/main" val="7814283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2314E1-43B1-492D-A5AD-46EC5B77F9E4}"/>
              </a:ext>
            </a:extLst>
          </p:cNvPr>
          <p:cNvSpPr>
            <a:spLocks noGrp="1"/>
          </p:cNvSpPr>
          <p:nvPr>
            <p:ph type="title"/>
          </p:nvPr>
        </p:nvSpPr>
        <p:spPr/>
        <p:txBody>
          <a:bodyPr/>
          <a:lstStyle/>
          <a:p>
            <a:r>
              <a:rPr lang="en-US" altLang="zh-CN" dirty="0" err="1">
                <a:solidFill>
                  <a:srgbClr val="000066"/>
                </a:solidFill>
                <a:latin typeface="Arial" panose="020B0604020202020204" pitchFamily="34" charset="0"/>
              </a:rPr>
              <a:t>SystemVerilog</a:t>
            </a:r>
            <a:r>
              <a:rPr lang="zh-CN" altLang="en-US" dirty="0">
                <a:solidFill>
                  <a:srgbClr val="000066"/>
                </a:solidFill>
                <a:latin typeface="Arial" panose="020B0604020202020204" pitchFamily="34" charset="0"/>
              </a:rPr>
              <a:t>起源</a:t>
            </a:r>
            <a:endParaRPr lang="zh-CN" altLang="en-US" dirty="0"/>
          </a:p>
        </p:txBody>
      </p:sp>
      <p:sp>
        <p:nvSpPr>
          <p:cNvPr id="3" name="内容占位符 2">
            <a:extLst>
              <a:ext uri="{FF2B5EF4-FFF2-40B4-BE49-F238E27FC236}">
                <a16:creationId xmlns:a16="http://schemas.microsoft.com/office/drawing/2014/main" id="{DE3D59CA-C140-4BC1-8EFF-FD3768AA2C7A}"/>
              </a:ext>
            </a:extLst>
          </p:cNvPr>
          <p:cNvSpPr>
            <a:spLocks noGrp="1"/>
          </p:cNvSpPr>
          <p:nvPr>
            <p:ph idx="1"/>
          </p:nvPr>
        </p:nvSpPr>
        <p:spPr/>
        <p:txBody>
          <a:bodyPr/>
          <a:lstStyle/>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IEEE 1364-2005 Verilog</a:t>
            </a:r>
            <a:r>
              <a:rPr lang="zh-CN" altLang="en-US" dirty="0">
                <a:solidFill>
                  <a:srgbClr val="0000FF"/>
                </a:solidFill>
                <a:latin typeface="Arial" panose="020B0604020202020204" pitchFamily="34" charset="0"/>
              </a:rPr>
              <a:t>标准的扩展</a:t>
            </a:r>
          </a:p>
          <a:p>
            <a:pPr>
              <a:lnSpc>
                <a:spcPct val="120000"/>
              </a:lnSpc>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整合了</a:t>
            </a:r>
            <a:r>
              <a:rPr lang="en-US" altLang="zh-CN" dirty="0">
                <a:solidFill>
                  <a:srgbClr val="0000FF"/>
                </a:solidFill>
                <a:latin typeface="Arial" panose="020B0604020202020204" pitchFamily="34" charset="0"/>
              </a:rPr>
              <a:t>SUPERLOG</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VERA</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C</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C++</a:t>
            </a:r>
            <a:r>
              <a:rPr lang="zh-CN" altLang="en-US" dirty="0">
                <a:solidFill>
                  <a:srgbClr val="0000FF"/>
                </a:solidFill>
                <a:latin typeface="Arial" panose="020B0604020202020204" pitchFamily="34" charset="0"/>
              </a:rPr>
              <a:t>及 </a:t>
            </a:r>
            <a:r>
              <a:rPr lang="en-US" altLang="zh-CN" dirty="0">
                <a:solidFill>
                  <a:srgbClr val="0000FF"/>
                </a:solidFill>
                <a:latin typeface="Arial" panose="020B0604020202020204" pitchFamily="34" charset="0"/>
              </a:rPr>
              <a:t>VHDL</a:t>
            </a:r>
            <a:r>
              <a:rPr lang="zh-CN" altLang="en-US" dirty="0">
                <a:solidFill>
                  <a:srgbClr val="0000FF"/>
                </a:solidFill>
                <a:latin typeface="Arial" panose="020B0604020202020204" pitchFamily="34" charset="0"/>
              </a:rPr>
              <a:t>特性</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同时包括了</a:t>
            </a:r>
            <a:r>
              <a:rPr lang="en-US" altLang="zh-CN" dirty="0">
                <a:solidFill>
                  <a:srgbClr val="0000FF"/>
                </a:solidFill>
                <a:latin typeface="Arial" panose="020B0604020202020204" pitchFamily="34" charset="0"/>
              </a:rPr>
              <a:t>OVA</a:t>
            </a:r>
            <a:r>
              <a:rPr lang="zh-CN" altLang="en-US" dirty="0">
                <a:solidFill>
                  <a:srgbClr val="0000FF"/>
                </a:solidFill>
                <a:latin typeface="Arial" panose="020B0604020202020204" pitchFamily="34" charset="0"/>
              </a:rPr>
              <a:t>和</a:t>
            </a:r>
            <a:r>
              <a:rPr lang="en-US" altLang="zh-CN" dirty="0">
                <a:solidFill>
                  <a:srgbClr val="0000FF"/>
                </a:solidFill>
                <a:latin typeface="Arial" panose="020B0604020202020204" pitchFamily="34" charset="0"/>
              </a:rPr>
              <a:t>PSL</a:t>
            </a:r>
            <a:r>
              <a:rPr lang="zh-CN" altLang="en-US" dirty="0">
                <a:solidFill>
                  <a:srgbClr val="0000FF"/>
                </a:solidFill>
                <a:latin typeface="Arial" panose="020B0604020202020204" pitchFamily="34" charset="0"/>
              </a:rPr>
              <a:t>断言</a:t>
            </a:r>
            <a:endParaRPr lang="zh-TW" altLang="en-US" dirty="0">
              <a:solidFill>
                <a:srgbClr val="0000FF"/>
              </a:solidFill>
              <a:latin typeface="Arial" panose="020B0604020202020204" pitchFamily="34" charset="0"/>
            </a:endParaRPr>
          </a:p>
          <a:p>
            <a:pPr>
              <a:lnSpc>
                <a:spcPct val="120000"/>
              </a:lnSpc>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SystemVerilog</a:t>
            </a:r>
            <a:r>
              <a:rPr lang="zh-CN" altLang="en-US" dirty="0">
                <a:solidFill>
                  <a:srgbClr val="0000FF"/>
                </a:solidFill>
                <a:latin typeface="Arial" panose="020B0604020202020204" pitchFamily="34" charset="0"/>
              </a:rPr>
              <a:t>是设计与验证的统一的语言</a:t>
            </a:r>
          </a:p>
          <a:p>
            <a:pPr>
              <a:lnSpc>
                <a:spcPct val="120000"/>
              </a:lnSpc>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SystemVerilog</a:t>
            </a:r>
            <a:r>
              <a:rPr lang="zh-CN" altLang="en-US" dirty="0">
                <a:solidFill>
                  <a:srgbClr val="0000FF"/>
                </a:solidFill>
                <a:latin typeface="Arial" panose="020B0604020202020204" pitchFamily="34" charset="0"/>
              </a:rPr>
              <a:t>与</a:t>
            </a:r>
            <a:r>
              <a:rPr lang="en-US" altLang="zh-CN" dirty="0">
                <a:solidFill>
                  <a:srgbClr val="0000FF"/>
                </a:solidFill>
                <a:latin typeface="Arial" panose="020B0604020202020204" pitchFamily="34" charset="0"/>
              </a:rPr>
              <a:t>Verilog</a:t>
            </a:r>
            <a:r>
              <a:rPr lang="zh-CN" altLang="en-US" dirty="0">
                <a:solidFill>
                  <a:srgbClr val="0000FF"/>
                </a:solidFill>
                <a:latin typeface="Arial" panose="020B0604020202020204" pitchFamily="34" charset="0"/>
              </a:rPr>
              <a:t>向下兼容</a:t>
            </a:r>
            <a:endParaRPr lang="zh-TW" altLang="en-US" dirty="0">
              <a:solidFill>
                <a:srgbClr val="0000FF"/>
              </a:solidFill>
              <a:latin typeface="Arial" panose="020B0604020202020204" pitchFamily="34" charset="0"/>
            </a:endParaRPr>
          </a:p>
          <a:p>
            <a:pPr>
              <a:lnSpc>
                <a:spcPct val="120000"/>
              </a:lnSpc>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SystemVerilog</a:t>
            </a:r>
            <a:r>
              <a:rPr lang="zh-CN" altLang="en-US" dirty="0">
                <a:solidFill>
                  <a:srgbClr val="0000FF"/>
                </a:solidFill>
                <a:latin typeface="Arial" panose="020B0604020202020204" pitchFamily="34" charset="0"/>
              </a:rPr>
              <a:t>是由</a:t>
            </a:r>
            <a:r>
              <a:rPr lang="en-US" altLang="zh-CN" dirty="0" err="1">
                <a:solidFill>
                  <a:srgbClr val="0000FF"/>
                </a:solidFill>
                <a:latin typeface="Arial" panose="020B0604020202020204" pitchFamily="34" charset="0"/>
              </a:rPr>
              <a:t>Accellera</a:t>
            </a:r>
            <a:r>
              <a:rPr lang="zh-CN" altLang="en-US" dirty="0">
                <a:solidFill>
                  <a:srgbClr val="0000FF"/>
                </a:solidFill>
                <a:latin typeface="Arial" panose="020B0604020202020204" pitchFamily="34" charset="0"/>
              </a:rPr>
              <a:t>标准机构制定</a:t>
            </a:r>
            <a:endParaRPr lang="zh-CN" altLang="en-US" dirty="0"/>
          </a:p>
        </p:txBody>
      </p:sp>
    </p:spTree>
    <p:extLst>
      <p:ext uri="{BB962C8B-B14F-4D97-AF65-F5344CB8AC3E}">
        <p14:creationId xmlns:p14="http://schemas.microsoft.com/office/powerpoint/2010/main" val="130337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3698F-D6B9-4002-BC13-DAED11B12404}"/>
              </a:ext>
            </a:extLst>
          </p:cNvPr>
          <p:cNvSpPr>
            <a:spLocks noGrp="1"/>
          </p:cNvSpPr>
          <p:nvPr>
            <p:ph type="title"/>
          </p:nvPr>
        </p:nvSpPr>
        <p:spPr/>
        <p:txBody>
          <a:bodyPr/>
          <a:lstStyle/>
          <a:p>
            <a:r>
              <a:rPr lang="en-US" altLang="zh-CN" dirty="0" err="1">
                <a:solidFill>
                  <a:srgbClr val="000066"/>
                </a:solidFill>
                <a:latin typeface="Arial" panose="020B0604020202020204" pitchFamily="34" charset="0"/>
              </a:rPr>
              <a:t>SystemVerilog</a:t>
            </a:r>
            <a:r>
              <a:rPr lang="zh-CN" altLang="en-US" dirty="0">
                <a:solidFill>
                  <a:srgbClr val="000066"/>
                </a:solidFill>
                <a:latin typeface="Arial" panose="020B0604020202020204" pitchFamily="34" charset="0"/>
              </a:rPr>
              <a:t>标准历程</a:t>
            </a:r>
            <a:endParaRPr lang="zh-CN" altLang="en-US" dirty="0"/>
          </a:p>
        </p:txBody>
      </p:sp>
      <p:sp>
        <p:nvSpPr>
          <p:cNvPr id="3" name="内容占位符 2">
            <a:extLst>
              <a:ext uri="{FF2B5EF4-FFF2-40B4-BE49-F238E27FC236}">
                <a16:creationId xmlns:a16="http://schemas.microsoft.com/office/drawing/2014/main" id="{461052EE-BC8F-4C50-A2CD-9969B3C379AF}"/>
              </a:ext>
            </a:extLst>
          </p:cNvPr>
          <p:cNvSpPr>
            <a:spLocks noGrp="1"/>
          </p:cNvSpPr>
          <p:nvPr>
            <p:ph idx="1"/>
          </p:nvPr>
        </p:nvSpPr>
        <p:spPr/>
        <p:txBody>
          <a:bodyPr/>
          <a:lstStyle/>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2002</a:t>
            </a:r>
            <a:r>
              <a:rPr lang="zh-CN" altLang="en-US" dirty="0">
                <a:solidFill>
                  <a:srgbClr val="0000FF"/>
                </a:solidFill>
                <a:latin typeface="Arial" panose="020B0604020202020204" pitchFamily="34" charset="0"/>
              </a:rPr>
              <a:t>年</a:t>
            </a:r>
            <a:r>
              <a:rPr lang="en-US" altLang="zh-CN" dirty="0">
                <a:solidFill>
                  <a:srgbClr val="0000FF"/>
                </a:solidFill>
                <a:latin typeface="Arial" panose="020B0604020202020204" pitchFamily="34" charset="0"/>
              </a:rPr>
              <a:t>6</a:t>
            </a:r>
            <a:r>
              <a:rPr lang="zh-CN" altLang="en-US" dirty="0">
                <a:solidFill>
                  <a:srgbClr val="0000FF"/>
                </a:solidFill>
                <a:latin typeface="Arial" panose="020B0604020202020204" pitchFamily="34" charset="0"/>
              </a:rPr>
              <a:t>月：</a:t>
            </a:r>
            <a:r>
              <a:rPr lang="en-US" altLang="zh-CN" dirty="0" err="1">
                <a:solidFill>
                  <a:srgbClr val="0000FF"/>
                </a:solidFill>
                <a:latin typeface="Arial" panose="020B0604020202020204" pitchFamily="34" charset="0"/>
              </a:rPr>
              <a:t>SystemVerilog</a:t>
            </a:r>
            <a:r>
              <a:rPr lang="en-US" altLang="zh-CN" dirty="0">
                <a:solidFill>
                  <a:srgbClr val="0000FF"/>
                </a:solidFill>
                <a:latin typeface="Arial" panose="020B0604020202020204" pitchFamily="34" charset="0"/>
              </a:rPr>
              <a:t> 3.0</a:t>
            </a:r>
            <a:r>
              <a:rPr lang="zh-CN" altLang="en-US" dirty="0">
                <a:solidFill>
                  <a:srgbClr val="0000FF"/>
                </a:solidFill>
                <a:latin typeface="Arial" panose="020B0604020202020204" pitchFamily="34" charset="0"/>
              </a:rPr>
              <a:t>（综合）</a:t>
            </a:r>
          </a:p>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2003</a:t>
            </a:r>
            <a:r>
              <a:rPr lang="zh-CN" altLang="en-US" dirty="0">
                <a:solidFill>
                  <a:srgbClr val="0000FF"/>
                </a:solidFill>
                <a:latin typeface="Arial" panose="020B0604020202020204" pitchFamily="34" charset="0"/>
              </a:rPr>
              <a:t>年</a:t>
            </a:r>
            <a:r>
              <a:rPr lang="en-US" altLang="zh-CN" dirty="0">
                <a:solidFill>
                  <a:srgbClr val="0000FF"/>
                </a:solidFill>
                <a:latin typeface="Arial" panose="020B0604020202020204" pitchFamily="34" charset="0"/>
              </a:rPr>
              <a:t>5</a:t>
            </a:r>
            <a:r>
              <a:rPr lang="zh-CN" altLang="en-US" dirty="0">
                <a:solidFill>
                  <a:srgbClr val="0000FF"/>
                </a:solidFill>
                <a:latin typeface="Arial" panose="020B0604020202020204" pitchFamily="34" charset="0"/>
              </a:rPr>
              <a:t>月：</a:t>
            </a:r>
            <a:r>
              <a:rPr lang="en-US" altLang="zh-CN" dirty="0" err="1">
                <a:solidFill>
                  <a:srgbClr val="0000FF"/>
                </a:solidFill>
                <a:latin typeface="Arial" panose="020B0604020202020204" pitchFamily="34" charset="0"/>
              </a:rPr>
              <a:t>SystemVerilog</a:t>
            </a:r>
            <a:r>
              <a:rPr lang="en-US" altLang="zh-CN" dirty="0">
                <a:solidFill>
                  <a:srgbClr val="0000FF"/>
                </a:solidFill>
                <a:latin typeface="Arial" panose="020B0604020202020204" pitchFamily="34" charset="0"/>
              </a:rPr>
              <a:t> 3.1</a:t>
            </a:r>
            <a:r>
              <a:rPr lang="zh-CN" altLang="en-US" dirty="0">
                <a:solidFill>
                  <a:srgbClr val="0000FF"/>
                </a:solidFill>
                <a:latin typeface="Arial" panose="020B0604020202020204" pitchFamily="34" charset="0"/>
              </a:rPr>
              <a:t>（验证）</a:t>
            </a:r>
          </a:p>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2004</a:t>
            </a:r>
            <a:r>
              <a:rPr lang="zh-CN" altLang="en-US" dirty="0">
                <a:solidFill>
                  <a:srgbClr val="0000FF"/>
                </a:solidFill>
                <a:latin typeface="Arial" panose="020B0604020202020204" pitchFamily="34" charset="0"/>
              </a:rPr>
              <a:t>年</a:t>
            </a:r>
            <a:r>
              <a:rPr lang="en-US" altLang="zh-CN" dirty="0">
                <a:solidFill>
                  <a:srgbClr val="0000FF"/>
                </a:solidFill>
                <a:latin typeface="Arial" panose="020B0604020202020204" pitchFamily="34" charset="0"/>
              </a:rPr>
              <a:t>5</a:t>
            </a:r>
            <a:r>
              <a:rPr lang="zh-CN" altLang="en-US" dirty="0">
                <a:solidFill>
                  <a:srgbClr val="0000FF"/>
                </a:solidFill>
                <a:latin typeface="Arial" panose="020B0604020202020204" pitchFamily="34" charset="0"/>
              </a:rPr>
              <a:t>月：</a:t>
            </a:r>
            <a:r>
              <a:rPr lang="en-US" altLang="zh-CN" dirty="0" err="1">
                <a:solidFill>
                  <a:srgbClr val="0000FF"/>
                </a:solidFill>
                <a:latin typeface="Arial" panose="020B0604020202020204" pitchFamily="34" charset="0"/>
              </a:rPr>
              <a:t>SystemVerilog</a:t>
            </a:r>
            <a:r>
              <a:rPr lang="en-US" altLang="zh-CN" dirty="0">
                <a:solidFill>
                  <a:srgbClr val="0000FF"/>
                </a:solidFill>
                <a:latin typeface="Arial" panose="020B0604020202020204" pitchFamily="34" charset="0"/>
              </a:rPr>
              <a:t> 3.1a</a:t>
            </a:r>
          </a:p>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2004</a:t>
            </a:r>
            <a:r>
              <a:rPr lang="zh-CN" altLang="en-US" dirty="0">
                <a:solidFill>
                  <a:srgbClr val="0000FF"/>
                </a:solidFill>
                <a:latin typeface="Arial" panose="020B0604020202020204" pitchFamily="34" charset="0"/>
              </a:rPr>
              <a:t>年</a:t>
            </a:r>
            <a:r>
              <a:rPr lang="en-US" altLang="zh-CN" dirty="0">
                <a:solidFill>
                  <a:srgbClr val="0000FF"/>
                </a:solidFill>
                <a:latin typeface="Arial" panose="020B0604020202020204" pitchFamily="34" charset="0"/>
              </a:rPr>
              <a:t>6</a:t>
            </a:r>
            <a:r>
              <a:rPr lang="zh-CN" altLang="en-US" dirty="0">
                <a:solidFill>
                  <a:srgbClr val="0000FF"/>
                </a:solidFill>
                <a:latin typeface="Arial" panose="020B0604020202020204" pitchFamily="34" charset="0"/>
              </a:rPr>
              <a:t>月：</a:t>
            </a:r>
            <a:r>
              <a:rPr lang="en-US" altLang="zh-CN" dirty="0" err="1">
                <a:solidFill>
                  <a:srgbClr val="0000FF"/>
                </a:solidFill>
                <a:latin typeface="Arial" panose="020B0604020202020204" pitchFamily="34" charset="0"/>
              </a:rPr>
              <a:t>Accellera</a:t>
            </a:r>
            <a:r>
              <a:rPr lang="zh-CN" altLang="en-US" dirty="0">
                <a:solidFill>
                  <a:srgbClr val="0000FF"/>
                </a:solidFill>
                <a:latin typeface="Arial" panose="020B0604020202020204" pitchFamily="34" charset="0"/>
              </a:rPr>
              <a:t>捐赠给</a:t>
            </a:r>
            <a:r>
              <a:rPr lang="en-US" altLang="zh-CN" dirty="0">
                <a:solidFill>
                  <a:srgbClr val="0000FF"/>
                </a:solidFill>
                <a:latin typeface="Arial" panose="020B0604020202020204" pitchFamily="34" charset="0"/>
              </a:rPr>
              <a:t>IEEE</a:t>
            </a:r>
          </a:p>
          <a:p>
            <a:pPr>
              <a:lnSpc>
                <a:spcPct val="120000"/>
              </a:lnSpc>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2005</a:t>
            </a:r>
            <a:r>
              <a:rPr lang="zh-CN" altLang="en-US" dirty="0">
                <a:solidFill>
                  <a:srgbClr val="0000FF"/>
                </a:solidFill>
                <a:latin typeface="Arial" panose="020B0604020202020204" pitchFamily="34" charset="0"/>
              </a:rPr>
              <a:t>年</a:t>
            </a:r>
            <a:r>
              <a:rPr lang="en-US" altLang="zh-CN" dirty="0">
                <a:solidFill>
                  <a:srgbClr val="0000FF"/>
                </a:solidFill>
                <a:latin typeface="Arial" panose="020B0604020202020204" pitchFamily="34" charset="0"/>
              </a:rPr>
              <a:t>11</a:t>
            </a:r>
            <a:r>
              <a:rPr lang="zh-CN" altLang="en-US" dirty="0">
                <a:solidFill>
                  <a:srgbClr val="0000FF"/>
                </a:solidFill>
                <a:latin typeface="Arial" panose="020B0604020202020204" pitchFamily="34" charset="0"/>
              </a:rPr>
              <a:t>月：</a:t>
            </a:r>
            <a:r>
              <a:rPr lang="en-US" altLang="zh-CN" dirty="0">
                <a:solidFill>
                  <a:srgbClr val="0000FF"/>
                </a:solidFill>
                <a:latin typeface="Arial" panose="020B0604020202020204" pitchFamily="34" charset="0"/>
              </a:rPr>
              <a:t>IEEE 1800—2005</a:t>
            </a:r>
            <a:r>
              <a:rPr lang="zh-CN" altLang="en-US" dirty="0">
                <a:solidFill>
                  <a:srgbClr val="0000FF"/>
                </a:solidFill>
                <a:latin typeface="Arial" panose="020B0604020202020204" pitchFamily="34" charset="0"/>
              </a:rPr>
              <a:t>（</a:t>
            </a:r>
            <a:r>
              <a:rPr lang="en-US" altLang="zh-CN" dirty="0" err="1">
                <a:solidFill>
                  <a:srgbClr val="0000FF"/>
                </a:solidFill>
                <a:latin typeface="Arial" panose="020B0604020202020204" pitchFamily="34" charset="0"/>
              </a:rPr>
              <a:t>SystemVerilog</a:t>
            </a:r>
            <a:r>
              <a:rPr lang="zh-CN" altLang="en-US" dirty="0">
                <a:solidFill>
                  <a:srgbClr val="0000FF"/>
                </a:solidFill>
                <a:latin typeface="Arial" panose="020B0604020202020204" pitchFamily="34" charset="0"/>
              </a:rPr>
              <a:t>）</a:t>
            </a:r>
            <a:endParaRPr lang="en-US" altLang="zh-CN" dirty="0">
              <a:solidFill>
                <a:srgbClr val="0000FF"/>
              </a:solidFill>
              <a:latin typeface="Arial" panose="020B0604020202020204" pitchFamily="34" charset="0"/>
            </a:endParaRPr>
          </a:p>
          <a:p>
            <a:pPr marL="0" indent="0">
              <a:lnSpc>
                <a:spcPct val="120000"/>
              </a:lnSpc>
              <a:buClr>
                <a:srgbClr val="000099"/>
              </a:buClr>
              <a:buNone/>
            </a:pP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zh-TW" altLang="en-US" dirty="0">
                <a:solidFill>
                  <a:srgbClr val="0000FF"/>
                </a:solidFill>
                <a:latin typeface="Arial" panose="020B0604020202020204" pitchFamily="34" charset="0"/>
              </a:rPr>
              <a:t> </a:t>
            </a:r>
            <a:r>
              <a:rPr lang="zh-TW" altLang="zh-CN"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IEEE1364—2005</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Verilog</a:t>
            </a:r>
            <a:r>
              <a:rPr lang="zh-CN" altLang="en-US" dirty="0">
                <a:solidFill>
                  <a:srgbClr val="0000FF"/>
                </a:solidFill>
                <a:latin typeface="Arial" panose="020B0604020202020204" pitchFamily="34" charset="0"/>
              </a:rPr>
              <a:t>）</a:t>
            </a:r>
            <a:endParaRPr lang="zh-TW" altLang="en-US" dirty="0">
              <a:solidFill>
                <a:srgbClr val="0000FF"/>
              </a:solidFill>
              <a:latin typeface="Arial" panose="020B0604020202020204" pitchFamily="34" charset="0"/>
            </a:endParaRPr>
          </a:p>
          <a:p>
            <a:endParaRPr lang="zh-CN" altLang="en-US" dirty="0"/>
          </a:p>
        </p:txBody>
      </p:sp>
    </p:spTree>
    <p:extLst>
      <p:ext uri="{BB962C8B-B14F-4D97-AF65-F5344CB8AC3E}">
        <p14:creationId xmlns:p14="http://schemas.microsoft.com/office/powerpoint/2010/main" val="4091877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8BEAE9-D2A7-4215-B275-02859392E400}"/>
              </a:ext>
            </a:extLst>
          </p:cNvPr>
          <p:cNvSpPr>
            <a:spLocks noGrp="1"/>
          </p:cNvSpPr>
          <p:nvPr>
            <p:ph type="title"/>
          </p:nvPr>
        </p:nvSpPr>
        <p:spPr/>
        <p:txBody>
          <a:bodyPr/>
          <a:lstStyle/>
          <a:p>
            <a:r>
              <a:rPr lang="en-US" altLang="zh-CN" dirty="0">
                <a:solidFill>
                  <a:srgbClr val="000066"/>
                </a:solidFill>
                <a:latin typeface="Arial" panose="020B0604020202020204" pitchFamily="34" charset="0"/>
              </a:rPr>
              <a:t>System Verilog</a:t>
            </a:r>
            <a:r>
              <a:rPr lang="zh-CN" altLang="en-US" dirty="0">
                <a:solidFill>
                  <a:srgbClr val="000066"/>
                </a:solidFill>
                <a:latin typeface="Arial" panose="020B0604020202020204" pitchFamily="34" charset="0"/>
              </a:rPr>
              <a:t>关键增强</a:t>
            </a:r>
            <a:endParaRPr lang="zh-CN" altLang="en-US" dirty="0"/>
          </a:p>
        </p:txBody>
      </p:sp>
      <p:sp>
        <p:nvSpPr>
          <p:cNvPr id="3" name="内容占位符 2">
            <a:extLst>
              <a:ext uri="{FF2B5EF4-FFF2-40B4-BE49-F238E27FC236}">
                <a16:creationId xmlns:a16="http://schemas.microsoft.com/office/drawing/2014/main" id="{150A3DA8-7E4C-40CA-950B-F472D0C4DE8B}"/>
              </a:ext>
            </a:extLst>
          </p:cNvPr>
          <p:cNvSpPr>
            <a:spLocks noGrp="1"/>
          </p:cNvSpPr>
          <p:nvPr>
            <p:ph idx="1"/>
          </p:nvPr>
        </p:nvSpPr>
        <p:spPr>
          <a:xfrm>
            <a:off x="838200" y="1414585"/>
            <a:ext cx="9392138" cy="5384800"/>
          </a:xfrm>
        </p:spPr>
        <p:txBody>
          <a:bodyPr>
            <a:normAutofit lnSpcReduction="10000"/>
          </a:bodyPr>
          <a:lstStyle/>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设计内部的封装通信和协议检查的接口</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类似</a:t>
            </a:r>
            <a:r>
              <a:rPr lang="en-US" altLang="zh-CN" dirty="0">
                <a:solidFill>
                  <a:srgbClr val="0000FF"/>
                </a:solidFill>
                <a:latin typeface="Arial" panose="020B0604020202020204" pitchFamily="34" charset="0"/>
              </a:rPr>
              <a:t>C</a:t>
            </a:r>
            <a:r>
              <a:rPr lang="zh-CN" altLang="en-US" dirty="0">
                <a:solidFill>
                  <a:srgbClr val="0000FF"/>
                </a:solidFill>
                <a:latin typeface="Arial" panose="020B0604020202020204" pitchFamily="34" charset="0"/>
              </a:rPr>
              <a:t>语言中的数据类型，如</a:t>
            </a:r>
            <a:r>
              <a:rPr lang="en-US" altLang="zh-CN" dirty="0">
                <a:solidFill>
                  <a:srgbClr val="0000FF"/>
                </a:solidFill>
                <a:latin typeface="Arial" panose="020B0604020202020204" pitchFamily="34" charset="0"/>
              </a:rPr>
              <a:t>int</a:t>
            </a:r>
          </a:p>
          <a:p>
            <a:pPr>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 </a:t>
            </a:r>
            <a:r>
              <a:rPr lang="zh-CN" altLang="en-US" dirty="0">
                <a:solidFill>
                  <a:srgbClr val="0000FF"/>
                </a:solidFill>
                <a:latin typeface="Arial" panose="020B0604020202020204" pitchFamily="34" charset="0"/>
              </a:rPr>
              <a:t>用户自定义类型（</a:t>
            </a:r>
            <a:r>
              <a:rPr lang="en-US" altLang="zh-CN" dirty="0">
                <a:solidFill>
                  <a:srgbClr val="0000FF"/>
                </a:solidFill>
                <a:latin typeface="Arial" panose="020B0604020202020204" pitchFamily="34" charset="0"/>
              </a:rPr>
              <a:t>typedef</a:t>
            </a:r>
            <a:r>
              <a:rPr lang="zh-CN" altLang="en-US" dirty="0">
                <a:solidFill>
                  <a:srgbClr val="0000FF"/>
                </a:solidFill>
                <a:latin typeface="Arial" panose="020B0604020202020204" pitchFamily="34" charset="0"/>
              </a:rPr>
              <a:t>）</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枚举类型、结构体和联合体</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类型转换</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package</a:t>
            </a:r>
          </a:p>
          <a:p>
            <a:pPr>
              <a:buClr>
                <a:srgbClr val="000099"/>
              </a:buClr>
              <a:buFont typeface="Wingdings" panose="05000000000000000000" pitchFamily="2" charset="2"/>
              <a:buBlip>
                <a:blip r:embed="rId2"/>
              </a:buBlip>
            </a:pPr>
            <a:r>
              <a:rPr lang="en-US" altLang="zh-CN" dirty="0">
                <a:solidFill>
                  <a:srgbClr val="0000FF"/>
                </a:solidFill>
                <a:latin typeface="Arial" panose="020B0604020202020204" pitchFamily="34" charset="0"/>
              </a:rPr>
              <a:t> </a:t>
            </a:r>
            <a:r>
              <a:rPr lang="zh-CN" altLang="en-US" dirty="0">
                <a:solidFill>
                  <a:srgbClr val="0000FF"/>
                </a:solidFill>
                <a:latin typeface="Arial" panose="020B0604020202020204" pitchFamily="34" charset="0"/>
              </a:rPr>
              <a:t>外部编译单元区域</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等赋值操作</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显式过程块</a:t>
            </a: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priority</a:t>
            </a:r>
            <a:r>
              <a:rPr lang="zh-CN" altLang="en-US" dirty="0">
                <a:solidFill>
                  <a:srgbClr val="0000FF"/>
                </a:solidFill>
                <a:latin typeface="Arial" panose="020B0604020202020204" pitchFamily="34" charset="0"/>
              </a:rPr>
              <a:t>和</a:t>
            </a:r>
            <a:r>
              <a:rPr lang="en-US" altLang="zh-CN" dirty="0">
                <a:solidFill>
                  <a:srgbClr val="0000FF"/>
                </a:solidFill>
                <a:latin typeface="Arial" panose="020B0604020202020204" pitchFamily="34" charset="0"/>
              </a:rPr>
              <a:t>unique</a:t>
            </a:r>
            <a:r>
              <a:rPr lang="zh-CN" altLang="en-US" dirty="0">
                <a:solidFill>
                  <a:srgbClr val="0000FF"/>
                </a:solidFill>
                <a:latin typeface="Arial" panose="020B0604020202020204" pitchFamily="34" charset="0"/>
              </a:rPr>
              <a:t>修饰符</a:t>
            </a:r>
            <a:r>
              <a:rPr lang="en-US" altLang="zh-CN" dirty="0">
                <a:solidFill>
                  <a:srgbClr val="0000FF"/>
                </a:solidFill>
                <a:latin typeface="Arial" panose="020B0604020202020204" pitchFamily="34" charset="0"/>
              </a:rPr>
              <a:t>: case</a:t>
            </a:r>
            <a:endParaRPr lang="zh-CN" altLang="en-US" dirty="0">
              <a:solidFill>
                <a:srgbClr val="0000FF"/>
              </a:solidFill>
              <a:latin typeface="Arial" panose="020B0604020202020204" pitchFamily="34" charset="0"/>
            </a:endParaRPr>
          </a:p>
          <a:p>
            <a:pPr>
              <a:buClr>
                <a:srgbClr val="000099"/>
              </a:buClr>
              <a:buFont typeface="Wingdings" panose="05000000000000000000" pitchFamily="2" charset="2"/>
              <a:buBlip>
                <a:blip r:embed="rId2"/>
              </a:buBlip>
            </a:pPr>
            <a:r>
              <a:rPr lang="zh-CN" altLang="en-US" dirty="0">
                <a:solidFill>
                  <a:srgbClr val="0000FF"/>
                </a:solidFill>
                <a:latin typeface="Arial" panose="020B0604020202020204" pitchFamily="34" charset="0"/>
              </a:rPr>
              <a:t> 通过引用传送到任务、函数和模块</a:t>
            </a:r>
            <a:endParaRPr lang="zh-CN" altLang="en-US" dirty="0"/>
          </a:p>
        </p:txBody>
      </p:sp>
    </p:spTree>
    <p:extLst>
      <p:ext uri="{BB962C8B-B14F-4D97-AF65-F5344CB8AC3E}">
        <p14:creationId xmlns:p14="http://schemas.microsoft.com/office/powerpoint/2010/main" val="1782102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0B8E9A9-C167-4129-AC6E-01DCE7533EBD}"/>
              </a:ext>
            </a:extLst>
          </p:cNvPr>
          <p:cNvPicPr>
            <a:picLocks noChangeAspect="1"/>
          </p:cNvPicPr>
          <p:nvPr/>
        </p:nvPicPr>
        <p:blipFill>
          <a:blip r:embed="rId2"/>
          <a:stretch>
            <a:fillRect/>
          </a:stretch>
        </p:blipFill>
        <p:spPr>
          <a:xfrm>
            <a:off x="608857" y="0"/>
            <a:ext cx="10974286" cy="6858000"/>
          </a:xfrm>
          <a:prstGeom prst="rect">
            <a:avLst/>
          </a:prstGeom>
        </p:spPr>
      </p:pic>
    </p:spTree>
    <p:extLst>
      <p:ext uri="{BB962C8B-B14F-4D97-AF65-F5344CB8AC3E}">
        <p14:creationId xmlns:p14="http://schemas.microsoft.com/office/powerpoint/2010/main" val="28112254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8FC9D3-2198-42FD-B577-BA79E447F867}"/>
              </a:ext>
            </a:extLst>
          </p:cNvPr>
          <p:cNvSpPr>
            <a:spLocks noGrp="1"/>
          </p:cNvSpPr>
          <p:nvPr>
            <p:ph type="title"/>
          </p:nvPr>
        </p:nvSpPr>
        <p:spPr/>
        <p:txBody>
          <a:bodyPr/>
          <a:lstStyle/>
          <a:p>
            <a:r>
              <a:rPr lang="en-US" altLang="zh-CN" dirty="0" err="1">
                <a:solidFill>
                  <a:srgbClr val="000066"/>
                </a:solidFill>
                <a:latin typeface="Arial" panose="020B0604020202020204" pitchFamily="34" charset="0"/>
              </a:rPr>
              <a:t>System</a:t>
            </a:r>
            <a:r>
              <a:rPr lang="en-US" altLang="zh-TW" dirty="0" err="1">
                <a:solidFill>
                  <a:srgbClr val="000066"/>
                </a:solidFill>
                <a:latin typeface="Arial" panose="020B0604020202020204" pitchFamily="34" charset="0"/>
              </a:rPr>
              <a:t>Verilog</a:t>
            </a:r>
            <a:r>
              <a:rPr lang="en-US" altLang="zh-TW" dirty="0">
                <a:solidFill>
                  <a:srgbClr val="000066"/>
                </a:solidFill>
                <a:latin typeface="Arial" panose="020B0604020202020204" pitchFamily="34" charset="0"/>
              </a:rPr>
              <a:t> </a:t>
            </a:r>
            <a:r>
              <a:rPr lang="en-US" altLang="zh-CN" i="1" dirty="0"/>
              <a:t>Declaration Enhancements</a:t>
            </a:r>
            <a:r>
              <a:rPr lang="en-US" altLang="zh-CN" dirty="0"/>
              <a:t> </a:t>
            </a:r>
            <a:endParaRPr lang="zh-CN" altLang="en-US" dirty="0"/>
          </a:p>
        </p:txBody>
      </p:sp>
      <p:sp>
        <p:nvSpPr>
          <p:cNvPr id="3" name="内容占位符 2">
            <a:extLst>
              <a:ext uri="{FF2B5EF4-FFF2-40B4-BE49-F238E27FC236}">
                <a16:creationId xmlns:a16="http://schemas.microsoft.com/office/drawing/2014/main" id="{93005F0E-6410-4EC7-9D42-6B7E6B52B856}"/>
              </a:ext>
            </a:extLst>
          </p:cNvPr>
          <p:cNvSpPr>
            <a:spLocks noGrp="1"/>
          </p:cNvSpPr>
          <p:nvPr>
            <p:ph idx="1"/>
          </p:nvPr>
        </p:nvSpPr>
        <p:spPr/>
        <p:txBody>
          <a:bodyPr/>
          <a:lstStyle/>
          <a:p>
            <a:pPr>
              <a:lnSpc>
                <a:spcPct val="150000"/>
              </a:lnSpc>
              <a:spcBef>
                <a:spcPts val="1200"/>
              </a:spcBef>
              <a:buFontTx/>
              <a:buBlip>
                <a:blip r:embed="rId2"/>
              </a:buBlip>
            </a:pPr>
            <a:r>
              <a:rPr lang="en-US" altLang="zh-CN" dirty="0">
                <a:solidFill>
                  <a:srgbClr val="0000FF"/>
                </a:solidFill>
                <a:latin typeface="Arial" panose="020B0604020202020204" pitchFamily="34" charset="0"/>
              </a:rPr>
              <a:t>package</a:t>
            </a:r>
            <a:r>
              <a:rPr lang="zh-CN" altLang="en-US" dirty="0">
                <a:solidFill>
                  <a:srgbClr val="0000FF"/>
                </a:solidFill>
                <a:latin typeface="Arial" panose="020B0604020202020204" pitchFamily="34" charset="0"/>
              </a:rPr>
              <a:t>定义及从</a:t>
            </a:r>
            <a:r>
              <a:rPr lang="en-US" altLang="zh-CN" dirty="0">
                <a:solidFill>
                  <a:srgbClr val="0000FF"/>
                </a:solidFill>
                <a:latin typeface="Arial" panose="020B0604020202020204" pitchFamily="34" charset="0"/>
              </a:rPr>
              <a:t>package</a:t>
            </a:r>
            <a:r>
              <a:rPr lang="zh-CN" altLang="en-US" dirty="0">
                <a:solidFill>
                  <a:srgbClr val="0000FF"/>
                </a:solidFill>
                <a:latin typeface="Arial" panose="020B0604020202020204" pitchFamily="34" charset="0"/>
              </a:rPr>
              <a:t>中导入定义</a:t>
            </a:r>
            <a:endParaRPr lang="en-US" altLang="zh-CN" dirty="0">
              <a:solidFill>
                <a:srgbClr val="0000FF"/>
              </a:solidFill>
              <a:latin typeface="Arial" panose="020B0604020202020204" pitchFamily="34" charset="0"/>
            </a:endParaRPr>
          </a:p>
          <a:p>
            <a:pPr>
              <a:lnSpc>
                <a:spcPct val="150000"/>
              </a:lnSpc>
              <a:spcBef>
                <a:spcPts val="1200"/>
              </a:spcBef>
              <a:buFontTx/>
              <a:buBlip>
                <a:blip r:embed="rId2"/>
              </a:buBlip>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$unit</a:t>
            </a:r>
            <a:r>
              <a:rPr lang="zh-CN" altLang="en-US" dirty="0">
                <a:solidFill>
                  <a:srgbClr val="0000FF"/>
                </a:solidFill>
                <a:latin typeface="Arial" panose="020B0604020202020204" pitchFamily="34" charset="0"/>
              </a:rPr>
              <a:t>编译声明空间</a:t>
            </a:r>
          </a:p>
          <a:p>
            <a:pPr>
              <a:lnSpc>
                <a:spcPct val="150000"/>
              </a:lnSpc>
              <a:spcBef>
                <a:spcPts val="1200"/>
              </a:spcBef>
              <a:buFontTx/>
              <a:buBlip>
                <a:blip r:embed="rId2"/>
              </a:buBlip>
            </a:pPr>
            <a:r>
              <a:rPr lang="zh-CN" altLang="en-US" dirty="0">
                <a:solidFill>
                  <a:srgbClr val="0000FF"/>
                </a:solidFill>
                <a:latin typeface="Arial" panose="020B0604020202020204" pitchFamily="34" charset="0"/>
              </a:rPr>
              <a:t>增强的时间单位定义</a:t>
            </a:r>
            <a:endParaRPr lang="en-US" altLang="zh-CN" dirty="0">
              <a:solidFill>
                <a:srgbClr val="0000FF"/>
              </a:solidFill>
              <a:latin typeface="Arial" panose="020B0604020202020204" pitchFamily="34" charset="0"/>
            </a:endParaRPr>
          </a:p>
          <a:p>
            <a:pPr marL="0" indent="0">
              <a:lnSpc>
                <a:spcPct val="150000"/>
              </a:lnSpc>
              <a:spcBef>
                <a:spcPts val="1200"/>
              </a:spcBef>
              <a:buNone/>
            </a:pPr>
            <a:r>
              <a:rPr lang="en-US" altLang="zh-CN" dirty="0">
                <a:solidFill>
                  <a:srgbClr val="CC0000"/>
                </a:solidFill>
              </a:rPr>
              <a:t>logic</a:t>
            </a:r>
            <a:r>
              <a:rPr lang="zh-CN" altLang="en-US" dirty="0">
                <a:solidFill>
                  <a:srgbClr val="CC0000"/>
                </a:solidFill>
              </a:rPr>
              <a:t>、</a:t>
            </a:r>
            <a:r>
              <a:rPr lang="en-US" altLang="zh-CN" dirty="0" err="1">
                <a:solidFill>
                  <a:srgbClr val="CC0000"/>
                </a:solidFill>
              </a:rPr>
              <a:t>enum</a:t>
            </a:r>
            <a:r>
              <a:rPr lang="zh-CN" altLang="en-US" dirty="0">
                <a:solidFill>
                  <a:srgbClr val="CC0000"/>
                </a:solidFill>
              </a:rPr>
              <a:t>、</a:t>
            </a:r>
            <a:r>
              <a:rPr lang="en-US" altLang="zh-CN" dirty="0">
                <a:solidFill>
                  <a:srgbClr val="CC0000"/>
                </a:solidFill>
              </a:rPr>
              <a:t>typedef</a:t>
            </a:r>
            <a:r>
              <a:rPr lang="zh-CN" altLang="en-US" dirty="0">
                <a:solidFill>
                  <a:srgbClr val="CC0000"/>
                </a:solidFill>
              </a:rPr>
              <a:t>、</a:t>
            </a:r>
            <a:r>
              <a:rPr lang="en-US" altLang="zh-CN" dirty="0">
                <a:solidFill>
                  <a:srgbClr val="CC0000"/>
                </a:solidFill>
              </a:rPr>
              <a:t>struct</a:t>
            </a:r>
            <a:endParaRPr lang="zh-CN" altLang="en-US" dirty="0"/>
          </a:p>
        </p:txBody>
      </p:sp>
    </p:spTree>
    <p:extLst>
      <p:ext uri="{BB962C8B-B14F-4D97-AF65-F5344CB8AC3E}">
        <p14:creationId xmlns:p14="http://schemas.microsoft.com/office/powerpoint/2010/main" val="1101481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878279A0-F8F7-439C-84F7-9AFFAC328681}"/>
              </a:ext>
            </a:extLst>
          </p:cNvPr>
          <p:cNvSpPr txBox="1">
            <a:spLocks noChangeArrowheads="1"/>
          </p:cNvSpPr>
          <p:nvPr/>
        </p:nvSpPr>
        <p:spPr bwMode="auto">
          <a:xfrm>
            <a:off x="875323" y="408062"/>
            <a:ext cx="84230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package</a:t>
            </a:r>
            <a:endParaRPr lang="en-US" altLang="zh-CN" sz="3200" dirty="0">
              <a:solidFill>
                <a:srgbClr val="000066"/>
              </a:solidFill>
              <a:latin typeface="Arial" panose="020B0604020202020204" pitchFamily="34" charset="0"/>
            </a:endParaRPr>
          </a:p>
        </p:txBody>
      </p:sp>
      <p:sp>
        <p:nvSpPr>
          <p:cNvPr id="20483" name="Text Box 3">
            <a:extLst>
              <a:ext uri="{FF2B5EF4-FFF2-40B4-BE49-F238E27FC236}">
                <a16:creationId xmlns:a16="http://schemas.microsoft.com/office/drawing/2014/main" id="{3835C20D-3F98-46E9-BB78-94418594AE85}"/>
              </a:ext>
            </a:extLst>
          </p:cNvPr>
          <p:cNvSpPr txBox="1">
            <a:spLocks noChangeArrowheads="1"/>
          </p:cNvSpPr>
          <p:nvPr/>
        </p:nvSpPr>
        <p:spPr bwMode="auto">
          <a:xfrm>
            <a:off x="875323" y="1464534"/>
            <a:ext cx="983885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0000FF"/>
                </a:solidFill>
                <a:latin typeface="Arial" panose="020B0604020202020204" pitchFamily="34" charset="0"/>
              </a:rPr>
              <a:t>在</a:t>
            </a:r>
            <a:r>
              <a:rPr lang="en-US" altLang="zh-CN" sz="2400" dirty="0">
                <a:solidFill>
                  <a:srgbClr val="0000FF"/>
                </a:solidFill>
                <a:latin typeface="Arial" panose="020B0604020202020204" pitchFamily="34" charset="0"/>
              </a:rPr>
              <a:t>Verilog</a:t>
            </a:r>
            <a:r>
              <a:rPr lang="zh-CN" altLang="en-US" sz="2400" dirty="0">
                <a:solidFill>
                  <a:srgbClr val="0000FF"/>
                </a:solidFill>
                <a:latin typeface="Arial" panose="020B0604020202020204" pitchFamily="34" charset="0"/>
              </a:rPr>
              <a:t>中，变量、线网、任务和函数的声明必须在</a:t>
            </a:r>
            <a:r>
              <a:rPr lang="en-US" altLang="zh-CN" sz="2400" dirty="0">
                <a:solidFill>
                  <a:srgbClr val="0000FF"/>
                </a:solidFill>
                <a:latin typeface="Arial" panose="020B0604020202020204" pitchFamily="34" charset="0"/>
              </a:rPr>
              <a:t>module</a:t>
            </a:r>
            <a:r>
              <a:rPr lang="zh-CN" altLang="en-US" sz="2400" dirty="0">
                <a:solidFill>
                  <a:srgbClr val="0000FF"/>
                </a:solidFill>
                <a:latin typeface="Arial" panose="020B0604020202020204" pitchFamily="34" charset="0"/>
              </a:rPr>
              <a:t>和</a:t>
            </a:r>
            <a:r>
              <a:rPr lang="en-US" altLang="zh-CN" sz="2400" dirty="0" err="1">
                <a:solidFill>
                  <a:srgbClr val="0000FF"/>
                </a:solidFill>
                <a:latin typeface="Arial" panose="020B0604020202020204" pitchFamily="34" charset="0"/>
              </a:rPr>
              <a:t>endmodule</a:t>
            </a:r>
            <a:r>
              <a:rPr lang="zh-CN" altLang="en-US" sz="2400" dirty="0">
                <a:solidFill>
                  <a:srgbClr val="0000FF"/>
                </a:solidFill>
                <a:latin typeface="Arial" panose="020B0604020202020204" pitchFamily="34" charset="0"/>
              </a:rPr>
              <a:t>关键字之间，如果一个任务在多个模块中被引用，如何处理？</a:t>
            </a:r>
          </a:p>
        </p:txBody>
      </p:sp>
      <p:sp>
        <p:nvSpPr>
          <p:cNvPr id="20484" name="Text Box 4">
            <a:extLst>
              <a:ext uri="{FF2B5EF4-FFF2-40B4-BE49-F238E27FC236}">
                <a16:creationId xmlns:a16="http://schemas.microsoft.com/office/drawing/2014/main" id="{71F01455-A026-43FD-88DB-31A84811EC1B}"/>
              </a:ext>
            </a:extLst>
          </p:cNvPr>
          <p:cNvSpPr txBox="1">
            <a:spLocks noChangeArrowheads="1"/>
          </p:cNvSpPr>
          <p:nvPr/>
        </p:nvSpPr>
        <p:spPr bwMode="auto">
          <a:xfrm>
            <a:off x="875323" y="2876306"/>
            <a:ext cx="903702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rgbClr val="0000FF"/>
                </a:solidFill>
                <a:latin typeface="Arial" panose="020B0604020202020204" pitchFamily="34" charset="0"/>
              </a:rPr>
              <a:t>Verilog</a:t>
            </a:r>
            <a:r>
              <a:rPr lang="zh-CN" altLang="en-US" sz="2400" dirty="0">
                <a:solidFill>
                  <a:srgbClr val="0000FF"/>
                </a:solidFill>
                <a:latin typeface="Arial" panose="020B0604020202020204" pitchFamily="34" charset="0"/>
              </a:rPr>
              <a:t>采用</a:t>
            </a:r>
            <a:r>
              <a:rPr lang="en-US" altLang="zh-CN" sz="2400" dirty="0">
                <a:solidFill>
                  <a:srgbClr val="0000FF"/>
                </a:solidFill>
                <a:latin typeface="Arial" panose="020B0604020202020204" pitchFamily="34" charset="0"/>
              </a:rPr>
              <a:t>include</a:t>
            </a:r>
            <a:r>
              <a:rPr lang="zh-CN" altLang="en-US" sz="2400" dirty="0">
                <a:solidFill>
                  <a:srgbClr val="0000FF"/>
                </a:solidFill>
                <a:latin typeface="Arial" panose="020B0604020202020204" pitchFamily="34" charset="0"/>
              </a:rPr>
              <a:t>编译指令和其它编码技巧来解决问题，但同时引入了其它的问题，如设计维护等。</a:t>
            </a:r>
          </a:p>
        </p:txBody>
      </p:sp>
      <p:sp>
        <p:nvSpPr>
          <p:cNvPr id="20485" name="Text Box 5">
            <a:extLst>
              <a:ext uri="{FF2B5EF4-FFF2-40B4-BE49-F238E27FC236}">
                <a16:creationId xmlns:a16="http://schemas.microsoft.com/office/drawing/2014/main" id="{D72BCE4C-9DC5-44C7-9298-9F9B3A8CAE8A}"/>
              </a:ext>
            </a:extLst>
          </p:cNvPr>
          <p:cNvSpPr txBox="1">
            <a:spLocks noChangeArrowheads="1"/>
          </p:cNvSpPr>
          <p:nvPr/>
        </p:nvSpPr>
        <p:spPr bwMode="auto">
          <a:xfrm>
            <a:off x="797169" y="4080732"/>
            <a:ext cx="903702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err="1">
                <a:solidFill>
                  <a:srgbClr val="0000FF"/>
                </a:solidFill>
                <a:latin typeface="Arial" panose="020B0604020202020204" pitchFamily="34" charset="0"/>
              </a:rPr>
              <a:t>SystemVerilog</a:t>
            </a:r>
            <a:r>
              <a:rPr lang="zh-CN" altLang="en-US" sz="2400" dirty="0">
                <a:solidFill>
                  <a:srgbClr val="0000FF"/>
                </a:solidFill>
                <a:latin typeface="Arial" panose="020B0604020202020204" pitchFamily="34" charset="0"/>
              </a:rPr>
              <a:t>借鉴了</a:t>
            </a:r>
            <a:r>
              <a:rPr lang="en-US" altLang="zh-CN" sz="2400" dirty="0">
                <a:solidFill>
                  <a:srgbClr val="0000FF"/>
                </a:solidFill>
                <a:latin typeface="Arial" panose="020B0604020202020204" pitchFamily="34" charset="0"/>
              </a:rPr>
              <a:t>VHDL</a:t>
            </a:r>
            <a:r>
              <a:rPr lang="zh-CN" altLang="en-US" sz="2400" dirty="0">
                <a:solidFill>
                  <a:srgbClr val="0000FF"/>
                </a:solidFill>
                <a:latin typeface="Arial" panose="020B0604020202020204" pitchFamily="34" charset="0"/>
              </a:rPr>
              <a:t>中</a:t>
            </a:r>
            <a:r>
              <a:rPr lang="en-US" altLang="zh-CN" sz="2400" dirty="0">
                <a:solidFill>
                  <a:srgbClr val="0000FF"/>
                </a:solidFill>
                <a:latin typeface="Arial" panose="020B0604020202020204" pitchFamily="34" charset="0"/>
              </a:rPr>
              <a:t>package</a:t>
            </a:r>
            <a:r>
              <a:rPr lang="zh-CN" altLang="en-US" sz="2400" dirty="0">
                <a:solidFill>
                  <a:srgbClr val="0000FF"/>
                </a:solidFill>
                <a:latin typeface="Arial" panose="020B0604020202020204" pitchFamily="34" charset="0"/>
              </a:rPr>
              <a:t>的概念，使得相同的定义可以用在不同的模块之中，很好地解决了这个问题！</a:t>
            </a:r>
            <a:br>
              <a:rPr lang="en-US" altLang="zh-CN" sz="2400" dirty="0"/>
            </a:br>
            <a:endParaRPr lang="zh-CN" altLang="en-US" sz="2400" dirty="0">
              <a:solidFill>
                <a:srgbClr val="0000FF"/>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EAE8EF33-6B53-47E4-8DC5-67D04289DAA9}"/>
              </a:ext>
            </a:extLst>
          </p:cNvPr>
          <p:cNvSpPr txBox="1">
            <a:spLocks noChangeArrowheads="1"/>
          </p:cNvSpPr>
          <p:nvPr/>
        </p:nvSpPr>
        <p:spPr bwMode="auto">
          <a:xfrm>
            <a:off x="679938" y="144082"/>
            <a:ext cx="824523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package</a:t>
            </a:r>
            <a:r>
              <a:rPr lang="zh-CN" altLang="en-US" sz="4000" dirty="0">
                <a:solidFill>
                  <a:srgbClr val="000066"/>
                </a:solidFill>
                <a:latin typeface="Arial" panose="020B0604020202020204" pitchFamily="34" charset="0"/>
              </a:rPr>
              <a:t>内容</a:t>
            </a:r>
          </a:p>
        </p:txBody>
      </p:sp>
      <p:sp>
        <p:nvSpPr>
          <p:cNvPr id="22531" name="Text Box 3">
            <a:extLst>
              <a:ext uri="{FF2B5EF4-FFF2-40B4-BE49-F238E27FC236}">
                <a16:creationId xmlns:a16="http://schemas.microsoft.com/office/drawing/2014/main" id="{F02C30AB-1FD2-4E3B-89AA-1439659CCD56}"/>
              </a:ext>
            </a:extLst>
          </p:cNvPr>
          <p:cNvSpPr txBox="1">
            <a:spLocks noChangeArrowheads="1"/>
          </p:cNvSpPr>
          <p:nvPr/>
        </p:nvSpPr>
        <p:spPr bwMode="auto">
          <a:xfrm>
            <a:off x="179758" y="1129991"/>
            <a:ext cx="6174154"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800100" indent="-342900">
              <a:spcBef>
                <a:spcPct val="0"/>
              </a:spcBef>
              <a:defRPr kumimoji="1" sz="2400">
                <a:solidFill>
                  <a:schemeClr val="tx1"/>
                </a:solidFill>
                <a:latin typeface="Times New Roman" panose="02020603050405020304" pitchFamily="18" charset="0"/>
                <a:ea typeface="宋体" panose="02010600030101010101" pitchFamily="2" charset="-122"/>
              </a:defRPr>
            </a:lvl2pPr>
            <a:lvl3pPr marL="1257300" indent="-342900">
              <a:spcBef>
                <a:spcPct val="0"/>
              </a:spcBef>
              <a:defRPr kumimoji="1" sz="2400">
                <a:solidFill>
                  <a:schemeClr val="tx1"/>
                </a:solidFill>
                <a:latin typeface="Times New Roman" panose="02020603050405020304" pitchFamily="18" charset="0"/>
                <a:ea typeface="宋体" panose="02010600030101010101" pitchFamily="2" charset="-122"/>
              </a:defRPr>
            </a:lvl3pPr>
            <a:lvl4pPr marL="1714500" indent="-3429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71700" indent="-342900">
              <a:spcBef>
                <a:spcPct val="0"/>
              </a:spcBef>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t">
              <a:spcBef>
                <a:spcPct val="50000"/>
              </a:spcBef>
            </a:pPr>
            <a:r>
              <a:rPr lang="en-US" altLang="zh-CN" sz="2000" dirty="0">
                <a:solidFill>
                  <a:srgbClr val="0000FF"/>
                </a:solidFill>
                <a:latin typeface="Arial" panose="020B0604020202020204" pitchFamily="34" charset="0"/>
              </a:rPr>
              <a:t>package</a:t>
            </a:r>
            <a:r>
              <a:rPr lang="zh-CN" altLang="en-US" sz="2000" dirty="0">
                <a:solidFill>
                  <a:srgbClr val="0000FF"/>
                </a:solidFill>
                <a:latin typeface="Arial" panose="020B0604020202020204" pitchFamily="34" charset="0"/>
              </a:rPr>
              <a:t>中的内容在</a:t>
            </a:r>
            <a:r>
              <a:rPr lang="en-US" altLang="zh-CN" sz="2000" dirty="0">
                <a:solidFill>
                  <a:srgbClr val="0000FF"/>
                </a:solidFill>
                <a:latin typeface="Arial" panose="020B0604020202020204" pitchFamily="34" charset="0"/>
              </a:rPr>
              <a:t>package</a:t>
            </a:r>
            <a:r>
              <a:rPr lang="zh-CN" altLang="en-US" sz="2000" dirty="0">
                <a:solidFill>
                  <a:srgbClr val="0000FF"/>
                </a:solidFill>
                <a:latin typeface="Arial" panose="020B0604020202020204" pitchFamily="34" charset="0"/>
              </a:rPr>
              <a:t>和</a:t>
            </a:r>
            <a:r>
              <a:rPr lang="en-US" altLang="zh-CN" sz="2000" dirty="0" err="1">
                <a:solidFill>
                  <a:srgbClr val="0000FF"/>
                </a:solidFill>
                <a:latin typeface="Arial" panose="020B0604020202020204" pitchFamily="34" charset="0"/>
              </a:rPr>
              <a:t>endpackage</a:t>
            </a:r>
            <a:r>
              <a:rPr lang="zh-CN" altLang="en-US" sz="2000" dirty="0">
                <a:solidFill>
                  <a:srgbClr val="0000FF"/>
                </a:solidFill>
                <a:latin typeface="Arial" panose="020B0604020202020204" pitchFamily="34" charset="0"/>
              </a:rPr>
              <a:t>之间定义，可以包含的可综合结构有：</a:t>
            </a:r>
          </a:p>
          <a:p>
            <a:pPr>
              <a:spcBef>
                <a:spcPct val="50000"/>
              </a:spcBef>
              <a:buFontTx/>
              <a:buAutoNum type="arabicPeriod"/>
            </a:pPr>
            <a:r>
              <a:rPr lang="zh-CN" altLang="en-US" sz="2000" dirty="0">
                <a:solidFill>
                  <a:srgbClr val="CC0000"/>
                </a:solidFill>
                <a:latin typeface="Arial" panose="020B0604020202020204" pitchFamily="34" charset="0"/>
              </a:rPr>
              <a:t> </a:t>
            </a:r>
            <a:r>
              <a:rPr lang="en-US" altLang="zh-CN" sz="2000" dirty="0">
                <a:solidFill>
                  <a:srgbClr val="CC0000"/>
                </a:solidFill>
                <a:latin typeface="Arial" panose="020B0604020202020204" pitchFamily="34" charset="0"/>
              </a:rPr>
              <a:t>parameter</a:t>
            </a:r>
            <a:r>
              <a:rPr lang="zh-CN" altLang="en-US" sz="2000" dirty="0">
                <a:solidFill>
                  <a:srgbClr val="CC0000"/>
                </a:solidFill>
                <a:latin typeface="Arial" panose="020B0604020202020204" pitchFamily="34" charset="0"/>
              </a:rPr>
              <a:t>和</a:t>
            </a:r>
            <a:r>
              <a:rPr lang="en-US" altLang="zh-CN" sz="2000" dirty="0" err="1">
                <a:solidFill>
                  <a:srgbClr val="CC0000"/>
                </a:solidFill>
                <a:latin typeface="Arial" panose="020B0604020202020204" pitchFamily="34" charset="0"/>
              </a:rPr>
              <a:t>localparam</a:t>
            </a:r>
            <a:r>
              <a:rPr lang="zh-CN" altLang="en-US" sz="2000" dirty="0">
                <a:solidFill>
                  <a:srgbClr val="CC0000"/>
                </a:solidFill>
                <a:latin typeface="Arial" panose="020B0604020202020204" pitchFamily="34" charset="0"/>
              </a:rPr>
              <a:t>常量定义</a:t>
            </a:r>
          </a:p>
          <a:p>
            <a:pPr>
              <a:spcBef>
                <a:spcPct val="50000"/>
              </a:spcBef>
              <a:buFontTx/>
              <a:buAutoNum type="arabicPeriod"/>
            </a:pPr>
            <a:r>
              <a:rPr lang="zh-CN" altLang="en-US" sz="2000" dirty="0">
                <a:solidFill>
                  <a:srgbClr val="CC0000"/>
                </a:solidFill>
                <a:latin typeface="Arial" panose="020B0604020202020204" pitchFamily="34" charset="0"/>
              </a:rPr>
              <a:t> </a:t>
            </a:r>
            <a:r>
              <a:rPr lang="en-US" altLang="zh-CN" sz="2000" dirty="0">
                <a:solidFill>
                  <a:srgbClr val="CC0000"/>
                </a:solidFill>
                <a:latin typeface="Arial" panose="020B0604020202020204" pitchFamily="34" charset="0"/>
              </a:rPr>
              <a:t>const</a:t>
            </a:r>
            <a:r>
              <a:rPr lang="zh-CN" altLang="en-US" sz="2000" dirty="0">
                <a:solidFill>
                  <a:srgbClr val="CC0000"/>
                </a:solidFill>
                <a:latin typeface="Arial" panose="020B0604020202020204" pitchFamily="34" charset="0"/>
              </a:rPr>
              <a:t>变量定义</a:t>
            </a:r>
          </a:p>
          <a:p>
            <a:pPr>
              <a:spcBef>
                <a:spcPct val="50000"/>
              </a:spcBef>
              <a:buFontTx/>
              <a:buAutoNum type="arabicPeriod"/>
            </a:pPr>
            <a:r>
              <a:rPr lang="zh-CN" altLang="en-US" sz="2000" dirty="0">
                <a:solidFill>
                  <a:srgbClr val="CC0000"/>
                </a:solidFill>
                <a:latin typeface="Arial" panose="020B0604020202020204" pitchFamily="34" charset="0"/>
              </a:rPr>
              <a:t> </a:t>
            </a:r>
            <a:r>
              <a:rPr lang="en-US" altLang="zh-CN" sz="2000" dirty="0">
                <a:solidFill>
                  <a:srgbClr val="CC0000"/>
                </a:solidFill>
                <a:latin typeface="Arial" panose="020B0604020202020204" pitchFamily="34" charset="0"/>
              </a:rPr>
              <a:t>typedef</a:t>
            </a:r>
            <a:r>
              <a:rPr lang="zh-CN" altLang="en-US" sz="2000" dirty="0">
                <a:solidFill>
                  <a:srgbClr val="CC0000"/>
                </a:solidFill>
                <a:latin typeface="Arial" panose="020B0604020202020204" pitchFamily="34" charset="0"/>
              </a:rPr>
              <a:t>用户自定义类型</a:t>
            </a:r>
          </a:p>
          <a:p>
            <a:pPr fontAlgn="t">
              <a:spcBef>
                <a:spcPct val="50000"/>
              </a:spcBef>
              <a:buFontTx/>
              <a:buAutoNum type="arabicPeriod"/>
            </a:pPr>
            <a:r>
              <a:rPr lang="en-US" altLang="zh-CN" sz="2000" dirty="0">
                <a:solidFill>
                  <a:srgbClr val="CC0000"/>
                </a:solidFill>
                <a:latin typeface="Arial" panose="020B0604020202020204" pitchFamily="34" charset="0"/>
              </a:rPr>
              <a:t> task</a:t>
            </a:r>
            <a:r>
              <a:rPr lang="zh-CN" altLang="en-US" sz="2000" dirty="0">
                <a:solidFill>
                  <a:srgbClr val="CC0000"/>
                </a:solidFill>
                <a:latin typeface="Arial" panose="020B0604020202020204" pitchFamily="34" charset="0"/>
              </a:rPr>
              <a:t>和</a:t>
            </a:r>
            <a:r>
              <a:rPr lang="en-US" altLang="zh-CN" sz="2000" dirty="0">
                <a:solidFill>
                  <a:srgbClr val="CC0000"/>
                </a:solidFill>
                <a:latin typeface="Arial" panose="020B0604020202020204" pitchFamily="34" charset="0"/>
              </a:rPr>
              <a:t>function</a:t>
            </a:r>
            <a:r>
              <a:rPr lang="zh-CN" altLang="en-US" sz="2000" dirty="0">
                <a:solidFill>
                  <a:srgbClr val="CC0000"/>
                </a:solidFill>
                <a:latin typeface="Arial" panose="020B0604020202020204" pitchFamily="34" charset="0"/>
              </a:rPr>
              <a:t>定义</a:t>
            </a:r>
          </a:p>
          <a:p>
            <a:pPr>
              <a:spcBef>
                <a:spcPct val="50000"/>
              </a:spcBef>
              <a:buFontTx/>
              <a:buAutoNum type="arabicPeriod"/>
            </a:pPr>
            <a:r>
              <a:rPr lang="zh-CN" altLang="en-US" sz="2000" dirty="0">
                <a:solidFill>
                  <a:srgbClr val="CC0000"/>
                </a:solidFill>
                <a:latin typeface="Arial" panose="020B0604020202020204" pitchFamily="34" charset="0"/>
              </a:rPr>
              <a:t> </a:t>
            </a:r>
            <a:r>
              <a:rPr lang="en-US" altLang="zh-CN" sz="2000" dirty="0">
                <a:solidFill>
                  <a:srgbClr val="CC0000"/>
                </a:solidFill>
                <a:latin typeface="Arial" panose="020B0604020202020204" pitchFamily="34" charset="0"/>
              </a:rPr>
              <a:t>import</a:t>
            </a:r>
            <a:r>
              <a:rPr lang="zh-CN" altLang="en-US" sz="2000" dirty="0">
                <a:solidFill>
                  <a:srgbClr val="CC0000"/>
                </a:solidFill>
                <a:latin typeface="Arial" panose="020B0604020202020204" pitchFamily="34" charset="0"/>
              </a:rPr>
              <a:t>语句</a:t>
            </a:r>
          </a:p>
          <a:p>
            <a:pPr>
              <a:spcBef>
                <a:spcPct val="50000"/>
              </a:spcBef>
              <a:buFontTx/>
              <a:buAutoNum type="arabicPeriod"/>
            </a:pPr>
            <a:r>
              <a:rPr lang="zh-CN" altLang="en-US" sz="2000" dirty="0">
                <a:solidFill>
                  <a:srgbClr val="CC0000"/>
                </a:solidFill>
                <a:latin typeface="Arial" panose="020B0604020202020204" pitchFamily="34" charset="0"/>
              </a:rPr>
              <a:t> 操作符重载定义</a:t>
            </a:r>
            <a:endParaRPr lang="en-US" altLang="zh-CN" sz="2000" dirty="0">
              <a:solidFill>
                <a:srgbClr val="CC0000"/>
              </a:solidFill>
              <a:latin typeface="Arial" panose="020B0604020202020204" pitchFamily="34" charset="0"/>
            </a:endParaRPr>
          </a:p>
          <a:p>
            <a:pPr>
              <a:spcBef>
                <a:spcPct val="50000"/>
              </a:spcBef>
              <a:buFontTx/>
              <a:buAutoNum type="arabicPeriod"/>
            </a:pPr>
            <a:r>
              <a:rPr lang="en-US" altLang="zh-CN" sz="2000" dirty="0">
                <a:solidFill>
                  <a:srgbClr val="CC0000"/>
                </a:solidFill>
                <a:latin typeface="Arial" panose="020B0604020202020204" pitchFamily="34" charset="0"/>
              </a:rPr>
              <a:t>package</a:t>
            </a:r>
            <a:r>
              <a:rPr lang="zh-CN" altLang="en-US" sz="2000" dirty="0">
                <a:solidFill>
                  <a:srgbClr val="CC0000"/>
                </a:solidFill>
                <a:latin typeface="Arial" panose="020B0604020202020204" pitchFamily="34" charset="0"/>
              </a:rPr>
              <a:t>中的的任务和函数必须说明为自动的才能被综合，不能包括静态变量。</a:t>
            </a:r>
            <a:endParaRPr lang="en-US" altLang="zh-CN" sz="2000" dirty="0">
              <a:solidFill>
                <a:srgbClr val="CC0000"/>
              </a:solidFill>
              <a:latin typeface="Arial" panose="020B0604020202020204" pitchFamily="34" charset="0"/>
            </a:endParaRPr>
          </a:p>
          <a:p>
            <a:pPr>
              <a:spcBef>
                <a:spcPct val="50000"/>
              </a:spcBef>
              <a:buFontTx/>
              <a:buAutoNum type="arabicPeriod"/>
            </a:pPr>
            <a:r>
              <a:rPr lang="zh-CN" altLang="en-US" sz="2000" dirty="0">
                <a:solidFill>
                  <a:srgbClr val="CC0000"/>
                </a:solidFill>
                <a:latin typeface="Arial" panose="020B0604020202020204" pitchFamily="34" charset="0"/>
              </a:rPr>
              <a:t>自动任务或函数的存储区在每次调用时才会分配，引用自动</a:t>
            </a:r>
            <a:r>
              <a:rPr lang="en-US" altLang="zh-CN" sz="2000" dirty="0">
                <a:solidFill>
                  <a:srgbClr val="CC0000"/>
                </a:solidFill>
                <a:latin typeface="Arial" panose="020B0604020202020204" pitchFamily="34" charset="0"/>
              </a:rPr>
              <a:t>package</a:t>
            </a:r>
            <a:r>
              <a:rPr lang="zh-CN" altLang="en-US" sz="2000" dirty="0">
                <a:solidFill>
                  <a:srgbClr val="CC0000"/>
                </a:solidFill>
                <a:latin typeface="Arial" panose="020B0604020202020204" pitchFamily="34" charset="0"/>
              </a:rPr>
              <a:t>中的自动任务或函数的每个模块看到的是不被其它模块共享的唯一副本，保证了综合前后行为相同。</a:t>
            </a:r>
          </a:p>
        </p:txBody>
      </p:sp>
      <p:sp>
        <p:nvSpPr>
          <p:cNvPr id="2" name="矩形 1">
            <a:extLst>
              <a:ext uri="{FF2B5EF4-FFF2-40B4-BE49-F238E27FC236}">
                <a16:creationId xmlns:a16="http://schemas.microsoft.com/office/drawing/2014/main" id="{C54A5211-B141-435D-A164-A9AD36D0A829}"/>
              </a:ext>
            </a:extLst>
          </p:cNvPr>
          <p:cNvSpPr/>
          <p:nvPr/>
        </p:nvSpPr>
        <p:spPr>
          <a:xfrm>
            <a:off x="6353908" y="1591539"/>
            <a:ext cx="5447323" cy="2031325"/>
          </a:xfrm>
          <a:prstGeom prst="rect">
            <a:avLst/>
          </a:prstGeom>
        </p:spPr>
        <p:txBody>
          <a:bodyPr wrap="square">
            <a:spAutoFit/>
          </a:bodyPr>
          <a:lstStyle/>
          <a:p>
            <a:r>
              <a:rPr lang="en-US" altLang="zh-CN" b="1" dirty="0">
                <a:solidFill>
                  <a:srgbClr val="FF0000"/>
                </a:solidFill>
                <a:latin typeface="CourierNewPS-BoldMT"/>
              </a:rPr>
              <a:t>package </a:t>
            </a:r>
            <a:r>
              <a:rPr lang="en-US" altLang="zh-CN" b="1" dirty="0" err="1">
                <a:solidFill>
                  <a:srgbClr val="FF0000"/>
                </a:solidFill>
                <a:latin typeface="CourierNewPS-BoldMT"/>
              </a:rPr>
              <a:t>project_types</a:t>
            </a:r>
            <a:r>
              <a:rPr lang="en-US" altLang="zh-CN" b="1" dirty="0">
                <a:solidFill>
                  <a:srgbClr val="FF0000"/>
                </a:solidFill>
                <a:latin typeface="CourierNewPS-BoldMT"/>
              </a:rPr>
              <a:t>;</a:t>
            </a:r>
            <a:br>
              <a:rPr lang="en-US" altLang="zh-CN" b="1" dirty="0">
                <a:solidFill>
                  <a:srgbClr val="FF0000"/>
                </a:solidFill>
                <a:latin typeface="CourierNewPS-BoldMT"/>
              </a:rPr>
            </a:br>
            <a:r>
              <a:rPr lang="en-US" altLang="zh-CN" b="1" dirty="0">
                <a:solidFill>
                  <a:srgbClr val="0000FF"/>
                </a:solidFill>
                <a:latin typeface="CourierNewPS-BoldMT"/>
              </a:rPr>
              <a:t>typedef </a:t>
            </a:r>
            <a:r>
              <a:rPr lang="en-US" altLang="zh-CN" b="1" dirty="0">
                <a:solidFill>
                  <a:srgbClr val="000000"/>
                </a:solidFill>
                <a:latin typeface="CourierNewPS-BoldMT"/>
              </a:rPr>
              <a:t>logic [31:0] </a:t>
            </a:r>
            <a:r>
              <a:rPr lang="en-US" altLang="zh-CN" b="1" dirty="0">
                <a:solidFill>
                  <a:srgbClr val="0000FF"/>
                </a:solidFill>
                <a:latin typeface="CourierNewPS-BoldMT"/>
              </a:rPr>
              <a:t>bus32_t</a:t>
            </a: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a:solidFill>
                  <a:srgbClr val="0000FF"/>
                </a:solidFill>
                <a:latin typeface="CourierNewPS-BoldMT"/>
              </a:rPr>
              <a:t>typedef </a:t>
            </a:r>
            <a:r>
              <a:rPr lang="en-US" altLang="zh-CN" b="1" dirty="0" err="1">
                <a:solidFill>
                  <a:srgbClr val="000000"/>
                </a:solidFill>
                <a:latin typeface="CourierNewPS-BoldMT"/>
              </a:rPr>
              <a:t>enum</a:t>
            </a:r>
            <a:r>
              <a:rPr lang="en-US" altLang="zh-CN" b="1" dirty="0">
                <a:solidFill>
                  <a:srgbClr val="000000"/>
                </a:solidFill>
                <a:latin typeface="CourierNewPS-BoldMT"/>
              </a:rPr>
              <a:t> [7:0] {...} </a:t>
            </a:r>
            <a:r>
              <a:rPr lang="en-US" altLang="zh-CN" b="1" dirty="0" err="1">
                <a:solidFill>
                  <a:srgbClr val="0000FF"/>
                </a:solidFill>
                <a:latin typeface="CourierNewPS-BoldMT"/>
              </a:rPr>
              <a:t>opcodes_t</a:t>
            </a: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a:solidFill>
                  <a:srgbClr val="0000FF"/>
                </a:solidFill>
                <a:latin typeface="CourierNewPS-BoldMT"/>
              </a:rPr>
              <a:t>typedef </a:t>
            </a:r>
            <a:r>
              <a:rPr lang="en-US" altLang="zh-CN" b="1" dirty="0">
                <a:solidFill>
                  <a:srgbClr val="000000"/>
                </a:solidFill>
                <a:latin typeface="CourierNewPS-BoldMT"/>
              </a:rPr>
              <a:t>struct {...} </a:t>
            </a:r>
            <a:r>
              <a:rPr lang="en-US" altLang="zh-CN" b="1" dirty="0" err="1">
                <a:solidFill>
                  <a:srgbClr val="0000FF"/>
                </a:solidFill>
                <a:latin typeface="CourierNewPS-BoldMT"/>
              </a:rPr>
              <a:t>operation_t</a:t>
            </a: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a:solidFill>
                  <a:srgbClr val="0000FF"/>
                </a:solidFill>
                <a:latin typeface="CourierNewPS-BoldMT"/>
              </a:rPr>
              <a:t>function </a:t>
            </a:r>
            <a:r>
              <a:rPr lang="en-US" altLang="zh-CN" b="1" dirty="0">
                <a:solidFill>
                  <a:srgbClr val="000000"/>
                </a:solidFill>
                <a:latin typeface="CourierNewPS-BoldMT"/>
              </a:rPr>
              <a:t>automatic </a:t>
            </a:r>
            <a:r>
              <a:rPr lang="en-US" altLang="zh-CN" b="1" dirty="0" err="1">
                <a:solidFill>
                  <a:srgbClr val="0000FF"/>
                </a:solidFill>
                <a:latin typeface="CourierNewPS-BoldMT"/>
              </a:rPr>
              <a:t>crc_gen</a:t>
            </a:r>
            <a:r>
              <a:rPr lang="en-US" altLang="zh-CN" b="1" dirty="0">
                <a:solidFill>
                  <a:srgbClr val="0000FF"/>
                </a:solidFill>
                <a:latin typeface="CourierNewPS-BoldMT"/>
              </a:rPr>
              <a:t> </a:t>
            </a: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err="1">
                <a:solidFill>
                  <a:srgbClr val="FF0000"/>
                </a:solidFill>
                <a:latin typeface="CourierNewPS-BoldMT"/>
              </a:rPr>
              <a:t>endpackage</a:t>
            </a:r>
            <a:r>
              <a:rPr lang="en-US" altLang="zh-CN" dirty="0"/>
              <a:t> </a:t>
            </a:r>
            <a:br>
              <a:rPr lang="en-US" altLang="zh-CN" dirty="0"/>
            </a:br>
            <a:endParaRPr lang="zh-CN" altLang="en-US" dirty="0"/>
          </a:p>
        </p:txBody>
      </p:sp>
      <p:sp>
        <p:nvSpPr>
          <p:cNvPr id="3" name="矩形 2">
            <a:extLst>
              <a:ext uri="{FF2B5EF4-FFF2-40B4-BE49-F238E27FC236}">
                <a16:creationId xmlns:a16="http://schemas.microsoft.com/office/drawing/2014/main" id="{5B21FA3C-92A1-4298-A040-8C749D56A0A4}"/>
              </a:ext>
            </a:extLst>
          </p:cNvPr>
          <p:cNvSpPr/>
          <p:nvPr/>
        </p:nvSpPr>
        <p:spPr>
          <a:xfrm>
            <a:off x="6432061" y="3995678"/>
            <a:ext cx="5212862" cy="2862322"/>
          </a:xfrm>
          <a:prstGeom prst="rect">
            <a:avLst/>
          </a:prstGeom>
        </p:spPr>
        <p:txBody>
          <a:bodyPr wrap="square">
            <a:spAutoFit/>
          </a:bodyPr>
          <a:lstStyle/>
          <a:p>
            <a:r>
              <a:rPr lang="en-US" altLang="zh-CN" b="1" dirty="0">
                <a:solidFill>
                  <a:srgbClr val="000000"/>
                </a:solidFill>
                <a:latin typeface="CourierNewPS-BoldMT"/>
              </a:rPr>
              <a:t>module ALU</a:t>
            </a:r>
            <a:br>
              <a:rPr lang="en-US" altLang="zh-CN" b="1" dirty="0">
                <a:solidFill>
                  <a:srgbClr val="000000"/>
                </a:solidFill>
                <a:latin typeface="CourierNewPS-BoldMT"/>
              </a:rPr>
            </a:br>
            <a:r>
              <a:rPr lang="en-US" altLang="zh-CN" b="1" dirty="0">
                <a:solidFill>
                  <a:srgbClr val="FF0000"/>
                </a:solidFill>
                <a:latin typeface="CourierNewPS-BoldMT"/>
              </a:rPr>
              <a:t>import </a:t>
            </a:r>
            <a:r>
              <a:rPr lang="en-US" altLang="zh-CN" b="1" dirty="0" err="1">
                <a:solidFill>
                  <a:srgbClr val="FF0000"/>
                </a:solidFill>
                <a:latin typeface="CourierNewPS-BoldMT"/>
              </a:rPr>
              <a:t>project_types</a:t>
            </a:r>
            <a:r>
              <a:rPr lang="en-US" altLang="zh-CN" b="1" dirty="0">
                <a:solidFill>
                  <a:srgbClr val="FF0000"/>
                </a:solidFill>
                <a:latin typeface="CourierNewPS-BoldMT"/>
              </a:rPr>
              <a:t>::*;</a:t>
            </a:r>
            <a:br>
              <a:rPr lang="en-US" altLang="zh-CN" b="1" dirty="0">
                <a:solidFill>
                  <a:srgbClr val="FF0000"/>
                </a:solidFill>
                <a:latin typeface="CourierNewPS-BoldMT"/>
              </a:rPr>
            </a:br>
            <a:r>
              <a:rPr lang="en-US" altLang="zh-CN" b="1" dirty="0">
                <a:solidFill>
                  <a:srgbClr val="000000"/>
                </a:solidFill>
                <a:latin typeface="CourierNewPS-BoldMT"/>
              </a:rPr>
              <a:t>(</a:t>
            </a:r>
          </a:p>
          <a:p>
            <a:r>
              <a:rPr lang="en-US" altLang="zh-CN" b="1" dirty="0">
                <a:solidFill>
                  <a:srgbClr val="000000"/>
                </a:solidFill>
                <a:latin typeface="CourierNewPS-BoldMT"/>
              </a:rPr>
              <a:t>input </a:t>
            </a:r>
            <a:r>
              <a:rPr lang="en-US" altLang="zh-CN" b="1" dirty="0" err="1">
                <a:solidFill>
                  <a:srgbClr val="0000FF"/>
                </a:solidFill>
                <a:latin typeface="CourierNewPS-BoldMT"/>
              </a:rPr>
              <a:t>operation_t</a:t>
            </a:r>
            <a:r>
              <a:rPr lang="en-US" altLang="zh-CN" b="1" dirty="0">
                <a:solidFill>
                  <a:srgbClr val="0000FF"/>
                </a:solidFill>
                <a:latin typeface="CourierNewPS-BoldMT"/>
              </a:rPr>
              <a:t> </a:t>
            </a:r>
            <a:r>
              <a:rPr lang="en-US" altLang="zh-CN" b="1" dirty="0">
                <a:solidFill>
                  <a:srgbClr val="000000"/>
                </a:solidFill>
                <a:latin typeface="CourierNewPS-BoldMT"/>
              </a:rPr>
              <a:t>operation,</a:t>
            </a:r>
            <a:br>
              <a:rPr lang="en-US" altLang="zh-CN" b="1" dirty="0">
                <a:solidFill>
                  <a:srgbClr val="000000"/>
                </a:solidFill>
                <a:latin typeface="CourierNewPS-BoldMT"/>
              </a:rPr>
            </a:br>
            <a:r>
              <a:rPr lang="en-US" altLang="zh-CN" b="1" dirty="0">
                <a:solidFill>
                  <a:srgbClr val="000000"/>
                </a:solidFill>
                <a:latin typeface="CourierNewPS-BoldMT"/>
              </a:rPr>
              <a:t>output </a:t>
            </a:r>
            <a:r>
              <a:rPr lang="en-US" altLang="zh-CN" b="1" dirty="0">
                <a:solidFill>
                  <a:srgbClr val="0000FF"/>
                </a:solidFill>
                <a:latin typeface="CourierNewPS-BoldMT"/>
              </a:rPr>
              <a:t>bus32_t </a:t>
            </a:r>
            <a:r>
              <a:rPr lang="en-US" altLang="zh-CN" b="1" dirty="0">
                <a:solidFill>
                  <a:srgbClr val="000000"/>
                </a:solidFill>
                <a:latin typeface="CourierNewPS-BoldMT"/>
              </a:rPr>
              <a:t>result</a:t>
            </a:r>
          </a:p>
          <a:p>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err="1">
                <a:solidFill>
                  <a:srgbClr val="0000FF"/>
                </a:solidFill>
                <a:latin typeface="CourierNewPS-BoldMT"/>
              </a:rPr>
              <a:t>operation_t</a:t>
            </a:r>
            <a:r>
              <a:rPr lang="en-US" altLang="zh-CN" b="1" dirty="0">
                <a:solidFill>
                  <a:srgbClr val="0000FF"/>
                </a:solidFill>
                <a:latin typeface="CourierNewPS-BoldMT"/>
              </a:rPr>
              <a:t> </a:t>
            </a:r>
            <a:r>
              <a:rPr lang="en-US" altLang="zh-CN" b="1" dirty="0" err="1">
                <a:solidFill>
                  <a:srgbClr val="000000"/>
                </a:solidFill>
                <a:latin typeface="CourierNewPS-BoldMT"/>
              </a:rPr>
              <a:t>registered_op</a:t>
            </a: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a:solidFill>
                  <a:srgbClr val="000000"/>
                </a:solidFill>
                <a:latin typeface="CourierNewPS-BoldMT"/>
              </a:rPr>
              <a:t>...</a:t>
            </a:r>
            <a:br>
              <a:rPr lang="en-US" altLang="zh-CN" b="1" dirty="0">
                <a:solidFill>
                  <a:srgbClr val="000000"/>
                </a:solidFill>
                <a:latin typeface="CourierNewPS-BoldMT"/>
              </a:rPr>
            </a:br>
            <a:r>
              <a:rPr lang="en-US" altLang="zh-CN" b="1" dirty="0" err="1">
                <a:solidFill>
                  <a:srgbClr val="000000"/>
                </a:solidFill>
                <a:latin typeface="CourierNewPS-BoldMT"/>
              </a:rPr>
              <a:t>endmodule</a:t>
            </a:r>
            <a:r>
              <a:rPr lang="en-US" altLang="zh-CN" dirty="0"/>
              <a:t> </a:t>
            </a:r>
            <a:br>
              <a:rPr lang="en-US" altLang="zh-CN" dirty="0"/>
            </a:b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1DDCE567-F8A9-4A03-AC89-DEE64EF0DFF2}"/>
              </a:ext>
            </a:extLst>
          </p:cNvPr>
          <p:cNvSpPr txBox="1">
            <a:spLocks noChangeArrowheads="1"/>
          </p:cNvSpPr>
          <p:nvPr/>
        </p:nvSpPr>
        <p:spPr bwMode="auto">
          <a:xfrm>
            <a:off x="304799" y="131137"/>
            <a:ext cx="1052945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000" dirty="0">
                <a:solidFill>
                  <a:srgbClr val="000066"/>
                </a:solidFill>
                <a:latin typeface="Arial" panose="020B0604020202020204" pitchFamily="34" charset="0"/>
              </a:rPr>
              <a:t>System Verilog </a:t>
            </a:r>
            <a:r>
              <a:rPr lang="zh-CN" altLang="en-US" sz="4000" dirty="0">
                <a:solidFill>
                  <a:srgbClr val="000066"/>
                </a:solidFill>
                <a:latin typeface="Arial" panose="020B0604020202020204" pitchFamily="34" charset="0"/>
              </a:rPr>
              <a:t>中</a:t>
            </a:r>
            <a:r>
              <a:rPr lang="en-US" altLang="zh-CN" sz="4000" dirty="0">
                <a:solidFill>
                  <a:srgbClr val="000066"/>
                </a:solidFill>
                <a:latin typeface="Arial" panose="020B0604020202020204" pitchFamily="34" charset="0"/>
              </a:rPr>
              <a:t>package</a:t>
            </a:r>
            <a:r>
              <a:rPr lang="zh-CN" altLang="en-US" sz="4000" dirty="0">
                <a:solidFill>
                  <a:srgbClr val="000066"/>
                </a:solidFill>
                <a:latin typeface="Arial" panose="020B0604020202020204" pitchFamily="34" charset="0"/>
              </a:rPr>
              <a:t>内容的引用方法</a:t>
            </a:r>
          </a:p>
        </p:txBody>
      </p:sp>
      <p:sp>
        <p:nvSpPr>
          <p:cNvPr id="26627" name="Text Box 3">
            <a:extLst>
              <a:ext uri="{FF2B5EF4-FFF2-40B4-BE49-F238E27FC236}">
                <a16:creationId xmlns:a16="http://schemas.microsoft.com/office/drawing/2014/main" id="{21D7F013-F7C8-4F1D-A401-53BD9662477E}"/>
              </a:ext>
            </a:extLst>
          </p:cNvPr>
          <p:cNvSpPr txBox="1">
            <a:spLocks noChangeArrowheads="1"/>
          </p:cNvSpPr>
          <p:nvPr/>
        </p:nvSpPr>
        <p:spPr bwMode="auto">
          <a:xfrm>
            <a:off x="195385" y="915528"/>
            <a:ext cx="7092106"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800" dirty="0">
                <a:solidFill>
                  <a:srgbClr val="0000FF"/>
                </a:solidFill>
                <a:latin typeface="Arial" panose="020B0604020202020204" pitchFamily="34" charset="0"/>
              </a:rPr>
              <a:t> </a:t>
            </a:r>
            <a:r>
              <a:rPr lang="zh-CN" altLang="en-US" sz="2800" dirty="0">
                <a:solidFill>
                  <a:srgbClr val="0000FF"/>
                </a:solidFill>
                <a:latin typeface="Arial" panose="020B0604020202020204" pitchFamily="34" charset="0"/>
              </a:rPr>
              <a:t>四种引用方式：</a:t>
            </a:r>
          </a:p>
          <a:p>
            <a:pPr>
              <a:spcBef>
                <a:spcPct val="0"/>
              </a:spcBef>
            </a:pPr>
            <a:r>
              <a:rPr lang="en-US" altLang="zh-CN" sz="2400" dirty="0">
                <a:solidFill>
                  <a:srgbClr val="CC0000"/>
                </a:solidFill>
                <a:latin typeface="Arial" panose="020B0604020202020204" pitchFamily="34" charset="0"/>
              </a:rPr>
              <a:t>1. </a:t>
            </a:r>
            <a:r>
              <a:rPr lang="zh-CN" altLang="en-US" sz="2400" dirty="0">
                <a:solidFill>
                  <a:srgbClr val="CC0000"/>
                </a:solidFill>
                <a:latin typeface="Arial" panose="020B0604020202020204" pitchFamily="34" charset="0"/>
              </a:rPr>
              <a:t>用范围解释操作符直接引用</a:t>
            </a:r>
          </a:p>
          <a:p>
            <a:pPr>
              <a:spcBef>
                <a:spcPct val="0"/>
              </a:spcBef>
            </a:pPr>
            <a:r>
              <a:rPr lang="en-US" altLang="zh-CN" sz="2400" dirty="0">
                <a:solidFill>
                  <a:srgbClr val="CC0000"/>
                </a:solidFill>
                <a:latin typeface="Arial" panose="020B0604020202020204" pitchFamily="34" charset="0"/>
              </a:rPr>
              <a:t>2. </a:t>
            </a:r>
            <a:r>
              <a:rPr lang="zh-CN" altLang="en-US" sz="2400" dirty="0">
                <a:solidFill>
                  <a:srgbClr val="CC0000"/>
                </a:solidFill>
                <a:latin typeface="Arial" panose="020B0604020202020204" pitchFamily="34" charset="0"/>
              </a:rPr>
              <a:t>将</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中特定子项导入到模块或接口中</a:t>
            </a:r>
          </a:p>
          <a:p>
            <a:pPr>
              <a:spcBef>
                <a:spcPct val="0"/>
              </a:spcBef>
            </a:pPr>
            <a:r>
              <a:rPr lang="en-US" altLang="zh-CN" sz="2400" dirty="0">
                <a:solidFill>
                  <a:srgbClr val="CC0000"/>
                </a:solidFill>
                <a:latin typeface="Arial" panose="020B0604020202020204" pitchFamily="34" charset="0"/>
              </a:rPr>
              <a:t>3. </a:t>
            </a:r>
            <a:r>
              <a:rPr lang="zh-CN" altLang="en-US" sz="2400" dirty="0">
                <a:solidFill>
                  <a:srgbClr val="CC0000"/>
                </a:solidFill>
                <a:latin typeface="Arial" panose="020B0604020202020204" pitchFamily="34" charset="0"/>
              </a:rPr>
              <a:t>用通配符导入</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中的子项到模块或接口中</a:t>
            </a:r>
          </a:p>
          <a:p>
            <a:pPr>
              <a:spcBef>
                <a:spcPct val="0"/>
              </a:spcBef>
            </a:pPr>
            <a:r>
              <a:rPr lang="en-US" altLang="zh-CN" sz="2400" dirty="0">
                <a:solidFill>
                  <a:srgbClr val="CC0000"/>
                </a:solidFill>
                <a:latin typeface="Arial" panose="020B0604020202020204" pitchFamily="34" charset="0"/>
              </a:rPr>
              <a:t>4. </a:t>
            </a:r>
            <a:r>
              <a:rPr lang="zh-CN" altLang="en-US" sz="2400" dirty="0">
                <a:solidFill>
                  <a:srgbClr val="CC0000"/>
                </a:solidFill>
                <a:latin typeface="Arial" panose="020B0604020202020204" pitchFamily="34" charset="0"/>
              </a:rPr>
              <a:t>将</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中子项导入到</a:t>
            </a:r>
            <a:r>
              <a:rPr lang="en-US" altLang="zh-CN" sz="2400" dirty="0">
                <a:solidFill>
                  <a:srgbClr val="CC0000"/>
                </a:solidFill>
                <a:latin typeface="Arial" panose="020B0604020202020204" pitchFamily="34" charset="0"/>
              </a:rPr>
              <a:t>$unit</a:t>
            </a:r>
            <a:r>
              <a:rPr lang="zh-CN" altLang="en-US" sz="2400" dirty="0">
                <a:solidFill>
                  <a:srgbClr val="CC0000"/>
                </a:solidFill>
                <a:latin typeface="Arial" panose="020B0604020202020204" pitchFamily="34" charset="0"/>
              </a:rPr>
              <a:t>中</a:t>
            </a:r>
          </a:p>
        </p:txBody>
      </p:sp>
      <p:sp>
        <p:nvSpPr>
          <p:cNvPr id="2" name="矩形 1">
            <a:extLst>
              <a:ext uri="{FF2B5EF4-FFF2-40B4-BE49-F238E27FC236}">
                <a16:creationId xmlns:a16="http://schemas.microsoft.com/office/drawing/2014/main" id="{14B76BCC-319A-4E29-A4FA-467895A08674}"/>
              </a:ext>
            </a:extLst>
          </p:cNvPr>
          <p:cNvSpPr/>
          <p:nvPr/>
        </p:nvSpPr>
        <p:spPr>
          <a:xfrm>
            <a:off x="0" y="3440979"/>
            <a:ext cx="5259753" cy="3139321"/>
          </a:xfrm>
          <a:prstGeom prst="rect">
            <a:avLst/>
          </a:prstGeom>
        </p:spPr>
        <p:txBody>
          <a:bodyPr wrap="square">
            <a:spAutoFit/>
          </a:bodyPr>
          <a:lstStyle/>
          <a:p>
            <a:pPr>
              <a:spcBef>
                <a:spcPct val="0"/>
              </a:spcBef>
            </a:pPr>
            <a:r>
              <a:rPr lang="en-US" altLang="zh-CN" dirty="0">
                <a:solidFill>
                  <a:srgbClr val="0000FF"/>
                </a:solidFill>
                <a:latin typeface="Arial" panose="020B0604020202020204" pitchFamily="34" charset="0"/>
              </a:rPr>
              <a:t>module ALU(input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t>
            </a:r>
            <a:r>
              <a:rPr lang="en-US" altLang="zh-CN" dirty="0" err="1">
                <a:solidFill>
                  <a:srgbClr val="0000FF"/>
                </a:solidFill>
                <a:latin typeface="Arial" panose="020B0604020202020204" pitchFamily="34" charset="0"/>
              </a:rPr>
              <a:t>ins_t</a:t>
            </a:r>
            <a:r>
              <a:rPr lang="en-US" altLang="zh-CN" dirty="0">
                <a:solidFill>
                  <a:srgbClr val="0000FF"/>
                </a:solidFill>
                <a:latin typeface="Arial" panose="020B0604020202020204" pitchFamily="34" charset="0"/>
              </a:rPr>
              <a:t> IW,</a:t>
            </a:r>
          </a:p>
          <a:p>
            <a:pPr>
              <a:spcBef>
                <a:spcPct val="0"/>
              </a:spcBef>
            </a:pPr>
            <a:r>
              <a:rPr lang="en-US" altLang="zh-CN" dirty="0">
                <a:solidFill>
                  <a:srgbClr val="0000FF"/>
                </a:solidFill>
                <a:latin typeface="Arial" panose="020B0604020202020204" pitchFamily="34" charset="0"/>
              </a:rPr>
              <a:t>                      input logic clock,</a:t>
            </a:r>
          </a:p>
          <a:p>
            <a:pPr>
              <a:spcBef>
                <a:spcPct val="0"/>
              </a:spcBef>
            </a:pPr>
            <a:r>
              <a:rPr lang="en-US" altLang="zh-CN" dirty="0">
                <a:solidFill>
                  <a:srgbClr val="0000FF"/>
                </a:solidFill>
                <a:latin typeface="Arial" panose="020B0604020202020204" pitchFamily="34" charset="0"/>
              </a:rPr>
              <a:t>                      output logic [31:0] result);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always_ff</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posedge</a:t>
            </a:r>
            <a:r>
              <a:rPr lang="en-US" altLang="zh-CN" dirty="0">
                <a:solidFill>
                  <a:srgbClr val="0000FF"/>
                </a:solidFill>
                <a:latin typeface="Arial" panose="020B0604020202020204" pitchFamily="34" charset="0"/>
              </a:rPr>
              <a:t> clock) begin</a:t>
            </a:r>
          </a:p>
          <a:p>
            <a:pPr>
              <a:spcBef>
                <a:spcPct val="0"/>
              </a:spcBef>
            </a:pPr>
            <a:r>
              <a:rPr lang="en-US" altLang="zh-CN" dirty="0">
                <a:solidFill>
                  <a:srgbClr val="0000FF"/>
                </a:solidFill>
                <a:latin typeface="Arial" panose="020B0604020202020204" pitchFamily="34" charset="0"/>
              </a:rPr>
              <a:t>         case (</a:t>
            </a:r>
            <a:r>
              <a:rPr lang="en-US" altLang="zh-CN" dirty="0" err="1">
                <a:solidFill>
                  <a:srgbClr val="0000FF"/>
                </a:solidFill>
                <a:latin typeface="Arial" panose="020B0604020202020204" pitchFamily="34" charset="0"/>
              </a:rPr>
              <a:t>IW.opcode</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::ADD: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::SUB: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::MUL: result =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t>
            </a:r>
            <a:r>
              <a:rPr lang="en-US" altLang="zh-CN" dirty="0" err="1">
                <a:solidFill>
                  <a:srgbClr val="0000FF"/>
                </a:solidFill>
                <a:latin typeface="Arial" panose="020B0604020202020204" pitchFamily="34" charset="0"/>
              </a:rPr>
              <a:t>mult</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endcase</a:t>
            </a:r>
            <a:endParaRPr lang="en-US" altLang="zh-CN" dirty="0">
              <a:solidFill>
                <a:srgbClr val="0000FF"/>
              </a:solidFill>
              <a:latin typeface="Arial" panose="020B0604020202020204" pitchFamily="34" charset="0"/>
            </a:endParaRPr>
          </a:p>
          <a:p>
            <a:pPr>
              <a:spcBef>
                <a:spcPct val="0"/>
              </a:spcBef>
            </a:pPr>
            <a:r>
              <a:rPr lang="en-US" altLang="zh-CN" dirty="0">
                <a:solidFill>
                  <a:srgbClr val="0000FF"/>
                </a:solidFill>
                <a:latin typeface="Arial" panose="020B0604020202020204" pitchFamily="34" charset="0"/>
              </a:rPr>
              <a:t>     end</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endmodule</a:t>
            </a:r>
            <a:endParaRPr lang="zh-CN" altLang="en-US" dirty="0"/>
          </a:p>
        </p:txBody>
      </p:sp>
      <p:sp>
        <p:nvSpPr>
          <p:cNvPr id="4" name="矩形 3">
            <a:extLst>
              <a:ext uri="{FF2B5EF4-FFF2-40B4-BE49-F238E27FC236}">
                <a16:creationId xmlns:a16="http://schemas.microsoft.com/office/drawing/2014/main" id="{01B817E8-A5AA-477E-A35B-CA045052420B}"/>
              </a:ext>
            </a:extLst>
          </p:cNvPr>
          <p:cNvSpPr/>
          <p:nvPr/>
        </p:nvSpPr>
        <p:spPr>
          <a:xfrm>
            <a:off x="5324767" y="2992581"/>
            <a:ext cx="6900984" cy="3139321"/>
          </a:xfrm>
          <a:prstGeom prst="rect">
            <a:avLst/>
          </a:prstGeom>
        </p:spPr>
        <p:txBody>
          <a:bodyPr wrap="square">
            <a:spAutoFit/>
          </a:bodyPr>
          <a:lstStyle/>
          <a:p>
            <a:r>
              <a:rPr lang="en-US" altLang="zh-CN" b="1" dirty="0">
                <a:solidFill>
                  <a:schemeClr val="accent1"/>
                </a:solidFill>
                <a:latin typeface="CourierNewPS-BoldMT"/>
              </a:rPr>
              <a:t>package </a:t>
            </a:r>
            <a:r>
              <a:rPr lang="en-US" altLang="zh-CN" dirty="0" err="1">
                <a:solidFill>
                  <a:schemeClr val="accent1"/>
                </a:solidFill>
                <a:latin typeface="CourierNewPSMT"/>
              </a:rPr>
              <a:t>defs</a:t>
            </a:r>
            <a:r>
              <a:rPr lang="en-US" altLang="zh-CN" dirty="0">
                <a:solidFill>
                  <a:schemeClr val="accent1"/>
                </a:solidFill>
                <a:latin typeface="CourierNewPSMT"/>
              </a:rPr>
              <a:t>;</a:t>
            </a:r>
            <a:br>
              <a:rPr lang="en-US" altLang="zh-CN" dirty="0">
                <a:solidFill>
                  <a:schemeClr val="accent1"/>
                </a:solidFill>
                <a:latin typeface="CourierNewPSMT"/>
              </a:rPr>
            </a:br>
            <a:r>
              <a:rPr lang="en-US" altLang="zh-CN" b="1" dirty="0">
                <a:solidFill>
                  <a:schemeClr val="accent1"/>
                </a:solidFill>
                <a:latin typeface="CourierNewPS-BoldMT"/>
              </a:rPr>
              <a:t>parameter </a:t>
            </a:r>
            <a:r>
              <a:rPr lang="en-US" altLang="zh-CN" dirty="0">
                <a:solidFill>
                  <a:schemeClr val="accent1"/>
                </a:solidFill>
                <a:latin typeface="CourierNewPSMT"/>
              </a:rPr>
              <a:t>VERSION = "1.1";</a:t>
            </a:r>
            <a:br>
              <a:rPr lang="en-US" altLang="zh-CN" dirty="0">
                <a:solidFill>
                  <a:schemeClr val="accent1"/>
                </a:solidFill>
                <a:latin typeface="CourierNewPSMT"/>
              </a:rPr>
            </a:br>
            <a:r>
              <a:rPr lang="en-US" altLang="zh-CN" b="1" dirty="0">
                <a:solidFill>
                  <a:schemeClr val="accent1"/>
                </a:solidFill>
                <a:latin typeface="CourierNewPS-BoldMT"/>
              </a:rPr>
              <a:t>typedef </a:t>
            </a:r>
            <a:r>
              <a:rPr lang="en-US" altLang="zh-CN" b="1" dirty="0" err="1">
                <a:solidFill>
                  <a:schemeClr val="accent1"/>
                </a:solidFill>
                <a:latin typeface="CourierNewPS-BoldMT"/>
              </a:rPr>
              <a:t>enum</a:t>
            </a:r>
            <a:r>
              <a:rPr lang="en-US" altLang="zh-CN" b="1" dirty="0">
                <a:solidFill>
                  <a:schemeClr val="accent1"/>
                </a:solidFill>
                <a:latin typeface="CourierNewPS-BoldMT"/>
              </a:rPr>
              <a:t> </a:t>
            </a:r>
            <a:r>
              <a:rPr lang="en-US" altLang="zh-CN" dirty="0">
                <a:solidFill>
                  <a:schemeClr val="accent1"/>
                </a:solidFill>
                <a:latin typeface="CourierNewPSMT"/>
              </a:rPr>
              <a:t>{ADD,SUB,MUL} </a:t>
            </a:r>
            <a:r>
              <a:rPr lang="en-US" altLang="zh-CN" dirty="0" err="1">
                <a:solidFill>
                  <a:schemeClr val="accent1"/>
                </a:solidFill>
                <a:latin typeface="CourierNewPSMT"/>
              </a:rPr>
              <a:t>op_t</a:t>
            </a:r>
            <a:r>
              <a:rPr lang="en-US" altLang="zh-CN" dirty="0">
                <a:solidFill>
                  <a:schemeClr val="accent1"/>
                </a:solidFill>
                <a:latin typeface="CourierNewPSMT"/>
              </a:rPr>
              <a:t>;</a:t>
            </a:r>
            <a:br>
              <a:rPr lang="en-US" altLang="zh-CN" dirty="0">
                <a:solidFill>
                  <a:schemeClr val="accent1"/>
                </a:solidFill>
                <a:latin typeface="CourierNewPSMT"/>
              </a:rPr>
            </a:br>
            <a:r>
              <a:rPr lang="en-US" altLang="zh-CN" b="1" dirty="0">
                <a:solidFill>
                  <a:schemeClr val="accent1"/>
                </a:solidFill>
                <a:latin typeface="CourierNewPS-BoldMT"/>
              </a:rPr>
              <a:t>typedef struct </a:t>
            </a:r>
            <a:r>
              <a:rPr lang="en-US" altLang="zh-CN" dirty="0">
                <a:solidFill>
                  <a:schemeClr val="accent1"/>
                </a:solidFill>
                <a:latin typeface="CourierNewPSMT"/>
              </a:rPr>
              <a:t>{</a:t>
            </a:r>
            <a:br>
              <a:rPr lang="en-US" altLang="zh-CN" dirty="0">
                <a:solidFill>
                  <a:schemeClr val="accent1"/>
                </a:solidFill>
                <a:latin typeface="CourierNewPSMT"/>
              </a:rPr>
            </a:br>
            <a:r>
              <a:rPr lang="en-US" altLang="zh-CN" b="1" dirty="0">
                <a:solidFill>
                  <a:schemeClr val="accent1"/>
                </a:solidFill>
                <a:latin typeface="CourierNewPS-BoldMT"/>
              </a:rPr>
              <a:t>logic </a:t>
            </a:r>
            <a:r>
              <a:rPr lang="en-US" altLang="zh-CN" dirty="0">
                <a:solidFill>
                  <a:schemeClr val="accent1"/>
                </a:solidFill>
                <a:latin typeface="CourierNewPSMT"/>
              </a:rPr>
              <a:t>[31:0] a, b;</a:t>
            </a:r>
            <a:br>
              <a:rPr lang="en-US" altLang="zh-CN" dirty="0">
                <a:solidFill>
                  <a:schemeClr val="accent1"/>
                </a:solidFill>
                <a:latin typeface="CourierNewPSMT"/>
              </a:rPr>
            </a:br>
            <a:r>
              <a:rPr lang="en-US" altLang="zh-CN" dirty="0" err="1">
                <a:solidFill>
                  <a:schemeClr val="accent1"/>
                </a:solidFill>
                <a:latin typeface="CourierNewPSMT"/>
              </a:rPr>
              <a:t>op_t</a:t>
            </a:r>
            <a:r>
              <a:rPr lang="en-US" altLang="zh-CN" dirty="0">
                <a:solidFill>
                  <a:schemeClr val="accent1"/>
                </a:solidFill>
                <a:latin typeface="CourierNewPSMT"/>
              </a:rPr>
              <a:t> opcode;</a:t>
            </a:r>
          </a:p>
          <a:p>
            <a:r>
              <a:rPr lang="en-US" altLang="zh-CN" dirty="0">
                <a:solidFill>
                  <a:schemeClr val="accent1"/>
                </a:solidFill>
                <a:latin typeface="CourierNewPSMT"/>
              </a:rPr>
              <a:t>} </a:t>
            </a:r>
            <a:r>
              <a:rPr lang="en-US" altLang="zh-CN" dirty="0" err="1">
                <a:solidFill>
                  <a:schemeClr val="accent1"/>
                </a:solidFill>
                <a:latin typeface="CourierNewPSMT"/>
              </a:rPr>
              <a:t>ins_t</a:t>
            </a:r>
            <a:r>
              <a:rPr lang="en-US" altLang="zh-CN" dirty="0">
                <a:solidFill>
                  <a:schemeClr val="accent1"/>
                </a:solidFill>
                <a:latin typeface="CourierNewPSMT"/>
              </a:rPr>
              <a:t>;</a:t>
            </a:r>
            <a:br>
              <a:rPr lang="en-US" altLang="zh-CN" dirty="0">
                <a:solidFill>
                  <a:schemeClr val="accent1"/>
                </a:solidFill>
                <a:latin typeface="CourierNewPSMT"/>
              </a:rPr>
            </a:br>
            <a:r>
              <a:rPr lang="en-US" altLang="zh-CN" b="1" dirty="0">
                <a:solidFill>
                  <a:schemeClr val="accent1"/>
                </a:solidFill>
                <a:latin typeface="CourierNewPS-BoldMT"/>
              </a:rPr>
              <a:t>function automatic </a:t>
            </a:r>
            <a:r>
              <a:rPr lang="en-US" altLang="zh-CN" dirty="0">
                <a:solidFill>
                  <a:schemeClr val="accent1"/>
                </a:solidFill>
                <a:latin typeface="CourierNewPSMT"/>
              </a:rPr>
              <a:t>[31:0] </a:t>
            </a:r>
            <a:r>
              <a:rPr lang="en-US" altLang="zh-CN" dirty="0" err="1">
                <a:solidFill>
                  <a:schemeClr val="accent1"/>
                </a:solidFill>
                <a:latin typeface="CourierNewPSMT"/>
              </a:rPr>
              <a:t>mult</a:t>
            </a:r>
            <a:r>
              <a:rPr lang="en-US" altLang="zh-CN" dirty="0">
                <a:solidFill>
                  <a:schemeClr val="accent1"/>
                </a:solidFill>
                <a:latin typeface="CourierNewPSMT"/>
              </a:rPr>
              <a:t>(</a:t>
            </a:r>
            <a:r>
              <a:rPr lang="en-US" altLang="zh-CN" b="1" dirty="0">
                <a:solidFill>
                  <a:schemeClr val="accent1"/>
                </a:solidFill>
                <a:latin typeface="CourierNewPS-BoldMT"/>
              </a:rPr>
              <a:t>input </a:t>
            </a:r>
            <a:r>
              <a:rPr lang="en-US" altLang="zh-CN" dirty="0">
                <a:solidFill>
                  <a:schemeClr val="accent1"/>
                </a:solidFill>
                <a:latin typeface="CourierNewPSMT"/>
              </a:rPr>
              <a:t>[31:0] a, b);</a:t>
            </a:r>
            <a:br>
              <a:rPr lang="en-US" altLang="zh-CN" dirty="0">
                <a:solidFill>
                  <a:schemeClr val="accent1"/>
                </a:solidFill>
                <a:latin typeface="CourierNewPSMT"/>
              </a:rPr>
            </a:br>
            <a:r>
              <a:rPr lang="en-US" altLang="zh-CN" b="1" dirty="0">
                <a:solidFill>
                  <a:schemeClr val="accent1"/>
                </a:solidFill>
                <a:latin typeface="CourierNewPS-BoldMT"/>
              </a:rPr>
              <a:t>return </a:t>
            </a:r>
            <a:r>
              <a:rPr lang="en-US" altLang="zh-CN" dirty="0">
                <a:solidFill>
                  <a:schemeClr val="accent1"/>
                </a:solidFill>
                <a:latin typeface="CourierNewPSMT"/>
              </a:rPr>
              <a:t>a * b; </a:t>
            </a:r>
          </a:p>
          <a:p>
            <a:r>
              <a:rPr lang="en-US" altLang="zh-CN" b="1" dirty="0" err="1">
                <a:solidFill>
                  <a:schemeClr val="accent1"/>
                </a:solidFill>
                <a:latin typeface="CourierNewPS-BoldMT"/>
              </a:rPr>
              <a:t>endfunction</a:t>
            </a:r>
            <a:br>
              <a:rPr lang="en-US" altLang="zh-CN" b="1" dirty="0">
                <a:solidFill>
                  <a:schemeClr val="accent1"/>
                </a:solidFill>
                <a:latin typeface="CourierNewPS-BoldMT"/>
              </a:rPr>
            </a:br>
            <a:r>
              <a:rPr lang="en-US" altLang="zh-CN" b="1" dirty="0" err="1">
                <a:solidFill>
                  <a:schemeClr val="accent1"/>
                </a:solidFill>
                <a:latin typeface="CourierNewPS-BoldMT"/>
              </a:rPr>
              <a:t>endpackage</a:t>
            </a:r>
            <a:r>
              <a:rPr lang="en-US" altLang="zh-CN" dirty="0">
                <a:solidFill>
                  <a:schemeClr val="accent1"/>
                </a:solidFill>
              </a:rPr>
              <a:t> </a:t>
            </a:r>
            <a:endParaRPr lang="zh-CN" altLang="en-US" dirty="0">
              <a:solidFill>
                <a:schemeClr val="accent1"/>
              </a:solidFill>
            </a:endParaRPr>
          </a:p>
        </p:txBody>
      </p:sp>
      <p:sp>
        <p:nvSpPr>
          <p:cNvPr id="5" name="文本框 4">
            <a:extLst>
              <a:ext uri="{FF2B5EF4-FFF2-40B4-BE49-F238E27FC236}">
                <a16:creationId xmlns:a16="http://schemas.microsoft.com/office/drawing/2014/main" id="{842663A4-DC8C-4772-982C-8B12523625AA}"/>
              </a:ext>
            </a:extLst>
          </p:cNvPr>
          <p:cNvSpPr txBox="1"/>
          <p:nvPr/>
        </p:nvSpPr>
        <p:spPr>
          <a:xfrm>
            <a:off x="3532913" y="3422565"/>
            <a:ext cx="1791854" cy="369332"/>
          </a:xfrm>
          <a:prstGeom prst="rect">
            <a:avLst/>
          </a:prstGeom>
          <a:noFill/>
        </p:spPr>
        <p:txBody>
          <a:bodyPr wrap="square" rtlCol="0">
            <a:spAutoFit/>
          </a:bodyPr>
          <a:lstStyle/>
          <a:p>
            <a:r>
              <a:rPr lang="zh-CN" altLang="en-US" dirty="0">
                <a:solidFill>
                  <a:srgbClr val="FF0000"/>
                </a:solidFill>
              </a:rPr>
              <a:t>引用方法</a:t>
            </a:r>
            <a:r>
              <a:rPr lang="en-US" altLang="zh-CN" dirty="0">
                <a:solidFill>
                  <a:srgbClr val="FF0000"/>
                </a:solidFill>
              </a:rPr>
              <a:t>1</a:t>
            </a:r>
            <a:endParaRPr lang="zh-CN" altLang="en-US"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a:extLst>
              <a:ext uri="{FF2B5EF4-FFF2-40B4-BE49-F238E27FC236}">
                <a16:creationId xmlns:a16="http://schemas.microsoft.com/office/drawing/2014/main" id="{1DDCE567-F8A9-4A03-AC89-DEE64EF0DFF2}"/>
              </a:ext>
            </a:extLst>
          </p:cNvPr>
          <p:cNvSpPr txBox="1">
            <a:spLocks noChangeArrowheads="1"/>
          </p:cNvSpPr>
          <p:nvPr/>
        </p:nvSpPr>
        <p:spPr bwMode="auto">
          <a:xfrm>
            <a:off x="304800" y="131137"/>
            <a:ext cx="102616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000" dirty="0">
                <a:solidFill>
                  <a:srgbClr val="000066"/>
                </a:solidFill>
                <a:latin typeface="Arial" panose="020B0604020202020204" pitchFamily="34" charset="0"/>
              </a:rPr>
              <a:t>System Verilog</a:t>
            </a:r>
            <a:r>
              <a:rPr lang="zh-CN" altLang="en-US" sz="4000" dirty="0">
                <a:solidFill>
                  <a:srgbClr val="000066"/>
                </a:solidFill>
                <a:latin typeface="Arial" panose="020B0604020202020204" pitchFamily="34" charset="0"/>
              </a:rPr>
              <a:t>中</a:t>
            </a:r>
            <a:r>
              <a:rPr lang="en-US" altLang="zh-CN" sz="4000" dirty="0">
                <a:solidFill>
                  <a:srgbClr val="000066"/>
                </a:solidFill>
                <a:latin typeface="Arial" panose="020B0604020202020204" pitchFamily="34" charset="0"/>
              </a:rPr>
              <a:t>package</a:t>
            </a:r>
            <a:r>
              <a:rPr lang="zh-CN" altLang="en-US" sz="4000" dirty="0">
                <a:solidFill>
                  <a:srgbClr val="000066"/>
                </a:solidFill>
                <a:latin typeface="Arial" panose="020B0604020202020204" pitchFamily="34" charset="0"/>
              </a:rPr>
              <a:t>内容的引用方法</a:t>
            </a:r>
          </a:p>
        </p:txBody>
      </p:sp>
      <p:sp>
        <p:nvSpPr>
          <p:cNvPr id="26627" name="Text Box 3">
            <a:extLst>
              <a:ext uri="{FF2B5EF4-FFF2-40B4-BE49-F238E27FC236}">
                <a16:creationId xmlns:a16="http://schemas.microsoft.com/office/drawing/2014/main" id="{21D7F013-F7C8-4F1D-A401-53BD9662477E}"/>
              </a:ext>
            </a:extLst>
          </p:cNvPr>
          <p:cNvSpPr txBox="1">
            <a:spLocks noChangeArrowheads="1"/>
          </p:cNvSpPr>
          <p:nvPr/>
        </p:nvSpPr>
        <p:spPr bwMode="auto">
          <a:xfrm>
            <a:off x="195385" y="1140077"/>
            <a:ext cx="6900984" cy="20005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800" dirty="0">
                <a:solidFill>
                  <a:srgbClr val="0000FF"/>
                </a:solidFill>
                <a:latin typeface="Arial" panose="020B0604020202020204" pitchFamily="34" charset="0"/>
              </a:rPr>
              <a:t> </a:t>
            </a:r>
            <a:r>
              <a:rPr lang="zh-CN" altLang="en-US" sz="2800" dirty="0">
                <a:solidFill>
                  <a:srgbClr val="0000FF"/>
                </a:solidFill>
                <a:latin typeface="Arial" panose="020B0604020202020204" pitchFamily="34" charset="0"/>
              </a:rPr>
              <a:t>四种引用方式：</a:t>
            </a:r>
          </a:p>
          <a:p>
            <a:pPr>
              <a:spcBef>
                <a:spcPct val="0"/>
              </a:spcBef>
            </a:pPr>
            <a:r>
              <a:rPr lang="en-US" altLang="zh-CN" sz="2400" dirty="0">
                <a:solidFill>
                  <a:srgbClr val="CC0000"/>
                </a:solidFill>
                <a:latin typeface="Arial" panose="020B0604020202020204" pitchFamily="34" charset="0"/>
              </a:rPr>
              <a:t>1. </a:t>
            </a:r>
            <a:r>
              <a:rPr lang="zh-CN" altLang="en-US" sz="2400" dirty="0">
                <a:solidFill>
                  <a:srgbClr val="CC0000"/>
                </a:solidFill>
                <a:latin typeface="Arial" panose="020B0604020202020204" pitchFamily="34" charset="0"/>
              </a:rPr>
              <a:t>用范围解释操作符直接引用</a:t>
            </a:r>
          </a:p>
          <a:p>
            <a:pPr>
              <a:spcBef>
                <a:spcPct val="0"/>
              </a:spcBef>
            </a:pPr>
            <a:r>
              <a:rPr lang="en-US" altLang="zh-CN" sz="2400" dirty="0">
                <a:solidFill>
                  <a:srgbClr val="CC0000"/>
                </a:solidFill>
                <a:latin typeface="Arial" panose="020B0604020202020204" pitchFamily="34" charset="0"/>
              </a:rPr>
              <a:t>2. </a:t>
            </a:r>
            <a:r>
              <a:rPr lang="zh-CN" altLang="en-US" sz="2400" dirty="0">
                <a:solidFill>
                  <a:srgbClr val="CC0000"/>
                </a:solidFill>
                <a:latin typeface="Arial" panose="020B0604020202020204" pitchFamily="34" charset="0"/>
              </a:rPr>
              <a:t>将</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中特定子项导入到模块或接口中</a:t>
            </a:r>
          </a:p>
          <a:p>
            <a:pPr>
              <a:spcBef>
                <a:spcPct val="0"/>
              </a:spcBef>
            </a:pPr>
            <a:r>
              <a:rPr lang="en-US" altLang="zh-CN" sz="2400" dirty="0">
                <a:solidFill>
                  <a:srgbClr val="CC0000"/>
                </a:solidFill>
                <a:latin typeface="Arial" panose="020B0604020202020204" pitchFamily="34" charset="0"/>
              </a:rPr>
              <a:t>3. </a:t>
            </a:r>
            <a:r>
              <a:rPr lang="zh-CN" altLang="en-US" sz="2400" dirty="0">
                <a:solidFill>
                  <a:srgbClr val="CC0000"/>
                </a:solidFill>
                <a:latin typeface="Arial" panose="020B0604020202020204" pitchFamily="34" charset="0"/>
              </a:rPr>
              <a:t>用通配符导入</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中的子项到模块或接口中</a:t>
            </a:r>
          </a:p>
          <a:p>
            <a:pPr>
              <a:spcBef>
                <a:spcPct val="0"/>
              </a:spcBef>
            </a:pPr>
            <a:r>
              <a:rPr lang="en-US" altLang="zh-CN" sz="2400" dirty="0">
                <a:solidFill>
                  <a:srgbClr val="CC0000"/>
                </a:solidFill>
                <a:latin typeface="Arial" panose="020B0604020202020204" pitchFamily="34" charset="0"/>
              </a:rPr>
              <a:t>4. </a:t>
            </a:r>
            <a:r>
              <a:rPr lang="zh-CN" altLang="en-US" sz="2400" dirty="0">
                <a:solidFill>
                  <a:srgbClr val="CC0000"/>
                </a:solidFill>
                <a:latin typeface="Arial" panose="020B0604020202020204" pitchFamily="34" charset="0"/>
              </a:rPr>
              <a:t>将</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中子项导入到</a:t>
            </a:r>
            <a:r>
              <a:rPr lang="en-US" altLang="zh-CN" sz="2400" dirty="0">
                <a:solidFill>
                  <a:srgbClr val="CC0000"/>
                </a:solidFill>
                <a:latin typeface="Arial" panose="020B0604020202020204" pitchFamily="34" charset="0"/>
              </a:rPr>
              <a:t>$unit</a:t>
            </a:r>
            <a:r>
              <a:rPr lang="zh-CN" altLang="en-US" sz="2400" dirty="0">
                <a:solidFill>
                  <a:srgbClr val="CC0000"/>
                </a:solidFill>
                <a:latin typeface="Arial" panose="020B0604020202020204" pitchFamily="34" charset="0"/>
              </a:rPr>
              <a:t>中</a:t>
            </a:r>
          </a:p>
        </p:txBody>
      </p:sp>
      <p:sp>
        <p:nvSpPr>
          <p:cNvPr id="2" name="矩形 1">
            <a:extLst>
              <a:ext uri="{FF2B5EF4-FFF2-40B4-BE49-F238E27FC236}">
                <a16:creationId xmlns:a16="http://schemas.microsoft.com/office/drawing/2014/main" id="{14B76BCC-319A-4E29-A4FA-467895A08674}"/>
              </a:ext>
            </a:extLst>
          </p:cNvPr>
          <p:cNvSpPr/>
          <p:nvPr/>
        </p:nvSpPr>
        <p:spPr>
          <a:xfrm>
            <a:off x="6256215" y="3061660"/>
            <a:ext cx="5259753" cy="3139321"/>
          </a:xfrm>
          <a:prstGeom prst="rect">
            <a:avLst/>
          </a:prstGeom>
        </p:spPr>
        <p:txBody>
          <a:bodyPr wrap="square">
            <a:spAutoFit/>
          </a:bodyPr>
          <a:lstStyle/>
          <a:p>
            <a:pPr>
              <a:spcBef>
                <a:spcPct val="0"/>
              </a:spcBef>
            </a:pPr>
            <a:r>
              <a:rPr lang="en-US" altLang="zh-CN" dirty="0">
                <a:solidFill>
                  <a:srgbClr val="0000FF"/>
                </a:solidFill>
                <a:latin typeface="Arial" panose="020B0604020202020204" pitchFamily="34" charset="0"/>
              </a:rPr>
              <a:t>module ALU(input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t>
            </a:r>
            <a:r>
              <a:rPr lang="en-US" altLang="zh-CN" dirty="0" err="1">
                <a:solidFill>
                  <a:srgbClr val="0000FF"/>
                </a:solidFill>
                <a:latin typeface="Arial" panose="020B0604020202020204" pitchFamily="34" charset="0"/>
              </a:rPr>
              <a:t>ins_t</a:t>
            </a:r>
            <a:r>
              <a:rPr lang="en-US" altLang="zh-CN" dirty="0">
                <a:solidFill>
                  <a:srgbClr val="0000FF"/>
                </a:solidFill>
                <a:latin typeface="Arial" panose="020B0604020202020204" pitchFamily="34" charset="0"/>
              </a:rPr>
              <a:t> IW,</a:t>
            </a: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import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t>
            </a:r>
            <a:r>
              <a:rPr lang="zh-CN" altLang="en-US" dirty="0">
                <a:solidFill>
                  <a:srgbClr val="0000FF"/>
                </a:solidFill>
                <a:latin typeface="Arial" panose="020B0604020202020204" pitchFamily="34" charset="0"/>
              </a:rPr>
              <a:t>*</a:t>
            </a:r>
            <a:r>
              <a:rPr lang="en-US" altLang="zh-CN" dirty="0">
                <a:solidFill>
                  <a:srgbClr val="0000FF"/>
                </a:solidFill>
                <a:latin typeface="Arial" panose="020B0604020202020204" pitchFamily="34" charset="0"/>
              </a:rPr>
              <a:t>;</a:t>
            </a:r>
          </a:p>
          <a:p>
            <a:pPr>
              <a:spcBef>
                <a:spcPct val="0"/>
              </a:spcBef>
            </a:pPr>
            <a:endParaRPr lang="en-US" altLang="zh-CN" dirty="0">
              <a:solidFill>
                <a:srgbClr val="0000FF"/>
              </a:solidFill>
              <a:latin typeface="Arial" panose="020B0604020202020204" pitchFamily="34" charset="0"/>
            </a:endParaRP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always_ff</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posedge</a:t>
            </a:r>
            <a:r>
              <a:rPr lang="en-US" altLang="zh-CN" dirty="0">
                <a:solidFill>
                  <a:srgbClr val="0000FF"/>
                </a:solidFill>
                <a:latin typeface="Arial" panose="020B0604020202020204" pitchFamily="34" charset="0"/>
              </a:rPr>
              <a:t> clock) begin</a:t>
            </a:r>
          </a:p>
          <a:p>
            <a:pPr>
              <a:spcBef>
                <a:spcPct val="0"/>
              </a:spcBef>
            </a:pPr>
            <a:r>
              <a:rPr lang="en-US" altLang="zh-CN" dirty="0">
                <a:solidFill>
                  <a:srgbClr val="0000FF"/>
                </a:solidFill>
                <a:latin typeface="Arial" panose="020B0604020202020204" pitchFamily="34" charset="0"/>
              </a:rPr>
              <a:t>         case (</a:t>
            </a:r>
            <a:r>
              <a:rPr lang="en-US" altLang="zh-CN" dirty="0" err="1">
                <a:solidFill>
                  <a:srgbClr val="0000FF"/>
                </a:solidFill>
                <a:latin typeface="Arial" panose="020B0604020202020204" pitchFamily="34" charset="0"/>
              </a:rPr>
              <a:t>IW.opcode</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ADD: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SUB: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MUL: result = </a:t>
            </a:r>
            <a:r>
              <a:rPr lang="en-US" altLang="zh-CN" dirty="0" err="1">
                <a:solidFill>
                  <a:srgbClr val="0000FF"/>
                </a:solidFill>
                <a:latin typeface="Arial" panose="020B0604020202020204" pitchFamily="34" charset="0"/>
              </a:rPr>
              <a:t>mult</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endcase</a:t>
            </a:r>
            <a:endParaRPr lang="en-US" altLang="zh-CN" dirty="0">
              <a:solidFill>
                <a:srgbClr val="0000FF"/>
              </a:solidFill>
              <a:latin typeface="Arial" panose="020B0604020202020204" pitchFamily="34" charset="0"/>
            </a:endParaRPr>
          </a:p>
          <a:p>
            <a:pPr>
              <a:spcBef>
                <a:spcPct val="0"/>
              </a:spcBef>
            </a:pPr>
            <a:r>
              <a:rPr lang="en-US" altLang="zh-CN" dirty="0">
                <a:solidFill>
                  <a:srgbClr val="0000FF"/>
                </a:solidFill>
                <a:latin typeface="Arial" panose="020B0604020202020204" pitchFamily="34" charset="0"/>
              </a:rPr>
              <a:t>     end</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endmodule</a:t>
            </a:r>
            <a:endParaRPr lang="zh-CN" altLang="en-US" dirty="0"/>
          </a:p>
        </p:txBody>
      </p:sp>
      <p:sp>
        <p:nvSpPr>
          <p:cNvPr id="3" name="矩形 2">
            <a:extLst>
              <a:ext uri="{FF2B5EF4-FFF2-40B4-BE49-F238E27FC236}">
                <a16:creationId xmlns:a16="http://schemas.microsoft.com/office/drawing/2014/main" id="{146E31A1-B084-490D-A075-778F974A434B}"/>
              </a:ext>
            </a:extLst>
          </p:cNvPr>
          <p:cNvSpPr/>
          <p:nvPr/>
        </p:nvSpPr>
        <p:spPr>
          <a:xfrm>
            <a:off x="144585" y="3164681"/>
            <a:ext cx="6111630" cy="3693319"/>
          </a:xfrm>
          <a:prstGeom prst="rect">
            <a:avLst/>
          </a:prstGeom>
        </p:spPr>
        <p:txBody>
          <a:bodyPr wrap="square">
            <a:spAutoFit/>
          </a:bodyPr>
          <a:lstStyle/>
          <a:p>
            <a:pPr>
              <a:spcBef>
                <a:spcPct val="0"/>
              </a:spcBef>
            </a:pPr>
            <a:r>
              <a:rPr lang="en-US" altLang="zh-CN" dirty="0">
                <a:solidFill>
                  <a:srgbClr val="0000FF"/>
                </a:solidFill>
                <a:latin typeface="Arial" panose="020B0604020202020204" pitchFamily="34" charset="0"/>
              </a:rPr>
              <a:t>module ALU(input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t>
            </a:r>
            <a:r>
              <a:rPr lang="en-US" altLang="zh-CN" dirty="0" err="1">
                <a:solidFill>
                  <a:srgbClr val="0000FF"/>
                </a:solidFill>
                <a:latin typeface="Arial" panose="020B0604020202020204" pitchFamily="34" charset="0"/>
              </a:rPr>
              <a:t>ins_t</a:t>
            </a:r>
            <a:r>
              <a:rPr lang="en-US" altLang="zh-CN" dirty="0">
                <a:solidFill>
                  <a:srgbClr val="0000FF"/>
                </a:solidFill>
                <a:latin typeface="Arial" panose="020B0604020202020204" pitchFamily="34" charset="0"/>
              </a:rPr>
              <a:t> IW,</a:t>
            </a: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import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::ADD;</a:t>
            </a:r>
          </a:p>
          <a:p>
            <a:pPr>
              <a:spcBef>
                <a:spcPct val="0"/>
              </a:spcBef>
            </a:pPr>
            <a:r>
              <a:rPr lang="en-US" altLang="zh-CN" dirty="0">
                <a:solidFill>
                  <a:srgbClr val="0000FF"/>
                </a:solidFill>
                <a:latin typeface="Arial" panose="020B0604020202020204" pitchFamily="34" charset="0"/>
              </a:rPr>
              <a:t>     import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::SUB;</a:t>
            </a:r>
          </a:p>
          <a:p>
            <a:pPr>
              <a:spcBef>
                <a:spcPct val="0"/>
              </a:spcBef>
            </a:pPr>
            <a:r>
              <a:rPr lang="en-US" altLang="zh-CN" dirty="0">
                <a:solidFill>
                  <a:srgbClr val="0000FF"/>
                </a:solidFill>
                <a:latin typeface="Arial" panose="020B0604020202020204" pitchFamily="34" charset="0"/>
              </a:rPr>
              <a:t>     import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::MUL;</a:t>
            </a:r>
          </a:p>
          <a:p>
            <a:pPr>
              <a:spcBef>
                <a:spcPct val="0"/>
              </a:spcBef>
            </a:pPr>
            <a:r>
              <a:rPr lang="en-US" altLang="zh-CN" dirty="0">
                <a:solidFill>
                  <a:srgbClr val="0000FF"/>
                </a:solidFill>
                <a:latin typeface="Arial" panose="020B0604020202020204" pitchFamily="34" charset="0"/>
              </a:rPr>
              <a:t>     import </a:t>
            </a:r>
            <a:r>
              <a:rPr lang="en-US" altLang="zh-CN" dirty="0" err="1">
                <a:solidFill>
                  <a:srgbClr val="0000FF"/>
                </a:solidFill>
                <a:latin typeface="Arial" panose="020B0604020202020204" pitchFamily="34" charset="0"/>
              </a:rPr>
              <a:t>defs</a:t>
            </a:r>
            <a:r>
              <a:rPr lang="en-US" altLang="zh-CN" dirty="0">
                <a:solidFill>
                  <a:srgbClr val="0000FF"/>
                </a:solidFill>
                <a:latin typeface="Arial" panose="020B0604020202020204" pitchFamily="34" charset="0"/>
              </a:rPr>
              <a:t>::multiplier;</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always_ff</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posedge</a:t>
            </a:r>
            <a:r>
              <a:rPr lang="en-US" altLang="zh-CN" dirty="0">
                <a:solidFill>
                  <a:srgbClr val="0000FF"/>
                </a:solidFill>
                <a:latin typeface="Arial" panose="020B0604020202020204" pitchFamily="34" charset="0"/>
              </a:rPr>
              <a:t> clock) begin</a:t>
            </a:r>
          </a:p>
          <a:p>
            <a:pPr>
              <a:spcBef>
                <a:spcPct val="0"/>
              </a:spcBef>
            </a:pPr>
            <a:r>
              <a:rPr lang="en-US" altLang="zh-CN" dirty="0">
                <a:solidFill>
                  <a:srgbClr val="0000FF"/>
                </a:solidFill>
                <a:latin typeface="Arial" panose="020B0604020202020204" pitchFamily="34" charset="0"/>
              </a:rPr>
              <a:t>         case (</a:t>
            </a:r>
            <a:r>
              <a:rPr lang="en-US" altLang="zh-CN" dirty="0" err="1">
                <a:solidFill>
                  <a:srgbClr val="0000FF"/>
                </a:solidFill>
                <a:latin typeface="Arial" panose="020B0604020202020204" pitchFamily="34" charset="0"/>
              </a:rPr>
              <a:t>IW.opcode</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ADD: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SUB: result = </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MUL: result = multiplier(</a:t>
            </a:r>
            <a:r>
              <a:rPr lang="en-US" altLang="zh-CN" dirty="0" err="1">
                <a:solidFill>
                  <a:srgbClr val="0000FF"/>
                </a:solidFill>
                <a:latin typeface="Arial" panose="020B0604020202020204" pitchFamily="34" charset="0"/>
              </a:rPr>
              <a:t>IW.a</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IW.b</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endcase</a:t>
            </a:r>
            <a:endParaRPr lang="en-US" altLang="zh-CN" dirty="0">
              <a:solidFill>
                <a:srgbClr val="0000FF"/>
              </a:solidFill>
              <a:latin typeface="Arial" panose="020B0604020202020204" pitchFamily="34" charset="0"/>
            </a:endParaRPr>
          </a:p>
          <a:p>
            <a:pPr>
              <a:spcBef>
                <a:spcPct val="0"/>
              </a:spcBef>
            </a:pPr>
            <a:r>
              <a:rPr lang="en-US" altLang="zh-CN" dirty="0">
                <a:solidFill>
                  <a:srgbClr val="0000FF"/>
                </a:solidFill>
                <a:latin typeface="Arial" panose="020B0604020202020204" pitchFamily="34" charset="0"/>
              </a:rPr>
              <a:t>     end</a:t>
            </a:r>
            <a:endParaRPr lang="en-US" altLang="zh-CN" dirty="0">
              <a:solidFill>
                <a:srgbClr val="FF0000"/>
              </a:solidFill>
              <a:latin typeface="Arial" panose="020B0604020202020204" pitchFamily="34" charset="0"/>
            </a:endParaRP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endmodule</a:t>
            </a:r>
            <a:endParaRPr lang="en-US" altLang="zh-CN" dirty="0">
              <a:solidFill>
                <a:srgbClr val="0000FF"/>
              </a:solidFill>
              <a:latin typeface="Arial" panose="020B0604020202020204" pitchFamily="34" charset="0"/>
            </a:endParaRPr>
          </a:p>
        </p:txBody>
      </p:sp>
      <p:sp>
        <p:nvSpPr>
          <p:cNvPr id="5" name="文本框 4">
            <a:extLst>
              <a:ext uri="{FF2B5EF4-FFF2-40B4-BE49-F238E27FC236}">
                <a16:creationId xmlns:a16="http://schemas.microsoft.com/office/drawing/2014/main" id="{842663A4-DC8C-4772-982C-8B12523625AA}"/>
              </a:ext>
            </a:extLst>
          </p:cNvPr>
          <p:cNvSpPr txBox="1"/>
          <p:nvPr/>
        </p:nvSpPr>
        <p:spPr>
          <a:xfrm>
            <a:off x="4359564" y="3274359"/>
            <a:ext cx="785091" cy="646331"/>
          </a:xfrm>
          <a:prstGeom prst="rect">
            <a:avLst/>
          </a:prstGeom>
          <a:noFill/>
        </p:spPr>
        <p:txBody>
          <a:bodyPr wrap="square" rtlCol="0">
            <a:spAutoFit/>
          </a:bodyPr>
          <a:lstStyle/>
          <a:p>
            <a:r>
              <a:rPr lang="zh-CN" altLang="en-US" dirty="0">
                <a:solidFill>
                  <a:srgbClr val="FF0000"/>
                </a:solidFill>
              </a:rPr>
              <a:t>引用方法</a:t>
            </a:r>
            <a:r>
              <a:rPr lang="en-US" altLang="zh-CN" dirty="0">
                <a:solidFill>
                  <a:srgbClr val="FF0000"/>
                </a:solidFill>
              </a:rPr>
              <a:t>2</a:t>
            </a:r>
            <a:endParaRPr lang="zh-CN" altLang="en-US" dirty="0">
              <a:solidFill>
                <a:srgbClr val="FF0000"/>
              </a:solidFill>
            </a:endParaRPr>
          </a:p>
        </p:txBody>
      </p:sp>
      <p:sp>
        <p:nvSpPr>
          <p:cNvPr id="10" name="文本框 9">
            <a:extLst>
              <a:ext uri="{FF2B5EF4-FFF2-40B4-BE49-F238E27FC236}">
                <a16:creationId xmlns:a16="http://schemas.microsoft.com/office/drawing/2014/main" id="{2F3FD3BA-42BE-4804-85CD-BC84C0DC722D}"/>
              </a:ext>
            </a:extLst>
          </p:cNvPr>
          <p:cNvSpPr txBox="1"/>
          <p:nvPr/>
        </p:nvSpPr>
        <p:spPr>
          <a:xfrm>
            <a:off x="10471194" y="3164681"/>
            <a:ext cx="785091" cy="646331"/>
          </a:xfrm>
          <a:prstGeom prst="rect">
            <a:avLst/>
          </a:prstGeom>
          <a:noFill/>
        </p:spPr>
        <p:txBody>
          <a:bodyPr wrap="square" rtlCol="0">
            <a:spAutoFit/>
          </a:bodyPr>
          <a:lstStyle/>
          <a:p>
            <a:r>
              <a:rPr lang="zh-CN" altLang="en-US" dirty="0">
                <a:solidFill>
                  <a:srgbClr val="FF0000"/>
                </a:solidFill>
              </a:rPr>
              <a:t>引用方法</a:t>
            </a:r>
            <a:r>
              <a:rPr lang="en-US" altLang="zh-CN" dirty="0">
                <a:solidFill>
                  <a:srgbClr val="FF0000"/>
                </a:solidFill>
              </a:rPr>
              <a:t>3</a:t>
            </a:r>
            <a:endParaRPr lang="zh-CN" altLang="en-US" dirty="0">
              <a:solidFill>
                <a:srgbClr val="FF0000"/>
              </a:solidFill>
            </a:endParaRPr>
          </a:p>
        </p:txBody>
      </p:sp>
    </p:spTree>
    <p:extLst>
      <p:ext uri="{BB962C8B-B14F-4D97-AF65-F5344CB8AC3E}">
        <p14:creationId xmlns:p14="http://schemas.microsoft.com/office/powerpoint/2010/main" val="898904268"/>
      </p:ext>
    </p:extLst>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2">
            <a:extLst>
              <a:ext uri="{FF2B5EF4-FFF2-40B4-BE49-F238E27FC236}">
                <a16:creationId xmlns:a16="http://schemas.microsoft.com/office/drawing/2014/main" id="{D430A143-67D5-4890-88B9-BB8B662D0B3C}"/>
              </a:ext>
            </a:extLst>
          </p:cNvPr>
          <p:cNvSpPr txBox="1">
            <a:spLocks noChangeArrowheads="1"/>
          </p:cNvSpPr>
          <p:nvPr/>
        </p:nvSpPr>
        <p:spPr bwMode="auto">
          <a:xfrm>
            <a:off x="1708727" y="267855"/>
            <a:ext cx="751464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$unit</a:t>
            </a:r>
            <a:r>
              <a:rPr lang="zh-CN" altLang="en-US" sz="4400" dirty="0">
                <a:solidFill>
                  <a:srgbClr val="000066"/>
                </a:solidFill>
                <a:latin typeface="Arial" panose="020B0604020202020204" pitchFamily="34" charset="0"/>
              </a:rPr>
              <a:t>编译单元声明</a:t>
            </a:r>
          </a:p>
        </p:txBody>
      </p:sp>
      <p:sp>
        <p:nvSpPr>
          <p:cNvPr id="36868" name="Text Box 4">
            <a:extLst>
              <a:ext uri="{FF2B5EF4-FFF2-40B4-BE49-F238E27FC236}">
                <a16:creationId xmlns:a16="http://schemas.microsoft.com/office/drawing/2014/main" id="{37A8AF1F-0BCF-4DF3-9E9A-47F8DA0C344C}"/>
              </a:ext>
            </a:extLst>
          </p:cNvPr>
          <p:cNvSpPr txBox="1">
            <a:spLocks noChangeArrowheads="1"/>
          </p:cNvSpPr>
          <p:nvPr/>
        </p:nvSpPr>
        <p:spPr bwMode="auto">
          <a:xfrm>
            <a:off x="868218" y="1447800"/>
            <a:ext cx="9956800" cy="3822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err="1">
                <a:solidFill>
                  <a:srgbClr val="0000FF"/>
                </a:solidFill>
                <a:latin typeface="Arial" panose="020B0604020202020204" pitchFamily="34" charset="0"/>
              </a:rPr>
              <a:t>SystemVerilog</a:t>
            </a:r>
            <a:r>
              <a:rPr lang="zh-CN" altLang="en-US" sz="2400" dirty="0">
                <a:solidFill>
                  <a:srgbClr val="0000FF"/>
                </a:solidFill>
                <a:latin typeface="Arial" panose="020B0604020202020204" pitchFamily="34" charset="0"/>
              </a:rPr>
              <a:t>标准提供了一种名为</a:t>
            </a:r>
            <a:r>
              <a:rPr lang="en-US" altLang="zh-CN" sz="2400" dirty="0">
                <a:solidFill>
                  <a:srgbClr val="0000FF"/>
                </a:solidFill>
                <a:latin typeface="Arial" panose="020B0604020202020204" pitchFamily="34" charset="0"/>
              </a:rPr>
              <a:t>$unit (compilation-unit scope)</a:t>
            </a:r>
            <a:r>
              <a:rPr lang="zh-CN" altLang="en-US" sz="2400" dirty="0">
                <a:solidFill>
                  <a:srgbClr val="0000FF"/>
                </a:solidFill>
                <a:latin typeface="Arial" panose="020B0604020202020204" pitchFamily="34" charset="0"/>
              </a:rPr>
              <a:t>的伪全局名称空间机制。</a:t>
            </a:r>
            <a:endParaRPr lang="en-US" altLang="zh-CN" sz="2400" dirty="0">
              <a:solidFill>
                <a:srgbClr val="0000FF"/>
              </a:solidFill>
              <a:latin typeface="Arial" panose="020B0604020202020204" pitchFamily="34" charset="0"/>
            </a:endParaRPr>
          </a:p>
          <a:p>
            <a:pPr>
              <a:spcBef>
                <a:spcPct val="50000"/>
              </a:spcBef>
            </a:pPr>
            <a:r>
              <a:rPr lang="en-US" altLang="zh-CN" sz="2400" dirty="0" err="1">
                <a:solidFill>
                  <a:srgbClr val="0000FF"/>
                </a:solidFill>
                <a:latin typeface="Arial" panose="020B0604020202020204" pitchFamily="34" charset="0"/>
              </a:rPr>
              <a:t>SystemVerilog</a:t>
            </a:r>
            <a:r>
              <a:rPr lang="zh-CN" altLang="en-US" sz="2400" dirty="0">
                <a:solidFill>
                  <a:srgbClr val="0000FF"/>
                </a:solidFill>
                <a:latin typeface="Arial" panose="020B0604020202020204" pitchFamily="34" charset="0"/>
              </a:rPr>
              <a:t>可以在</a:t>
            </a:r>
            <a:r>
              <a:rPr lang="en-US" altLang="zh-CN" sz="2400" dirty="0">
                <a:solidFill>
                  <a:srgbClr val="0000FF"/>
                </a:solidFill>
                <a:latin typeface="Arial" panose="020B0604020202020204" pitchFamily="34" charset="0"/>
              </a:rPr>
              <a:t>package</a:t>
            </a:r>
            <a:r>
              <a:rPr lang="zh-CN" altLang="en-US" sz="2400" dirty="0">
                <a:solidFill>
                  <a:srgbClr val="0000FF"/>
                </a:solidFill>
                <a:latin typeface="Arial" panose="020B0604020202020204" pitchFamily="34" charset="0"/>
              </a:rPr>
              <a:t>，模块、接口和程序块的外部进行声明，这些外部声明对所有同时编译的模块都是可见的。</a:t>
            </a:r>
            <a:endParaRPr lang="en-US" altLang="zh-CN" sz="2400" dirty="0">
              <a:solidFill>
                <a:srgbClr val="0000FF"/>
              </a:solidFill>
              <a:latin typeface="Arial" panose="020B0604020202020204" pitchFamily="34" charset="0"/>
            </a:endParaRPr>
          </a:p>
          <a:p>
            <a:pPr>
              <a:spcBef>
                <a:spcPct val="50000"/>
              </a:spcBef>
            </a:pPr>
            <a:r>
              <a:rPr lang="zh-CN" altLang="en-US" sz="2400" dirty="0">
                <a:solidFill>
                  <a:schemeClr val="accent2"/>
                </a:solidFill>
                <a:latin typeface="Arial" panose="020B0604020202020204" pitchFamily="34" charset="0"/>
              </a:rPr>
              <a:t>例：将</a:t>
            </a:r>
            <a:r>
              <a:rPr lang="en-US" altLang="zh-CN" sz="2400" dirty="0">
                <a:solidFill>
                  <a:schemeClr val="accent2"/>
                </a:solidFill>
                <a:latin typeface="Arial" panose="020B0604020202020204" pitchFamily="34" charset="0"/>
              </a:rPr>
              <a:t>package</a:t>
            </a:r>
            <a:r>
              <a:rPr lang="zh-CN" altLang="en-US" sz="2400" dirty="0">
                <a:solidFill>
                  <a:schemeClr val="accent2"/>
                </a:solidFill>
                <a:latin typeface="Arial" panose="020B0604020202020204" pitchFamily="34" charset="0"/>
              </a:rPr>
              <a:t>导入</a:t>
            </a:r>
            <a:r>
              <a:rPr lang="en-US" altLang="zh-CN" sz="2400" dirty="0">
                <a:solidFill>
                  <a:schemeClr val="accent2"/>
                </a:solidFill>
                <a:latin typeface="Arial" panose="020B0604020202020204" pitchFamily="34" charset="0"/>
              </a:rPr>
              <a:t>$unit</a:t>
            </a:r>
          </a:p>
          <a:p>
            <a:pPr>
              <a:spcBef>
                <a:spcPct val="10000"/>
              </a:spcBef>
            </a:pPr>
            <a:r>
              <a:rPr lang="en-US" altLang="zh-CN" sz="2400" dirty="0">
                <a:solidFill>
                  <a:srgbClr val="0000FF"/>
                </a:solidFill>
                <a:latin typeface="Arial" panose="020B0604020202020204" pitchFamily="34" charset="0"/>
              </a:rPr>
              <a:t> import </a:t>
            </a:r>
            <a:r>
              <a:rPr lang="en-US" altLang="zh-CN" sz="2400" dirty="0" err="1">
                <a:solidFill>
                  <a:srgbClr val="0000FF"/>
                </a:solidFill>
                <a:latin typeface="Arial" panose="020B0604020202020204" pitchFamily="34" charset="0"/>
              </a:rPr>
              <a:t>defs</a:t>
            </a:r>
            <a:r>
              <a:rPr lang="en-US" altLang="zh-CN" sz="2400" dirty="0">
                <a:solidFill>
                  <a:srgbClr val="0000FF"/>
                </a:solidFill>
                <a:latin typeface="Arial" panose="020B0604020202020204" pitchFamily="34" charset="0"/>
              </a:rPr>
              <a:t> :: *;</a:t>
            </a:r>
          </a:p>
          <a:p>
            <a:r>
              <a:rPr lang="en-US" altLang="zh-CN" sz="2400" dirty="0">
                <a:solidFill>
                  <a:srgbClr val="0000FF"/>
                </a:solidFill>
                <a:latin typeface="Arial" panose="020B0604020202020204" pitchFamily="34" charset="0"/>
              </a:rPr>
              <a:t> module </a:t>
            </a:r>
            <a:r>
              <a:rPr lang="en-US" altLang="zh-CN" sz="2400" dirty="0">
                <a:solidFill>
                  <a:srgbClr val="0000FF"/>
                </a:solidFill>
              </a:rPr>
              <a:t>ALU </a:t>
            </a:r>
            <a:r>
              <a:rPr lang="en-US" altLang="zh-CN" sz="2400" dirty="0">
                <a:solidFill>
                  <a:srgbClr val="0000FF"/>
                </a:solidFill>
                <a:latin typeface="Arial" panose="020B0604020202020204" pitchFamily="34" charset="0"/>
              </a:rPr>
              <a:t>(input  </a:t>
            </a:r>
            <a:r>
              <a:rPr lang="en-US" altLang="zh-CN" sz="2400" dirty="0" err="1">
                <a:solidFill>
                  <a:srgbClr val="0000FF"/>
                </a:solidFill>
                <a:latin typeface="Arial" panose="020B0604020202020204" pitchFamily="34" charset="0"/>
              </a:rPr>
              <a:t>ins_t</a:t>
            </a:r>
            <a:r>
              <a:rPr lang="en-US" altLang="zh-CN" sz="2400" dirty="0">
                <a:solidFill>
                  <a:srgbClr val="0000FF"/>
                </a:solidFill>
                <a:latin typeface="Arial" panose="020B0604020202020204" pitchFamily="34" charset="0"/>
              </a:rPr>
              <a:t> </a:t>
            </a:r>
            <a:r>
              <a:rPr lang="en-US" altLang="zh-CN" sz="2400" dirty="0" err="1">
                <a:solidFill>
                  <a:srgbClr val="0000FF"/>
                </a:solidFill>
                <a:latin typeface="Arial" panose="020B0604020202020204" pitchFamily="34" charset="0"/>
              </a:rPr>
              <a:t>iw</a:t>
            </a:r>
            <a:r>
              <a:rPr lang="en-US" altLang="zh-CN" sz="2400" dirty="0">
                <a:solidFill>
                  <a:srgbClr val="0000FF"/>
                </a:solidFill>
                <a:latin typeface="Arial" panose="020B0604020202020204" pitchFamily="34" charset="0"/>
              </a:rPr>
              <a:t>,</a:t>
            </a:r>
          </a:p>
          <a:p>
            <a:r>
              <a:rPr lang="en-US" altLang="zh-CN" sz="2400" dirty="0">
                <a:solidFill>
                  <a:srgbClr val="0000FF"/>
                </a:solidFill>
                <a:latin typeface="Arial" panose="020B0604020202020204" pitchFamily="34" charset="0"/>
              </a:rPr>
              <a:t>                       input logic                                  clock;</a:t>
            </a:r>
          </a:p>
          <a:p>
            <a:r>
              <a:rPr lang="en-US" altLang="zh-CN" sz="2400" dirty="0">
                <a:solidFill>
                  <a:srgbClr val="0000FF"/>
                </a:solidFill>
                <a:latin typeface="Arial" panose="020B0604020202020204" pitchFamily="34" charset="0"/>
              </a:rPr>
              <a:t>                       output logic [31 : 0]                    result);</a:t>
            </a:r>
            <a:endParaRPr lang="zh-CN" altLang="en-US" sz="2400" dirty="0">
              <a:solidFill>
                <a:srgbClr val="FF0000"/>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extLst>
              <a:ext uri="{FF2B5EF4-FFF2-40B4-BE49-F238E27FC236}">
                <a16:creationId xmlns:a16="http://schemas.microsoft.com/office/drawing/2014/main" id="{DBCF28EA-D44E-4B79-B4A1-22BEBC05A883}"/>
              </a:ext>
            </a:extLst>
          </p:cNvPr>
          <p:cNvSpPr txBox="1">
            <a:spLocks noChangeArrowheads="1"/>
          </p:cNvSpPr>
          <p:nvPr/>
        </p:nvSpPr>
        <p:spPr bwMode="auto">
          <a:xfrm>
            <a:off x="665018" y="531669"/>
            <a:ext cx="795799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$unit</a:t>
            </a:r>
            <a:r>
              <a:rPr lang="zh-CN" altLang="en-US" sz="4400" dirty="0">
                <a:solidFill>
                  <a:srgbClr val="000066"/>
                </a:solidFill>
                <a:latin typeface="Arial" panose="020B0604020202020204" pitchFamily="34" charset="0"/>
              </a:rPr>
              <a:t>编译单元声明的综合指导</a:t>
            </a:r>
          </a:p>
        </p:txBody>
      </p:sp>
      <p:sp>
        <p:nvSpPr>
          <p:cNvPr id="61443" name="Text Box 3">
            <a:extLst>
              <a:ext uri="{FF2B5EF4-FFF2-40B4-BE49-F238E27FC236}">
                <a16:creationId xmlns:a16="http://schemas.microsoft.com/office/drawing/2014/main" id="{DEE7CC84-FED3-4A0A-B1A9-739D16AC8528}"/>
              </a:ext>
            </a:extLst>
          </p:cNvPr>
          <p:cNvSpPr txBox="1">
            <a:spLocks noChangeArrowheads="1"/>
          </p:cNvSpPr>
          <p:nvPr/>
        </p:nvSpPr>
        <p:spPr bwMode="auto">
          <a:xfrm>
            <a:off x="1016000" y="1557337"/>
            <a:ext cx="9118600" cy="348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600" dirty="0">
                <a:solidFill>
                  <a:srgbClr val="FF0000"/>
                </a:solidFill>
                <a:latin typeface="Arial" panose="020B0604020202020204" pitchFamily="34" charset="0"/>
              </a:rPr>
              <a:t>在编译单元域声明的可综合结构有：</a:t>
            </a:r>
          </a:p>
          <a:p>
            <a:pPr>
              <a:spcBef>
                <a:spcPct val="50000"/>
              </a:spcBef>
            </a:pP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1</a:t>
            </a: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typedef</a:t>
            </a:r>
            <a:r>
              <a:rPr lang="zh-CN" altLang="en-US" sz="2600" dirty="0">
                <a:solidFill>
                  <a:srgbClr val="0000FF"/>
                </a:solidFill>
                <a:latin typeface="Arial" panose="020B0604020202020204" pitchFamily="34" charset="0"/>
              </a:rPr>
              <a:t>用户定义类型</a:t>
            </a:r>
          </a:p>
          <a:p>
            <a:pPr>
              <a:spcBef>
                <a:spcPct val="50000"/>
              </a:spcBef>
            </a:pP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2</a:t>
            </a:r>
            <a:r>
              <a:rPr lang="zh-CN" altLang="en-US" sz="2600" dirty="0">
                <a:solidFill>
                  <a:srgbClr val="0000FF"/>
                </a:solidFill>
                <a:latin typeface="Arial" panose="020B0604020202020204" pitchFamily="34" charset="0"/>
              </a:rPr>
              <a:t>）自动函数</a:t>
            </a:r>
          </a:p>
          <a:p>
            <a:pPr>
              <a:spcBef>
                <a:spcPct val="50000"/>
              </a:spcBef>
            </a:pP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3</a:t>
            </a:r>
            <a:r>
              <a:rPr lang="zh-CN" altLang="en-US" sz="2600" dirty="0">
                <a:solidFill>
                  <a:srgbClr val="0000FF"/>
                </a:solidFill>
                <a:latin typeface="Arial" panose="020B0604020202020204" pitchFamily="34" charset="0"/>
              </a:rPr>
              <a:t>）自动任务</a:t>
            </a:r>
          </a:p>
          <a:p>
            <a:pPr>
              <a:spcBef>
                <a:spcPct val="50000"/>
              </a:spcBef>
            </a:pP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4</a:t>
            </a: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parameter</a:t>
            </a:r>
            <a:r>
              <a:rPr lang="zh-CN" altLang="en-US" sz="2600" dirty="0">
                <a:solidFill>
                  <a:srgbClr val="0000FF"/>
                </a:solidFill>
                <a:latin typeface="Arial" panose="020B0604020202020204" pitchFamily="34" charset="0"/>
              </a:rPr>
              <a:t>和</a:t>
            </a:r>
            <a:r>
              <a:rPr lang="en-US" altLang="zh-CN" sz="2600" dirty="0" err="1">
                <a:solidFill>
                  <a:srgbClr val="0000FF"/>
                </a:solidFill>
                <a:latin typeface="Arial" panose="020B0604020202020204" pitchFamily="34" charset="0"/>
              </a:rPr>
              <a:t>localparam</a:t>
            </a:r>
            <a:r>
              <a:rPr lang="zh-CN" altLang="en-US" sz="2600" dirty="0">
                <a:solidFill>
                  <a:srgbClr val="0000FF"/>
                </a:solidFill>
                <a:latin typeface="Arial" panose="020B0604020202020204" pitchFamily="34" charset="0"/>
              </a:rPr>
              <a:t>常量</a:t>
            </a:r>
          </a:p>
          <a:p>
            <a:pPr>
              <a:spcBef>
                <a:spcPct val="50000"/>
              </a:spcBef>
            </a:pP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5</a:t>
            </a:r>
            <a:r>
              <a:rPr lang="zh-CN" altLang="en-US" sz="2600" dirty="0">
                <a:solidFill>
                  <a:srgbClr val="0000FF"/>
                </a:solidFill>
                <a:latin typeface="Arial" panose="020B0604020202020204" pitchFamily="34" charset="0"/>
              </a:rPr>
              <a:t>）</a:t>
            </a:r>
            <a:r>
              <a:rPr lang="en-US" altLang="zh-CN" sz="2600" dirty="0">
                <a:solidFill>
                  <a:srgbClr val="0000FF"/>
                </a:solidFill>
                <a:latin typeface="Arial" panose="020B0604020202020204" pitchFamily="34" charset="0"/>
              </a:rPr>
              <a:t>package</a:t>
            </a:r>
            <a:r>
              <a:rPr lang="zh-CN" altLang="en-US" sz="2600" dirty="0">
                <a:solidFill>
                  <a:srgbClr val="0000FF"/>
                </a:solidFill>
                <a:latin typeface="Arial" panose="020B0604020202020204" pitchFamily="34" charset="0"/>
              </a:rPr>
              <a:t>导入</a:t>
            </a:r>
            <a:endParaRPr lang="zh-CN" altLang="en-US" sz="2000" dirty="0">
              <a:solidFill>
                <a:srgbClr val="0000FF"/>
              </a:solidFill>
              <a:latin typeface="Arial" panose="020B0604020202020204" pitchFamily="34" charset="0"/>
            </a:endParaRPr>
          </a:p>
        </p:txBody>
      </p:sp>
      <p:sp>
        <p:nvSpPr>
          <p:cNvPr id="61444" name="Text Box 4">
            <a:extLst>
              <a:ext uri="{FF2B5EF4-FFF2-40B4-BE49-F238E27FC236}">
                <a16:creationId xmlns:a16="http://schemas.microsoft.com/office/drawing/2014/main" id="{F1852A2B-D844-4774-AFBA-A8C6916F0F36}"/>
              </a:ext>
            </a:extLst>
          </p:cNvPr>
          <p:cNvSpPr txBox="1">
            <a:spLocks noChangeArrowheads="1"/>
          </p:cNvSpPr>
          <p:nvPr/>
        </p:nvSpPr>
        <p:spPr bwMode="auto">
          <a:xfrm>
            <a:off x="1311564" y="5299281"/>
            <a:ext cx="7467600" cy="941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0000"/>
              </a:spcBef>
            </a:pPr>
            <a:r>
              <a:rPr lang="zh-CN" altLang="en-US" sz="2400" dirty="0">
                <a:solidFill>
                  <a:srgbClr val="CC0000"/>
                </a:solidFill>
                <a:latin typeface="Arial" panose="020B0604020202020204" pitchFamily="34" charset="0"/>
              </a:rPr>
              <a:t>使用</a:t>
            </a:r>
            <a:r>
              <a:rPr lang="en-US" altLang="zh-CN" sz="2400" dirty="0">
                <a:solidFill>
                  <a:srgbClr val="CC0000"/>
                </a:solidFill>
                <a:latin typeface="Arial" panose="020B0604020202020204" pitchFamily="34" charset="0"/>
              </a:rPr>
              <a:t>package</a:t>
            </a:r>
            <a:r>
              <a:rPr lang="zh-CN" altLang="en-US" sz="2400" dirty="0">
                <a:solidFill>
                  <a:srgbClr val="CC0000"/>
                </a:solidFill>
                <a:latin typeface="Arial" panose="020B0604020202020204" pitchFamily="34" charset="0"/>
              </a:rPr>
              <a:t>是比</a:t>
            </a:r>
            <a:r>
              <a:rPr lang="en-US" altLang="zh-CN" sz="2400" dirty="0">
                <a:solidFill>
                  <a:srgbClr val="CC0000"/>
                </a:solidFill>
                <a:latin typeface="Arial" panose="020B0604020202020204" pitchFamily="34" charset="0"/>
              </a:rPr>
              <a:t>$unit</a:t>
            </a:r>
            <a:r>
              <a:rPr lang="zh-CN" altLang="en-US" sz="2400" dirty="0">
                <a:solidFill>
                  <a:srgbClr val="CC0000"/>
                </a:solidFill>
                <a:latin typeface="Arial" panose="020B0604020202020204" pitchFamily="34" charset="0"/>
              </a:rPr>
              <a:t>更好的做法</a:t>
            </a:r>
            <a:endParaRPr lang="en-US" altLang="zh-CN" sz="2400" dirty="0">
              <a:solidFill>
                <a:srgbClr val="CC0000"/>
              </a:solidFill>
              <a:latin typeface="Arial" panose="020B0604020202020204" pitchFamily="34" charset="0"/>
            </a:endParaRPr>
          </a:p>
          <a:p>
            <a:pPr>
              <a:spcBef>
                <a:spcPct val="30000"/>
              </a:spcBef>
            </a:pPr>
            <a:r>
              <a:rPr lang="zh-CN" altLang="en-US" sz="2400" dirty="0">
                <a:solidFill>
                  <a:srgbClr val="CC0000"/>
                </a:solidFill>
              </a:rPr>
              <a:t>外部声明的任务和函数必须是自动的（</a:t>
            </a:r>
            <a:r>
              <a:rPr lang="en-US" altLang="zh-CN" sz="2400" dirty="0">
                <a:solidFill>
                  <a:srgbClr val="CC0000"/>
                </a:solidFill>
              </a:rPr>
              <a:t>automatic</a:t>
            </a:r>
            <a:r>
              <a:rPr lang="zh-CN" altLang="en-US" sz="2400" dirty="0">
                <a:solidFill>
                  <a:srgbClr val="CC0000"/>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ext Box 2">
            <a:extLst>
              <a:ext uri="{FF2B5EF4-FFF2-40B4-BE49-F238E27FC236}">
                <a16:creationId xmlns:a16="http://schemas.microsoft.com/office/drawing/2014/main" id="{338ED296-9894-40F5-B146-81BE4DC40CD2}"/>
              </a:ext>
            </a:extLst>
          </p:cNvPr>
          <p:cNvSpPr txBox="1">
            <a:spLocks noChangeArrowheads="1"/>
          </p:cNvSpPr>
          <p:nvPr/>
        </p:nvSpPr>
        <p:spPr bwMode="auto">
          <a:xfrm>
            <a:off x="1274619" y="260122"/>
            <a:ext cx="8640618"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时间单位和精度</a:t>
            </a:r>
          </a:p>
        </p:txBody>
      </p:sp>
      <p:sp>
        <p:nvSpPr>
          <p:cNvPr id="73731" name="Text Box 3">
            <a:extLst>
              <a:ext uri="{FF2B5EF4-FFF2-40B4-BE49-F238E27FC236}">
                <a16:creationId xmlns:a16="http://schemas.microsoft.com/office/drawing/2014/main" id="{F49D2D45-D604-4FC7-BB9B-3C51B8511071}"/>
              </a:ext>
            </a:extLst>
          </p:cNvPr>
          <p:cNvSpPr txBox="1">
            <a:spLocks noChangeArrowheads="1"/>
          </p:cNvSpPr>
          <p:nvPr/>
        </p:nvSpPr>
        <p:spPr bwMode="auto">
          <a:xfrm>
            <a:off x="1274619" y="1143000"/>
            <a:ext cx="8859981"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600" dirty="0">
                <a:solidFill>
                  <a:srgbClr val="0000FF"/>
                </a:solidFill>
                <a:latin typeface="Arial" panose="020B0604020202020204" pitchFamily="34" charset="0"/>
              </a:rPr>
              <a:t>1. </a:t>
            </a:r>
            <a:r>
              <a:rPr lang="zh-CN" altLang="en-US" sz="2600" dirty="0">
                <a:solidFill>
                  <a:srgbClr val="0000FF"/>
                </a:solidFill>
                <a:latin typeface="Arial" panose="020B0604020202020204" pitchFamily="34" charset="0"/>
              </a:rPr>
              <a:t>包含时间单位的时间值：</a:t>
            </a:r>
          </a:p>
        </p:txBody>
      </p:sp>
      <p:sp>
        <p:nvSpPr>
          <p:cNvPr id="73732" name="Text Box 4">
            <a:extLst>
              <a:ext uri="{FF2B5EF4-FFF2-40B4-BE49-F238E27FC236}">
                <a16:creationId xmlns:a16="http://schemas.microsoft.com/office/drawing/2014/main" id="{F15D17F4-2F82-4E9A-95B8-A37EF7C371A9}"/>
              </a:ext>
            </a:extLst>
          </p:cNvPr>
          <p:cNvSpPr txBox="1">
            <a:spLocks noChangeArrowheads="1"/>
          </p:cNvSpPr>
          <p:nvPr/>
        </p:nvSpPr>
        <p:spPr bwMode="auto">
          <a:xfrm>
            <a:off x="1503219" y="2743201"/>
            <a:ext cx="6878781" cy="2431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2000" dirty="0">
                <a:solidFill>
                  <a:srgbClr val="990000"/>
                </a:solidFill>
                <a:latin typeface="Arial" panose="020B0604020202020204" pitchFamily="34" charset="0"/>
              </a:rPr>
              <a:t> module adder(input wire[63 : 0] a, b,</a:t>
            </a:r>
          </a:p>
          <a:p>
            <a:pPr>
              <a:spcBef>
                <a:spcPct val="10000"/>
              </a:spcBef>
            </a:pPr>
            <a:r>
              <a:rPr lang="en-US" altLang="zh-CN" sz="2000" dirty="0">
                <a:solidFill>
                  <a:srgbClr val="990000"/>
                </a:solidFill>
                <a:latin typeface="Arial" panose="020B0604020202020204" pitchFamily="34" charset="0"/>
              </a:rPr>
              <a:t>                         output reg [63 :0] sum,</a:t>
            </a:r>
          </a:p>
          <a:p>
            <a:pPr>
              <a:spcBef>
                <a:spcPct val="10000"/>
              </a:spcBef>
            </a:pPr>
            <a:r>
              <a:rPr lang="en-US" altLang="zh-CN" sz="2000" dirty="0">
                <a:solidFill>
                  <a:srgbClr val="990000"/>
                </a:solidFill>
                <a:latin typeface="Arial" panose="020B0604020202020204" pitchFamily="34" charset="0"/>
              </a:rPr>
              <a:t>                         output reg carry);</a:t>
            </a:r>
          </a:p>
          <a:p>
            <a:pPr>
              <a:spcBef>
                <a:spcPct val="10000"/>
              </a:spcBef>
            </a:pPr>
            <a:r>
              <a:rPr lang="en-US" altLang="zh-CN" sz="2000" dirty="0">
                <a:solidFill>
                  <a:srgbClr val="990000"/>
                </a:solidFill>
                <a:latin typeface="Arial" panose="020B0604020202020204" pitchFamily="34" charset="0"/>
              </a:rPr>
              <a:t>     </a:t>
            </a:r>
            <a:r>
              <a:rPr lang="en-US" altLang="zh-CN" sz="2000" dirty="0" err="1">
                <a:solidFill>
                  <a:srgbClr val="990000"/>
                </a:solidFill>
                <a:latin typeface="Arial" panose="020B0604020202020204" pitchFamily="34" charset="0"/>
              </a:rPr>
              <a:t>timeunit</a:t>
            </a:r>
            <a:r>
              <a:rPr lang="en-US" altLang="zh-CN" sz="2000" dirty="0">
                <a:solidFill>
                  <a:srgbClr val="990000"/>
                </a:solidFill>
                <a:latin typeface="Arial" panose="020B0604020202020204" pitchFamily="34" charset="0"/>
              </a:rPr>
              <a:t> 1ns;</a:t>
            </a:r>
          </a:p>
          <a:p>
            <a:pPr>
              <a:spcBef>
                <a:spcPct val="10000"/>
              </a:spcBef>
            </a:pPr>
            <a:r>
              <a:rPr lang="en-US" altLang="zh-CN" sz="2000" dirty="0">
                <a:solidFill>
                  <a:srgbClr val="990000"/>
                </a:solidFill>
                <a:latin typeface="Arial" panose="020B0604020202020204" pitchFamily="34" charset="0"/>
              </a:rPr>
              <a:t>     </a:t>
            </a:r>
            <a:r>
              <a:rPr lang="en-US" altLang="zh-CN" sz="2000" dirty="0" err="1">
                <a:solidFill>
                  <a:srgbClr val="990000"/>
                </a:solidFill>
                <a:latin typeface="Arial" panose="020B0604020202020204" pitchFamily="34" charset="0"/>
              </a:rPr>
              <a:t>timeprecision</a:t>
            </a:r>
            <a:r>
              <a:rPr lang="en-US" altLang="zh-CN" sz="2000" dirty="0">
                <a:solidFill>
                  <a:srgbClr val="990000"/>
                </a:solidFill>
                <a:latin typeface="Arial" panose="020B0604020202020204" pitchFamily="34" charset="0"/>
              </a:rPr>
              <a:t> 10ps; //</a:t>
            </a:r>
            <a:r>
              <a:rPr lang="zh-CN" altLang="en-US" sz="2000" dirty="0">
                <a:solidFill>
                  <a:srgbClr val="990000"/>
                </a:solidFill>
                <a:latin typeface="Arial" panose="020B0604020202020204" pitchFamily="34" charset="0"/>
              </a:rPr>
              <a:t>是模块的一部分，</a:t>
            </a:r>
          </a:p>
          <a:p>
            <a:pPr>
              <a:spcBef>
                <a:spcPct val="10000"/>
              </a:spcBef>
            </a:pPr>
            <a:r>
              <a:rPr lang="zh-CN" altLang="en-US" sz="2000" dirty="0">
                <a:solidFill>
                  <a:srgbClr val="990000"/>
                </a:solidFill>
                <a:latin typeface="Arial" panose="020B0604020202020204" pitchFamily="34" charset="0"/>
              </a:rPr>
              <a:t>     </a:t>
            </a:r>
            <a:r>
              <a:rPr lang="en-US" altLang="zh-CN" sz="2000" dirty="0">
                <a:solidFill>
                  <a:srgbClr val="990000"/>
                </a:solidFill>
                <a:latin typeface="Arial" panose="020B0604020202020204" pitchFamily="34" charset="0"/>
              </a:rPr>
              <a:t>……</a:t>
            </a:r>
            <a:endParaRPr lang="zh-CN" altLang="en-US" sz="2000" dirty="0">
              <a:solidFill>
                <a:srgbClr val="990000"/>
              </a:solidFill>
              <a:latin typeface="Arial" panose="020B0604020202020204" pitchFamily="34" charset="0"/>
            </a:endParaRPr>
          </a:p>
          <a:p>
            <a:pPr>
              <a:spcBef>
                <a:spcPct val="10000"/>
              </a:spcBef>
            </a:pPr>
            <a:r>
              <a:rPr lang="zh-CN" altLang="en-US" sz="2000" dirty="0">
                <a:solidFill>
                  <a:srgbClr val="990000"/>
                </a:solidFill>
                <a:latin typeface="Arial" panose="020B0604020202020204" pitchFamily="34" charset="0"/>
              </a:rPr>
              <a:t> </a:t>
            </a:r>
            <a:r>
              <a:rPr lang="en-US" altLang="zh-CN" sz="2000" dirty="0" err="1">
                <a:solidFill>
                  <a:srgbClr val="990000"/>
                </a:solidFill>
                <a:latin typeface="Arial" panose="020B0604020202020204" pitchFamily="34" charset="0"/>
              </a:rPr>
              <a:t>endmodule</a:t>
            </a:r>
            <a:endParaRPr lang="en-US" altLang="zh-CN" sz="2000" dirty="0">
              <a:solidFill>
                <a:schemeClr val="accent2"/>
              </a:solidFill>
            </a:endParaRPr>
          </a:p>
        </p:txBody>
      </p:sp>
      <p:sp>
        <p:nvSpPr>
          <p:cNvPr id="73733" name="Text Box 5">
            <a:extLst>
              <a:ext uri="{FF2B5EF4-FFF2-40B4-BE49-F238E27FC236}">
                <a16:creationId xmlns:a16="http://schemas.microsoft.com/office/drawing/2014/main" id="{86A965E6-6488-41A4-87B0-83342036A657}"/>
              </a:ext>
            </a:extLst>
          </p:cNvPr>
          <p:cNvSpPr txBox="1">
            <a:spLocks noChangeArrowheads="1"/>
          </p:cNvSpPr>
          <p:nvPr/>
        </p:nvSpPr>
        <p:spPr bwMode="auto">
          <a:xfrm>
            <a:off x="1431636" y="2133600"/>
            <a:ext cx="8702964"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600" dirty="0">
                <a:solidFill>
                  <a:srgbClr val="0000FF"/>
                </a:solidFill>
                <a:latin typeface="Arial" panose="020B0604020202020204" pitchFamily="34" charset="0"/>
              </a:rPr>
              <a:t>2. </a:t>
            </a:r>
            <a:r>
              <a:rPr lang="zh-CN" altLang="en-US" sz="2600" dirty="0">
                <a:solidFill>
                  <a:srgbClr val="0000FF"/>
                </a:solidFill>
                <a:latin typeface="Arial" panose="020B0604020202020204" pitchFamily="34" charset="0"/>
              </a:rPr>
              <a:t>使用关键字</a:t>
            </a:r>
            <a:r>
              <a:rPr lang="en-US" altLang="zh-CN" sz="2600" dirty="0" err="1">
                <a:solidFill>
                  <a:srgbClr val="0000FF"/>
                </a:solidFill>
                <a:latin typeface="Arial" panose="020B0604020202020204" pitchFamily="34" charset="0"/>
              </a:rPr>
              <a:t>timeunit</a:t>
            </a:r>
            <a:r>
              <a:rPr lang="zh-CN" altLang="en-US" sz="2600" dirty="0">
                <a:solidFill>
                  <a:srgbClr val="0000FF"/>
                </a:solidFill>
                <a:latin typeface="Arial" panose="020B0604020202020204" pitchFamily="34" charset="0"/>
              </a:rPr>
              <a:t>和</a:t>
            </a:r>
            <a:r>
              <a:rPr lang="en-US" altLang="zh-CN" sz="2600" dirty="0" err="1">
                <a:solidFill>
                  <a:srgbClr val="0000FF"/>
                </a:solidFill>
                <a:latin typeface="Arial" panose="020B0604020202020204" pitchFamily="34" charset="0"/>
              </a:rPr>
              <a:t>timeprecision</a:t>
            </a:r>
            <a:r>
              <a:rPr lang="zh-CN" altLang="en-US" sz="2600" dirty="0">
                <a:solidFill>
                  <a:srgbClr val="0000FF"/>
                </a:solidFill>
                <a:latin typeface="Arial" panose="020B0604020202020204" pitchFamily="34" charset="0"/>
              </a:rPr>
              <a:t>：</a:t>
            </a:r>
          </a:p>
        </p:txBody>
      </p:sp>
      <p:sp>
        <p:nvSpPr>
          <p:cNvPr id="73734" name="Text Box 6">
            <a:extLst>
              <a:ext uri="{FF2B5EF4-FFF2-40B4-BE49-F238E27FC236}">
                <a16:creationId xmlns:a16="http://schemas.microsoft.com/office/drawing/2014/main" id="{CA298A44-11AA-423C-A485-AA58F61AAF5B}"/>
              </a:ext>
            </a:extLst>
          </p:cNvPr>
          <p:cNvSpPr txBox="1">
            <a:spLocks noChangeArrowheads="1"/>
          </p:cNvSpPr>
          <p:nvPr/>
        </p:nvSpPr>
        <p:spPr bwMode="auto">
          <a:xfrm>
            <a:off x="1503219" y="1676401"/>
            <a:ext cx="8859981"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dirty="0">
                <a:solidFill>
                  <a:srgbClr val="990000"/>
                </a:solidFill>
                <a:latin typeface="Arial" panose="020B0604020202020204" pitchFamily="34" charset="0"/>
              </a:rPr>
              <a:t>forever #5ns clock = ~clock; </a:t>
            </a:r>
            <a:r>
              <a:rPr lang="en-US" altLang="zh-CN" sz="2000" dirty="0">
                <a:solidFill>
                  <a:srgbClr val="CC0000"/>
                </a:solidFill>
                <a:latin typeface="Arial" panose="020B0604020202020204" pitchFamily="34" charset="0"/>
              </a:rPr>
              <a:t>//</a:t>
            </a:r>
            <a:r>
              <a:rPr lang="zh-CN" altLang="en-US" sz="2000" dirty="0">
                <a:solidFill>
                  <a:srgbClr val="CC0000"/>
                </a:solidFill>
                <a:latin typeface="Arial" panose="020B0604020202020204" pitchFamily="34" charset="0"/>
              </a:rPr>
              <a:t>时间值与单位之间不能有空格！！</a:t>
            </a:r>
          </a:p>
        </p:txBody>
      </p:sp>
      <p:sp>
        <p:nvSpPr>
          <p:cNvPr id="73735" name="Text Box 7">
            <a:extLst>
              <a:ext uri="{FF2B5EF4-FFF2-40B4-BE49-F238E27FC236}">
                <a16:creationId xmlns:a16="http://schemas.microsoft.com/office/drawing/2014/main" id="{FF33D9B2-61DD-44A3-A449-7F655C8A56D9}"/>
              </a:ext>
            </a:extLst>
          </p:cNvPr>
          <p:cNvSpPr txBox="1">
            <a:spLocks noChangeArrowheads="1"/>
          </p:cNvSpPr>
          <p:nvPr/>
        </p:nvSpPr>
        <p:spPr bwMode="auto">
          <a:xfrm>
            <a:off x="1503219" y="5318126"/>
            <a:ext cx="8783781"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en-US" altLang="zh-CN" sz="2000" dirty="0">
                <a:solidFill>
                  <a:srgbClr val="990000"/>
                </a:solidFill>
                <a:latin typeface="Arial" panose="020B0604020202020204" pitchFamily="34" charset="0"/>
              </a:rPr>
              <a:t> </a:t>
            </a:r>
            <a:r>
              <a:rPr lang="en-US" altLang="zh-CN" sz="2000" dirty="0" err="1">
                <a:solidFill>
                  <a:srgbClr val="0000FF"/>
                </a:solidFill>
                <a:latin typeface="Arial" panose="020B0604020202020204" pitchFamily="34" charset="0"/>
              </a:rPr>
              <a:t>timeunit</a:t>
            </a:r>
            <a:r>
              <a:rPr lang="zh-CN" altLang="en-US" sz="2000" dirty="0">
                <a:solidFill>
                  <a:srgbClr val="0000FF"/>
                </a:solidFill>
                <a:latin typeface="Arial" panose="020B0604020202020204" pitchFamily="34" charset="0"/>
              </a:rPr>
              <a:t>和</a:t>
            </a:r>
            <a:r>
              <a:rPr lang="en-US" altLang="zh-CN" sz="2000" dirty="0" err="1">
                <a:solidFill>
                  <a:srgbClr val="0000FF"/>
                </a:solidFill>
                <a:latin typeface="Arial" panose="020B0604020202020204" pitchFamily="34" charset="0"/>
              </a:rPr>
              <a:t>timeprecision</a:t>
            </a:r>
            <a:r>
              <a:rPr lang="zh-CN" altLang="en-US" sz="2000" dirty="0">
                <a:solidFill>
                  <a:srgbClr val="0000FF"/>
                </a:solidFill>
                <a:latin typeface="Arial" panose="020B0604020202020204" pitchFamily="34" charset="0"/>
              </a:rPr>
              <a:t>使模块、接口或程序块与时间单位和精度信息直接绑定，</a:t>
            </a:r>
            <a:r>
              <a:rPr lang="zh-CN" altLang="en-US" sz="2000" dirty="0">
                <a:solidFill>
                  <a:srgbClr val="CC0000"/>
                </a:solidFill>
                <a:latin typeface="Arial" panose="020B0604020202020204" pitchFamily="34" charset="0"/>
              </a:rPr>
              <a:t>解决了</a:t>
            </a:r>
            <a:r>
              <a:rPr lang="en-US" altLang="zh-CN" sz="2000" dirty="0">
                <a:solidFill>
                  <a:srgbClr val="0000FF"/>
                </a:solidFill>
                <a:latin typeface="Arial" panose="020B0604020202020204" pitchFamily="34" charset="0"/>
              </a:rPr>
              <a:t>timescale</a:t>
            </a:r>
            <a:r>
              <a:rPr lang="zh-CN" altLang="en-US" sz="2000" dirty="0">
                <a:solidFill>
                  <a:srgbClr val="0000FF"/>
                </a:solidFill>
                <a:latin typeface="Arial" panose="020B0604020202020204" pitchFamily="34" charset="0"/>
              </a:rPr>
              <a:t>存在的不确定性和对文件顺序的</a:t>
            </a:r>
            <a:r>
              <a:rPr lang="zh-CN" altLang="en-US" sz="2000" dirty="0">
                <a:solidFill>
                  <a:srgbClr val="CC0000"/>
                </a:solidFill>
                <a:latin typeface="Arial" panose="020B0604020202020204" pitchFamily="34" charset="0"/>
              </a:rPr>
              <a:t>依赖性</a:t>
            </a:r>
            <a:r>
              <a:rPr lang="zh-CN" altLang="en-US" sz="2000" dirty="0">
                <a:solidFill>
                  <a:srgbClr val="0000FF"/>
                </a:solidFill>
                <a:latin typeface="Arial" panose="020B0604020202020204" pitchFamily="34" charset="0"/>
              </a:rPr>
              <a:t>。它必须在其它声明或语句之前，紧随模块、接口或程序的声明之后</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B7CEBC2C-8847-48C4-B2C2-0265F22925D0}"/>
              </a:ext>
            </a:extLst>
          </p:cNvPr>
          <p:cNvSpPr txBox="1">
            <a:spLocks noChangeArrowheads="1"/>
          </p:cNvSpPr>
          <p:nvPr/>
        </p:nvSpPr>
        <p:spPr bwMode="auto">
          <a:xfrm>
            <a:off x="591127" y="476251"/>
            <a:ext cx="1065876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编译单元的时间单位和精度</a:t>
            </a:r>
          </a:p>
        </p:txBody>
      </p:sp>
      <p:sp>
        <p:nvSpPr>
          <p:cNvPr id="75779" name="Text Box 3">
            <a:extLst>
              <a:ext uri="{FF2B5EF4-FFF2-40B4-BE49-F238E27FC236}">
                <a16:creationId xmlns:a16="http://schemas.microsoft.com/office/drawing/2014/main" id="{02BC3F6B-70BD-4553-81CF-930693204C74}"/>
              </a:ext>
            </a:extLst>
          </p:cNvPr>
          <p:cNvSpPr txBox="1">
            <a:spLocks noChangeArrowheads="1"/>
          </p:cNvSpPr>
          <p:nvPr/>
        </p:nvSpPr>
        <p:spPr bwMode="auto">
          <a:xfrm>
            <a:off x="166254" y="1363990"/>
            <a:ext cx="545638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chemeClr val="accent2"/>
                </a:solidFill>
                <a:latin typeface="Arial" panose="020B0604020202020204" pitchFamily="34" charset="0"/>
              </a:rPr>
              <a:t> </a:t>
            </a:r>
            <a:r>
              <a:rPr lang="en-US" altLang="zh-CN" sz="2000" dirty="0" err="1">
                <a:solidFill>
                  <a:srgbClr val="0000FF"/>
                </a:solidFill>
                <a:latin typeface="Arial" panose="020B0604020202020204" pitchFamily="34" charset="0"/>
              </a:rPr>
              <a:t>timeunit</a:t>
            </a:r>
            <a:r>
              <a:rPr lang="zh-CN" altLang="en-US" sz="2000" dirty="0">
                <a:solidFill>
                  <a:srgbClr val="0000FF"/>
                </a:solidFill>
                <a:latin typeface="Arial" panose="020B0604020202020204" pitchFamily="34" charset="0"/>
              </a:rPr>
              <a:t>和</a:t>
            </a:r>
            <a:r>
              <a:rPr lang="en-US" altLang="zh-CN" sz="2000" dirty="0" err="1">
                <a:solidFill>
                  <a:srgbClr val="0000FF"/>
                </a:solidFill>
                <a:latin typeface="Arial" panose="020B0604020202020204" pitchFamily="34" charset="0"/>
              </a:rPr>
              <a:t>timeprecision</a:t>
            </a:r>
            <a:r>
              <a:rPr lang="zh-CN" altLang="en-US" sz="2000" dirty="0">
                <a:solidFill>
                  <a:srgbClr val="0000FF"/>
                </a:solidFill>
                <a:latin typeface="Arial" panose="020B0604020202020204" pitchFamily="34" charset="0"/>
              </a:rPr>
              <a:t>的声明可以在编译单元域中，但必须在其它声明的前面</a:t>
            </a:r>
          </a:p>
        </p:txBody>
      </p:sp>
      <p:sp>
        <p:nvSpPr>
          <p:cNvPr id="75780" name="Text Box 4">
            <a:extLst>
              <a:ext uri="{FF2B5EF4-FFF2-40B4-BE49-F238E27FC236}">
                <a16:creationId xmlns:a16="http://schemas.microsoft.com/office/drawing/2014/main" id="{014D22B5-424B-4828-BCB8-C10417FD07DA}"/>
              </a:ext>
            </a:extLst>
          </p:cNvPr>
          <p:cNvSpPr txBox="1">
            <a:spLocks noChangeArrowheads="1"/>
          </p:cNvSpPr>
          <p:nvPr/>
        </p:nvSpPr>
        <p:spPr bwMode="auto">
          <a:xfrm>
            <a:off x="251690" y="2782788"/>
            <a:ext cx="5456383" cy="2400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800100" indent="-342900">
              <a:spcBef>
                <a:spcPct val="0"/>
              </a:spcBef>
              <a:defRPr kumimoji="1" sz="2400">
                <a:solidFill>
                  <a:schemeClr val="tx1"/>
                </a:solidFill>
                <a:latin typeface="Times New Roman" panose="02020603050405020304" pitchFamily="18" charset="0"/>
                <a:ea typeface="宋体" panose="02010600030101010101" pitchFamily="2" charset="-122"/>
              </a:defRPr>
            </a:lvl2pPr>
            <a:lvl3pPr marL="1257300" indent="-342900">
              <a:spcBef>
                <a:spcPct val="0"/>
              </a:spcBef>
              <a:defRPr kumimoji="1" sz="2400">
                <a:solidFill>
                  <a:schemeClr val="tx1"/>
                </a:solidFill>
                <a:latin typeface="Times New Roman" panose="02020603050405020304" pitchFamily="18" charset="0"/>
                <a:ea typeface="宋体" panose="02010600030101010101" pitchFamily="2" charset="-122"/>
              </a:defRPr>
            </a:lvl3pPr>
            <a:lvl4pPr marL="1714500" indent="-3429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71700" indent="-342900">
              <a:spcBef>
                <a:spcPct val="0"/>
              </a:spcBef>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10000"/>
              </a:spcBef>
              <a:buFontTx/>
              <a:buAutoNum type="arabicPeriod"/>
            </a:pPr>
            <a:r>
              <a:rPr kumimoji="0" lang="zh-CN" altLang="en-US" sz="2000" dirty="0">
                <a:solidFill>
                  <a:srgbClr val="CC0000"/>
                </a:solidFill>
                <a:latin typeface="Arial" panose="020B0604020202020204" pitchFamily="34" charset="0"/>
              </a:rPr>
              <a:t>如果时间值带时间单位，使用指定的单位</a:t>
            </a:r>
          </a:p>
          <a:p>
            <a:pPr>
              <a:spcBef>
                <a:spcPct val="10000"/>
              </a:spcBef>
              <a:buFontTx/>
              <a:buAutoNum type="arabicPeriod"/>
            </a:pPr>
            <a:r>
              <a:rPr kumimoji="0" lang="zh-CN" altLang="en-US" sz="2000" dirty="0">
                <a:solidFill>
                  <a:srgbClr val="CC0000"/>
                </a:solidFill>
                <a:latin typeface="Arial" panose="020B0604020202020204" pitchFamily="34" charset="0"/>
              </a:rPr>
              <a:t>使用在模块、接口和程序块内部指定的时间单位和精度</a:t>
            </a:r>
          </a:p>
          <a:p>
            <a:pPr>
              <a:spcBef>
                <a:spcPct val="10000"/>
              </a:spcBef>
              <a:buFontTx/>
              <a:buAutoNum type="arabicPeriod"/>
            </a:pPr>
            <a:r>
              <a:rPr kumimoji="0" lang="zh-CN" altLang="en-US" sz="2000" dirty="0">
                <a:solidFill>
                  <a:srgbClr val="CC0000"/>
                </a:solidFill>
                <a:latin typeface="Arial" panose="020B0604020202020204" pitchFamily="34" charset="0"/>
              </a:rPr>
              <a:t>使用父模块或接口指定的时间单位和精度</a:t>
            </a:r>
          </a:p>
          <a:p>
            <a:pPr>
              <a:spcBef>
                <a:spcPct val="10000"/>
              </a:spcBef>
              <a:buFontTx/>
              <a:buAutoNum type="arabicPeriod"/>
            </a:pPr>
            <a:r>
              <a:rPr kumimoji="0" lang="zh-CN" altLang="en-US" sz="2000" dirty="0">
                <a:solidFill>
                  <a:srgbClr val="CC0000"/>
                </a:solidFill>
                <a:latin typeface="Arial" panose="020B0604020202020204" pitchFamily="34" charset="0"/>
              </a:rPr>
              <a:t>使用有效的</a:t>
            </a:r>
            <a:r>
              <a:rPr kumimoji="0" lang="en-US" altLang="zh-CN" sz="2000" dirty="0">
                <a:solidFill>
                  <a:srgbClr val="CC0000"/>
                </a:solidFill>
                <a:latin typeface="Arial" panose="020B0604020202020204" pitchFamily="34" charset="0"/>
              </a:rPr>
              <a:t>`timescale</a:t>
            </a:r>
            <a:r>
              <a:rPr kumimoji="0" lang="zh-CN" altLang="en-US" sz="2000" dirty="0">
                <a:solidFill>
                  <a:srgbClr val="CC0000"/>
                </a:solidFill>
                <a:latin typeface="Arial" panose="020B0604020202020204" pitchFamily="34" charset="0"/>
              </a:rPr>
              <a:t>时间单位和精度</a:t>
            </a:r>
          </a:p>
          <a:p>
            <a:pPr>
              <a:spcBef>
                <a:spcPct val="10000"/>
              </a:spcBef>
              <a:buFontTx/>
              <a:buAutoNum type="arabicPeriod"/>
            </a:pPr>
            <a:r>
              <a:rPr kumimoji="0" lang="zh-CN" altLang="en-US" sz="2000" dirty="0">
                <a:solidFill>
                  <a:srgbClr val="CC0000"/>
                </a:solidFill>
                <a:latin typeface="Arial" panose="020B0604020202020204" pitchFamily="34" charset="0"/>
              </a:rPr>
              <a:t>使用在编译单元域中定义的时间单位和精度</a:t>
            </a:r>
          </a:p>
          <a:p>
            <a:pPr>
              <a:spcBef>
                <a:spcPct val="10000"/>
              </a:spcBef>
              <a:buFontTx/>
              <a:buAutoNum type="arabicPeriod"/>
            </a:pPr>
            <a:r>
              <a:rPr kumimoji="0" lang="zh-CN" altLang="en-US" sz="2000" dirty="0">
                <a:solidFill>
                  <a:srgbClr val="CC0000"/>
                </a:solidFill>
                <a:latin typeface="Arial" panose="020B0604020202020204" pitchFamily="34" charset="0"/>
              </a:rPr>
              <a:t>使用仿真器默认的时间单位和精度</a:t>
            </a:r>
            <a:endParaRPr lang="zh-CN" altLang="en-US" sz="2000" dirty="0">
              <a:solidFill>
                <a:srgbClr val="CC0000"/>
              </a:solidFill>
            </a:endParaRPr>
          </a:p>
        </p:txBody>
      </p:sp>
      <p:sp>
        <p:nvSpPr>
          <p:cNvPr id="75781" name="Text Box 5">
            <a:extLst>
              <a:ext uri="{FF2B5EF4-FFF2-40B4-BE49-F238E27FC236}">
                <a16:creationId xmlns:a16="http://schemas.microsoft.com/office/drawing/2014/main" id="{985E9EF3-1C80-454E-89CB-76A417779EDB}"/>
              </a:ext>
            </a:extLst>
          </p:cNvPr>
          <p:cNvSpPr txBox="1">
            <a:spLocks noChangeArrowheads="1"/>
          </p:cNvSpPr>
          <p:nvPr/>
        </p:nvSpPr>
        <p:spPr bwMode="auto">
          <a:xfrm>
            <a:off x="251690" y="2195642"/>
            <a:ext cx="528089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chemeClr val="accent2"/>
                </a:solidFill>
                <a:latin typeface="Arial" panose="020B0604020202020204" pitchFamily="34" charset="0"/>
              </a:rPr>
              <a:t>时间单位和精度搜索次序：</a:t>
            </a:r>
          </a:p>
        </p:txBody>
      </p:sp>
      <p:sp>
        <p:nvSpPr>
          <p:cNvPr id="75782" name="Text Box 6">
            <a:extLst>
              <a:ext uri="{FF2B5EF4-FFF2-40B4-BE49-F238E27FC236}">
                <a16:creationId xmlns:a16="http://schemas.microsoft.com/office/drawing/2014/main" id="{289A093C-CD1C-423D-B79A-F76D1F3154D6}"/>
              </a:ext>
            </a:extLst>
          </p:cNvPr>
          <p:cNvSpPr txBox="1">
            <a:spLocks noChangeArrowheads="1"/>
          </p:cNvSpPr>
          <p:nvPr/>
        </p:nvSpPr>
        <p:spPr bwMode="auto">
          <a:xfrm>
            <a:off x="251690" y="5313391"/>
            <a:ext cx="516312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lang="zh-CN" altLang="en-US" sz="2000" dirty="0">
                <a:solidFill>
                  <a:srgbClr val="0000FF"/>
                </a:solidFill>
                <a:latin typeface="Arial" panose="020B0604020202020204" pitchFamily="34" charset="0"/>
              </a:rPr>
              <a:t>保证</a:t>
            </a:r>
            <a:r>
              <a:rPr lang="en-US" altLang="zh-CN" sz="2000" dirty="0" err="1">
                <a:solidFill>
                  <a:srgbClr val="0000FF"/>
                </a:solidFill>
                <a:latin typeface="Arial" panose="020B0604020202020204" pitchFamily="34" charset="0"/>
              </a:rPr>
              <a:t>SystemVerilog</a:t>
            </a:r>
            <a:r>
              <a:rPr lang="zh-CN" altLang="en-US" sz="2000" dirty="0">
                <a:solidFill>
                  <a:srgbClr val="0000FF"/>
                </a:solidFill>
                <a:latin typeface="Arial" panose="020B0604020202020204" pitchFamily="34" charset="0"/>
              </a:rPr>
              <a:t>模型与</a:t>
            </a:r>
            <a:r>
              <a:rPr lang="en-US" altLang="zh-CN" sz="2000" dirty="0">
                <a:solidFill>
                  <a:srgbClr val="0000FF"/>
                </a:solidFill>
                <a:latin typeface="Arial" panose="020B0604020202020204" pitchFamily="34" charset="0"/>
              </a:rPr>
              <a:t>Verilog</a:t>
            </a:r>
            <a:r>
              <a:rPr lang="zh-CN" altLang="en-US" sz="2000" dirty="0">
                <a:solidFill>
                  <a:srgbClr val="0000FF"/>
                </a:solidFill>
                <a:latin typeface="Arial" panose="020B0604020202020204" pitchFamily="34" charset="0"/>
              </a:rPr>
              <a:t>模型兼容！</a:t>
            </a:r>
          </a:p>
        </p:txBody>
      </p:sp>
      <p:sp>
        <p:nvSpPr>
          <p:cNvPr id="2" name="矩形 1">
            <a:extLst>
              <a:ext uri="{FF2B5EF4-FFF2-40B4-BE49-F238E27FC236}">
                <a16:creationId xmlns:a16="http://schemas.microsoft.com/office/drawing/2014/main" id="{FC6D50DE-3AB7-4A9F-8CDA-FA1485F45ED4}"/>
              </a:ext>
            </a:extLst>
          </p:cNvPr>
          <p:cNvSpPr/>
          <p:nvPr/>
        </p:nvSpPr>
        <p:spPr>
          <a:xfrm>
            <a:off x="5957456" y="1216766"/>
            <a:ext cx="6336145" cy="5078313"/>
          </a:xfrm>
          <a:prstGeom prst="rect">
            <a:avLst/>
          </a:prstGeom>
        </p:spPr>
        <p:txBody>
          <a:bodyPr wrap="square">
            <a:spAutoFit/>
          </a:bodyPr>
          <a:lstStyle/>
          <a:p>
            <a:pPr>
              <a:spcBef>
                <a:spcPct val="0"/>
              </a:spcBef>
            </a:pPr>
            <a:r>
              <a:rPr lang="en-US" altLang="zh-CN" dirty="0" err="1">
                <a:solidFill>
                  <a:srgbClr val="0000FF"/>
                </a:solidFill>
                <a:latin typeface="Arial" panose="020B0604020202020204" pitchFamily="34" charset="0"/>
              </a:rPr>
              <a:t>timeunit</a:t>
            </a:r>
            <a:r>
              <a:rPr lang="en-US" altLang="zh-CN" dirty="0">
                <a:solidFill>
                  <a:srgbClr val="0000FF"/>
                </a:solidFill>
                <a:latin typeface="Arial" panose="020B0604020202020204" pitchFamily="34" charset="0"/>
              </a:rPr>
              <a:t> 1ns;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外部声明的时间单位和精度</a:t>
            </a:r>
          </a:p>
          <a:p>
            <a:pPr>
              <a:spcBef>
                <a:spcPct val="0"/>
              </a:spcBef>
            </a:pPr>
            <a:r>
              <a:rPr lang="en-US" altLang="zh-CN" dirty="0" err="1">
                <a:solidFill>
                  <a:srgbClr val="0000FF"/>
                </a:solidFill>
                <a:latin typeface="Arial" panose="020B0604020202020204" pitchFamily="34" charset="0"/>
              </a:rPr>
              <a:t>timeprecision</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module </a:t>
            </a:r>
            <a:r>
              <a:rPr lang="en-US" altLang="zh-CN" dirty="0" err="1">
                <a:solidFill>
                  <a:srgbClr val="0000FF"/>
                </a:solidFill>
                <a:latin typeface="Arial" panose="020B0604020202020204" pitchFamily="34" charset="0"/>
              </a:rPr>
              <a:t>my_chip</a:t>
            </a:r>
            <a:r>
              <a:rPr lang="en-US" altLang="zh-CN" dirty="0">
                <a:solidFill>
                  <a:srgbClr val="0000FF"/>
                </a:solidFill>
                <a:latin typeface="Arial" panose="020B0604020202020204" pitchFamily="34" charset="0"/>
              </a:rPr>
              <a:t>(…);</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timeprecision</a:t>
            </a:r>
            <a:r>
              <a:rPr lang="en-US" altLang="zh-CN" dirty="0">
                <a:solidFill>
                  <a:srgbClr val="0000FF"/>
                </a:solidFill>
                <a:latin typeface="Arial" panose="020B0604020202020204" pitchFamily="34" charset="0"/>
              </a:rPr>
              <a:t> 1ps;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局部精度</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always @(</a:t>
            </a:r>
            <a:r>
              <a:rPr lang="en-US" altLang="zh-CN" dirty="0" err="1">
                <a:solidFill>
                  <a:srgbClr val="0000FF"/>
                </a:solidFill>
                <a:latin typeface="Arial" panose="020B0604020202020204" pitchFamily="34" charset="0"/>
              </a:rPr>
              <a:t>posedge</a:t>
            </a: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data_request</a:t>
            </a:r>
            <a:r>
              <a:rPr lang="en-US" altLang="zh-CN" dirty="0">
                <a:solidFill>
                  <a:srgbClr val="0000FF"/>
                </a:solidFill>
                <a:latin typeface="Arial" panose="020B0604020202020204" pitchFamily="34" charset="0"/>
              </a:rPr>
              <a:t>) begin</a:t>
            </a:r>
          </a:p>
          <a:p>
            <a:pPr>
              <a:spcBef>
                <a:spcPct val="0"/>
              </a:spcBef>
            </a:pPr>
            <a:r>
              <a:rPr lang="en-US" altLang="zh-CN" dirty="0">
                <a:solidFill>
                  <a:srgbClr val="0000FF"/>
                </a:solidFill>
                <a:latin typeface="Arial" panose="020B0604020202020204" pitchFamily="34" charset="0"/>
              </a:rPr>
              <a:t>        #2.5 </a:t>
            </a:r>
            <a:r>
              <a:rPr lang="en-US" altLang="zh-CN" dirty="0" err="1">
                <a:solidFill>
                  <a:srgbClr val="0000FF"/>
                </a:solidFill>
                <a:latin typeface="Arial" panose="020B0604020202020204" pitchFamily="34" charset="0"/>
              </a:rPr>
              <a:t>send_packet</a:t>
            </a:r>
            <a:r>
              <a:rPr lang="en-US" altLang="zh-CN" dirty="0">
                <a:solidFill>
                  <a:srgbClr val="0000FF"/>
                </a:solidFill>
                <a:latin typeface="Arial" panose="020B0604020202020204" pitchFamily="34" charset="0"/>
              </a:rPr>
              <a:t>; </a:t>
            </a:r>
            <a:r>
              <a:rPr lang="en-US" altLang="zh-CN" dirty="0">
                <a:solidFill>
                  <a:schemeClr val="accent2">
                    <a:lumMod val="75000"/>
                  </a:schemeClr>
                </a:solidFill>
                <a:latin typeface="Arial" panose="020B0604020202020204" pitchFamily="34" charset="0"/>
              </a:rPr>
              <a:t>// </a:t>
            </a:r>
            <a:r>
              <a:rPr lang="zh-CN" altLang="en-US" dirty="0">
                <a:solidFill>
                  <a:schemeClr val="accent2">
                    <a:lumMod val="75000"/>
                  </a:schemeClr>
                </a:solidFill>
                <a:latin typeface="Arial" panose="020B0604020202020204" pitchFamily="34" charset="0"/>
              </a:rPr>
              <a:t>使用外部单位和局部精度</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#3.75ns </a:t>
            </a:r>
            <a:r>
              <a:rPr lang="en-US" altLang="zh-CN" dirty="0" err="1">
                <a:solidFill>
                  <a:srgbClr val="0000FF"/>
                </a:solidFill>
                <a:latin typeface="Arial" panose="020B0604020202020204" pitchFamily="34" charset="0"/>
              </a:rPr>
              <a:t>check_crc</a:t>
            </a:r>
            <a:r>
              <a:rPr lang="en-US" altLang="zh-CN" dirty="0">
                <a:solidFill>
                  <a:srgbClr val="0000FF"/>
                </a:solidFill>
                <a:latin typeface="Arial" panose="020B0604020202020204" pitchFamily="34" charset="0"/>
              </a:rPr>
              <a:t>;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使用指定的单位</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end</a:t>
            </a:r>
          </a:p>
          <a:p>
            <a:pPr>
              <a:spcBef>
                <a:spcPct val="0"/>
              </a:spcBef>
            </a:pPr>
            <a:r>
              <a:rPr lang="en-US" altLang="zh-CN" dirty="0">
                <a:solidFill>
                  <a:srgbClr val="0000FF"/>
                </a:solidFill>
                <a:latin typeface="Arial" panose="020B0604020202020204" pitchFamily="34" charset="0"/>
              </a:rPr>
              <a:t>     ……</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endmodule</a:t>
            </a:r>
            <a:r>
              <a:rPr lang="en-US" altLang="zh-CN" dirty="0">
                <a:solidFill>
                  <a:srgbClr val="0000FF"/>
                </a:solidFill>
                <a:latin typeface="Arial" panose="020B0604020202020204" pitchFamily="34" charset="0"/>
              </a:rPr>
              <a:t> </a:t>
            </a:r>
          </a:p>
          <a:p>
            <a:pPr>
              <a:spcBef>
                <a:spcPct val="0"/>
              </a:spcBef>
            </a:pPr>
            <a:r>
              <a:rPr lang="en-US" altLang="zh-CN" dirty="0">
                <a:solidFill>
                  <a:srgbClr val="0000FF"/>
                </a:solidFill>
                <a:latin typeface="Arial" panose="020B0604020202020204" pitchFamily="34" charset="0"/>
              </a:rPr>
              <a:t> `timescale 1ps/1ps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优先于外部声明</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module FSM();</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timeunit</a:t>
            </a:r>
            <a:r>
              <a:rPr lang="en-US" altLang="zh-CN" dirty="0">
                <a:solidFill>
                  <a:srgbClr val="0000FF"/>
                </a:solidFill>
                <a:latin typeface="Arial" panose="020B0604020202020204" pitchFamily="34" charset="0"/>
              </a:rPr>
              <a:t> 1ns;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优先于</a:t>
            </a:r>
            <a:r>
              <a:rPr lang="en-US" altLang="zh-CN" dirty="0">
                <a:solidFill>
                  <a:schemeClr val="accent2">
                    <a:lumMod val="75000"/>
                  </a:schemeClr>
                </a:solidFill>
                <a:latin typeface="Arial" panose="020B0604020202020204" pitchFamily="34" charset="0"/>
              </a:rPr>
              <a:t>`timescale</a:t>
            </a:r>
            <a:r>
              <a:rPr lang="zh-CN" altLang="en-US" dirty="0">
                <a:solidFill>
                  <a:schemeClr val="accent2">
                    <a:lumMod val="75000"/>
                  </a:schemeClr>
                </a:solidFill>
                <a:latin typeface="Arial" panose="020B0604020202020204" pitchFamily="34" charset="0"/>
              </a:rPr>
              <a:t>的指定</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always @(state) begin</a:t>
            </a:r>
          </a:p>
          <a:p>
            <a:pPr>
              <a:spcBef>
                <a:spcPct val="0"/>
              </a:spcBef>
            </a:pPr>
            <a:r>
              <a:rPr lang="en-US" altLang="zh-CN" dirty="0">
                <a:solidFill>
                  <a:srgbClr val="0000FF"/>
                </a:solidFill>
                <a:latin typeface="Arial" panose="020B0604020202020204" pitchFamily="34" charset="0"/>
              </a:rPr>
              <a:t>         #1.2 case(state)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使用局部单位和</a:t>
            </a:r>
            <a:r>
              <a:rPr lang="en-US" altLang="zh-CN" dirty="0">
                <a:solidFill>
                  <a:schemeClr val="accent2">
                    <a:lumMod val="75000"/>
                  </a:schemeClr>
                </a:solidFill>
                <a:latin typeface="Arial" panose="020B0604020202020204" pitchFamily="34" charset="0"/>
              </a:rPr>
              <a:t>`timescale</a:t>
            </a:r>
            <a:r>
              <a:rPr lang="zh-CN" altLang="en-US" dirty="0">
                <a:solidFill>
                  <a:schemeClr val="accent2">
                    <a:lumMod val="75000"/>
                  </a:schemeClr>
                </a:solidFill>
                <a:latin typeface="Arial" panose="020B0604020202020204" pitchFamily="34" charset="0"/>
              </a:rPr>
              <a:t>的精度</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WAIT #20ps ……; </a:t>
            </a:r>
            <a:r>
              <a:rPr lang="en-US" altLang="zh-CN" dirty="0">
                <a:solidFill>
                  <a:schemeClr val="accent2">
                    <a:lumMod val="75000"/>
                  </a:schemeClr>
                </a:solidFill>
                <a:latin typeface="Arial" panose="020B0604020202020204" pitchFamily="34" charset="0"/>
              </a:rPr>
              <a:t>//</a:t>
            </a:r>
            <a:r>
              <a:rPr lang="zh-CN" altLang="en-US" dirty="0">
                <a:solidFill>
                  <a:schemeClr val="accent2">
                    <a:lumMod val="75000"/>
                  </a:schemeClr>
                </a:solidFill>
                <a:latin typeface="Arial" panose="020B0604020202020204" pitchFamily="34" charset="0"/>
              </a:rPr>
              <a:t>使用此处指定的单位</a:t>
            </a:r>
          </a:p>
          <a:p>
            <a:pPr>
              <a:spcBef>
                <a:spcPct val="0"/>
              </a:spcBef>
            </a:pPr>
            <a:r>
              <a:rPr lang="zh-CN" altLang="en-US" dirty="0">
                <a:solidFill>
                  <a:srgbClr val="0000FF"/>
                </a:solidFill>
                <a:latin typeface="Arial" panose="020B0604020202020204" pitchFamily="34" charset="0"/>
              </a:rPr>
              <a:t>     </a:t>
            </a:r>
            <a:r>
              <a:rPr lang="en-US" altLang="zh-CN" dirty="0">
                <a:solidFill>
                  <a:srgbClr val="0000FF"/>
                </a:solidFill>
                <a:latin typeface="Arial" panose="020B0604020202020204" pitchFamily="34" charset="0"/>
              </a:rPr>
              <a:t>end</a:t>
            </a:r>
          </a:p>
          <a:p>
            <a:pPr>
              <a:spcBef>
                <a:spcPct val="0"/>
              </a:spcBef>
            </a:pPr>
            <a:r>
              <a:rPr lang="en-US" altLang="zh-CN" dirty="0">
                <a:solidFill>
                  <a:srgbClr val="0000FF"/>
                </a:solidFill>
                <a:latin typeface="Arial" panose="020B0604020202020204" pitchFamily="34" charset="0"/>
              </a:rPr>
              <a:t> </a:t>
            </a:r>
            <a:r>
              <a:rPr lang="en-US" altLang="zh-CN" dirty="0" err="1">
                <a:solidFill>
                  <a:srgbClr val="0000FF"/>
                </a:solidFill>
                <a:latin typeface="Arial" panose="020B0604020202020204" pitchFamily="34" charset="0"/>
              </a:rPr>
              <a:t>endmodule</a:t>
            </a:r>
            <a:endParaRPr lang="zh-CN" altLang="en-US" dirty="0">
              <a:solidFill>
                <a:srgbClr val="0000FF"/>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2BCA80A-2237-4A75-9EAE-F76102A7546F}"/>
              </a:ext>
            </a:extLst>
          </p:cNvPr>
          <p:cNvSpPr>
            <a:spLocks noGrp="1"/>
          </p:cNvSpPr>
          <p:nvPr>
            <p:ph idx="1"/>
          </p:nvPr>
        </p:nvSpPr>
        <p:spPr>
          <a:xfrm>
            <a:off x="179755" y="1359877"/>
            <a:ext cx="8049846" cy="2069124"/>
          </a:xfrm>
        </p:spPr>
        <p:txBody>
          <a:bodyPr>
            <a:normAutofit fontScale="92500" lnSpcReduction="10000"/>
          </a:bodyPr>
          <a:lstStyle/>
          <a:p>
            <a:pPr marL="0" indent="0">
              <a:buNone/>
            </a:pPr>
            <a:r>
              <a:rPr lang="zh-CN" altLang="en-US" dirty="0">
                <a:solidFill>
                  <a:srgbClr val="0000FF"/>
                </a:solidFill>
                <a:latin typeface="Arial" panose="020B0604020202020204" pitchFamily="34" charset="0"/>
              </a:rPr>
              <a:t>可综合的数据类型</a:t>
            </a:r>
            <a:endParaRPr lang="en-US" altLang="zh-CN" dirty="0">
              <a:solidFill>
                <a:srgbClr val="0000FF"/>
              </a:solidFill>
              <a:latin typeface="Arial" panose="020B0604020202020204" pitchFamily="34" charset="0"/>
            </a:endParaRPr>
          </a:p>
          <a:p>
            <a:r>
              <a:rPr lang="en-US" altLang="zh-CN" b="1" dirty="0"/>
              <a:t>logic </a:t>
            </a:r>
            <a:r>
              <a:rPr lang="en-US" altLang="zh-CN" dirty="0"/>
              <a:t>— 4-state variable, user-defined size (</a:t>
            </a:r>
            <a:r>
              <a:rPr lang="en-US" altLang="zh-CN" dirty="0">
                <a:solidFill>
                  <a:schemeClr val="accent2"/>
                </a:solidFill>
              </a:rPr>
              <a:t>reg</a:t>
            </a:r>
            <a:r>
              <a:rPr lang="en-US" altLang="zh-CN" dirty="0"/>
              <a:t>) </a:t>
            </a:r>
          </a:p>
          <a:p>
            <a:r>
              <a:rPr lang="en-US" altLang="zh-CN" b="1" dirty="0" err="1"/>
              <a:t>enum</a:t>
            </a:r>
            <a:r>
              <a:rPr lang="en-US" altLang="zh-CN" b="1" dirty="0"/>
              <a:t> </a:t>
            </a:r>
            <a:r>
              <a:rPr lang="en-US" altLang="zh-CN" dirty="0"/>
              <a:t>— a variable with a specified set of legal values </a:t>
            </a:r>
          </a:p>
          <a:p>
            <a:r>
              <a:rPr lang="en-US" altLang="zh-CN" b="1" dirty="0"/>
              <a:t>int </a:t>
            </a:r>
            <a:r>
              <a:rPr lang="en-US" altLang="zh-CN" dirty="0"/>
              <a:t>— 32-bit 2-state var (use with for-loops, </a:t>
            </a:r>
            <a:r>
              <a:rPr lang="en-US" altLang="zh-CN" dirty="0">
                <a:solidFill>
                  <a:schemeClr val="accent2"/>
                </a:solidFill>
              </a:rPr>
              <a:t>integer</a:t>
            </a:r>
            <a:r>
              <a:rPr lang="en-US" altLang="zh-CN" dirty="0"/>
              <a:t>) </a:t>
            </a:r>
            <a:br>
              <a:rPr lang="en-US" altLang="zh-CN" dirty="0"/>
            </a:br>
            <a:endParaRPr lang="zh-CN" altLang="en-US" dirty="0"/>
          </a:p>
        </p:txBody>
      </p:sp>
      <p:sp>
        <p:nvSpPr>
          <p:cNvPr id="2" name="标题 1">
            <a:extLst>
              <a:ext uri="{FF2B5EF4-FFF2-40B4-BE49-F238E27FC236}">
                <a16:creationId xmlns:a16="http://schemas.microsoft.com/office/drawing/2014/main" id="{23D7598C-015E-4572-8372-F729B4CC9336}"/>
              </a:ext>
            </a:extLst>
          </p:cNvPr>
          <p:cNvSpPr>
            <a:spLocks noGrp="1"/>
          </p:cNvSpPr>
          <p:nvPr>
            <p:ph type="title"/>
          </p:nvPr>
        </p:nvSpPr>
        <p:spPr>
          <a:xfrm>
            <a:off x="424873" y="365126"/>
            <a:ext cx="10928927" cy="744660"/>
          </a:xfrm>
        </p:spPr>
        <p:txBody>
          <a:bodyPr/>
          <a:lstStyle/>
          <a:p>
            <a:r>
              <a:rPr lang="en-US" altLang="zh-CN" dirty="0">
                <a:solidFill>
                  <a:srgbClr val="000066"/>
                </a:solidFill>
                <a:latin typeface="Arial" panose="020B0604020202020204" pitchFamily="34" charset="0"/>
              </a:rPr>
              <a:t>System Verilog</a:t>
            </a:r>
            <a:r>
              <a:rPr lang="zh-CN" altLang="en-US" dirty="0">
                <a:solidFill>
                  <a:schemeClr val="accent2"/>
                </a:solidFill>
              </a:rPr>
              <a:t>新的数据类型</a:t>
            </a:r>
          </a:p>
        </p:txBody>
      </p:sp>
      <p:sp>
        <p:nvSpPr>
          <p:cNvPr id="4" name="矩形 3">
            <a:extLst>
              <a:ext uri="{FF2B5EF4-FFF2-40B4-BE49-F238E27FC236}">
                <a16:creationId xmlns:a16="http://schemas.microsoft.com/office/drawing/2014/main" id="{64A73B05-9C41-4319-A4AF-8D8267D3D91C}"/>
              </a:ext>
            </a:extLst>
          </p:cNvPr>
          <p:cNvSpPr/>
          <p:nvPr/>
        </p:nvSpPr>
        <p:spPr>
          <a:xfrm>
            <a:off x="6924431" y="4362694"/>
            <a:ext cx="4911967" cy="1631216"/>
          </a:xfrm>
          <a:prstGeom prst="rect">
            <a:avLst/>
          </a:prstGeom>
        </p:spPr>
        <p:txBody>
          <a:bodyPr wrap="square">
            <a:spAutoFit/>
          </a:bodyPr>
          <a:lstStyle/>
          <a:p>
            <a:r>
              <a:rPr lang="en-US" altLang="zh-CN" sz="2000" b="1" dirty="0">
                <a:solidFill>
                  <a:schemeClr val="accent2">
                    <a:lumMod val="75000"/>
                  </a:schemeClr>
                </a:solidFill>
              </a:rPr>
              <a:t>Although synthesizable, these types</a:t>
            </a:r>
            <a:br>
              <a:rPr lang="en-US" altLang="zh-CN" sz="2000" b="1" dirty="0">
                <a:solidFill>
                  <a:schemeClr val="accent2">
                    <a:lumMod val="75000"/>
                  </a:schemeClr>
                </a:solidFill>
              </a:rPr>
            </a:br>
            <a:r>
              <a:rPr lang="en-US" altLang="zh-CN" sz="2000" b="1" dirty="0">
                <a:solidFill>
                  <a:schemeClr val="accent2">
                    <a:lumMod val="75000"/>
                  </a:schemeClr>
                </a:solidFill>
              </a:rPr>
              <a:t>are best used in testbenches</a:t>
            </a:r>
            <a:r>
              <a:rPr lang="en-US" altLang="zh-CN" sz="2000" dirty="0">
                <a:solidFill>
                  <a:schemeClr val="accent2">
                    <a:lumMod val="75000"/>
                  </a:schemeClr>
                </a:solidFill>
              </a:rPr>
              <a:t> </a:t>
            </a:r>
          </a:p>
          <a:p>
            <a:br>
              <a:rPr lang="en-US" altLang="zh-CN" sz="2000" dirty="0"/>
            </a:br>
            <a:r>
              <a:rPr lang="en-US" altLang="zh-CN" sz="2000" b="1" dirty="0">
                <a:solidFill>
                  <a:srgbClr val="C00000"/>
                </a:solidFill>
                <a:latin typeface="ComicSansMS-Bold"/>
              </a:rPr>
              <a:t>Avoid 2-state types in synthesizable models </a:t>
            </a:r>
          </a:p>
          <a:p>
            <a:r>
              <a:rPr lang="en-US" altLang="zh-CN" sz="2000" b="1" dirty="0">
                <a:solidFill>
                  <a:srgbClr val="C00000"/>
                </a:solidFill>
                <a:latin typeface="ComicSansMS-Bold"/>
              </a:rPr>
              <a:t>– they can hide serious design bugs!</a:t>
            </a:r>
            <a:r>
              <a:rPr lang="en-US" altLang="zh-CN" sz="2000" dirty="0"/>
              <a:t> </a:t>
            </a:r>
            <a:endParaRPr lang="zh-CN" altLang="en-US" sz="2000" dirty="0"/>
          </a:p>
        </p:txBody>
      </p:sp>
      <p:sp>
        <p:nvSpPr>
          <p:cNvPr id="5" name="矩形 4">
            <a:extLst>
              <a:ext uri="{FF2B5EF4-FFF2-40B4-BE49-F238E27FC236}">
                <a16:creationId xmlns:a16="http://schemas.microsoft.com/office/drawing/2014/main" id="{4DE8615D-F90E-4786-90C0-E5FBC1CEC2D0}"/>
              </a:ext>
            </a:extLst>
          </p:cNvPr>
          <p:cNvSpPr/>
          <p:nvPr/>
        </p:nvSpPr>
        <p:spPr>
          <a:xfrm>
            <a:off x="8299939" y="1679698"/>
            <a:ext cx="3496404" cy="1323439"/>
          </a:xfrm>
          <a:prstGeom prst="rect">
            <a:avLst/>
          </a:prstGeom>
        </p:spPr>
        <p:txBody>
          <a:bodyPr wrap="square">
            <a:spAutoFit/>
          </a:bodyPr>
          <a:lstStyle/>
          <a:p>
            <a:r>
              <a:rPr lang="en-US" altLang="zh-CN" sz="2000" dirty="0">
                <a:solidFill>
                  <a:srgbClr val="FF0000"/>
                </a:solidFill>
                <a:latin typeface="CourierNewPS-BoldMT"/>
              </a:rPr>
              <a:t>logic </a:t>
            </a:r>
            <a:r>
              <a:rPr lang="en-US" altLang="zh-CN" sz="2000" dirty="0">
                <a:solidFill>
                  <a:srgbClr val="00B0F0"/>
                </a:solidFill>
                <a:latin typeface="ArialMT"/>
              </a:rPr>
              <a:t>makes code more self-documenting </a:t>
            </a:r>
            <a:r>
              <a:rPr lang="en-US" altLang="zh-CN" sz="2000" dirty="0">
                <a:solidFill>
                  <a:srgbClr val="000000"/>
                </a:solidFill>
                <a:latin typeface="ArialMT"/>
              </a:rPr>
              <a:t>(</a:t>
            </a:r>
            <a:r>
              <a:rPr lang="en-US" altLang="zh-CN" sz="2000" dirty="0">
                <a:solidFill>
                  <a:srgbClr val="FF0000"/>
                </a:solidFill>
                <a:latin typeface="CourierNewPS-BoldMT"/>
              </a:rPr>
              <a:t>reg </a:t>
            </a:r>
            <a:r>
              <a:rPr lang="en-US" altLang="zh-CN" sz="2000" dirty="0">
                <a:solidFill>
                  <a:srgbClr val="00B0F0"/>
                </a:solidFill>
                <a:latin typeface="ArialMT"/>
              </a:rPr>
              <a:t>does not infer a “register,” but it looks like it does</a:t>
            </a:r>
            <a:r>
              <a:rPr lang="en-US" altLang="zh-CN" sz="2000" dirty="0">
                <a:solidFill>
                  <a:srgbClr val="000000"/>
                </a:solidFill>
                <a:latin typeface="ArialMT"/>
              </a:rPr>
              <a:t>)</a:t>
            </a:r>
            <a:r>
              <a:rPr lang="en-US" altLang="zh-CN" sz="2000" dirty="0"/>
              <a:t> </a:t>
            </a:r>
            <a:endParaRPr lang="zh-CN" altLang="en-US" sz="2000" dirty="0"/>
          </a:p>
        </p:txBody>
      </p:sp>
      <p:sp>
        <p:nvSpPr>
          <p:cNvPr id="6" name="内容占位符 2">
            <a:extLst>
              <a:ext uri="{FF2B5EF4-FFF2-40B4-BE49-F238E27FC236}">
                <a16:creationId xmlns:a16="http://schemas.microsoft.com/office/drawing/2014/main" id="{3415BDF9-0EF7-4C3F-8870-92D4AD89D336}"/>
              </a:ext>
            </a:extLst>
          </p:cNvPr>
          <p:cNvSpPr txBox="1">
            <a:spLocks/>
          </p:cNvSpPr>
          <p:nvPr/>
        </p:nvSpPr>
        <p:spPr>
          <a:xfrm>
            <a:off x="179755" y="3658435"/>
            <a:ext cx="6783753" cy="2612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2600" dirty="0">
                <a:solidFill>
                  <a:srgbClr val="0000FF"/>
                </a:solidFill>
                <a:latin typeface="Arial" panose="020B0604020202020204" pitchFamily="34" charset="0"/>
              </a:rPr>
              <a:t>其它可综合的数据类型</a:t>
            </a:r>
            <a:r>
              <a:rPr lang="zh-CN" altLang="en-US" dirty="0"/>
              <a:t>：</a:t>
            </a:r>
            <a:endParaRPr lang="en-US" altLang="zh-CN" dirty="0"/>
          </a:p>
          <a:p>
            <a:r>
              <a:rPr lang="en-US" altLang="zh-CN" b="1" dirty="0"/>
              <a:t>bit </a:t>
            </a:r>
            <a:r>
              <a:rPr lang="en-US" altLang="zh-CN" dirty="0"/>
              <a:t>— single bit 2-state variable </a:t>
            </a:r>
          </a:p>
          <a:p>
            <a:r>
              <a:rPr lang="en-US" altLang="zh-CN" b="1" dirty="0"/>
              <a:t>byte </a:t>
            </a:r>
            <a:r>
              <a:rPr lang="en-US" altLang="zh-CN" dirty="0"/>
              <a:t>— 8-bit 2-state variable (</a:t>
            </a:r>
            <a:r>
              <a:rPr lang="en-US" altLang="zh-CN" dirty="0">
                <a:solidFill>
                  <a:schemeClr val="accent2"/>
                </a:solidFill>
              </a:rPr>
              <a:t>char</a:t>
            </a:r>
            <a:r>
              <a:rPr lang="en-US" altLang="zh-CN" dirty="0"/>
              <a:t>)</a:t>
            </a:r>
          </a:p>
          <a:p>
            <a:r>
              <a:rPr lang="en-US" altLang="zh-CN" b="1" dirty="0" err="1"/>
              <a:t>shortint</a:t>
            </a:r>
            <a:r>
              <a:rPr lang="en-US" altLang="zh-CN" b="1" dirty="0"/>
              <a:t> </a:t>
            </a:r>
            <a:r>
              <a:rPr lang="en-US" altLang="zh-CN" dirty="0"/>
              <a:t>— 16-bit 2-state variable (</a:t>
            </a:r>
            <a:r>
              <a:rPr lang="en-US" altLang="zh-CN" dirty="0">
                <a:solidFill>
                  <a:schemeClr val="accent2"/>
                </a:solidFill>
              </a:rPr>
              <a:t>short</a:t>
            </a:r>
            <a:r>
              <a:rPr lang="en-US" altLang="zh-CN" dirty="0"/>
              <a:t>)</a:t>
            </a:r>
            <a:r>
              <a:rPr lang="en-US" altLang="zh-CN" dirty="0">
                <a:solidFill>
                  <a:schemeClr val="accent2"/>
                </a:solidFill>
              </a:rPr>
              <a:t> </a:t>
            </a:r>
          </a:p>
          <a:p>
            <a:r>
              <a:rPr lang="en-US" altLang="zh-CN" b="1" dirty="0" err="1"/>
              <a:t>longint</a:t>
            </a:r>
            <a:r>
              <a:rPr lang="en-US" altLang="zh-CN" b="1" dirty="0"/>
              <a:t> </a:t>
            </a:r>
            <a:r>
              <a:rPr lang="en-US" altLang="zh-CN" dirty="0"/>
              <a:t>— 64-bit 2-state variable (</a:t>
            </a:r>
            <a:r>
              <a:rPr lang="en-US" altLang="zh-CN" dirty="0">
                <a:solidFill>
                  <a:schemeClr val="accent2"/>
                </a:solidFill>
              </a:rPr>
              <a:t>long</a:t>
            </a:r>
            <a:r>
              <a:rPr lang="en-US" altLang="zh-CN" dirty="0"/>
              <a:t>)</a:t>
            </a:r>
            <a:endParaRPr lang="zh-CN" altLang="en-US" dirty="0"/>
          </a:p>
        </p:txBody>
      </p:sp>
    </p:spTree>
    <p:extLst>
      <p:ext uri="{BB962C8B-B14F-4D97-AF65-F5344CB8AC3E}">
        <p14:creationId xmlns:p14="http://schemas.microsoft.com/office/powerpoint/2010/main" val="2458723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9A5890-4EFD-40D2-B09B-7EF395EED496}"/>
              </a:ext>
            </a:extLst>
          </p:cNvPr>
          <p:cNvSpPr>
            <a:spLocks noGrp="1"/>
          </p:cNvSpPr>
          <p:nvPr>
            <p:ph type="title"/>
          </p:nvPr>
        </p:nvSpPr>
        <p:spPr>
          <a:xfrm>
            <a:off x="779939" y="140129"/>
            <a:ext cx="8989291" cy="1325563"/>
          </a:xfrm>
        </p:spPr>
        <p:txBody>
          <a:bodyPr/>
          <a:lstStyle/>
          <a:p>
            <a:r>
              <a:rPr lang="en-US" altLang="zh-CN" dirty="0">
                <a:solidFill>
                  <a:schemeClr val="accent2"/>
                </a:solidFill>
              </a:rPr>
              <a:t>System Verilog </a:t>
            </a:r>
            <a:r>
              <a:rPr lang="zh-CN" altLang="en-US" dirty="0">
                <a:solidFill>
                  <a:schemeClr val="accent2"/>
                </a:solidFill>
              </a:rPr>
              <a:t>简化端口类型声明</a:t>
            </a:r>
          </a:p>
        </p:txBody>
      </p:sp>
      <p:sp>
        <p:nvSpPr>
          <p:cNvPr id="3" name="内容占位符 2">
            <a:extLst>
              <a:ext uri="{FF2B5EF4-FFF2-40B4-BE49-F238E27FC236}">
                <a16:creationId xmlns:a16="http://schemas.microsoft.com/office/drawing/2014/main" id="{E0F40F1C-4AE2-4511-8E93-C323FFC883D0}"/>
              </a:ext>
            </a:extLst>
          </p:cNvPr>
          <p:cNvSpPr>
            <a:spLocks noGrp="1"/>
          </p:cNvSpPr>
          <p:nvPr>
            <p:ph idx="1"/>
          </p:nvPr>
        </p:nvSpPr>
        <p:spPr>
          <a:xfrm>
            <a:off x="607646" y="1628288"/>
            <a:ext cx="7555523" cy="2300898"/>
          </a:xfrm>
        </p:spPr>
        <p:txBody>
          <a:bodyPr/>
          <a:lstStyle/>
          <a:p>
            <a:r>
              <a:rPr lang="zh-CN" altLang="en-US" dirty="0">
                <a:solidFill>
                  <a:srgbClr val="00B0F0"/>
                </a:solidFill>
              </a:rPr>
              <a:t>传统的</a:t>
            </a:r>
            <a:r>
              <a:rPr lang="en-US" altLang="zh-CN" dirty="0">
                <a:solidFill>
                  <a:srgbClr val="00B0F0"/>
                </a:solidFill>
              </a:rPr>
              <a:t>Verilog</a:t>
            </a:r>
            <a:r>
              <a:rPr lang="zh-CN" altLang="en-US" dirty="0">
                <a:solidFill>
                  <a:srgbClr val="00B0F0"/>
                </a:solidFill>
              </a:rPr>
              <a:t>对于端口数据类型有很强的限制</a:t>
            </a:r>
            <a:endParaRPr lang="en-US" altLang="zh-CN" dirty="0">
              <a:solidFill>
                <a:srgbClr val="00B0F0"/>
              </a:solidFill>
            </a:endParaRPr>
          </a:p>
          <a:p>
            <a:pPr lvl="1"/>
            <a:r>
              <a:rPr lang="zh-CN" altLang="en-US" dirty="0"/>
              <a:t>输入端口必须设置为线网类型</a:t>
            </a:r>
            <a:endParaRPr lang="en-US" altLang="zh-CN" dirty="0"/>
          </a:p>
          <a:p>
            <a:pPr lvl="1"/>
            <a:r>
              <a:rPr lang="zh-CN" altLang="en-US" dirty="0"/>
              <a:t>输出端口必须声明为：</a:t>
            </a:r>
            <a:endParaRPr lang="en-US" altLang="zh-CN" dirty="0"/>
          </a:p>
          <a:p>
            <a:pPr lvl="2"/>
            <a:r>
              <a:rPr lang="en-US" altLang="zh-CN" dirty="0"/>
              <a:t>reg</a:t>
            </a:r>
            <a:r>
              <a:rPr lang="zh-CN" altLang="en-US" dirty="0"/>
              <a:t>类型，如果端口信号在过程块中进行赋值</a:t>
            </a:r>
            <a:endParaRPr lang="en-US" altLang="zh-CN" dirty="0"/>
          </a:p>
          <a:p>
            <a:pPr lvl="2"/>
            <a:r>
              <a:rPr lang="en-US" altLang="zh-CN" dirty="0"/>
              <a:t>wire</a:t>
            </a:r>
            <a:r>
              <a:rPr lang="zh-CN" altLang="en-US" dirty="0"/>
              <a:t>类型，如果端口信号采用连续赋值</a:t>
            </a:r>
            <a:endParaRPr lang="en-US" altLang="zh-CN" dirty="0"/>
          </a:p>
          <a:p>
            <a:pPr lvl="2"/>
            <a:r>
              <a:rPr lang="en-US" altLang="zh-CN" dirty="0"/>
              <a:t>wire</a:t>
            </a:r>
            <a:r>
              <a:rPr lang="zh-CN" altLang="en-US" dirty="0"/>
              <a:t>类型，如果信号直接由内部模块的输出信号驱动</a:t>
            </a:r>
          </a:p>
        </p:txBody>
      </p:sp>
      <p:sp>
        <p:nvSpPr>
          <p:cNvPr id="4" name="内容占位符 2">
            <a:extLst>
              <a:ext uri="{FF2B5EF4-FFF2-40B4-BE49-F238E27FC236}">
                <a16:creationId xmlns:a16="http://schemas.microsoft.com/office/drawing/2014/main" id="{C1167B8F-C789-41FB-8043-92615A3454F1}"/>
              </a:ext>
            </a:extLst>
          </p:cNvPr>
          <p:cNvSpPr txBox="1">
            <a:spLocks/>
          </p:cNvSpPr>
          <p:nvPr/>
        </p:nvSpPr>
        <p:spPr>
          <a:xfrm>
            <a:off x="607646" y="4254377"/>
            <a:ext cx="7555523" cy="23008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System Verilog</a:t>
            </a:r>
            <a:r>
              <a:rPr lang="zh-CN" altLang="en-US" dirty="0"/>
              <a:t>简化端口数据类型</a:t>
            </a:r>
            <a:endParaRPr lang="en-US" altLang="zh-CN" dirty="0"/>
          </a:p>
          <a:p>
            <a:pPr lvl="1"/>
            <a:r>
              <a:rPr lang="zh-CN" altLang="en-US" dirty="0"/>
              <a:t>输入</a:t>
            </a:r>
            <a:r>
              <a:rPr lang="en-US" altLang="zh-CN" dirty="0"/>
              <a:t>/</a:t>
            </a:r>
            <a:r>
              <a:rPr lang="zh-CN" altLang="en-US" dirty="0"/>
              <a:t>输出端口全部设置为</a:t>
            </a:r>
            <a:r>
              <a:rPr lang="en-US" altLang="zh-CN" dirty="0"/>
              <a:t>logic</a:t>
            </a:r>
            <a:r>
              <a:rPr lang="zh-CN" altLang="en-US" dirty="0"/>
              <a:t>类型</a:t>
            </a:r>
            <a:endParaRPr lang="en-US" altLang="zh-CN" dirty="0"/>
          </a:p>
          <a:p>
            <a:pPr marL="457200" lvl="1" indent="0">
              <a:buNone/>
            </a:pPr>
            <a:r>
              <a:rPr lang="en-US" altLang="zh-CN" b="1" dirty="0"/>
              <a:t>“logic” indicates the value set (4-state) to be simulated –</a:t>
            </a:r>
            <a:r>
              <a:rPr lang="en-US" altLang="zh-CN" b="1" dirty="0" err="1"/>
              <a:t>SystemVerilog</a:t>
            </a:r>
            <a:r>
              <a:rPr lang="en-US" altLang="zh-CN" b="1" dirty="0"/>
              <a:t> infers a variable or net based on context</a:t>
            </a:r>
            <a:r>
              <a:rPr lang="en-US" altLang="zh-CN" dirty="0"/>
              <a:t> </a:t>
            </a:r>
          </a:p>
        </p:txBody>
      </p:sp>
      <p:sp>
        <p:nvSpPr>
          <p:cNvPr id="5" name="矩形 4">
            <a:extLst>
              <a:ext uri="{FF2B5EF4-FFF2-40B4-BE49-F238E27FC236}">
                <a16:creationId xmlns:a16="http://schemas.microsoft.com/office/drawing/2014/main" id="{3ADD00C5-72B0-4B7B-9306-19F5EEA669D3}"/>
              </a:ext>
            </a:extLst>
          </p:cNvPr>
          <p:cNvSpPr/>
          <p:nvPr/>
        </p:nvSpPr>
        <p:spPr>
          <a:xfrm>
            <a:off x="8518769" y="1901574"/>
            <a:ext cx="3259016" cy="1754326"/>
          </a:xfrm>
          <a:prstGeom prst="rect">
            <a:avLst/>
          </a:prstGeom>
        </p:spPr>
        <p:txBody>
          <a:bodyPr wrap="square">
            <a:spAutoFit/>
          </a:bodyPr>
          <a:lstStyle/>
          <a:p>
            <a:r>
              <a:rPr lang="en-US" altLang="zh-CN" b="1" dirty="0">
                <a:solidFill>
                  <a:srgbClr val="000000"/>
                </a:solidFill>
                <a:latin typeface="CourierNewPS-BoldMT"/>
              </a:rPr>
              <a:t>module chip(</a:t>
            </a:r>
          </a:p>
          <a:p>
            <a:r>
              <a:rPr lang="en-US" altLang="zh-CN" b="1" dirty="0">
                <a:solidFill>
                  <a:srgbClr val="0000FF"/>
                </a:solidFill>
                <a:latin typeface="CourierNewPS-BoldMT"/>
              </a:rPr>
              <a:t>input </a:t>
            </a:r>
            <a:r>
              <a:rPr lang="en-US" altLang="zh-CN" b="1" dirty="0">
                <a:solidFill>
                  <a:srgbClr val="FF0000"/>
                </a:solidFill>
                <a:latin typeface="CourierNewPS-BoldMT"/>
              </a:rPr>
              <a:t>wire </a:t>
            </a:r>
            <a:r>
              <a:rPr lang="en-US" altLang="zh-CN" b="1" dirty="0">
                <a:solidFill>
                  <a:srgbClr val="000000"/>
                </a:solidFill>
                <a:latin typeface="CourierNewPS-BoldMT"/>
              </a:rPr>
              <a:t>in1,</a:t>
            </a:r>
            <a:br>
              <a:rPr lang="en-US" altLang="zh-CN" b="1" dirty="0">
                <a:solidFill>
                  <a:srgbClr val="000000"/>
                </a:solidFill>
                <a:latin typeface="CourierNewPS-BoldMT"/>
              </a:rPr>
            </a:br>
            <a:r>
              <a:rPr lang="en-US" altLang="zh-CN" b="1" dirty="0">
                <a:solidFill>
                  <a:srgbClr val="0000FF"/>
                </a:solidFill>
                <a:latin typeface="CourierNewPS-BoldMT"/>
              </a:rPr>
              <a:t>input </a:t>
            </a:r>
            <a:r>
              <a:rPr lang="en-US" altLang="zh-CN" b="1" dirty="0">
                <a:solidFill>
                  <a:srgbClr val="FF0000"/>
                </a:solidFill>
                <a:latin typeface="CourierNewPS-BoldMT"/>
              </a:rPr>
              <a:t>wire </a:t>
            </a:r>
            <a:r>
              <a:rPr lang="en-US" altLang="zh-CN" b="1" dirty="0">
                <a:solidFill>
                  <a:srgbClr val="000000"/>
                </a:solidFill>
                <a:latin typeface="CourierNewPS-BoldMT"/>
              </a:rPr>
              <a:t>in2,</a:t>
            </a:r>
            <a:br>
              <a:rPr lang="en-US" altLang="zh-CN" b="1" dirty="0">
                <a:solidFill>
                  <a:srgbClr val="000000"/>
                </a:solidFill>
                <a:latin typeface="CourierNewPS-BoldMT"/>
              </a:rPr>
            </a:br>
            <a:r>
              <a:rPr lang="en-US" altLang="zh-CN" b="1" dirty="0">
                <a:solidFill>
                  <a:srgbClr val="7030A0"/>
                </a:solidFill>
                <a:latin typeface="CourierNewPS-BoldMT"/>
              </a:rPr>
              <a:t>output </a:t>
            </a:r>
            <a:r>
              <a:rPr lang="en-US" altLang="zh-CN" b="1" dirty="0">
                <a:solidFill>
                  <a:srgbClr val="FF0000"/>
                </a:solidFill>
                <a:latin typeface="CourierNewPS-BoldMT"/>
              </a:rPr>
              <a:t>reg </a:t>
            </a:r>
            <a:r>
              <a:rPr lang="en-US" altLang="zh-CN" b="1" dirty="0">
                <a:solidFill>
                  <a:srgbClr val="000000"/>
                </a:solidFill>
                <a:latin typeface="CourierNewPS-BoldMT"/>
              </a:rPr>
              <a:t>out1,</a:t>
            </a:r>
            <a:br>
              <a:rPr lang="en-US" altLang="zh-CN" b="1" dirty="0">
                <a:solidFill>
                  <a:srgbClr val="000000"/>
                </a:solidFill>
                <a:latin typeface="CourierNewPS-BoldMT"/>
              </a:rPr>
            </a:br>
            <a:r>
              <a:rPr lang="en-US" altLang="zh-CN" b="1" dirty="0">
                <a:solidFill>
                  <a:srgbClr val="7030A0"/>
                </a:solidFill>
                <a:latin typeface="CourierNewPS-BoldMT"/>
              </a:rPr>
              <a:t>output </a:t>
            </a:r>
            <a:r>
              <a:rPr lang="en-US" altLang="zh-CN" b="1" dirty="0">
                <a:solidFill>
                  <a:srgbClr val="FF0000"/>
                </a:solidFill>
                <a:latin typeface="CourierNewPS-BoldMT"/>
              </a:rPr>
              <a:t>wire </a:t>
            </a:r>
            <a:r>
              <a:rPr lang="en-US" altLang="zh-CN" b="1" dirty="0">
                <a:solidFill>
                  <a:srgbClr val="000000"/>
                </a:solidFill>
                <a:latin typeface="CourierNewPS-BoldMT"/>
              </a:rPr>
              <a:t>out2</a:t>
            </a:r>
            <a:br>
              <a:rPr lang="en-US" altLang="zh-CN" b="1" dirty="0">
                <a:solidFill>
                  <a:srgbClr val="000000"/>
                </a:solidFill>
                <a:latin typeface="CourierNewPS-BoldMT"/>
              </a:rPr>
            </a:br>
            <a:r>
              <a:rPr lang="en-US" altLang="zh-CN" b="1" dirty="0">
                <a:solidFill>
                  <a:srgbClr val="000000"/>
                </a:solidFill>
                <a:latin typeface="CourierNewPS-BoldMT"/>
              </a:rPr>
              <a:t>);</a:t>
            </a:r>
            <a:endParaRPr lang="zh-CN" altLang="en-US" dirty="0"/>
          </a:p>
        </p:txBody>
      </p:sp>
      <p:sp>
        <p:nvSpPr>
          <p:cNvPr id="6" name="矩形 5">
            <a:extLst>
              <a:ext uri="{FF2B5EF4-FFF2-40B4-BE49-F238E27FC236}">
                <a16:creationId xmlns:a16="http://schemas.microsoft.com/office/drawing/2014/main" id="{1AD05A67-B803-4C4C-872C-A4CB58BD9A9D}"/>
              </a:ext>
            </a:extLst>
          </p:cNvPr>
          <p:cNvSpPr/>
          <p:nvPr/>
        </p:nvSpPr>
        <p:spPr>
          <a:xfrm>
            <a:off x="8280399" y="4254377"/>
            <a:ext cx="2977662" cy="2031325"/>
          </a:xfrm>
          <a:prstGeom prst="rect">
            <a:avLst/>
          </a:prstGeom>
        </p:spPr>
        <p:txBody>
          <a:bodyPr wrap="square">
            <a:spAutoFit/>
          </a:bodyPr>
          <a:lstStyle/>
          <a:p>
            <a:r>
              <a:rPr lang="en-US" altLang="zh-CN" b="1" dirty="0">
                <a:solidFill>
                  <a:srgbClr val="000000"/>
                </a:solidFill>
                <a:latin typeface="CourierNewPS-BoldMT"/>
              </a:rPr>
              <a:t>module chip(</a:t>
            </a:r>
          </a:p>
          <a:p>
            <a:r>
              <a:rPr lang="en-US" altLang="zh-CN" b="1" dirty="0">
                <a:solidFill>
                  <a:srgbClr val="0000FF"/>
                </a:solidFill>
                <a:latin typeface="CourierNewPS-BoldMT"/>
              </a:rPr>
              <a:t>input </a:t>
            </a:r>
            <a:r>
              <a:rPr lang="en-US" altLang="zh-CN" b="1" dirty="0">
                <a:solidFill>
                  <a:srgbClr val="FF0000"/>
                </a:solidFill>
                <a:latin typeface="CourierNewPS-BoldMT"/>
              </a:rPr>
              <a:t>logic </a:t>
            </a:r>
            <a:r>
              <a:rPr lang="en-US" altLang="zh-CN" b="1" dirty="0">
                <a:solidFill>
                  <a:srgbClr val="000000"/>
                </a:solidFill>
                <a:latin typeface="CourierNewPS-BoldMT"/>
              </a:rPr>
              <a:t>in1,</a:t>
            </a:r>
            <a:br>
              <a:rPr lang="en-US" altLang="zh-CN" b="1" dirty="0">
                <a:solidFill>
                  <a:srgbClr val="000000"/>
                </a:solidFill>
                <a:latin typeface="CourierNewPS-BoldMT"/>
              </a:rPr>
            </a:br>
            <a:r>
              <a:rPr lang="en-US" altLang="zh-CN" b="1" dirty="0">
                <a:solidFill>
                  <a:srgbClr val="0000FF"/>
                </a:solidFill>
                <a:latin typeface="CourierNewPS-BoldMT"/>
              </a:rPr>
              <a:t>input </a:t>
            </a:r>
            <a:r>
              <a:rPr lang="en-US" altLang="zh-CN" b="1" dirty="0">
                <a:solidFill>
                  <a:srgbClr val="FF0000"/>
                </a:solidFill>
                <a:latin typeface="CourierNewPS-BoldMT"/>
              </a:rPr>
              <a:t>logic </a:t>
            </a:r>
            <a:r>
              <a:rPr lang="en-US" altLang="zh-CN" b="1" dirty="0">
                <a:solidFill>
                  <a:srgbClr val="000000"/>
                </a:solidFill>
                <a:latin typeface="CourierNewPS-BoldMT"/>
              </a:rPr>
              <a:t>in2,</a:t>
            </a:r>
            <a:br>
              <a:rPr lang="en-US" altLang="zh-CN" b="1" dirty="0">
                <a:solidFill>
                  <a:srgbClr val="000000"/>
                </a:solidFill>
                <a:latin typeface="CourierNewPS-BoldMT"/>
              </a:rPr>
            </a:br>
            <a:r>
              <a:rPr lang="en-US" altLang="zh-CN" b="1" dirty="0">
                <a:solidFill>
                  <a:srgbClr val="7030A0"/>
                </a:solidFill>
                <a:latin typeface="CourierNewPS-BoldMT"/>
              </a:rPr>
              <a:t>output </a:t>
            </a:r>
            <a:r>
              <a:rPr lang="en-US" altLang="zh-CN" b="1" dirty="0">
                <a:solidFill>
                  <a:srgbClr val="FF0000"/>
                </a:solidFill>
                <a:latin typeface="CourierNewPS-BoldMT"/>
              </a:rPr>
              <a:t>logic </a:t>
            </a:r>
            <a:r>
              <a:rPr lang="en-US" altLang="zh-CN" b="1" dirty="0">
                <a:solidFill>
                  <a:srgbClr val="000000"/>
                </a:solidFill>
                <a:latin typeface="CourierNewPS-BoldMT"/>
              </a:rPr>
              <a:t>out1,</a:t>
            </a:r>
            <a:br>
              <a:rPr lang="en-US" altLang="zh-CN" b="1" dirty="0">
                <a:solidFill>
                  <a:srgbClr val="000000"/>
                </a:solidFill>
                <a:latin typeface="CourierNewPS-BoldMT"/>
              </a:rPr>
            </a:br>
            <a:r>
              <a:rPr lang="en-US" altLang="zh-CN" b="1" dirty="0">
                <a:solidFill>
                  <a:srgbClr val="7030A0"/>
                </a:solidFill>
                <a:latin typeface="CourierNewPS-BoldMT"/>
              </a:rPr>
              <a:t>output </a:t>
            </a:r>
            <a:r>
              <a:rPr lang="en-US" altLang="zh-CN" b="1" dirty="0">
                <a:solidFill>
                  <a:srgbClr val="FF0000"/>
                </a:solidFill>
                <a:latin typeface="CourierNewPS-BoldMT"/>
              </a:rPr>
              <a:t>logic </a:t>
            </a:r>
            <a:r>
              <a:rPr lang="en-US" altLang="zh-CN" b="1" dirty="0">
                <a:solidFill>
                  <a:srgbClr val="000000"/>
                </a:solidFill>
                <a:latin typeface="CourierNewPS-BoldMT"/>
              </a:rPr>
              <a:t>out2</a:t>
            </a:r>
            <a:br>
              <a:rPr lang="en-US" altLang="zh-CN" b="1" dirty="0">
                <a:solidFill>
                  <a:srgbClr val="000000"/>
                </a:solidFill>
                <a:latin typeface="CourierNewPS-BoldMT"/>
              </a:rPr>
            </a:br>
            <a:r>
              <a:rPr lang="en-US" altLang="zh-CN" b="1" dirty="0">
                <a:solidFill>
                  <a:srgbClr val="000000"/>
                </a:solidFill>
                <a:latin typeface="CourierNewPS-BoldMT"/>
              </a:rPr>
              <a:t>);</a:t>
            </a:r>
            <a:r>
              <a:rPr lang="en-US" altLang="zh-CN" dirty="0"/>
              <a:t> </a:t>
            </a:r>
            <a:br>
              <a:rPr lang="en-US" altLang="zh-CN" dirty="0"/>
            </a:br>
            <a:endParaRPr lang="zh-CN" altLang="en-US" dirty="0"/>
          </a:p>
        </p:txBody>
      </p:sp>
    </p:spTree>
    <p:extLst>
      <p:ext uri="{BB962C8B-B14F-4D97-AF65-F5344CB8AC3E}">
        <p14:creationId xmlns:p14="http://schemas.microsoft.com/office/powerpoint/2010/main" val="10918756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 Box 2">
            <a:extLst>
              <a:ext uri="{FF2B5EF4-FFF2-40B4-BE49-F238E27FC236}">
                <a16:creationId xmlns:a16="http://schemas.microsoft.com/office/drawing/2014/main" id="{5E45D778-915B-4070-861F-E0503C7B2061}"/>
              </a:ext>
            </a:extLst>
          </p:cNvPr>
          <p:cNvSpPr txBox="1">
            <a:spLocks noChangeArrowheads="1"/>
          </p:cNvSpPr>
          <p:nvPr/>
        </p:nvSpPr>
        <p:spPr bwMode="auto">
          <a:xfrm>
            <a:off x="922215" y="476251"/>
            <a:ext cx="898378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两态变量</a:t>
            </a:r>
          </a:p>
        </p:txBody>
      </p:sp>
      <p:sp>
        <p:nvSpPr>
          <p:cNvPr id="23555" name="Text Box 3">
            <a:extLst>
              <a:ext uri="{FF2B5EF4-FFF2-40B4-BE49-F238E27FC236}">
                <a16:creationId xmlns:a16="http://schemas.microsoft.com/office/drawing/2014/main" id="{7CA2A267-C48B-48CD-A199-AA73BB14D4FE}"/>
              </a:ext>
            </a:extLst>
          </p:cNvPr>
          <p:cNvSpPr txBox="1">
            <a:spLocks noChangeArrowheads="1"/>
          </p:cNvSpPr>
          <p:nvPr/>
        </p:nvSpPr>
        <p:spPr bwMode="auto">
          <a:xfrm>
            <a:off x="424872" y="1663700"/>
            <a:ext cx="10760364"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spcBef>
                <a:spcPct val="0"/>
              </a:spcBef>
              <a:defRPr kumimoji="1" sz="2400">
                <a:solidFill>
                  <a:schemeClr val="tx1"/>
                </a:solidFill>
                <a:latin typeface="Times New Roman" panose="02020603050405020304" pitchFamily="18" charset="0"/>
                <a:ea typeface="宋体" panose="02010600030101010101" pitchFamily="2" charset="-122"/>
              </a:defRPr>
            </a:lvl1pPr>
            <a:lvl2pPr marL="800100" indent="-342900">
              <a:spcBef>
                <a:spcPct val="0"/>
              </a:spcBef>
              <a:defRPr kumimoji="1" sz="2400">
                <a:solidFill>
                  <a:schemeClr val="tx1"/>
                </a:solidFill>
                <a:latin typeface="Times New Roman" panose="02020603050405020304" pitchFamily="18" charset="0"/>
                <a:ea typeface="宋体" panose="02010600030101010101" pitchFamily="2" charset="-122"/>
              </a:defRPr>
            </a:lvl2pPr>
            <a:lvl3pPr marL="1257300" indent="-342900">
              <a:spcBef>
                <a:spcPct val="0"/>
              </a:spcBef>
              <a:defRPr kumimoji="1" sz="2400">
                <a:solidFill>
                  <a:schemeClr val="tx1"/>
                </a:solidFill>
                <a:latin typeface="Times New Roman" panose="02020603050405020304" pitchFamily="18" charset="0"/>
                <a:ea typeface="宋体" panose="02010600030101010101" pitchFamily="2" charset="-122"/>
              </a:defRPr>
            </a:lvl3pPr>
            <a:lvl4pPr marL="1714500" indent="-342900">
              <a:spcBef>
                <a:spcPct val="0"/>
              </a:spcBef>
              <a:defRPr kumimoji="1" sz="2400">
                <a:solidFill>
                  <a:schemeClr val="tx1"/>
                </a:solidFill>
                <a:latin typeface="Times New Roman" panose="02020603050405020304" pitchFamily="18" charset="0"/>
                <a:ea typeface="宋体" panose="02010600030101010101" pitchFamily="2" charset="-122"/>
              </a:defRPr>
            </a:lvl4pPr>
            <a:lvl5pPr marL="2171700" indent="-342900">
              <a:spcBef>
                <a:spcPct val="0"/>
              </a:spcBef>
              <a:defRPr kumimoji="1" sz="2400">
                <a:solidFill>
                  <a:schemeClr val="tx1"/>
                </a:solidFill>
                <a:latin typeface="Times New Roman" panose="02020603050405020304" pitchFamily="18" charset="0"/>
                <a:ea typeface="宋体" panose="02010600030101010101" pitchFamily="2" charset="-122"/>
              </a:defRPr>
            </a:lvl5pPr>
            <a:lvl6pPr marL="26289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861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5433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000500" indent="-3429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dirty="0">
                <a:solidFill>
                  <a:schemeClr val="accent2"/>
                </a:solidFill>
                <a:latin typeface="Arial" panose="020B0604020202020204" pitchFamily="34" charset="0"/>
              </a:rPr>
              <a:t> </a:t>
            </a:r>
            <a:r>
              <a:rPr lang="zh-CN" altLang="en-US" dirty="0">
                <a:solidFill>
                  <a:srgbClr val="0000FF"/>
                </a:solidFill>
                <a:latin typeface="Arial" panose="020B0604020202020204" pitchFamily="34" charset="0"/>
                <a:ea typeface="+mn-ea"/>
              </a:rPr>
              <a:t>类似</a:t>
            </a:r>
            <a:r>
              <a:rPr lang="en-US" altLang="zh-CN" dirty="0">
                <a:solidFill>
                  <a:srgbClr val="0000FF"/>
                </a:solidFill>
                <a:latin typeface="Arial" panose="020B0604020202020204" pitchFamily="34" charset="0"/>
                <a:ea typeface="+mn-ea"/>
              </a:rPr>
              <a:t>C</a:t>
            </a:r>
            <a:r>
              <a:rPr lang="zh-CN" altLang="en-US" dirty="0">
                <a:solidFill>
                  <a:srgbClr val="0000FF"/>
                </a:solidFill>
                <a:latin typeface="Arial" panose="020B0604020202020204" pitchFamily="34" charset="0"/>
                <a:ea typeface="+mn-ea"/>
              </a:rPr>
              <a:t>语言类型优点：</a:t>
            </a:r>
          </a:p>
          <a:p>
            <a:pPr>
              <a:spcBef>
                <a:spcPct val="50000"/>
              </a:spcBef>
              <a:buFontTx/>
              <a:buAutoNum type="arabicPeriod"/>
            </a:pPr>
            <a:r>
              <a:rPr lang="zh-CN" altLang="en-US" dirty="0">
                <a:solidFill>
                  <a:srgbClr val="0000FF"/>
                </a:solidFill>
                <a:latin typeface="Arial" panose="020B0604020202020204" pitchFamily="34" charset="0"/>
                <a:ea typeface="+mn-ea"/>
              </a:rPr>
              <a:t>类似</a:t>
            </a:r>
            <a:r>
              <a:rPr lang="en-US" altLang="zh-CN" dirty="0">
                <a:solidFill>
                  <a:srgbClr val="0000FF"/>
                </a:solidFill>
                <a:latin typeface="Arial" panose="020B0604020202020204" pitchFamily="34" charset="0"/>
                <a:ea typeface="+mn-ea"/>
              </a:rPr>
              <a:t>C</a:t>
            </a:r>
            <a:r>
              <a:rPr lang="zh-CN" altLang="en-US" dirty="0">
                <a:solidFill>
                  <a:srgbClr val="0000FF"/>
                </a:solidFill>
                <a:latin typeface="Arial" panose="020B0604020202020204" pitchFamily="34" charset="0"/>
                <a:ea typeface="+mn-ea"/>
              </a:rPr>
              <a:t>语言的两态类型如</a:t>
            </a:r>
            <a:r>
              <a:rPr lang="en-US" altLang="zh-CN" dirty="0">
                <a:solidFill>
                  <a:srgbClr val="0000FF"/>
                </a:solidFill>
                <a:latin typeface="Arial" panose="020B0604020202020204" pitchFamily="34" charset="0"/>
                <a:ea typeface="+mn-ea"/>
              </a:rPr>
              <a:t>int</a:t>
            </a:r>
            <a:r>
              <a:rPr lang="zh-CN" altLang="en-US" dirty="0">
                <a:solidFill>
                  <a:srgbClr val="0000FF"/>
                </a:solidFill>
                <a:latin typeface="Arial" panose="020B0604020202020204" pitchFamily="34" charset="0"/>
                <a:ea typeface="+mn-ea"/>
              </a:rPr>
              <a:t>和</a:t>
            </a:r>
            <a:r>
              <a:rPr lang="en-US" altLang="zh-CN" dirty="0">
                <a:solidFill>
                  <a:srgbClr val="0000FF"/>
                </a:solidFill>
                <a:latin typeface="Arial" panose="020B0604020202020204" pitchFamily="34" charset="0"/>
                <a:ea typeface="+mn-ea"/>
              </a:rPr>
              <a:t>byte</a:t>
            </a:r>
            <a:r>
              <a:rPr lang="zh-CN" altLang="en-US" dirty="0">
                <a:solidFill>
                  <a:srgbClr val="0000FF"/>
                </a:solidFill>
                <a:latin typeface="Arial" panose="020B0604020202020204" pitchFamily="34" charset="0"/>
                <a:ea typeface="+mn-ea"/>
              </a:rPr>
              <a:t>，主要用来描述更抽象的总线功能模型，不需要描述硬件细节，如三态总线及可能产生逻辑值</a:t>
            </a:r>
            <a:r>
              <a:rPr lang="en-US" altLang="zh-CN" dirty="0">
                <a:solidFill>
                  <a:srgbClr val="0000FF"/>
                </a:solidFill>
                <a:latin typeface="Arial" panose="020B0604020202020204" pitchFamily="34" charset="0"/>
                <a:ea typeface="+mn-ea"/>
              </a:rPr>
              <a:t>X</a:t>
            </a:r>
            <a:r>
              <a:rPr lang="zh-CN" altLang="en-US" dirty="0">
                <a:solidFill>
                  <a:srgbClr val="0000FF"/>
                </a:solidFill>
                <a:latin typeface="Arial" panose="020B0604020202020204" pitchFamily="34" charset="0"/>
                <a:ea typeface="+mn-ea"/>
              </a:rPr>
              <a:t>的硬件冲突</a:t>
            </a:r>
          </a:p>
          <a:p>
            <a:pPr>
              <a:spcBef>
                <a:spcPct val="50000"/>
              </a:spcBef>
              <a:buFontTx/>
              <a:buAutoNum type="arabicPeriod"/>
            </a:pPr>
            <a:r>
              <a:rPr lang="zh-CN" altLang="en-US" dirty="0">
                <a:solidFill>
                  <a:srgbClr val="0000FF"/>
                </a:solidFill>
                <a:latin typeface="Arial" panose="020B0604020202020204" pitchFamily="34" charset="0"/>
                <a:ea typeface="+mn-ea"/>
              </a:rPr>
              <a:t>易于使用</a:t>
            </a:r>
            <a:r>
              <a:rPr lang="en-US" altLang="zh-CN" dirty="0">
                <a:solidFill>
                  <a:srgbClr val="0000FF"/>
                </a:solidFill>
                <a:latin typeface="Arial" panose="020B0604020202020204" pitchFamily="34" charset="0"/>
                <a:ea typeface="+mn-ea"/>
              </a:rPr>
              <a:t>System Verilog</a:t>
            </a:r>
            <a:r>
              <a:rPr lang="zh-CN" altLang="en-US" dirty="0">
                <a:solidFill>
                  <a:srgbClr val="0000FF"/>
                </a:solidFill>
                <a:latin typeface="Arial" panose="020B0604020202020204" pitchFamily="34" charset="0"/>
                <a:ea typeface="+mn-ea"/>
              </a:rPr>
              <a:t>的直接编程接口（</a:t>
            </a:r>
            <a:r>
              <a:rPr lang="en-US" altLang="zh-CN" dirty="0">
                <a:solidFill>
                  <a:srgbClr val="0000FF"/>
                </a:solidFill>
                <a:latin typeface="Arial" panose="020B0604020202020204" pitchFamily="34" charset="0"/>
                <a:ea typeface="+mn-ea"/>
              </a:rPr>
              <a:t>DPI</a:t>
            </a:r>
            <a:r>
              <a:rPr lang="zh-CN" altLang="en-US" dirty="0">
                <a:solidFill>
                  <a:srgbClr val="0000FF"/>
                </a:solidFill>
                <a:latin typeface="Arial" panose="020B0604020202020204" pitchFamily="34" charset="0"/>
                <a:ea typeface="+mn-ea"/>
              </a:rPr>
              <a:t>），建立</a:t>
            </a:r>
            <a:r>
              <a:rPr lang="en-US" altLang="zh-CN" dirty="0">
                <a:solidFill>
                  <a:srgbClr val="0000FF"/>
                </a:solidFill>
                <a:latin typeface="Arial" panose="020B0604020202020204" pitchFamily="34" charset="0"/>
                <a:ea typeface="+mn-ea"/>
              </a:rPr>
              <a:t>Verilog</a:t>
            </a:r>
            <a:r>
              <a:rPr lang="zh-CN" altLang="en-US" dirty="0">
                <a:solidFill>
                  <a:srgbClr val="0000FF"/>
                </a:solidFill>
                <a:latin typeface="Arial" panose="020B0604020202020204" pitchFamily="34" charset="0"/>
                <a:ea typeface="+mn-ea"/>
              </a:rPr>
              <a:t>到</a:t>
            </a:r>
            <a:r>
              <a:rPr lang="en-US" altLang="zh-CN" dirty="0">
                <a:solidFill>
                  <a:srgbClr val="0000FF"/>
                </a:solidFill>
                <a:latin typeface="Arial" panose="020B0604020202020204" pitchFamily="34" charset="0"/>
                <a:ea typeface="+mn-ea"/>
              </a:rPr>
              <a:t>C</a:t>
            </a:r>
            <a:r>
              <a:rPr lang="zh-CN" altLang="en-US" dirty="0">
                <a:solidFill>
                  <a:srgbClr val="0000FF"/>
                </a:solidFill>
                <a:latin typeface="Arial" panose="020B0604020202020204" pitchFamily="34" charset="0"/>
                <a:ea typeface="+mn-ea"/>
              </a:rPr>
              <a:t>或</a:t>
            </a:r>
            <a:r>
              <a:rPr lang="en-US" altLang="zh-CN" dirty="0">
                <a:solidFill>
                  <a:srgbClr val="0000FF"/>
                </a:solidFill>
                <a:latin typeface="Arial" panose="020B0604020202020204" pitchFamily="34" charset="0"/>
                <a:ea typeface="+mn-ea"/>
              </a:rPr>
              <a:t>C++</a:t>
            </a:r>
            <a:r>
              <a:rPr lang="zh-CN" altLang="en-US" dirty="0">
                <a:solidFill>
                  <a:srgbClr val="0000FF"/>
                </a:solidFill>
                <a:latin typeface="Arial" panose="020B0604020202020204" pitchFamily="34" charset="0"/>
                <a:ea typeface="+mn-ea"/>
              </a:rPr>
              <a:t>的接口，因为数据类型相同，所以数据在两语言间的传递更简单有效</a:t>
            </a:r>
          </a:p>
          <a:p>
            <a:pPr>
              <a:spcBef>
                <a:spcPct val="50000"/>
              </a:spcBef>
              <a:buFontTx/>
              <a:buAutoNum type="arabicPeriod"/>
            </a:pPr>
            <a:r>
              <a:rPr lang="zh-CN" altLang="en-US" dirty="0">
                <a:solidFill>
                  <a:srgbClr val="0000FF"/>
                </a:solidFill>
                <a:latin typeface="Arial" panose="020B0604020202020204" pitchFamily="34" charset="0"/>
                <a:ea typeface="+mn-ea"/>
              </a:rPr>
              <a:t> </a:t>
            </a:r>
            <a:r>
              <a:rPr lang="en-US" altLang="zh-CN" dirty="0">
                <a:solidFill>
                  <a:srgbClr val="0000FF"/>
                </a:solidFill>
                <a:latin typeface="Arial" panose="020B0604020202020204" pitchFamily="34" charset="0"/>
                <a:ea typeface="+mn-ea"/>
              </a:rPr>
              <a:t>for </a:t>
            </a:r>
            <a:r>
              <a:rPr lang="zh-CN" altLang="en-US" dirty="0">
                <a:solidFill>
                  <a:srgbClr val="0000FF"/>
                </a:solidFill>
                <a:latin typeface="Arial" panose="020B0604020202020204" pitchFamily="34" charset="0"/>
                <a:ea typeface="+mn-ea"/>
              </a:rPr>
              <a:t>语句中的循环变量，综合后就消失了，</a:t>
            </a:r>
            <a:r>
              <a:rPr lang="en-US" altLang="zh-CN" dirty="0">
                <a:solidFill>
                  <a:srgbClr val="0000FF"/>
                </a:solidFill>
                <a:latin typeface="Arial" panose="020B0604020202020204" pitchFamily="34" charset="0"/>
                <a:ea typeface="+mn-ea"/>
              </a:rPr>
              <a:t>int</a:t>
            </a:r>
            <a:r>
              <a:rPr lang="zh-CN" altLang="en-US" dirty="0">
                <a:solidFill>
                  <a:srgbClr val="0000FF"/>
                </a:solidFill>
                <a:latin typeface="Arial" panose="020B0604020202020204" pitchFamily="34" charset="0"/>
                <a:ea typeface="+mn-ea"/>
              </a:rPr>
              <a:t>类型是一个很好的选择</a:t>
            </a:r>
          </a:p>
        </p:txBody>
      </p:sp>
      <p:sp>
        <p:nvSpPr>
          <p:cNvPr id="2" name="矩形 1">
            <a:extLst>
              <a:ext uri="{FF2B5EF4-FFF2-40B4-BE49-F238E27FC236}">
                <a16:creationId xmlns:a16="http://schemas.microsoft.com/office/drawing/2014/main" id="{45C5A77F-2AD1-4BAC-A45D-65137017FD23}"/>
              </a:ext>
            </a:extLst>
          </p:cNvPr>
          <p:cNvSpPr/>
          <p:nvPr/>
        </p:nvSpPr>
        <p:spPr>
          <a:xfrm>
            <a:off x="424872" y="4701308"/>
            <a:ext cx="7509163" cy="1938992"/>
          </a:xfrm>
          <a:prstGeom prst="rect">
            <a:avLst/>
          </a:prstGeom>
        </p:spPr>
        <p:txBody>
          <a:bodyPr wrap="square">
            <a:spAutoFit/>
          </a:bodyPr>
          <a:lstStyle/>
          <a:p>
            <a:r>
              <a:rPr lang="en-US" altLang="zh-CN" sz="2400" dirty="0" err="1">
                <a:solidFill>
                  <a:schemeClr val="accent2"/>
                </a:solidFill>
              </a:rPr>
              <a:t>SystemVerilog</a:t>
            </a:r>
            <a:r>
              <a:rPr lang="zh-CN" altLang="en-US" sz="2400" dirty="0">
                <a:solidFill>
                  <a:schemeClr val="accent2"/>
                </a:solidFill>
              </a:rPr>
              <a:t>新增加的两态类型可用于设计抽象建模，提高仿真速度</a:t>
            </a:r>
            <a:r>
              <a:rPr lang="en-US" altLang="zh-CN" sz="2400" dirty="0">
                <a:solidFill>
                  <a:schemeClr val="accent2"/>
                </a:solidFill>
              </a:rPr>
              <a:t>;</a:t>
            </a:r>
          </a:p>
          <a:p>
            <a:endParaRPr lang="en-US" altLang="zh-CN" sz="2400" dirty="0">
              <a:solidFill>
                <a:schemeClr val="accent2"/>
              </a:solidFill>
            </a:endParaRPr>
          </a:p>
          <a:p>
            <a:r>
              <a:rPr kumimoji="1" lang="en-US" altLang="zh-CN" sz="2400" dirty="0">
                <a:solidFill>
                  <a:srgbClr val="0000FF"/>
                </a:solidFill>
                <a:latin typeface="Arial" panose="020B0604020202020204" pitchFamily="34" charset="0"/>
              </a:rPr>
              <a:t>System Verilog</a:t>
            </a:r>
            <a:r>
              <a:rPr kumimoji="1" lang="zh-CN" altLang="en-US" sz="2400" dirty="0">
                <a:solidFill>
                  <a:srgbClr val="0000FF"/>
                </a:solidFill>
                <a:latin typeface="Arial" panose="020B0604020202020204" pitchFamily="34" charset="0"/>
              </a:rPr>
              <a:t>允许给一个两态类型赋四态值，其映射关系如下：</a:t>
            </a:r>
          </a:p>
        </p:txBody>
      </p:sp>
      <p:graphicFrame>
        <p:nvGraphicFramePr>
          <p:cNvPr id="5" name="Group 5">
            <a:extLst>
              <a:ext uri="{FF2B5EF4-FFF2-40B4-BE49-F238E27FC236}">
                <a16:creationId xmlns:a16="http://schemas.microsoft.com/office/drawing/2014/main" id="{D4BCF410-F01D-4F84-82EA-D1836422B34B}"/>
              </a:ext>
            </a:extLst>
          </p:cNvPr>
          <p:cNvGraphicFramePr>
            <a:graphicFrameLocks noGrp="1"/>
          </p:cNvGraphicFramePr>
          <p:nvPr>
            <p:extLst>
              <p:ext uri="{D42A27DB-BD31-4B8C-83A1-F6EECF244321}">
                <p14:modId xmlns:p14="http://schemas.microsoft.com/office/powerpoint/2010/main" val="139443924"/>
              </p:ext>
            </p:extLst>
          </p:nvPr>
        </p:nvGraphicFramePr>
        <p:xfrm>
          <a:off x="8146472" y="4572000"/>
          <a:ext cx="3404229" cy="1981200"/>
        </p:xfrm>
        <a:graphic>
          <a:graphicData uri="http://schemas.openxmlformats.org/drawingml/2006/table">
            <a:tbl>
              <a:tblPr/>
              <a:tblGrid>
                <a:gridCol w="1571182">
                  <a:extLst>
                    <a:ext uri="{9D8B030D-6E8A-4147-A177-3AD203B41FA5}">
                      <a16:colId xmlns:a16="http://schemas.microsoft.com/office/drawing/2014/main" val="1178534283"/>
                    </a:ext>
                  </a:extLst>
                </a:gridCol>
                <a:gridCol w="1833047">
                  <a:extLst>
                    <a:ext uri="{9D8B030D-6E8A-4147-A177-3AD203B41FA5}">
                      <a16:colId xmlns:a16="http://schemas.microsoft.com/office/drawing/2014/main" val="1984931721"/>
                    </a:ext>
                  </a:extLst>
                </a:gridCol>
              </a:tblGrid>
              <a:tr h="321834">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四态值</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转换为二态值</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5237823"/>
                  </a:ext>
                </a:extLst>
              </a:tr>
              <a:tr h="321834">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55688233"/>
                  </a:ext>
                </a:extLst>
              </a:tr>
              <a:tr h="321834">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07183992"/>
                  </a:ext>
                </a:extLst>
              </a:tr>
              <a:tr h="321834">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Z</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1473410"/>
                  </a:ext>
                </a:extLst>
              </a:tr>
              <a:tr h="321834">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X</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0869618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2">
            <a:extLst>
              <a:ext uri="{FF2B5EF4-FFF2-40B4-BE49-F238E27FC236}">
                <a16:creationId xmlns:a16="http://schemas.microsoft.com/office/drawing/2014/main" id="{0BFAF648-B7A6-41E2-B5D1-F743AB010A6F}"/>
              </a:ext>
            </a:extLst>
          </p:cNvPr>
          <p:cNvSpPr txBox="1">
            <a:spLocks noChangeArrowheads="1"/>
          </p:cNvSpPr>
          <p:nvPr/>
        </p:nvSpPr>
        <p:spPr bwMode="auto">
          <a:xfrm>
            <a:off x="424873" y="278173"/>
            <a:ext cx="94996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静态变量和自动变量</a:t>
            </a:r>
          </a:p>
        </p:txBody>
      </p:sp>
      <p:sp>
        <p:nvSpPr>
          <p:cNvPr id="46083" name="Text Box 3">
            <a:extLst>
              <a:ext uri="{FF2B5EF4-FFF2-40B4-BE49-F238E27FC236}">
                <a16:creationId xmlns:a16="http://schemas.microsoft.com/office/drawing/2014/main" id="{B0785288-CBAF-4E2E-9B7D-1959196D926A}"/>
              </a:ext>
            </a:extLst>
          </p:cNvPr>
          <p:cNvSpPr txBox="1">
            <a:spLocks noChangeArrowheads="1"/>
          </p:cNvSpPr>
          <p:nvPr/>
        </p:nvSpPr>
        <p:spPr bwMode="auto">
          <a:xfrm>
            <a:off x="166256" y="1219200"/>
            <a:ext cx="11877962"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10000"/>
              </a:spcBef>
              <a:buFont typeface="Arial" panose="020B0604020202020204" pitchFamily="34" charset="0"/>
              <a:buChar char="•"/>
            </a:pPr>
            <a:r>
              <a:rPr kumimoji="1" lang="en-US" altLang="zh-CN" sz="2400" dirty="0">
                <a:solidFill>
                  <a:srgbClr val="0000FF"/>
                </a:solidFill>
                <a:latin typeface="Arial" panose="020B0604020202020204" pitchFamily="34" charset="0"/>
              </a:rPr>
              <a:t> System Verilog</a:t>
            </a:r>
            <a:r>
              <a:rPr kumimoji="1" lang="zh-CN" altLang="en-US" sz="2400" dirty="0">
                <a:solidFill>
                  <a:srgbClr val="0000FF"/>
                </a:solidFill>
                <a:latin typeface="Arial" panose="020B0604020202020204" pitchFamily="34" charset="0"/>
              </a:rPr>
              <a:t>增加了关键字</a:t>
            </a:r>
            <a:r>
              <a:rPr kumimoji="1" lang="en-US" altLang="zh-CN" sz="2400" dirty="0">
                <a:solidFill>
                  <a:srgbClr val="0000FF"/>
                </a:solidFill>
                <a:latin typeface="Arial" panose="020B0604020202020204" pitchFamily="34" charset="0"/>
              </a:rPr>
              <a:t>static</a:t>
            </a:r>
            <a:r>
              <a:rPr kumimoji="1" lang="zh-CN" altLang="en-US" sz="2400" dirty="0">
                <a:solidFill>
                  <a:srgbClr val="0000FF"/>
                </a:solidFill>
                <a:latin typeface="Arial" panose="020B0604020202020204" pitchFamily="34" charset="0"/>
              </a:rPr>
              <a:t>，允许任何变量显式被声明为</a:t>
            </a:r>
            <a:r>
              <a:rPr kumimoji="1" lang="en-US" altLang="zh-CN" sz="2400" dirty="0">
                <a:solidFill>
                  <a:srgbClr val="0000FF"/>
                </a:solidFill>
                <a:latin typeface="Arial" panose="020B0604020202020204" pitchFamily="34" charset="0"/>
              </a:rPr>
              <a:t>static</a:t>
            </a:r>
            <a:r>
              <a:rPr kumimoji="1" lang="zh-CN" altLang="en-US" sz="2400" dirty="0">
                <a:solidFill>
                  <a:srgbClr val="0000FF"/>
                </a:solidFill>
                <a:latin typeface="Arial" panose="020B0604020202020204" pitchFamily="34" charset="0"/>
              </a:rPr>
              <a:t>或</a:t>
            </a:r>
            <a:r>
              <a:rPr kumimoji="1" lang="en-US" altLang="zh-CN" sz="2400" dirty="0">
                <a:solidFill>
                  <a:srgbClr val="0000FF"/>
                </a:solidFill>
                <a:latin typeface="Arial" panose="020B0604020202020204" pitchFamily="34" charset="0"/>
              </a:rPr>
              <a:t>automatic</a:t>
            </a:r>
            <a:r>
              <a:rPr kumimoji="1" lang="zh-CN" altLang="en-US" sz="2400" dirty="0">
                <a:solidFill>
                  <a:srgbClr val="0000FF"/>
                </a:solidFill>
                <a:latin typeface="Arial" panose="020B0604020202020204" pitchFamily="34" charset="0"/>
              </a:rPr>
              <a:t>；</a:t>
            </a:r>
            <a:endParaRPr kumimoji="1" lang="en-US" altLang="zh-CN" sz="2400" dirty="0">
              <a:solidFill>
                <a:srgbClr val="0000FF"/>
              </a:solidFill>
              <a:latin typeface="Arial" panose="020B0604020202020204" pitchFamily="34" charset="0"/>
            </a:endParaRPr>
          </a:p>
          <a:p>
            <a:pPr marL="342900" indent="-342900">
              <a:spcBef>
                <a:spcPct val="10000"/>
              </a:spcBef>
              <a:buFont typeface="Arial" panose="020B0604020202020204" pitchFamily="34" charset="0"/>
              <a:buChar char="•"/>
            </a:pPr>
            <a:r>
              <a:rPr kumimoji="1" lang="zh-CN" altLang="en-US" sz="2400" dirty="0">
                <a:solidFill>
                  <a:srgbClr val="0000FF"/>
                </a:solidFill>
                <a:latin typeface="Arial" panose="020B0604020202020204" pitchFamily="34" charset="0"/>
              </a:rPr>
              <a:t>自动</a:t>
            </a:r>
            <a:r>
              <a:rPr kumimoji="1" lang="en-US" altLang="zh-CN" sz="2400" dirty="0">
                <a:solidFill>
                  <a:srgbClr val="0000FF"/>
                </a:solidFill>
                <a:latin typeface="Arial" panose="020B0604020202020204" pitchFamily="34" charset="0"/>
              </a:rPr>
              <a:t>(automatic)</a:t>
            </a:r>
            <a:r>
              <a:rPr kumimoji="1" lang="zh-CN" altLang="en-US" sz="2400" dirty="0">
                <a:solidFill>
                  <a:srgbClr val="0000FF"/>
                </a:solidFill>
                <a:latin typeface="Arial" panose="020B0604020202020204" pitchFamily="34" charset="0"/>
              </a:rPr>
              <a:t>变量特点是其存储区在需要时由软件工具动态分配，不需要时被释放（从</a:t>
            </a:r>
            <a:r>
              <a:rPr kumimoji="1" lang="en-US" altLang="zh-CN" sz="2400" dirty="0">
                <a:solidFill>
                  <a:srgbClr val="0000FF"/>
                </a:solidFill>
                <a:latin typeface="Arial" panose="020B0604020202020204" pitchFamily="34" charset="0"/>
              </a:rPr>
              <a:t>Verilog-2001</a:t>
            </a:r>
            <a:r>
              <a:rPr kumimoji="1" lang="zh-CN" altLang="en-US" sz="2400" dirty="0">
                <a:solidFill>
                  <a:srgbClr val="0000FF"/>
                </a:solidFill>
                <a:latin typeface="Arial" panose="020B0604020202020204" pitchFamily="34" charset="0"/>
              </a:rPr>
              <a:t>开始引入）</a:t>
            </a:r>
            <a:endParaRPr kumimoji="1" lang="en-US" altLang="zh-CN" sz="2400" dirty="0">
              <a:solidFill>
                <a:srgbClr val="0000FF"/>
              </a:solidFill>
              <a:latin typeface="Arial" panose="020B0604020202020204" pitchFamily="34" charset="0"/>
            </a:endParaRPr>
          </a:p>
          <a:p>
            <a:pPr marL="342900" indent="-342900">
              <a:spcBef>
                <a:spcPct val="10000"/>
              </a:spcBef>
              <a:buFont typeface="Arial" panose="020B0604020202020204" pitchFamily="34" charset="0"/>
              <a:buChar char="•"/>
            </a:pPr>
            <a:r>
              <a:rPr kumimoji="1" lang="en-US" altLang="zh-CN" sz="2400" dirty="0">
                <a:solidFill>
                  <a:srgbClr val="0000FF"/>
                </a:solidFill>
                <a:latin typeface="Arial" panose="020B0604020202020204" pitchFamily="34" charset="0"/>
              </a:rPr>
              <a:t> </a:t>
            </a:r>
            <a:r>
              <a:rPr kumimoji="1" lang="zh-CN" altLang="en-US" sz="2400" dirty="0">
                <a:solidFill>
                  <a:srgbClr val="0000FF"/>
                </a:solidFill>
                <a:latin typeface="Arial" panose="020B0604020202020204" pitchFamily="34" charset="0"/>
              </a:rPr>
              <a:t>变量声明可以出现在任务、函数、</a:t>
            </a:r>
            <a:r>
              <a:rPr kumimoji="1" lang="en-US" altLang="zh-CN" sz="2400" dirty="0">
                <a:solidFill>
                  <a:srgbClr val="0000FF"/>
                </a:solidFill>
                <a:latin typeface="Arial" panose="020B0604020202020204" pitchFamily="34" charset="0"/>
              </a:rPr>
              <a:t>begin…end</a:t>
            </a:r>
            <a:r>
              <a:rPr kumimoji="1" lang="zh-CN" altLang="en-US" sz="2400" dirty="0">
                <a:solidFill>
                  <a:srgbClr val="0000FF"/>
                </a:solidFill>
                <a:latin typeface="Arial" panose="020B0604020202020204" pitchFamily="34" charset="0"/>
              </a:rPr>
              <a:t>块或</a:t>
            </a:r>
            <a:r>
              <a:rPr kumimoji="1" lang="en-US" altLang="zh-CN" sz="2400" dirty="0">
                <a:solidFill>
                  <a:srgbClr val="0000FF"/>
                </a:solidFill>
                <a:latin typeface="Arial" panose="020B0604020202020204" pitchFamily="34" charset="0"/>
              </a:rPr>
              <a:t>fork…join</a:t>
            </a:r>
            <a:r>
              <a:rPr kumimoji="1" lang="zh-CN" altLang="en-US" sz="2400" dirty="0">
                <a:solidFill>
                  <a:srgbClr val="0000FF"/>
                </a:solidFill>
                <a:latin typeface="Arial" panose="020B0604020202020204" pitchFamily="34" charset="0"/>
              </a:rPr>
              <a:t>块中；</a:t>
            </a:r>
            <a:endParaRPr kumimoji="1" lang="en-US" altLang="zh-CN" sz="2400" dirty="0">
              <a:solidFill>
                <a:schemeClr val="bg2">
                  <a:lumMod val="50000"/>
                </a:schemeClr>
              </a:solidFill>
              <a:latin typeface="Arial" panose="020B0604020202020204" pitchFamily="34" charset="0"/>
            </a:endParaRPr>
          </a:p>
        </p:txBody>
      </p:sp>
      <p:sp>
        <p:nvSpPr>
          <p:cNvPr id="2" name="矩形 1">
            <a:extLst>
              <a:ext uri="{FF2B5EF4-FFF2-40B4-BE49-F238E27FC236}">
                <a16:creationId xmlns:a16="http://schemas.microsoft.com/office/drawing/2014/main" id="{BBC3DD84-86D3-4C94-97AC-829A0439479F}"/>
              </a:ext>
            </a:extLst>
          </p:cNvPr>
          <p:cNvSpPr/>
          <p:nvPr/>
        </p:nvSpPr>
        <p:spPr>
          <a:xfrm>
            <a:off x="7093528" y="3086563"/>
            <a:ext cx="4950690" cy="3108543"/>
          </a:xfrm>
          <a:prstGeom prst="rect">
            <a:avLst/>
          </a:prstGeom>
        </p:spPr>
        <p:txBody>
          <a:bodyPr wrap="square">
            <a:spAutoFit/>
          </a:bodyPr>
          <a:lstStyle/>
          <a:p>
            <a:pPr>
              <a:spcBef>
                <a:spcPct val="10000"/>
              </a:spcBef>
            </a:pPr>
            <a:r>
              <a:rPr kumimoji="1" lang="en-US" altLang="zh-CN" sz="2000" dirty="0">
                <a:solidFill>
                  <a:schemeClr val="accent1"/>
                </a:solidFill>
                <a:latin typeface="Arial" panose="020B0604020202020204" pitchFamily="34" charset="0"/>
              </a:rPr>
              <a:t>function int </a:t>
            </a:r>
            <a:r>
              <a:rPr kumimoji="1" lang="en-US" altLang="zh-CN" sz="2000" dirty="0" err="1">
                <a:solidFill>
                  <a:schemeClr val="accent1"/>
                </a:solidFill>
                <a:latin typeface="Arial" panose="020B0604020202020204" pitchFamily="34" charset="0"/>
              </a:rPr>
              <a:t>count_ones</a:t>
            </a:r>
            <a:r>
              <a:rPr kumimoji="1" lang="en-US" altLang="zh-CN" sz="2000" dirty="0">
                <a:solidFill>
                  <a:schemeClr val="accent1"/>
                </a:solidFill>
                <a:latin typeface="Arial" panose="020B0604020202020204" pitchFamily="34" charset="0"/>
              </a:rPr>
              <a:t>(input [31 : 0] data);</a:t>
            </a:r>
          </a:p>
          <a:p>
            <a:pPr>
              <a:spcBef>
                <a:spcPct val="10000"/>
              </a:spcBef>
            </a:pPr>
            <a:r>
              <a:rPr kumimoji="1" lang="en-US" altLang="zh-CN" sz="2000" dirty="0">
                <a:solidFill>
                  <a:schemeClr val="accent1"/>
                </a:solidFill>
                <a:latin typeface="Arial" panose="020B0604020202020204" pitchFamily="34" charset="0"/>
              </a:rPr>
              <a:t>     automatic logic [31 : 0] count = 0;</a:t>
            </a:r>
          </a:p>
          <a:p>
            <a:pPr>
              <a:spcBef>
                <a:spcPct val="10000"/>
              </a:spcBef>
            </a:pPr>
            <a:r>
              <a:rPr kumimoji="1" lang="en-US" altLang="zh-CN" sz="2000" dirty="0">
                <a:solidFill>
                  <a:schemeClr val="accent1"/>
                </a:solidFill>
                <a:latin typeface="Arial" panose="020B0604020202020204" pitchFamily="34" charset="0"/>
              </a:rPr>
              <a:t>     automatic logic [31 : 0] temp = data;</a:t>
            </a:r>
          </a:p>
          <a:p>
            <a:pPr>
              <a:spcBef>
                <a:spcPct val="10000"/>
              </a:spcBef>
            </a:pPr>
            <a:r>
              <a:rPr kumimoji="1" lang="en-US" altLang="zh-CN" sz="2000" dirty="0">
                <a:solidFill>
                  <a:schemeClr val="accent1"/>
                </a:solidFill>
                <a:latin typeface="Arial" panose="020B0604020202020204" pitchFamily="34" charset="0"/>
              </a:rPr>
              <a:t>     for (int j = 0; j &lt;= 31; j ++) begin</a:t>
            </a:r>
          </a:p>
          <a:p>
            <a:pPr>
              <a:spcBef>
                <a:spcPct val="10000"/>
              </a:spcBef>
            </a:pPr>
            <a:r>
              <a:rPr kumimoji="1" lang="en-US" altLang="zh-CN" sz="2000" dirty="0">
                <a:solidFill>
                  <a:schemeClr val="accent1"/>
                </a:solidFill>
                <a:latin typeface="Arial" panose="020B0604020202020204" pitchFamily="34" charset="0"/>
              </a:rPr>
              <a:t>         if (temp[0]) count ++;</a:t>
            </a:r>
          </a:p>
          <a:p>
            <a:pPr>
              <a:spcBef>
                <a:spcPct val="10000"/>
              </a:spcBef>
            </a:pPr>
            <a:r>
              <a:rPr kumimoji="1" lang="en-US" altLang="zh-CN" sz="2000" dirty="0">
                <a:solidFill>
                  <a:schemeClr val="accent1"/>
                </a:solidFill>
                <a:latin typeface="Arial" panose="020B0604020202020204" pitchFamily="34" charset="0"/>
              </a:rPr>
              <a:t>         temp &gt;&gt; = 1;</a:t>
            </a:r>
          </a:p>
          <a:p>
            <a:pPr>
              <a:spcBef>
                <a:spcPct val="10000"/>
              </a:spcBef>
            </a:pPr>
            <a:r>
              <a:rPr kumimoji="1" lang="en-US" altLang="zh-CN" sz="2000" dirty="0">
                <a:solidFill>
                  <a:schemeClr val="accent1"/>
                </a:solidFill>
                <a:latin typeface="Arial" panose="020B0604020202020204" pitchFamily="34" charset="0"/>
              </a:rPr>
              <a:t>     end</a:t>
            </a:r>
          </a:p>
          <a:p>
            <a:pPr>
              <a:spcBef>
                <a:spcPct val="10000"/>
              </a:spcBef>
            </a:pPr>
            <a:r>
              <a:rPr kumimoji="1" lang="en-US" altLang="zh-CN" sz="2000" dirty="0">
                <a:solidFill>
                  <a:schemeClr val="accent1"/>
                </a:solidFill>
                <a:latin typeface="Arial" panose="020B0604020202020204" pitchFamily="34" charset="0"/>
              </a:rPr>
              <a:t>     return count;</a:t>
            </a:r>
          </a:p>
          <a:p>
            <a:pPr>
              <a:spcBef>
                <a:spcPct val="10000"/>
              </a:spcBef>
            </a:pPr>
            <a:r>
              <a:rPr kumimoji="1" lang="en-US" altLang="zh-CN" sz="2000" dirty="0">
                <a:solidFill>
                  <a:schemeClr val="accent1"/>
                </a:solidFill>
                <a:latin typeface="Arial" panose="020B0604020202020204" pitchFamily="34" charset="0"/>
              </a:rPr>
              <a:t> </a:t>
            </a:r>
            <a:r>
              <a:rPr kumimoji="1" lang="en-US" altLang="zh-CN" sz="2000" dirty="0" err="1">
                <a:solidFill>
                  <a:schemeClr val="accent1"/>
                </a:solidFill>
                <a:latin typeface="Arial" panose="020B0604020202020204" pitchFamily="34" charset="0"/>
              </a:rPr>
              <a:t>endfunction</a:t>
            </a:r>
            <a:r>
              <a:rPr kumimoji="1" lang="en-US" altLang="zh-CN" sz="2000" dirty="0">
                <a:solidFill>
                  <a:schemeClr val="accent1"/>
                </a:solidFill>
                <a:latin typeface="Arial" panose="020B0604020202020204" pitchFamily="34" charset="0"/>
              </a:rPr>
              <a:t> </a:t>
            </a:r>
            <a:endParaRPr lang="zh-CN" altLang="en-US" sz="2000" dirty="0">
              <a:solidFill>
                <a:schemeClr val="accent1"/>
              </a:solidFill>
            </a:endParaRPr>
          </a:p>
        </p:txBody>
      </p:sp>
      <p:sp>
        <p:nvSpPr>
          <p:cNvPr id="5" name="Text Box 3">
            <a:extLst>
              <a:ext uri="{FF2B5EF4-FFF2-40B4-BE49-F238E27FC236}">
                <a16:creationId xmlns:a16="http://schemas.microsoft.com/office/drawing/2014/main" id="{52954146-D6C0-4F92-B9D2-AE4C01323A78}"/>
              </a:ext>
            </a:extLst>
          </p:cNvPr>
          <p:cNvSpPr txBox="1">
            <a:spLocks noChangeArrowheads="1"/>
          </p:cNvSpPr>
          <p:nvPr/>
        </p:nvSpPr>
        <p:spPr bwMode="auto">
          <a:xfrm>
            <a:off x="166256" y="3172691"/>
            <a:ext cx="7167417" cy="2757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10000"/>
              </a:spcBef>
              <a:buFont typeface="Arial" panose="020B0604020202020204" pitchFamily="34" charset="0"/>
              <a:buChar char="•"/>
            </a:pPr>
            <a:r>
              <a:rPr lang="en-US" altLang="zh-CN" sz="2400" dirty="0">
                <a:solidFill>
                  <a:srgbClr val="FF0000"/>
                </a:solidFill>
              </a:rPr>
              <a:t>module</a:t>
            </a:r>
            <a:r>
              <a:rPr lang="zh-CN" altLang="en-US" sz="2400" dirty="0">
                <a:solidFill>
                  <a:srgbClr val="FF0000"/>
                </a:solidFill>
              </a:rPr>
              <a:t>级的所有变量都是静态的！</a:t>
            </a:r>
            <a:r>
              <a:rPr lang="zh-CN" altLang="en-US" sz="2400" dirty="0">
                <a:solidFill>
                  <a:schemeClr val="accent2"/>
                </a:solidFill>
              </a:rPr>
              <a:t> </a:t>
            </a:r>
            <a:endParaRPr lang="en-US" altLang="zh-CN" sz="2400" dirty="0">
              <a:solidFill>
                <a:schemeClr val="accent2"/>
              </a:solidFill>
            </a:endParaRPr>
          </a:p>
          <a:p>
            <a:pPr marL="342900" indent="-342900">
              <a:spcBef>
                <a:spcPct val="10000"/>
              </a:spcBef>
              <a:buFont typeface="Arial" panose="020B0604020202020204" pitchFamily="34" charset="0"/>
              <a:buChar char="•"/>
            </a:pPr>
            <a:r>
              <a:rPr lang="zh-CN" altLang="en-US" sz="2400" dirty="0">
                <a:solidFill>
                  <a:schemeClr val="accent2"/>
                </a:solidFill>
              </a:rPr>
              <a:t>在模块、任务、函数中声明的变量可以有内嵌初始值，静态变量只初始化一次，自动变量每次调用时都初始化</a:t>
            </a:r>
            <a:endParaRPr lang="en-US" altLang="zh-CN" sz="2400" dirty="0">
              <a:solidFill>
                <a:schemeClr val="accent2"/>
              </a:solidFill>
            </a:endParaRPr>
          </a:p>
          <a:p>
            <a:pPr marL="342900" indent="-342900">
              <a:spcBef>
                <a:spcPct val="10000"/>
              </a:spcBef>
              <a:buFont typeface="Arial" panose="020B0604020202020204" pitchFamily="34" charset="0"/>
              <a:buChar char="•"/>
            </a:pPr>
            <a:r>
              <a:rPr lang="zh-CN" altLang="en-US" sz="2000" dirty="0">
                <a:solidFill>
                  <a:srgbClr val="CC0000"/>
                </a:solidFill>
              </a:rPr>
              <a:t>静态变量初始化是不可综合的，动态变量初始化是可综合的！</a:t>
            </a:r>
            <a:endParaRPr lang="zh-CN" altLang="en-US" sz="2000" dirty="0"/>
          </a:p>
          <a:p>
            <a:pPr marL="342900" indent="-342900">
              <a:spcBef>
                <a:spcPct val="10000"/>
              </a:spcBef>
              <a:buFont typeface="Arial" panose="020B0604020202020204" pitchFamily="34" charset="0"/>
              <a:buChar char="•"/>
            </a:pPr>
            <a:endParaRPr lang="zh-CN" altLang="en-US" sz="2400" dirty="0">
              <a:solidFill>
                <a:schemeClr val="accent2"/>
              </a:solidFill>
            </a:endParaRPr>
          </a:p>
          <a:p>
            <a:pPr>
              <a:spcBef>
                <a:spcPct val="10000"/>
              </a:spcBef>
            </a:pPr>
            <a:r>
              <a:rPr lang="zh-CN" altLang="en-US" sz="2400" dirty="0">
                <a:solidFill>
                  <a:schemeClr val="accent2"/>
                </a:solidFill>
              </a:rPr>
              <a:t> </a:t>
            </a:r>
            <a:endParaRPr kumimoji="1" lang="en-US" altLang="zh-CN" sz="2400" dirty="0">
              <a:solidFill>
                <a:schemeClr val="bg2">
                  <a:lumMod val="50000"/>
                </a:schemeClr>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2">
            <a:extLst>
              <a:ext uri="{FF2B5EF4-FFF2-40B4-BE49-F238E27FC236}">
                <a16:creationId xmlns:a16="http://schemas.microsoft.com/office/drawing/2014/main" id="{3F1EC288-BDFD-4190-B62E-BA5DA04267E7}"/>
              </a:ext>
            </a:extLst>
          </p:cNvPr>
          <p:cNvSpPr txBox="1">
            <a:spLocks noChangeArrowheads="1"/>
          </p:cNvSpPr>
          <p:nvPr/>
        </p:nvSpPr>
        <p:spPr bwMode="auto">
          <a:xfrm>
            <a:off x="230909" y="193965"/>
            <a:ext cx="10658764"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用户自定义类型 </a:t>
            </a:r>
            <a:r>
              <a:rPr lang="en-US" altLang="zh-CN" sz="4400" dirty="0">
                <a:solidFill>
                  <a:srgbClr val="000066"/>
                </a:solidFill>
                <a:latin typeface="Arial" panose="020B0604020202020204" pitchFamily="34" charset="0"/>
              </a:rPr>
              <a:t>typedef</a:t>
            </a:r>
            <a:endParaRPr lang="zh-CN" altLang="en-US" sz="4400" dirty="0">
              <a:solidFill>
                <a:srgbClr val="000066"/>
              </a:solidFill>
              <a:latin typeface="Arial" panose="020B0604020202020204" pitchFamily="34" charset="0"/>
            </a:endParaRPr>
          </a:p>
        </p:txBody>
      </p:sp>
      <p:sp>
        <p:nvSpPr>
          <p:cNvPr id="70659" name="Text Box 3">
            <a:extLst>
              <a:ext uri="{FF2B5EF4-FFF2-40B4-BE49-F238E27FC236}">
                <a16:creationId xmlns:a16="http://schemas.microsoft.com/office/drawing/2014/main" id="{B31BF3CB-23D8-400F-8BD7-38B7B2381D74}"/>
              </a:ext>
            </a:extLst>
          </p:cNvPr>
          <p:cNvSpPr txBox="1">
            <a:spLocks noChangeArrowheads="1"/>
          </p:cNvSpPr>
          <p:nvPr/>
        </p:nvSpPr>
        <p:spPr bwMode="auto">
          <a:xfrm>
            <a:off x="535709" y="1268414"/>
            <a:ext cx="10871200" cy="3877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en-US" altLang="zh-CN" sz="2400" dirty="0">
                <a:solidFill>
                  <a:srgbClr val="0000FF"/>
                </a:solidFill>
                <a:latin typeface="Arial" panose="020B0604020202020204" pitchFamily="34" charset="0"/>
              </a:rPr>
              <a:t>Verilog</a:t>
            </a:r>
            <a:r>
              <a:rPr kumimoji="1" lang="zh-CN" altLang="en-US" sz="2400" dirty="0">
                <a:solidFill>
                  <a:srgbClr val="0000FF"/>
                </a:solidFill>
                <a:latin typeface="Arial" panose="020B0604020202020204" pitchFamily="34" charset="0"/>
              </a:rPr>
              <a:t>没有提供用户自行扩展语言变量和线网类型机制，其数据类型主要用于</a:t>
            </a:r>
            <a:r>
              <a:rPr kumimoji="1" lang="en-US" altLang="zh-CN" sz="2400" dirty="0">
                <a:solidFill>
                  <a:srgbClr val="0000FF"/>
                </a:solidFill>
                <a:latin typeface="Arial" panose="020B0604020202020204" pitchFamily="34" charset="0"/>
              </a:rPr>
              <a:t>RTL</a:t>
            </a:r>
            <a:r>
              <a:rPr kumimoji="1" lang="zh-CN" altLang="en-US" sz="2400" dirty="0">
                <a:solidFill>
                  <a:srgbClr val="0000FF"/>
                </a:solidFill>
                <a:latin typeface="Arial" panose="020B0604020202020204" pitchFamily="34" charset="0"/>
              </a:rPr>
              <a:t>和门级建模；</a:t>
            </a:r>
            <a:endParaRPr kumimoji="1" lang="en-US" altLang="zh-CN" sz="2400" dirty="0">
              <a:solidFill>
                <a:srgbClr val="0000FF"/>
              </a:solidFill>
              <a:latin typeface="Arial" panose="020B0604020202020204" pitchFamily="34" charset="0"/>
            </a:endParaRPr>
          </a:p>
          <a:p>
            <a:pPr>
              <a:spcBef>
                <a:spcPct val="50000"/>
              </a:spcBef>
            </a:pPr>
            <a:r>
              <a:rPr kumimoji="1" lang="en-US" altLang="zh-CN" sz="2400" dirty="0" err="1">
                <a:solidFill>
                  <a:srgbClr val="0000FF"/>
                </a:solidFill>
                <a:latin typeface="Arial" panose="020B0604020202020204" pitchFamily="34" charset="0"/>
              </a:rPr>
              <a:t>SystemVerilog</a:t>
            </a:r>
            <a:r>
              <a:rPr kumimoji="1" lang="zh-CN" altLang="en-US" sz="2400" dirty="0">
                <a:solidFill>
                  <a:srgbClr val="0000FF"/>
                </a:solidFill>
                <a:latin typeface="Arial" panose="020B0604020202020204" pitchFamily="34" charset="0"/>
              </a:rPr>
              <a:t>除增加了许多新数据类型外，还可以用</a:t>
            </a:r>
            <a:r>
              <a:rPr kumimoji="1" lang="en-US" altLang="zh-CN" sz="2400" dirty="0">
                <a:solidFill>
                  <a:srgbClr val="0000FF"/>
                </a:solidFill>
                <a:latin typeface="Arial" panose="020B0604020202020204" pitchFamily="34" charset="0"/>
              </a:rPr>
              <a:t>typedef</a:t>
            </a:r>
            <a:r>
              <a:rPr kumimoji="1" lang="zh-CN" altLang="en-US" sz="2400" dirty="0">
                <a:solidFill>
                  <a:srgbClr val="0000FF"/>
                </a:solidFill>
                <a:latin typeface="Arial" panose="020B0604020202020204" pitchFamily="34" charset="0"/>
              </a:rPr>
              <a:t>关键字来建立用户自定义类型</a:t>
            </a:r>
            <a:endParaRPr kumimoji="1" lang="en-US" altLang="zh-CN" sz="2400" dirty="0">
              <a:solidFill>
                <a:srgbClr val="0000FF"/>
              </a:solidFill>
              <a:latin typeface="Arial" panose="020B0604020202020204" pitchFamily="34" charset="0"/>
            </a:endParaRPr>
          </a:p>
          <a:p>
            <a:pPr>
              <a:spcBef>
                <a:spcPct val="50000"/>
              </a:spcBef>
            </a:pPr>
            <a:r>
              <a:rPr kumimoji="1" lang="en-US" altLang="zh-CN" sz="2400" dirty="0">
                <a:solidFill>
                  <a:srgbClr val="0000FF"/>
                </a:solidFill>
                <a:latin typeface="Arial" panose="020B0604020202020204" pitchFamily="34" charset="0"/>
              </a:rPr>
              <a:t>typedef int unsigned </a:t>
            </a:r>
            <a:r>
              <a:rPr kumimoji="1" lang="en-US" altLang="zh-CN" sz="2400" dirty="0" err="1">
                <a:solidFill>
                  <a:srgbClr val="0000FF"/>
                </a:solidFill>
                <a:latin typeface="Arial" panose="020B0604020202020204" pitchFamily="34" charset="0"/>
              </a:rPr>
              <a:t>uint</a:t>
            </a:r>
            <a:r>
              <a:rPr kumimoji="1" lang="en-US" altLang="zh-CN" sz="2400" dirty="0">
                <a:solidFill>
                  <a:srgbClr val="0000FF"/>
                </a:solidFill>
                <a:latin typeface="Arial" panose="020B0604020202020204" pitchFamily="34" charset="0"/>
              </a:rPr>
              <a:t>;</a:t>
            </a:r>
          </a:p>
          <a:p>
            <a:pPr>
              <a:spcBef>
                <a:spcPct val="50000"/>
              </a:spcBef>
            </a:pPr>
            <a:r>
              <a:rPr kumimoji="1" lang="en-US" altLang="zh-CN" sz="2400" dirty="0">
                <a:solidFill>
                  <a:srgbClr val="0000FF"/>
                </a:solidFill>
                <a:latin typeface="Arial" panose="020B0604020202020204" pitchFamily="34" charset="0"/>
              </a:rPr>
              <a:t> …</a:t>
            </a:r>
          </a:p>
          <a:p>
            <a:pPr>
              <a:spcBef>
                <a:spcPct val="50000"/>
              </a:spcBef>
            </a:pPr>
            <a:r>
              <a:rPr kumimoji="1" lang="en-US" altLang="zh-CN" sz="2400" dirty="0">
                <a:solidFill>
                  <a:srgbClr val="0000FF"/>
                </a:solidFill>
                <a:latin typeface="Arial" panose="020B0604020202020204" pitchFamily="34" charset="0"/>
              </a:rPr>
              <a:t> </a:t>
            </a:r>
            <a:r>
              <a:rPr kumimoji="1" lang="en-US" altLang="zh-CN" sz="2400" dirty="0" err="1">
                <a:solidFill>
                  <a:srgbClr val="0000FF"/>
                </a:solidFill>
                <a:latin typeface="Arial" panose="020B0604020202020204" pitchFamily="34" charset="0"/>
              </a:rPr>
              <a:t>uint</a:t>
            </a:r>
            <a:r>
              <a:rPr kumimoji="1" lang="en-US" altLang="zh-CN" sz="2400" dirty="0">
                <a:solidFill>
                  <a:srgbClr val="0000FF"/>
                </a:solidFill>
                <a:latin typeface="Arial" panose="020B0604020202020204" pitchFamily="34" charset="0"/>
              </a:rPr>
              <a:t> a, b;   //</a:t>
            </a:r>
            <a:r>
              <a:rPr kumimoji="1" lang="en-US" altLang="zh-CN" sz="2400" dirty="0" err="1">
                <a:solidFill>
                  <a:srgbClr val="0000FF"/>
                </a:solidFill>
                <a:latin typeface="Arial" panose="020B0604020202020204" pitchFamily="34" charset="0"/>
              </a:rPr>
              <a:t>uint</a:t>
            </a:r>
            <a:r>
              <a:rPr kumimoji="1" lang="zh-CN" altLang="en-US" sz="2400" dirty="0">
                <a:solidFill>
                  <a:srgbClr val="0000FF"/>
                </a:solidFill>
                <a:latin typeface="Arial" panose="020B0604020202020204" pitchFamily="34" charset="0"/>
              </a:rPr>
              <a:t>类型的两个变量</a:t>
            </a:r>
          </a:p>
          <a:p>
            <a:pPr>
              <a:spcBef>
                <a:spcPct val="50000"/>
              </a:spcBef>
            </a:pPr>
            <a:endParaRPr lang="en-US" altLang="zh-CN" sz="2000"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a:extLst>
              <a:ext uri="{FF2B5EF4-FFF2-40B4-BE49-F238E27FC236}">
                <a16:creationId xmlns:a16="http://schemas.microsoft.com/office/drawing/2014/main" id="{54D51CF1-27E1-43A7-A92A-11611DE479FB}"/>
              </a:ext>
            </a:extLst>
          </p:cNvPr>
          <p:cNvSpPr txBox="1">
            <a:spLocks noChangeArrowheads="1"/>
          </p:cNvSpPr>
          <p:nvPr/>
        </p:nvSpPr>
        <p:spPr bwMode="auto">
          <a:xfrm>
            <a:off x="221672" y="1259178"/>
            <a:ext cx="6622473"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400" dirty="0">
                <a:solidFill>
                  <a:srgbClr val="0000FF"/>
                </a:solidFill>
                <a:latin typeface="Arial" panose="020B0604020202020204" pitchFamily="34" charset="0"/>
              </a:rPr>
              <a:t>局部</a:t>
            </a:r>
            <a:r>
              <a:rPr kumimoji="1" lang="en-US" altLang="zh-CN" sz="2400" dirty="0">
                <a:solidFill>
                  <a:srgbClr val="0000FF"/>
                </a:solidFill>
                <a:latin typeface="Arial" panose="020B0604020202020204" pitchFamily="34" charset="0"/>
              </a:rPr>
              <a:t>typedef</a:t>
            </a:r>
            <a:r>
              <a:rPr kumimoji="1" lang="zh-CN" altLang="en-US" sz="2400" dirty="0">
                <a:solidFill>
                  <a:srgbClr val="0000FF"/>
                </a:solidFill>
                <a:latin typeface="Arial" panose="020B0604020202020204" pitchFamily="34" charset="0"/>
              </a:rPr>
              <a:t>：当一个用户自定义类型只用于设计的特定部分时，</a:t>
            </a:r>
            <a:r>
              <a:rPr kumimoji="1" lang="en-US" altLang="zh-CN" sz="2400" dirty="0">
                <a:solidFill>
                  <a:srgbClr val="0000FF"/>
                </a:solidFill>
                <a:latin typeface="Arial" panose="020B0604020202020204" pitchFamily="34" charset="0"/>
              </a:rPr>
              <a:t>typedef</a:t>
            </a:r>
            <a:r>
              <a:rPr kumimoji="1" lang="zh-CN" altLang="en-US" sz="2400" dirty="0">
                <a:solidFill>
                  <a:srgbClr val="0000FF"/>
                </a:solidFill>
                <a:latin typeface="Arial" panose="020B0604020202020204" pitchFamily="34" charset="0"/>
              </a:rPr>
              <a:t>的定义可以在模块或设计的接口部分。</a:t>
            </a:r>
            <a:endParaRPr lang="en-US" altLang="zh-CN" sz="2000" dirty="0"/>
          </a:p>
        </p:txBody>
      </p:sp>
      <p:sp>
        <p:nvSpPr>
          <p:cNvPr id="5" name="Text Box 2">
            <a:extLst>
              <a:ext uri="{FF2B5EF4-FFF2-40B4-BE49-F238E27FC236}">
                <a16:creationId xmlns:a16="http://schemas.microsoft.com/office/drawing/2014/main" id="{B55EE867-F1C5-49E9-B7F8-8887BF81E8A4}"/>
              </a:ext>
            </a:extLst>
          </p:cNvPr>
          <p:cNvSpPr txBox="1">
            <a:spLocks noChangeArrowheads="1"/>
          </p:cNvSpPr>
          <p:nvPr/>
        </p:nvSpPr>
        <p:spPr bwMode="auto">
          <a:xfrm>
            <a:off x="221672" y="192086"/>
            <a:ext cx="990600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全局和局部</a:t>
            </a:r>
            <a:r>
              <a:rPr lang="en-US" altLang="zh-CN" sz="4400" dirty="0">
                <a:solidFill>
                  <a:srgbClr val="000066"/>
                </a:solidFill>
                <a:latin typeface="Arial" panose="020B0604020202020204" pitchFamily="34" charset="0"/>
              </a:rPr>
              <a:t>typedef</a:t>
            </a:r>
            <a:endParaRPr lang="zh-CN" altLang="en-US" sz="4400" dirty="0">
              <a:solidFill>
                <a:srgbClr val="000066"/>
              </a:solidFill>
              <a:latin typeface="Arial" panose="020B0604020202020204" pitchFamily="34" charset="0"/>
            </a:endParaRPr>
          </a:p>
        </p:txBody>
      </p:sp>
      <p:sp>
        <p:nvSpPr>
          <p:cNvPr id="6" name="Text Box 3">
            <a:extLst>
              <a:ext uri="{FF2B5EF4-FFF2-40B4-BE49-F238E27FC236}">
                <a16:creationId xmlns:a16="http://schemas.microsoft.com/office/drawing/2014/main" id="{5C6E5A11-FAA6-46FB-ADAE-AAF7C1BF55DD}"/>
              </a:ext>
            </a:extLst>
          </p:cNvPr>
          <p:cNvSpPr txBox="1">
            <a:spLocks noChangeArrowheads="1"/>
          </p:cNvSpPr>
          <p:nvPr/>
        </p:nvSpPr>
        <p:spPr bwMode="auto">
          <a:xfrm>
            <a:off x="314037" y="2958096"/>
            <a:ext cx="662247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kumimoji="1" lang="zh-CN" altLang="en-US" sz="2400" dirty="0">
                <a:solidFill>
                  <a:srgbClr val="0000FF"/>
                </a:solidFill>
                <a:latin typeface="Arial" panose="020B0604020202020204" pitchFamily="34" charset="0"/>
              </a:rPr>
              <a:t>全局</a:t>
            </a:r>
            <a:r>
              <a:rPr kumimoji="1" lang="en-US" altLang="zh-CN" sz="2400" dirty="0">
                <a:solidFill>
                  <a:srgbClr val="0000FF"/>
                </a:solidFill>
                <a:latin typeface="Arial" panose="020B0604020202020204" pitchFamily="34" charset="0"/>
              </a:rPr>
              <a:t>typedef</a:t>
            </a:r>
            <a:r>
              <a:rPr kumimoji="1" lang="zh-CN" altLang="en-US" sz="2400" dirty="0">
                <a:solidFill>
                  <a:srgbClr val="0000FF"/>
                </a:solidFill>
                <a:latin typeface="Arial" panose="020B0604020202020204" pitchFamily="34" charset="0"/>
              </a:rPr>
              <a:t>：当一个用户自定义类型会在很多不同的模块或接口是使用，可把</a:t>
            </a:r>
            <a:r>
              <a:rPr kumimoji="1" lang="en-US" altLang="zh-CN" sz="2400" dirty="0">
                <a:solidFill>
                  <a:srgbClr val="0000FF"/>
                </a:solidFill>
                <a:latin typeface="Arial" panose="020B0604020202020204" pitchFamily="34" charset="0"/>
              </a:rPr>
              <a:t>typedef</a:t>
            </a:r>
            <a:r>
              <a:rPr kumimoji="1" lang="zh-CN" altLang="en-US" sz="2400" dirty="0">
                <a:solidFill>
                  <a:srgbClr val="0000FF"/>
                </a:solidFill>
                <a:latin typeface="Arial" panose="020B0604020202020204" pitchFamily="34" charset="0"/>
              </a:rPr>
              <a:t>声明放在</a:t>
            </a:r>
            <a:r>
              <a:rPr kumimoji="1" lang="en-US" altLang="zh-CN" sz="2400" dirty="0">
                <a:solidFill>
                  <a:srgbClr val="0000FF"/>
                </a:solidFill>
                <a:latin typeface="Arial" panose="020B0604020202020204" pitchFamily="34" charset="0"/>
              </a:rPr>
              <a:t>package</a:t>
            </a:r>
            <a:r>
              <a:rPr kumimoji="1" lang="zh-CN" altLang="en-US" sz="2400" dirty="0">
                <a:solidFill>
                  <a:srgbClr val="0000FF"/>
                </a:solidFill>
                <a:latin typeface="Arial" panose="020B0604020202020204" pitchFamily="34" charset="0"/>
              </a:rPr>
              <a:t>或</a:t>
            </a:r>
            <a:r>
              <a:rPr kumimoji="1" lang="en-US" altLang="zh-CN" sz="2400" dirty="0">
                <a:solidFill>
                  <a:srgbClr val="0000FF"/>
                </a:solidFill>
                <a:latin typeface="Arial" panose="020B0604020202020204" pitchFamily="34" charset="0"/>
              </a:rPr>
              <a:t>$unit</a:t>
            </a:r>
            <a:r>
              <a:rPr kumimoji="1" lang="zh-CN" altLang="en-US" sz="2400" dirty="0">
                <a:solidFill>
                  <a:srgbClr val="0000FF"/>
                </a:solidFill>
                <a:latin typeface="Arial" panose="020B0604020202020204" pitchFamily="34" charset="0"/>
              </a:rPr>
              <a:t>中声明。</a:t>
            </a:r>
          </a:p>
          <a:p>
            <a:pPr>
              <a:spcBef>
                <a:spcPct val="50000"/>
              </a:spcBef>
            </a:pPr>
            <a:r>
              <a:rPr lang="zh-CN" altLang="en-US" sz="2400" dirty="0">
                <a:solidFill>
                  <a:schemeClr val="accent2"/>
                </a:solidFill>
              </a:rPr>
              <a:t> </a:t>
            </a:r>
            <a:r>
              <a:rPr lang="en-US" altLang="zh-CN" sz="2400" dirty="0">
                <a:solidFill>
                  <a:schemeClr val="accent2"/>
                </a:solidFill>
                <a:latin typeface="Times New Roman" panose="02020603050405020304" pitchFamily="18" charset="0"/>
                <a:cs typeface="Times New Roman" panose="02020603050405020304" pitchFamily="18" charset="0"/>
              </a:rPr>
              <a:t>package </a:t>
            </a:r>
            <a:r>
              <a:rPr lang="en-US" altLang="zh-CN" sz="2400" dirty="0" err="1">
                <a:solidFill>
                  <a:schemeClr val="accent2"/>
                </a:solidFill>
                <a:latin typeface="Times New Roman" panose="02020603050405020304" pitchFamily="18" charset="0"/>
                <a:cs typeface="Times New Roman" panose="02020603050405020304" pitchFamily="18" charset="0"/>
              </a:rPr>
              <a:t>chip_types</a:t>
            </a:r>
            <a:r>
              <a:rPr lang="en-US" altLang="zh-CN" sz="2400" dirty="0">
                <a:solidFill>
                  <a:schemeClr val="accent2"/>
                </a:solidFill>
                <a:latin typeface="Times New Roman" panose="02020603050405020304" pitchFamily="18" charset="0"/>
                <a:cs typeface="Times New Roman" panose="02020603050405020304" pitchFamily="18" charset="0"/>
              </a:rPr>
              <a:t>;</a:t>
            </a:r>
          </a:p>
          <a:p>
            <a:pPr>
              <a:spcBef>
                <a:spcPct val="50000"/>
              </a:spcBef>
            </a:pPr>
            <a:r>
              <a:rPr lang="en-US" altLang="zh-CN" sz="2400" dirty="0">
                <a:solidFill>
                  <a:schemeClr val="accent2"/>
                </a:solidFill>
                <a:latin typeface="Times New Roman" panose="02020603050405020304" pitchFamily="18" charset="0"/>
                <a:cs typeface="Times New Roman" panose="02020603050405020304" pitchFamily="18" charset="0"/>
              </a:rPr>
              <a:t>     typedef bit </a:t>
            </a:r>
            <a:r>
              <a:rPr lang="en-US" altLang="zh-CN" sz="2400" dirty="0" err="1">
                <a:solidFill>
                  <a:schemeClr val="accent2"/>
                </a:solidFill>
                <a:latin typeface="Times New Roman" panose="02020603050405020304" pitchFamily="18" charset="0"/>
                <a:cs typeface="Times New Roman" panose="02020603050405020304" pitchFamily="18" charset="0"/>
              </a:rPr>
              <a:t>dtype_t</a:t>
            </a:r>
            <a:r>
              <a:rPr lang="en-US" altLang="zh-CN" sz="2400" dirty="0">
                <a:solidFill>
                  <a:schemeClr val="accent2"/>
                </a:solidFill>
                <a:latin typeface="Times New Roman" panose="02020603050405020304" pitchFamily="18" charset="0"/>
                <a:cs typeface="Times New Roman" panose="02020603050405020304" pitchFamily="18" charset="0"/>
              </a:rPr>
              <a:t>;</a:t>
            </a:r>
          </a:p>
          <a:p>
            <a:pPr>
              <a:spcBef>
                <a:spcPct val="50000"/>
              </a:spcBef>
            </a:pPr>
            <a:r>
              <a:rPr lang="en-US" altLang="zh-CN" sz="2400" dirty="0">
                <a:solidFill>
                  <a:schemeClr val="accent2"/>
                </a:solidFill>
                <a:latin typeface="Times New Roman" panose="02020603050405020304" pitchFamily="18" charset="0"/>
                <a:cs typeface="Times New Roman" panose="02020603050405020304" pitchFamily="18" charset="0"/>
              </a:rPr>
              <a:t> </a:t>
            </a:r>
            <a:r>
              <a:rPr lang="en-US" altLang="zh-CN" sz="2400" dirty="0" err="1">
                <a:solidFill>
                  <a:schemeClr val="accent2"/>
                </a:solidFill>
                <a:latin typeface="Times New Roman" panose="02020603050405020304" pitchFamily="18" charset="0"/>
                <a:cs typeface="Times New Roman" panose="02020603050405020304" pitchFamily="18" charset="0"/>
              </a:rPr>
              <a:t>endpackage</a:t>
            </a:r>
            <a:endParaRPr lang="en-US" altLang="zh-CN" sz="2800" dirty="0">
              <a:solidFill>
                <a:schemeClr val="accent2"/>
              </a:solidFill>
              <a:latin typeface="Times New Roman" panose="02020603050405020304" pitchFamily="18" charset="0"/>
              <a:cs typeface="Times New Roman" panose="02020603050405020304" pitchFamily="18" charset="0"/>
            </a:endParaRPr>
          </a:p>
        </p:txBody>
      </p:sp>
      <p:sp>
        <p:nvSpPr>
          <p:cNvPr id="7" name="Text Box 3">
            <a:extLst>
              <a:ext uri="{FF2B5EF4-FFF2-40B4-BE49-F238E27FC236}">
                <a16:creationId xmlns:a16="http://schemas.microsoft.com/office/drawing/2014/main" id="{25D01AF0-B49F-4D5B-B255-B7D7E203B89B}"/>
              </a:ext>
            </a:extLst>
          </p:cNvPr>
          <p:cNvSpPr txBox="1">
            <a:spLocks noChangeArrowheads="1"/>
          </p:cNvSpPr>
          <p:nvPr/>
        </p:nvSpPr>
        <p:spPr bwMode="auto">
          <a:xfrm>
            <a:off x="7051963" y="1342269"/>
            <a:ext cx="4826000"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chemeClr val="accent2"/>
                </a:solidFill>
              </a:rPr>
              <a:t>module </a:t>
            </a:r>
            <a:r>
              <a:rPr lang="en-US" altLang="zh-CN" sz="2400" dirty="0" err="1">
                <a:solidFill>
                  <a:schemeClr val="accent2"/>
                </a:solidFill>
              </a:rPr>
              <a:t>alu</a:t>
            </a:r>
            <a:r>
              <a:rPr lang="en-US" altLang="zh-CN" sz="2400" dirty="0">
                <a:solidFill>
                  <a:schemeClr val="accent2"/>
                </a:solidFill>
              </a:rPr>
              <a:t>(…);</a:t>
            </a:r>
          </a:p>
          <a:p>
            <a:pPr>
              <a:spcBef>
                <a:spcPct val="50000"/>
              </a:spcBef>
            </a:pPr>
            <a:r>
              <a:rPr lang="en-US" altLang="zh-CN" sz="2400" dirty="0">
                <a:solidFill>
                  <a:schemeClr val="accent2"/>
                </a:solidFill>
              </a:rPr>
              <a:t>     typedef logic [3 : 0] nibble;</a:t>
            </a:r>
          </a:p>
          <a:p>
            <a:pPr>
              <a:spcBef>
                <a:spcPct val="50000"/>
              </a:spcBef>
            </a:pPr>
            <a:r>
              <a:rPr lang="en-US" altLang="zh-CN" sz="2400" dirty="0">
                <a:solidFill>
                  <a:schemeClr val="accent2"/>
                </a:solidFill>
              </a:rPr>
              <a:t>     nibble </a:t>
            </a:r>
            <a:r>
              <a:rPr lang="en-US" altLang="zh-CN" sz="2400" dirty="0" err="1">
                <a:solidFill>
                  <a:schemeClr val="accent2"/>
                </a:solidFill>
              </a:rPr>
              <a:t>opA</a:t>
            </a:r>
            <a:r>
              <a:rPr lang="en-US" altLang="zh-CN" sz="2400" dirty="0">
                <a:solidFill>
                  <a:schemeClr val="accent2"/>
                </a:solidFill>
              </a:rPr>
              <a:t>, </a:t>
            </a:r>
            <a:r>
              <a:rPr lang="en-US" altLang="zh-CN" sz="2400" dirty="0" err="1">
                <a:solidFill>
                  <a:schemeClr val="accent2"/>
                </a:solidFill>
              </a:rPr>
              <a:t>opB</a:t>
            </a:r>
            <a:r>
              <a:rPr lang="en-US" altLang="zh-CN" sz="2400" dirty="0">
                <a:solidFill>
                  <a:schemeClr val="accent2"/>
                </a:solidFill>
              </a:rPr>
              <a:t>;</a:t>
            </a:r>
          </a:p>
          <a:p>
            <a:pPr>
              <a:spcBef>
                <a:spcPct val="50000"/>
              </a:spcBef>
            </a:pPr>
            <a:r>
              <a:rPr lang="en-US" altLang="zh-CN" sz="2400" dirty="0">
                <a:solidFill>
                  <a:schemeClr val="accent2"/>
                </a:solidFill>
              </a:rPr>
              <a:t>     nibble [7 : 0] data; </a:t>
            </a:r>
            <a:endParaRPr lang="zh-CN" altLang="en-US" sz="2400" dirty="0">
              <a:solidFill>
                <a:schemeClr val="accent2"/>
              </a:solidFill>
            </a:endParaRPr>
          </a:p>
          <a:p>
            <a:pPr>
              <a:spcBef>
                <a:spcPct val="50000"/>
              </a:spcBef>
            </a:pPr>
            <a:r>
              <a:rPr lang="zh-CN" altLang="en-US" sz="2400" dirty="0">
                <a:solidFill>
                  <a:schemeClr val="accent2"/>
                </a:solidFill>
              </a:rPr>
              <a:t> </a:t>
            </a:r>
            <a:r>
              <a:rPr lang="en-US" altLang="zh-CN" sz="2400" dirty="0">
                <a:solidFill>
                  <a:schemeClr val="accent2"/>
                </a:solidFill>
              </a:rPr>
              <a:t>…</a:t>
            </a:r>
          </a:p>
          <a:p>
            <a:pPr>
              <a:spcBef>
                <a:spcPct val="50000"/>
              </a:spcBef>
            </a:pPr>
            <a:r>
              <a:rPr lang="en-US" altLang="zh-CN" sz="2400" dirty="0">
                <a:solidFill>
                  <a:schemeClr val="accent2"/>
                </a:solidFill>
              </a:rPr>
              <a:t> </a:t>
            </a:r>
            <a:r>
              <a:rPr lang="en-US" altLang="zh-CN" sz="2400" dirty="0" err="1">
                <a:solidFill>
                  <a:schemeClr val="accent2"/>
                </a:solidFill>
              </a:rPr>
              <a:t>endmodule</a:t>
            </a:r>
            <a:endParaRPr lang="en-US" altLang="zh-CN" sz="2000"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2">
            <a:extLst>
              <a:ext uri="{FF2B5EF4-FFF2-40B4-BE49-F238E27FC236}">
                <a16:creationId xmlns:a16="http://schemas.microsoft.com/office/drawing/2014/main" id="{DBED5388-DC89-431B-9F24-1DF00D1E5E45}"/>
              </a:ext>
            </a:extLst>
          </p:cNvPr>
          <p:cNvSpPr txBox="1">
            <a:spLocks noChangeArrowheads="1"/>
          </p:cNvSpPr>
          <p:nvPr/>
        </p:nvSpPr>
        <p:spPr bwMode="auto">
          <a:xfrm>
            <a:off x="184727" y="346942"/>
            <a:ext cx="972127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枚举数据类型：</a:t>
            </a:r>
            <a:r>
              <a:rPr lang="en-US" altLang="zh-CN" sz="4400" dirty="0" err="1">
                <a:solidFill>
                  <a:srgbClr val="000066"/>
                </a:solidFill>
                <a:latin typeface="Arial" panose="020B0604020202020204" pitchFamily="34" charset="0"/>
              </a:rPr>
              <a:t>enum</a:t>
            </a:r>
            <a:endParaRPr lang="zh-CN" altLang="en-US" sz="4400" dirty="0">
              <a:solidFill>
                <a:srgbClr val="000066"/>
              </a:solidFill>
              <a:latin typeface="Arial" panose="020B0604020202020204" pitchFamily="34" charset="0"/>
            </a:endParaRPr>
          </a:p>
        </p:txBody>
      </p:sp>
      <p:sp>
        <p:nvSpPr>
          <p:cNvPr id="78851" name="Text Box 3">
            <a:extLst>
              <a:ext uri="{FF2B5EF4-FFF2-40B4-BE49-F238E27FC236}">
                <a16:creationId xmlns:a16="http://schemas.microsoft.com/office/drawing/2014/main" id="{BA0210CD-944C-4BFE-998E-EC63CD3ADD5C}"/>
              </a:ext>
            </a:extLst>
          </p:cNvPr>
          <p:cNvSpPr txBox="1">
            <a:spLocks noChangeArrowheads="1"/>
          </p:cNvSpPr>
          <p:nvPr/>
        </p:nvSpPr>
        <p:spPr bwMode="auto">
          <a:xfrm>
            <a:off x="0" y="1443841"/>
            <a:ext cx="11508509" cy="323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50000"/>
              </a:spcBef>
              <a:buFont typeface="Arial" panose="020B0604020202020204" pitchFamily="34" charset="0"/>
              <a:buChar char="•"/>
            </a:pPr>
            <a:r>
              <a:rPr kumimoji="1" lang="zh-CN" altLang="en-US" sz="2400" dirty="0">
                <a:solidFill>
                  <a:srgbClr val="0000FF"/>
                </a:solidFill>
                <a:latin typeface="Arial" panose="020B0604020202020204" pitchFamily="34" charset="0"/>
              </a:rPr>
              <a:t>枚举数据类型提供了一种方式来声明一个具有特定允许值列表的抽象变量，每一个值都有一个确定的用户自定义名字，即标签（</a:t>
            </a:r>
            <a:r>
              <a:rPr kumimoji="1" lang="en-US" altLang="zh-CN" sz="2400" dirty="0">
                <a:solidFill>
                  <a:srgbClr val="0000FF"/>
                </a:solidFill>
                <a:latin typeface="Arial" panose="020B0604020202020204" pitchFamily="34" charset="0"/>
              </a:rPr>
              <a:t>label)</a:t>
            </a:r>
            <a:r>
              <a:rPr kumimoji="1" lang="zh-CN" altLang="en-US" sz="2400" dirty="0">
                <a:solidFill>
                  <a:srgbClr val="0000FF"/>
                </a:solidFill>
                <a:latin typeface="Arial" panose="020B0604020202020204" pitchFamily="34" charset="0"/>
              </a:rPr>
              <a:t>。</a:t>
            </a:r>
          </a:p>
          <a:p>
            <a:pPr marL="342900" indent="-342900">
              <a:spcBef>
                <a:spcPct val="50000"/>
              </a:spcBef>
              <a:buFont typeface="Arial" panose="020B0604020202020204" pitchFamily="34" charset="0"/>
              <a:buChar char="•"/>
            </a:pPr>
            <a:r>
              <a:rPr kumimoji="1" lang="en-US" altLang="zh-CN" sz="2400" dirty="0">
                <a:solidFill>
                  <a:srgbClr val="FF0000"/>
                </a:solidFill>
                <a:latin typeface="Arial" panose="020B0604020202020204" pitchFamily="34" charset="0"/>
              </a:rPr>
              <a:t>Verilog</a:t>
            </a:r>
            <a:r>
              <a:rPr kumimoji="1" lang="zh-CN" altLang="en-US" sz="2400" dirty="0">
                <a:solidFill>
                  <a:srgbClr val="FF0000"/>
                </a:solidFill>
                <a:latin typeface="Arial" panose="020B0604020202020204" pitchFamily="34" charset="0"/>
              </a:rPr>
              <a:t>语言没有枚举类型</a:t>
            </a:r>
            <a:endParaRPr kumimoji="1" lang="en-US" altLang="zh-CN" sz="2400" dirty="0">
              <a:solidFill>
                <a:srgbClr val="FF0000"/>
              </a:solidFill>
              <a:latin typeface="Arial" panose="020B0604020202020204" pitchFamily="34" charset="0"/>
            </a:endParaRPr>
          </a:p>
          <a:p>
            <a:pPr marL="342900" indent="-342900">
              <a:spcBef>
                <a:spcPct val="50000"/>
              </a:spcBef>
              <a:buFont typeface="Arial" panose="020B0604020202020204" pitchFamily="34" charset="0"/>
              <a:buChar char="•"/>
            </a:pPr>
            <a:r>
              <a:rPr lang="zh-CN" altLang="en-US" sz="2400" dirty="0">
                <a:solidFill>
                  <a:srgbClr val="CC0000"/>
                </a:solidFill>
              </a:rPr>
              <a:t>枚举类型限制数值的合法集合，赋值时必须使用集合中的标签或者标签对应的数值</a:t>
            </a:r>
            <a:endParaRPr kumimoji="1" lang="en-US" altLang="zh-CN" sz="2400" dirty="0">
              <a:solidFill>
                <a:srgbClr val="FF0000"/>
              </a:solidFill>
              <a:latin typeface="Arial" panose="020B0604020202020204" pitchFamily="34" charset="0"/>
            </a:endParaRPr>
          </a:p>
          <a:p>
            <a:pPr marL="342900" indent="-342900">
              <a:spcBef>
                <a:spcPct val="50000"/>
              </a:spcBef>
              <a:buFont typeface="Arial" panose="020B0604020202020204" pitchFamily="34" charset="0"/>
              <a:buChar char="•"/>
            </a:pPr>
            <a:r>
              <a:rPr kumimoji="1" lang="zh-CN" altLang="en-US" sz="2400" dirty="0">
                <a:solidFill>
                  <a:srgbClr val="0000FF"/>
                </a:solidFill>
                <a:latin typeface="Arial" panose="020B0604020202020204" pitchFamily="34" charset="0"/>
              </a:rPr>
              <a:t>枚举类型的基类：枚举类型是具有一系列标签值的变量或线网，其缺省的基类是</a:t>
            </a:r>
            <a:r>
              <a:rPr kumimoji="1" lang="en-US" altLang="zh-CN" sz="2400" dirty="0">
                <a:solidFill>
                  <a:srgbClr val="0000FF"/>
                </a:solidFill>
                <a:latin typeface="Arial" panose="020B0604020202020204" pitchFamily="34" charset="0"/>
              </a:rPr>
              <a:t>int</a:t>
            </a:r>
            <a:r>
              <a:rPr kumimoji="1" lang="zh-CN" altLang="en-US" sz="2400" dirty="0">
                <a:solidFill>
                  <a:srgbClr val="0000FF"/>
                </a:solidFill>
                <a:latin typeface="Arial" panose="020B0604020202020204" pitchFamily="34" charset="0"/>
              </a:rPr>
              <a:t>类型，</a:t>
            </a:r>
            <a:r>
              <a:rPr lang="zh-CN" altLang="en-US" sz="2400" dirty="0">
                <a:solidFill>
                  <a:schemeClr val="accent2"/>
                </a:solidFill>
              </a:rPr>
              <a:t>第一个标签表示数值</a:t>
            </a:r>
            <a:r>
              <a:rPr lang="en-US" altLang="zh-CN" sz="2400" dirty="0">
                <a:solidFill>
                  <a:schemeClr val="accent2"/>
                </a:solidFill>
              </a:rPr>
              <a:t>0</a:t>
            </a:r>
            <a:r>
              <a:rPr lang="zh-CN" altLang="en-US" sz="2400" dirty="0">
                <a:solidFill>
                  <a:schemeClr val="accent2"/>
                </a:solidFill>
              </a:rPr>
              <a:t>，第二个为</a:t>
            </a:r>
            <a:r>
              <a:rPr lang="en-US" altLang="zh-CN" sz="2400" dirty="0">
                <a:solidFill>
                  <a:schemeClr val="accent2"/>
                </a:solidFill>
              </a:rPr>
              <a:t>1</a:t>
            </a:r>
            <a:r>
              <a:rPr lang="zh-CN" altLang="en-US" sz="2400" dirty="0">
                <a:solidFill>
                  <a:schemeClr val="accent2"/>
                </a:solidFill>
              </a:rPr>
              <a:t>，以此类推；</a:t>
            </a:r>
            <a:r>
              <a:rPr kumimoji="1" lang="en-US" altLang="zh-CN" sz="2400" dirty="0" err="1">
                <a:solidFill>
                  <a:srgbClr val="0000FF"/>
                </a:solidFill>
                <a:latin typeface="Arial" panose="020B0604020202020204" pitchFamily="34" charset="0"/>
              </a:rPr>
              <a:t>SystemVerilog</a:t>
            </a:r>
            <a:r>
              <a:rPr kumimoji="1" lang="zh-CN" altLang="en-US" sz="2400" dirty="0">
                <a:solidFill>
                  <a:srgbClr val="0000FF"/>
                </a:solidFill>
                <a:latin typeface="Arial" panose="020B0604020202020204" pitchFamily="34" charset="0"/>
              </a:rPr>
              <a:t>允许对枚举类型的基类进行显式的声明。</a:t>
            </a:r>
            <a:endParaRPr lang="zh-CN" altLang="en-US" sz="2400" dirty="0">
              <a:solidFill>
                <a:schemeClr val="accent2"/>
              </a:solidFill>
            </a:endParaRPr>
          </a:p>
        </p:txBody>
      </p:sp>
      <p:sp>
        <p:nvSpPr>
          <p:cNvPr id="4" name="Text Box 4">
            <a:extLst>
              <a:ext uri="{FF2B5EF4-FFF2-40B4-BE49-F238E27FC236}">
                <a16:creationId xmlns:a16="http://schemas.microsoft.com/office/drawing/2014/main" id="{50B14A20-A142-47FC-B779-FF08D1E202C6}"/>
              </a:ext>
            </a:extLst>
          </p:cNvPr>
          <p:cNvSpPr txBox="1">
            <a:spLocks noChangeArrowheads="1"/>
          </p:cNvSpPr>
          <p:nvPr/>
        </p:nvSpPr>
        <p:spPr bwMode="auto">
          <a:xfrm>
            <a:off x="738907" y="4722812"/>
            <a:ext cx="1133301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err="1">
                <a:solidFill>
                  <a:srgbClr val="0000FF"/>
                </a:solidFill>
              </a:rPr>
              <a:t>enum</a:t>
            </a:r>
            <a:r>
              <a:rPr lang="en-US" altLang="zh-CN" sz="2000" dirty="0">
                <a:solidFill>
                  <a:srgbClr val="0000FF"/>
                </a:solidFill>
              </a:rPr>
              <a:t> bit {FALSE, TRUE} </a:t>
            </a:r>
            <a:r>
              <a:rPr lang="en-US" altLang="zh-CN" sz="2000" dirty="0" err="1">
                <a:solidFill>
                  <a:srgbClr val="0000FF"/>
                </a:solidFill>
              </a:rPr>
              <a:t>boolean</a:t>
            </a:r>
            <a:r>
              <a:rPr lang="en-US" altLang="zh-CN" sz="2000" dirty="0">
                <a:solidFill>
                  <a:srgbClr val="0000FF"/>
                </a:solidFill>
              </a:rPr>
              <a:t>;</a:t>
            </a:r>
          </a:p>
          <a:p>
            <a:r>
              <a:rPr lang="en-US" altLang="zh-CN" sz="2000" dirty="0" err="1">
                <a:solidFill>
                  <a:srgbClr val="0000FF"/>
                </a:solidFill>
              </a:rPr>
              <a:t>enum</a:t>
            </a:r>
            <a:r>
              <a:rPr lang="en-US" altLang="zh-CN" sz="2000" dirty="0">
                <a:solidFill>
                  <a:srgbClr val="0000FF"/>
                </a:solidFill>
              </a:rPr>
              <a:t> logic [1 : 0] {WAIT, LOAD, READY} state;</a:t>
            </a:r>
          </a:p>
          <a:p>
            <a:r>
              <a:rPr lang="en-US" altLang="zh-CN" sz="2000" dirty="0" err="1">
                <a:solidFill>
                  <a:srgbClr val="0000FF"/>
                </a:solidFill>
              </a:rPr>
              <a:t>enum</a:t>
            </a:r>
            <a:r>
              <a:rPr lang="en-US" altLang="zh-CN" sz="2000" dirty="0">
                <a:solidFill>
                  <a:srgbClr val="0000FF"/>
                </a:solidFill>
              </a:rPr>
              <a:t> logic [2 : 0] {WAIT = 3’b001, LOAD = 3’b010, READY = 3’b100} state; //one-hot</a:t>
            </a:r>
            <a:r>
              <a:rPr lang="zh-CN" altLang="en-US" sz="2000" dirty="0">
                <a:solidFill>
                  <a:srgbClr val="0000FF"/>
                </a:solidFill>
              </a:rPr>
              <a:t>编码</a:t>
            </a:r>
          </a:p>
          <a:p>
            <a:r>
              <a:rPr lang="en-US" altLang="zh-CN" sz="2000" dirty="0" err="1">
                <a:solidFill>
                  <a:srgbClr val="FF0000"/>
                </a:solidFill>
              </a:rPr>
              <a:t>enum</a:t>
            </a:r>
            <a:r>
              <a:rPr lang="en-US" altLang="zh-CN" sz="2000" dirty="0">
                <a:solidFill>
                  <a:srgbClr val="FF0000"/>
                </a:solidFill>
              </a:rPr>
              <a:t> {WAIT = 3’b001, LOAD = 3’b010,  READY = 3’b100} state;</a:t>
            </a:r>
            <a:r>
              <a:rPr lang="en-US" altLang="zh-CN" sz="2000" dirty="0">
                <a:solidFill>
                  <a:srgbClr val="0000FF"/>
                </a:solidFill>
              </a:rPr>
              <a:t> //</a:t>
            </a:r>
            <a:r>
              <a:rPr lang="zh-CN" altLang="en-US" sz="2000" dirty="0">
                <a:solidFill>
                  <a:srgbClr val="0000FF"/>
                </a:solidFill>
              </a:rPr>
              <a:t>基类宽度与赋给标签的值宽度不同</a:t>
            </a:r>
          </a:p>
          <a:p>
            <a:r>
              <a:rPr lang="en-US" altLang="zh-CN" sz="2000" dirty="0" err="1">
                <a:solidFill>
                  <a:srgbClr val="FF0000"/>
                </a:solidFill>
              </a:rPr>
              <a:t>enum</a:t>
            </a:r>
            <a:r>
              <a:rPr lang="en-US" altLang="zh-CN" sz="2000" dirty="0">
                <a:solidFill>
                  <a:srgbClr val="FF0000"/>
                </a:solidFill>
              </a:rPr>
              <a:t> logic {A, B, C} list4; </a:t>
            </a:r>
            <a:r>
              <a:rPr lang="en-US" altLang="zh-CN" sz="2000" dirty="0">
                <a:solidFill>
                  <a:srgbClr val="0000FF"/>
                </a:solidFill>
              </a:rPr>
              <a:t>//</a:t>
            </a:r>
            <a:r>
              <a:rPr lang="zh-CN" altLang="en-US" sz="2000" dirty="0">
                <a:solidFill>
                  <a:srgbClr val="0000FF"/>
                </a:solidFill>
              </a:rPr>
              <a:t>标签数超过基类所能代表的宽度</a:t>
            </a:r>
          </a:p>
          <a:p>
            <a:r>
              <a:rPr lang="en-US" altLang="zh-CN" sz="2000" dirty="0" err="1">
                <a:solidFill>
                  <a:srgbClr val="0000FF"/>
                </a:solidFill>
              </a:rPr>
              <a:t>enum</a:t>
            </a:r>
            <a:r>
              <a:rPr lang="en-US" altLang="zh-CN" sz="2000" dirty="0">
                <a:solidFill>
                  <a:srgbClr val="0000FF"/>
                </a:solidFill>
              </a:rPr>
              <a:t> logic {ON = 1’b0, OFF = 1’bz} switch;</a:t>
            </a:r>
            <a:endParaRPr lang="en-US" altLang="zh-CN" sz="20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2">
            <a:extLst>
              <a:ext uri="{FF2B5EF4-FFF2-40B4-BE49-F238E27FC236}">
                <a16:creationId xmlns:a16="http://schemas.microsoft.com/office/drawing/2014/main" id="{1F2D98B6-1A52-4526-A85A-B878C3D89944}"/>
              </a:ext>
            </a:extLst>
          </p:cNvPr>
          <p:cNvSpPr txBox="1">
            <a:spLocks noChangeArrowheads="1"/>
          </p:cNvSpPr>
          <p:nvPr/>
        </p:nvSpPr>
        <p:spPr bwMode="auto">
          <a:xfrm>
            <a:off x="498765" y="476251"/>
            <a:ext cx="1085272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枚举数据类型专用系统任务</a:t>
            </a:r>
          </a:p>
        </p:txBody>
      </p:sp>
      <p:sp>
        <p:nvSpPr>
          <p:cNvPr id="99331" name="Text Box 3">
            <a:extLst>
              <a:ext uri="{FF2B5EF4-FFF2-40B4-BE49-F238E27FC236}">
                <a16:creationId xmlns:a16="http://schemas.microsoft.com/office/drawing/2014/main" id="{7F462953-30A8-4CC6-8A96-D9F14ED384E0}"/>
              </a:ext>
            </a:extLst>
          </p:cNvPr>
          <p:cNvSpPr txBox="1">
            <a:spLocks noChangeArrowheads="1"/>
          </p:cNvSpPr>
          <p:nvPr/>
        </p:nvSpPr>
        <p:spPr bwMode="auto">
          <a:xfrm>
            <a:off x="692727" y="1377951"/>
            <a:ext cx="914818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400" dirty="0" err="1">
                <a:solidFill>
                  <a:schemeClr val="accent2"/>
                </a:solidFill>
              </a:rPr>
              <a:t>SystemVerilog</a:t>
            </a:r>
            <a:r>
              <a:rPr lang="zh-CN" altLang="en-US" sz="2400" dirty="0">
                <a:solidFill>
                  <a:schemeClr val="accent2"/>
                </a:solidFill>
              </a:rPr>
              <a:t>提供了一些内置函数，可以循环访问枚举类型列表中的值，这些方法能自动处理枚举类型的半强类型特性，简化操作。</a:t>
            </a:r>
          </a:p>
        </p:txBody>
      </p:sp>
      <p:sp>
        <p:nvSpPr>
          <p:cNvPr id="99332" name="Text Box 4">
            <a:extLst>
              <a:ext uri="{FF2B5EF4-FFF2-40B4-BE49-F238E27FC236}">
                <a16:creationId xmlns:a16="http://schemas.microsoft.com/office/drawing/2014/main" id="{4F05AE9A-7AB2-40A4-9F95-3BB8EC9AB079}"/>
              </a:ext>
            </a:extLst>
          </p:cNvPr>
          <p:cNvSpPr txBox="1">
            <a:spLocks noChangeArrowheads="1"/>
          </p:cNvSpPr>
          <p:nvPr/>
        </p:nvSpPr>
        <p:spPr bwMode="auto">
          <a:xfrm>
            <a:off x="498764" y="2852739"/>
            <a:ext cx="1037243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&gt;.first – </a:t>
            </a:r>
            <a:r>
              <a:rPr lang="zh-CN" altLang="en-US" sz="2400" dirty="0">
                <a:solidFill>
                  <a:srgbClr val="0000FF"/>
                </a:solidFill>
              </a:rPr>
              <a:t>返回枚举列表第一个成员的值</a:t>
            </a:r>
          </a:p>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&gt;.last – </a:t>
            </a:r>
            <a:r>
              <a:rPr lang="zh-CN" altLang="en-US" sz="2400" dirty="0">
                <a:solidFill>
                  <a:srgbClr val="0000FF"/>
                </a:solidFill>
              </a:rPr>
              <a:t>返回枚举列表最后一个成员的值</a:t>
            </a:r>
          </a:p>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&gt;.next(&lt;N&gt;) – </a:t>
            </a:r>
            <a:r>
              <a:rPr lang="zh-CN" altLang="en-US" sz="2400" dirty="0">
                <a:solidFill>
                  <a:srgbClr val="0000FF"/>
                </a:solidFill>
              </a:rPr>
              <a:t>返回枚举列表中下一个成员的值，可以用一个整数作为</a:t>
            </a:r>
            <a:r>
              <a:rPr lang="en-US" altLang="zh-CN" sz="2400" dirty="0">
                <a:solidFill>
                  <a:srgbClr val="0000FF"/>
                </a:solidFill>
              </a:rPr>
              <a:t>next</a:t>
            </a:r>
            <a:r>
              <a:rPr lang="zh-CN" altLang="en-US" sz="2400" dirty="0">
                <a:solidFill>
                  <a:srgbClr val="0000FF"/>
                </a:solidFill>
              </a:rPr>
              <a:t>的参数，这种情况返回后面第</a:t>
            </a:r>
            <a:r>
              <a:rPr lang="en-US" altLang="zh-CN" sz="2400" dirty="0">
                <a:solidFill>
                  <a:srgbClr val="0000FF"/>
                </a:solidFill>
              </a:rPr>
              <a:t>N</a:t>
            </a:r>
            <a:r>
              <a:rPr lang="zh-CN" altLang="en-US" sz="2400" dirty="0">
                <a:solidFill>
                  <a:srgbClr val="0000FF"/>
                </a:solidFill>
              </a:rPr>
              <a:t>个成员的值</a:t>
            </a:r>
          </a:p>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a:t>
            </a:r>
            <a:r>
              <a:rPr lang="en-US" altLang="zh-CN" sz="2400" dirty="0" err="1">
                <a:solidFill>
                  <a:srgbClr val="0000FF"/>
                </a:solidFill>
              </a:rPr>
              <a:t>prev</a:t>
            </a:r>
            <a:r>
              <a:rPr lang="en-US" altLang="zh-CN" sz="2400" dirty="0">
                <a:solidFill>
                  <a:srgbClr val="0000FF"/>
                </a:solidFill>
              </a:rPr>
              <a:t>(&lt;N&gt;) – </a:t>
            </a:r>
            <a:r>
              <a:rPr lang="zh-CN" altLang="en-US" sz="2400" dirty="0">
                <a:solidFill>
                  <a:srgbClr val="0000FF"/>
                </a:solidFill>
              </a:rPr>
              <a:t>返回枚举列表中前一个成员的值</a:t>
            </a:r>
          </a:p>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&gt;.num – </a:t>
            </a:r>
            <a:r>
              <a:rPr lang="zh-CN" altLang="en-US" sz="2400" dirty="0">
                <a:solidFill>
                  <a:srgbClr val="0000FF"/>
                </a:solidFill>
              </a:rPr>
              <a:t>返回枚举列表中元素个数</a:t>
            </a:r>
          </a:p>
          <a:p>
            <a:r>
              <a:rPr lang="en-US" altLang="zh-CN" sz="2400" dirty="0">
                <a:solidFill>
                  <a:srgbClr val="0000FF"/>
                </a:solidFill>
              </a:rPr>
              <a:t>&lt;</a:t>
            </a:r>
            <a:r>
              <a:rPr lang="zh-CN" altLang="en-US" sz="2400" dirty="0">
                <a:solidFill>
                  <a:srgbClr val="0000FF"/>
                </a:solidFill>
              </a:rPr>
              <a:t>枚举变量名</a:t>
            </a:r>
            <a:r>
              <a:rPr lang="en-US" altLang="zh-CN" sz="2400" dirty="0">
                <a:solidFill>
                  <a:srgbClr val="0000FF"/>
                </a:solidFill>
              </a:rPr>
              <a:t>&gt;.name – </a:t>
            </a:r>
            <a:r>
              <a:rPr lang="zh-CN" altLang="en-US" sz="2400" dirty="0">
                <a:solidFill>
                  <a:srgbClr val="0000FF"/>
                </a:solidFill>
              </a:rPr>
              <a:t>返回枚举变量值对应的字符串，如果这个值不在枚举变量列表中，则返回一个空字符串</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23A27306-C60F-4D87-948B-0BB36EC5CA4C}"/>
              </a:ext>
            </a:extLst>
          </p:cNvPr>
          <p:cNvSpPr txBox="1">
            <a:spLocks noChangeArrowheads="1"/>
          </p:cNvSpPr>
          <p:nvPr/>
        </p:nvSpPr>
        <p:spPr bwMode="auto">
          <a:xfrm>
            <a:off x="489528" y="322760"/>
            <a:ext cx="9398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结构体</a:t>
            </a:r>
            <a:r>
              <a:rPr lang="en-US" altLang="zh-CN" sz="4400" dirty="0">
                <a:solidFill>
                  <a:srgbClr val="000066"/>
                </a:solidFill>
                <a:latin typeface="Arial" panose="020B0604020202020204" pitchFamily="34" charset="0"/>
              </a:rPr>
              <a:t>:struct</a:t>
            </a:r>
            <a:endParaRPr lang="zh-CN" altLang="en-US" sz="4400" dirty="0">
              <a:solidFill>
                <a:srgbClr val="000066"/>
              </a:solidFill>
              <a:latin typeface="Arial" panose="020B0604020202020204" pitchFamily="34" charset="0"/>
            </a:endParaRPr>
          </a:p>
        </p:txBody>
      </p:sp>
      <p:sp>
        <p:nvSpPr>
          <p:cNvPr id="6147" name="Text Box 3">
            <a:extLst>
              <a:ext uri="{FF2B5EF4-FFF2-40B4-BE49-F238E27FC236}">
                <a16:creationId xmlns:a16="http://schemas.microsoft.com/office/drawing/2014/main" id="{A7E28C3D-2A01-4124-9752-294917801697}"/>
              </a:ext>
            </a:extLst>
          </p:cNvPr>
          <p:cNvSpPr txBox="1">
            <a:spLocks noChangeArrowheads="1"/>
          </p:cNvSpPr>
          <p:nvPr/>
        </p:nvSpPr>
        <p:spPr bwMode="auto">
          <a:xfrm>
            <a:off x="360218" y="1219201"/>
            <a:ext cx="11231418"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400" dirty="0">
                <a:solidFill>
                  <a:srgbClr val="0000FF"/>
                </a:solidFill>
              </a:rPr>
              <a:t>结构体提供了对相关信息进行分组的方法，结构体使用关键字</a:t>
            </a:r>
            <a:r>
              <a:rPr lang="en-US" altLang="zh-CN" sz="2400" dirty="0">
                <a:solidFill>
                  <a:srgbClr val="0000FF"/>
                </a:solidFill>
              </a:rPr>
              <a:t>struct</a:t>
            </a:r>
            <a:r>
              <a:rPr lang="zh-CN" altLang="en-US" sz="2400" dirty="0">
                <a:solidFill>
                  <a:srgbClr val="0000FF"/>
                </a:solidFill>
              </a:rPr>
              <a:t>声明</a:t>
            </a:r>
            <a:endParaRPr lang="en-US" altLang="zh-CN" sz="2400" dirty="0">
              <a:solidFill>
                <a:srgbClr val="0000FF"/>
              </a:solidFill>
            </a:endParaRPr>
          </a:p>
          <a:p>
            <a:pPr marL="342900" indent="-342900">
              <a:spcBef>
                <a:spcPct val="0"/>
              </a:spcBef>
              <a:buFont typeface="Arial" panose="020B0604020202020204" pitchFamily="34" charset="0"/>
              <a:buChar char="•"/>
            </a:pPr>
            <a:r>
              <a:rPr lang="zh-CN" altLang="en-US" sz="2400" dirty="0">
                <a:solidFill>
                  <a:srgbClr val="0000FF"/>
                </a:solidFill>
              </a:rPr>
              <a:t>结构体内的成员可以是任何数据类型，包括用户自定义类型和其它的结构体类型；</a:t>
            </a:r>
            <a:endParaRPr lang="en-US" altLang="zh-CN" sz="2400" dirty="0">
              <a:solidFill>
                <a:srgbClr val="0000FF"/>
              </a:solidFill>
            </a:endParaRPr>
          </a:p>
          <a:p>
            <a:pPr marL="342900" indent="-342900">
              <a:spcBef>
                <a:spcPct val="0"/>
              </a:spcBef>
              <a:buFont typeface="Arial" panose="020B0604020202020204" pitchFamily="34" charset="0"/>
              <a:buChar char="•"/>
            </a:pPr>
            <a:r>
              <a:rPr lang="zh-CN" altLang="en-US" sz="2400" dirty="0">
                <a:solidFill>
                  <a:srgbClr val="0000FF"/>
                </a:solidFill>
              </a:rPr>
              <a:t>结构体是变量和常量的集合，整个集合可以用结构体名进行引用，也可以用结构体成员名来引用该成员。</a:t>
            </a:r>
          </a:p>
        </p:txBody>
      </p:sp>
      <p:sp>
        <p:nvSpPr>
          <p:cNvPr id="3" name="矩形 2">
            <a:extLst>
              <a:ext uri="{FF2B5EF4-FFF2-40B4-BE49-F238E27FC236}">
                <a16:creationId xmlns:a16="http://schemas.microsoft.com/office/drawing/2014/main" id="{CF2EE5A1-9951-40A8-8538-E18CAD158221}"/>
              </a:ext>
            </a:extLst>
          </p:cNvPr>
          <p:cNvSpPr/>
          <p:nvPr/>
        </p:nvSpPr>
        <p:spPr>
          <a:xfrm>
            <a:off x="563419" y="3276133"/>
            <a:ext cx="6096000" cy="1200329"/>
          </a:xfrm>
          <a:prstGeom prst="rect">
            <a:avLst/>
          </a:prstGeom>
        </p:spPr>
        <p:txBody>
          <a:bodyPr>
            <a:spAutoFit/>
          </a:bodyPr>
          <a:lstStyle/>
          <a:p>
            <a:pPr>
              <a:spcBef>
                <a:spcPct val="0"/>
              </a:spcBef>
            </a:pPr>
            <a:r>
              <a:rPr lang="zh-CN" altLang="en-US" dirty="0">
                <a:solidFill>
                  <a:srgbClr val="CC0000"/>
                </a:solidFill>
              </a:rPr>
              <a:t>自定义结构体：可以在模块或接口内定义，在整个模块或接口中都可以使用；如果一个自定义结构体需要在多个模块中使用，或者是作为模块或接口的端口使用，那么结构体定义应放在</a:t>
            </a:r>
            <a:r>
              <a:rPr lang="en-US" altLang="zh-CN" dirty="0">
                <a:solidFill>
                  <a:srgbClr val="CC0000"/>
                </a:solidFill>
              </a:rPr>
              <a:t>package</a:t>
            </a:r>
            <a:r>
              <a:rPr lang="zh-CN" altLang="en-US" dirty="0">
                <a:solidFill>
                  <a:srgbClr val="CC0000"/>
                </a:solidFill>
              </a:rPr>
              <a:t>中！</a:t>
            </a:r>
          </a:p>
        </p:txBody>
      </p:sp>
      <p:sp>
        <p:nvSpPr>
          <p:cNvPr id="4" name="矩形 3">
            <a:extLst>
              <a:ext uri="{FF2B5EF4-FFF2-40B4-BE49-F238E27FC236}">
                <a16:creationId xmlns:a16="http://schemas.microsoft.com/office/drawing/2014/main" id="{8D5694C8-3621-4DEE-A6D6-8BC87B0B6EAE}"/>
              </a:ext>
            </a:extLst>
          </p:cNvPr>
          <p:cNvSpPr/>
          <p:nvPr/>
        </p:nvSpPr>
        <p:spPr>
          <a:xfrm>
            <a:off x="770082" y="4639256"/>
            <a:ext cx="3487882" cy="1754326"/>
          </a:xfrm>
          <a:prstGeom prst="rect">
            <a:avLst/>
          </a:prstGeom>
        </p:spPr>
        <p:txBody>
          <a:bodyPr wrap="square">
            <a:spAutoFit/>
          </a:bodyPr>
          <a:lstStyle/>
          <a:p>
            <a:pPr>
              <a:spcBef>
                <a:spcPct val="0"/>
              </a:spcBef>
            </a:pPr>
            <a:r>
              <a:rPr lang="en-US" altLang="zh-CN" dirty="0">
                <a:solidFill>
                  <a:srgbClr val="CC0000"/>
                </a:solidFill>
              </a:rPr>
              <a:t>typedef</a:t>
            </a:r>
            <a:r>
              <a:rPr lang="en-US" altLang="zh-CN" dirty="0">
                <a:solidFill>
                  <a:srgbClr val="0000FF"/>
                </a:solidFill>
              </a:rPr>
              <a:t> struct {</a:t>
            </a:r>
          </a:p>
          <a:p>
            <a:pPr>
              <a:spcBef>
                <a:spcPct val="0"/>
              </a:spcBef>
            </a:pPr>
            <a:r>
              <a:rPr lang="en-US" altLang="zh-CN" dirty="0">
                <a:solidFill>
                  <a:srgbClr val="0000FF"/>
                </a:solidFill>
              </a:rPr>
              <a:t>      logic [31 : 0] a, b;</a:t>
            </a:r>
          </a:p>
          <a:p>
            <a:pPr>
              <a:spcBef>
                <a:spcPct val="0"/>
              </a:spcBef>
            </a:pPr>
            <a:r>
              <a:rPr lang="en-US" altLang="zh-CN" dirty="0">
                <a:solidFill>
                  <a:srgbClr val="0000FF"/>
                </a:solidFill>
              </a:rPr>
              <a:t>      logic [7 : 0] opcode;</a:t>
            </a:r>
          </a:p>
          <a:p>
            <a:pPr>
              <a:spcBef>
                <a:spcPct val="0"/>
              </a:spcBef>
            </a:pPr>
            <a:r>
              <a:rPr lang="en-US" altLang="zh-CN" dirty="0">
                <a:solidFill>
                  <a:srgbClr val="0000FF"/>
                </a:solidFill>
              </a:rPr>
              <a:t>      logic [23 : 0] address;</a:t>
            </a:r>
          </a:p>
          <a:p>
            <a:pPr>
              <a:spcBef>
                <a:spcPct val="0"/>
              </a:spcBef>
            </a:pPr>
            <a:r>
              <a:rPr lang="en-US" altLang="zh-CN" dirty="0">
                <a:solidFill>
                  <a:srgbClr val="0000FF"/>
                </a:solidFill>
              </a:rPr>
              <a:t>      } </a:t>
            </a:r>
            <a:r>
              <a:rPr lang="en-US" altLang="zh-CN" dirty="0" err="1">
                <a:solidFill>
                  <a:srgbClr val="0000FF"/>
                </a:solidFill>
              </a:rPr>
              <a:t>instruction_word_t</a:t>
            </a:r>
            <a:r>
              <a:rPr lang="en-US" altLang="zh-CN" dirty="0">
                <a:solidFill>
                  <a:srgbClr val="0000FF"/>
                </a:solidFill>
              </a:rPr>
              <a:t>;</a:t>
            </a:r>
          </a:p>
          <a:p>
            <a:pPr>
              <a:spcBef>
                <a:spcPct val="0"/>
              </a:spcBef>
            </a:pPr>
            <a:r>
              <a:rPr lang="en-US" altLang="zh-CN" dirty="0" err="1">
                <a:solidFill>
                  <a:srgbClr val="990000"/>
                </a:solidFill>
              </a:rPr>
              <a:t>instruction_word_t</a:t>
            </a:r>
            <a:r>
              <a:rPr lang="en-US" altLang="zh-CN" dirty="0">
                <a:solidFill>
                  <a:srgbClr val="990000"/>
                </a:solidFill>
              </a:rPr>
              <a:t> IW;</a:t>
            </a:r>
          </a:p>
        </p:txBody>
      </p:sp>
      <p:sp>
        <p:nvSpPr>
          <p:cNvPr id="5" name="矩形 4">
            <a:extLst>
              <a:ext uri="{FF2B5EF4-FFF2-40B4-BE49-F238E27FC236}">
                <a16:creationId xmlns:a16="http://schemas.microsoft.com/office/drawing/2014/main" id="{48D2174C-2495-4A15-9032-73CDE7486C5C}"/>
              </a:ext>
            </a:extLst>
          </p:cNvPr>
          <p:cNvSpPr/>
          <p:nvPr/>
        </p:nvSpPr>
        <p:spPr>
          <a:xfrm>
            <a:off x="6834908" y="4476462"/>
            <a:ext cx="3334328" cy="1797251"/>
          </a:xfrm>
          <a:prstGeom prst="rect">
            <a:avLst/>
          </a:prstGeom>
        </p:spPr>
        <p:txBody>
          <a:bodyPr wrap="square">
            <a:spAutoFit/>
          </a:bodyPr>
          <a:lstStyle/>
          <a:p>
            <a:pPr>
              <a:spcBef>
                <a:spcPct val="0"/>
              </a:spcBef>
            </a:pPr>
            <a:r>
              <a:rPr lang="zh-CN" altLang="en-US" dirty="0">
                <a:solidFill>
                  <a:srgbClr val="FF0000"/>
                </a:solidFill>
              </a:rPr>
              <a:t>匿名结构体</a:t>
            </a:r>
            <a:r>
              <a:rPr lang="zh-CN" altLang="en-US" dirty="0">
                <a:solidFill>
                  <a:srgbClr val="0000FF"/>
                </a:solidFill>
              </a:rPr>
              <a:t>：</a:t>
            </a:r>
            <a:endParaRPr lang="en-US" altLang="zh-CN" dirty="0">
              <a:solidFill>
                <a:srgbClr val="0000FF"/>
              </a:solidFill>
            </a:endParaRPr>
          </a:p>
          <a:p>
            <a:pPr>
              <a:spcBef>
                <a:spcPct val="0"/>
              </a:spcBef>
            </a:pPr>
            <a:r>
              <a:rPr lang="en-US" altLang="zh-CN" dirty="0">
                <a:solidFill>
                  <a:srgbClr val="0000FF"/>
                </a:solidFill>
              </a:rPr>
              <a:t>struct {</a:t>
            </a:r>
          </a:p>
          <a:p>
            <a:pPr>
              <a:spcBef>
                <a:spcPct val="0"/>
              </a:spcBef>
            </a:pPr>
            <a:r>
              <a:rPr lang="en-US" altLang="zh-CN" dirty="0">
                <a:solidFill>
                  <a:srgbClr val="0000FF"/>
                </a:solidFill>
              </a:rPr>
              <a:t>      logic [31 : 0] a, b;</a:t>
            </a:r>
          </a:p>
          <a:p>
            <a:pPr>
              <a:spcBef>
                <a:spcPct val="0"/>
              </a:spcBef>
            </a:pPr>
            <a:r>
              <a:rPr lang="en-US" altLang="zh-CN" dirty="0">
                <a:solidFill>
                  <a:srgbClr val="0000FF"/>
                </a:solidFill>
              </a:rPr>
              <a:t>      logic [7 : 0] opcode;</a:t>
            </a:r>
          </a:p>
          <a:p>
            <a:pPr>
              <a:spcBef>
                <a:spcPct val="0"/>
              </a:spcBef>
            </a:pPr>
            <a:r>
              <a:rPr lang="en-US" altLang="zh-CN" dirty="0">
                <a:solidFill>
                  <a:srgbClr val="0000FF"/>
                </a:solidFill>
              </a:rPr>
              <a:t>      logic [23 : 0] address;</a:t>
            </a:r>
          </a:p>
          <a:p>
            <a:pPr>
              <a:spcBef>
                <a:spcPct val="0"/>
              </a:spcBef>
            </a:pPr>
            <a:r>
              <a:rPr lang="en-US" altLang="zh-CN" dirty="0">
                <a:solidFill>
                  <a:srgbClr val="0000FF"/>
                </a:solidFill>
              </a:rPr>
              <a:t>      } instruction;</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2">
            <a:extLst>
              <a:ext uri="{FF2B5EF4-FFF2-40B4-BE49-F238E27FC236}">
                <a16:creationId xmlns:a16="http://schemas.microsoft.com/office/drawing/2014/main" id="{7CB75FEA-FDD2-4F26-A948-6AF8C2E51C8B}"/>
              </a:ext>
            </a:extLst>
          </p:cNvPr>
          <p:cNvSpPr txBox="1">
            <a:spLocks noChangeArrowheads="1"/>
          </p:cNvSpPr>
          <p:nvPr/>
        </p:nvSpPr>
        <p:spPr bwMode="auto">
          <a:xfrm>
            <a:off x="362527" y="476251"/>
            <a:ext cx="954347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结构体：</a:t>
            </a:r>
            <a:r>
              <a:rPr lang="en-US" altLang="zh-CN" sz="4400" dirty="0">
                <a:solidFill>
                  <a:srgbClr val="000066"/>
                </a:solidFill>
                <a:latin typeface="Arial" panose="020B0604020202020204" pitchFamily="34" charset="0"/>
              </a:rPr>
              <a:t>struct</a:t>
            </a:r>
            <a:endParaRPr lang="zh-CN" altLang="en-US" sz="4400" dirty="0">
              <a:solidFill>
                <a:srgbClr val="000066"/>
              </a:solidFill>
              <a:latin typeface="Arial" panose="020B0604020202020204" pitchFamily="34" charset="0"/>
            </a:endParaRPr>
          </a:p>
        </p:txBody>
      </p:sp>
      <p:sp>
        <p:nvSpPr>
          <p:cNvPr id="14340" name="Text Box 4">
            <a:extLst>
              <a:ext uri="{FF2B5EF4-FFF2-40B4-BE49-F238E27FC236}">
                <a16:creationId xmlns:a16="http://schemas.microsoft.com/office/drawing/2014/main" id="{1A091299-1804-4BE8-A8E1-9EB618738F87}"/>
              </a:ext>
            </a:extLst>
          </p:cNvPr>
          <p:cNvSpPr txBox="1">
            <a:spLocks noChangeArrowheads="1"/>
          </p:cNvSpPr>
          <p:nvPr/>
        </p:nvSpPr>
        <p:spPr bwMode="auto">
          <a:xfrm>
            <a:off x="223981" y="1477819"/>
            <a:ext cx="4699001"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000" dirty="0">
                <a:solidFill>
                  <a:srgbClr val="CC0000"/>
                </a:solidFill>
              </a:rPr>
              <a:t>结构体赋值：</a:t>
            </a:r>
            <a:endParaRPr lang="en-US" altLang="zh-CN" sz="2000" dirty="0">
              <a:solidFill>
                <a:srgbClr val="CC0000"/>
              </a:solidFill>
            </a:endParaRPr>
          </a:p>
          <a:p>
            <a:pPr>
              <a:spcBef>
                <a:spcPct val="0"/>
              </a:spcBef>
            </a:pPr>
            <a:r>
              <a:rPr lang="en-US" altLang="zh-CN" sz="2000" dirty="0">
                <a:solidFill>
                  <a:srgbClr val="CC0000"/>
                </a:solidFill>
              </a:rPr>
              <a:t>typedef</a:t>
            </a:r>
            <a:r>
              <a:rPr lang="en-US" altLang="zh-CN" sz="2000" dirty="0">
                <a:solidFill>
                  <a:srgbClr val="0000FF"/>
                </a:solidFill>
              </a:rPr>
              <a:t> struct {</a:t>
            </a:r>
          </a:p>
          <a:p>
            <a:pPr>
              <a:spcBef>
                <a:spcPct val="0"/>
              </a:spcBef>
            </a:pPr>
            <a:r>
              <a:rPr lang="en-US" altLang="zh-CN" sz="2000" dirty="0">
                <a:solidFill>
                  <a:srgbClr val="0000FF"/>
                </a:solidFill>
              </a:rPr>
              <a:t>      logic [31 : 0] a, b;</a:t>
            </a:r>
          </a:p>
          <a:p>
            <a:pPr>
              <a:spcBef>
                <a:spcPct val="0"/>
              </a:spcBef>
            </a:pPr>
            <a:r>
              <a:rPr lang="en-US" altLang="zh-CN" sz="2000" dirty="0">
                <a:solidFill>
                  <a:srgbClr val="0000FF"/>
                </a:solidFill>
              </a:rPr>
              <a:t>      logic [7 : 0] opcode;</a:t>
            </a:r>
          </a:p>
          <a:p>
            <a:pPr>
              <a:spcBef>
                <a:spcPct val="0"/>
              </a:spcBef>
            </a:pPr>
            <a:r>
              <a:rPr lang="en-US" altLang="zh-CN" sz="2000" dirty="0">
                <a:solidFill>
                  <a:srgbClr val="0000FF"/>
                </a:solidFill>
              </a:rPr>
              <a:t>      logic [23 : 0] address;</a:t>
            </a:r>
          </a:p>
          <a:p>
            <a:pPr>
              <a:spcBef>
                <a:spcPct val="0"/>
              </a:spcBef>
            </a:pPr>
            <a:r>
              <a:rPr lang="en-US" altLang="zh-CN" sz="2000" dirty="0">
                <a:solidFill>
                  <a:srgbClr val="0000FF"/>
                </a:solidFill>
              </a:rPr>
              <a:t>      } </a:t>
            </a:r>
            <a:r>
              <a:rPr lang="en-US" altLang="zh-CN" sz="2000" dirty="0" err="1">
                <a:solidFill>
                  <a:srgbClr val="0000FF"/>
                </a:solidFill>
              </a:rPr>
              <a:t>instr_t</a:t>
            </a:r>
            <a:r>
              <a:rPr lang="en-US" altLang="zh-CN" sz="2000" dirty="0">
                <a:solidFill>
                  <a:srgbClr val="0000FF"/>
                </a:solidFill>
              </a:rPr>
              <a:t>;</a:t>
            </a:r>
          </a:p>
          <a:p>
            <a:pPr>
              <a:spcBef>
                <a:spcPct val="0"/>
              </a:spcBef>
            </a:pPr>
            <a:r>
              <a:rPr lang="en-US" altLang="zh-CN" sz="2000" dirty="0" err="1">
                <a:solidFill>
                  <a:srgbClr val="990000"/>
                </a:solidFill>
              </a:rPr>
              <a:t>inst_t</a:t>
            </a:r>
            <a:r>
              <a:rPr lang="en-US" altLang="zh-CN" sz="2000" dirty="0">
                <a:solidFill>
                  <a:srgbClr val="990000"/>
                </a:solidFill>
              </a:rPr>
              <a:t>  IW;</a:t>
            </a:r>
          </a:p>
          <a:p>
            <a:pPr>
              <a:spcBef>
                <a:spcPct val="0"/>
              </a:spcBef>
            </a:pPr>
            <a:endParaRPr lang="en-US" altLang="zh-CN" sz="2000" dirty="0">
              <a:solidFill>
                <a:srgbClr val="0000FF"/>
              </a:solidFill>
            </a:endParaRPr>
          </a:p>
          <a:p>
            <a:pPr>
              <a:spcBef>
                <a:spcPct val="0"/>
              </a:spcBef>
            </a:pPr>
            <a:r>
              <a:rPr lang="en-US" altLang="zh-CN" sz="2000" dirty="0">
                <a:solidFill>
                  <a:srgbClr val="0000FF"/>
                </a:solidFill>
              </a:rPr>
              <a:t>always @(</a:t>
            </a:r>
            <a:r>
              <a:rPr lang="en-US" altLang="zh-CN" sz="2000" dirty="0" err="1">
                <a:solidFill>
                  <a:srgbClr val="0000FF"/>
                </a:solidFill>
              </a:rPr>
              <a:t>posedge</a:t>
            </a:r>
            <a:r>
              <a:rPr lang="en-US" altLang="zh-CN" sz="2000" dirty="0">
                <a:solidFill>
                  <a:srgbClr val="0000FF"/>
                </a:solidFill>
              </a:rPr>
              <a:t> </a:t>
            </a:r>
            <a:r>
              <a:rPr lang="en-US" altLang="zh-CN" sz="2000" dirty="0" err="1">
                <a:solidFill>
                  <a:srgbClr val="0000FF"/>
                </a:solidFill>
              </a:rPr>
              <a:t>clk</a:t>
            </a:r>
            <a:r>
              <a:rPr lang="en-US" altLang="zh-CN" sz="2000" dirty="0">
                <a:solidFill>
                  <a:srgbClr val="0000FF"/>
                </a:solidFill>
              </a:rPr>
              <a:t>, </a:t>
            </a:r>
            <a:r>
              <a:rPr lang="en-US" altLang="zh-CN" sz="2000" dirty="0" err="1">
                <a:solidFill>
                  <a:srgbClr val="0000FF"/>
                </a:solidFill>
              </a:rPr>
              <a:t>negedge</a:t>
            </a:r>
            <a:r>
              <a:rPr lang="en-US" altLang="zh-CN" sz="2000" dirty="0">
                <a:solidFill>
                  <a:srgbClr val="0000FF"/>
                </a:solidFill>
              </a:rPr>
              <a:t> </a:t>
            </a:r>
            <a:r>
              <a:rPr lang="en-US" altLang="zh-CN" sz="2000" dirty="0" err="1">
                <a:solidFill>
                  <a:srgbClr val="0000FF"/>
                </a:solidFill>
              </a:rPr>
              <a:t>resetN</a:t>
            </a:r>
            <a:r>
              <a:rPr lang="en-US" altLang="zh-CN" sz="2000" dirty="0">
                <a:solidFill>
                  <a:srgbClr val="0000FF"/>
                </a:solidFill>
              </a:rPr>
              <a:t>)</a:t>
            </a:r>
          </a:p>
          <a:p>
            <a:pPr>
              <a:spcBef>
                <a:spcPct val="0"/>
              </a:spcBef>
            </a:pPr>
            <a:r>
              <a:rPr lang="en-US" altLang="zh-CN" sz="2000" dirty="0">
                <a:solidFill>
                  <a:srgbClr val="0000FF"/>
                </a:solidFill>
              </a:rPr>
              <a:t>    if (!</a:t>
            </a:r>
            <a:r>
              <a:rPr lang="en-US" altLang="zh-CN" sz="2000" dirty="0" err="1">
                <a:solidFill>
                  <a:srgbClr val="0000FF"/>
                </a:solidFill>
              </a:rPr>
              <a:t>resetN</a:t>
            </a:r>
            <a:r>
              <a:rPr lang="en-US" altLang="zh-CN" sz="2000" dirty="0">
                <a:solidFill>
                  <a:srgbClr val="0000FF"/>
                </a:solidFill>
              </a:rPr>
              <a:t>) begin</a:t>
            </a:r>
          </a:p>
          <a:p>
            <a:pPr>
              <a:spcBef>
                <a:spcPct val="0"/>
              </a:spcBef>
            </a:pPr>
            <a:r>
              <a:rPr lang="en-US" altLang="zh-CN" sz="2000" dirty="0">
                <a:solidFill>
                  <a:srgbClr val="0000FF"/>
                </a:solidFill>
              </a:rPr>
              <a:t>         </a:t>
            </a:r>
            <a:r>
              <a:rPr lang="en-US" altLang="zh-CN" sz="2000" dirty="0" err="1">
                <a:solidFill>
                  <a:srgbClr val="0000FF"/>
                </a:solidFill>
              </a:rPr>
              <a:t>IW.a</a:t>
            </a:r>
            <a:r>
              <a:rPr lang="en-US" altLang="zh-CN" sz="2000" dirty="0">
                <a:solidFill>
                  <a:srgbClr val="0000FF"/>
                </a:solidFill>
              </a:rPr>
              <a:t> = 100;</a:t>
            </a:r>
          </a:p>
          <a:p>
            <a:pPr>
              <a:spcBef>
                <a:spcPct val="0"/>
              </a:spcBef>
            </a:pPr>
            <a:r>
              <a:rPr lang="en-US" altLang="zh-CN" sz="2000" dirty="0">
                <a:solidFill>
                  <a:srgbClr val="0000FF"/>
                </a:solidFill>
              </a:rPr>
              <a:t>         </a:t>
            </a:r>
            <a:r>
              <a:rPr lang="en-US" altLang="zh-CN" sz="2000" dirty="0" err="1">
                <a:solidFill>
                  <a:srgbClr val="0000FF"/>
                </a:solidFill>
              </a:rPr>
              <a:t>IW.b</a:t>
            </a:r>
            <a:r>
              <a:rPr lang="en-US" altLang="zh-CN" sz="2000" dirty="0">
                <a:solidFill>
                  <a:srgbClr val="0000FF"/>
                </a:solidFill>
              </a:rPr>
              <a:t> = 100;</a:t>
            </a:r>
          </a:p>
          <a:p>
            <a:pPr>
              <a:spcBef>
                <a:spcPct val="0"/>
              </a:spcBef>
            </a:pPr>
            <a:r>
              <a:rPr lang="en-US" altLang="zh-CN" sz="2000" dirty="0">
                <a:solidFill>
                  <a:srgbClr val="0000FF"/>
                </a:solidFill>
              </a:rPr>
              <a:t>         </a:t>
            </a:r>
            <a:r>
              <a:rPr lang="en-US" altLang="zh-CN" sz="2000" dirty="0" err="1">
                <a:solidFill>
                  <a:srgbClr val="0000FF"/>
                </a:solidFill>
              </a:rPr>
              <a:t>IW.opcode</a:t>
            </a:r>
            <a:r>
              <a:rPr lang="en-US" altLang="zh-CN" sz="2000" dirty="0">
                <a:solidFill>
                  <a:srgbClr val="0000FF"/>
                </a:solidFill>
              </a:rPr>
              <a:t> = 8’hff;   //</a:t>
            </a:r>
            <a:r>
              <a:rPr lang="zh-CN" altLang="en-US" sz="2000" dirty="0">
                <a:solidFill>
                  <a:srgbClr val="0000FF"/>
                </a:solidFill>
              </a:rPr>
              <a:t>成员引用</a:t>
            </a:r>
          </a:p>
          <a:p>
            <a:pPr>
              <a:spcBef>
                <a:spcPct val="0"/>
              </a:spcBef>
            </a:pPr>
            <a:r>
              <a:rPr lang="zh-CN" altLang="en-US" sz="2000" dirty="0">
                <a:solidFill>
                  <a:srgbClr val="0000FF"/>
                </a:solidFill>
              </a:rPr>
              <a:t>         </a:t>
            </a:r>
            <a:r>
              <a:rPr lang="en-US" altLang="zh-CN" sz="2000" dirty="0" err="1">
                <a:solidFill>
                  <a:srgbClr val="0000FF"/>
                </a:solidFill>
              </a:rPr>
              <a:t>IW.address</a:t>
            </a:r>
            <a:r>
              <a:rPr lang="en-US" altLang="zh-CN" sz="2000" dirty="0">
                <a:solidFill>
                  <a:srgbClr val="0000FF"/>
                </a:solidFill>
              </a:rPr>
              <a:t> = 0;</a:t>
            </a:r>
          </a:p>
          <a:p>
            <a:pPr>
              <a:spcBef>
                <a:spcPct val="0"/>
              </a:spcBef>
            </a:pPr>
            <a:r>
              <a:rPr lang="en-US" altLang="zh-CN" sz="2000" dirty="0">
                <a:solidFill>
                  <a:srgbClr val="0000FF"/>
                </a:solidFill>
              </a:rPr>
              <a:t>    end</a:t>
            </a:r>
          </a:p>
          <a:p>
            <a:pPr>
              <a:spcBef>
                <a:spcPct val="0"/>
              </a:spcBef>
            </a:pPr>
            <a:r>
              <a:rPr lang="en-US" altLang="zh-CN" sz="2000" dirty="0">
                <a:solidFill>
                  <a:srgbClr val="0000FF"/>
                </a:solidFill>
              </a:rPr>
              <a:t>    else begin   …</a:t>
            </a:r>
          </a:p>
          <a:p>
            <a:pPr>
              <a:spcBef>
                <a:spcPct val="0"/>
              </a:spcBef>
            </a:pPr>
            <a:r>
              <a:rPr lang="en-US" altLang="zh-CN" sz="2000" dirty="0">
                <a:solidFill>
                  <a:srgbClr val="0000FF"/>
                </a:solidFill>
              </a:rPr>
              <a:t>    end</a:t>
            </a:r>
          </a:p>
        </p:txBody>
      </p:sp>
      <p:sp>
        <p:nvSpPr>
          <p:cNvPr id="5" name="Text Box 2">
            <a:extLst>
              <a:ext uri="{FF2B5EF4-FFF2-40B4-BE49-F238E27FC236}">
                <a16:creationId xmlns:a16="http://schemas.microsoft.com/office/drawing/2014/main" id="{221FDF02-853D-410C-B0EC-78B4F1892B87}"/>
              </a:ext>
            </a:extLst>
          </p:cNvPr>
          <p:cNvSpPr txBox="1">
            <a:spLocks noChangeArrowheads="1"/>
          </p:cNvSpPr>
          <p:nvPr/>
        </p:nvSpPr>
        <p:spPr bwMode="auto">
          <a:xfrm>
            <a:off x="5477163" y="1477819"/>
            <a:ext cx="5179291"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800" dirty="0">
                <a:solidFill>
                  <a:srgbClr val="FF0000"/>
                </a:solidFill>
                <a:latin typeface="Arial" panose="020B0604020202020204" pitchFamily="34" charset="0"/>
              </a:rPr>
              <a:t>压缩和非压缩结构体</a:t>
            </a:r>
          </a:p>
        </p:txBody>
      </p:sp>
      <p:sp>
        <p:nvSpPr>
          <p:cNvPr id="6" name="Text Box 3">
            <a:extLst>
              <a:ext uri="{FF2B5EF4-FFF2-40B4-BE49-F238E27FC236}">
                <a16:creationId xmlns:a16="http://schemas.microsoft.com/office/drawing/2014/main" id="{68966E09-1225-4776-B3A4-CAEDE3EDBB9B}"/>
              </a:ext>
            </a:extLst>
          </p:cNvPr>
          <p:cNvSpPr txBox="1">
            <a:spLocks noChangeArrowheads="1"/>
          </p:cNvSpPr>
          <p:nvPr/>
        </p:nvSpPr>
        <p:spPr bwMode="auto">
          <a:xfrm>
            <a:off x="5403272" y="2017187"/>
            <a:ext cx="603134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000" dirty="0">
                <a:solidFill>
                  <a:srgbClr val="0000FF"/>
                </a:solidFill>
              </a:rPr>
              <a:t>默认情况下，结构体是非压缩的，结构体成员被当作是独立的变量；</a:t>
            </a:r>
            <a:endParaRPr lang="en-US" altLang="zh-CN" sz="2000" dirty="0">
              <a:solidFill>
                <a:srgbClr val="0000FF"/>
              </a:solidFill>
            </a:endParaRPr>
          </a:p>
          <a:p>
            <a:pPr marL="342900" indent="-342900">
              <a:spcBef>
                <a:spcPct val="0"/>
              </a:spcBef>
              <a:buFont typeface="Arial" panose="020B0604020202020204" pitchFamily="34" charset="0"/>
              <a:buChar char="•"/>
            </a:pPr>
            <a:r>
              <a:rPr lang="zh-CN" altLang="en-US" sz="2000" dirty="0">
                <a:solidFill>
                  <a:srgbClr val="0000FF"/>
                </a:solidFill>
              </a:rPr>
              <a:t>压缩结构体用</a:t>
            </a:r>
            <a:r>
              <a:rPr lang="en-US" altLang="zh-CN" sz="2000" dirty="0">
                <a:solidFill>
                  <a:srgbClr val="0000FF"/>
                </a:solidFill>
              </a:rPr>
              <a:t>packed</a:t>
            </a:r>
            <a:r>
              <a:rPr lang="zh-CN" altLang="en-US" sz="2000" dirty="0">
                <a:solidFill>
                  <a:srgbClr val="0000FF"/>
                </a:solidFill>
              </a:rPr>
              <a:t>关键字显式说明，其特点是所有成员被当作一个向量存储，第一个成员在向量的最左边，最后一个成员在最低位，其编号为</a:t>
            </a:r>
            <a:r>
              <a:rPr lang="en-US" altLang="zh-CN" sz="2000" dirty="0">
                <a:solidFill>
                  <a:srgbClr val="0000FF"/>
                </a:solidFill>
              </a:rPr>
              <a:t>0</a:t>
            </a:r>
          </a:p>
        </p:txBody>
      </p:sp>
      <p:sp>
        <p:nvSpPr>
          <p:cNvPr id="7" name="Text Box 4">
            <a:extLst>
              <a:ext uri="{FF2B5EF4-FFF2-40B4-BE49-F238E27FC236}">
                <a16:creationId xmlns:a16="http://schemas.microsoft.com/office/drawing/2014/main" id="{CB0F8C9F-348F-4967-A8FD-7B7833606A00}"/>
              </a:ext>
            </a:extLst>
          </p:cNvPr>
          <p:cNvSpPr txBox="1">
            <a:spLocks noChangeArrowheads="1"/>
          </p:cNvSpPr>
          <p:nvPr/>
        </p:nvSpPr>
        <p:spPr bwMode="auto">
          <a:xfrm>
            <a:off x="5403272" y="3668658"/>
            <a:ext cx="4008583"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 struct </a:t>
            </a:r>
            <a:r>
              <a:rPr lang="en-US" altLang="zh-CN" sz="2000" dirty="0">
                <a:solidFill>
                  <a:srgbClr val="FF0000"/>
                </a:solidFill>
              </a:rPr>
              <a:t>packed</a:t>
            </a:r>
            <a:r>
              <a:rPr lang="en-US" altLang="zh-CN" sz="2000" dirty="0">
                <a:solidFill>
                  <a:srgbClr val="0000FF"/>
                </a:solidFill>
              </a:rPr>
              <a:t> {</a:t>
            </a:r>
          </a:p>
          <a:p>
            <a:pPr>
              <a:spcBef>
                <a:spcPct val="0"/>
              </a:spcBef>
            </a:pPr>
            <a:r>
              <a:rPr lang="en-US" altLang="zh-CN" sz="2000" dirty="0">
                <a:solidFill>
                  <a:srgbClr val="0000FF"/>
                </a:solidFill>
              </a:rPr>
              <a:t>     logic valid;</a:t>
            </a:r>
          </a:p>
          <a:p>
            <a:pPr>
              <a:spcBef>
                <a:spcPct val="0"/>
              </a:spcBef>
            </a:pPr>
            <a:r>
              <a:rPr lang="en-US" altLang="zh-CN" sz="2000" dirty="0">
                <a:solidFill>
                  <a:srgbClr val="0000FF"/>
                </a:solidFill>
              </a:rPr>
              <a:t>     logic [7 : 0] tag;</a:t>
            </a:r>
          </a:p>
          <a:p>
            <a:pPr>
              <a:spcBef>
                <a:spcPct val="0"/>
              </a:spcBef>
            </a:pPr>
            <a:r>
              <a:rPr lang="en-US" altLang="zh-CN" sz="2000" dirty="0">
                <a:solidFill>
                  <a:srgbClr val="0000FF"/>
                </a:solidFill>
              </a:rPr>
              <a:t>     logic [31 : 0] data;</a:t>
            </a:r>
          </a:p>
          <a:p>
            <a:pPr>
              <a:spcBef>
                <a:spcPct val="0"/>
              </a:spcBef>
            </a:pPr>
            <a:r>
              <a:rPr lang="en-US" altLang="zh-CN" sz="2000" dirty="0">
                <a:solidFill>
                  <a:srgbClr val="0000FF"/>
                </a:solidFill>
              </a:rPr>
              <a:t> } </a:t>
            </a:r>
            <a:r>
              <a:rPr lang="en-US" altLang="zh-CN" sz="2000" dirty="0" err="1">
                <a:solidFill>
                  <a:srgbClr val="0000FF"/>
                </a:solidFill>
              </a:rPr>
              <a:t>data_word</a:t>
            </a:r>
            <a:r>
              <a:rPr lang="en-US" altLang="zh-CN" sz="2000" dirty="0">
                <a:solidFill>
                  <a:srgbClr val="0000FF"/>
                </a:solidFill>
              </a:rPr>
              <a:t>;</a:t>
            </a:r>
            <a:endParaRPr lang="en-US" altLang="zh-CN" sz="2000" dirty="0">
              <a:solidFill>
                <a:srgbClr val="FF0000"/>
              </a:solidFill>
            </a:endParaRPr>
          </a:p>
        </p:txBody>
      </p:sp>
      <p:graphicFrame>
        <p:nvGraphicFramePr>
          <p:cNvPr id="8" name="Group 6">
            <a:extLst>
              <a:ext uri="{FF2B5EF4-FFF2-40B4-BE49-F238E27FC236}">
                <a16:creationId xmlns:a16="http://schemas.microsoft.com/office/drawing/2014/main" id="{87962A0F-C197-4A73-81D1-9747097A827D}"/>
              </a:ext>
            </a:extLst>
          </p:cNvPr>
          <p:cNvGraphicFramePr>
            <a:graphicFrameLocks noGrp="1"/>
          </p:cNvGraphicFramePr>
          <p:nvPr>
            <p:extLst>
              <p:ext uri="{D42A27DB-BD31-4B8C-83A1-F6EECF244321}">
                <p14:modId xmlns:p14="http://schemas.microsoft.com/office/powerpoint/2010/main" val="4119736392"/>
              </p:ext>
            </p:extLst>
          </p:nvPr>
        </p:nvGraphicFramePr>
        <p:xfrm>
          <a:off x="5370945" y="5380181"/>
          <a:ext cx="6096000" cy="584200"/>
        </p:xfrm>
        <a:graphic>
          <a:graphicData uri="http://schemas.openxmlformats.org/drawingml/2006/table">
            <a:tbl>
              <a:tblPr/>
              <a:tblGrid>
                <a:gridCol w="990600">
                  <a:extLst>
                    <a:ext uri="{9D8B030D-6E8A-4147-A177-3AD203B41FA5}">
                      <a16:colId xmlns:a16="http://schemas.microsoft.com/office/drawing/2014/main" val="7941888"/>
                    </a:ext>
                  </a:extLst>
                </a:gridCol>
                <a:gridCol w="1524000">
                  <a:extLst>
                    <a:ext uri="{9D8B030D-6E8A-4147-A177-3AD203B41FA5}">
                      <a16:colId xmlns:a16="http://schemas.microsoft.com/office/drawing/2014/main" val="3955971453"/>
                    </a:ext>
                  </a:extLst>
                </a:gridCol>
                <a:gridCol w="3581400">
                  <a:extLst>
                    <a:ext uri="{9D8B030D-6E8A-4147-A177-3AD203B41FA5}">
                      <a16:colId xmlns:a16="http://schemas.microsoft.com/office/drawing/2014/main" val="1797295004"/>
                    </a:ext>
                  </a:extLst>
                </a:gridCol>
              </a:tblGrid>
              <a:tr h="584200">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 valid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 tag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 data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270012"/>
                  </a:ext>
                </a:extLst>
              </a:tr>
            </a:tbl>
          </a:graphicData>
        </a:graphic>
      </p:graphicFrame>
      <p:sp>
        <p:nvSpPr>
          <p:cNvPr id="9" name="Text Box 16">
            <a:extLst>
              <a:ext uri="{FF2B5EF4-FFF2-40B4-BE49-F238E27FC236}">
                <a16:creationId xmlns:a16="http://schemas.microsoft.com/office/drawing/2014/main" id="{489320DC-E8C5-473C-9728-45C3B71633B7}"/>
              </a:ext>
            </a:extLst>
          </p:cNvPr>
          <p:cNvSpPr txBox="1">
            <a:spLocks noChangeArrowheads="1"/>
          </p:cNvSpPr>
          <p:nvPr/>
        </p:nvSpPr>
        <p:spPr bwMode="auto">
          <a:xfrm>
            <a:off x="5556434" y="600518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40</a:t>
            </a:r>
          </a:p>
        </p:txBody>
      </p:sp>
      <p:sp>
        <p:nvSpPr>
          <p:cNvPr id="10" name="Text Box 17">
            <a:extLst>
              <a:ext uri="{FF2B5EF4-FFF2-40B4-BE49-F238E27FC236}">
                <a16:creationId xmlns:a16="http://schemas.microsoft.com/office/drawing/2014/main" id="{42715C19-ED95-41DD-ABDF-ED5B47036B6B}"/>
              </a:ext>
            </a:extLst>
          </p:cNvPr>
          <p:cNvSpPr txBox="1">
            <a:spLocks noChangeArrowheads="1"/>
          </p:cNvSpPr>
          <p:nvPr/>
        </p:nvSpPr>
        <p:spPr bwMode="auto">
          <a:xfrm>
            <a:off x="6301220" y="5998070"/>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39</a:t>
            </a:r>
          </a:p>
        </p:txBody>
      </p:sp>
      <p:sp>
        <p:nvSpPr>
          <p:cNvPr id="11" name="Text Box 18">
            <a:extLst>
              <a:ext uri="{FF2B5EF4-FFF2-40B4-BE49-F238E27FC236}">
                <a16:creationId xmlns:a16="http://schemas.microsoft.com/office/drawing/2014/main" id="{BD0E252D-30E4-449B-B81E-B1835FAA3826}"/>
              </a:ext>
            </a:extLst>
          </p:cNvPr>
          <p:cNvSpPr txBox="1">
            <a:spLocks noChangeArrowheads="1"/>
          </p:cNvSpPr>
          <p:nvPr/>
        </p:nvSpPr>
        <p:spPr bwMode="auto">
          <a:xfrm>
            <a:off x="7825220" y="5988834"/>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31</a:t>
            </a:r>
          </a:p>
        </p:txBody>
      </p:sp>
      <p:sp>
        <p:nvSpPr>
          <p:cNvPr id="12" name="Text Box 19">
            <a:extLst>
              <a:ext uri="{FF2B5EF4-FFF2-40B4-BE49-F238E27FC236}">
                <a16:creationId xmlns:a16="http://schemas.microsoft.com/office/drawing/2014/main" id="{7A75C71C-85D7-4245-8D7F-60E0E044A1B5}"/>
              </a:ext>
            </a:extLst>
          </p:cNvPr>
          <p:cNvSpPr txBox="1">
            <a:spLocks noChangeArrowheads="1"/>
          </p:cNvSpPr>
          <p:nvPr/>
        </p:nvSpPr>
        <p:spPr bwMode="auto">
          <a:xfrm>
            <a:off x="7483844" y="5975414"/>
            <a:ext cx="4539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32</a:t>
            </a:r>
          </a:p>
        </p:txBody>
      </p:sp>
      <p:sp>
        <p:nvSpPr>
          <p:cNvPr id="13" name="Text Box 20">
            <a:extLst>
              <a:ext uri="{FF2B5EF4-FFF2-40B4-BE49-F238E27FC236}">
                <a16:creationId xmlns:a16="http://schemas.microsoft.com/office/drawing/2014/main" id="{0A35AE3D-8D60-4BCA-B56D-2A0F44755CCE}"/>
              </a:ext>
            </a:extLst>
          </p:cNvPr>
          <p:cNvSpPr txBox="1">
            <a:spLocks noChangeArrowheads="1"/>
          </p:cNvSpPr>
          <p:nvPr/>
        </p:nvSpPr>
        <p:spPr bwMode="auto">
          <a:xfrm>
            <a:off x="11279042" y="6003122"/>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0</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a:extLst>
              <a:ext uri="{FF2B5EF4-FFF2-40B4-BE49-F238E27FC236}">
                <a16:creationId xmlns:a16="http://schemas.microsoft.com/office/drawing/2014/main" id="{28A83786-772F-462E-8FAE-8BED4A85A77A}"/>
              </a:ext>
            </a:extLst>
          </p:cNvPr>
          <p:cNvSpPr txBox="1">
            <a:spLocks noChangeArrowheads="1"/>
          </p:cNvSpPr>
          <p:nvPr/>
        </p:nvSpPr>
        <p:spPr bwMode="auto">
          <a:xfrm>
            <a:off x="267856" y="983978"/>
            <a:ext cx="458123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FF0000"/>
                </a:solidFill>
              </a:rPr>
              <a:t>1</a:t>
            </a:r>
            <a:r>
              <a:rPr lang="zh-CN" altLang="en-US" sz="2000" dirty="0">
                <a:solidFill>
                  <a:srgbClr val="FF0000"/>
                </a:solidFill>
              </a:rPr>
              <a:t>）压缩结构体的操作</a:t>
            </a:r>
            <a:r>
              <a:rPr lang="zh-CN" altLang="en-US" sz="2000" dirty="0">
                <a:solidFill>
                  <a:srgbClr val="0000FF"/>
                </a:solidFill>
              </a:rPr>
              <a:t>：</a:t>
            </a:r>
            <a:endParaRPr lang="en-US" altLang="zh-CN" sz="2000" dirty="0">
              <a:solidFill>
                <a:srgbClr val="0000FF"/>
              </a:solidFill>
            </a:endParaRPr>
          </a:p>
          <a:p>
            <a:pPr>
              <a:spcBef>
                <a:spcPct val="0"/>
              </a:spcBef>
            </a:pPr>
            <a:r>
              <a:rPr lang="zh-CN" altLang="en-US" sz="2000" dirty="0">
                <a:solidFill>
                  <a:srgbClr val="0000FF"/>
                </a:solidFill>
              </a:rPr>
              <a:t>非压缩结构体的操作对压缩结构体一样适用，但压缩结构体还有与向量类似的操作，如算术操作、逻辑操作等</a:t>
            </a:r>
          </a:p>
        </p:txBody>
      </p:sp>
      <p:sp>
        <p:nvSpPr>
          <p:cNvPr id="20484" name="Text Box 4">
            <a:extLst>
              <a:ext uri="{FF2B5EF4-FFF2-40B4-BE49-F238E27FC236}">
                <a16:creationId xmlns:a16="http://schemas.microsoft.com/office/drawing/2014/main" id="{77FA5D60-0185-47BC-B26A-8A648E3472C8}"/>
              </a:ext>
            </a:extLst>
          </p:cNvPr>
          <p:cNvSpPr txBox="1">
            <a:spLocks noChangeArrowheads="1"/>
          </p:cNvSpPr>
          <p:nvPr/>
        </p:nvSpPr>
        <p:spPr bwMode="auto">
          <a:xfrm>
            <a:off x="267856" y="2430214"/>
            <a:ext cx="4458855"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 typedef struct packed {</a:t>
            </a:r>
          </a:p>
          <a:p>
            <a:pPr>
              <a:spcBef>
                <a:spcPct val="0"/>
              </a:spcBef>
            </a:pPr>
            <a:r>
              <a:rPr lang="en-US" altLang="zh-CN" sz="2000" dirty="0">
                <a:solidFill>
                  <a:srgbClr val="0000FF"/>
                </a:solidFill>
              </a:rPr>
              <a:t>     logic valid;</a:t>
            </a:r>
          </a:p>
          <a:p>
            <a:pPr>
              <a:spcBef>
                <a:spcPct val="0"/>
              </a:spcBef>
            </a:pPr>
            <a:r>
              <a:rPr lang="en-US" altLang="zh-CN" sz="2000" dirty="0">
                <a:solidFill>
                  <a:srgbClr val="0000FF"/>
                </a:solidFill>
              </a:rPr>
              <a:t>     logic [7 : 0] tag;</a:t>
            </a:r>
          </a:p>
          <a:p>
            <a:pPr>
              <a:spcBef>
                <a:spcPct val="0"/>
              </a:spcBef>
            </a:pPr>
            <a:r>
              <a:rPr lang="en-US" altLang="zh-CN" sz="2000" dirty="0">
                <a:solidFill>
                  <a:srgbClr val="0000FF"/>
                </a:solidFill>
              </a:rPr>
              <a:t>     logic [31 : 0] data;</a:t>
            </a:r>
          </a:p>
          <a:p>
            <a:pPr>
              <a:spcBef>
                <a:spcPct val="0"/>
              </a:spcBef>
            </a:pPr>
            <a:r>
              <a:rPr lang="en-US" altLang="zh-CN" sz="2000" dirty="0">
                <a:solidFill>
                  <a:srgbClr val="0000FF"/>
                </a:solidFill>
              </a:rPr>
              <a:t>  } </a:t>
            </a:r>
            <a:r>
              <a:rPr lang="en-US" altLang="zh-CN" sz="2000" dirty="0" err="1">
                <a:solidFill>
                  <a:srgbClr val="0000FF"/>
                </a:solidFill>
              </a:rPr>
              <a:t>data_word_t</a:t>
            </a:r>
            <a:r>
              <a:rPr lang="en-US" altLang="zh-CN" sz="2000" dirty="0">
                <a:solidFill>
                  <a:srgbClr val="0000FF"/>
                </a:solidFill>
              </a:rPr>
              <a:t>;</a:t>
            </a:r>
          </a:p>
          <a:p>
            <a:pPr>
              <a:spcBef>
                <a:spcPct val="0"/>
              </a:spcBef>
            </a:pPr>
            <a:r>
              <a:rPr lang="en-US" altLang="zh-CN" sz="2000" dirty="0">
                <a:solidFill>
                  <a:srgbClr val="FF0000"/>
                </a:solidFill>
              </a:rPr>
              <a:t> </a:t>
            </a:r>
            <a:r>
              <a:rPr lang="en-US" altLang="zh-CN" sz="2000" dirty="0" err="1">
                <a:solidFill>
                  <a:srgbClr val="0000FF"/>
                </a:solidFill>
              </a:rPr>
              <a:t>data_word_t</a:t>
            </a:r>
            <a:r>
              <a:rPr lang="en-US" altLang="zh-CN" sz="2000" dirty="0">
                <a:solidFill>
                  <a:srgbClr val="0000FF"/>
                </a:solidFill>
              </a:rPr>
              <a:t> </a:t>
            </a:r>
            <a:r>
              <a:rPr lang="en-US" altLang="zh-CN" sz="2000" dirty="0" err="1">
                <a:solidFill>
                  <a:srgbClr val="0000FF"/>
                </a:solidFill>
              </a:rPr>
              <a:t>packet_in</a:t>
            </a:r>
            <a:r>
              <a:rPr lang="en-US" altLang="zh-CN" sz="2000" dirty="0">
                <a:solidFill>
                  <a:srgbClr val="0000FF"/>
                </a:solidFill>
              </a:rPr>
              <a:t>, </a:t>
            </a:r>
            <a:r>
              <a:rPr lang="en-US" altLang="zh-CN" sz="2000" dirty="0" err="1">
                <a:solidFill>
                  <a:srgbClr val="0000FF"/>
                </a:solidFill>
              </a:rPr>
              <a:t>packet_out</a:t>
            </a:r>
            <a:r>
              <a:rPr lang="en-US" altLang="zh-CN" sz="2000" dirty="0">
                <a:solidFill>
                  <a:srgbClr val="0000FF"/>
                </a:solidFill>
              </a:rPr>
              <a:t>;</a:t>
            </a:r>
          </a:p>
          <a:p>
            <a:pPr>
              <a:spcBef>
                <a:spcPct val="0"/>
              </a:spcBef>
            </a:pPr>
            <a:endParaRPr lang="en-US" altLang="zh-CN" sz="2000" dirty="0">
              <a:solidFill>
                <a:srgbClr val="0000FF"/>
              </a:solidFill>
            </a:endParaRPr>
          </a:p>
          <a:p>
            <a:pPr>
              <a:spcBef>
                <a:spcPct val="0"/>
              </a:spcBef>
            </a:pPr>
            <a:r>
              <a:rPr lang="en-US" altLang="zh-CN" sz="2000" dirty="0">
                <a:solidFill>
                  <a:srgbClr val="0000FF"/>
                </a:solidFill>
              </a:rPr>
              <a:t> always @(</a:t>
            </a:r>
            <a:r>
              <a:rPr lang="en-US" altLang="zh-CN" sz="2000" dirty="0" err="1">
                <a:solidFill>
                  <a:srgbClr val="0000FF"/>
                </a:solidFill>
              </a:rPr>
              <a:t>posedge</a:t>
            </a:r>
            <a:r>
              <a:rPr lang="en-US" altLang="zh-CN" sz="2000" dirty="0">
                <a:solidFill>
                  <a:srgbClr val="0000FF"/>
                </a:solidFill>
              </a:rPr>
              <a:t> </a:t>
            </a:r>
            <a:r>
              <a:rPr lang="en-US" altLang="zh-CN" sz="2000" dirty="0" err="1">
                <a:solidFill>
                  <a:srgbClr val="0000FF"/>
                </a:solidFill>
              </a:rPr>
              <a:t>clk</a:t>
            </a:r>
            <a:r>
              <a:rPr lang="en-US" altLang="zh-CN" sz="2000" dirty="0">
                <a:solidFill>
                  <a:srgbClr val="0000FF"/>
                </a:solidFill>
              </a:rPr>
              <a:t>)</a:t>
            </a:r>
          </a:p>
          <a:p>
            <a:pPr>
              <a:spcBef>
                <a:spcPct val="0"/>
              </a:spcBef>
            </a:pPr>
            <a:r>
              <a:rPr lang="en-US" altLang="zh-CN" sz="2000" dirty="0">
                <a:solidFill>
                  <a:srgbClr val="FF0000"/>
                </a:solidFill>
              </a:rPr>
              <a:t>     </a:t>
            </a:r>
            <a:r>
              <a:rPr lang="en-US" altLang="zh-CN" sz="2000" dirty="0" err="1">
                <a:solidFill>
                  <a:srgbClr val="FF0000"/>
                </a:solidFill>
              </a:rPr>
              <a:t>packet_out</a:t>
            </a:r>
            <a:r>
              <a:rPr lang="en-US" altLang="zh-CN" sz="2000" dirty="0">
                <a:solidFill>
                  <a:srgbClr val="FF0000"/>
                </a:solidFill>
              </a:rPr>
              <a:t> &lt;= </a:t>
            </a:r>
            <a:r>
              <a:rPr lang="en-US" altLang="zh-CN" sz="2000" dirty="0" err="1">
                <a:solidFill>
                  <a:srgbClr val="FF0000"/>
                </a:solidFill>
              </a:rPr>
              <a:t>packet_in</a:t>
            </a:r>
            <a:r>
              <a:rPr lang="en-US" altLang="zh-CN" sz="2000" dirty="0">
                <a:solidFill>
                  <a:srgbClr val="FF0000"/>
                </a:solidFill>
              </a:rPr>
              <a:t> &lt;&lt; 2;</a:t>
            </a:r>
          </a:p>
        </p:txBody>
      </p:sp>
      <p:sp>
        <p:nvSpPr>
          <p:cNvPr id="5" name="Text Box 2">
            <a:extLst>
              <a:ext uri="{FF2B5EF4-FFF2-40B4-BE49-F238E27FC236}">
                <a16:creationId xmlns:a16="http://schemas.microsoft.com/office/drawing/2014/main" id="{34376E8D-2F07-4772-8B9A-D500870BBF0D}"/>
              </a:ext>
            </a:extLst>
          </p:cNvPr>
          <p:cNvSpPr txBox="1">
            <a:spLocks noChangeArrowheads="1"/>
          </p:cNvSpPr>
          <p:nvPr/>
        </p:nvSpPr>
        <p:spPr bwMode="auto">
          <a:xfrm>
            <a:off x="788554" y="87265"/>
            <a:ext cx="954347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结构体：</a:t>
            </a:r>
            <a:r>
              <a:rPr lang="en-US" altLang="zh-CN" sz="4400" dirty="0">
                <a:solidFill>
                  <a:srgbClr val="000066"/>
                </a:solidFill>
                <a:latin typeface="Arial" panose="020B0604020202020204" pitchFamily="34" charset="0"/>
              </a:rPr>
              <a:t>struct</a:t>
            </a:r>
            <a:endParaRPr lang="zh-CN" altLang="en-US" sz="4400" dirty="0">
              <a:solidFill>
                <a:srgbClr val="000066"/>
              </a:solidFill>
              <a:latin typeface="Arial" panose="020B0604020202020204" pitchFamily="34" charset="0"/>
            </a:endParaRPr>
          </a:p>
        </p:txBody>
      </p:sp>
      <p:sp>
        <p:nvSpPr>
          <p:cNvPr id="6" name="Text Box 3">
            <a:extLst>
              <a:ext uri="{FF2B5EF4-FFF2-40B4-BE49-F238E27FC236}">
                <a16:creationId xmlns:a16="http://schemas.microsoft.com/office/drawing/2014/main" id="{35FBB196-9D3E-442D-BECC-55544C3056FC}"/>
              </a:ext>
            </a:extLst>
          </p:cNvPr>
          <p:cNvSpPr txBox="1">
            <a:spLocks noChangeArrowheads="1"/>
          </p:cNvSpPr>
          <p:nvPr/>
        </p:nvSpPr>
        <p:spPr bwMode="auto">
          <a:xfrm>
            <a:off x="5454072" y="983978"/>
            <a:ext cx="631305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FF0000"/>
                </a:solidFill>
              </a:rPr>
              <a:t>2</a:t>
            </a:r>
            <a:r>
              <a:rPr lang="zh-CN" altLang="en-US" sz="2000" dirty="0">
                <a:solidFill>
                  <a:srgbClr val="FF0000"/>
                </a:solidFill>
              </a:rPr>
              <a:t>）有符号的压缩</a:t>
            </a:r>
            <a:r>
              <a:rPr lang="zh-CN" altLang="en-US" sz="2400" dirty="0">
                <a:solidFill>
                  <a:srgbClr val="FF0000"/>
                </a:solidFill>
              </a:rPr>
              <a:t>结构体</a:t>
            </a:r>
            <a:r>
              <a:rPr lang="zh-CN" altLang="en-US" sz="2000" dirty="0">
                <a:solidFill>
                  <a:srgbClr val="0000FF"/>
                </a:solidFill>
              </a:rPr>
              <a:t>：</a:t>
            </a:r>
            <a:endParaRPr lang="en-US" altLang="zh-CN" sz="2000" dirty="0">
              <a:solidFill>
                <a:srgbClr val="0000FF"/>
              </a:solidFill>
            </a:endParaRPr>
          </a:p>
          <a:p>
            <a:pPr>
              <a:spcBef>
                <a:spcPct val="0"/>
              </a:spcBef>
            </a:pPr>
            <a:r>
              <a:rPr lang="zh-CN" altLang="en-US" sz="2000" dirty="0">
                <a:solidFill>
                  <a:srgbClr val="0000FF"/>
                </a:solidFill>
              </a:rPr>
              <a:t>压缩结构体作为向量使用可以是有符号或无符号的，用关键字</a:t>
            </a:r>
            <a:r>
              <a:rPr lang="en-US" altLang="zh-CN" sz="2000" dirty="0">
                <a:solidFill>
                  <a:srgbClr val="0000FF"/>
                </a:solidFill>
              </a:rPr>
              <a:t>signed</a:t>
            </a:r>
            <a:r>
              <a:rPr lang="zh-CN" altLang="en-US" sz="2000" dirty="0">
                <a:solidFill>
                  <a:srgbClr val="0000FF"/>
                </a:solidFill>
              </a:rPr>
              <a:t>或</a:t>
            </a:r>
            <a:r>
              <a:rPr lang="en-US" altLang="zh-CN" sz="2000" dirty="0">
                <a:solidFill>
                  <a:srgbClr val="0000FF"/>
                </a:solidFill>
              </a:rPr>
              <a:t>unsigned</a:t>
            </a:r>
            <a:r>
              <a:rPr lang="zh-CN" altLang="en-US" sz="2000" dirty="0">
                <a:solidFill>
                  <a:srgbClr val="0000FF"/>
                </a:solidFill>
              </a:rPr>
              <a:t>来声明；</a:t>
            </a:r>
            <a:endParaRPr lang="en-US" altLang="zh-CN" sz="2000" dirty="0">
              <a:solidFill>
                <a:srgbClr val="0000FF"/>
              </a:solidFill>
            </a:endParaRPr>
          </a:p>
          <a:p>
            <a:pPr>
              <a:spcBef>
                <a:spcPct val="0"/>
              </a:spcBef>
            </a:pPr>
            <a:r>
              <a:rPr lang="zh-CN" altLang="en-US" sz="2000" dirty="0">
                <a:solidFill>
                  <a:srgbClr val="0000FF"/>
                </a:solidFill>
              </a:rPr>
              <a:t>压缩结构体的部分选择始终是无符号的。</a:t>
            </a:r>
          </a:p>
        </p:txBody>
      </p:sp>
      <p:sp>
        <p:nvSpPr>
          <p:cNvPr id="7" name="Text Box 4">
            <a:extLst>
              <a:ext uri="{FF2B5EF4-FFF2-40B4-BE49-F238E27FC236}">
                <a16:creationId xmlns:a16="http://schemas.microsoft.com/office/drawing/2014/main" id="{328CB19D-E1B5-4CD4-AB26-F5A22B769D58}"/>
              </a:ext>
            </a:extLst>
          </p:cNvPr>
          <p:cNvSpPr txBox="1">
            <a:spLocks noChangeArrowheads="1"/>
          </p:cNvSpPr>
          <p:nvPr/>
        </p:nvSpPr>
        <p:spPr bwMode="auto">
          <a:xfrm>
            <a:off x="5791199" y="2496245"/>
            <a:ext cx="5080001"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 typedef struct packed signed{</a:t>
            </a:r>
          </a:p>
          <a:p>
            <a:pPr>
              <a:spcBef>
                <a:spcPct val="0"/>
              </a:spcBef>
            </a:pPr>
            <a:r>
              <a:rPr lang="en-US" altLang="zh-CN" sz="2000" dirty="0">
                <a:solidFill>
                  <a:srgbClr val="0000FF"/>
                </a:solidFill>
              </a:rPr>
              <a:t>     logic valid;</a:t>
            </a:r>
          </a:p>
          <a:p>
            <a:pPr>
              <a:spcBef>
                <a:spcPct val="0"/>
              </a:spcBef>
            </a:pPr>
            <a:r>
              <a:rPr lang="en-US" altLang="zh-CN" sz="2000" dirty="0">
                <a:solidFill>
                  <a:srgbClr val="0000FF"/>
                </a:solidFill>
              </a:rPr>
              <a:t>     logic [7 : 0] tag;</a:t>
            </a:r>
          </a:p>
          <a:p>
            <a:pPr>
              <a:spcBef>
                <a:spcPct val="0"/>
              </a:spcBef>
            </a:pPr>
            <a:r>
              <a:rPr lang="en-US" altLang="zh-CN" sz="2000" dirty="0">
                <a:solidFill>
                  <a:srgbClr val="0000FF"/>
                </a:solidFill>
              </a:rPr>
              <a:t>     logic [31 : 0] data;</a:t>
            </a:r>
          </a:p>
          <a:p>
            <a:pPr>
              <a:spcBef>
                <a:spcPct val="0"/>
              </a:spcBef>
            </a:pPr>
            <a:r>
              <a:rPr lang="en-US" altLang="zh-CN" sz="2000" dirty="0">
                <a:solidFill>
                  <a:srgbClr val="0000FF"/>
                </a:solidFill>
              </a:rPr>
              <a:t>  } </a:t>
            </a:r>
            <a:r>
              <a:rPr lang="en-US" altLang="zh-CN" sz="2000" dirty="0" err="1">
                <a:solidFill>
                  <a:srgbClr val="0000FF"/>
                </a:solidFill>
              </a:rPr>
              <a:t>data_word_t</a:t>
            </a:r>
            <a:r>
              <a:rPr lang="en-US" altLang="zh-CN" sz="2000" dirty="0">
                <a:solidFill>
                  <a:srgbClr val="0000FF"/>
                </a:solidFill>
              </a:rPr>
              <a:t>;</a:t>
            </a:r>
          </a:p>
          <a:p>
            <a:pPr>
              <a:spcBef>
                <a:spcPct val="0"/>
              </a:spcBef>
            </a:pPr>
            <a:r>
              <a:rPr lang="en-US" altLang="zh-CN" sz="2000" dirty="0">
                <a:solidFill>
                  <a:srgbClr val="FF0000"/>
                </a:solidFill>
              </a:rPr>
              <a:t> </a:t>
            </a:r>
            <a:r>
              <a:rPr lang="en-US" altLang="zh-CN" sz="2000" dirty="0" err="1">
                <a:solidFill>
                  <a:srgbClr val="0000FF"/>
                </a:solidFill>
              </a:rPr>
              <a:t>data_word_t</a:t>
            </a:r>
            <a:r>
              <a:rPr lang="en-US" altLang="zh-CN" sz="2000" dirty="0">
                <a:solidFill>
                  <a:srgbClr val="0000FF"/>
                </a:solidFill>
              </a:rPr>
              <a:t> a, b;</a:t>
            </a:r>
          </a:p>
          <a:p>
            <a:pPr>
              <a:spcBef>
                <a:spcPct val="0"/>
              </a:spcBef>
            </a:pPr>
            <a:endParaRPr lang="en-US" altLang="zh-CN" sz="2000" dirty="0">
              <a:solidFill>
                <a:srgbClr val="0000FF"/>
              </a:solidFill>
            </a:endParaRPr>
          </a:p>
          <a:p>
            <a:pPr>
              <a:spcBef>
                <a:spcPct val="0"/>
              </a:spcBef>
            </a:pPr>
            <a:r>
              <a:rPr lang="en-US" altLang="zh-CN" sz="2000" dirty="0">
                <a:solidFill>
                  <a:srgbClr val="0000FF"/>
                </a:solidFill>
              </a:rPr>
              <a:t> always @(</a:t>
            </a:r>
            <a:r>
              <a:rPr lang="en-US" altLang="zh-CN" sz="2000" dirty="0" err="1">
                <a:solidFill>
                  <a:srgbClr val="0000FF"/>
                </a:solidFill>
              </a:rPr>
              <a:t>posedge</a:t>
            </a:r>
            <a:r>
              <a:rPr lang="en-US" altLang="zh-CN" sz="2000" dirty="0">
                <a:solidFill>
                  <a:srgbClr val="0000FF"/>
                </a:solidFill>
              </a:rPr>
              <a:t> </a:t>
            </a:r>
            <a:r>
              <a:rPr lang="en-US" altLang="zh-CN" sz="2000" dirty="0" err="1">
                <a:solidFill>
                  <a:srgbClr val="0000FF"/>
                </a:solidFill>
              </a:rPr>
              <a:t>clk</a:t>
            </a:r>
            <a:r>
              <a:rPr lang="en-US" altLang="zh-CN" sz="2000" dirty="0">
                <a:solidFill>
                  <a:srgbClr val="0000FF"/>
                </a:solidFill>
              </a:rPr>
              <a:t>)</a:t>
            </a:r>
          </a:p>
          <a:p>
            <a:pPr>
              <a:spcBef>
                <a:spcPct val="0"/>
              </a:spcBef>
            </a:pPr>
            <a:r>
              <a:rPr lang="en-US" altLang="zh-CN" sz="2000" dirty="0">
                <a:solidFill>
                  <a:srgbClr val="0000FF"/>
                </a:solidFill>
              </a:rPr>
              <a:t>     if (a &lt; b)   //</a:t>
            </a:r>
            <a:r>
              <a:rPr lang="zh-CN" altLang="en-US" sz="2000" dirty="0">
                <a:solidFill>
                  <a:srgbClr val="0000FF"/>
                </a:solidFill>
              </a:rPr>
              <a:t>有符号比较</a:t>
            </a:r>
          </a:p>
          <a:p>
            <a:pPr>
              <a:spcBef>
                <a:spcPct val="0"/>
              </a:spcBef>
            </a:pPr>
            <a:r>
              <a:rPr lang="zh-CN" altLang="en-US" sz="2000" dirty="0">
                <a:solidFill>
                  <a:srgbClr val="0000FF"/>
                </a:solidFill>
              </a:rPr>
              <a:t>        </a:t>
            </a:r>
            <a:r>
              <a:rPr lang="en-US" altLang="zh-CN" sz="2000" dirty="0">
                <a:solidFill>
                  <a:srgbClr val="0000FF"/>
                </a:solidFill>
              </a:rPr>
              <a:t>…</a:t>
            </a:r>
            <a:endParaRPr lang="en-US" altLang="zh-CN" sz="2000" dirty="0">
              <a:solidFill>
                <a:srgbClr val="FF0000"/>
              </a:solidFill>
            </a:endParaRPr>
          </a:p>
        </p:txBody>
      </p:sp>
      <p:sp>
        <p:nvSpPr>
          <p:cNvPr id="2" name="矩形 1">
            <a:extLst>
              <a:ext uri="{FF2B5EF4-FFF2-40B4-BE49-F238E27FC236}">
                <a16:creationId xmlns:a16="http://schemas.microsoft.com/office/drawing/2014/main" id="{9EA61383-B94D-4F67-A66B-693CA6B33DA6}"/>
              </a:ext>
            </a:extLst>
          </p:cNvPr>
          <p:cNvSpPr/>
          <p:nvPr/>
        </p:nvSpPr>
        <p:spPr>
          <a:xfrm>
            <a:off x="442874" y="5636320"/>
            <a:ext cx="4935967" cy="400110"/>
          </a:xfrm>
          <a:prstGeom prst="rect">
            <a:avLst/>
          </a:prstGeom>
        </p:spPr>
        <p:txBody>
          <a:bodyPr wrap="none">
            <a:spAutoFit/>
          </a:bodyPr>
          <a:lstStyle/>
          <a:p>
            <a:pPr>
              <a:spcBef>
                <a:spcPct val="0"/>
              </a:spcBef>
            </a:pPr>
            <a:r>
              <a:rPr lang="en-US" altLang="zh-CN" sz="2000" dirty="0">
                <a:solidFill>
                  <a:srgbClr val="FF0000"/>
                </a:solidFill>
              </a:rPr>
              <a:t>3</a:t>
            </a:r>
            <a:r>
              <a:rPr lang="zh-CN" altLang="en-US" sz="2000" dirty="0">
                <a:solidFill>
                  <a:srgbClr val="FF0000"/>
                </a:solidFill>
              </a:rPr>
              <a:t>）结构体可以通过模块和接口的端口传递</a:t>
            </a:r>
          </a:p>
        </p:txBody>
      </p:sp>
      <p:sp>
        <p:nvSpPr>
          <p:cNvPr id="3" name="矩形 2">
            <a:extLst>
              <a:ext uri="{FF2B5EF4-FFF2-40B4-BE49-F238E27FC236}">
                <a16:creationId xmlns:a16="http://schemas.microsoft.com/office/drawing/2014/main" id="{EBE308F0-01A6-424E-BD50-C1998DEB9C13}"/>
              </a:ext>
            </a:extLst>
          </p:cNvPr>
          <p:cNvSpPr/>
          <p:nvPr/>
        </p:nvSpPr>
        <p:spPr>
          <a:xfrm>
            <a:off x="442874" y="6207206"/>
            <a:ext cx="5192447" cy="400110"/>
          </a:xfrm>
          <a:prstGeom prst="rect">
            <a:avLst/>
          </a:prstGeom>
        </p:spPr>
        <p:txBody>
          <a:bodyPr wrap="none">
            <a:spAutoFit/>
          </a:bodyPr>
          <a:lstStyle/>
          <a:p>
            <a:pPr>
              <a:spcBef>
                <a:spcPct val="0"/>
              </a:spcBef>
            </a:pPr>
            <a:r>
              <a:rPr lang="en-US" altLang="zh-CN" sz="2000" dirty="0">
                <a:solidFill>
                  <a:srgbClr val="FF0000"/>
                </a:solidFill>
              </a:rPr>
              <a:t>4</a:t>
            </a:r>
            <a:r>
              <a:rPr lang="zh-CN" altLang="en-US" sz="2000" dirty="0">
                <a:solidFill>
                  <a:srgbClr val="FF0000"/>
                </a:solidFill>
              </a:rPr>
              <a:t>）结构体可以作为自变量传递给任务和函数</a:t>
            </a:r>
          </a:p>
        </p:txBody>
      </p:sp>
      <p:sp>
        <p:nvSpPr>
          <p:cNvPr id="10" name="Text Box 5">
            <a:extLst>
              <a:ext uri="{FF2B5EF4-FFF2-40B4-BE49-F238E27FC236}">
                <a16:creationId xmlns:a16="http://schemas.microsoft.com/office/drawing/2014/main" id="{F06F9839-965D-422D-9B0E-C1EE933BE33B}"/>
              </a:ext>
            </a:extLst>
          </p:cNvPr>
          <p:cNvSpPr txBox="1">
            <a:spLocks noChangeArrowheads="1"/>
          </p:cNvSpPr>
          <p:nvPr/>
        </p:nvSpPr>
        <p:spPr bwMode="auto">
          <a:xfrm>
            <a:off x="6182736" y="5636320"/>
            <a:ext cx="575295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10000"/>
              </a:spcBef>
            </a:pPr>
            <a:r>
              <a:rPr kumimoji="0" lang="zh-CN" altLang="en-US" sz="2000" i="1" dirty="0">
                <a:solidFill>
                  <a:srgbClr val="FF0000"/>
                </a:solidFill>
              </a:rPr>
              <a:t>非压缩和压缩结构体都是可综合的，综合工具支持结构体通过模块端口、任务和函数传递，支持使用成员名和值的列表对结构体赋值！</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E4FD74C1-CD80-491C-BA87-3782C7A088BF}"/>
              </a:ext>
            </a:extLst>
          </p:cNvPr>
          <p:cNvSpPr txBox="1">
            <a:spLocks noChangeArrowheads="1"/>
          </p:cNvSpPr>
          <p:nvPr/>
        </p:nvSpPr>
        <p:spPr bwMode="auto">
          <a:xfrm>
            <a:off x="775855" y="476251"/>
            <a:ext cx="913014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联合体：</a:t>
            </a:r>
            <a:r>
              <a:rPr lang="en-US" altLang="zh-CN" sz="4400" dirty="0">
                <a:solidFill>
                  <a:srgbClr val="000066"/>
                </a:solidFill>
                <a:latin typeface="Arial" panose="020B0604020202020204" pitchFamily="34" charset="0"/>
              </a:rPr>
              <a:t>union</a:t>
            </a:r>
            <a:endParaRPr lang="zh-CN" altLang="en-US" sz="4400" dirty="0">
              <a:solidFill>
                <a:srgbClr val="000066"/>
              </a:solidFill>
              <a:latin typeface="Arial" panose="020B0604020202020204" pitchFamily="34" charset="0"/>
            </a:endParaRPr>
          </a:p>
        </p:txBody>
      </p:sp>
      <p:sp>
        <p:nvSpPr>
          <p:cNvPr id="28675" name="Text Box 3">
            <a:extLst>
              <a:ext uri="{FF2B5EF4-FFF2-40B4-BE49-F238E27FC236}">
                <a16:creationId xmlns:a16="http://schemas.microsoft.com/office/drawing/2014/main" id="{4D01264C-A044-4D7C-A507-4D5B9ACDDC92}"/>
              </a:ext>
            </a:extLst>
          </p:cNvPr>
          <p:cNvSpPr txBox="1">
            <a:spLocks noChangeArrowheads="1"/>
          </p:cNvSpPr>
          <p:nvPr/>
        </p:nvSpPr>
        <p:spPr bwMode="auto">
          <a:xfrm>
            <a:off x="295564" y="1428751"/>
            <a:ext cx="1096356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000" dirty="0">
                <a:solidFill>
                  <a:srgbClr val="0000FF"/>
                </a:solidFill>
              </a:rPr>
              <a:t>A union is a single storage element that can have multiple representations. Each representation of the storage can be a different type. </a:t>
            </a:r>
          </a:p>
          <a:p>
            <a:pPr marL="342900" indent="-342900">
              <a:spcBef>
                <a:spcPct val="0"/>
              </a:spcBef>
              <a:buFont typeface="Arial" panose="020B0604020202020204" pitchFamily="34" charset="0"/>
              <a:buChar char="•"/>
            </a:pPr>
            <a:r>
              <a:rPr lang="en-US" altLang="zh-CN" sz="2000" dirty="0" err="1">
                <a:solidFill>
                  <a:srgbClr val="0000FF"/>
                </a:solidFill>
              </a:rPr>
              <a:t>SystemVerilog</a:t>
            </a:r>
            <a:r>
              <a:rPr lang="en-US" altLang="zh-CN" sz="2000" dirty="0">
                <a:solidFill>
                  <a:srgbClr val="0000FF"/>
                </a:solidFill>
              </a:rPr>
              <a:t> has three types of unions: a simple union, a packed union, and a tagged union. </a:t>
            </a:r>
            <a:r>
              <a:rPr lang="en-US" altLang="zh-CN" sz="2000" dirty="0">
                <a:solidFill>
                  <a:srgbClr val="FF0000"/>
                </a:solidFill>
              </a:rPr>
              <a:t>Only packed unions are synthesizable. </a:t>
            </a:r>
          </a:p>
          <a:p>
            <a:pPr marL="342900" indent="-342900">
              <a:spcBef>
                <a:spcPct val="0"/>
              </a:spcBef>
              <a:buFont typeface="Arial" panose="020B0604020202020204" pitchFamily="34" charset="0"/>
              <a:buChar char="•"/>
            </a:pPr>
            <a:r>
              <a:rPr lang="en-US" altLang="zh-CN" sz="2000" dirty="0">
                <a:solidFill>
                  <a:srgbClr val="0000FF"/>
                </a:solidFill>
              </a:rPr>
              <a:t>Packed unions require that all representations within the union be packed types of the same number of bits. </a:t>
            </a:r>
            <a:endParaRPr lang="zh-CN" altLang="en-US" sz="2000" dirty="0">
              <a:solidFill>
                <a:srgbClr val="0000FF"/>
              </a:solidFill>
            </a:endParaRPr>
          </a:p>
        </p:txBody>
      </p:sp>
      <p:sp>
        <p:nvSpPr>
          <p:cNvPr id="2" name="矩形 1">
            <a:extLst>
              <a:ext uri="{FF2B5EF4-FFF2-40B4-BE49-F238E27FC236}">
                <a16:creationId xmlns:a16="http://schemas.microsoft.com/office/drawing/2014/main" id="{48712CA7-23E0-478B-92BA-9F486BDDC270}"/>
              </a:ext>
            </a:extLst>
          </p:cNvPr>
          <p:cNvSpPr/>
          <p:nvPr/>
        </p:nvSpPr>
        <p:spPr>
          <a:xfrm>
            <a:off x="480290" y="3640556"/>
            <a:ext cx="3879274" cy="2862322"/>
          </a:xfrm>
          <a:prstGeom prst="rect">
            <a:avLst/>
          </a:prstGeom>
        </p:spPr>
        <p:txBody>
          <a:bodyPr wrap="square">
            <a:spAutoFit/>
          </a:bodyPr>
          <a:lstStyle/>
          <a:p>
            <a:r>
              <a:rPr lang="en-US" altLang="zh-CN" b="1" dirty="0">
                <a:solidFill>
                  <a:srgbClr val="000000"/>
                </a:solidFill>
                <a:latin typeface="CourierNewPS-BoldMT"/>
              </a:rPr>
              <a:t>union packed {</a:t>
            </a:r>
          </a:p>
          <a:p>
            <a:r>
              <a:rPr lang="en-US" altLang="zh-CN" b="1" dirty="0">
                <a:solidFill>
                  <a:srgbClr val="000000"/>
                </a:solidFill>
                <a:latin typeface="CourierNewPS-BoldMT"/>
              </a:rPr>
              <a:t>  </a:t>
            </a:r>
            <a:r>
              <a:rPr lang="en-US" altLang="zh-CN" dirty="0">
                <a:solidFill>
                  <a:srgbClr val="000000"/>
                </a:solidFill>
                <a:latin typeface="CourierNewPSMT"/>
              </a:rPr>
              <a:t>struct packed {</a:t>
            </a:r>
          </a:p>
          <a:p>
            <a:r>
              <a:rPr lang="en-US" altLang="zh-CN" dirty="0">
                <a:solidFill>
                  <a:srgbClr val="000000"/>
                </a:solidFill>
                <a:latin typeface="CourierNewPSMT"/>
              </a:rPr>
              <a:t>    logic [31:0] data;</a:t>
            </a:r>
            <a:br>
              <a:rPr lang="en-US" altLang="zh-CN" dirty="0">
                <a:solidFill>
                  <a:srgbClr val="000000"/>
                </a:solidFill>
                <a:latin typeface="CourierNewPSMT"/>
              </a:rPr>
            </a:br>
            <a:r>
              <a:rPr lang="en-US" altLang="zh-CN" dirty="0">
                <a:solidFill>
                  <a:srgbClr val="000000"/>
                </a:solidFill>
                <a:latin typeface="CourierNewPSMT"/>
              </a:rPr>
              <a:t>    logic [31:0] address;</a:t>
            </a:r>
            <a:br>
              <a:rPr lang="en-US" altLang="zh-CN" dirty="0">
                <a:solidFill>
                  <a:srgbClr val="000000"/>
                </a:solidFill>
                <a:latin typeface="CourierNewPSMT"/>
              </a:rPr>
            </a:br>
            <a:r>
              <a:rPr lang="en-US" altLang="zh-CN" dirty="0">
                <a:solidFill>
                  <a:srgbClr val="000000"/>
                </a:solidFill>
                <a:latin typeface="CourierNewPSMT"/>
              </a:rPr>
              <a:t>  } </a:t>
            </a:r>
            <a:r>
              <a:rPr lang="en-US" altLang="zh-CN" b="1" dirty="0" err="1">
                <a:solidFill>
                  <a:srgbClr val="000000"/>
                </a:solidFill>
                <a:latin typeface="CourierNewPS-BoldMT"/>
              </a:rPr>
              <a:t>data_packet</a:t>
            </a:r>
            <a:r>
              <a:rPr lang="en-US" altLang="zh-CN" dirty="0">
                <a:solidFill>
                  <a:srgbClr val="000000"/>
                </a:solidFill>
                <a:latin typeface="CourierNewPSMT"/>
              </a:rPr>
              <a:t>;</a:t>
            </a:r>
            <a:r>
              <a:rPr lang="en-US" altLang="zh-CN" dirty="0"/>
              <a:t> </a:t>
            </a:r>
          </a:p>
          <a:p>
            <a:r>
              <a:rPr lang="en-US" altLang="zh-CN" dirty="0">
                <a:solidFill>
                  <a:srgbClr val="000000"/>
                </a:solidFill>
                <a:latin typeface="CourierNewPSMT"/>
              </a:rPr>
              <a:t>  struct packed {</a:t>
            </a:r>
            <a:br>
              <a:rPr lang="en-US" altLang="zh-CN" dirty="0">
                <a:solidFill>
                  <a:srgbClr val="000000"/>
                </a:solidFill>
                <a:latin typeface="CourierNewPSMT"/>
              </a:rPr>
            </a:br>
            <a:r>
              <a:rPr lang="en-US" altLang="zh-CN" dirty="0">
                <a:solidFill>
                  <a:srgbClr val="000000"/>
                </a:solidFill>
                <a:latin typeface="CourierNewPSMT"/>
              </a:rPr>
              <a:t>    logic [31:0] data;</a:t>
            </a:r>
            <a:br>
              <a:rPr lang="en-US" altLang="zh-CN" dirty="0">
                <a:solidFill>
                  <a:srgbClr val="000000"/>
                </a:solidFill>
                <a:latin typeface="CourierNewPSMT"/>
              </a:rPr>
            </a:br>
            <a:r>
              <a:rPr lang="en-US" altLang="zh-CN" dirty="0">
                <a:solidFill>
                  <a:srgbClr val="000000"/>
                </a:solidFill>
                <a:latin typeface="CourierNewPSMT"/>
              </a:rPr>
              <a:t>    logic [31:0] operation;</a:t>
            </a:r>
            <a:br>
              <a:rPr lang="en-US" altLang="zh-CN" dirty="0">
                <a:solidFill>
                  <a:srgbClr val="000000"/>
                </a:solidFill>
                <a:latin typeface="CourierNewPSMT"/>
              </a:rPr>
            </a:br>
            <a:r>
              <a:rPr lang="en-US" altLang="zh-CN" dirty="0">
                <a:solidFill>
                  <a:srgbClr val="000000"/>
                </a:solidFill>
                <a:latin typeface="CourierNewPSMT"/>
              </a:rPr>
              <a:t>  } </a:t>
            </a:r>
            <a:r>
              <a:rPr lang="en-US" altLang="zh-CN" b="1" dirty="0" err="1">
                <a:solidFill>
                  <a:srgbClr val="000000"/>
                </a:solidFill>
                <a:latin typeface="CourierNewPS-BoldMT"/>
              </a:rPr>
              <a:t>instruction_packet</a:t>
            </a:r>
            <a:r>
              <a:rPr lang="en-US" altLang="zh-CN" dirty="0">
                <a:solidFill>
                  <a:srgbClr val="000000"/>
                </a:solidFill>
                <a:latin typeface="CourierNewPSMT"/>
              </a:rPr>
              <a:t>;</a:t>
            </a:r>
            <a:br>
              <a:rPr lang="en-US" altLang="zh-CN" dirty="0">
                <a:solidFill>
                  <a:srgbClr val="000000"/>
                </a:solidFill>
                <a:latin typeface="CourierNewPSMT"/>
              </a:rPr>
            </a:br>
            <a:r>
              <a:rPr lang="en-US" altLang="zh-CN" b="1" dirty="0">
                <a:solidFill>
                  <a:srgbClr val="000000"/>
                </a:solidFill>
                <a:latin typeface="CourierNewPS-BoldMT"/>
              </a:rPr>
              <a:t>} </a:t>
            </a:r>
            <a:r>
              <a:rPr lang="en-US" altLang="zh-CN" b="1" dirty="0" err="1">
                <a:solidFill>
                  <a:srgbClr val="000000"/>
                </a:solidFill>
                <a:latin typeface="CourierNewPS-BoldMT"/>
              </a:rPr>
              <a:t>packet_u</a:t>
            </a:r>
            <a:r>
              <a:rPr lang="en-US" altLang="zh-CN" b="1" dirty="0">
                <a:solidFill>
                  <a:srgbClr val="000000"/>
                </a:solidFill>
                <a:latin typeface="CourierNewPS-BoldMT"/>
              </a:rPr>
              <a:t>;</a:t>
            </a:r>
            <a:endParaRPr lang="zh-CN" altLang="en-US" dirty="0"/>
          </a:p>
        </p:txBody>
      </p:sp>
      <p:sp>
        <p:nvSpPr>
          <p:cNvPr id="3" name="矩形 2">
            <a:extLst>
              <a:ext uri="{FF2B5EF4-FFF2-40B4-BE49-F238E27FC236}">
                <a16:creationId xmlns:a16="http://schemas.microsoft.com/office/drawing/2014/main" id="{59839484-6C44-4AA0-AC8E-9A62DBD65756}"/>
              </a:ext>
            </a:extLst>
          </p:cNvPr>
          <p:cNvSpPr/>
          <p:nvPr/>
        </p:nvSpPr>
        <p:spPr>
          <a:xfrm>
            <a:off x="4784438" y="3908411"/>
            <a:ext cx="6687126" cy="2246769"/>
          </a:xfrm>
          <a:prstGeom prst="rect">
            <a:avLst/>
          </a:prstGeom>
        </p:spPr>
        <p:txBody>
          <a:bodyPr wrap="square">
            <a:spAutoFit/>
          </a:bodyPr>
          <a:lstStyle/>
          <a:p>
            <a:r>
              <a:rPr lang="en-US" altLang="zh-CN" sz="2000" dirty="0" err="1">
                <a:solidFill>
                  <a:srgbClr val="000000"/>
                </a:solidFill>
                <a:latin typeface="CourierNewPSMT"/>
              </a:rPr>
              <a:t>always_ff</a:t>
            </a:r>
            <a:r>
              <a:rPr lang="en-US" altLang="zh-CN" sz="2000" dirty="0">
                <a:solidFill>
                  <a:srgbClr val="000000"/>
                </a:solidFill>
                <a:latin typeface="CourierNewPSMT"/>
              </a:rPr>
              <a:t> @(</a:t>
            </a:r>
            <a:r>
              <a:rPr lang="en-US" altLang="zh-CN" sz="2000" dirty="0" err="1">
                <a:solidFill>
                  <a:srgbClr val="000000"/>
                </a:solidFill>
                <a:latin typeface="CourierNewPSMT"/>
              </a:rPr>
              <a:t>posedge</a:t>
            </a:r>
            <a:r>
              <a:rPr lang="en-US" altLang="zh-CN" sz="2000" dirty="0">
                <a:solidFill>
                  <a:srgbClr val="000000"/>
                </a:solidFill>
                <a:latin typeface="CourierNewPSMT"/>
              </a:rPr>
              <a:t> clock or </a:t>
            </a:r>
            <a:r>
              <a:rPr lang="en-US" altLang="zh-CN" sz="2000" dirty="0" err="1">
                <a:solidFill>
                  <a:srgbClr val="000000"/>
                </a:solidFill>
                <a:latin typeface="CourierNewPSMT"/>
              </a:rPr>
              <a:t>negedge</a:t>
            </a:r>
            <a:r>
              <a:rPr lang="en-US" altLang="zh-CN" sz="2000" dirty="0">
                <a:solidFill>
                  <a:srgbClr val="000000"/>
                </a:solidFill>
                <a:latin typeface="CourierNewPSMT"/>
              </a:rPr>
              <a:t> </a:t>
            </a:r>
            <a:r>
              <a:rPr lang="en-US" altLang="zh-CN" sz="2000" dirty="0" err="1">
                <a:solidFill>
                  <a:srgbClr val="000000"/>
                </a:solidFill>
                <a:latin typeface="CourierNewPSMT"/>
              </a:rPr>
              <a:t>rstN</a:t>
            </a:r>
            <a:r>
              <a:rPr lang="en-US" altLang="zh-CN" sz="2000" dirty="0">
                <a:solidFill>
                  <a:srgbClr val="000000"/>
                </a:solidFill>
                <a:latin typeface="CourierNewPSMT"/>
              </a:rPr>
              <a:t>)</a:t>
            </a:r>
            <a:br>
              <a:rPr lang="en-US" altLang="zh-CN" sz="2000" dirty="0">
                <a:solidFill>
                  <a:srgbClr val="000000"/>
                </a:solidFill>
                <a:latin typeface="CourierNewPSMT"/>
              </a:rPr>
            </a:br>
            <a:r>
              <a:rPr lang="en-US" altLang="zh-CN" sz="2000" dirty="0">
                <a:solidFill>
                  <a:srgbClr val="000000"/>
                </a:solidFill>
                <a:latin typeface="CourierNewPSMT"/>
              </a:rPr>
              <a:t>if (!</a:t>
            </a:r>
            <a:r>
              <a:rPr lang="en-US" altLang="zh-CN" sz="2000" dirty="0" err="1">
                <a:solidFill>
                  <a:srgbClr val="000000"/>
                </a:solidFill>
                <a:latin typeface="CourierNewPSMT"/>
              </a:rPr>
              <a:t>rstN</a:t>
            </a:r>
            <a:r>
              <a:rPr lang="en-US" altLang="zh-CN" sz="2000" dirty="0">
                <a:solidFill>
                  <a:srgbClr val="000000"/>
                </a:solidFill>
                <a:latin typeface="CourierNewPSMT"/>
              </a:rPr>
              <a:t>) </a:t>
            </a:r>
            <a:r>
              <a:rPr lang="en-US" altLang="zh-CN" sz="2000" b="1" dirty="0" err="1">
                <a:solidFill>
                  <a:srgbClr val="000000"/>
                </a:solidFill>
                <a:latin typeface="CourierNewPS-BoldMT"/>
              </a:rPr>
              <a:t>packet_u</a:t>
            </a:r>
            <a:r>
              <a:rPr lang="en-US" altLang="zh-CN" sz="2000" b="1" dirty="0">
                <a:solidFill>
                  <a:srgbClr val="000000"/>
                </a:solidFill>
                <a:latin typeface="CourierNewPS-BoldMT"/>
              </a:rPr>
              <a:t> &lt;= {</a:t>
            </a:r>
            <a:r>
              <a:rPr lang="en-US" altLang="zh-CN" sz="2000" dirty="0">
                <a:solidFill>
                  <a:srgbClr val="000000"/>
                </a:solidFill>
                <a:latin typeface="CourierNewPSMT"/>
              </a:rPr>
              <a:t>’</a:t>
            </a:r>
            <a:r>
              <a:rPr lang="en-US" altLang="zh-CN" sz="2000" b="1" dirty="0">
                <a:solidFill>
                  <a:srgbClr val="000000"/>
                </a:solidFill>
                <a:latin typeface="CourierNewPS-BoldMT"/>
              </a:rPr>
              <a:t>0, </a:t>
            </a:r>
            <a:r>
              <a:rPr lang="en-US" altLang="zh-CN" sz="2000" dirty="0">
                <a:solidFill>
                  <a:srgbClr val="000000"/>
                </a:solidFill>
                <a:latin typeface="CourierNewPSMT"/>
              </a:rPr>
              <a:t>’</a:t>
            </a:r>
            <a:r>
              <a:rPr lang="en-US" altLang="zh-CN" sz="2000" b="1" dirty="0">
                <a:solidFill>
                  <a:srgbClr val="000000"/>
                </a:solidFill>
                <a:latin typeface="CourierNewPS-BoldMT"/>
              </a:rPr>
              <a:t>0}</a:t>
            </a:r>
            <a:r>
              <a:rPr lang="en-US" altLang="zh-CN" sz="2000" dirty="0">
                <a:solidFill>
                  <a:srgbClr val="000000"/>
                </a:solidFill>
                <a:latin typeface="CourierNewPSMT"/>
              </a:rPr>
              <a:t>;</a:t>
            </a:r>
            <a:br>
              <a:rPr lang="en-US" altLang="zh-CN" sz="2000" dirty="0">
                <a:solidFill>
                  <a:srgbClr val="000000"/>
                </a:solidFill>
                <a:latin typeface="CourierNewPSMT"/>
              </a:rPr>
            </a:br>
            <a:r>
              <a:rPr lang="en-US" altLang="zh-CN" sz="2000" dirty="0">
                <a:solidFill>
                  <a:srgbClr val="000000"/>
                </a:solidFill>
                <a:latin typeface="CourierNewPSMT"/>
              </a:rPr>
              <a:t>else if (</a:t>
            </a:r>
            <a:r>
              <a:rPr lang="en-US" altLang="zh-CN" sz="2000" dirty="0" err="1">
                <a:solidFill>
                  <a:srgbClr val="000000"/>
                </a:solidFill>
                <a:latin typeface="CourierNewPSMT"/>
              </a:rPr>
              <a:t>op_type</a:t>
            </a:r>
            <a:r>
              <a:rPr lang="en-US" altLang="zh-CN" sz="2000" dirty="0">
                <a:solidFill>
                  <a:srgbClr val="000000"/>
                </a:solidFill>
                <a:latin typeface="CourierNewPSMT"/>
              </a:rPr>
              <a:t> == DATA) </a:t>
            </a:r>
            <a:r>
              <a:rPr lang="en-US" altLang="zh-CN" sz="2000" b="1" dirty="0" err="1">
                <a:solidFill>
                  <a:srgbClr val="000000"/>
                </a:solidFill>
                <a:latin typeface="CourierNewPS-BoldMT"/>
              </a:rPr>
              <a:t>packet_u.data_packet</a:t>
            </a:r>
            <a:r>
              <a:rPr lang="en-US" altLang="zh-CN" sz="2000" b="1" dirty="0">
                <a:solidFill>
                  <a:srgbClr val="000000"/>
                </a:solidFill>
                <a:latin typeface="CourierNewPS-BoldMT"/>
              </a:rPr>
              <a:t> &lt;= </a:t>
            </a:r>
            <a:r>
              <a:rPr lang="en-US" altLang="zh-CN" sz="2000" dirty="0">
                <a:solidFill>
                  <a:srgbClr val="000000"/>
                </a:solidFill>
                <a:latin typeface="CourierNewPSMT"/>
              </a:rPr>
              <a:t>{</a:t>
            </a:r>
            <a:r>
              <a:rPr lang="en-US" altLang="zh-CN" sz="2000" dirty="0" err="1">
                <a:solidFill>
                  <a:srgbClr val="000000"/>
                </a:solidFill>
                <a:latin typeface="CourierNewPSMT"/>
              </a:rPr>
              <a:t>d_in</a:t>
            </a:r>
            <a:r>
              <a:rPr lang="en-US" altLang="zh-CN" sz="2000" dirty="0">
                <a:solidFill>
                  <a:srgbClr val="000000"/>
                </a:solidFill>
                <a:latin typeface="CourierNewPSMT"/>
              </a:rPr>
              <a:t>, </a:t>
            </a:r>
            <a:r>
              <a:rPr lang="en-US" altLang="zh-CN" sz="2000" dirty="0" err="1">
                <a:solidFill>
                  <a:srgbClr val="000000"/>
                </a:solidFill>
                <a:latin typeface="CourierNewPSMT"/>
              </a:rPr>
              <a:t>addr</a:t>
            </a:r>
            <a:r>
              <a:rPr lang="en-US" altLang="zh-CN" sz="2000" dirty="0">
                <a:solidFill>
                  <a:srgbClr val="000000"/>
                </a:solidFill>
                <a:latin typeface="CourierNewPSMT"/>
              </a:rPr>
              <a:t>}</a:t>
            </a:r>
            <a:r>
              <a:rPr lang="en-US" altLang="zh-CN" sz="2000" b="1" dirty="0">
                <a:solidFill>
                  <a:srgbClr val="000000"/>
                </a:solidFill>
                <a:latin typeface="CourierNewPS-BoldMT"/>
              </a:rPr>
              <a:t>;</a:t>
            </a:r>
            <a:br>
              <a:rPr lang="en-US" altLang="zh-CN" sz="2000" b="1" dirty="0">
                <a:solidFill>
                  <a:srgbClr val="000000"/>
                </a:solidFill>
                <a:latin typeface="CourierNewPS-BoldMT"/>
              </a:rPr>
            </a:br>
            <a:r>
              <a:rPr lang="en-US" altLang="zh-CN" sz="2000" dirty="0">
                <a:solidFill>
                  <a:srgbClr val="000000"/>
                </a:solidFill>
                <a:latin typeface="CourierNewPSMT"/>
              </a:rPr>
              <a:t>else </a:t>
            </a:r>
            <a:r>
              <a:rPr lang="en-US" altLang="zh-CN" sz="2000" b="1" dirty="0" err="1">
                <a:solidFill>
                  <a:srgbClr val="000000"/>
                </a:solidFill>
                <a:latin typeface="CourierNewPS-BoldMT"/>
              </a:rPr>
              <a:t>packet_u.instruction_packet</a:t>
            </a:r>
            <a:r>
              <a:rPr lang="en-US" altLang="zh-CN" sz="2000" b="1" dirty="0">
                <a:solidFill>
                  <a:srgbClr val="000000"/>
                </a:solidFill>
                <a:latin typeface="CourierNewPS-BoldMT"/>
              </a:rPr>
              <a:t> &lt;= </a:t>
            </a:r>
            <a:r>
              <a:rPr lang="en-US" altLang="zh-CN" sz="2000" dirty="0">
                <a:solidFill>
                  <a:srgbClr val="000000"/>
                </a:solidFill>
                <a:latin typeface="CourierNewPSMT"/>
              </a:rPr>
              <a:t>{</a:t>
            </a:r>
            <a:r>
              <a:rPr lang="en-US" altLang="zh-CN" sz="2000" dirty="0" err="1">
                <a:solidFill>
                  <a:srgbClr val="000000"/>
                </a:solidFill>
                <a:latin typeface="CourierNewPSMT"/>
              </a:rPr>
              <a:t>d_in</a:t>
            </a:r>
            <a:r>
              <a:rPr lang="en-US" altLang="zh-CN" sz="2000" dirty="0">
                <a:solidFill>
                  <a:srgbClr val="000000"/>
                </a:solidFill>
                <a:latin typeface="CourierNewPSMT"/>
              </a:rPr>
              <a:t>, </a:t>
            </a:r>
            <a:r>
              <a:rPr lang="en-US" altLang="zh-CN" sz="2000" dirty="0" err="1">
                <a:solidFill>
                  <a:srgbClr val="000000"/>
                </a:solidFill>
                <a:latin typeface="CourierNewPSMT"/>
              </a:rPr>
              <a:t>instr</a:t>
            </a:r>
            <a:r>
              <a:rPr lang="en-US" altLang="zh-CN" sz="2000" dirty="0">
                <a:solidFill>
                  <a:srgbClr val="000000"/>
                </a:solidFill>
                <a:latin typeface="CourierNewPSMT"/>
              </a:rPr>
              <a:t>}</a:t>
            </a:r>
            <a:r>
              <a:rPr lang="en-US" altLang="zh-CN" sz="2000" b="1" dirty="0">
                <a:solidFill>
                  <a:srgbClr val="000000"/>
                </a:solidFill>
                <a:latin typeface="CourierNewPS-BoldMT"/>
              </a:rPr>
              <a:t>;</a:t>
            </a:r>
            <a:r>
              <a:rPr lang="en-US" altLang="zh-CN" sz="2000" dirty="0"/>
              <a:t> </a:t>
            </a:r>
            <a:br>
              <a:rPr lang="en-US" altLang="zh-CN" sz="2000" dirty="0"/>
            </a:b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Text Box 4">
            <a:extLst>
              <a:ext uri="{FF2B5EF4-FFF2-40B4-BE49-F238E27FC236}">
                <a16:creationId xmlns:a16="http://schemas.microsoft.com/office/drawing/2014/main" id="{F89F39C7-30AD-410E-B2E9-78FE8C389FBF}"/>
              </a:ext>
            </a:extLst>
          </p:cNvPr>
          <p:cNvSpPr txBox="1">
            <a:spLocks noChangeArrowheads="1"/>
          </p:cNvSpPr>
          <p:nvPr/>
        </p:nvSpPr>
        <p:spPr bwMode="auto">
          <a:xfrm>
            <a:off x="1918854" y="1307523"/>
            <a:ext cx="4604327"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 typedef struct packed {</a:t>
            </a:r>
          </a:p>
          <a:p>
            <a:pPr>
              <a:spcBef>
                <a:spcPct val="0"/>
              </a:spcBef>
            </a:pPr>
            <a:r>
              <a:rPr lang="en-US" altLang="zh-CN" sz="2000" dirty="0">
                <a:solidFill>
                  <a:srgbClr val="0000FF"/>
                </a:solidFill>
              </a:rPr>
              <a:t>     logic [15 : 0] </a:t>
            </a:r>
            <a:r>
              <a:rPr lang="en-US" altLang="zh-CN" sz="2000" dirty="0" err="1">
                <a:solidFill>
                  <a:srgbClr val="0000FF"/>
                </a:solidFill>
              </a:rPr>
              <a:t>src_addr</a:t>
            </a:r>
            <a:r>
              <a:rPr lang="en-US" altLang="zh-CN" sz="2000" dirty="0">
                <a:solidFill>
                  <a:srgbClr val="0000FF"/>
                </a:solidFill>
              </a:rPr>
              <a:t>;</a:t>
            </a:r>
          </a:p>
          <a:p>
            <a:pPr>
              <a:spcBef>
                <a:spcPct val="0"/>
              </a:spcBef>
            </a:pPr>
            <a:r>
              <a:rPr lang="en-US" altLang="zh-CN" sz="2000" dirty="0">
                <a:solidFill>
                  <a:srgbClr val="0000FF"/>
                </a:solidFill>
              </a:rPr>
              <a:t>     logic [15 : 0]</a:t>
            </a:r>
            <a:r>
              <a:rPr lang="en-US" altLang="zh-CN" sz="2000" dirty="0" err="1">
                <a:solidFill>
                  <a:srgbClr val="0000FF"/>
                </a:solidFill>
              </a:rPr>
              <a:t>dest_addr</a:t>
            </a:r>
            <a:r>
              <a:rPr lang="en-US" altLang="zh-CN" sz="2000" dirty="0">
                <a:solidFill>
                  <a:srgbClr val="0000FF"/>
                </a:solidFill>
              </a:rPr>
              <a:t>;</a:t>
            </a:r>
          </a:p>
          <a:p>
            <a:pPr>
              <a:spcBef>
                <a:spcPct val="0"/>
              </a:spcBef>
            </a:pPr>
            <a:r>
              <a:rPr lang="en-US" altLang="zh-CN" sz="2000" dirty="0">
                <a:solidFill>
                  <a:srgbClr val="0000FF"/>
                </a:solidFill>
              </a:rPr>
              <a:t>     logic [23 : 0] data;</a:t>
            </a:r>
          </a:p>
          <a:p>
            <a:pPr>
              <a:spcBef>
                <a:spcPct val="0"/>
              </a:spcBef>
            </a:pPr>
            <a:r>
              <a:rPr lang="en-US" altLang="zh-CN" sz="2000" dirty="0">
                <a:solidFill>
                  <a:srgbClr val="0000FF"/>
                </a:solidFill>
              </a:rPr>
              <a:t>     logic [7 : 0] opcode;</a:t>
            </a:r>
          </a:p>
          <a:p>
            <a:pPr>
              <a:spcBef>
                <a:spcPct val="0"/>
              </a:spcBef>
            </a:pPr>
            <a:r>
              <a:rPr lang="en-US" altLang="zh-CN" sz="2000" dirty="0">
                <a:solidFill>
                  <a:srgbClr val="0000FF"/>
                </a:solidFill>
              </a:rPr>
              <a:t> } </a:t>
            </a:r>
            <a:r>
              <a:rPr lang="en-US" altLang="zh-CN" sz="2000" dirty="0" err="1">
                <a:solidFill>
                  <a:srgbClr val="0000FF"/>
                </a:solidFill>
              </a:rPr>
              <a:t>data_packed_t</a:t>
            </a:r>
            <a:r>
              <a:rPr lang="en-US" altLang="zh-CN" sz="2000" dirty="0">
                <a:solidFill>
                  <a:srgbClr val="0000FF"/>
                </a:solidFill>
              </a:rPr>
              <a:t>;</a:t>
            </a:r>
          </a:p>
          <a:p>
            <a:pPr>
              <a:spcBef>
                <a:spcPct val="0"/>
              </a:spcBef>
            </a:pPr>
            <a:r>
              <a:rPr lang="en-US" altLang="zh-CN" sz="2000" dirty="0">
                <a:solidFill>
                  <a:srgbClr val="0000FF"/>
                </a:solidFill>
              </a:rPr>
              <a:t> union packed {</a:t>
            </a:r>
          </a:p>
          <a:p>
            <a:pPr>
              <a:spcBef>
                <a:spcPct val="0"/>
              </a:spcBef>
            </a:pPr>
            <a:r>
              <a:rPr lang="en-US" altLang="zh-CN" sz="2000" dirty="0">
                <a:solidFill>
                  <a:srgbClr val="0000FF"/>
                </a:solidFill>
              </a:rPr>
              <a:t>     </a:t>
            </a:r>
            <a:r>
              <a:rPr lang="en-US" altLang="zh-CN" sz="2000" dirty="0" err="1">
                <a:solidFill>
                  <a:srgbClr val="0000FF"/>
                </a:solidFill>
              </a:rPr>
              <a:t>data_packet_t</a:t>
            </a:r>
            <a:r>
              <a:rPr lang="en-US" altLang="zh-CN" sz="2000" dirty="0">
                <a:solidFill>
                  <a:srgbClr val="0000FF"/>
                </a:solidFill>
              </a:rPr>
              <a:t> packet;</a:t>
            </a:r>
          </a:p>
          <a:p>
            <a:pPr>
              <a:spcBef>
                <a:spcPct val="0"/>
              </a:spcBef>
            </a:pPr>
            <a:r>
              <a:rPr lang="en-US" altLang="zh-CN" sz="2000" dirty="0">
                <a:solidFill>
                  <a:srgbClr val="0000FF"/>
                </a:solidFill>
              </a:rPr>
              <a:t>     logic [7 : 0][7 :0] bytes; //</a:t>
            </a:r>
            <a:r>
              <a:rPr lang="zh-CN" altLang="en-US" sz="2000" dirty="0">
                <a:solidFill>
                  <a:srgbClr val="0000FF"/>
                </a:solidFill>
              </a:rPr>
              <a:t>压缩数组</a:t>
            </a:r>
          </a:p>
          <a:p>
            <a:pPr>
              <a:spcBef>
                <a:spcPct val="0"/>
              </a:spcBef>
            </a:pPr>
            <a:r>
              <a:rPr lang="zh-CN" altLang="en-US" sz="2000" dirty="0">
                <a:solidFill>
                  <a:srgbClr val="0000FF"/>
                </a:solidFill>
              </a:rPr>
              <a:t> </a:t>
            </a:r>
            <a:r>
              <a:rPr lang="en-US" altLang="zh-CN" sz="2000" dirty="0">
                <a:solidFill>
                  <a:srgbClr val="0000FF"/>
                </a:solidFill>
              </a:rPr>
              <a:t>} dreg;</a:t>
            </a:r>
            <a:endParaRPr lang="en-US" altLang="zh-CN" sz="2000" dirty="0">
              <a:solidFill>
                <a:srgbClr val="FF0000"/>
              </a:solidFill>
            </a:endParaRPr>
          </a:p>
        </p:txBody>
      </p:sp>
      <p:sp>
        <p:nvSpPr>
          <p:cNvPr id="5" name="Text Box 2">
            <a:extLst>
              <a:ext uri="{FF2B5EF4-FFF2-40B4-BE49-F238E27FC236}">
                <a16:creationId xmlns:a16="http://schemas.microsoft.com/office/drawing/2014/main" id="{D7E37E56-19FB-440F-9A4A-CA1B8DD06000}"/>
              </a:ext>
            </a:extLst>
          </p:cNvPr>
          <p:cNvSpPr txBox="1">
            <a:spLocks noChangeArrowheads="1"/>
          </p:cNvSpPr>
          <p:nvPr/>
        </p:nvSpPr>
        <p:spPr bwMode="auto">
          <a:xfrm>
            <a:off x="452582" y="179822"/>
            <a:ext cx="1106978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压缩联合体：</a:t>
            </a:r>
            <a:r>
              <a:rPr lang="en-US" altLang="zh-CN" sz="4400" dirty="0">
                <a:solidFill>
                  <a:srgbClr val="0000FF"/>
                </a:solidFill>
              </a:rPr>
              <a:t> packed </a:t>
            </a:r>
            <a:r>
              <a:rPr lang="en-US" altLang="zh-CN" sz="4400" dirty="0">
                <a:solidFill>
                  <a:srgbClr val="000066"/>
                </a:solidFill>
                <a:latin typeface="Arial" panose="020B0604020202020204" pitchFamily="34" charset="0"/>
              </a:rPr>
              <a:t>union</a:t>
            </a:r>
            <a:endParaRPr lang="zh-CN" altLang="en-US" sz="4400" dirty="0">
              <a:solidFill>
                <a:srgbClr val="000066"/>
              </a:solidFill>
              <a:latin typeface="Arial" panose="020B0604020202020204" pitchFamily="34" charset="0"/>
            </a:endParaRPr>
          </a:p>
        </p:txBody>
      </p:sp>
      <p:graphicFrame>
        <p:nvGraphicFramePr>
          <p:cNvPr id="6" name="Group 4">
            <a:extLst>
              <a:ext uri="{FF2B5EF4-FFF2-40B4-BE49-F238E27FC236}">
                <a16:creationId xmlns:a16="http://schemas.microsoft.com/office/drawing/2014/main" id="{CDD3C297-C3AC-432B-8C7D-9D3C01B1FD93}"/>
              </a:ext>
            </a:extLst>
          </p:cNvPr>
          <p:cNvGraphicFramePr>
            <a:graphicFrameLocks noGrp="1"/>
          </p:cNvGraphicFramePr>
          <p:nvPr>
            <p:extLst>
              <p:ext uri="{D42A27DB-BD31-4B8C-83A1-F6EECF244321}">
                <p14:modId xmlns:p14="http://schemas.microsoft.com/office/powerpoint/2010/main" val="695433691"/>
              </p:ext>
            </p:extLst>
          </p:nvPr>
        </p:nvGraphicFramePr>
        <p:xfrm>
          <a:off x="1884219" y="5174673"/>
          <a:ext cx="7686961" cy="812800"/>
        </p:xfrm>
        <a:graphic>
          <a:graphicData uri="http://schemas.openxmlformats.org/drawingml/2006/table">
            <a:tbl>
              <a:tblPr/>
              <a:tblGrid>
                <a:gridCol w="960870">
                  <a:extLst>
                    <a:ext uri="{9D8B030D-6E8A-4147-A177-3AD203B41FA5}">
                      <a16:colId xmlns:a16="http://schemas.microsoft.com/office/drawing/2014/main" val="2600472138"/>
                    </a:ext>
                  </a:extLst>
                </a:gridCol>
                <a:gridCol w="960870">
                  <a:extLst>
                    <a:ext uri="{9D8B030D-6E8A-4147-A177-3AD203B41FA5}">
                      <a16:colId xmlns:a16="http://schemas.microsoft.com/office/drawing/2014/main" val="3713654549"/>
                    </a:ext>
                  </a:extLst>
                </a:gridCol>
                <a:gridCol w="960870">
                  <a:extLst>
                    <a:ext uri="{9D8B030D-6E8A-4147-A177-3AD203B41FA5}">
                      <a16:colId xmlns:a16="http://schemas.microsoft.com/office/drawing/2014/main" val="237999853"/>
                    </a:ext>
                  </a:extLst>
                </a:gridCol>
                <a:gridCol w="960870">
                  <a:extLst>
                    <a:ext uri="{9D8B030D-6E8A-4147-A177-3AD203B41FA5}">
                      <a16:colId xmlns:a16="http://schemas.microsoft.com/office/drawing/2014/main" val="110305165"/>
                    </a:ext>
                  </a:extLst>
                </a:gridCol>
                <a:gridCol w="960870">
                  <a:extLst>
                    <a:ext uri="{9D8B030D-6E8A-4147-A177-3AD203B41FA5}">
                      <a16:colId xmlns:a16="http://schemas.microsoft.com/office/drawing/2014/main" val="2934670165"/>
                    </a:ext>
                  </a:extLst>
                </a:gridCol>
                <a:gridCol w="960870">
                  <a:extLst>
                    <a:ext uri="{9D8B030D-6E8A-4147-A177-3AD203B41FA5}">
                      <a16:colId xmlns:a16="http://schemas.microsoft.com/office/drawing/2014/main" val="769126654"/>
                    </a:ext>
                  </a:extLst>
                </a:gridCol>
                <a:gridCol w="1054693">
                  <a:extLst>
                    <a:ext uri="{9D8B030D-6E8A-4147-A177-3AD203B41FA5}">
                      <a16:colId xmlns:a16="http://schemas.microsoft.com/office/drawing/2014/main" val="4271061156"/>
                    </a:ext>
                  </a:extLst>
                </a:gridCol>
                <a:gridCol w="867048">
                  <a:extLst>
                    <a:ext uri="{9D8B030D-6E8A-4147-A177-3AD203B41FA5}">
                      <a16:colId xmlns:a16="http://schemas.microsoft.com/office/drawing/2014/main" val="717633738"/>
                    </a:ext>
                  </a:extLst>
                </a:gridCol>
              </a:tblGrid>
              <a:tr h="406400">
                <a:tc gridSpan="2">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src_addr</a:t>
                      </a:r>
                    </a:p>
                  </a:txBody>
                  <a:tcP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2">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dest_addr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data</a:t>
                      </a:r>
                    </a:p>
                  </a:txBody>
                  <a:tcP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opcode</a:t>
                      </a:r>
                    </a:p>
                  </a:txBody>
                  <a:tcPr horzOverflow="overflow">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78423955"/>
                  </a:ext>
                </a:extLst>
              </a:tr>
              <a:tr h="406400">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byte[7]</a:t>
                      </a:r>
                    </a:p>
                  </a:txBody>
                  <a:tcP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byte[5]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byte[1]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byte[0]</a:t>
                      </a:r>
                    </a:p>
                  </a:txBody>
                  <a:tcP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0759226"/>
                  </a:ext>
                </a:extLst>
              </a:tr>
            </a:tbl>
          </a:graphicData>
        </a:graphic>
      </p:graphicFrame>
      <p:sp>
        <p:nvSpPr>
          <p:cNvPr id="7" name="Text Box 30">
            <a:extLst>
              <a:ext uri="{FF2B5EF4-FFF2-40B4-BE49-F238E27FC236}">
                <a16:creationId xmlns:a16="http://schemas.microsoft.com/office/drawing/2014/main" id="{052DF511-65C7-4761-AB68-DF6EA0076066}"/>
              </a:ext>
            </a:extLst>
          </p:cNvPr>
          <p:cNvSpPr txBox="1">
            <a:spLocks noChangeArrowheads="1"/>
          </p:cNvSpPr>
          <p:nvPr/>
        </p:nvSpPr>
        <p:spPr bwMode="auto">
          <a:xfrm>
            <a:off x="1782619" y="4793673"/>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63</a:t>
            </a:r>
          </a:p>
        </p:txBody>
      </p:sp>
      <p:sp>
        <p:nvSpPr>
          <p:cNvPr id="8" name="Text Box 31">
            <a:extLst>
              <a:ext uri="{FF2B5EF4-FFF2-40B4-BE49-F238E27FC236}">
                <a16:creationId xmlns:a16="http://schemas.microsoft.com/office/drawing/2014/main" id="{CAF7C530-4C4D-4CFA-9646-8659138403EF}"/>
              </a:ext>
            </a:extLst>
          </p:cNvPr>
          <p:cNvSpPr txBox="1">
            <a:spLocks noChangeArrowheads="1"/>
          </p:cNvSpPr>
          <p:nvPr/>
        </p:nvSpPr>
        <p:spPr bwMode="auto">
          <a:xfrm>
            <a:off x="3611419" y="4793673"/>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47</a:t>
            </a:r>
          </a:p>
        </p:txBody>
      </p:sp>
      <p:sp>
        <p:nvSpPr>
          <p:cNvPr id="9" name="Text Box 32">
            <a:extLst>
              <a:ext uri="{FF2B5EF4-FFF2-40B4-BE49-F238E27FC236}">
                <a16:creationId xmlns:a16="http://schemas.microsoft.com/office/drawing/2014/main" id="{AD04B11A-7377-48B1-A28F-0902E1828D23}"/>
              </a:ext>
            </a:extLst>
          </p:cNvPr>
          <p:cNvSpPr txBox="1">
            <a:spLocks noChangeArrowheads="1"/>
          </p:cNvSpPr>
          <p:nvPr/>
        </p:nvSpPr>
        <p:spPr bwMode="auto">
          <a:xfrm>
            <a:off x="5516419" y="479367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31</a:t>
            </a:r>
          </a:p>
        </p:txBody>
      </p:sp>
      <p:sp>
        <p:nvSpPr>
          <p:cNvPr id="10" name="Text Box 33">
            <a:extLst>
              <a:ext uri="{FF2B5EF4-FFF2-40B4-BE49-F238E27FC236}">
                <a16:creationId xmlns:a16="http://schemas.microsoft.com/office/drawing/2014/main" id="{DF76217F-9FE4-401A-AF6A-7CF11FEE654A}"/>
              </a:ext>
            </a:extLst>
          </p:cNvPr>
          <p:cNvSpPr txBox="1">
            <a:spLocks noChangeArrowheads="1"/>
          </p:cNvSpPr>
          <p:nvPr/>
        </p:nvSpPr>
        <p:spPr bwMode="auto">
          <a:xfrm>
            <a:off x="8488219" y="4793673"/>
            <a:ext cx="38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7</a:t>
            </a:r>
          </a:p>
        </p:txBody>
      </p:sp>
      <p:sp>
        <p:nvSpPr>
          <p:cNvPr id="11" name="Text Box 34">
            <a:extLst>
              <a:ext uri="{FF2B5EF4-FFF2-40B4-BE49-F238E27FC236}">
                <a16:creationId xmlns:a16="http://schemas.microsoft.com/office/drawing/2014/main" id="{2BF86B44-77E7-457C-8BD6-8CEF7828B3A7}"/>
              </a:ext>
            </a:extLst>
          </p:cNvPr>
          <p:cNvSpPr txBox="1">
            <a:spLocks noChangeArrowheads="1"/>
          </p:cNvSpPr>
          <p:nvPr/>
        </p:nvSpPr>
        <p:spPr bwMode="auto">
          <a:xfrm>
            <a:off x="9326419" y="4793673"/>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0</a:t>
            </a:r>
          </a:p>
        </p:txBody>
      </p:sp>
      <p:sp>
        <p:nvSpPr>
          <p:cNvPr id="12" name="Text Box 35">
            <a:extLst>
              <a:ext uri="{FF2B5EF4-FFF2-40B4-BE49-F238E27FC236}">
                <a16:creationId xmlns:a16="http://schemas.microsoft.com/office/drawing/2014/main" id="{3E500F08-6024-4257-84C8-14AC1E4B56FF}"/>
              </a:ext>
            </a:extLst>
          </p:cNvPr>
          <p:cNvSpPr txBox="1">
            <a:spLocks noChangeArrowheads="1"/>
          </p:cNvSpPr>
          <p:nvPr/>
        </p:nvSpPr>
        <p:spPr bwMode="auto">
          <a:xfrm>
            <a:off x="1782619" y="5936673"/>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63</a:t>
            </a:r>
          </a:p>
        </p:txBody>
      </p:sp>
      <p:sp>
        <p:nvSpPr>
          <p:cNvPr id="13" name="Text Box 36">
            <a:extLst>
              <a:ext uri="{FF2B5EF4-FFF2-40B4-BE49-F238E27FC236}">
                <a16:creationId xmlns:a16="http://schemas.microsoft.com/office/drawing/2014/main" id="{A2022656-7F77-40AF-8FE9-4BB3D0EE24D6}"/>
              </a:ext>
            </a:extLst>
          </p:cNvPr>
          <p:cNvSpPr txBox="1">
            <a:spLocks noChangeArrowheads="1"/>
          </p:cNvSpPr>
          <p:nvPr/>
        </p:nvSpPr>
        <p:spPr bwMode="auto">
          <a:xfrm>
            <a:off x="3629891" y="593667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47</a:t>
            </a:r>
          </a:p>
        </p:txBody>
      </p:sp>
      <p:sp>
        <p:nvSpPr>
          <p:cNvPr id="14" name="Text Box 37">
            <a:extLst>
              <a:ext uri="{FF2B5EF4-FFF2-40B4-BE49-F238E27FC236}">
                <a16:creationId xmlns:a16="http://schemas.microsoft.com/office/drawing/2014/main" id="{3BBB6575-A3D1-4D9B-BC52-087B64A8198B}"/>
              </a:ext>
            </a:extLst>
          </p:cNvPr>
          <p:cNvSpPr txBox="1">
            <a:spLocks noChangeArrowheads="1"/>
          </p:cNvSpPr>
          <p:nvPr/>
        </p:nvSpPr>
        <p:spPr bwMode="auto">
          <a:xfrm>
            <a:off x="5578759" y="593667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31</a:t>
            </a:r>
          </a:p>
        </p:txBody>
      </p:sp>
      <p:sp>
        <p:nvSpPr>
          <p:cNvPr id="15" name="Text Box 38">
            <a:extLst>
              <a:ext uri="{FF2B5EF4-FFF2-40B4-BE49-F238E27FC236}">
                <a16:creationId xmlns:a16="http://schemas.microsoft.com/office/drawing/2014/main" id="{B6065E9E-C568-4477-92C1-62CBEB56FDA0}"/>
              </a:ext>
            </a:extLst>
          </p:cNvPr>
          <p:cNvSpPr txBox="1">
            <a:spLocks noChangeArrowheads="1"/>
          </p:cNvSpPr>
          <p:nvPr/>
        </p:nvSpPr>
        <p:spPr bwMode="auto">
          <a:xfrm>
            <a:off x="7456054" y="593667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15</a:t>
            </a:r>
          </a:p>
        </p:txBody>
      </p:sp>
      <p:sp>
        <p:nvSpPr>
          <p:cNvPr id="16" name="Text Box 39">
            <a:extLst>
              <a:ext uri="{FF2B5EF4-FFF2-40B4-BE49-F238E27FC236}">
                <a16:creationId xmlns:a16="http://schemas.microsoft.com/office/drawing/2014/main" id="{80E6F5E2-6FB3-423D-ABB1-3F5267FAADE5}"/>
              </a:ext>
            </a:extLst>
          </p:cNvPr>
          <p:cNvSpPr txBox="1">
            <a:spLocks noChangeArrowheads="1"/>
          </p:cNvSpPr>
          <p:nvPr/>
        </p:nvSpPr>
        <p:spPr bwMode="auto">
          <a:xfrm>
            <a:off x="9326419" y="5936673"/>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a:solidFill>
                  <a:srgbClr val="0000FF"/>
                </a:solidFill>
              </a:rPr>
              <a:t>0</a:t>
            </a:r>
          </a:p>
        </p:txBody>
      </p:sp>
      <p:sp>
        <p:nvSpPr>
          <p:cNvPr id="17" name="Text Box 40">
            <a:extLst>
              <a:ext uri="{FF2B5EF4-FFF2-40B4-BE49-F238E27FC236}">
                <a16:creationId xmlns:a16="http://schemas.microsoft.com/office/drawing/2014/main" id="{0D269E60-A616-4ACF-9E0A-37A673628487}"/>
              </a:ext>
            </a:extLst>
          </p:cNvPr>
          <p:cNvSpPr txBox="1">
            <a:spLocks noChangeArrowheads="1"/>
          </p:cNvSpPr>
          <p:nvPr/>
        </p:nvSpPr>
        <p:spPr bwMode="auto">
          <a:xfrm>
            <a:off x="2676235" y="593667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55</a:t>
            </a:r>
          </a:p>
        </p:txBody>
      </p:sp>
      <p:sp>
        <p:nvSpPr>
          <p:cNvPr id="18" name="Text Box 41">
            <a:extLst>
              <a:ext uri="{FF2B5EF4-FFF2-40B4-BE49-F238E27FC236}">
                <a16:creationId xmlns:a16="http://schemas.microsoft.com/office/drawing/2014/main" id="{5E983257-9401-4361-908F-387732B80423}"/>
              </a:ext>
            </a:extLst>
          </p:cNvPr>
          <p:cNvSpPr txBox="1">
            <a:spLocks noChangeArrowheads="1"/>
          </p:cNvSpPr>
          <p:nvPr/>
        </p:nvSpPr>
        <p:spPr bwMode="auto">
          <a:xfrm>
            <a:off x="4636654" y="5936673"/>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39</a:t>
            </a:r>
          </a:p>
        </p:txBody>
      </p:sp>
      <p:sp>
        <p:nvSpPr>
          <p:cNvPr id="19" name="Text Box 42">
            <a:extLst>
              <a:ext uri="{FF2B5EF4-FFF2-40B4-BE49-F238E27FC236}">
                <a16:creationId xmlns:a16="http://schemas.microsoft.com/office/drawing/2014/main" id="{C8F4C0CF-4E2C-4383-A808-FCCCAAA065F8}"/>
              </a:ext>
            </a:extLst>
          </p:cNvPr>
          <p:cNvSpPr txBox="1">
            <a:spLocks noChangeArrowheads="1"/>
          </p:cNvSpPr>
          <p:nvPr/>
        </p:nvSpPr>
        <p:spPr bwMode="auto">
          <a:xfrm>
            <a:off x="6523181" y="5936673"/>
            <a:ext cx="68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23</a:t>
            </a:r>
          </a:p>
        </p:txBody>
      </p:sp>
      <p:sp>
        <p:nvSpPr>
          <p:cNvPr id="20" name="Text Box 43">
            <a:extLst>
              <a:ext uri="{FF2B5EF4-FFF2-40B4-BE49-F238E27FC236}">
                <a16:creationId xmlns:a16="http://schemas.microsoft.com/office/drawing/2014/main" id="{BAA829EC-73D8-4A33-9F36-811009D219F5}"/>
              </a:ext>
            </a:extLst>
          </p:cNvPr>
          <p:cNvSpPr txBox="1">
            <a:spLocks noChangeArrowheads="1"/>
          </p:cNvSpPr>
          <p:nvPr/>
        </p:nvSpPr>
        <p:spPr bwMode="auto">
          <a:xfrm>
            <a:off x="8550563" y="5936673"/>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2000" dirty="0">
                <a:solidFill>
                  <a:srgbClr val="0000FF"/>
                </a:solidFill>
              </a:rPr>
              <a:t>7</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2">
            <a:extLst>
              <a:ext uri="{FF2B5EF4-FFF2-40B4-BE49-F238E27FC236}">
                <a16:creationId xmlns:a16="http://schemas.microsoft.com/office/drawing/2014/main" id="{AE344E81-A012-49B1-A667-E23BB86529DE}"/>
              </a:ext>
            </a:extLst>
          </p:cNvPr>
          <p:cNvSpPr txBox="1">
            <a:spLocks noChangeArrowheads="1"/>
          </p:cNvSpPr>
          <p:nvPr/>
        </p:nvSpPr>
        <p:spPr bwMode="auto">
          <a:xfrm>
            <a:off x="1191491" y="476251"/>
            <a:ext cx="871450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数组：</a:t>
            </a:r>
            <a:r>
              <a:rPr lang="en-US" altLang="zh-CN" sz="4400" dirty="0">
                <a:solidFill>
                  <a:srgbClr val="000066"/>
                </a:solidFill>
                <a:latin typeface="Arial" panose="020B0604020202020204" pitchFamily="34" charset="0"/>
              </a:rPr>
              <a:t>Data Array</a:t>
            </a:r>
            <a:endParaRPr lang="zh-CN" altLang="en-US" sz="4400" dirty="0">
              <a:solidFill>
                <a:srgbClr val="000066"/>
              </a:solidFill>
              <a:latin typeface="Arial" panose="020B0604020202020204" pitchFamily="34" charset="0"/>
            </a:endParaRPr>
          </a:p>
        </p:txBody>
      </p:sp>
      <p:sp>
        <p:nvSpPr>
          <p:cNvPr id="49155" name="Text Box 3">
            <a:extLst>
              <a:ext uri="{FF2B5EF4-FFF2-40B4-BE49-F238E27FC236}">
                <a16:creationId xmlns:a16="http://schemas.microsoft.com/office/drawing/2014/main" id="{78270811-87F6-41D3-BC2B-E0CE98BE300E}"/>
              </a:ext>
            </a:extLst>
          </p:cNvPr>
          <p:cNvSpPr txBox="1">
            <a:spLocks noChangeArrowheads="1"/>
          </p:cNvSpPr>
          <p:nvPr/>
        </p:nvSpPr>
        <p:spPr bwMode="auto">
          <a:xfrm>
            <a:off x="489527" y="1364961"/>
            <a:ext cx="10945091"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400" dirty="0">
                <a:solidFill>
                  <a:srgbClr val="0000FF"/>
                </a:solidFill>
              </a:rPr>
              <a:t>Verilog-1995</a:t>
            </a:r>
            <a:r>
              <a:rPr lang="zh-CN" altLang="en-US" sz="2400" dirty="0">
                <a:solidFill>
                  <a:srgbClr val="0000FF"/>
                </a:solidFill>
              </a:rPr>
              <a:t>只允许声明一维的</a:t>
            </a:r>
            <a:r>
              <a:rPr lang="en-US" altLang="zh-CN" sz="2400" dirty="0">
                <a:solidFill>
                  <a:srgbClr val="0000FF"/>
                </a:solidFill>
              </a:rPr>
              <a:t>reg, integer</a:t>
            </a:r>
            <a:r>
              <a:rPr lang="zh-CN" altLang="en-US" sz="2400" dirty="0">
                <a:solidFill>
                  <a:srgbClr val="0000FF"/>
                </a:solidFill>
              </a:rPr>
              <a:t>和</a:t>
            </a:r>
            <a:r>
              <a:rPr lang="en-US" altLang="zh-CN" sz="2400" dirty="0">
                <a:solidFill>
                  <a:srgbClr val="0000FF"/>
                </a:solidFill>
              </a:rPr>
              <a:t>time</a:t>
            </a:r>
            <a:r>
              <a:rPr lang="zh-CN" altLang="en-US" sz="2400" dirty="0">
                <a:solidFill>
                  <a:srgbClr val="0000FF"/>
                </a:solidFill>
              </a:rPr>
              <a:t>数据类型的数组；</a:t>
            </a:r>
          </a:p>
          <a:p>
            <a:pPr marL="342900" indent="-342900">
              <a:spcBef>
                <a:spcPct val="0"/>
              </a:spcBef>
              <a:buFont typeface="Arial" panose="020B0604020202020204" pitchFamily="34" charset="0"/>
              <a:buChar char="•"/>
            </a:pPr>
            <a:endParaRPr lang="zh-CN" altLang="en-US" sz="2400" dirty="0">
              <a:solidFill>
                <a:srgbClr val="0000FF"/>
              </a:solidFill>
            </a:endParaRPr>
          </a:p>
          <a:p>
            <a:pPr marL="342900" indent="-342900">
              <a:spcBef>
                <a:spcPct val="0"/>
              </a:spcBef>
              <a:buFont typeface="Arial" panose="020B0604020202020204" pitchFamily="34" charset="0"/>
              <a:buChar char="•"/>
            </a:pPr>
            <a:r>
              <a:rPr lang="en-US" altLang="zh-CN" sz="2400" dirty="0">
                <a:solidFill>
                  <a:srgbClr val="0000FF"/>
                </a:solidFill>
              </a:rPr>
              <a:t>Verilog-2001</a:t>
            </a:r>
            <a:r>
              <a:rPr lang="zh-CN" altLang="en-US" sz="2400" dirty="0">
                <a:solidFill>
                  <a:srgbClr val="0000FF"/>
                </a:solidFill>
              </a:rPr>
              <a:t>允许除了</a:t>
            </a:r>
            <a:r>
              <a:rPr lang="en-US" altLang="zh-CN" sz="2400" dirty="0">
                <a:solidFill>
                  <a:srgbClr val="0000FF"/>
                </a:solidFill>
              </a:rPr>
              <a:t>event</a:t>
            </a:r>
            <a:r>
              <a:rPr lang="zh-CN" altLang="en-US" sz="2400" dirty="0">
                <a:solidFill>
                  <a:srgbClr val="0000FF"/>
                </a:solidFill>
              </a:rPr>
              <a:t>类型外的所有变量或线网类型都可以用于数组声明，且允许声明多维数组；</a:t>
            </a:r>
          </a:p>
          <a:p>
            <a:pPr marL="342900" indent="-342900">
              <a:spcBef>
                <a:spcPct val="0"/>
              </a:spcBef>
              <a:buFont typeface="Arial" panose="020B0604020202020204" pitchFamily="34" charset="0"/>
              <a:buChar char="•"/>
            </a:pPr>
            <a:endParaRPr lang="zh-CN" altLang="en-US" sz="2400" dirty="0">
              <a:solidFill>
                <a:srgbClr val="0000FF"/>
              </a:solidFill>
            </a:endParaRPr>
          </a:p>
          <a:p>
            <a:pPr marL="342900" indent="-342900">
              <a:spcBef>
                <a:spcPct val="0"/>
              </a:spcBef>
              <a:buFont typeface="Arial" panose="020B0604020202020204" pitchFamily="34" charset="0"/>
              <a:buChar char="•"/>
            </a:pPr>
            <a:r>
              <a:rPr lang="en-US" altLang="zh-CN" sz="2400" dirty="0">
                <a:solidFill>
                  <a:srgbClr val="0000FF"/>
                </a:solidFill>
              </a:rPr>
              <a:t>System Verilog</a:t>
            </a:r>
            <a:r>
              <a:rPr lang="zh-CN" altLang="en-US" sz="2400" dirty="0">
                <a:solidFill>
                  <a:srgbClr val="0000FF"/>
                </a:solidFill>
              </a:rPr>
              <a:t>允许任何数据类型用于声明数组，包括使用</a:t>
            </a:r>
            <a:r>
              <a:rPr lang="en-US" altLang="zh-CN" sz="2400" dirty="0">
                <a:solidFill>
                  <a:srgbClr val="0000FF"/>
                </a:solidFill>
              </a:rPr>
              <a:t>struct</a:t>
            </a:r>
            <a:r>
              <a:rPr lang="zh-CN" altLang="en-US" sz="2400" dirty="0">
                <a:solidFill>
                  <a:srgbClr val="0000FF"/>
                </a:solidFill>
              </a:rPr>
              <a:t>、</a:t>
            </a:r>
            <a:r>
              <a:rPr lang="en-US" altLang="zh-CN" sz="2400" dirty="0" err="1">
                <a:solidFill>
                  <a:srgbClr val="0000FF"/>
                </a:solidFill>
              </a:rPr>
              <a:t>enum</a:t>
            </a:r>
            <a:r>
              <a:rPr lang="zh-CN" altLang="en-US" sz="2400" dirty="0">
                <a:solidFill>
                  <a:srgbClr val="0000FF"/>
                </a:solidFill>
              </a:rPr>
              <a:t>以及用户自定义类型</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2">
            <a:extLst>
              <a:ext uri="{FF2B5EF4-FFF2-40B4-BE49-F238E27FC236}">
                <a16:creationId xmlns:a16="http://schemas.microsoft.com/office/drawing/2014/main" id="{7C8007BE-9FE5-4DED-8E9A-ECFFB7323A68}"/>
              </a:ext>
            </a:extLst>
          </p:cNvPr>
          <p:cNvSpPr txBox="1">
            <a:spLocks noChangeArrowheads="1"/>
          </p:cNvSpPr>
          <p:nvPr/>
        </p:nvSpPr>
        <p:spPr bwMode="auto">
          <a:xfrm>
            <a:off x="585065" y="162215"/>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非压缩数组</a:t>
            </a:r>
          </a:p>
        </p:txBody>
      </p:sp>
      <p:sp>
        <p:nvSpPr>
          <p:cNvPr id="51203" name="Text Box 3">
            <a:extLst>
              <a:ext uri="{FF2B5EF4-FFF2-40B4-BE49-F238E27FC236}">
                <a16:creationId xmlns:a16="http://schemas.microsoft.com/office/drawing/2014/main" id="{9A3BA9E8-2447-4C2E-BAD8-2FE5781B4383}"/>
              </a:ext>
            </a:extLst>
          </p:cNvPr>
          <p:cNvSpPr txBox="1">
            <a:spLocks noChangeArrowheads="1"/>
          </p:cNvSpPr>
          <p:nvPr/>
        </p:nvSpPr>
        <p:spPr bwMode="auto">
          <a:xfrm>
            <a:off x="467879" y="931656"/>
            <a:ext cx="938587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wire n [0 : 1023];                   //1024</a:t>
            </a:r>
            <a:r>
              <a:rPr lang="zh-CN" altLang="en-US" sz="2000" dirty="0">
                <a:solidFill>
                  <a:srgbClr val="0000FF"/>
                </a:solidFill>
              </a:rPr>
              <a:t>个</a:t>
            </a:r>
            <a:r>
              <a:rPr lang="en-US" altLang="zh-CN" sz="2000" dirty="0">
                <a:solidFill>
                  <a:srgbClr val="0000FF"/>
                </a:solidFill>
              </a:rPr>
              <a:t>1</a:t>
            </a:r>
            <a:r>
              <a:rPr lang="zh-CN" altLang="en-US" sz="2000" dirty="0">
                <a:solidFill>
                  <a:srgbClr val="0000FF"/>
                </a:solidFill>
              </a:rPr>
              <a:t>位线网的一维非压缩数组</a:t>
            </a:r>
            <a:endParaRPr lang="en-US" altLang="zh-CN" sz="2000" dirty="0">
              <a:solidFill>
                <a:srgbClr val="0000FF"/>
              </a:solidFill>
            </a:endParaRPr>
          </a:p>
          <a:p>
            <a:pPr>
              <a:spcBef>
                <a:spcPct val="0"/>
              </a:spcBef>
            </a:pPr>
            <a:r>
              <a:rPr lang="en-US" altLang="zh-CN" sz="2000" dirty="0">
                <a:solidFill>
                  <a:srgbClr val="0000FF"/>
                </a:solidFill>
              </a:rPr>
              <a:t>reg [7 : 0] </a:t>
            </a:r>
            <a:r>
              <a:rPr lang="en-US" altLang="zh-CN" sz="2000" dirty="0" err="1">
                <a:solidFill>
                  <a:srgbClr val="0000FF"/>
                </a:solidFill>
              </a:rPr>
              <a:t>lut</a:t>
            </a:r>
            <a:r>
              <a:rPr lang="en-US" altLang="zh-CN" sz="2000" dirty="0">
                <a:solidFill>
                  <a:srgbClr val="0000FF"/>
                </a:solidFill>
              </a:rPr>
              <a:t> [0 : 255];          //256</a:t>
            </a:r>
            <a:r>
              <a:rPr lang="zh-CN" altLang="en-US" sz="2000" dirty="0">
                <a:solidFill>
                  <a:srgbClr val="0000FF"/>
                </a:solidFill>
              </a:rPr>
              <a:t>个</a:t>
            </a:r>
            <a:r>
              <a:rPr lang="en-US" altLang="zh-CN" sz="2000" dirty="0">
                <a:solidFill>
                  <a:srgbClr val="0000FF"/>
                </a:solidFill>
              </a:rPr>
              <a:t>8</a:t>
            </a:r>
            <a:r>
              <a:rPr lang="zh-CN" altLang="en-US" sz="2000" dirty="0">
                <a:solidFill>
                  <a:srgbClr val="0000FF"/>
                </a:solidFill>
              </a:rPr>
              <a:t>位变量的一维非压缩数组</a:t>
            </a:r>
            <a:endParaRPr lang="en-US" altLang="zh-CN" sz="2000" dirty="0">
              <a:solidFill>
                <a:srgbClr val="0000FF"/>
              </a:solidFill>
            </a:endParaRPr>
          </a:p>
          <a:p>
            <a:pPr>
              <a:spcBef>
                <a:spcPct val="0"/>
              </a:spcBef>
            </a:pPr>
            <a:r>
              <a:rPr lang="en-US" altLang="zh-CN" sz="2000" dirty="0">
                <a:solidFill>
                  <a:srgbClr val="0000FF"/>
                </a:solidFill>
              </a:rPr>
              <a:t>real r [0 : 1024];                    //1024</a:t>
            </a:r>
            <a:r>
              <a:rPr lang="zh-CN" altLang="en-US" sz="2000" dirty="0">
                <a:solidFill>
                  <a:srgbClr val="0000FF"/>
                </a:solidFill>
              </a:rPr>
              <a:t>个实数变量的一维非压缩数组</a:t>
            </a:r>
          </a:p>
          <a:p>
            <a:pPr>
              <a:spcBef>
                <a:spcPct val="0"/>
              </a:spcBef>
            </a:pPr>
            <a:r>
              <a:rPr lang="en-US" altLang="zh-CN" sz="2000" dirty="0">
                <a:solidFill>
                  <a:srgbClr val="0000FF"/>
                </a:solidFill>
              </a:rPr>
              <a:t>integer </a:t>
            </a:r>
            <a:r>
              <a:rPr lang="en-US" altLang="zh-CN" sz="2000" dirty="0" err="1">
                <a:solidFill>
                  <a:srgbClr val="0000FF"/>
                </a:solidFill>
              </a:rPr>
              <a:t>i</a:t>
            </a:r>
            <a:r>
              <a:rPr lang="en-US" altLang="zh-CN" sz="2000" dirty="0">
                <a:solidFill>
                  <a:srgbClr val="0000FF"/>
                </a:solidFill>
              </a:rPr>
              <a:t> [7 : 0] [3 : 0] [7 : 0]; //32</a:t>
            </a:r>
            <a:r>
              <a:rPr lang="zh-CN" altLang="en-US" sz="2000" dirty="0">
                <a:solidFill>
                  <a:srgbClr val="0000FF"/>
                </a:solidFill>
              </a:rPr>
              <a:t>位的整数变量的三维非压缩数组 </a:t>
            </a:r>
          </a:p>
          <a:p>
            <a:pPr>
              <a:spcBef>
                <a:spcPct val="0"/>
              </a:spcBef>
            </a:pPr>
            <a:r>
              <a:rPr lang="zh-CN" altLang="en-US" sz="2400" dirty="0">
                <a:solidFill>
                  <a:srgbClr val="FF0000"/>
                </a:solidFill>
              </a:rPr>
              <a:t>非压缩数组中各个数组元素是独立存储的；</a:t>
            </a:r>
          </a:p>
          <a:p>
            <a:pPr>
              <a:spcBef>
                <a:spcPct val="0"/>
              </a:spcBef>
            </a:pPr>
            <a:r>
              <a:rPr lang="en-US" altLang="zh-CN" sz="2400" dirty="0">
                <a:solidFill>
                  <a:srgbClr val="FF0000"/>
                </a:solidFill>
              </a:rPr>
              <a:t>Verilog</a:t>
            </a:r>
            <a:r>
              <a:rPr lang="zh-CN" altLang="en-US" sz="2400" dirty="0">
                <a:solidFill>
                  <a:srgbClr val="FF0000"/>
                </a:solidFill>
              </a:rPr>
              <a:t>一次访问多个数组元素是错误的！</a:t>
            </a:r>
          </a:p>
        </p:txBody>
      </p:sp>
      <p:sp>
        <p:nvSpPr>
          <p:cNvPr id="4" name="Text Box 3">
            <a:extLst>
              <a:ext uri="{FF2B5EF4-FFF2-40B4-BE49-F238E27FC236}">
                <a16:creationId xmlns:a16="http://schemas.microsoft.com/office/drawing/2014/main" id="{58C65E27-E2E1-43A2-9875-3F2F20C3C210}"/>
              </a:ext>
            </a:extLst>
          </p:cNvPr>
          <p:cNvSpPr txBox="1">
            <a:spLocks noChangeArrowheads="1"/>
          </p:cNvSpPr>
          <p:nvPr/>
        </p:nvSpPr>
        <p:spPr bwMode="auto">
          <a:xfrm>
            <a:off x="467879" y="3178486"/>
            <a:ext cx="979054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err="1">
                <a:solidFill>
                  <a:srgbClr val="0000FF"/>
                </a:solidFill>
              </a:rPr>
              <a:t>SystemVerilog</a:t>
            </a:r>
            <a:r>
              <a:rPr lang="zh-CN" altLang="en-US" sz="2000" dirty="0">
                <a:solidFill>
                  <a:srgbClr val="0000FF"/>
                </a:solidFill>
              </a:rPr>
              <a:t>支持的非压缩数组：</a:t>
            </a:r>
          </a:p>
          <a:p>
            <a:pPr>
              <a:spcBef>
                <a:spcPct val="0"/>
              </a:spcBef>
            </a:pPr>
            <a:r>
              <a:rPr lang="en-US" altLang="zh-CN" sz="2000" dirty="0">
                <a:solidFill>
                  <a:srgbClr val="0000FF"/>
                </a:solidFill>
              </a:rPr>
              <a:t>bit [63 : 0] </a:t>
            </a:r>
            <a:r>
              <a:rPr lang="en-US" altLang="zh-CN" sz="2000" dirty="0" err="1">
                <a:solidFill>
                  <a:srgbClr val="0000FF"/>
                </a:solidFill>
              </a:rPr>
              <a:t>d_array</a:t>
            </a:r>
            <a:r>
              <a:rPr lang="en-US" altLang="zh-CN" sz="2000" dirty="0">
                <a:solidFill>
                  <a:srgbClr val="0000FF"/>
                </a:solidFill>
              </a:rPr>
              <a:t> [1 : 128];  //</a:t>
            </a:r>
            <a:r>
              <a:rPr lang="zh-CN" altLang="en-US" sz="2000" dirty="0">
                <a:solidFill>
                  <a:srgbClr val="0000FF"/>
                </a:solidFill>
              </a:rPr>
              <a:t>向量数组</a:t>
            </a:r>
          </a:p>
          <a:p>
            <a:r>
              <a:rPr lang="en-US" altLang="zh-CN" sz="2000" dirty="0" err="1">
                <a:solidFill>
                  <a:srgbClr val="0000FF"/>
                </a:solidFill>
              </a:rPr>
              <a:t>shortreal</a:t>
            </a:r>
            <a:r>
              <a:rPr lang="en-US" altLang="zh-CN" sz="2000" dirty="0">
                <a:solidFill>
                  <a:srgbClr val="0000FF"/>
                </a:solidFill>
              </a:rPr>
              <a:t> cosines [0 : 89]; //</a:t>
            </a:r>
            <a:r>
              <a:rPr lang="zh-CN" altLang="en-US" sz="2000" dirty="0">
                <a:solidFill>
                  <a:srgbClr val="0000FF"/>
                </a:solidFill>
              </a:rPr>
              <a:t>浮点数组</a:t>
            </a:r>
          </a:p>
          <a:p>
            <a:r>
              <a:rPr lang="en-US" altLang="zh-CN" sz="2000" dirty="0">
                <a:solidFill>
                  <a:srgbClr val="0000FF"/>
                </a:solidFill>
              </a:rPr>
              <a:t>typedef </a:t>
            </a:r>
            <a:r>
              <a:rPr lang="en-US" altLang="zh-CN" sz="2000" dirty="0" err="1">
                <a:solidFill>
                  <a:srgbClr val="0000FF"/>
                </a:solidFill>
              </a:rPr>
              <a:t>enum</a:t>
            </a:r>
            <a:r>
              <a:rPr lang="en-US" altLang="zh-CN" sz="2000" dirty="0">
                <a:solidFill>
                  <a:srgbClr val="0000FF"/>
                </a:solidFill>
              </a:rPr>
              <a:t> {Mo, Tu, We, Th, Fr, Sa, </a:t>
            </a:r>
            <a:r>
              <a:rPr lang="en-US" altLang="zh-CN" sz="2000" dirty="0" err="1">
                <a:solidFill>
                  <a:srgbClr val="0000FF"/>
                </a:solidFill>
              </a:rPr>
              <a:t>Su</a:t>
            </a:r>
            <a:r>
              <a:rPr lang="en-US" altLang="zh-CN" sz="2000" dirty="0">
                <a:solidFill>
                  <a:srgbClr val="0000FF"/>
                </a:solidFill>
              </a:rPr>
              <a:t>} </a:t>
            </a:r>
            <a:r>
              <a:rPr lang="en-US" altLang="zh-CN" sz="2000" dirty="0" err="1">
                <a:solidFill>
                  <a:srgbClr val="0000FF"/>
                </a:solidFill>
              </a:rPr>
              <a:t>Week_t</a:t>
            </a:r>
            <a:r>
              <a:rPr lang="en-US" altLang="zh-CN" sz="2000" dirty="0">
                <a:solidFill>
                  <a:srgbClr val="0000FF"/>
                </a:solidFill>
              </a:rPr>
              <a:t>;</a:t>
            </a:r>
          </a:p>
          <a:p>
            <a:r>
              <a:rPr lang="en-US" altLang="zh-CN" sz="2000" dirty="0" err="1">
                <a:solidFill>
                  <a:srgbClr val="0000FF"/>
                </a:solidFill>
              </a:rPr>
              <a:t>Week_t</a:t>
            </a:r>
            <a:r>
              <a:rPr lang="en-US" altLang="zh-CN" sz="2000" dirty="0">
                <a:solidFill>
                  <a:srgbClr val="0000FF"/>
                </a:solidFill>
              </a:rPr>
              <a:t> year [1 : 52]; //</a:t>
            </a:r>
            <a:r>
              <a:rPr lang="zh-CN" altLang="en-US" sz="2000" dirty="0">
                <a:solidFill>
                  <a:srgbClr val="0000FF"/>
                </a:solidFill>
              </a:rPr>
              <a:t>自定义数组</a:t>
            </a:r>
          </a:p>
          <a:p>
            <a:pPr>
              <a:spcBef>
                <a:spcPct val="0"/>
              </a:spcBef>
            </a:pPr>
            <a:r>
              <a:rPr lang="en-US" altLang="zh-CN" sz="2400" dirty="0" err="1">
                <a:solidFill>
                  <a:srgbClr val="FF0000"/>
                </a:solidFill>
              </a:rPr>
              <a:t>SystemVerilog</a:t>
            </a:r>
            <a:r>
              <a:rPr lang="zh-CN" altLang="en-US" sz="2400" dirty="0">
                <a:solidFill>
                  <a:srgbClr val="FF0000"/>
                </a:solidFill>
              </a:rPr>
              <a:t>可以引用整个数组或其中的一段元素，允许将整个数组或者数组特定维的内容复制到另一个数组。</a:t>
            </a:r>
          </a:p>
          <a:p>
            <a:pPr>
              <a:spcBef>
                <a:spcPct val="0"/>
              </a:spcBef>
            </a:pPr>
            <a:r>
              <a:rPr lang="en-US" altLang="zh-CN" sz="2000" dirty="0">
                <a:solidFill>
                  <a:srgbClr val="0000FF"/>
                </a:solidFill>
              </a:rPr>
              <a:t>int a1 [7 : 0] [1023 : 0];</a:t>
            </a:r>
          </a:p>
          <a:p>
            <a:pPr>
              <a:spcBef>
                <a:spcPct val="0"/>
              </a:spcBef>
            </a:pPr>
            <a:r>
              <a:rPr lang="en-US" altLang="zh-CN" sz="2000" dirty="0">
                <a:solidFill>
                  <a:srgbClr val="0000FF"/>
                </a:solidFill>
              </a:rPr>
              <a:t>int a2 [1 : 8] [1 : 1024];</a:t>
            </a:r>
          </a:p>
          <a:p>
            <a:pPr>
              <a:spcBef>
                <a:spcPct val="0"/>
              </a:spcBef>
            </a:pPr>
            <a:r>
              <a:rPr lang="en-US" altLang="zh-CN" sz="2000" dirty="0">
                <a:solidFill>
                  <a:srgbClr val="0000FF"/>
                </a:solidFill>
              </a:rPr>
              <a:t>a2 = a1;          //</a:t>
            </a:r>
            <a:r>
              <a:rPr lang="zh-CN" altLang="en-US" sz="2000" dirty="0">
                <a:solidFill>
                  <a:srgbClr val="0000FF"/>
                </a:solidFill>
              </a:rPr>
              <a:t>复制整个数组</a:t>
            </a:r>
          </a:p>
          <a:p>
            <a:pPr>
              <a:spcBef>
                <a:spcPct val="0"/>
              </a:spcBef>
            </a:pPr>
            <a:r>
              <a:rPr lang="en-US" altLang="zh-CN" sz="2000" dirty="0">
                <a:solidFill>
                  <a:srgbClr val="0000FF"/>
                </a:solidFill>
              </a:rPr>
              <a:t>a2[3] = a1[0];  //</a:t>
            </a:r>
            <a:r>
              <a:rPr lang="zh-CN" altLang="en-US" sz="2000" dirty="0">
                <a:solidFill>
                  <a:srgbClr val="0000FF"/>
                </a:solidFill>
              </a:rPr>
              <a:t>复制一段</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5300" name="Group 4">
            <a:extLst>
              <a:ext uri="{FF2B5EF4-FFF2-40B4-BE49-F238E27FC236}">
                <a16:creationId xmlns:a16="http://schemas.microsoft.com/office/drawing/2014/main" id="{562CA279-403F-46B4-B96E-4E67F8641CC3}"/>
              </a:ext>
            </a:extLst>
          </p:cNvPr>
          <p:cNvGraphicFramePr>
            <a:graphicFrameLocks noGrp="1"/>
          </p:cNvGraphicFramePr>
          <p:nvPr>
            <p:extLst>
              <p:ext uri="{D42A27DB-BD31-4B8C-83A1-F6EECF244321}">
                <p14:modId xmlns:p14="http://schemas.microsoft.com/office/powerpoint/2010/main" val="3445364120"/>
              </p:ext>
            </p:extLst>
          </p:nvPr>
        </p:nvGraphicFramePr>
        <p:xfrm>
          <a:off x="901123" y="4778953"/>
          <a:ext cx="6096000" cy="503238"/>
        </p:xfrm>
        <a:graphic>
          <a:graphicData uri="http://schemas.openxmlformats.org/drawingml/2006/table">
            <a:tbl>
              <a:tblPr/>
              <a:tblGrid>
                <a:gridCol w="1524000">
                  <a:extLst>
                    <a:ext uri="{9D8B030D-6E8A-4147-A177-3AD203B41FA5}">
                      <a16:colId xmlns:a16="http://schemas.microsoft.com/office/drawing/2014/main" val="204182149"/>
                    </a:ext>
                  </a:extLst>
                </a:gridCol>
                <a:gridCol w="1524000">
                  <a:extLst>
                    <a:ext uri="{9D8B030D-6E8A-4147-A177-3AD203B41FA5}">
                      <a16:colId xmlns:a16="http://schemas.microsoft.com/office/drawing/2014/main" val="1964517838"/>
                    </a:ext>
                  </a:extLst>
                </a:gridCol>
                <a:gridCol w="1524000">
                  <a:extLst>
                    <a:ext uri="{9D8B030D-6E8A-4147-A177-3AD203B41FA5}">
                      <a16:colId xmlns:a16="http://schemas.microsoft.com/office/drawing/2014/main" val="1917993489"/>
                    </a:ext>
                  </a:extLst>
                </a:gridCol>
                <a:gridCol w="1524000">
                  <a:extLst>
                    <a:ext uri="{9D8B030D-6E8A-4147-A177-3AD203B41FA5}">
                      <a16:colId xmlns:a16="http://schemas.microsoft.com/office/drawing/2014/main" val="2570960838"/>
                    </a:ext>
                  </a:extLst>
                </a:gridCol>
              </a:tblGrid>
              <a:tr h="503238">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data[3][7:0]</a:t>
                      </a:r>
                    </a:p>
                  </a:txBody>
                  <a:tcPr horzOverflow="overflow">
                    <a:lnL w="31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data[2][7:0]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a:ln>
                            <a:noFill/>
                          </a:ln>
                          <a:solidFill>
                            <a:srgbClr val="0000FF"/>
                          </a:solidFill>
                          <a:effectLst/>
                          <a:latin typeface="Times New Roman" panose="02020603050405020304" pitchFamily="18" charset="0"/>
                          <a:ea typeface="宋体" panose="02010600030101010101" pitchFamily="2" charset="-122"/>
                        </a:rPr>
                        <a:t>data[1][7:0]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tc>
                  <a:txBody>
                    <a:bodyPr/>
                    <a:lstStyle>
                      <a:lvl1pPr>
                        <a:defRPr kumimoji="1" sz="28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000">
                          <a:solidFill>
                            <a:schemeClr val="tx1"/>
                          </a:solidFill>
                          <a:latin typeface="Times New Roman" panose="02020603050405020304" pitchFamily="18" charset="0"/>
                          <a:ea typeface="宋体" panose="02010600030101010101" pitchFamily="2" charset="-122"/>
                        </a:defRPr>
                      </a:lvl3pPr>
                      <a:lvl4pPr>
                        <a:defRPr kumimoji="1">
                          <a:solidFill>
                            <a:schemeClr val="tx1"/>
                          </a:solidFill>
                          <a:latin typeface="Times New Roman" panose="02020603050405020304" pitchFamily="18" charset="0"/>
                          <a:ea typeface="宋体" panose="02010600030101010101" pitchFamily="2" charset="-122"/>
                        </a:defRPr>
                      </a:lvl4pPr>
                      <a:lvl5pPr>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rPr>
                        <a:t>data[0][7:0]</a:t>
                      </a:r>
                    </a:p>
                  </a:txBody>
                  <a:tcPr horzOverflow="overflow">
                    <a:lnL w="12700"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8328589"/>
                  </a:ext>
                </a:extLst>
              </a:tr>
            </a:tbl>
          </a:graphicData>
        </a:graphic>
      </p:graphicFrame>
      <p:sp>
        <p:nvSpPr>
          <p:cNvPr id="55312" name="Text Box 16">
            <a:extLst>
              <a:ext uri="{FF2B5EF4-FFF2-40B4-BE49-F238E27FC236}">
                <a16:creationId xmlns:a16="http://schemas.microsoft.com/office/drawing/2014/main" id="{EAD87BAB-B987-44B4-8392-7AC2A23A14AD}"/>
              </a:ext>
            </a:extLst>
          </p:cNvPr>
          <p:cNvSpPr txBox="1">
            <a:spLocks noChangeArrowheads="1"/>
          </p:cNvSpPr>
          <p:nvPr/>
        </p:nvSpPr>
        <p:spPr bwMode="auto">
          <a:xfrm>
            <a:off x="835888" y="4382078"/>
            <a:ext cx="4539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a:solidFill>
                  <a:srgbClr val="0000FF"/>
                </a:solidFill>
              </a:rPr>
              <a:t>31</a:t>
            </a:r>
          </a:p>
        </p:txBody>
      </p:sp>
      <p:sp>
        <p:nvSpPr>
          <p:cNvPr id="55313" name="Text Box 17">
            <a:extLst>
              <a:ext uri="{FF2B5EF4-FFF2-40B4-BE49-F238E27FC236}">
                <a16:creationId xmlns:a16="http://schemas.microsoft.com/office/drawing/2014/main" id="{9D660A35-902D-4635-B952-472D82E64862}"/>
              </a:ext>
            </a:extLst>
          </p:cNvPr>
          <p:cNvSpPr txBox="1">
            <a:spLocks noChangeArrowheads="1"/>
          </p:cNvSpPr>
          <p:nvPr/>
        </p:nvSpPr>
        <p:spPr bwMode="auto">
          <a:xfrm>
            <a:off x="2355126" y="4382078"/>
            <a:ext cx="4539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a:solidFill>
                  <a:srgbClr val="0000FF"/>
                </a:solidFill>
              </a:rPr>
              <a:t>23</a:t>
            </a:r>
          </a:p>
        </p:txBody>
      </p:sp>
      <p:sp>
        <p:nvSpPr>
          <p:cNvPr id="55314" name="Text Box 18">
            <a:extLst>
              <a:ext uri="{FF2B5EF4-FFF2-40B4-BE49-F238E27FC236}">
                <a16:creationId xmlns:a16="http://schemas.microsoft.com/office/drawing/2014/main" id="{5E11A6BB-C65F-45BA-8895-66BFF6CFF056}"/>
              </a:ext>
            </a:extLst>
          </p:cNvPr>
          <p:cNvSpPr txBox="1">
            <a:spLocks noChangeArrowheads="1"/>
          </p:cNvSpPr>
          <p:nvPr/>
        </p:nvSpPr>
        <p:spPr bwMode="auto">
          <a:xfrm>
            <a:off x="3866426" y="4418591"/>
            <a:ext cx="45397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15</a:t>
            </a:r>
          </a:p>
        </p:txBody>
      </p:sp>
      <p:sp>
        <p:nvSpPr>
          <p:cNvPr id="55315" name="Text Box 19">
            <a:extLst>
              <a:ext uri="{FF2B5EF4-FFF2-40B4-BE49-F238E27FC236}">
                <a16:creationId xmlns:a16="http://schemas.microsoft.com/office/drawing/2014/main" id="{3C830F38-B5C5-4C06-92DF-83B94088A9BF}"/>
              </a:ext>
            </a:extLst>
          </p:cNvPr>
          <p:cNvSpPr txBox="1">
            <a:spLocks noChangeArrowheads="1"/>
          </p:cNvSpPr>
          <p:nvPr/>
        </p:nvSpPr>
        <p:spPr bwMode="auto">
          <a:xfrm>
            <a:off x="5499963" y="4418591"/>
            <a:ext cx="3193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7</a:t>
            </a:r>
          </a:p>
        </p:txBody>
      </p:sp>
      <p:sp>
        <p:nvSpPr>
          <p:cNvPr id="55316" name="Text Box 20">
            <a:extLst>
              <a:ext uri="{FF2B5EF4-FFF2-40B4-BE49-F238E27FC236}">
                <a16:creationId xmlns:a16="http://schemas.microsoft.com/office/drawing/2014/main" id="{813E4C9D-29EE-4795-8B05-D2B811F8D1BA}"/>
              </a:ext>
            </a:extLst>
          </p:cNvPr>
          <p:cNvSpPr txBox="1">
            <a:spLocks noChangeArrowheads="1"/>
          </p:cNvSpPr>
          <p:nvPr/>
        </p:nvSpPr>
        <p:spPr bwMode="auto">
          <a:xfrm>
            <a:off x="6641813" y="4418591"/>
            <a:ext cx="31931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10000"/>
              </a:spcBef>
            </a:pPr>
            <a:r>
              <a:rPr lang="en-US" altLang="zh-CN" sz="2000" dirty="0">
                <a:solidFill>
                  <a:srgbClr val="0000FF"/>
                </a:solidFill>
              </a:rPr>
              <a:t>0</a:t>
            </a:r>
          </a:p>
        </p:txBody>
      </p:sp>
      <p:sp>
        <p:nvSpPr>
          <p:cNvPr id="10" name="Text Box 2">
            <a:extLst>
              <a:ext uri="{FF2B5EF4-FFF2-40B4-BE49-F238E27FC236}">
                <a16:creationId xmlns:a16="http://schemas.microsoft.com/office/drawing/2014/main" id="{E9546D23-6912-4E12-990F-1FB4EE231A2A}"/>
              </a:ext>
            </a:extLst>
          </p:cNvPr>
          <p:cNvSpPr txBox="1">
            <a:spLocks noChangeArrowheads="1"/>
          </p:cNvSpPr>
          <p:nvPr/>
        </p:nvSpPr>
        <p:spPr bwMode="auto">
          <a:xfrm>
            <a:off x="585065" y="162215"/>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压缩数组</a:t>
            </a:r>
          </a:p>
        </p:txBody>
      </p:sp>
      <p:sp>
        <p:nvSpPr>
          <p:cNvPr id="11" name="Text Box 3">
            <a:extLst>
              <a:ext uri="{FF2B5EF4-FFF2-40B4-BE49-F238E27FC236}">
                <a16:creationId xmlns:a16="http://schemas.microsoft.com/office/drawing/2014/main" id="{1A9FCCCD-0F39-4FEE-A552-B101DDCE0475}"/>
              </a:ext>
            </a:extLst>
          </p:cNvPr>
          <p:cNvSpPr txBox="1">
            <a:spLocks noChangeArrowheads="1"/>
          </p:cNvSpPr>
          <p:nvPr/>
        </p:nvSpPr>
        <p:spPr bwMode="auto">
          <a:xfrm>
            <a:off x="423141" y="1237101"/>
            <a:ext cx="9358168"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400" dirty="0">
                <a:solidFill>
                  <a:srgbClr val="0000FF"/>
                </a:solidFill>
              </a:rPr>
              <a:t>Verilog</a:t>
            </a:r>
            <a:r>
              <a:rPr lang="zh-CN" altLang="en-US" sz="2400" dirty="0">
                <a:solidFill>
                  <a:srgbClr val="0000FF"/>
                </a:solidFill>
              </a:rPr>
              <a:t>中的向量就是一维压缩数组：</a:t>
            </a:r>
          </a:p>
          <a:p>
            <a:pPr>
              <a:spcBef>
                <a:spcPct val="0"/>
              </a:spcBef>
            </a:pPr>
            <a:r>
              <a:rPr lang="en-US" altLang="zh-CN" sz="2400" dirty="0">
                <a:solidFill>
                  <a:srgbClr val="0000FF"/>
                </a:solidFill>
              </a:rPr>
              <a:t>wire [3 : 0] a;  //4</a:t>
            </a:r>
            <a:r>
              <a:rPr lang="zh-CN" altLang="en-US" sz="2400" dirty="0">
                <a:solidFill>
                  <a:srgbClr val="0000FF"/>
                </a:solidFill>
              </a:rPr>
              <a:t>位压缩数组</a:t>
            </a:r>
          </a:p>
          <a:p>
            <a:r>
              <a:rPr lang="en-US" altLang="zh-CN" sz="2400" dirty="0">
                <a:solidFill>
                  <a:srgbClr val="0000FF"/>
                </a:solidFill>
              </a:rPr>
              <a:t>reg [63 : 0] data;  //64</a:t>
            </a:r>
            <a:r>
              <a:rPr lang="zh-CN" altLang="en-US" sz="2400" dirty="0">
                <a:solidFill>
                  <a:srgbClr val="0000FF"/>
                </a:solidFill>
              </a:rPr>
              <a:t>位压缩数组</a:t>
            </a:r>
          </a:p>
          <a:p>
            <a:endParaRPr lang="zh-CN" altLang="en-US" sz="2400" dirty="0">
              <a:solidFill>
                <a:srgbClr val="0000FF"/>
              </a:solidFill>
            </a:endParaRPr>
          </a:p>
          <a:p>
            <a:r>
              <a:rPr lang="en-US" altLang="zh-CN" sz="2400" dirty="0" err="1">
                <a:solidFill>
                  <a:srgbClr val="0000FF"/>
                </a:solidFill>
              </a:rPr>
              <a:t>SystemVerilog</a:t>
            </a:r>
            <a:r>
              <a:rPr lang="zh-CN" altLang="en-US" sz="2400" dirty="0">
                <a:solidFill>
                  <a:srgbClr val="0000FF"/>
                </a:solidFill>
              </a:rPr>
              <a:t>可以声明多维压缩数组：</a:t>
            </a:r>
          </a:p>
          <a:p>
            <a:r>
              <a:rPr lang="en-US" altLang="zh-CN" sz="2400" dirty="0">
                <a:solidFill>
                  <a:srgbClr val="0000FF"/>
                </a:solidFill>
              </a:rPr>
              <a:t>logic [3 : 0] [7 : 0] data; //2</a:t>
            </a:r>
            <a:r>
              <a:rPr lang="zh-CN" altLang="en-US" sz="2400" dirty="0">
                <a:solidFill>
                  <a:srgbClr val="0000FF"/>
                </a:solidFill>
              </a:rPr>
              <a:t>维压缩数组</a:t>
            </a:r>
          </a:p>
          <a:p>
            <a:pPr>
              <a:spcBef>
                <a:spcPct val="0"/>
              </a:spcBef>
            </a:pPr>
            <a:endParaRPr lang="zh-CN" altLang="en-US" sz="2400" dirty="0">
              <a:solidFill>
                <a:srgbClr val="0000FF"/>
              </a:solidFill>
            </a:endParaRPr>
          </a:p>
          <a:p>
            <a:pPr>
              <a:spcBef>
                <a:spcPct val="0"/>
              </a:spcBef>
            </a:pPr>
            <a:r>
              <a:rPr lang="zh-CN" altLang="en-US" sz="2400" dirty="0">
                <a:solidFill>
                  <a:srgbClr val="FF0000"/>
                </a:solidFill>
              </a:rPr>
              <a:t>压缩数组存储：无间隙存储，与编译器、</a:t>
            </a:r>
            <a:r>
              <a:rPr lang="en-US" altLang="zh-CN" sz="2400" dirty="0">
                <a:solidFill>
                  <a:srgbClr val="FF0000"/>
                </a:solidFill>
              </a:rPr>
              <a:t>OS</a:t>
            </a:r>
            <a:r>
              <a:rPr lang="zh-CN" altLang="en-US" sz="2400" dirty="0">
                <a:solidFill>
                  <a:srgbClr val="FF0000"/>
                </a:solidFill>
              </a:rPr>
              <a:t>及硬件平台无关</a:t>
            </a:r>
            <a:endParaRPr lang="zh-CN" altLang="en-US" sz="24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EF763292-34B8-4B45-879E-8442B4B8956E}"/>
              </a:ext>
            </a:extLst>
          </p:cNvPr>
          <p:cNvSpPr txBox="1">
            <a:spLocks noChangeArrowheads="1"/>
          </p:cNvSpPr>
          <p:nvPr/>
        </p:nvSpPr>
        <p:spPr bwMode="auto">
          <a:xfrm>
            <a:off x="535709" y="476251"/>
            <a:ext cx="93702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压缩数组</a:t>
            </a:r>
          </a:p>
        </p:txBody>
      </p:sp>
      <p:sp>
        <p:nvSpPr>
          <p:cNvPr id="57347" name="Text Box 3">
            <a:extLst>
              <a:ext uri="{FF2B5EF4-FFF2-40B4-BE49-F238E27FC236}">
                <a16:creationId xmlns:a16="http://schemas.microsoft.com/office/drawing/2014/main" id="{E356007E-141C-435C-93D5-88CB77F7C495}"/>
              </a:ext>
            </a:extLst>
          </p:cNvPr>
          <p:cNvSpPr txBox="1">
            <a:spLocks noChangeArrowheads="1"/>
          </p:cNvSpPr>
          <p:nvPr/>
        </p:nvSpPr>
        <p:spPr bwMode="auto">
          <a:xfrm>
            <a:off x="378691" y="1341438"/>
            <a:ext cx="9820997"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000" dirty="0">
                <a:solidFill>
                  <a:srgbClr val="FF0000"/>
                </a:solidFill>
              </a:rPr>
              <a:t>压缩数组元素只能是位形式的数据类型：</a:t>
            </a:r>
            <a:r>
              <a:rPr lang="zh-CN" altLang="en-US" sz="2000" dirty="0">
                <a:solidFill>
                  <a:srgbClr val="0000FF"/>
                </a:solidFill>
              </a:rPr>
              <a:t>包括</a:t>
            </a:r>
            <a:r>
              <a:rPr lang="en-US" altLang="zh-CN" sz="2000" dirty="0">
                <a:solidFill>
                  <a:srgbClr val="0000FF"/>
                </a:solidFill>
              </a:rPr>
              <a:t>logic, bit, reg,</a:t>
            </a:r>
            <a:r>
              <a:rPr lang="zh-CN" altLang="en-US" sz="2000" dirty="0">
                <a:solidFill>
                  <a:srgbClr val="0000FF"/>
                </a:solidFill>
              </a:rPr>
              <a:t>其它压缩数组，压缩结构体及压缩联合体。</a:t>
            </a:r>
          </a:p>
          <a:p>
            <a:pPr>
              <a:spcBef>
                <a:spcPct val="0"/>
              </a:spcBef>
            </a:pPr>
            <a:endParaRPr lang="zh-CN" altLang="en-US" sz="2000" dirty="0">
              <a:solidFill>
                <a:srgbClr val="0000FF"/>
              </a:solidFill>
            </a:endParaRPr>
          </a:p>
          <a:p>
            <a:r>
              <a:rPr lang="en-US" altLang="zh-CN" sz="2000" dirty="0">
                <a:solidFill>
                  <a:srgbClr val="0000FF"/>
                </a:solidFill>
              </a:rPr>
              <a:t>typedef struct packed {</a:t>
            </a:r>
          </a:p>
          <a:p>
            <a:r>
              <a:rPr lang="en-US" altLang="zh-CN" sz="2000" dirty="0">
                <a:solidFill>
                  <a:srgbClr val="0000FF"/>
                </a:solidFill>
              </a:rPr>
              <a:t>    logic [7 : 0] </a:t>
            </a:r>
            <a:r>
              <a:rPr lang="en-US" altLang="zh-CN" sz="2000" dirty="0" err="1">
                <a:solidFill>
                  <a:srgbClr val="0000FF"/>
                </a:solidFill>
              </a:rPr>
              <a:t>crc</a:t>
            </a:r>
            <a:r>
              <a:rPr lang="en-US" altLang="zh-CN" sz="2000" dirty="0">
                <a:solidFill>
                  <a:srgbClr val="0000FF"/>
                </a:solidFill>
              </a:rPr>
              <a:t>;</a:t>
            </a:r>
          </a:p>
          <a:p>
            <a:r>
              <a:rPr lang="en-US" altLang="zh-CN" sz="2000" dirty="0">
                <a:solidFill>
                  <a:srgbClr val="0000FF"/>
                </a:solidFill>
              </a:rPr>
              <a:t>    logic [3 : 0] data;</a:t>
            </a:r>
          </a:p>
          <a:p>
            <a:r>
              <a:rPr lang="en-US" altLang="zh-CN" sz="2000" dirty="0">
                <a:solidFill>
                  <a:srgbClr val="0000FF"/>
                </a:solidFill>
              </a:rPr>
              <a:t>} </a:t>
            </a:r>
            <a:r>
              <a:rPr lang="en-US" altLang="zh-CN" sz="2000" dirty="0" err="1">
                <a:solidFill>
                  <a:srgbClr val="0000FF"/>
                </a:solidFill>
              </a:rPr>
              <a:t>data_word_t</a:t>
            </a:r>
            <a:r>
              <a:rPr lang="en-US" altLang="zh-CN" sz="2000" dirty="0">
                <a:solidFill>
                  <a:srgbClr val="0000FF"/>
                </a:solidFill>
              </a:rPr>
              <a:t>;</a:t>
            </a:r>
          </a:p>
          <a:p>
            <a:r>
              <a:rPr lang="en-US" altLang="zh-CN" sz="2000" dirty="0" err="1">
                <a:solidFill>
                  <a:srgbClr val="0000FF"/>
                </a:solidFill>
              </a:rPr>
              <a:t>data_word_t</a:t>
            </a:r>
            <a:r>
              <a:rPr lang="en-US" altLang="zh-CN" sz="2000" dirty="0">
                <a:solidFill>
                  <a:srgbClr val="0000FF"/>
                </a:solidFill>
              </a:rPr>
              <a:t> [7 : 0]  </a:t>
            </a:r>
            <a:r>
              <a:rPr lang="en-US" altLang="zh-CN" sz="2000" dirty="0" err="1">
                <a:solidFill>
                  <a:srgbClr val="0000FF"/>
                </a:solidFill>
              </a:rPr>
              <a:t>dataarray</a:t>
            </a:r>
            <a:r>
              <a:rPr lang="en-US" altLang="zh-CN" sz="2000" dirty="0">
                <a:solidFill>
                  <a:srgbClr val="0000FF"/>
                </a:solidFill>
              </a:rPr>
              <a:t>; </a:t>
            </a:r>
          </a:p>
          <a:p>
            <a:r>
              <a:rPr lang="zh-CN" altLang="en-US" sz="2000" dirty="0">
                <a:solidFill>
                  <a:srgbClr val="FF0000"/>
                </a:solidFill>
              </a:rPr>
              <a:t>压缩数组引用：</a:t>
            </a:r>
            <a:r>
              <a:rPr lang="zh-CN" altLang="en-US" sz="2000" dirty="0">
                <a:solidFill>
                  <a:srgbClr val="0000FF"/>
                </a:solidFill>
              </a:rPr>
              <a:t>压缩数组可以作为整体、位</a:t>
            </a:r>
            <a:r>
              <a:rPr lang="zh-CN" altLang="en-US" sz="2400" dirty="0">
                <a:solidFill>
                  <a:srgbClr val="0000FF"/>
                </a:solidFill>
              </a:rPr>
              <a:t>选择</a:t>
            </a:r>
            <a:r>
              <a:rPr lang="zh-CN" altLang="en-US" sz="2000" dirty="0">
                <a:solidFill>
                  <a:srgbClr val="0000FF"/>
                </a:solidFill>
              </a:rPr>
              <a:t>或部分选择引用。</a:t>
            </a:r>
          </a:p>
        </p:txBody>
      </p:sp>
      <p:sp>
        <p:nvSpPr>
          <p:cNvPr id="57348" name="Rectangle 4">
            <a:extLst>
              <a:ext uri="{FF2B5EF4-FFF2-40B4-BE49-F238E27FC236}">
                <a16:creationId xmlns:a16="http://schemas.microsoft.com/office/drawing/2014/main" id="{A1058917-9DF3-464C-9975-C834A3F3BA52}"/>
              </a:ext>
            </a:extLst>
          </p:cNvPr>
          <p:cNvSpPr>
            <a:spLocks noChangeArrowheads="1"/>
          </p:cNvSpPr>
          <p:nvPr/>
        </p:nvSpPr>
        <p:spPr bwMode="auto">
          <a:xfrm>
            <a:off x="535709" y="4602013"/>
            <a:ext cx="3360215" cy="1415772"/>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spcBef>
                <a:spcPct val="10000"/>
              </a:spcBef>
            </a:pPr>
            <a:r>
              <a:rPr lang="en-US" altLang="zh-CN" sz="2000" dirty="0">
                <a:solidFill>
                  <a:srgbClr val="0000FF"/>
                </a:solidFill>
              </a:rPr>
              <a:t>logic [3 : 0] [7 : 0] data;</a:t>
            </a:r>
          </a:p>
          <a:p>
            <a:pPr>
              <a:spcBef>
                <a:spcPct val="10000"/>
              </a:spcBef>
            </a:pPr>
            <a:r>
              <a:rPr lang="en-US" altLang="zh-CN" sz="2000" dirty="0">
                <a:solidFill>
                  <a:srgbClr val="0000FF"/>
                </a:solidFill>
              </a:rPr>
              <a:t>wire [31 : 0] a = data;</a:t>
            </a:r>
          </a:p>
          <a:p>
            <a:pPr>
              <a:spcBef>
                <a:spcPct val="10000"/>
              </a:spcBef>
            </a:pPr>
            <a:r>
              <a:rPr lang="en-US" altLang="zh-CN" sz="2000" dirty="0">
                <a:solidFill>
                  <a:srgbClr val="0000FF"/>
                </a:solidFill>
              </a:rPr>
              <a:t>wire sign = data[3][7];</a:t>
            </a:r>
          </a:p>
          <a:p>
            <a:pPr>
              <a:spcBef>
                <a:spcPct val="10000"/>
              </a:spcBef>
            </a:pPr>
            <a:r>
              <a:rPr lang="en-US" altLang="zh-CN" sz="2000" dirty="0">
                <a:solidFill>
                  <a:srgbClr val="0000FF"/>
                </a:solidFill>
              </a:rPr>
              <a:t>wire [3 : 0] nib = data[0][3:0];</a:t>
            </a:r>
            <a:endParaRPr lang="en-US" altLang="zh-CN" sz="2000" dirty="0"/>
          </a:p>
        </p:txBody>
      </p:sp>
      <p:sp>
        <p:nvSpPr>
          <p:cNvPr id="57349" name="Rectangle 5">
            <a:extLst>
              <a:ext uri="{FF2B5EF4-FFF2-40B4-BE49-F238E27FC236}">
                <a16:creationId xmlns:a16="http://schemas.microsoft.com/office/drawing/2014/main" id="{F6A1B552-6363-4DF9-A2CC-9EA901367641}"/>
              </a:ext>
            </a:extLst>
          </p:cNvPr>
          <p:cNvSpPr>
            <a:spLocks noChangeArrowheads="1"/>
          </p:cNvSpPr>
          <p:nvPr/>
        </p:nvSpPr>
        <p:spPr bwMode="auto">
          <a:xfrm>
            <a:off x="5289189" y="4719064"/>
            <a:ext cx="5526593" cy="1754326"/>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spcBef>
                <a:spcPct val="10000"/>
              </a:spcBef>
            </a:pPr>
            <a:r>
              <a:rPr lang="en-US" altLang="zh-CN" sz="2000" dirty="0">
                <a:solidFill>
                  <a:srgbClr val="0000FF"/>
                </a:solidFill>
              </a:rPr>
              <a:t>byte </a:t>
            </a:r>
            <a:r>
              <a:rPr lang="en-US" altLang="zh-CN" sz="2000" dirty="0" err="1">
                <a:solidFill>
                  <a:srgbClr val="0000FF"/>
                </a:solidFill>
              </a:rPr>
              <a:t>high_byte</a:t>
            </a:r>
            <a:r>
              <a:rPr lang="en-US" altLang="zh-CN" sz="2000" dirty="0">
                <a:solidFill>
                  <a:srgbClr val="0000FF"/>
                </a:solidFill>
              </a:rPr>
              <a:t>;</a:t>
            </a:r>
          </a:p>
          <a:p>
            <a:pPr>
              <a:spcBef>
                <a:spcPct val="10000"/>
              </a:spcBef>
            </a:pPr>
            <a:r>
              <a:rPr lang="en-US" altLang="zh-CN" sz="2000" dirty="0">
                <a:solidFill>
                  <a:srgbClr val="0000FF"/>
                </a:solidFill>
              </a:rPr>
              <a:t>assign </a:t>
            </a:r>
            <a:r>
              <a:rPr lang="en-US" altLang="zh-CN" sz="2000" dirty="0" err="1">
                <a:solidFill>
                  <a:srgbClr val="0000FF"/>
                </a:solidFill>
              </a:rPr>
              <a:t>high_byte</a:t>
            </a:r>
            <a:r>
              <a:rPr lang="en-US" altLang="zh-CN" sz="2000" dirty="0">
                <a:solidFill>
                  <a:srgbClr val="0000FF"/>
                </a:solidFill>
              </a:rPr>
              <a:t> = data[3];</a:t>
            </a:r>
          </a:p>
          <a:p>
            <a:pPr>
              <a:spcBef>
                <a:spcPct val="10000"/>
              </a:spcBef>
            </a:pPr>
            <a:r>
              <a:rPr lang="en-US" altLang="zh-CN" sz="2000" dirty="0">
                <a:solidFill>
                  <a:srgbClr val="0000FF"/>
                </a:solidFill>
              </a:rPr>
              <a:t>logic [15 : 0] word;</a:t>
            </a:r>
          </a:p>
          <a:p>
            <a:pPr>
              <a:spcBef>
                <a:spcPct val="10000"/>
              </a:spcBef>
            </a:pPr>
            <a:r>
              <a:rPr lang="en-US" altLang="zh-CN" sz="2000" dirty="0">
                <a:solidFill>
                  <a:srgbClr val="0000FF"/>
                </a:solidFill>
              </a:rPr>
              <a:t>assign word = data[1:0];</a:t>
            </a:r>
          </a:p>
          <a:p>
            <a:pPr>
              <a:spcBef>
                <a:spcPct val="10000"/>
              </a:spcBef>
            </a:pPr>
            <a:r>
              <a:rPr lang="zh-CN" altLang="en-US" sz="2000" dirty="0">
                <a:solidFill>
                  <a:srgbClr val="0000FF"/>
                </a:solidFill>
              </a:rPr>
              <a:t>压缩数组是向量，可以象</a:t>
            </a:r>
            <a:r>
              <a:rPr lang="en-US" altLang="zh-CN" sz="2000" dirty="0" err="1">
                <a:solidFill>
                  <a:srgbClr val="0000FF"/>
                </a:solidFill>
              </a:rPr>
              <a:t>verilog</a:t>
            </a:r>
            <a:r>
              <a:rPr lang="zh-CN" altLang="en-US" sz="2000" dirty="0">
                <a:solidFill>
                  <a:srgbClr val="0000FF"/>
                </a:solidFill>
              </a:rPr>
              <a:t>向量一样赋值</a:t>
            </a:r>
            <a:endParaRPr lang="en-US" altLang="zh-CN" sz="2000" dirty="0">
              <a:solidFill>
                <a:srgbClr val="FF000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2">
            <a:extLst>
              <a:ext uri="{FF2B5EF4-FFF2-40B4-BE49-F238E27FC236}">
                <a16:creationId xmlns:a16="http://schemas.microsoft.com/office/drawing/2014/main" id="{26B98A6B-9E31-4935-B745-DB1797CDF857}"/>
              </a:ext>
            </a:extLst>
          </p:cNvPr>
          <p:cNvSpPr txBox="1">
            <a:spLocks noChangeArrowheads="1"/>
          </p:cNvSpPr>
          <p:nvPr/>
        </p:nvSpPr>
        <p:spPr bwMode="auto">
          <a:xfrm>
            <a:off x="480291" y="199160"/>
            <a:ext cx="924098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数组声明时的初始化</a:t>
            </a:r>
          </a:p>
        </p:txBody>
      </p:sp>
      <p:sp>
        <p:nvSpPr>
          <p:cNvPr id="59395" name="Text Box 3">
            <a:extLst>
              <a:ext uri="{FF2B5EF4-FFF2-40B4-BE49-F238E27FC236}">
                <a16:creationId xmlns:a16="http://schemas.microsoft.com/office/drawing/2014/main" id="{85078247-FC8B-4B81-8BFC-F8A013EBDAE7}"/>
              </a:ext>
            </a:extLst>
          </p:cNvPr>
          <p:cNvSpPr txBox="1">
            <a:spLocks noChangeArrowheads="1"/>
          </p:cNvSpPr>
          <p:nvPr/>
        </p:nvSpPr>
        <p:spPr bwMode="auto">
          <a:xfrm>
            <a:off x="480291" y="1014781"/>
            <a:ext cx="1123141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400" dirty="0">
                <a:solidFill>
                  <a:srgbClr val="FF0000"/>
                </a:solidFill>
              </a:rPr>
              <a:t>压缩数组初始化：</a:t>
            </a:r>
            <a:r>
              <a:rPr lang="zh-CN" altLang="en-US" sz="2400" dirty="0">
                <a:solidFill>
                  <a:srgbClr val="0000FF"/>
                </a:solidFill>
              </a:rPr>
              <a:t>与向量一样，可以在声明时用简单赋值进行初始化，赋值可以是常数、常数的拼接或常数的复制。</a:t>
            </a:r>
          </a:p>
          <a:p>
            <a:pPr>
              <a:spcBef>
                <a:spcPct val="0"/>
              </a:spcBef>
            </a:pPr>
            <a:endParaRPr lang="zh-CN" altLang="en-US" sz="2400" dirty="0">
              <a:solidFill>
                <a:srgbClr val="0000FF"/>
              </a:solidFill>
            </a:endParaRPr>
          </a:p>
          <a:p>
            <a:pPr>
              <a:spcBef>
                <a:spcPct val="0"/>
              </a:spcBef>
            </a:pPr>
            <a:r>
              <a:rPr lang="en-US" altLang="zh-CN" sz="2400" dirty="0">
                <a:solidFill>
                  <a:srgbClr val="0000FF"/>
                </a:solidFill>
              </a:rPr>
              <a:t>logic [3 : 0][7 : 0] a = 32’h0;</a:t>
            </a:r>
          </a:p>
          <a:p>
            <a:pPr>
              <a:spcBef>
                <a:spcPct val="0"/>
              </a:spcBef>
            </a:pPr>
            <a:r>
              <a:rPr lang="en-US" altLang="zh-CN" sz="2400" dirty="0">
                <a:solidFill>
                  <a:srgbClr val="0000FF"/>
                </a:solidFill>
              </a:rPr>
              <a:t>logic [3 : 0][7 : 0] b = {16’hz, 16’h0}; //</a:t>
            </a:r>
            <a:r>
              <a:rPr lang="zh-CN" altLang="en-US" sz="2400" dirty="0">
                <a:solidFill>
                  <a:srgbClr val="0000FF"/>
                </a:solidFill>
              </a:rPr>
              <a:t>拼接操作符</a:t>
            </a:r>
          </a:p>
          <a:p>
            <a:pPr>
              <a:spcBef>
                <a:spcPct val="0"/>
              </a:spcBef>
            </a:pPr>
            <a:r>
              <a:rPr lang="en-US" altLang="zh-CN" sz="2400" dirty="0">
                <a:solidFill>
                  <a:srgbClr val="0000FF"/>
                </a:solidFill>
              </a:rPr>
              <a:t>logic [3 : 0][7 : 0] c = {16{2’b01}};  //</a:t>
            </a:r>
            <a:r>
              <a:rPr lang="zh-CN" altLang="en-US" sz="2400" dirty="0">
                <a:solidFill>
                  <a:srgbClr val="0000FF"/>
                </a:solidFill>
              </a:rPr>
              <a:t>复制操作符</a:t>
            </a:r>
            <a:r>
              <a:rPr lang="zh-CN" altLang="en-US" sz="2400" dirty="0"/>
              <a:t> </a:t>
            </a:r>
          </a:p>
          <a:p>
            <a:pPr>
              <a:spcBef>
                <a:spcPct val="0"/>
              </a:spcBef>
            </a:pPr>
            <a:endParaRPr lang="zh-CN" altLang="en-US" sz="2400" dirty="0"/>
          </a:p>
          <a:p>
            <a:pPr marL="342900" indent="-342900">
              <a:spcBef>
                <a:spcPct val="0"/>
              </a:spcBef>
              <a:buFont typeface="Arial" panose="020B0604020202020204" pitchFamily="34" charset="0"/>
              <a:buChar char="•"/>
            </a:pPr>
            <a:r>
              <a:rPr lang="zh-CN" altLang="en-US" sz="2400" dirty="0">
                <a:solidFill>
                  <a:srgbClr val="FF0000"/>
                </a:solidFill>
              </a:rPr>
              <a:t>非压缩数组初始化：</a:t>
            </a:r>
            <a:r>
              <a:rPr lang="zh-CN" altLang="en-US" sz="2400" dirty="0">
                <a:solidFill>
                  <a:srgbClr val="0000FF"/>
                </a:solidFill>
              </a:rPr>
              <a:t>在声明时用’</a:t>
            </a:r>
            <a:r>
              <a:rPr lang="en-US" altLang="zh-CN" sz="2400" dirty="0">
                <a:solidFill>
                  <a:srgbClr val="0000FF"/>
                </a:solidFill>
              </a:rPr>
              <a:t>{}</a:t>
            </a:r>
            <a:r>
              <a:rPr lang="zh-CN" altLang="en-US" sz="2400" dirty="0">
                <a:solidFill>
                  <a:srgbClr val="0000FF"/>
                </a:solidFill>
              </a:rPr>
              <a:t>内的值序列进行初始化，’</a:t>
            </a:r>
            <a:r>
              <a:rPr lang="en-US" altLang="zh-CN" sz="2400" dirty="0">
                <a:solidFill>
                  <a:srgbClr val="0000FF"/>
                </a:solidFill>
              </a:rPr>
              <a:t>{</a:t>
            </a:r>
            <a:r>
              <a:rPr lang="zh-CN" altLang="en-US" sz="2400" dirty="0">
                <a:solidFill>
                  <a:srgbClr val="0000FF"/>
                </a:solidFill>
              </a:rPr>
              <a:t>作为左定界符表明里面是表达式列表，而不是</a:t>
            </a:r>
            <a:r>
              <a:rPr lang="en-US" altLang="zh-CN" sz="2400" dirty="0" err="1">
                <a:solidFill>
                  <a:srgbClr val="0000FF"/>
                </a:solidFill>
              </a:rPr>
              <a:t>verilog</a:t>
            </a:r>
            <a:r>
              <a:rPr lang="zh-CN" altLang="en-US" sz="2400" dirty="0">
                <a:solidFill>
                  <a:srgbClr val="0000FF"/>
                </a:solidFill>
              </a:rPr>
              <a:t>表达式的拼接，括号的套数与数组的维数一致。</a:t>
            </a:r>
          </a:p>
          <a:p>
            <a:pPr>
              <a:spcBef>
                <a:spcPct val="0"/>
              </a:spcBef>
            </a:pPr>
            <a:endParaRPr lang="zh-CN" altLang="en-US" sz="2400" dirty="0">
              <a:solidFill>
                <a:srgbClr val="0000FF"/>
              </a:solidFill>
            </a:endParaRPr>
          </a:p>
          <a:p>
            <a:pPr>
              <a:spcBef>
                <a:spcPct val="0"/>
              </a:spcBef>
            </a:pPr>
            <a:r>
              <a:rPr lang="en-US" altLang="zh-CN" sz="2400" dirty="0">
                <a:solidFill>
                  <a:srgbClr val="0000FF"/>
                </a:solidFill>
              </a:rPr>
              <a:t>int d1 [0 : 1][0 : 3] = ‘{‘{7, 3, 0, 5}, ‘{2, 0, 1, 6}};</a:t>
            </a:r>
          </a:p>
          <a:p>
            <a:pPr>
              <a:spcBef>
                <a:spcPct val="0"/>
              </a:spcBef>
            </a:pPr>
            <a:r>
              <a:rPr lang="en-US" altLang="zh-CN" sz="2400" dirty="0">
                <a:solidFill>
                  <a:srgbClr val="0000FF"/>
                </a:solidFill>
              </a:rPr>
              <a:t>intd2  [0 : 1][0 : 3] = ‘{2{7, 3, 0, 5}}; //</a:t>
            </a:r>
            <a:r>
              <a:rPr lang="zh-CN" altLang="en-US" sz="2400" dirty="0">
                <a:solidFill>
                  <a:srgbClr val="0000FF"/>
                </a:solidFill>
              </a:rPr>
              <a:t>复制，复制操作符前无</a:t>
            </a:r>
            <a:r>
              <a:rPr lang="zh-CN" altLang="en-US" sz="2400" dirty="0">
                <a:solidFill>
                  <a:srgbClr val="FF0000"/>
                </a:solidFill>
              </a:rPr>
              <a:t>’</a:t>
            </a:r>
          </a:p>
          <a:p>
            <a:pPr>
              <a:spcBef>
                <a:spcPct val="0"/>
              </a:spcBef>
            </a:pPr>
            <a:endParaRPr lang="zh-CN" altLang="en-US" sz="2400" dirty="0">
              <a:solidFill>
                <a:srgbClr val="FF0000"/>
              </a:solidFill>
            </a:endParaRPr>
          </a:p>
          <a:p>
            <a:pPr marL="342900" indent="-342900">
              <a:spcBef>
                <a:spcPct val="0"/>
              </a:spcBef>
              <a:buFont typeface="Arial" panose="020B0604020202020204" pitchFamily="34" charset="0"/>
              <a:buChar char="•"/>
            </a:pPr>
            <a:r>
              <a:rPr lang="zh-CN" altLang="en-US" sz="2400" dirty="0">
                <a:solidFill>
                  <a:srgbClr val="FF0000"/>
                </a:solidFill>
              </a:rPr>
              <a:t>‘</a:t>
            </a:r>
            <a:r>
              <a:rPr lang="en-US" altLang="zh-CN" sz="2400" dirty="0">
                <a:solidFill>
                  <a:srgbClr val="FF0000"/>
                </a:solidFill>
              </a:rPr>
              <a:t>{}</a:t>
            </a:r>
            <a:r>
              <a:rPr lang="zh-CN" altLang="en-US" sz="2400" dirty="0">
                <a:solidFill>
                  <a:srgbClr val="FF0000"/>
                </a:solidFill>
              </a:rPr>
              <a:t>与</a:t>
            </a:r>
            <a:r>
              <a:rPr lang="en-US" altLang="zh-CN" sz="2400" dirty="0" err="1">
                <a:solidFill>
                  <a:srgbClr val="FF0000"/>
                </a:solidFill>
              </a:rPr>
              <a:t>verilog</a:t>
            </a:r>
            <a:r>
              <a:rPr lang="zh-CN" altLang="en-US" sz="2400" dirty="0">
                <a:solidFill>
                  <a:srgbClr val="FF0000"/>
                </a:solidFill>
              </a:rPr>
              <a:t>中的</a:t>
            </a:r>
            <a:r>
              <a:rPr lang="en-US" altLang="zh-CN" sz="2400" dirty="0">
                <a:solidFill>
                  <a:srgbClr val="FF0000"/>
                </a:solidFill>
              </a:rPr>
              <a:t>{}</a:t>
            </a:r>
            <a:r>
              <a:rPr lang="zh-CN" altLang="en-US" sz="2400" dirty="0">
                <a:solidFill>
                  <a:srgbClr val="FF0000"/>
                </a:solidFill>
              </a:rPr>
              <a:t>拼接和复制操作符不同，拼接和复制要求指定文本值的位数，因而未指定位数的数值和实数不允许在这些操作符中！！</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2">
            <a:extLst>
              <a:ext uri="{FF2B5EF4-FFF2-40B4-BE49-F238E27FC236}">
                <a16:creationId xmlns:a16="http://schemas.microsoft.com/office/drawing/2014/main" id="{0FCA2844-CFD7-47FC-9D31-013C3620D496}"/>
              </a:ext>
            </a:extLst>
          </p:cNvPr>
          <p:cNvSpPr txBox="1">
            <a:spLocks noChangeArrowheads="1"/>
          </p:cNvSpPr>
          <p:nvPr/>
        </p:nvSpPr>
        <p:spPr bwMode="auto">
          <a:xfrm>
            <a:off x="452582" y="199161"/>
            <a:ext cx="9555018"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800" dirty="0">
                <a:solidFill>
                  <a:srgbClr val="000066"/>
                </a:solidFill>
                <a:latin typeface="Arial" panose="020B0604020202020204" pitchFamily="34" charset="0"/>
              </a:rPr>
              <a:t>数组复制</a:t>
            </a:r>
          </a:p>
        </p:txBody>
      </p:sp>
      <p:sp>
        <p:nvSpPr>
          <p:cNvPr id="67587" name="Text Box 3">
            <a:extLst>
              <a:ext uri="{FF2B5EF4-FFF2-40B4-BE49-F238E27FC236}">
                <a16:creationId xmlns:a16="http://schemas.microsoft.com/office/drawing/2014/main" id="{E0EDEE1E-3D98-466B-A884-F7D8C6279944}"/>
              </a:ext>
            </a:extLst>
          </p:cNvPr>
          <p:cNvSpPr txBox="1">
            <a:spLocks noChangeArrowheads="1"/>
          </p:cNvSpPr>
          <p:nvPr/>
        </p:nvSpPr>
        <p:spPr bwMode="auto">
          <a:xfrm>
            <a:off x="295564" y="1382286"/>
            <a:ext cx="1149927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000" dirty="0">
                <a:solidFill>
                  <a:srgbClr val="FF0000"/>
                </a:solidFill>
              </a:rPr>
              <a:t>压缩数组到压缩数组的复制：</a:t>
            </a:r>
            <a:r>
              <a:rPr lang="zh-CN" altLang="en-US" sz="2000" dirty="0">
                <a:solidFill>
                  <a:srgbClr val="0000FF"/>
                </a:solidFill>
              </a:rPr>
              <a:t>一个压缩数组可以直接赋给另一个压缩数组，且数组的</a:t>
            </a:r>
            <a:r>
              <a:rPr lang="zh-CN" altLang="en-US" sz="2000" dirty="0">
                <a:solidFill>
                  <a:srgbClr val="FF0000"/>
                </a:solidFill>
              </a:rPr>
              <a:t>类型</a:t>
            </a:r>
            <a:r>
              <a:rPr lang="zh-CN" altLang="en-US" sz="2000" dirty="0">
                <a:solidFill>
                  <a:srgbClr val="0000FF"/>
                </a:solidFill>
              </a:rPr>
              <a:t>和宽度可以不同，按向量操作进行扩展或截断</a:t>
            </a:r>
          </a:p>
          <a:p>
            <a:pPr>
              <a:spcBef>
                <a:spcPct val="0"/>
              </a:spcBef>
            </a:pPr>
            <a:r>
              <a:rPr lang="en-US" altLang="zh-CN" sz="2000" dirty="0">
                <a:solidFill>
                  <a:srgbClr val="0000FF"/>
                </a:solidFill>
              </a:rPr>
              <a:t>     bit [1 : 0] [15 : 0] a;</a:t>
            </a:r>
          </a:p>
          <a:p>
            <a:pPr>
              <a:spcBef>
                <a:spcPct val="0"/>
              </a:spcBef>
            </a:pPr>
            <a:r>
              <a:rPr lang="en-US" altLang="zh-CN" sz="2000" dirty="0">
                <a:solidFill>
                  <a:srgbClr val="0000FF"/>
                </a:solidFill>
              </a:rPr>
              <a:t>     logic [3 : 0][7 : 0] b;</a:t>
            </a:r>
          </a:p>
          <a:p>
            <a:pPr>
              <a:spcBef>
                <a:spcPct val="0"/>
              </a:spcBef>
            </a:pPr>
            <a:r>
              <a:rPr lang="en-US" altLang="zh-CN" sz="2000" dirty="0">
                <a:solidFill>
                  <a:srgbClr val="0000FF"/>
                </a:solidFill>
              </a:rPr>
              <a:t>     logic [15 : 0] c;</a:t>
            </a:r>
          </a:p>
          <a:p>
            <a:pPr>
              <a:spcBef>
                <a:spcPct val="0"/>
              </a:spcBef>
            </a:pPr>
            <a:r>
              <a:rPr lang="en-US" altLang="zh-CN" sz="2000" dirty="0">
                <a:solidFill>
                  <a:srgbClr val="0000FF"/>
                </a:solidFill>
              </a:rPr>
              <a:t>     logic [39 : 0] d;</a:t>
            </a:r>
          </a:p>
          <a:p>
            <a:pPr>
              <a:spcBef>
                <a:spcPct val="0"/>
              </a:spcBef>
            </a:pPr>
            <a:r>
              <a:rPr lang="en-US" altLang="zh-CN" sz="2000" dirty="0">
                <a:solidFill>
                  <a:srgbClr val="0000FF"/>
                </a:solidFill>
              </a:rPr>
              <a:t>     b = a;  //32</a:t>
            </a:r>
            <a:r>
              <a:rPr lang="zh-CN" altLang="en-US" sz="2000" dirty="0">
                <a:solidFill>
                  <a:srgbClr val="0000FF"/>
                </a:solidFill>
              </a:rPr>
              <a:t>位数组赋给</a:t>
            </a:r>
            <a:r>
              <a:rPr lang="en-US" altLang="zh-CN" sz="2000" dirty="0">
                <a:solidFill>
                  <a:srgbClr val="0000FF"/>
                </a:solidFill>
              </a:rPr>
              <a:t>32</a:t>
            </a:r>
            <a:r>
              <a:rPr lang="zh-CN" altLang="en-US" sz="2000" dirty="0">
                <a:solidFill>
                  <a:srgbClr val="0000FF"/>
                </a:solidFill>
              </a:rPr>
              <a:t>位数组</a:t>
            </a:r>
          </a:p>
          <a:p>
            <a:pPr>
              <a:spcBef>
                <a:spcPct val="0"/>
              </a:spcBef>
            </a:pPr>
            <a:r>
              <a:rPr lang="en-US" altLang="zh-CN" sz="2000" dirty="0">
                <a:solidFill>
                  <a:srgbClr val="0000FF"/>
                </a:solidFill>
              </a:rPr>
              <a:t>     c = a;  //a</a:t>
            </a:r>
            <a:r>
              <a:rPr lang="zh-CN" altLang="en-US" sz="2000" dirty="0">
                <a:solidFill>
                  <a:srgbClr val="0000FF"/>
                </a:solidFill>
              </a:rPr>
              <a:t>的高</a:t>
            </a:r>
            <a:r>
              <a:rPr lang="en-US" altLang="zh-CN" sz="2000" dirty="0">
                <a:solidFill>
                  <a:srgbClr val="0000FF"/>
                </a:solidFill>
              </a:rPr>
              <a:t>16</a:t>
            </a:r>
            <a:r>
              <a:rPr lang="zh-CN" altLang="en-US" sz="2000" dirty="0">
                <a:solidFill>
                  <a:srgbClr val="0000FF"/>
                </a:solidFill>
              </a:rPr>
              <a:t>位被忽略</a:t>
            </a:r>
          </a:p>
          <a:p>
            <a:pPr>
              <a:spcBef>
                <a:spcPct val="0"/>
              </a:spcBef>
            </a:pPr>
            <a:r>
              <a:rPr lang="en-US" altLang="zh-CN" sz="2000" dirty="0">
                <a:solidFill>
                  <a:srgbClr val="0000FF"/>
                </a:solidFill>
              </a:rPr>
              <a:t>     d = a;   //d</a:t>
            </a:r>
            <a:r>
              <a:rPr lang="zh-CN" altLang="en-US" sz="2000" dirty="0">
                <a:solidFill>
                  <a:srgbClr val="0000FF"/>
                </a:solidFill>
              </a:rPr>
              <a:t>的高</a:t>
            </a:r>
            <a:r>
              <a:rPr lang="en-US" altLang="zh-CN" sz="2000" dirty="0">
                <a:solidFill>
                  <a:srgbClr val="0000FF"/>
                </a:solidFill>
              </a:rPr>
              <a:t>8</a:t>
            </a:r>
            <a:r>
              <a:rPr lang="zh-CN" altLang="en-US" sz="2000" dirty="0">
                <a:solidFill>
                  <a:srgbClr val="0000FF"/>
                </a:solidFill>
              </a:rPr>
              <a:t>位填</a:t>
            </a:r>
            <a:r>
              <a:rPr lang="en-US" altLang="zh-CN" sz="2000" dirty="0">
                <a:solidFill>
                  <a:srgbClr val="0000FF"/>
                </a:solidFill>
              </a:rPr>
              <a:t>0</a:t>
            </a:r>
          </a:p>
        </p:txBody>
      </p:sp>
      <p:sp>
        <p:nvSpPr>
          <p:cNvPr id="4" name="Text Box 3">
            <a:extLst>
              <a:ext uri="{FF2B5EF4-FFF2-40B4-BE49-F238E27FC236}">
                <a16:creationId xmlns:a16="http://schemas.microsoft.com/office/drawing/2014/main" id="{5511C0E3-A69D-4965-90B5-3406410AFF7F}"/>
              </a:ext>
            </a:extLst>
          </p:cNvPr>
          <p:cNvSpPr txBox="1">
            <a:spLocks noChangeArrowheads="1"/>
          </p:cNvSpPr>
          <p:nvPr/>
        </p:nvSpPr>
        <p:spPr bwMode="auto">
          <a:xfrm>
            <a:off x="295564" y="4554385"/>
            <a:ext cx="11896436"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000" dirty="0">
                <a:solidFill>
                  <a:srgbClr val="FF0000"/>
                </a:solidFill>
              </a:rPr>
              <a:t>非压缩数组到非压缩数组的复制：</a:t>
            </a:r>
            <a:r>
              <a:rPr lang="zh-CN" altLang="en-US" sz="2000" dirty="0">
                <a:solidFill>
                  <a:srgbClr val="0000FF"/>
                </a:solidFill>
              </a:rPr>
              <a:t>两个具有</a:t>
            </a:r>
            <a:r>
              <a:rPr lang="zh-CN" altLang="en-US" sz="2000" dirty="0">
                <a:solidFill>
                  <a:srgbClr val="FF0000"/>
                </a:solidFill>
              </a:rPr>
              <a:t>相同维数、元素位数和类型</a:t>
            </a:r>
            <a:r>
              <a:rPr lang="zh-CN" altLang="en-US" sz="2000" dirty="0">
                <a:solidFill>
                  <a:srgbClr val="0000FF"/>
                </a:solidFill>
              </a:rPr>
              <a:t>的非压缩数组可以直接赋值，两个数组中元素编号不必相同，但数组的</a:t>
            </a:r>
            <a:r>
              <a:rPr lang="zh-CN" altLang="en-US" sz="2000" dirty="0">
                <a:solidFill>
                  <a:srgbClr val="FF0000"/>
                </a:solidFill>
              </a:rPr>
              <a:t>结构和类型</a:t>
            </a:r>
            <a:r>
              <a:rPr lang="zh-CN" altLang="en-US" sz="2000" dirty="0">
                <a:solidFill>
                  <a:srgbClr val="0000FF"/>
                </a:solidFill>
              </a:rPr>
              <a:t>必须完全匹配；</a:t>
            </a:r>
            <a:r>
              <a:rPr lang="zh-CN" altLang="en-US" sz="2000" dirty="0">
                <a:solidFill>
                  <a:srgbClr val="FF0000"/>
                </a:solidFill>
              </a:rPr>
              <a:t>不同结构</a:t>
            </a:r>
            <a:r>
              <a:rPr lang="zh-CN" altLang="en-US" sz="2000" dirty="0">
                <a:solidFill>
                  <a:srgbClr val="0000FF"/>
                </a:solidFill>
              </a:rPr>
              <a:t>的非压缩数组间的赋值需要</a:t>
            </a:r>
            <a:r>
              <a:rPr lang="zh-CN" altLang="en-US" sz="2000" dirty="0">
                <a:solidFill>
                  <a:srgbClr val="FF0000"/>
                </a:solidFill>
              </a:rPr>
              <a:t>经过转换</a:t>
            </a:r>
            <a:r>
              <a:rPr lang="zh-CN" altLang="en-US" sz="2000" dirty="0">
                <a:solidFill>
                  <a:srgbClr val="0000FF"/>
                </a:solidFill>
              </a:rPr>
              <a:t>实现。</a:t>
            </a:r>
          </a:p>
          <a:p>
            <a:pPr>
              <a:spcBef>
                <a:spcPct val="0"/>
              </a:spcBef>
            </a:pPr>
            <a:r>
              <a:rPr lang="en-US" altLang="zh-CN" sz="2000" dirty="0">
                <a:solidFill>
                  <a:srgbClr val="0000FF"/>
                </a:solidFill>
              </a:rPr>
              <a:t>     logic [31 : 0] a [2 : 0][9 : 0];</a:t>
            </a:r>
          </a:p>
          <a:p>
            <a:pPr>
              <a:spcBef>
                <a:spcPct val="0"/>
              </a:spcBef>
            </a:pPr>
            <a:r>
              <a:rPr lang="en-US" altLang="zh-CN" sz="2000" dirty="0">
                <a:solidFill>
                  <a:srgbClr val="0000FF"/>
                </a:solidFill>
              </a:rPr>
              <a:t>     logic [0 : 31] b [1 : 3][1 : 10];</a:t>
            </a:r>
          </a:p>
          <a:p>
            <a:pPr>
              <a:spcBef>
                <a:spcPct val="0"/>
              </a:spcBef>
            </a:pPr>
            <a:r>
              <a:rPr lang="en-US" altLang="zh-CN" sz="2000" dirty="0">
                <a:solidFill>
                  <a:srgbClr val="0000FF"/>
                </a:solidFill>
              </a:rPr>
              <a:t>     b = a;  //</a:t>
            </a:r>
            <a:r>
              <a:rPr lang="zh-CN" altLang="en-US" sz="2000" dirty="0">
                <a:solidFill>
                  <a:srgbClr val="0000FF"/>
                </a:solidFill>
              </a:rPr>
              <a:t>非压缩数组间赋值</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2">
            <a:extLst>
              <a:ext uri="{FF2B5EF4-FFF2-40B4-BE49-F238E27FC236}">
                <a16:creationId xmlns:a16="http://schemas.microsoft.com/office/drawing/2014/main" id="{EFAC34A9-A36E-4A0C-B528-2C0C19A3536B}"/>
              </a:ext>
            </a:extLst>
          </p:cNvPr>
          <p:cNvSpPr txBox="1">
            <a:spLocks noChangeArrowheads="1"/>
          </p:cNvSpPr>
          <p:nvPr/>
        </p:nvSpPr>
        <p:spPr bwMode="auto">
          <a:xfrm>
            <a:off x="314036" y="116033"/>
            <a:ext cx="98044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使用位流转换复制数组和结构体</a:t>
            </a:r>
          </a:p>
        </p:txBody>
      </p:sp>
      <p:sp>
        <p:nvSpPr>
          <p:cNvPr id="71683" name="Text Box 3">
            <a:extLst>
              <a:ext uri="{FF2B5EF4-FFF2-40B4-BE49-F238E27FC236}">
                <a16:creationId xmlns:a16="http://schemas.microsoft.com/office/drawing/2014/main" id="{5234FE2C-D418-43AF-9EE9-BBDDA2D7DAA5}"/>
              </a:ext>
            </a:extLst>
          </p:cNvPr>
          <p:cNvSpPr txBox="1">
            <a:spLocks noChangeArrowheads="1"/>
          </p:cNvSpPr>
          <p:nvPr/>
        </p:nvSpPr>
        <p:spPr bwMode="auto">
          <a:xfrm>
            <a:off x="395288" y="1196976"/>
            <a:ext cx="9804400" cy="2835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000" dirty="0">
                <a:solidFill>
                  <a:srgbClr val="0000FF"/>
                </a:solidFill>
              </a:rPr>
              <a:t>位流转换将非压缩数组临时地转换成</a:t>
            </a:r>
            <a:r>
              <a:rPr lang="zh-CN" altLang="en-US" sz="2000" dirty="0">
                <a:solidFill>
                  <a:srgbClr val="FF0000"/>
                </a:solidFill>
              </a:rPr>
              <a:t>向量形式的位流</a:t>
            </a:r>
            <a:r>
              <a:rPr lang="zh-CN" altLang="en-US" sz="2000" dirty="0">
                <a:solidFill>
                  <a:srgbClr val="0000FF"/>
                </a:solidFill>
              </a:rPr>
              <a:t>，该临时向量可以赋值给其它数组。源数组和目标数组的</a:t>
            </a:r>
            <a:r>
              <a:rPr lang="zh-CN" altLang="en-US" sz="2000" dirty="0">
                <a:solidFill>
                  <a:srgbClr val="FF0000"/>
                </a:solidFill>
              </a:rPr>
              <a:t>每个元素的宽度</a:t>
            </a:r>
            <a:r>
              <a:rPr lang="zh-CN" altLang="en-US" sz="2000" dirty="0">
                <a:solidFill>
                  <a:srgbClr val="0000FF"/>
                </a:solidFill>
              </a:rPr>
              <a:t>可以不同，但数组的</a:t>
            </a:r>
            <a:r>
              <a:rPr lang="zh-CN" altLang="en-US" sz="2000" dirty="0">
                <a:solidFill>
                  <a:srgbClr val="FF0000"/>
                </a:solidFill>
              </a:rPr>
              <a:t>总位数</a:t>
            </a:r>
            <a:r>
              <a:rPr lang="zh-CN" altLang="en-US" sz="2000" dirty="0">
                <a:solidFill>
                  <a:srgbClr val="0000FF"/>
                </a:solidFill>
              </a:rPr>
              <a:t>必须相同。位流转换机制主要用于以下情况：</a:t>
            </a:r>
          </a:p>
          <a:p>
            <a:pPr>
              <a:spcBef>
                <a:spcPct val="0"/>
              </a:spcBef>
            </a:pPr>
            <a:endParaRPr lang="zh-CN" altLang="en-US" sz="2000" dirty="0">
              <a:solidFill>
                <a:srgbClr val="0000FF"/>
              </a:solidFill>
            </a:endParaRPr>
          </a:p>
          <a:p>
            <a:pPr>
              <a:spcBef>
                <a:spcPct val="0"/>
              </a:spcBef>
              <a:buFont typeface="Wingdings" panose="05000000000000000000" pitchFamily="2" charset="2"/>
              <a:buChar char="Ø"/>
            </a:pPr>
            <a:r>
              <a:rPr lang="zh-CN" altLang="en-US" sz="2000" dirty="0">
                <a:solidFill>
                  <a:srgbClr val="0000FF"/>
                </a:solidFill>
              </a:rPr>
              <a:t> 把非压缩数组赋值给不同结构的非压缩数组</a:t>
            </a:r>
          </a:p>
          <a:p>
            <a:pPr>
              <a:spcBef>
                <a:spcPct val="0"/>
              </a:spcBef>
              <a:buFont typeface="Wingdings" panose="05000000000000000000" pitchFamily="2" charset="2"/>
              <a:buChar char="Ø"/>
            </a:pPr>
            <a:r>
              <a:rPr lang="zh-CN" altLang="en-US" sz="2000" dirty="0">
                <a:solidFill>
                  <a:srgbClr val="0000FF"/>
                </a:solidFill>
              </a:rPr>
              <a:t> 把非压缩数组赋值给压缩数组</a:t>
            </a:r>
          </a:p>
          <a:p>
            <a:pPr>
              <a:spcBef>
                <a:spcPct val="0"/>
              </a:spcBef>
              <a:buFont typeface="Wingdings" panose="05000000000000000000" pitchFamily="2" charset="2"/>
              <a:buChar char="Ø"/>
            </a:pPr>
            <a:r>
              <a:rPr lang="zh-CN" altLang="en-US" sz="2000" dirty="0">
                <a:solidFill>
                  <a:srgbClr val="0000FF"/>
                </a:solidFill>
              </a:rPr>
              <a:t> 把结构体赋值给压缩数组或非压缩数组</a:t>
            </a:r>
          </a:p>
          <a:p>
            <a:pPr>
              <a:spcBef>
                <a:spcPct val="0"/>
              </a:spcBef>
              <a:buFont typeface="Wingdings" panose="05000000000000000000" pitchFamily="2" charset="2"/>
              <a:buChar char="Ø"/>
            </a:pPr>
            <a:r>
              <a:rPr lang="zh-CN" altLang="en-US" sz="2000" dirty="0">
                <a:solidFill>
                  <a:srgbClr val="0000FF"/>
                </a:solidFill>
              </a:rPr>
              <a:t> 把定宽或动态宽度的数组赋值给动态宽度数组</a:t>
            </a:r>
          </a:p>
          <a:p>
            <a:pPr>
              <a:spcBef>
                <a:spcPct val="0"/>
              </a:spcBef>
              <a:buFont typeface="Wingdings" panose="05000000000000000000" pitchFamily="2" charset="2"/>
              <a:buChar char="Ø"/>
            </a:pPr>
            <a:r>
              <a:rPr lang="zh-CN" altLang="en-US" sz="2000" dirty="0">
                <a:solidFill>
                  <a:srgbClr val="0000FF"/>
                </a:solidFill>
              </a:rPr>
              <a:t> 把结构体赋值给另一个不同结构的结构体</a:t>
            </a:r>
          </a:p>
        </p:txBody>
      </p:sp>
      <p:sp>
        <p:nvSpPr>
          <p:cNvPr id="71684" name="Text Box 4">
            <a:extLst>
              <a:ext uri="{FF2B5EF4-FFF2-40B4-BE49-F238E27FC236}">
                <a16:creationId xmlns:a16="http://schemas.microsoft.com/office/drawing/2014/main" id="{8E0BE6FB-4087-46D1-8241-96EDF0E10696}"/>
              </a:ext>
            </a:extLst>
          </p:cNvPr>
          <p:cNvSpPr txBox="1">
            <a:spLocks noChangeArrowheads="1"/>
          </p:cNvSpPr>
          <p:nvPr/>
        </p:nvSpPr>
        <p:spPr bwMode="auto">
          <a:xfrm>
            <a:off x="395288" y="4219575"/>
            <a:ext cx="11399548"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dirty="0">
                <a:solidFill>
                  <a:srgbClr val="FF0000"/>
                </a:solidFill>
              </a:rPr>
              <a:t>位流转换使用</a:t>
            </a:r>
            <a:r>
              <a:rPr lang="en-US" altLang="zh-CN" sz="2000" dirty="0" err="1">
                <a:solidFill>
                  <a:srgbClr val="FF0000"/>
                </a:solidFill>
              </a:rPr>
              <a:t>SystemVerilog</a:t>
            </a:r>
            <a:r>
              <a:rPr lang="zh-CN" altLang="en-US" sz="2000" dirty="0">
                <a:solidFill>
                  <a:srgbClr val="FF0000"/>
                </a:solidFill>
              </a:rPr>
              <a:t>静态转换操作符，转换需要至少目标数组是用</a:t>
            </a:r>
            <a:r>
              <a:rPr lang="en-US" altLang="zh-CN" sz="2000" dirty="0">
                <a:solidFill>
                  <a:srgbClr val="FF0000"/>
                </a:solidFill>
              </a:rPr>
              <a:t>typedef</a:t>
            </a:r>
            <a:r>
              <a:rPr lang="zh-CN" altLang="en-US" sz="2000" dirty="0">
                <a:solidFill>
                  <a:srgbClr val="FF0000"/>
                </a:solidFill>
              </a:rPr>
              <a:t>表示的自定义类型！</a:t>
            </a:r>
          </a:p>
          <a:p>
            <a:r>
              <a:rPr lang="en-US" altLang="zh-CN" sz="2000" dirty="0">
                <a:solidFill>
                  <a:srgbClr val="0000FF"/>
                </a:solidFill>
              </a:rPr>
              <a:t>typedef int </a:t>
            </a:r>
            <a:r>
              <a:rPr lang="en-US" altLang="zh-CN" sz="2000" dirty="0" err="1">
                <a:solidFill>
                  <a:srgbClr val="0000FF"/>
                </a:solidFill>
              </a:rPr>
              <a:t>data_t</a:t>
            </a:r>
            <a:r>
              <a:rPr lang="en-US" altLang="zh-CN" sz="2000" dirty="0">
                <a:solidFill>
                  <a:srgbClr val="0000FF"/>
                </a:solidFill>
              </a:rPr>
              <a:t> [3 : 0] [7 : 0];</a:t>
            </a:r>
          </a:p>
          <a:p>
            <a:r>
              <a:rPr lang="en-US" altLang="zh-CN" sz="2000" dirty="0" err="1">
                <a:solidFill>
                  <a:srgbClr val="0000FF"/>
                </a:solidFill>
              </a:rPr>
              <a:t>data_t</a:t>
            </a:r>
            <a:r>
              <a:rPr lang="en-US" altLang="zh-CN" sz="2000" dirty="0">
                <a:solidFill>
                  <a:srgbClr val="0000FF"/>
                </a:solidFill>
              </a:rPr>
              <a:t> a;</a:t>
            </a:r>
          </a:p>
          <a:p>
            <a:r>
              <a:rPr lang="en-US" altLang="zh-CN" sz="2000" dirty="0">
                <a:solidFill>
                  <a:srgbClr val="0000FF"/>
                </a:solidFill>
              </a:rPr>
              <a:t>int b[1 : 0][3 : 0][3 : 0];</a:t>
            </a:r>
          </a:p>
          <a:p>
            <a:r>
              <a:rPr lang="en-US" altLang="zh-CN" sz="2000" dirty="0">
                <a:solidFill>
                  <a:srgbClr val="0000FF"/>
                </a:solidFill>
              </a:rPr>
              <a:t>a = </a:t>
            </a:r>
            <a:r>
              <a:rPr lang="en-US" altLang="zh-CN" sz="2000" dirty="0" err="1">
                <a:solidFill>
                  <a:srgbClr val="0000FF"/>
                </a:solidFill>
              </a:rPr>
              <a:t>data_t</a:t>
            </a:r>
            <a:r>
              <a:rPr lang="en-US" altLang="zh-CN" sz="2000" dirty="0">
                <a:solidFill>
                  <a:srgbClr val="0000FF"/>
                </a:solidFill>
              </a:rPr>
              <a:t>’(b);  //</a:t>
            </a:r>
            <a:r>
              <a:rPr lang="zh-CN" altLang="en-US" sz="2000" dirty="0">
                <a:solidFill>
                  <a:srgbClr val="0000FF"/>
                </a:solidFill>
              </a:rPr>
              <a:t>将非压缩数组赋给不同结构的非压缩数组</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Text Box 2">
            <a:extLst>
              <a:ext uri="{FF2B5EF4-FFF2-40B4-BE49-F238E27FC236}">
                <a16:creationId xmlns:a16="http://schemas.microsoft.com/office/drawing/2014/main" id="{DE8484C6-9D34-47CB-9953-E43A99C83BBB}"/>
              </a:ext>
            </a:extLst>
          </p:cNvPr>
          <p:cNvSpPr txBox="1">
            <a:spLocks noChangeArrowheads="1"/>
          </p:cNvSpPr>
          <p:nvPr/>
        </p:nvSpPr>
        <p:spPr bwMode="auto">
          <a:xfrm>
            <a:off x="785091" y="236106"/>
            <a:ext cx="932872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数组通过端口、任务与函数传递</a:t>
            </a:r>
          </a:p>
        </p:txBody>
      </p:sp>
      <p:sp>
        <p:nvSpPr>
          <p:cNvPr id="77827" name="Text Box 3">
            <a:extLst>
              <a:ext uri="{FF2B5EF4-FFF2-40B4-BE49-F238E27FC236}">
                <a16:creationId xmlns:a16="http://schemas.microsoft.com/office/drawing/2014/main" id="{5970D78A-6B9B-4F2F-98BE-522229ABFA69}"/>
              </a:ext>
            </a:extLst>
          </p:cNvPr>
          <p:cNvSpPr txBox="1">
            <a:spLocks noChangeArrowheads="1"/>
          </p:cNvSpPr>
          <p:nvPr/>
        </p:nvSpPr>
        <p:spPr bwMode="auto">
          <a:xfrm>
            <a:off x="720436" y="1196976"/>
            <a:ext cx="9479252"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FF"/>
                </a:solidFill>
              </a:rPr>
              <a:t>Verilog</a:t>
            </a:r>
            <a:r>
              <a:rPr lang="zh-CN" altLang="en-US" sz="2000" dirty="0">
                <a:solidFill>
                  <a:srgbClr val="0000FF"/>
                </a:solidFill>
              </a:rPr>
              <a:t>允许</a:t>
            </a:r>
            <a:r>
              <a:rPr lang="zh-CN" altLang="en-US" sz="2000" dirty="0">
                <a:solidFill>
                  <a:srgbClr val="FF0000"/>
                </a:solidFill>
              </a:rPr>
              <a:t>压缩数组</a:t>
            </a:r>
            <a:r>
              <a:rPr lang="zh-CN" altLang="en-US" sz="2000" dirty="0">
                <a:solidFill>
                  <a:srgbClr val="0000FF"/>
                </a:solidFill>
              </a:rPr>
              <a:t>通过模块端口、任务与函数传递，</a:t>
            </a:r>
            <a:r>
              <a:rPr lang="en-US" altLang="zh-CN" sz="2000" dirty="0" err="1">
                <a:solidFill>
                  <a:srgbClr val="0000FF"/>
                </a:solidFill>
              </a:rPr>
              <a:t>SystemVerilog</a:t>
            </a:r>
            <a:r>
              <a:rPr lang="zh-CN" altLang="en-US" sz="2000" dirty="0">
                <a:solidFill>
                  <a:srgbClr val="0000FF"/>
                </a:solidFill>
              </a:rPr>
              <a:t>允许任何类型及任意维数的数组通过端口、任务与函数传递，但要求端口、任务与函数的自变量说明为数组，</a:t>
            </a:r>
            <a:r>
              <a:rPr lang="zh-CN" altLang="en-US" sz="2000" dirty="0">
                <a:solidFill>
                  <a:srgbClr val="FF0000"/>
                </a:solidFill>
              </a:rPr>
              <a:t>传送的规则与数组赋值给其它数组的规则相同</a:t>
            </a:r>
            <a:r>
              <a:rPr lang="zh-CN" altLang="en-US" sz="2000" dirty="0">
                <a:solidFill>
                  <a:srgbClr val="0000FF"/>
                </a:solidFill>
              </a:rPr>
              <a:t>。</a:t>
            </a:r>
          </a:p>
          <a:p>
            <a:pPr>
              <a:spcBef>
                <a:spcPct val="0"/>
              </a:spcBef>
            </a:pPr>
            <a:endParaRPr lang="zh-CN" altLang="en-US" sz="2000" dirty="0">
              <a:solidFill>
                <a:srgbClr val="0000FF"/>
              </a:solidFill>
            </a:endParaRPr>
          </a:p>
          <a:p>
            <a:pPr>
              <a:spcBef>
                <a:spcPct val="0"/>
              </a:spcBef>
            </a:pPr>
            <a:r>
              <a:rPr lang="en-US" altLang="zh-CN" sz="2000" dirty="0">
                <a:solidFill>
                  <a:srgbClr val="0000FF"/>
                </a:solidFill>
              </a:rPr>
              <a:t>module </a:t>
            </a:r>
            <a:r>
              <a:rPr lang="en-US" altLang="zh-CN" sz="2000" dirty="0" err="1">
                <a:solidFill>
                  <a:srgbClr val="0000FF"/>
                </a:solidFill>
              </a:rPr>
              <a:t>cpu</a:t>
            </a:r>
            <a:r>
              <a:rPr lang="en-US" altLang="zh-CN" sz="2000" dirty="0">
                <a:solidFill>
                  <a:srgbClr val="0000FF"/>
                </a:solidFill>
              </a:rPr>
              <a:t>(…);</a:t>
            </a:r>
          </a:p>
          <a:p>
            <a:pPr>
              <a:spcBef>
                <a:spcPct val="0"/>
              </a:spcBef>
            </a:pPr>
            <a:r>
              <a:rPr lang="en-US" altLang="zh-CN" sz="2000" dirty="0">
                <a:solidFill>
                  <a:srgbClr val="0000FF"/>
                </a:solidFill>
              </a:rPr>
              <a:t>   …</a:t>
            </a:r>
          </a:p>
          <a:p>
            <a:pPr>
              <a:spcBef>
                <a:spcPct val="0"/>
              </a:spcBef>
            </a:pPr>
            <a:r>
              <a:rPr lang="en-US" altLang="zh-CN" sz="2000" dirty="0">
                <a:solidFill>
                  <a:srgbClr val="0000FF"/>
                </a:solidFill>
              </a:rPr>
              <a:t>    logic [7 : 0] </a:t>
            </a:r>
            <a:r>
              <a:rPr lang="en-US" altLang="zh-CN" sz="2000" dirty="0" err="1">
                <a:solidFill>
                  <a:srgbClr val="0000FF"/>
                </a:solidFill>
              </a:rPr>
              <a:t>lookup_table</a:t>
            </a:r>
            <a:r>
              <a:rPr lang="en-US" altLang="zh-CN" sz="2000" dirty="0">
                <a:solidFill>
                  <a:srgbClr val="0000FF"/>
                </a:solidFill>
              </a:rPr>
              <a:t> [0 : 255];</a:t>
            </a:r>
          </a:p>
          <a:p>
            <a:pPr>
              <a:spcBef>
                <a:spcPct val="0"/>
              </a:spcBef>
            </a:pPr>
            <a:r>
              <a:rPr lang="en-US" altLang="zh-CN" sz="2000" dirty="0">
                <a:solidFill>
                  <a:srgbClr val="0000FF"/>
                </a:solidFill>
              </a:rPr>
              <a:t>    lookup i1(.</a:t>
            </a:r>
            <a:r>
              <a:rPr lang="en-US" altLang="zh-CN" sz="2000" dirty="0" err="1">
                <a:solidFill>
                  <a:srgbClr val="FF0000"/>
                </a:solidFill>
              </a:rPr>
              <a:t>lut</a:t>
            </a:r>
            <a:r>
              <a:rPr lang="en-US" altLang="zh-CN" sz="2000" dirty="0">
                <a:solidFill>
                  <a:srgbClr val="FF0000"/>
                </a:solidFill>
              </a:rPr>
              <a:t>(</a:t>
            </a:r>
            <a:r>
              <a:rPr lang="en-US" altLang="zh-CN" sz="2000" dirty="0" err="1">
                <a:solidFill>
                  <a:srgbClr val="FF0000"/>
                </a:solidFill>
              </a:rPr>
              <a:t>lookup_table</a:t>
            </a:r>
            <a:r>
              <a:rPr lang="en-US" altLang="zh-CN" sz="2000" dirty="0">
                <a:solidFill>
                  <a:srgbClr val="FF0000"/>
                </a:solidFill>
              </a:rPr>
              <a:t>));</a:t>
            </a:r>
          </a:p>
          <a:p>
            <a:pPr>
              <a:spcBef>
                <a:spcPct val="0"/>
              </a:spcBef>
            </a:pPr>
            <a:r>
              <a:rPr lang="en-US" altLang="zh-CN" sz="2000" dirty="0">
                <a:solidFill>
                  <a:srgbClr val="0000FF"/>
                </a:solidFill>
              </a:rPr>
              <a:t>    …</a:t>
            </a:r>
          </a:p>
          <a:p>
            <a:pPr>
              <a:spcBef>
                <a:spcPct val="0"/>
              </a:spcBef>
            </a:pPr>
            <a:r>
              <a:rPr lang="en-US" altLang="zh-CN" sz="2000" dirty="0" err="1">
                <a:solidFill>
                  <a:srgbClr val="0000FF"/>
                </a:solidFill>
              </a:rPr>
              <a:t>endmodule</a:t>
            </a:r>
            <a:endParaRPr lang="en-US" altLang="zh-CN" sz="2000" dirty="0">
              <a:solidFill>
                <a:srgbClr val="0000FF"/>
              </a:solidFill>
            </a:endParaRPr>
          </a:p>
          <a:p>
            <a:pPr>
              <a:spcBef>
                <a:spcPct val="0"/>
              </a:spcBef>
            </a:pPr>
            <a:r>
              <a:rPr lang="en-US" altLang="zh-CN" sz="2000" dirty="0">
                <a:solidFill>
                  <a:srgbClr val="0000FF"/>
                </a:solidFill>
              </a:rPr>
              <a:t>module lookup (output bit [7 : 0] </a:t>
            </a:r>
            <a:r>
              <a:rPr lang="en-US" altLang="zh-CN" sz="2000" dirty="0" err="1">
                <a:solidFill>
                  <a:srgbClr val="0000FF"/>
                </a:solidFill>
              </a:rPr>
              <a:t>lut</a:t>
            </a:r>
            <a:r>
              <a:rPr lang="en-US" altLang="zh-CN" sz="2000" dirty="0">
                <a:solidFill>
                  <a:srgbClr val="0000FF"/>
                </a:solidFill>
              </a:rPr>
              <a:t> [0 : 255]);</a:t>
            </a:r>
          </a:p>
          <a:p>
            <a:pPr>
              <a:spcBef>
                <a:spcPct val="0"/>
              </a:spcBef>
            </a:pPr>
            <a:r>
              <a:rPr lang="en-US" altLang="zh-CN" sz="2000" dirty="0">
                <a:solidFill>
                  <a:srgbClr val="0000FF"/>
                </a:solidFill>
              </a:rPr>
              <a:t>    …</a:t>
            </a:r>
          </a:p>
          <a:p>
            <a:pPr>
              <a:spcBef>
                <a:spcPct val="0"/>
              </a:spcBef>
            </a:pPr>
            <a:r>
              <a:rPr lang="en-US" altLang="zh-CN" sz="2000" dirty="0">
                <a:solidFill>
                  <a:srgbClr val="0000FF"/>
                </a:solidFill>
              </a:rPr>
              <a:t>    initial </a:t>
            </a:r>
            <a:r>
              <a:rPr lang="en-US" altLang="zh-CN" sz="2000" dirty="0">
                <a:solidFill>
                  <a:srgbClr val="FF0000"/>
                </a:solidFill>
              </a:rPr>
              <a:t>load(</a:t>
            </a:r>
            <a:r>
              <a:rPr lang="en-US" altLang="zh-CN" sz="2000" dirty="0" err="1">
                <a:solidFill>
                  <a:srgbClr val="FF0000"/>
                </a:solidFill>
              </a:rPr>
              <a:t>lut</a:t>
            </a:r>
            <a:r>
              <a:rPr lang="en-US" altLang="zh-CN" sz="2000" dirty="0">
                <a:solidFill>
                  <a:srgbClr val="FF0000"/>
                </a:solidFill>
              </a:rPr>
              <a:t>);</a:t>
            </a:r>
          </a:p>
          <a:p>
            <a:pPr>
              <a:spcBef>
                <a:spcPct val="0"/>
              </a:spcBef>
            </a:pPr>
            <a:r>
              <a:rPr lang="en-US" altLang="zh-CN" sz="2000" dirty="0">
                <a:solidFill>
                  <a:srgbClr val="0000FF"/>
                </a:solidFill>
              </a:rPr>
              <a:t>    task load (</a:t>
            </a:r>
            <a:r>
              <a:rPr lang="en-US" altLang="zh-CN" sz="2000" dirty="0" err="1">
                <a:solidFill>
                  <a:srgbClr val="0000FF"/>
                </a:solidFill>
              </a:rPr>
              <a:t>inout</a:t>
            </a:r>
            <a:r>
              <a:rPr lang="en-US" altLang="zh-CN" sz="2000" dirty="0">
                <a:solidFill>
                  <a:srgbClr val="0000FF"/>
                </a:solidFill>
              </a:rPr>
              <a:t> logic [7 : 0] t  [0 : 255];      </a:t>
            </a:r>
          </a:p>
          <a:p>
            <a:pPr>
              <a:spcBef>
                <a:spcPct val="0"/>
              </a:spcBef>
            </a:pPr>
            <a:r>
              <a:rPr lang="en-US" altLang="zh-CN" sz="2000" dirty="0">
                <a:solidFill>
                  <a:srgbClr val="0000FF"/>
                </a:solidFill>
              </a:rPr>
              <a:t>    … </a:t>
            </a:r>
            <a:r>
              <a:rPr lang="en-US" altLang="zh-CN" sz="2000" dirty="0" err="1">
                <a:solidFill>
                  <a:srgbClr val="0000FF"/>
                </a:solidFill>
              </a:rPr>
              <a:t>endtask</a:t>
            </a:r>
            <a:endParaRPr lang="en-US" altLang="zh-CN" sz="2000" dirty="0">
              <a:solidFill>
                <a:srgbClr val="0000FF"/>
              </a:solidFill>
            </a:endParaRPr>
          </a:p>
          <a:p>
            <a:pPr>
              <a:spcBef>
                <a:spcPct val="0"/>
              </a:spcBef>
            </a:pPr>
            <a:r>
              <a:rPr lang="en-US" altLang="zh-CN" sz="2000" dirty="0" err="1">
                <a:solidFill>
                  <a:srgbClr val="0000FF"/>
                </a:solidFill>
              </a:rPr>
              <a:t>endmodule</a:t>
            </a:r>
            <a:endParaRPr lang="en-US" altLang="zh-CN" sz="20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a:extLst>
              <a:ext uri="{FF2B5EF4-FFF2-40B4-BE49-F238E27FC236}">
                <a16:creationId xmlns:a16="http://schemas.microsoft.com/office/drawing/2014/main" id="{847AE5EE-F90B-4D63-91DC-7E64BAB172A8}"/>
              </a:ext>
            </a:extLst>
          </p:cNvPr>
          <p:cNvSpPr txBox="1">
            <a:spLocks noChangeArrowheads="1"/>
          </p:cNvSpPr>
          <p:nvPr/>
        </p:nvSpPr>
        <p:spPr bwMode="auto">
          <a:xfrm>
            <a:off x="360218" y="122705"/>
            <a:ext cx="9194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结构体、联合体与数组</a:t>
            </a:r>
          </a:p>
        </p:txBody>
      </p:sp>
      <p:sp>
        <p:nvSpPr>
          <p:cNvPr id="79875" name="Text Box 3">
            <a:extLst>
              <a:ext uri="{FF2B5EF4-FFF2-40B4-BE49-F238E27FC236}">
                <a16:creationId xmlns:a16="http://schemas.microsoft.com/office/drawing/2014/main" id="{1B0706DD-7964-4C95-B6ED-F7936090604A}"/>
              </a:ext>
            </a:extLst>
          </p:cNvPr>
          <p:cNvSpPr txBox="1">
            <a:spLocks noChangeArrowheads="1"/>
          </p:cNvSpPr>
          <p:nvPr/>
        </p:nvSpPr>
        <p:spPr bwMode="auto">
          <a:xfrm>
            <a:off x="292605" y="2659559"/>
            <a:ext cx="1160678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000" dirty="0">
                <a:solidFill>
                  <a:srgbClr val="0000FF"/>
                </a:solidFill>
              </a:rPr>
              <a:t>压缩与非压缩数组的元素可以是结构体或联合体，在压缩数组中，结构体或联合体也必须是压缩的；</a:t>
            </a:r>
            <a:endParaRPr lang="en-US" altLang="zh-CN" sz="2000" dirty="0">
              <a:solidFill>
                <a:srgbClr val="0000FF"/>
              </a:solidFill>
            </a:endParaRPr>
          </a:p>
          <a:p>
            <a:pPr marL="342900" indent="-342900">
              <a:spcBef>
                <a:spcPct val="0"/>
              </a:spcBef>
              <a:buFont typeface="Arial" panose="020B0604020202020204" pitchFamily="34" charset="0"/>
              <a:buChar char="•"/>
            </a:pPr>
            <a:r>
              <a:rPr lang="zh-CN" altLang="en-US" sz="2000" dirty="0">
                <a:solidFill>
                  <a:srgbClr val="0000FF"/>
                </a:solidFill>
              </a:rPr>
              <a:t>结构体或联合体中也可以包含压缩或非压缩数组，压缩的结构体或联合体也只能</a:t>
            </a:r>
            <a:r>
              <a:rPr lang="zh-CN" altLang="en-US" sz="2400" dirty="0">
                <a:solidFill>
                  <a:srgbClr val="0000FF"/>
                </a:solidFill>
              </a:rPr>
              <a:t>包含</a:t>
            </a:r>
            <a:r>
              <a:rPr lang="zh-CN" altLang="en-US" sz="2000" dirty="0">
                <a:solidFill>
                  <a:srgbClr val="0000FF"/>
                </a:solidFill>
              </a:rPr>
              <a:t>压缩数组</a:t>
            </a:r>
          </a:p>
        </p:txBody>
      </p:sp>
      <p:sp>
        <p:nvSpPr>
          <p:cNvPr id="79876" name="Text Box 4">
            <a:extLst>
              <a:ext uri="{FF2B5EF4-FFF2-40B4-BE49-F238E27FC236}">
                <a16:creationId xmlns:a16="http://schemas.microsoft.com/office/drawing/2014/main" id="{7AC4E7EF-9CBC-4E25-B0D6-8E5DFE35029C}"/>
              </a:ext>
            </a:extLst>
          </p:cNvPr>
          <p:cNvSpPr txBox="1">
            <a:spLocks noChangeArrowheads="1"/>
          </p:cNvSpPr>
          <p:nvPr/>
        </p:nvSpPr>
        <p:spPr bwMode="auto">
          <a:xfrm>
            <a:off x="603036" y="3565196"/>
            <a:ext cx="3744912" cy="3170099"/>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dirty="0">
                <a:solidFill>
                  <a:srgbClr val="0000FF"/>
                </a:solidFill>
              </a:rPr>
              <a:t>typedef struct packed {</a:t>
            </a:r>
          </a:p>
          <a:p>
            <a:r>
              <a:rPr lang="en-US" altLang="zh-CN" sz="2000" dirty="0">
                <a:solidFill>
                  <a:srgbClr val="0000FF"/>
                </a:solidFill>
              </a:rPr>
              <a:t>    logic [31 : 0] a;</a:t>
            </a:r>
          </a:p>
          <a:p>
            <a:r>
              <a:rPr lang="en-US" altLang="zh-CN" sz="2000" dirty="0">
                <a:solidFill>
                  <a:srgbClr val="0000FF"/>
                </a:solidFill>
              </a:rPr>
              <a:t>    logic [7 : 0] b;</a:t>
            </a:r>
          </a:p>
          <a:p>
            <a:r>
              <a:rPr lang="en-US" altLang="zh-CN" sz="2000" dirty="0">
                <a:solidFill>
                  <a:srgbClr val="0000FF"/>
                </a:solidFill>
              </a:rPr>
              <a:t>} </a:t>
            </a:r>
            <a:r>
              <a:rPr lang="en-US" altLang="zh-CN" sz="2000" dirty="0" err="1">
                <a:solidFill>
                  <a:srgbClr val="0000FF"/>
                </a:solidFill>
              </a:rPr>
              <a:t>packet_t</a:t>
            </a:r>
            <a:r>
              <a:rPr lang="en-US" altLang="zh-CN" sz="2000" dirty="0">
                <a:solidFill>
                  <a:srgbClr val="0000FF"/>
                </a:solidFill>
              </a:rPr>
              <a:t>;</a:t>
            </a:r>
          </a:p>
          <a:p>
            <a:r>
              <a:rPr lang="en-US" altLang="zh-CN" sz="2000" dirty="0" err="1">
                <a:solidFill>
                  <a:srgbClr val="0000FF"/>
                </a:solidFill>
              </a:rPr>
              <a:t>packet_t</a:t>
            </a:r>
            <a:r>
              <a:rPr lang="en-US" altLang="zh-CN" sz="2000" dirty="0">
                <a:solidFill>
                  <a:srgbClr val="0000FF"/>
                </a:solidFill>
              </a:rPr>
              <a:t> [23 : 0] </a:t>
            </a:r>
            <a:r>
              <a:rPr lang="en-US" altLang="zh-CN" sz="2000" dirty="0" err="1">
                <a:solidFill>
                  <a:srgbClr val="0000FF"/>
                </a:solidFill>
              </a:rPr>
              <a:t>packet_array</a:t>
            </a:r>
            <a:r>
              <a:rPr lang="en-US" altLang="zh-CN" sz="2000" dirty="0">
                <a:solidFill>
                  <a:srgbClr val="0000FF"/>
                </a:solidFill>
              </a:rPr>
              <a:t>;</a:t>
            </a:r>
          </a:p>
          <a:p>
            <a:r>
              <a:rPr lang="en-US" altLang="zh-CN" sz="2000" dirty="0">
                <a:solidFill>
                  <a:srgbClr val="0000FF"/>
                </a:solidFill>
              </a:rPr>
              <a:t>typedef struct {</a:t>
            </a:r>
          </a:p>
          <a:p>
            <a:r>
              <a:rPr lang="en-US" altLang="zh-CN" sz="2000" dirty="0">
                <a:solidFill>
                  <a:srgbClr val="0000FF"/>
                </a:solidFill>
              </a:rPr>
              <a:t>    int a;</a:t>
            </a:r>
          </a:p>
          <a:p>
            <a:r>
              <a:rPr lang="en-US" altLang="zh-CN" sz="2000" dirty="0">
                <a:solidFill>
                  <a:srgbClr val="0000FF"/>
                </a:solidFill>
              </a:rPr>
              <a:t>    real b;</a:t>
            </a:r>
          </a:p>
          <a:p>
            <a:r>
              <a:rPr lang="en-US" altLang="zh-CN" sz="2000" dirty="0">
                <a:solidFill>
                  <a:srgbClr val="0000FF"/>
                </a:solidFill>
              </a:rPr>
              <a:t>} </a:t>
            </a:r>
            <a:r>
              <a:rPr lang="en-US" altLang="zh-CN" sz="2000" dirty="0" err="1">
                <a:solidFill>
                  <a:srgbClr val="0000FF"/>
                </a:solidFill>
              </a:rPr>
              <a:t>data_t</a:t>
            </a:r>
            <a:r>
              <a:rPr lang="en-US" altLang="zh-CN" sz="2000" dirty="0">
                <a:solidFill>
                  <a:srgbClr val="0000FF"/>
                </a:solidFill>
              </a:rPr>
              <a:t>;</a:t>
            </a:r>
          </a:p>
          <a:p>
            <a:r>
              <a:rPr lang="en-US" altLang="zh-CN" sz="2000" dirty="0" err="1">
                <a:solidFill>
                  <a:srgbClr val="0000FF"/>
                </a:solidFill>
              </a:rPr>
              <a:t>data_t</a:t>
            </a:r>
            <a:r>
              <a:rPr lang="en-US" altLang="zh-CN" sz="2000" dirty="0">
                <a:solidFill>
                  <a:srgbClr val="0000FF"/>
                </a:solidFill>
              </a:rPr>
              <a:t> </a:t>
            </a:r>
            <a:r>
              <a:rPr lang="en-US" altLang="zh-CN" sz="2000" dirty="0" err="1">
                <a:solidFill>
                  <a:srgbClr val="0000FF"/>
                </a:solidFill>
              </a:rPr>
              <a:t>data_array</a:t>
            </a:r>
            <a:r>
              <a:rPr lang="en-US" altLang="zh-CN" sz="2000" dirty="0">
                <a:solidFill>
                  <a:srgbClr val="0000FF"/>
                </a:solidFill>
              </a:rPr>
              <a:t> [31 : 0];</a:t>
            </a:r>
          </a:p>
        </p:txBody>
      </p:sp>
      <p:sp>
        <p:nvSpPr>
          <p:cNvPr id="79877" name="Text Box 5">
            <a:extLst>
              <a:ext uri="{FF2B5EF4-FFF2-40B4-BE49-F238E27FC236}">
                <a16:creationId xmlns:a16="http://schemas.microsoft.com/office/drawing/2014/main" id="{A011DF47-6D24-4D9F-95E5-547020BE923A}"/>
              </a:ext>
            </a:extLst>
          </p:cNvPr>
          <p:cNvSpPr txBox="1">
            <a:spLocks noChangeArrowheads="1"/>
          </p:cNvSpPr>
          <p:nvPr/>
        </p:nvSpPr>
        <p:spPr bwMode="auto">
          <a:xfrm>
            <a:off x="7141116" y="3565195"/>
            <a:ext cx="3743325" cy="3170099"/>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000" dirty="0">
                <a:solidFill>
                  <a:srgbClr val="0000FF"/>
                </a:solidFill>
              </a:rPr>
              <a:t>struct packed {</a:t>
            </a:r>
          </a:p>
          <a:p>
            <a:r>
              <a:rPr lang="en-US" altLang="zh-CN" sz="2000" dirty="0">
                <a:solidFill>
                  <a:srgbClr val="0000FF"/>
                </a:solidFill>
              </a:rPr>
              <a:t>    logic  parity;</a:t>
            </a:r>
          </a:p>
          <a:p>
            <a:r>
              <a:rPr lang="en-US" altLang="zh-CN" sz="2000" dirty="0">
                <a:solidFill>
                  <a:srgbClr val="0000FF"/>
                </a:solidFill>
              </a:rPr>
              <a:t>    logic [3 : 0][7 : 0] data;</a:t>
            </a:r>
          </a:p>
          <a:p>
            <a:r>
              <a:rPr lang="en-US" altLang="zh-CN" sz="2000" dirty="0">
                <a:solidFill>
                  <a:srgbClr val="0000FF"/>
                </a:solidFill>
              </a:rPr>
              <a:t>} </a:t>
            </a:r>
            <a:r>
              <a:rPr lang="en-US" altLang="zh-CN" sz="2000" dirty="0" err="1">
                <a:solidFill>
                  <a:srgbClr val="0000FF"/>
                </a:solidFill>
              </a:rPr>
              <a:t>data_word</a:t>
            </a:r>
            <a:r>
              <a:rPr lang="en-US" altLang="zh-CN" sz="2000" dirty="0">
                <a:solidFill>
                  <a:srgbClr val="0000FF"/>
                </a:solidFill>
              </a:rPr>
              <a:t>;</a:t>
            </a:r>
          </a:p>
          <a:p>
            <a:endParaRPr lang="en-US" altLang="zh-CN" sz="2000" dirty="0">
              <a:solidFill>
                <a:srgbClr val="0000FF"/>
              </a:solidFill>
            </a:endParaRPr>
          </a:p>
          <a:p>
            <a:r>
              <a:rPr lang="en-US" altLang="zh-CN" sz="2000" dirty="0">
                <a:solidFill>
                  <a:srgbClr val="0000FF"/>
                </a:solidFill>
              </a:rPr>
              <a:t>struct {</a:t>
            </a:r>
          </a:p>
          <a:p>
            <a:r>
              <a:rPr lang="en-US" altLang="zh-CN" sz="2000" dirty="0">
                <a:solidFill>
                  <a:srgbClr val="0000FF"/>
                </a:solidFill>
              </a:rPr>
              <a:t>    logic </a:t>
            </a:r>
            <a:r>
              <a:rPr lang="en-US" altLang="zh-CN" sz="2000" dirty="0" err="1">
                <a:solidFill>
                  <a:srgbClr val="0000FF"/>
                </a:solidFill>
              </a:rPr>
              <a:t>data_ready</a:t>
            </a:r>
            <a:r>
              <a:rPr lang="en-US" altLang="zh-CN" sz="2000" dirty="0">
                <a:solidFill>
                  <a:srgbClr val="0000FF"/>
                </a:solidFill>
              </a:rPr>
              <a:t>;</a:t>
            </a:r>
          </a:p>
          <a:p>
            <a:r>
              <a:rPr lang="en-US" altLang="zh-CN" sz="2000" dirty="0">
                <a:solidFill>
                  <a:srgbClr val="0000FF"/>
                </a:solidFill>
              </a:rPr>
              <a:t>    logic [7 : 0] data [3 : 0];</a:t>
            </a:r>
          </a:p>
          <a:p>
            <a:r>
              <a:rPr lang="en-US" altLang="zh-CN" sz="2000" dirty="0">
                <a:solidFill>
                  <a:srgbClr val="0000FF"/>
                </a:solidFill>
              </a:rPr>
              <a:t>} packet;</a:t>
            </a:r>
          </a:p>
          <a:p>
            <a:endParaRPr lang="en-US" altLang="zh-CN" sz="2000" dirty="0">
              <a:solidFill>
                <a:srgbClr val="0000FF"/>
              </a:solidFill>
            </a:endParaRPr>
          </a:p>
        </p:txBody>
      </p:sp>
      <p:sp>
        <p:nvSpPr>
          <p:cNvPr id="2" name="矩形 1">
            <a:extLst>
              <a:ext uri="{FF2B5EF4-FFF2-40B4-BE49-F238E27FC236}">
                <a16:creationId xmlns:a16="http://schemas.microsoft.com/office/drawing/2014/main" id="{8F5AA000-525C-41D4-A8E6-74E34E1EA99D}"/>
              </a:ext>
            </a:extLst>
          </p:cNvPr>
          <p:cNvSpPr/>
          <p:nvPr/>
        </p:nvSpPr>
        <p:spPr>
          <a:xfrm>
            <a:off x="360218" y="892146"/>
            <a:ext cx="11610109" cy="1631216"/>
          </a:xfrm>
          <a:prstGeom prst="rect">
            <a:avLst/>
          </a:prstGeom>
        </p:spPr>
        <p:txBody>
          <a:bodyPr wrap="square">
            <a:spAutoFit/>
          </a:bodyPr>
          <a:lstStyle/>
          <a:p>
            <a:pPr marL="285750" indent="-285750">
              <a:spcBef>
                <a:spcPct val="0"/>
              </a:spcBef>
              <a:buFont typeface="Arial" panose="020B0604020202020204" pitchFamily="34" charset="0"/>
              <a:buChar char="•"/>
            </a:pPr>
            <a:r>
              <a:rPr lang="zh-CN" altLang="en-US" sz="2000" dirty="0">
                <a:solidFill>
                  <a:srgbClr val="FF0000"/>
                </a:solidFill>
              </a:rPr>
              <a:t>结构体</a:t>
            </a:r>
            <a:r>
              <a:rPr lang="zh-CN" altLang="en-US" sz="2000" dirty="0">
                <a:solidFill>
                  <a:srgbClr val="0000FF"/>
                </a:solidFill>
              </a:rPr>
              <a:t>：将多个变量封装在一个对象中，结构体可以整体引用，也可通过成员名称引用其成员，结构体可以是压缩的，从而可以将结构体作为向量使用。</a:t>
            </a:r>
          </a:p>
          <a:p>
            <a:pPr marL="285750" indent="-285750">
              <a:spcBef>
                <a:spcPct val="0"/>
              </a:spcBef>
              <a:buFont typeface="Arial" panose="020B0604020202020204" pitchFamily="34" charset="0"/>
              <a:buChar char="•"/>
            </a:pPr>
            <a:r>
              <a:rPr lang="zh-CN" altLang="en-US" sz="2000" dirty="0">
                <a:solidFill>
                  <a:srgbClr val="FF0000"/>
                </a:solidFill>
              </a:rPr>
              <a:t>联合体</a:t>
            </a:r>
            <a:r>
              <a:rPr lang="zh-CN" altLang="en-US" sz="2000" dirty="0">
                <a:solidFill>
                  <a:srgbClr val="0000FF"/>
                </a:solidFill>
              </a:rPr>
              <a:t>：提供了一种在同一块存储空间表示不同变量数据类型的抽象方法。</a:t>
            </a:r>
          </a:p>
          <a:p>
            <a:pPr marL="285750" indent="-285750">
              <a:spcBef>
                <a:spcPct val="0"/>
              </a:spcBef>
              <a:buFont typeface="Arial" panose="020B0604020202020204" pitchFamily="34" charset="0"/>
              <a:buChar char="•"/>
            </a:pPr>
            <a:r>
              <a:rPr lang="zh-CN" altLang="en-US" sz="2000" dirty="0">
                <a:solidFill>
                  <a:srgbClr val="FF0000"/>
                </a:solidFill>
              </a:rPr>
              <a:t>数组</a:t>
            </a:r>
            <a:r>
              <a:rPr lang="zh-CN" altLang="en-US" sz="2000" dirty="0">
                <a:solidFill>
                  <a:srgbClr val="0000FF"/>
                </a:solidFill>
              </a:rPr>
              <a:t>：扩充了多维数组及其操作，数组可以整个赋值，也可以一个元素或一段数组元素赋值，有新的数组查询系统函数，快速确定数组的特性。</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a:extLst>
              <a:ext uri="{FF2B5EF4-FFF2-40B4-BE49-F238E27FC236}">
                <a16:creationId xmlns:a16="http://schemas.microsoft.com/office/drawing/2014/main" id="{2B36F91A-202A-4859-9236-CC14C36392EF}"/>
              </a:ext>
            </a:extLst>
          </p:cNvPr>
          <p:cNvSpPr txBox="1">
            <a:spLocks noChangeArrowheads="1"/>
          </p:cNvSpPr>
          <p:nvPr/>
        </p:nvSpPr>
        <p:spPr bwMode="auto">
          <a:xfrm>
            <a:off x="646545" y="476251"/>
            <a:ext cx="925945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用于数组查询的系统函数</a:t>
            </a:r>
          </a:p>
        </p:txBody>
      </p:sp>
      <p:sp>
        <p:nvSpPr>
          <p:cNvPr id="90115" name="Text Box 3">
            <a:extLst>
              <a:ext uri="{FF2B5EF4-FFF2-40B4-BE49-F238E27FC236}">
                <a16:creationId xmlns:a16="http://schemas.microsoft.com/office/drawing/2014/main" id="{E390C311-A7FF-4F70-8174-7EB79788E095}"/>
              </a:ext>
            </a:extLst>
          </p:cNvPr>
          <p:cNvSpPr txBox="1">
            <a:spLocks noChangeArrowheads="1"/>
          </p:cNvSpPr>
          <p:nvPr/>
        </p:nvSpPr>
        <p:spPr bwMode="auto">
          <a:xfrm>
            <a:off x="544945" y="1196976"/>
            <a:ext cx="11000510" cy="552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400" dirty="0" err="1">
                <a:solidFill>
                  <a:srgbClr val="0000FF"/>
                </a:solidFill>
              </a:rPr>
              <a:t>SystemVerilog</a:t>
            </a:r>
            <a:r>
              <a:rPr lang="zh-CN" altLang="en-US" sz="2400" dirty="0">
                <a:solidFill>
                  <a:srgbClr val="0000FF"/>
                </a:solidFill>
              </a:rPr>
              <a:t>增加了一些用于数组的特殊系统函数，这些函数可以用来编写测试程序，也可以用于抽象建模。</a:t>
            </a:r>
          </a:p>
          <a:p>
            <a:pPr>
              <a:spcBef>
                <a:spcPct val="30000"/>
              </a:spcBef>
            </a:pPr>
            <a:r>
              <a:rPr lang="en-US" altLang="zh-CN" sz="2400" dirty="0">
                <a:solidFill>
                  <a:srgbClr val="0000FF"/>
                </a:solidFill>
              </a:rPr>
              <a:t>$dimensions(</a:t>
            </a:r>
            <a:r>
              <a:rPr lang="en-US" altLang="zh-CN" sz="2400" dirty="0" err="1">
                <a:solidFill>
                  <a:srgbClr val="0000FF"/>
                </a:solidFill>
              </a:rPr>
              <a:t>array_name</a:t>
            </a:r>
            <a:r>
              <a:rPr lang="en-US" altLang="zh-CN" sz="2400" dirty="0">
                <a:solidFill>
                  <a:srgbClr val="0000FF"/>
                </a:solidFill>
              </a:rPr>
              <a:t>); //</a:t>
            </a:r>
            <a:r>
              <a:rPr lang="zh-CN" altLang="en-US" sz="2400" dirty="0">
                <a:solidFill>
                  <a:srgbClr val="0000FF"/>
                </a:solidFill>
              </a:rPr>
              <a:t>返回数组维数，如果对象非数组，返回</a:t>
            </a:r>
            <a:r>
              <a:rPr lang="en-US" altLang="zh-CN" sz="2400" dirty="0">
                <a:solidFill>
                  <a:srgbClr val="0000FF"/>
                </a:solidFill>
              </a:rPr>
              <a:t>0</a:t>
            </a:r>
          </a:p>
          <a:p>
            <a:pPr>
              <a:spcBef>
                <a:spcPct val="30000"/>
              </a:spcBef>
            </a:pPr>
            <a:r>
              <a:rPr lang="en-US" altLang="zh-CN" sz="2400" dirty="0">
                <a:solidFill>
                  <a:srgbClr val="0000FF"/>
                </a:solidFill>
              </a:rPr>
              <a:t>$left(</a:t>
            </a:r>
            <a:r>
              <a:rPr lang="en-US" altLang="zh-CN" sz="2400" dirty="0" err="1">
                <a:solidFill>
                  <a:srgbClr val="0000FF"/>
                </a:solidFill>
              </a:rPr>
              <a:t>array_name</a:t>
            </a:r>
            <a:r>
              <a:rPr lang="en-US" altLang="zh-CN" sz="2400" dirty="0">
                <a:solidFill>
                  <a:srgbClr val="0000FF"/>
                </a:solidFill>
              </a:rPr>
              <a:t>, dimension); //</a:t>
            </a:r>
            <a:r>
              <a:rPr lang="zh-CN" altLang="en-US" sz="2400" dirty="0">
                <a:solidFill>
                  <a:srgbClr val="0000FF"/>
                </a:solidFill>
              </a:rPr>
              <a:t>返回指定维度的最高有效位</a:t>
            </a:r>
            <a:r>
              <a:rPr lang="en-US" altLang="zh-CN" sz="2400" dirty="0">
                <a:solidFill>
                  <a:srgbClr val="0000FF"/>
                </a:solidFill>
              </a:rPr>
              <a:t>(</a:t>
            </a:r>
            <a:r>
              <a:rPr lang="en-US" altLang="zh-CN" sz="2400" dirty="0" err="1">
                <a:solidFill>
                  <a:srgbClr val="0000FF"/>
                </a:solidFill>
              </a:rPr>
              <a:t>msb</a:t>
            </a:r>
            <a:r>
              <a:rPr lang="en-US" altLang="zh-CN" sz="2400" dirty="0">
                <a:solidFill>
                  <a:srgbClr val="0000FF"/>
                </a:solidFill>
              </a:rPr>
              <a:t>)</a:t>
            </a:r>
          </a:p>
          <a:p>
            <a:pPr>
              <a:spcBef>
                <a:spcPct val="30000"/>
              </a:spcBef>
            </a:pPr>
            <a:r>
              <a:rPr lang="en-US" altLang="zh-CN" sz="2400" dirty="0">
                <a:solidFill>
                  <a:srgbClr val="0000FF"/>
                </a:solidFill>
              </a:rPr>
              <a:t>$right(</a:t>
            </a:r>
            <a:r>
              <a:rPr lang="en-US" altLang="zh-CN" sz="2400" dirty="0" err="1">
                <a:solidFill>
                  <a:srgbClr val="0000FF"/>
                </a:solidFill>
              </a:rPr>
              <a:t>array_name</a:t>
            </a:r>
            <a:r>
              <a:rPr lang="en-US" altLang="zh-CN" sz="2400" dirty="0">
                <a:solidFill>
                  <a:srgbClr val="0000FF"/>
                </a:solidFill>
              </a:rPr>
              <a:t>, dimension); //</a:t>
            </a:r>
            <a:r>
              <a:rPr lang="zh-CN" altLang="en-US" sz="2400" dirty="0">
                <a:solidFill>
                  <a:srgbClr val="0000FF"/>
                </a:solidFill>
              </a:rPr>
              <a:t>返回指定维度的最低有效位</a:t>
            </a:r>
            <a:r>
              <a:rPr lang="en-US" altLang="zh-CN" sz="2400" dirty="0">
                <a:solidFill>
                  <a:srgbClr val="0000FF"/>
                </a:solidFill>
              </a:rPr>
              <a:t>(</a:t>
            </a:r>
            <a:r>
              <a:rPr lang="en-US" altLang="zh-CN" sz="2400" dirty="0" err="1">
                <a:solidFill>
                  <a:srgbClr val="0000FF"/>
                </a:solidFill>
              </a:rPr>
              <a:t>lsb</a:t>
            </a:r>
            <a:r>
              <a:rPr lang="en-US" altLang="zh-CN" sz="2400" dirty="0">
                <a:solidFill>
                  <a:srgbClr val="0000FF"/>
                </a:solidFill>
              </a:rPr>
              <a:t>)</a:t>
            </a:r>
          </a:p>
          <a:p>
            <a:pPr>
              <a:spcBef>
                <a:spcPct val="30000"/>
              </a:spcBef>
            </a:pPr>
            <a:r>
              <a:rPr lang="en-US" altLang="zh-CN" sz="2400" dirty="0">
                <a:solidFill>
                  <a:srgbClr val="0000FF"/>
                </a:solidFill>
              </a:rPr>
              <a:t>$low(</a:t>
            </a:r>
            <a:r>
              <a:rPr lang="en-US" altLang="zh-CN" sz="2400" dirty="0" err="1">
                <a:solidFill>
                  <a:srgbClr val="0000FF"/>
                </a:solidFill>
              </a:rPr>
              <a:t>array_name</a:t>
            </a:r>
            <a:r>
              <a:rPr lang="en-US" altLang="zh-CN" sz="2400" dirty="0">
                <a:solidFill>
                  <a:srgbClr val="0000FF"/>
                </a:solidFill>
              </a:rPr>
              <a:t>, dimension);  //</a:t>
            </a:r>
            <a:r>
              <a:rPr lang="zh-CN" altLang="en-US" sz="2400" dirty="0">
                <a:solidFill>
                  <a:srgbClr val="0000FF"/>
                </a:solidFill>
              </a:rPr>
              <a:t>返回指定维度的最低位</a:t>
            </a:r>
            <a:r>
              <a:rPr lang="en-US" altLang="zh-CN" sz="2400" dirty="0">
                <a:solidFill>
                  <a:srgbClr val="0000FF"/>
                </a:solidFill>
              </a:rPr>
              <a:t>,</a:t>
            </a:r>
            <a:r>
              <a:rPr lang="zh-CN" altLang="en-US" sz="2400" dirty="0">
                <a:solidFill>
                  <a:srgbClr val="0000FF"/>
                </a:solidFill>
              </a:rPr>
              <a:t>可能是</a:t>
            </a:r>
            <a:r>
              <a:rPr lang="en-US" altLang="zh-CN" sz="2400" dirty="0" err="1">
                <a:solidFill>
                  <a:srgbClr val="0000FF"/>
                </a:solidFill>
              </a:rPr>
              <a:t>msb</a:t>
            </a:r>
            <a:r>
              <a:rPr lang="en-US" altLang="zh-CN" sz="2400" dirty="0">
                <a:solidFill>
                  <a:srgbClr val="0000FF"/>
                </a:solidFill>
              </a:rPr>
              <a:t>,</a:t>
            </a:r>
            <a:r>
              <a:rPr lang="zh-CN" altLang="en-US" sz="2400" dirty="0">
                <a:solidFill>
                  <a:srgbClr val="0000FF"/>
                </a:solidFill>
              </a:rPr>
              <a:t>也可能是</a:t>
            </a:r>
            <a:r>
              <a:rPr lang="en-US" altLang="zh-CN" sz="2400" dirty="0" err="1">
                <a:solidFill>
                  <a:srgbClr val="0000FF"/>
                </a:solidFill>
              </a:rPr>
              <a:t>lsb</a:t>
            </a:r>
            <a:endParaRPr lang="en-US" altLang="zh-CN" sz="2400" dirty="0">
              <a:solidFill>
                <a:srgbClr val="0000FF"/>
              </a:solidFill>
            </a:endParaRPr>
          </a:p>
          <a:p>
            <a:pPr>
              <a:spcBef>
                <a:spcPct val="30000"/>
              </a:spcBef>
            </a:pPr>
            <a:r>
              <a:rPr lang="en-US" altLang="zh-CN" sz="2400" dirty="0">
                <a:solidFill>
                  <a:srgbClr val="0000FF"/>
                </a:solidFill>
              </a:rPr>
              <a:t>$high(</a:t>
            </a:r>
            <a:r>
              <a:rPr lang="en-US" altLang="zh-CN" sz="2400" dirty="0" err="1">
                <a:solidFill>
                  <a:srgbClr val="0000FF"/>
                </a:solidFill>
              </a:rPr>
              <a:t>array_name</a:t>
            </a:r>
            <a:r>
              <a:rPr lang="en-US" altLang="zh-CN" sz="2400" dirty="0">
                <a:solidFill>
                  <a:srgbClr val="0000FF"/>
                </a:solidFill>
              </a:rPr>
              <a:t>, dimension);</a:t>
            </a:r>
          </a:p>
          <a:p>
            <a:pPr>
              <a:spcBef>
                <a:spcPct val="30000"/>
              </a:spcBef>
            </a:pPr>
            <a:r>
              <a:rPr lang="en-US" altLang="zh-CN" sz="2400" dirty="0">
                <a:solidFill>
                  <a:srgbClr val="0000FF"/>
                </a:solidFill>
              </a:rPr>
              <a:t>$size(</a:t>
            </a:r>
            <a:r>
              <a:rPr lang="en-US" altLang="zh-CN" sz="2400" dirty="0" err="1">
                <a:solidFill>
                  <a:srgbClr val="0000FF"/>
                </a:solidFill>
              </a:rPr>
              <a:t>array_name</a:t>
            </a:r>
            <a:r>
              <a:rPr lang="en-US" altLang="zh-CN" sz="2400" dirty="0">
                <a:solidFill>
                  <a:srgbClr val="0000FF"/>
                </a:solidFill>
              </a:rPr>
              <a:t>, dimension); //</a:t>
            </a:r>
            <a:r>
              <a:rPr lang="zh-CN" altLang="en-US" sz="2400" dirty="0">
                <a:solidFill>
                  <a:srgbClr val="0000FF"/>
                </a:solidFill>
              </a:rPr>
              <a:t>返回指定维度元素的个数</a:t>
            </a:r>
          </a:p>
          <a:p>
            <a:pPr>
              <a:spcBef>
                <a:spcPct val="30000"/>
              </a:spcBef>
            </a:pPr>
            <a:r>
              <a:rPr lang="en-US" altLang="zh-CN" sz="2400" dirty="0">
                <a:solidFill>
                  <a:srgbClr val="0000FF"/>
                </a:solidFill>
              </a:rPr>
              <a:t>$increment(</a:t>
            </a:r>
            <a:r>
              <a:rPr lang="en-US" altLang="zh-CN" sz="2400" dirty="0" err="1">
                <a:solidFill>
                  <a:srgbClr val="0000FF"/>
                </a:solidFill>
              </a:rPr>
              <a:t>array_name</a:t>
            </a:r>
            <a:r>
              <a:rPr lang="en-US" altLang="zh-CN" sz="2400" dirty="0">
                <a:solidFill>
                  <a:srgbClr val="0000FF"/>
                </a:solidFill>
              </a:rPr>
              <a:t>, dimension); //</a:t>
            </a:r>
            <a:r>
              <a:rPr lang="zh-CN" altLang="en-US" sz="2400" dirty="0">
                <a:solidFill>
                  <a:srgbClr val="0000FF"/>
                </a:solidFill>
              </a:rPr>
              <a:t>对指定的维度，</a:t>
            </a:r>
            <a:r>
              <a:rPr lang="zh-CN" altLang="en-US" sz="2400" dirty="0">
                <a:solidFill>
                  <a:srgbClr val="FF0000"/>
                </a:solidFill>
              </a:rPr>
              <a:t>如果</a:t>
            </a:r>
            <a:r>
              <a:rPr lang="en-US" altLang="zh-CN" sz="2400" dirty="0">
                <a:solidFill>
                  <a:srgbClr val="FF0000"/>
                </a:solidFill>
              </a:rPr>
              <a:t>$left </a:t>
            </a:r>
            <a:r>
              <a:rPr lang="zh-CN" altLang="en-US" sz="2400" dirty="0">
                <a:solidFill>
                  <a:srgbClr val="FF0000"/>
                </a:solidFill>
              </a:rPr>
              <a:t>大于</a:t>
            </a:r>
          </a:p>
          <a:p>
            <a:pPr>
              <a:spcBef>
                <a:spcPct val="30000"/>
              </a:spcBef>
            </a:pPr>
            <a:r>
              <a:rPr lang="zh-CN" altLang="en-US" sz="2400" dirty="0">
                <a:solidFill>
                  <a:srgbClr val="0000FF"/>
                </a:solidFill>
              </a:rPr>
              <a:t>                                       </a:t>
            </a:r>
            <a:r>
              <a:rPr lang="en-US" altLang="zh-CN" sz="2400" dirty="0">
                <a:solidFill>
                  <a:srgbClr val="0000FF"/>
                </a:solidFill>
              </a:rPr>
              <a:t>// </a:t>
            </a:r>
            <a:r>
              <a:rPr lang="en-US" altLang="zh-CN" sz="2400" dirty="0">
                <a:solidFill>
                  <a:srgbClr val="FF0000"/>
                </a:solidFill>
              </a:rPr>
              <a:t>$right</a:t>
            </a:r>
            <a:r>
              <a:rPr lang="zh-CN" altLang="en-US" sz="2400" dirty="0">
                <a:solidFill>
                  <a:srgbClr val="FF0000"/>
                </a:solidFill>
              </a:rPr>
              <a:t>，则返回</a:t>
            </a:r>
            <a:r>
              <a:rPr lang="en-US" altLang="zh-CN" sz="2400" dirty="0">
                <a:solidFill>
                  <a:srgbClr val="FF0000"/>
                </a:solidFill>
              </a:rPr>
              <a:t>1</a:t>
            </a:r>
            <a:r>
              <a:rPr lang="zh-CN" altLang="en-US" sz="2400" dirty="0">
                <a:solidFill>
                  <a:srgbClr val="0000FF"/>
                </a:solidFill>
              </a:rPr>
              <a:t>，否则返回</a:t>
            </a:r>
            <a:r>
              <a:rPr lang="en-US" altLang="zh-CN" sz="2400" dirty="0">
                <a:solidFill>
                  <a:srgbClr val="0000FF"/>
                </a:solidFill>
              </a:rPr>
              <a:t>-1</a:t>
            </a:r>
          </a:p>
          <a:p>
            <a:pPr>
              <a:spcBef>
                <a:spcPct val="30000"/>
              </a:spcBef>
            </a:pPr>
            <a:r>
              <a:rPr lang="en-US" altLang="zh-CN" sz="2400" b="1" dirty="0">
                <a:solidFill>
                  <a:srgbClr val="FF0000"/>
                </a:solidFill>
              </a:rPr>
              <a:t>$bits</a:t>
            </a:r>
            <a:r>
              <a:rPr lang="zh-CN" altLang="en-US" sz="2400" dirty="0">
                <a:solidFill>
                  <a:srgbClr val="0000FF"/>
                </a:solidFill>
              </a:rPr>
              <a:t>系统函数可以返回任意表达式的位数，表达式可以包含任意类型的值，包括压缩或非压缩数组、结构体、联合体和文本值。</a:t>
            </a:r>
            <a:endParaRPr lang="en-US" altLang="zh-CN" sz="24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F2582B93-03ED-418C-8D5B-3B9BC9F3565D}"/>
              </a:ext>
            </a:extLst>
          </p:cNvPr>
          <p:cNvSpPr txBox="1">
            <a:spLocks noChangeArrowheads="1"/>
          </p:cNvSpPr>
          <p:nvPr/>
        </p:nvSpPr>
        <p:spPr bwMode="auto">
          <a:xfrm>
            <a:off x="387927" y="1516063"/>
            <a:ext cx="10058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solidFill>
                  <a:schemeClr val="accent2"/>
                </a:solidFill>
              </a:rPr>
              <a:t> </a:t>
            </a:r>
            <a:r>
              <a:rPr lang="en-US" altLang="zh-CN" sz="2400" dirty="0">
                <a:solidFill>
                  <a:srgbClr val="0000FF"/>
                </a:solidFill>
              </a:rPr>
              <a:t>Verilog</a:t>
            </a:r>
            <a:r>
              <a:rPr lang="zh-CN" altLang="en-US" sz="2400" dirty="0">
                <a:solidFill>
                  <a:srgbClr val="0000FF"/>
                </a:solidFill>
              </a:rPr>
              <a:t>中的</a:t>
            </a:r>
            <a:r>
              <a:rPr lang="en-US" altLang="zh-CN" sz="2400" dirty="0">
                <a:solidFill>
                  <a:srgbClr val="0000FF"/>
                </a:solidFill>
              </a:rPr>
              <a:t>always</a:t>
            </a:r>
            <a:r>
              <a:rPr lang="zh-CN" altLang="en-US" sz="2400" dirty="0">
                <a:solidFill>
                  <a:srgbClr val="0000FF"/>
                </a:solidFill>
              </a:rPr>
              <a:t>过程块是通用的，不能反映准确的设计意图</a:t>
            </a:r>
            <a:r>
              <a:rPr lang="en-US" altLang="zh-CN" sz="2400" dirty="0">
                <a:solidFill>
                  <a:srgbClr val="0000FF"/>
                </a:solidFill>
              </a:rPr>
              <a:t>;</a:t>
            </a:r>
          </a:p>
          <a:p>
            <a:pPr>
              <a:spcBef>
                <a:spcPct val="50000"/>
              </a:spcBef>
            </a:pPr>
            <a:r>
              <a:rPr lang="en-US" altLang="zh-CN" sz="2400" dirty="0" err="1">
                <a:solidFill>
                  <a:srgbClr val="0000FF"/>
                </a:solidFill>
              </a:rPr>
              <a:t>SystemVerilog</a:t>
            </a:r>
            <a:r>
              <a:rPr lang="zh-CN" altLang="en-US" sz="2400" dirty="0">
                <a:solidFill>
                  <a:srgbClr val="0000FF"/>
                </a:solidFill>
              </a:rPr>
              <a:t>增加了硬件专用类型的过程块，能够准确反映设计意图，使模拟、综合、形式检查、</a:t>
            </a:r>
            <a:r>
              <a:rPr lang="en-US" altLang="zh-CN" sz="2400" dirty="0">
                <a:solidFill>
                  <a:srgbClr val="0000FF"/>
                </a:solidFill>
              </a:rPr>
              <a:t>lint</a:t>
            </a:r>
            <a:r>
              <a:rPr lang="zh-CN" altLang="en-US" sz="2400" dirty="0">
                <a:solidFill>
                  <a:srgbClr val="0000FF"/>
                </a:solidFill>
              </a:rPr>
              <a:t>检查等</a:t>
            </a:r>
            <a:r>
              <a:rPr lang="en-US" altLang="zh-CN" sz="2400" dirty="0">
                <a:solidFill>
                  <a:srgbClr val="0000FF"/>
                </a:solidFill>
              </a:rPr>
              <a:t>EDA</a:t>
            </a:r>
            <a:r>
              <a:rPr lang="zh-CN" altLang="en-US" sz="2400" dirty="0">
                <a:solidFill>
                  <a:srgbClr val="0000FF"/>
                </a:solidFill>
              </a:rPr>
              <a:t>工具精确地完成任务，并使不同的</a:t>
            </a:r>
            <a:r>
              <a:rPr lang="en-US" altLang="zh-CN" sz="2400" dirty="0">
                <a:solidFill>
                  <a:srgbClr val="0000FF"/>
                </a:solidFill>
              </a:rPr>
              <a:t>EDA</a:t>
            </a:r>
            <a:r>
              <a:rPr lang="zh-CN" altLang="en-US" sz="2400" dirty="0">
                <a:solidFill>
                  <a:srgbClr val="0000FF"/>
                </a:solidFill>
              </a:rPr>
              <a:t>工具保持一致性；</a:t>
            </a:r>
            <a:endParaRPr lang="en-US" altLang="zh-CN" sz="2400" dirty="0">
              <a:solidFill>
                <a:srgbClr val="0000FF"/>
              </a:solidFill>
            </a:endParaRPr>
          </a:p>
          <a:p>
            <a:pPr>
              <a:spcBef>
                <a:spcPct val="50000"/>
              </a:spcBef>
            </a:pPr>
            <a:r>
              <a:rPr lang="en-US" altLang="zh-CN" sz="2400" dirty="0" err="1">
                <a:solidFill>
                  <a:srgbClr val="0000FF"/>
                </a:solidFill>
              </a:rPr>
              <a:t>SystemVerilog</a:t>
            </a:r>
            <a:r>
              <a:rPr lang="zh-CN" altLang="en-US" sz="2400" dirty="0">
                <a:solidFill>
                  <a:srgbClr val="0000FF"/>
                </a:solidFill>
              </a:rPr>
              <a:t>对任务和函数进行了许多改进，增强了任务和函数对大规模、复杂设计建模能力。</a:t>
            </a:r>
          </a:p>
        </p:txBody>
      </p:sp>
      <p:sp>
        <p:nvSpPr>
          <p:cNvPr id="3075" name="Text Box 3">
            <a:extLst>
              <a:ext uri="{FF2B5EF4-FFF2-40B4-BE49-F238E27FC236}">
                <a16:creationId xmlns:a16="http://schemas.microsoft.com/office/drawing/2014/main" id="{DAF2E65A-5A45-47C5-ADE5-B2F0DA82E297}"/>
              </a:ext>
            </a:extLst>
          </p:cNvPr>
          <p:cNvSpPr txBox="1">
            <a:spLocks noChangeArrowheads="1"/>
          </p:cNvSpPr>
          <p:nvPr/>
        </p:nvSpPr>
        <p:spPr bwMode="auto">
          <a:xfrm>
            <a:off x="611189" y="4324766"/>
            <a:ext cx="7705725"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Blip>
                <a:blip r:embed="rId3"/>
              </a:buBlip>
            </a:pPr>
            <a:r>
              <a:rPr lang="en-US" altLang="zh-CN" sz="2400" dirty="0">
                <a:solidFill>
                  <a:schemeClr val="accent2"/>
                </a:solidFill>
              </a:rPr>
              <a:t> </a:t>
            </a:r>
            <a:r>
              <a:rPr lang="zh-CN" altLang="en-US" sz="2400" dirty="0">
                <a:solidFill>
                  <a:schemeClr val="accent2"/>
                </a:solidFill>
              </a:rPr>
              <a:t>组合逻辑过程块：</a:t>
            </a:r>
            <a:r>
              <a:rPr lang="en-US" altLang="zh-CN" sz="2400" dirty="0">
                <a:solidFill>
                  <a:srgbClr val="FF0000"/>
                </a:solidFill>
              </a:rPr>
              <a:t> </a:t>
            </a:r>
            <a:r>
              <a:rPr lang="en-US" altLang="zh-CN" sz="2400" dirty="0" err="1">
                <a:solidFill>
                  <a:srgbClr val="FF0000"/>
                </a:solidFill>
              </a:rPr>
              <a:t>always_comb</a:t>
            </a:r>
            <a:endParaRPr lang="zh-CN" altLang="en-US" sz="2400" dirty="0">
              <a:solidFill>
                <a:schemeClr val="accent2"/>
              </a:solidFill>
            </a:endParaRPr>
          </a:p>
          <a:p>
            <a:pPr>
              <a:spcBef>
                <a:spcPct val="50000"/>
              </a:spcBef>
              <a:buFontTx/>
              <a:buBlip>
                <a:blip r:embed="rId3"/>
              </a:buBlip>
            </a:pPr>
            <a:r>
              <a:rPr lang="zh-CN" altLang="en-US" sz="2400" dirty="0">
                <a:solidFill>
                  <a:schemeClr val="accent2"/>
                </a:solidFill>
              </a:rPr>
              <a:t> 锁存逻辑过程块：</a:t>
            </a:r>
            <a:r>
              <a:rPr lang="en-US" altLang="zh-CN" sz="2400" dirty="0">
                <a:solidFill>
                  <a:srgbClr val="FF0000"/>
                </a:solidFill>
              </a:rPr>
              <a:t> </a:t>
            </a:r>
            <a:r>
              <a:rPr lang="en-US" altLang="zh-CN" sz="2400" dirty="0" err="1">
                <a:solidFill>
                  <a:srgbClr val="FF0000"/>
                </a:solidFill>
              </a:rPr>
              <a:t>always_latch</a:t>
            </a:r>
            <a:endParaRPr lang="zh-CN" altLang="en-US" sz="2400" dirty="0">
              <a:solidFill>
                <a:schemeClr val="accent2"/>
              </a:solidFill>
            </a:endParaRPr>
          </a:p>
          <a:p>
            <a:pPr>
              <a:spcBef>
                <a:spcPct val="50000"/>
              </a:spcBef>
              <a:buFontTx/>
              <a:buBlip>
                <a:blip r:embed="rId3"/>
              </a:buBlip>
            </a:pPr>
            <a:r>
              <a:rPr lang="zh-CN" altLang="en-US" sz="2400" dirty="0">
                <a:solidFill>
                  <a:schemeClr val="accent2"/>
                </a:solidFill>
              </a:rPr>
              <a:t> 时序逻辑过程块：</a:t>
            </a:r>
            <a:r>
              <a:rPr lang="en-US" altLang="zh-CN" sz="2400" dirty="0">
                <a:solidFill>
                  <a:srgbClr val="FF0000"/>
                </a:solidFill>
              </a:rPr>
              <a:t> </a:t>
            </a:r>
            <a:r>
              <a:rPr lang="en-US" altLang="zh-CN" sz="2400" dirty="0" err="1">
                <a:solidFill>
                  <a:srgbClr val="FF0000"/>
                </a:solidFill>
              </a:rPr>
              <a:t>always_ff</a:t>
            </a:r>
            <a:endParaRPr lang="zh-CN" altLang="en-US" sz="2400" dirty="0">
              <a:solidFill>
                <a:schemeClr val="accent2"/>
              </a:solidFill>
            </a:endParaRPr>
          </a:p>
          <a:p>
            <a:pPr>
              <a:spcBef>
                <a:spcPct val="50000"/>
              </a:spcBef>
              <a:buFontTx/>
              <a:buBlip>
                <a:blip r:embed="rId3"/>
              </a:buBlip>
            </a:pPr>
            <a:r>
              <a:rPr lang="zh-CN" altLang="en-US" sz="2400" dirty="0">
                <a:solidFill>
                  <a:schemeClr val="accent2"/>
                </a:solidFill>
              </a:rPr>
              <a:t> 任务与函数的改进</a:t>
            </a:r>
            <a:endParaRPr lang="zh-CN" altLang="en-US" dirty="0"/>
          </a:p>
        </p:txBody>
      </p:sp>
      <p:sp>
        <p:nvSpPr>
          <p:cNvPr id="3076" name="Text Box 4">
            <a:extLst>
              <a:ext uri="{FF2B5EF4-FFF2-40B4-BE49-F238E27FC236}">
                <a16:creationId xmlns:a16="http://schemas.microsoft.com/office/drawing/2014/main" id="{124011C9-0DEC-4628-8B1C-74E874536BEC}"/>
              </a:ext>
            </a:extLst>
          </p:cNvPr>
          <p:cNvSpPr txBox="1">
            <a:spLocks noChangeArrowheads="1"/>
          </p:cNvSpPr>
          <p:nvPr/>
        </p:nvSpPr>
        <p:spPr bwMode="auto">
          <a:xfrm>
            <a:off x="387927" y="409576"/>
            <a:ext cx="9938328" cy="999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1200"/>
              </a:spcBef>
            </a:pPr>
            <a:r>
              <a:rPr lang="en-US" altLang="zh-CN" sz="4400" dirty="0" err="1">
                <a:solidFill>
                  <a:srgbClr val="000066"/>
                </a:solidFill>
                <a:latin typeface="Arial" panose="020B0604020202020204" pitchFamily="34" charset="0"/>
              </a:rPr>
              <a:t>SystemVerilog</a:t>
            </a:r>
            <a:r>
              <a:rPr lang="zh-CN" altLang="en-US" sz="4400" dirty="0">
                <a:solidFill>
                  <a:srgbClr val="000066"/>
                </a:solidFill>
                <a:latin typeface="Arial" panose="020B0604020202020204" pitchFamily="34" charset="0"/>
              </a:rPr>
              <a:t>过程块、任务和函数</a:t>
            </a:r>
            <a:endParaRPr lang="zh-TW" altLang="en-US" sz="4400" dirty="0">
              <a:solidFill>
                <a:srgbClr val="000066"/>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3A85EB2D-A412-4FF0-9BC0-E970FBB251A1}"/>
              </a:ext>
            </a:extLst>
          </p:cNvPr>
          <p:cNvSpPr txBox="1">
            <a:spLocks noChangeArrowheads="1"/>
          </p:cNvSpPr>
          <p:nvPr/>
        </p:nvSpPr>
        <p:spPr bwMode="auto">
          <a:xfrm>
            <a:off x="415636" y="227220"/>
            <a:ext cx="94996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组合逻辑过程块</a:t>
            </a:r>
          </a:p>
        </p:txBody>
      </p:sp>
      <p:sp>
        <p:nvSpPr>
          <p:cNvPr id="10243" name="Text Box 3">
            <a:extLst>
              <a:ext uri="{FF2B5EF4-FFF2-40B4-BE49-F238E27FC236}">
                <a16:creationId xmlns:a16="http://schemas.microsoft.com/office/drawing/2014/main" id="{C85DA07A-8556-4414-8356-84CD03DC7802}"/>
              </a:ext>
            </a:extLst>
          </p:cNvPr>
          <p:cNvSpPr txBox="1">
            <a:spLocks noChangeArrowheads="1"/>
          </p:cNvSpPr>
          <p:nvPr/>
        </p:nvSpPr>
        <p:spPr bwMode="auto">
          <a:xfrm>
            <a:off x="411018" y="1111682"/>
            <a:ext cx="113699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400" dirty="0" err="1">
                <a:solidFill>
                  <a:srgbClr val="FF0000"/>
                </a:solidFill>
              </a:rPr>
              <a:t>always_comb</a:t>
            </a:r>
            <a:r>
              <a:rPr lang="zh-CN" altLang="en-US" sz="2400" dirty="0">
                <a:solidFill>
                  <a:srgbClr val="0000FF"/>
                </a:solidFill>
              </a:rPr>
              <a:t>过程块表示建立组合逻辑模型，</a:t>
            </a:r>
            <a:r>
              <a:rPr lang="en-US" altLang="zh-CN" sz="2400" dirty="0" err="1">
                <a:solidFill>
                  <a:srgbClr val="0000FF"/>
                </a:solidFill>
              </a:rPr>
              <a:t>always_comb</a:t>
            </a:r>
            <a:r>
              <a:rPr lang="zh-CN" altLang="en-US" sz="2400" dirty="0">
                <a:solidFill>
                  <a:srgbClr val="0000FF"/>
                </a:solidFill>
              </a:rPr>
              <a:t>能推断出其敏感表，推断的敏感表包括所有被过程块读取并在块外赋值的信号及过程块中调用函数的有所信号（但局部的临时变量除外）。</a:t>
            </a:r>
          </a:p>
          <a:p>
            <a:pPr marL="342900" indent="-342900">
              <a:spcBef>
                <a:spcPct val="0"/>
              </a:spcBef>
              <a:buFont typeface="Arial" panose="020B0604020202020204" pitchFamily="34" charset="0"/>
              <a:buChar char="•"/>
            </a:pPr>
            <a:r>
              <a:rPr lang="zh-CN" altLang="en-US" sz="2400" dirty="0">
                <a:solidFill>
                  <a:srgbClr val="0000FF"/>
                </a:solidFill>
              </a:rPr>
              <a:t>禁止出现共享变量：</a:t>
            </a:r>
            <a:r>
              <a:rPr lang="en-US" altLang="zh-CN" sz="2400" dirty="0" err="1">
                <a:solidFill>
                  <a:srgbClr val="0000FF"/>
                </a:solidFill>
              </a:rPr>
              <a:t>always_comb</a:t>
            </a:r>
            <a:r>
              <a:rPr lang="zh-CN" altLang="en-US" sz="2400" dirty="0">
                <a:solidFill>
                  <a:srgbClr val="0000FF"/>
                </a:solidFill>
              </a:rPr>
              <a:t>过程要求被赋值的变量不能再次在其它过程块被赋值，以符合综合要求。</a:t>
            </a:r>
          </a:p>
          <a:p>
            <a:pPr marL="342900" indent="-342900">
              <a:spcBef>
                <a:spcPct val="0"/>
              </a:spcBef>
              <a:buFont typeface="Arial" panose="020B0604020202020204" pitchFamily="34" charset="0"/>
              <a:buChar char="•"/>
            </a:pPr>
            <a:r>
              <a:rPr lang="en-US" altLang="zh-CN" sz="2400" dirty="0" err="1">
                <a:solidFill>
                  <a:srgbClr val="0000FF"/>
                </a:solidFill>
              </a:rPr>
              <a:t>always_comb</a:t>
            </a:r>
            <a:r>
              <a:rPr lang="zh-CN" altLang="en-US" sz="2400" dirty="0">
                <a:solidFill>
                  <a:srgbClr val="0000FF"/>
                </a:solidFill>
              </a:rPr>
              <a:t>过程块在所有的</a:t>
            </a:r>
            <a:r>
              <a:rPr lang="en-US" altLang="zh-CN" sz="2400" dirty="0">
                <a:solidFill>
                  <a:srgbClr val="0000FF"/>
                </a:solidFill>
              </a:rPr>
              <a:t>initial</a:t>
            </a:r>
            <a:r>
              <a:rPr lang="zh-CN" altLang="en-US" sz="2400" dirty="0">
                <a:solidFill>
                  <a:srgbClr val="0000FF"/>
                </a:solidFill>
              </a:rPr>
              <a:t>和</a:t>
            </a:r>
            <a:r>
              <a:rPr lang="en-US" altLang="zh-CN" sz="2400" dirty="0">
                <a:solidFill>
                  <a:srgbClr val="0000FF"/>
                </a:solidFill>
              </a:rPr>
              <a:t>always</a:t>
            </a:r>
            <a:r>
              <a:rPr lang="zh-CN" altLang="en-US" sz="2400" dirty="0">
                <a:solidFill>
                  <a:srgbClr val="0000FF"/>
                </a:solidFill>
              </a:rPr>
              <a:t>过程块启动后，会在模拟的</a:t>
            </a:r>
            <a:r>
              <a:rPr lang="en-US" altLang="zh-CN" sz="2400" dirty="0">
                <a:solidFill>
                  <a:srgbClr val="0000FF"/>
                </a:solidFill>
              </a:rPr>
              <a:t>0</a:t>
            </a:r>
            <a:r>
              <a:rPr lang="zh-CN" altLang="en-US" sz="2400" dirty="0">
                <a:solidFill>
                  <a:srgbClr val="0000FF"/>
                </a:solidFill>
              </a:rPr>
              <a:t>时刻自动触发，该特殊主义确保了组合逻辑在</a:t>
            </a:r>
            <a:r>
              <a:rPr lang="en-US" altLang="zh-CN" sz="2400" dirty="0">
                <a:solidFill>
                  <a:srgbClr val="0000FF"/>
                </a:solidFill>
              </a:rPr>
              <a:t>0</a:t>
            </a:r>
            <a:r>
              <a:rPr lang="zh-CN" altLang="en-US" sz="2400" dirty="0">
                <a:solidFill>
                  <a:srgbClr val="0000FF"/>
                </a:solidFill>
              </a:rPr>
              <a:t>时刻产生与输入相对应的输出结果尤其是在使用两态变量建模时，</a:t>
            </a:r>
            <a:r>
              <a:rPr lang="en-US" altLang="zh-CN" sz="2400" dirty="0">
                <a:solidFill>
                  <a:srgbClr val="0000FF"/>
                </a:solidFill>
              </a:rPr>
              <a:t>0</a:t>
            </a:r>
            <a:r>
              <a:rPr lang="zh-CN" altLang="en-US" sz="2400" dirty="0">
                <a:solidFill>
                  <a:srgbClr val="0000FF"/>
                </a:solidFill>
              </a:rPr>
              <a:t>时刻自动求值显得尤为重要！</a:t>
            </a:r>
          </a:p>
        </p:txBody>
      </p:sp>
      <p:pic>
        <p:nvPicPr>
          <p:cNvPr id="3" name="图片 2">
            <a:extLst>
              <a:ext uri="{FF2B5EF4-FFF2-40B4-BE49-F238E27FC236}">
                <a16:creationId xmlns:a16="http://schemas.microsoft.com/office/drawing/2014/main" id="{FFE9A863-DD21-476A-AA19-2782D2D7A748}"/>
              </a:ext>
            </a:extLst>
          </p:cNvPr>
          <p:cNvPicPr>
            <a:picLocks noChangeAspect="1"/>
          </p:cNvPicPr>
          <p:nvPr/>
        </p:nvPicPr>
        <p:blipFill>
          <a:blip r:embed="rId3"/>
          <a:stretch>
            <a:fillRect/>
          </a:stretch>
        </p:blipFill>
        <p:spPr>
          <a:xfrm>
            <a:off x="101600" y="4499204"/>
            <a:ext cx="12192000" cy="18866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 Box 2">
            <a:extLst>
              <a:ext uri="{FF2B5EF4-FFF2-40B4-BE49-F238E27FC236}">
                <a16:creationId xmlns:a16="http://schemas.microsoft.com/office/drawing/2014/main" id="{F486A623-DA7F-47C9-9213-5FE6F3CB8664}"/>
              </a:ext>
            </a:extLst>
          </p:cNvPr>
          <p:cNvSpPr txBox="1">
            <a:spLocks noChangeArrowheads="1"/>
          </p:cNvSpPr>
          <p:nvPr/>
        </p:nvSpPr>
        <p:spPr bwMode="auto">
          <a:xfrm>
            <a:off x="461818" y="125269"/>
            <a:ext cx="68580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4400" dirty="0">
                <a:solidFill>
                  <a:srgbClr val="000066"/>
                </a:solidFill>
                <a:latin typeface="Arial" panose="020B0604020202020204" pitchFamily="34" charset="0"/>
              </a:rPr>
              <a:t>时序逻辑过程块</a:t>
            </a:r>
          </a:p>
        </p:txBody>
      </p:sp>
      <p:sp>
        <p:nvSpPr>
          <p:cNvPr id="22531" name="Text Box 3">
            <a:extLst>
              <a:ext uri="{FF2B5EF4-FFF2-40B4-BE49-F238E27FC236}">
                <a16:creationId xmlns:a16="http://schemas.microsoft.com/office/drawing/2014/main" id="{CDB70921-8D87-4D3D-8C96-26837BC211FC}"/>
              </a:ext>
            </a:extLst>
          </p:cNvPr>
          <p:cNvSpPr txBox="1">
            <a:spLocks noChangeArrowheads="1"/>
          </p:cNvSpPr>
          <p:nvPr/>
        </p:nvSpPr>
        <p:spPr bwMode="auto">
          <a:xfrm>
            <a:off x="461818" y="993342"/>
            <a:ext cx="11176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400" dirty="0" err="1">
                <a:solidFill>
                  <a:srgbClr val="FF0000"/>
                </a:solidFill>
              </a:rPr>
              <a:t>always_ff</a:t>
            </a:r>
            <a:r>
              <a:rPr lang="zh-CN" altLang="en-US" sz="2400" dirty="0">
                <a:solidFill>
                  <a:srgbClr val="0000FF"/>
                </a:solidFill>
              </a:rPr>
              <a:t>过程块描述时序逻辑，</a:t>
            </a:r>
            <a:r>
              <a:rPr lang="en-US" altLang="zh-CN" sz="2400" dirty="0" err="1">
                <a:solidFill>
                  <a:srgbClr val="0000FF"/>
                </a:solidFill>
              </a:rPr>
              <a:t>always_ff</a:t>
            </a:r>
            <a:r>
              <a:rPr lang="zh-CN" altLang="en-US" sz="2400" dirty="0">
                <a:solidFill>
                  <a:srgbClr val="0000FF"/>
                </a:solidFill>
              </a:rPr>
              <a:t>过程块的敏感表必须列出，以确定时序逻辑的置位</a:t>
            </a:r>
            <a:r>
              <a:rPr lang="en-US" altLang="zh-CN" sz="2400" dirty="0">
                <a:solidFill>
                  <a:srgbClr val="0000FF"/>
                </a:solidFill>
              </a:rPr>
              <a:t>/</a:t>
            </a:r>
            <a:r>
              <a:rPr lang="zh-CN" altLang="en-US" sz="2400" dirty="0">
                <a:solidFill>
                  <a:srgbClr val="0000FF"/>
                </a:solidFill>
              </a:rPr>
              <a:t>复位是同步还是异步的，如果代码不能综合出时序逻辑时，软件工具能够报告警告信息。</a:t>
            </a:r>
          </a:p>
          <a:p>
            <a:pPr marL="342900" indent="-342900">
              <a:spcBef>
                <a:spcPct val="0"/>
              </a:spcBef>
              <a:buFont typeface="Arial" panose="020B0604020202020204" pitchFamily="34" charset="0"/>
              <a:buChar char="•"/>
            </a:pPr>
            <a:endParaRPr lang="zh-CN" altLang="en-US" sz="2400" dirty="0">
              <a:solidFill>
                <a:srgbClr val="0000FF"/>
              </a:solidFill>
            </a:endParaRPr>
          </a:p>
          <a:p>
            <a:pPr marL="342900" indent="-342900">
              <a:spcBef>
                <a:spcPct val="0"/>
              </a:spcBef>
              <a:buFont typeface="Arial" panose="020B0604020202020204" pitchFamily="34" charset="0"/>
              <a:buChar char="•"/>
            </a:pPr>
            <a:r>
              <a:rPr lang="en-US" altLang="zh-CN" sz="2400" dirty="0" err="1">
                <a:solidFill>
                  <a:srgbClr val="0000FF"/>
                </a:solidFill>
              </a:rPr>
              <a:t>always_ff</a:t>
            </a:r>
            <a:r>
              <a:rPr lang="zh-CN" altLang="en-US" sz="2400" dirty="0">
                <a:solidFill>
                  <a:srgbClr val="0000FF"/>
                </a:solidFill>
              </a:rPr>
              <a:t>过程块要求明确指定敏感表中的信号是</a:t>
            </a:r>
            <a:r>
              <a:rPr lang="en-US" altLang="zh-CN" sz="2400" dirty="0" err="1">
                <a:solidFill>
                  <a:srgbClr val="0000FF"/>
                </a:solidFill>
              </a:rPr>
              <a:t>posedge</a:t>
            </a:r>
            <a:r>
              <a:rPr lang="zh-CN" altLang="en-US" sz="2400" dirty="0">
                <a:solidFill>
                  <a:srgbClr val="0000FF"/>
                </a:solidFill>
              </a:rPr>
              <a:t>还是</a:t>
            </a:r>
            <a:r>
              <a:rPr lang="en-US" altLang="zh-CN" sz="2400" dirty="0" err="1">
                <a:solidFill>
                  <a:srgbClr val="0000FF"/>
                </a:solidFill>
              </a:rPr>
              <a:t>negedge</a:t>
            </a:r>
            <a:r>
              <a:rPr lang="zh-CN" altLang="en-US" sz="2400" dirty="0">
                <a:solidFill>
                  <a:srgbClr val="0000FF"/>
                </a:solidFill>
              </a:rPr>
              <a:t>，这是对时序逻辑敏感列表的综合要求，以确保模拟结果与综合结果一致。</a:t>
            </a:r>
          </a:p>
          <a:p>
            <a:pPr>
              <a:spcBef>
                <a:spcPct val="0"/>
              </a:spcBef>
            </a:pPr>
            <a:endParaRPr lang="zh-CN" altLang="en-US" sz="2400" dirty="0">
              <a:solidFill>
                <a:srgbClr val="0000FF"/>
              </a:solidFill>
            </a:endParaRPr>
          </a:p>
        </p:txBody>
      </p:sp>
      <p:sp>
        <p:nvSpPr>
          <p:cNvPr id="3" name="矩形 2">
            <a:extLst>
              <a:ext uri="{FF2B5EF4-FFF2-40B4-BE49-F238E27FC236}">
                <a16:creationId xmlns:a16="http://schemas.microsoft.com/office/drawing/2014/main" id="{1366396D-9CBB-46E5-8401-5C79D788E43F}"/>
              </a:ext>
            </a:extLst>
          </p:cNvPr>
          <p:cNvSpPr/>
          <p:nvPr/>
        </p:nvSpPr>
        <p:spPr>
          <a:xfrm>
            <a:off x="1330036" y="3900254"/>
            <a:ext cx="7767782" cy="1323439"/>
          </a:xfrm>
          <a:prstGeom prst="rect">
            <a:avLst/>
          </a:prstGeom>
        </p:spPr>
        <p:txBody>
          <a:bodyPr wrap="square">
            <a:spAutoFit/>
          </a:bodyPr>
          <a:lstStyle/>
          <a:p>
            <a:r>
              <a:rPr lang="en-US" altLang="zh-CN" sz="2000" b="1" dirty="0" err="1">
                <a:solidFill>
                  <a:srgbClr val="00B0F0"/>
                </a:solidFill>
                <a:latin typeface="CourierNewPS-BoldMT"/>
              </a:rPr>
              <a:t>always_ff</a:t>
            </a:r>
            <a:r>
              <a:rPr lang="en-US" altLang="zh-CN" sz="2000" b="1" dirty="0">
                <a:solidFill>
                  <a:srgbClr val="00B0F0"/>
                </a:solidFill>
                <a:latin typeface="CourierNewPS-BoldMT"/>
              </a:rPr>
              <a:t> </a:t>
            </a:r>
            <a:r>
              <a:rPr lang="en-US" altLang="zh-CN" sz="2000" dirty="0">
                <a:solidFill>
                  <a:srgbClr val="00B0F0"/>
                </a:solidFill>
                <a:latin typeface="CourierNewPSMT"/>
              </a:rPr>
              <a:t>@(</a:t>
            </a:r>
            <a:r>
              <a:rPr lang="en-US" altLang="zh-CN" sz="2000" b="1" dirty="0" err="1">
                <a:solidFill>
                  <a:srgbClr val="00B0F0"/>
                </a:solidFill>
                <a:latin typeface="CourierNewPS-BoldMT"/>
              </a:rPr>
              <a:t>posedge</a:t>
            </a:r>
            <a:r>
              <a:rPr lang="en-US" altLang="zh-CN" sz="2000" b="1" dirty="0">
                <a:solidFill>
                  <a:srgbClr val="00B0F0"/>
                </a:solidFill>
                <a:latin typeface="CourierNewPS-BoldMT"/>
              </a:rPr>
              <a:t> </a:t>
            </a:r>
            <a:r>
              <a:rPr lang="en-US" altLang="zh-CN" sz="2000" dirty="0">
                <a:solidFill>
                  <a:srgbClr val="00B0F0"/>
                </a:solidFill>
                <a:latin typeface="CourierNewPSMT"/>
              </a:rPr>
              <a:t>clock, </a:t>
            </a:r>
            <a:r>
              <a:rPr lang="en-US" altLang="zh-CN" sz="2000" b="1" dirty="0" err="1">
                <a:solidFill>
                  <a:srgbClr val="00B0F0"/>
                </a:solidFill>
                <a:latin typeface="CourierNewPS-BoldMT"/>
              </a:rPr>
              <a:t>negedge</a:t>
            </a:r>
            <a:r>
              <a:rPr lang="en-US" altLang="zh-CN" sz="2000" b="1" dirty="0">
                <a:solidFill>
                  <a:srgbClr val="00B0F0"/>
                </a:solidFill>
                <a:latin typeface="CourierNewPS-BoldMT"/>
              </a:rPr>
              <a:t> </a:t>
            </a:r>
            <a:r>
              <a:rPr lang="en-US" altLang="zh-CN" sz="2000" dirty="0" err="1">
                <a:solidFill>
                  <a:srgbClr val="00B0F0"/>
                </a:solidFill>
                <a:latin typeface="CourierNewPSMT"/>
              </a:rPr>
              <a:t>resetN</a:t>
            </a:r>
            <a:r>
              <a:rPr lang="en-US" altLang="zh-CN" sz="2000" dirty="0">
                <a:solidFill>
                  <a:srgbClr val="00B0F0"/>
                </a:solidFill>
                <a:latin typeface="CourierNewPSMT"/>
              </a:rPr>
              <a:t>)</a:t>
            </a:r>
            <a:br>
              <a:rPr lang="en-US" altLang="zh-CN" sz="2000" dirty="0">
                <a:solidFill>
                  <a:srgbClr val="00B0F0"/>
                </a:solidFill>
                <a:latin typeface="CourierNewPSMT"/>
              </a:rPr>
            </a:br>
            <a:r>
              <a:rPr lang="en-US" altLang="zh-CN" sz="2000" b="1" dirty="0">
                <a:solidFill>
                  <a:srgbClr val="00B0F0"/>
                </a:solidFill>
                <a:latin typeface="CourierNewPS-BoldMT"/>
              </a:rPr>
              <a:t>if </a:t>
            </a:r>
            <a:r>
              <a:rPr lang="en-US" altLang="zh-CN" sz="2000" dirty="0">
                <a:solidFill>
                  <a:srgbClr val="00B0F0"/>
                </a:solidFill>
                <a:latin typeface="CourierNewPSMT"/>
              </a:rPr>
              <a:t>(!</a:t>
            </a:r>
            <a:r>
              <a:rPr lang="en-US" altLang="zh-CN" sz="2000" dirty="0" err="1">
                <a:solidFill>
                  <a:srgbClr val="00B0F0"/>
                </a:solidFill>
                <a:latin typeface="CourierNewPSMT"/>
              </a:rPr>
              <a:t>resetN</a:t>
            </a:r>
            <a:r>
              <a:rPr lang="en-US" altLang="zh-CN" sz="2000" dirty="0">
                <a:solidFill>
                  <a:srgbClr val="00B0F0"/>
                </a:solidFill>
                <a:latin typeface="CourierNewPSMT"/>
              </a:rPr>
              <a:t>) q &lt;= 0;</a:t>
            </a:r>
            <a:br>
              <a:rPr lang="en-US" altLang="zh-CN" sz="2000" dirty="0">
                <a:solidFill>
                  <a:srgbClr val="00B0F0"/>
                </a:solidFill>
                <a:latin typeface="CourierNewPSMT"/>
              </a:rPr>
            </a:br>
            <a:r>
              <a:rPr lang="en-US" altLang="zh-CN" sz="2000" b="1" dirty="0">
                <a:solidFill>
                  <a:srgbClr val="00B0F0"/>
                </a:solidFill>
                <a:latin typeface="CourierNewPS-BoldMT"/>
              </a:rPr>
              <a:t>else </a:t>
            </a:r>
            <a:r>
              <a:rPr lang="en-US" altLang="zh-CN" sz="2000" dirty="0">
                <a:solidFill>
                  <a:srgbClr val="00B0F0"/>
                </a:solidFill>
                <a:latin typeface="CourierNewPSMT"/>
              </a:rPr>
              <a:t>q &lt;= d;</a:t>
            </a:r>
            <a:r>
              <a:rPr lang="en-US" altLang="zh-CN" sz="2000" dirty="0">
                <a:solidFill>
                  <a:srgbClr val="00B0F0"/>
                </a:solidFill>
              </a:rPr>
              <a:t> </a:t>
            </a:r>
            <a:br>
              <a:rPr lang="en-US" altLang="zh-CN" sz="2000" dirty="0">
                <a:solidFill>
                  <a:srgbClr val="00B0F0"/>
                </a:solidFill>
              </a:rPr>
            </a:br>
            <a:endParaRPr lang="zh-CN" altLang="en-US" sz="2000"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2">
            <a:extLst>
              <a:ext uri="{FF2B5EF4-FFF2-40B4-BE49-F238E27FC236}">
                <a16:creationId xmlns:a16="http://schemas.microsoft.com/office/drawing/2014/main" id="{19AA2D50-6EB1-4FDC-A787-79B0621406D7}"/>
              </a:ext>
            </a:extLst>
          </p:cNvPr>
          <p:cNvSpPr txBox="1">
            <a:spLocks noChangeArrowheads="1"/>
          </p:cNvSpPr>
          <p:nvPr/>
        </p:nvSpPr>
        <p:spPr bwMode="auto">
          <a:xfrm>
            <a:off x="471055" y="152979"/>
            <a:ext cx="952730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锁存逻辑过程块</a:t>
            </a:r>
          </a:p>
        </p:txBody>
      </p:sp>
      <p:sp>
        <p:nvSpPr>
          <p:cNvPr id="20483" name="Text Box 3">
            <a:extLst>
              <a:ext uri="{FF2B5EF4-FFF2-40B4-BE49-F238E27FC236}">
                <a16:creationId xmlns:a16="http://schemas.microsoft.com/office/drawing/2014/main" id="{C60B5111-2BB7-4B89-BAAD-9B8093799300}"/>
              </a:ext>
            </a:extLst>
          </p:cNvPr>
          <p:cNvSpPr txBox="1">
            <a:spLocks noChangeArrowheads="1"/>
          </p:cNvSpPr>
          <p:nvPr/>
        </p:nvSpPr>
        <p:spPr bwMode="auto">
          <a:xfrm>
            <a:off x="591127" y="1033463"/>
            <a:ext cx="960856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spcBef>
                <a:spcPct val="0"/>
              </a:spcBef>
              <a:buFont typeface="Arial" panose="020B0604020202020204" pitchFamily="34" charset="0"/>
              <a:buChar char="•"/>
            </a:pPr>
            <a:r>
              <a:rPr lang="en-US" altLang="zh-CN" dirty="0" err="1">
                <a:solidFill>
                  <a:srgbClr val="FF0000"/>
                </a:solidFill>
              </a:rPr>
              <a:t>always_latch</a:t>
            </a:r>
            <a:r>
              <a:rPr lang="zh-CN" altLang="en-US" dirty="0">
                <a:solidFill>
                  <a:srgbClr val="0000FF"/>
                </a:solidFill>
              </a:rPr>
              <a:t>过程块表示描述的是基于</a:t>
            </a:r>
            <a:r>
              <a:rPr lang="zh-CN" altLang="en-US" sz="2400" dirty="0">
                <a:solidFill>
                  <a:srgbClr val="0000FF"/>
                </a:solidFill>
              </a:rPr>
              <a:t>锁存器</a:t>
            </a:r>
            <a:r>
              <a:rPr lang="zh-CN" altLang="en-US" dirty="0">
                <a:solidFill>
                  <a:srgbClr val="0000FF"/>
                </a:solidFill>
              </a:rPr>
              <a:t>的逻辑，</a:t>
            </a:r>
            <a:r>
              <a:rPr lang="en-US" altLang="zh-CN" dirty="0" err="1">
                <a:solidFill>
                  <a:srgbClr val="0000FF"/>
                </a:solidFill>
              </a:rPr>
              <a:t>always_latch</a:t>
            </a:r>
            <a:r>
              <a:rPr lang="zh-CN" altLang="en-US" dirty="0">
                <a:solidFill>
                  <a:srgbClr val="0000FF"/>
                </a:solidFill>
              </a:rPr>
              <a:t>过程块的语义规则与</a:t>
            </a:r>
            <a:r>
              <a:rPr lang="en-US" altLang="zh-CN" dirty="0" err="1">
                <a:solidFill>
                  <a:srgbClr val="0000FF"/>
                </a:solidFill>
              </a:rPr>
              <a:t>always_comb</a:t>
            </a:r>
            <a:r>
              <a:rPr lang="zh-CN" altLang="en-US" dirty="0">
                <a:solidFill>
                  <a:srgbClr val="0000FF"/>
                </a:solidFill>
              </a:rPr>
              <a:t>一样，能够推断出敏感表；</a:t>
            </a:r>
            <a:endParaRPr lang="en-US" altLang="zh-CN" dirty="0">
              <a:solidFill>
                <a:srgbClr val="0000FF"/>
              </a:solidFill>
            </a:endParaRPr>
          </a:p>
          <a:p>
            <a:pPr marL="285750" indent="-285750">
              <a:spcBef>
                <a:spcPct val="0"/>
              </a:spcBef>
              <a:buFont typeface="Arial" panose="020B0604020202020204" pitchFamily="34" charset="0"/>
              <a:buChar char="•"/>
            </a:pPr>
            <a:r>
              <a:rPr lang="zh-CN" altLang="en-US" dirty="0">
                <a:solidFill>
                  <a:srgbClr val="FF0000"/>
                </a:solidFill>
              </a:rPr>
              <a:t>在锁存逻辑中，过程块的输出变量不需要对所有可能的输入条件响应；</a:t>
            </a:r>
            <a:endParaRPr lang="en-US" altLang="zh-CN" dirty="0">
              <a:solidFill>
                <a:srgbClr val="0000FF"/>
              </a:solidFill>
            </a:endParaRPr>
          </a:p>
          <a:p>
            <a:pPr marL="285750" indent="-285750">
              <a:spcBef>
                <a:spcPct val="0"/>
              </a:spcBef>
              <a:buFont typeface="Arial" panose="020B0604020202020204" pitchFamily="34" charset="0"/>
              <a:buChar char="•"/>
            </a:pPr>
            <a:r>
              <a:rPr lang="en-US" altLang="zh-CN" dirty="0" err="1">
                <a:solidFill>
                  <a:srgbClr val="0000FF"/>
                </a:solidFill>
              </a:rPr>
              <a:t>always_latch</a:t>
            </a:r>
            <a:r>
              <a:rPr lang="zh-CN" altLang="en-US" dirty="0">
                <a:solidFill>
                  <a:srgbClr val="0000FF"/>
                </a:solidFill>
              </a:rPr>
              <a:t>中赋值的变量不能再次在其它过程块被赋值；</a:t>
            </a:r>
            <a:r>
              <a:rPr lang="en-US" altLang="zh-CN" dirty="0" err="1">
                <a:solidFill>
                  <a:srgbClr val="0000FF"/>
                </a:solidFill>
              </a:rPr>
              <a:t>always_latch</a:t>
            </a:r>
            <a:r>
              <a:rPr lang="zh-CN" altLang="en-US" dirty="0">
                <a:solidFill>
                  <a:srgbClr val="0000FF"/>
                </a:solidFill>
              </a:rPr>
              <a:t>过程块也会在</a:t>
            </a:r>
            <a:r>
              <a:rPr lang="en-US" altLang="zh-CN" dirty="0">
                <a:solidFill>
                  <a:srgbClr val="0000FF"/>
                </a:solidFill>
              </a:rPr>
              <a:t>0</a:t>
            </a:r>
            <a:r>
              <a:rPr lang="zh-CN" altLang="en-US" dirty="0">
                <a:solidFill>
                  <a:srgbClr val="0000FF"/>
                </a:solidFill>
              </a:rPr>
              <a:t>时刻自动执行一次。</a:t>
            </a:r>
            <a:endParaRPr lang="en-US" altLang="zh-CN" dirty="0">
              <a:solidFill>
                <a:srgbClr val="0000FF"/>
              </a:solidFill>
            </a:endParaRPr>
          </a:p>
        </p:txBody>
      </p:sp>
      <p:sp>
        <p:nvSpPr>
          <p:cNvPr id="20484" name="Rectangle 4">
            <a:extLst>
              <a:ext uri="{FF2B5EF4-FFF2-40B4-BE49-F238E27FC236}">
                <a16:creationId xmlns:a16="http://schemas.microsoft.com/office/drawing/2014/main" id="{E564F2C2-6B20-4765-A9D4-1807B09601A5}"/>
              </a:ext>
            </a:extLst>
          </p:cNvPr>
          <p:cNvSpPr>
            <a:spLocks noChangeArrowheads="1"/>
          </p:cNvSpPr>
          <p:nvPr/>
        </p:nvSpPr>
        <p:spPr bwMode="auto">
          <a:xfrm>
            <a:off x="6796595" y="3054549"/>
            <a:ext cx="2246128" cy="1200329"/>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err="1">
                <a:solidFill>
                  <a:srgbClr val="0000FF"/>
                </a:solidFill>
              </a:rPr>
              <a:t>always_latch</a:t>
            </a:r>
            <a:endParaRPr lang="en-US" altLang="zh-CN" dirty="0">
              <a:solidFill>
                <a:srgbClr val="0000FF"/>
              </a:solidFill>
            </a:endParaRPr>
          </a:p>
          <a:p>
            <a:r>
              <a:rPr lang="en-US" altLang="zh-CN" dirty="0">
                <a:solidFill>
                  <a:srgbClr val="0000FF"/>
                </a:solidFill>
              </a:rPr>
              <a:t>    if (enable) q &lt;= d;</a:t>
            </a:r>
          </a:p>
          <a:p>
            <a:r>
              <a:rPr lang="en-US" altLang="zh-CN" dirty="0">
                <a:solidFill>
                  <a:srgbClr val="FF0000"/>
                </a:solidFill>
              </a:rPr>
              <a:t>//</a:t>
            </a:r>
            <a:r>
              <a:rPr lang="en-US" altLang="zh-CN" dirty="0" err="1">
                <a:solidFill>
                  <a:srgbClr val="FF0000"/>
                </a:solidFill>
              </a:rPr>
              <a:t>always_comb</a:t>
            </a:r>
            <a:endParaRPr lang="en-US" altLang="zh-CN" dirty="0">
              <a:solidFill>
                <a:srgbClr val="FF0000"/>
              </a:solidFill>
            </a:endParaRPr>
          </a:p>
          <a:p>
            <a:r>
              <a:rPr lang="en-US" altLang="zh-CN" dirty="0">
                <a:solidFill>
                  <a:srgbClr val="FF0000"/>
                </a:solidFill>
              </a:rPr>
              <a:t>//    if (enable) q = d;</a:t>
            </a:r>
          </a:p>
        </p:txBody>
      </p:sp>
      <p:sp>
        <p:nvSpPr>
          <p:cNvPr id="2" name="矩形 1">
            <a:extLst>
              <a:ext uri="{FF2B5EF4-FFF2-40B4-BE49-F238E27FC236}">
                <a16:creationId xmlns:a16="http://schemas.microsoft.com/office/drawing/2014/main" id="{47F247D4-96C4-4D49-B1DF-A44EE3075687}"/>
              </a:ext>
            </a:extLst>
          </p:cNvPr>
          <p:cNvSpPr/>
          <p:nvPr/>
        </p:nvSpPr>
        <p:spPr>
          <a:xfrm>
            <a:off x="915771" y="2654438"/>
            <a:ext cx="4903782" cy="2862322"/>
          </a:xfrm>
          <a:prstGeom prst="rect">
            <a:avLst/>
          </a:prstGeom>
        </p:spPr>
        <p:txBody>
          <a:bodyPr wrap="square">
            <a:spAutoFit/>
          </a:bodyPr>
          <a:lstStyle/>
          <a:p>
            <a:r>
              <a:rPr lang="en-US" altLang="zh-CN" sz="2000" dirty="0" err="1">
                <a:solidFill>
                  <a:srgbClr val="0000FF"/>
                </a:solidFill>
              </a:rPr>
              <a:t>always_latch</a:t>
            </a:r>
            <a:r>
              <a:rPr lang="en-US" altLang="zh-CN" sz="2000" dirty="0">
                <a:solidFill>
                  <a:srgbClr val="0000FF"/>
                </a:solidFill>
              </a:rPr>
              <a:t> begin // latch the ready input</a:t>
            </a:r>
            <a:br>
              <a:rPr lang="en-US" altLang="zh-CN" sz="2000" dirty="0">
                <a:solidFill>
                  <a:srgbClr val="0000FF"/>
                </a:solidFill>
              </a:rPr>
            </a:br>
            <a:r>
              <a:rPr lang="en-US" altLang="zh-CN" sz="2000" dirty="0">
                <a:solidFill>
                  <a:srgbClr val="0000FF"/>
                </a:solidFill>
              </a:rPr>
              <a:t>  if (!</a:t>
            </a:r>
            <a:r>
              <a:rPr lang="en-US" altLang="zh-CN" sz="2000" dirty="0" err="1">
                <a:solidFill>
                  <a:srgbClr val="0000FF"/>
                </a:solidFill>
              </a:rPr>
              <a:t>resetN</a:t>
            </a:r>
            <a:r>
              <a:rPr lang="en-US" altLang="zh-CN" sz="2000" dirty="0">
                <a:solidFill>
                  <a:srgbClr val="0000FF"/>
                </a:solidFill>
              </a:rPr>
              <a:t>)</a:t>
            </a:r>
          </a:p>
          <a:p>
            <a:r>
              <a:rPr lang="en-US" altLang="zh-CN" sz="2000" dirty="0">
                <a:solidFill>
                  <a:srgbClr val="0000FF"/>
                </a:solidFill>
              </a:rPr>
              <a:t>    enable &lt;= 0;</a:t>
            </a:r>
            <a:br>
              <a:rPr lang="en-US" altLang="zh-CN" sz="2000" dirty="0">
                <a:solidFill>
                  <a:srgbClr val="0000FF"/>
                </a:solidFill>
              </a:rPr>
            </a:br>
            <a:r>
              <a:rPr lang="en-US" altLang="zh-CN" sz="2000" dirty="0">
                <a:solidFill>
                  <a:srgbClr val="0000FF"/>
                </a:solidFill>
              </a:rPr>
              <a:t>  else if (ready)</a:t>
            </a:r>
            <a:br>
              <a:rPr lang="en-US" altLang="zh-CN" sz="2000" dirty="0">
                <a:solidFill>
                  <a:srgbClr val="0000FF"/>
                </a:solidFill>
              </a:rPr>
            </a:br>
            <a:r>
              <a:rPr lang="en-US" altLang="zh-CN" sz="2000" dirty="0">
                <a:solidFill>
                  <a:srgbClr val="0000FF"/>
                </a:solidFill>
              </a:rPr>
              <a:t>    enable &lt;= 1;</a:t>
            </a:r>
            <a:br>
              <a:rPr lang="en-US" altLang="zh-CN" sz="2000" dirty="0">
                <a:solidFill>
                  <a:srgbClr val="0000FF"/>
                </a:solidFill>
              </a:rPr>
            </a:br>
            <a:r>
              <a:rPr lang="en-US" altLang="zh-CN" sz="2000" dirty="0">
                <a:solidFill>
                  <a:srgbClr val="0000FF"/>
                </a:solidFill>
              </a:rPr>
              <a:t>  else if (overflow)</a:t>
            </a:r>
            <a:br>
              <a:rPr lang="en-US" altLang="zh-CN" sz="2000" dirty="0">
                <a:solidFill>
                  <a:srgbClr val="0000FF"/>
                </a:solidFill>
              </a:rPr>
            </a:br>
            <a:r>
              <a:rPr lang="en-US" altLang="zh-CN" sz="2000" dirty="0">
                <a:solidFill>
                  <a:srgbClr val="0000FF"/>
                </a:solidFill>
              </a:rPr>
              <a:t>    enable &lt;= 0;</a:t>
            </a:r>
            <a:br>
              <a:rPr lang="en-US" altLang="zh-CN" sz="2000" dirty="0">
                <a:solidFill>
                  <a:srgbClr val="0000FF"/>
                </a:solidFill>
              </a:rPr>
            </a:br>
            <a:r>
              <a:rPr lang="en-US" altLang="zh-CN" sz="2000" dirty="0">
                <a:solidFill>
                  <a:srgbClr val="0000FF"/>
                </a:solidFill>
              </a:rPr>
              <a:t>  end </a:t>
            </a:r>
            <a:br>
              <a:rPr lang="en-US" altLang="zh-CN" sz="2000" dirty="0">
                <a:solidFill>
                  <a:srgbClr val="0000FF"/>
                </a:solidFill>
              </a:rPr>
            </a:br>
            <a:endParaRPr lang="zh-CN" altLang="en-US" sz="20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D452EA89-2A56-45FF-9BCD-3E147801D883}"/>
              </a:ext>
            </a:extLst>
          </p:cNvPr>
          <p:cNvSpPr txBox="1">
            <a:spLocks noChangeArrowheads="1"/>
          </p:cNvSpPr>
          <p:nvPr/>
        </p:nvSpPr>
        <p:spPr bwMode="auto">
          <a:xfrm>
            <a:off x="609600" y="79087"/>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
        <p:nvSpPr>
          <p:cNvPr id="24579" name="Text Box 3">
            <a:extLst>
              <a:ext uri="{FF2B5EF4-FFF2-40B4-BE49-F238E27FC236}">
                <a16:creationId xmlns:a16="http://schemas.microsoft.com/office/drawing/2014/main" id="{5A2915A3-F83C-49EC-8322-E2B864555AD0}"/>
              </a:ext>
            </a:extLst>
          </p:cNvPr>
          <p:cNvSpPr txBox="1">
            <a:spLocks noChangeArrowheads="1"/>
          </p:cNvSpPr>
          <p:nvPr/>
        </p:nvSpPr>
        <p:spPr bwMode="auto">
          <a:xfrm>
            <a:off x="711200" y="997527"/>
            <a:ext cx="941705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400" dirty="0">
                <a:solidFill>
                  <a:srgbClr val="FF0000"/>
                </a:solidFill>
              </a:rPr>
              <a:t>void</a:t>
            </a:r>
            <a:r>
              <a:rPr lang="zh-CN" altLang="en-US" sz="2400" dirty="0">
                <a:solidFill>
                  <a:srgbClr val="FF0000"/>
                </a:solidFill>
              </a:rPr>
              <a:t>类型函数</a:t>
            </a:r>
            <a:endParaRPr lang="en-US" altLang="zh-CN" sz="2400" dirty="0">
              <a:solidFill>
                <a:srgbClr val="00B0F0"/>
              </a:solidFill>
            </a:endParaRPr>
          </a:p>
          <a:p>
            <a:pPr marL="342900" indent="-342900">
              <a:spcBef>
                <a:spcPct val="0"/>
              </a:spcBef>
              <a:buFont typeface="Arial" panose="020B0604020202020204" pitchFamily="34" charset="0"/>
              <a:buChar char="•"/>
            </a:pPr>
            <a:r>
              <a:rPr lang="zh-CN" altLang="en-US" sz="2400" dirty="0">
                <a:solidFill>
                  <a:srgbClr val="FF0000"/>
                </a:solidFill>
              </a:rPr>
              <a:t>增强型函数形式参数</a:t>
            </a:r>
            <a:endParaRPr lang="en-US" altLang="zh-CN" sz="2400" dirty="0">
              <a:solidFill>
                <a:srgbClr val="00B0F0"/>
              </a:solidFill>
            </a:endParaRPr>
          </a:p>
          <a:p>
            <a:pPr marL="342900" indent="-342900">
              <a:spcBef>
                <a:spcPct val="0"/>
              </a:spcBef>
              <a:buFont typeface="Arial" panose="020B0604020202020204" pitchFamily="34" charset="0"/>
              <a:buChar char="•"/>
            </a:pPr>
            <a:r>
              <a:rPr lang="zh-CN" altLang="en-US" sz="2400" dirty="0">
                <a:solidFill>
                  <a:srgbClr val="FF0000"/>
                </a:solidFill>
              </a:rPr>
              <a:t>数组、结构体和联合体作为形式参数</a:t>
            </a:r>
            <a:endParaRPr lang="en-US" altLang="zh-CN" sz="2400" dirty="0">
              <a:solidFill>
                <a:srgbClr val="00B0F0"/>
              </a:solidFill>
            </a:endParaRPr>
          </a:p>
          <a:p>
            <a:pPr marL="342900" indent="-342900">
              <a:spcBef>
                <a:spcPct val="0"/>
              </a:spcBef>
              <a:buFont typeface="Arial" panose="020B0604020202020204" pitchFamily="34" charset="0"/>
              <a:buChar char="•"/>
            </a:pPr>
            <a:r>
              <a:rPr lang="zh-CN" altLang="en-US" sz="2400" dirty="0">
                <a:solidFill>
                  <a:srgbClr val="FF0000"/>
                </a:solidFill>
              </a:rPr>
              <a:t>命名的任务和函数结尾</a:t>
            </a:r>
            <a:endParaRPr lang="en-US" altLang="zh-CN" sz="2400" dirty="0">
              <a:solidFill>
                <a:srgbClr val="FF0000"/>
              </a:solidFill>
            </a:endParaRPr>
          </a:p>
          <a:p>
            <a:pPr marL="342900" indent="-342900">
              <a:spcBef>
                <a:spcPct val="0"/>
              </a:spcBef>
              <a:buFont typeface="Arial" panose="020B0604020202020204" pitchFamily="34" charset="0"/>
              <a:buChar char="•"/>
            </a:pPr>
            <a:r>
              <a:rPr lang="zh-CN" altLang="en-US" sz="2400" dirty="0">
                <a:solidFill>
                  <a:srgbClr val="FF0000"/>
                </a:solidFill>
              </a:rPr>
              <a:t>空任务和空函数</a:t>
            </a:r>
            <a:endParaRPr lang="en-US" altLang="zh-CN" sz="2400" dirty="0">
              <a:solidFill>
                <a:srgbClr val="00B0F0"/>
              </a:solidFill>
            </a:endParaRPr>
          </a:p>
          <a:p>
            <a:pPr marL="342900" indent="-342900">
              <a:spcBef>
                <a:spcPct val="0"/>
              </a:spcBef>
              <a:buFont typeface="Arial" panose="020B0604020202020204" pitchFamily="34" charset="0"/>
              <a:buChar char="•"/>
            </a:pPr>
            <a:r>
              <a:rPr lang="zh-CN" altLang="en-US" sz="2400" dirty="0">
                <a:solidFill>
                  <a:srgbClr val="FF0000"/>
                </a:solidFill>
              </a:rPr>
              <a:t>在任务和函数结束前返回</a:t>
            </a:r>
            <a:endParaRPr lang="en-US" altLang="zh-CN" sz="2400" dirty="0">
              <a:solidFill>
                <a:srgbClr val="00B0F0"/>
              </a:solidFill>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3">
            <a:extLst>
              <a:ext uri="{FF2B5EF4-FFF2-40B4-BE49-F238E27FC236}">
                <a16:creationId xmlns:a16="http://schemas.microsoft.com/office/drawing/2014/main" id="{FA6B2B67-D2C4-4428-81BC-ED598918FC2F}"/>
              </a:ext>
            </a:extLst>
          </p:cNvPr>
          <p:cNvSpPr txBox="1">
            <a:spLocks noChangeArrowheads="1"/>
          </p:cNvSpPr>
          <p:nvPr/>
        </p:nvSpPr>
        <p:spPr bwMode="auto">
          <a:xfrm>
            <a:off x="221674" y="1196975"/>
            <a:ext cx="1178560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400" dirty="0">
                <a:solidFill>
                  <a:srgbClr val="FF0000"/>
                </a:solidFill>
              </a:rPr>
              <a:t>void</a:t>
            </a:r>
            <a:r>
              <a:rPr lang="zh-CN" altLang="en-US" sz="2400" dirty="0">
                <a:solidFill>
                  <a:srgbClr val="FF0000"/>
                </a:solidFill>
              </a:rPr>
              <a:t>类型函数</a:t>
            </a:r>
            <a:r>
              <a:rPr lang="zh-CN" altLang="en-US" sz="2400" dirty="0">
                <a:solidFill>
                  <a:srgbClr val="0000FF"/>
                </a:solidFill>
              </a:rPr>
              <a:t>：</a:t>
            </a:r>
            <a:r>
              <a:rPr lang="en-US" altLang="zh-CN" sz="2400" dirty="0">
                <a:solidFill>
                  <a:srgbClr val="0000FF"/>
                </a:solidFill>
              </a:rPr>
              <a:t>void</a:t>
            </a:r>
            <a:r>
              <a:rPr lang="zh-CN" altLang="en-US" sz="2400" dirty="0">
                <a:solidFill>
                  <a:srgbClr val="0000FF"/>
                </a:solidFill>
              </a:rPr>
              <a:t>函数无返回值；与通常函数语法和语义限制一样，如不能包含任何类型的延迟或事件控制，也不能使用非阻塞赋值语句；</a:t>
            </a:r>
            <a:r>
              <a:rPr lang="en-US" altLang="zh-CN" sz="2400" dirty="0">
                <a:solidFill>
                  <a:srgbClr val="0000FF"/>
                </a:solidFill>
              </a:rPr>
              <a:t>void</a:t>
            </a:r>
            <a:r>
              <a:rPr lang="zh-CN" altLang="en-US" sz="2400" dirty="0">
                <a:solidFill>
                  <a:srgbClr val="0000FF"/>
                </a:solidFill>
              </a:rPr>
              <a:t>函数可以象任务一样被调用；</a:t>
            </a:r>
            <a:r>
              <a:rPr lang="en-US" altLang="zh-CN" sz="2400" dirty="0">
                <a:solidFill>
                  <a:srgbClr val="0000FF"/>
                </a:solidFill>
              </a:rPr>
              <a:t>void</a:t>
            </a:r>
            <a:r>
              <a:rPr lang="zh-CN" altLang="en-US" sz="2400" dirty="0">
                <a:solidFill>
                  <a:srgbClr val="0000FF"/>
                </a:solidFill>
              </a:rPr>
              <a:t>函数可以有</a:t>
            </a:r>
            <a:r>
              <a:rPr lang="en-US" altLang="zh-CN" sz="2400" dirty="0">
                <a:solidFill>
                  <a:srgbClr val="0000FF"/>
                </a:solidFill>
              </a:rPr>
              <a:t>output</a:t>
            </a:r>
            <a:r>
              <a:rPr lang="zh-CN" altLang="en-US" sz="2400" dirty="0">
                <a:solidFill>
                  <a:srgbClr val="0000FF"/>
                </a:solidFill>
              </a:rPr>
              <a:t>和</a:t>
            </a:r>
            <a:r>
              <a:rPr lang="en-US" altLang="zh-CN" sz="2400" dirty="0" err="1">
                <a:solidFill>
                  <a:srgbClr val="0000FF"/>
                </a:solidFill>
              </a:rPr>
              <a:t>inout</a:t>
            </a:r>
            <a:r>
              <a:rPr lang="zh-CN" altLang="en-US" sz="2400" dirty="0">
                <a:solidFill>
                  <a:srgbClr val="0000FF"/>
                </a:solidFill>
              </a:rPr>
              <a:t>的形式参数；</a:t>
            </a:r>
            <a:r>
              <a:rPr lang="en-US" altLang="zh-CN" sz="2400" dirty="0">
                <a:solidFill>
                  <a:srgbClr val="0000FF"/>
                </a:solidFill>
              </a:rPr>
              <a:t>void</a:t>
            </a:r>
            <a:r>
              <a:rPr lang="zh-CN" altLang="en-US" sz="2400" dirty="0">
                <a:solidFill>
                  <a:srgbClr val="0000FF"/>
                </a:solidFill>
              </a:rPr>
              <a:t>函数克服了函数不能调用任务的缺陷。</a:t>
            </a:r>
          </a:p>
          <a:p>
            <a:pPr>
              <a:spcBef>
                <a:spcPct val="0"/>
              </a:spcBef>
            </a:pPr>
            <a:r>
              <a:rPr lang="en-US" altLang="zh-CN" sz="2400" dirty="0">
                <a:solidFill>
                  <a:srgbClr val="0000FF"/>
                </a:solidFill>
              </a:rPr>
              <a:t>typedef struct {</a:t>
            </a:r>
          </a:p>
          <a:p>
            <a:pPr>
              <a:spcBef>
                <a:spcPct val="0"/>
              </a:spcBef>
            </a:pPr>
            <a:r>
              <a:rPr lang="en-US" altLang="zh-CN" sz="2400" dirty="0">
                <a:solidFill>
                  <a:srgbClr val="0000FF"/>
                </a:solidFill>
              </a:rPr>
              <a:t>    logic valid;</a:t>
            </a:r>
          </a:p>
          <a:p>
            <a:pPr>
              <a:spcBef>
                <a:spcPct val="0"/>
              </a:spcBef>
            </a:pPr>
            <a:r>
              <a:rPr lang="en-US" altLang="zh-CN" sz="2400" dirty="0">
                <a:solidFill>
                  <a:srgbClr val="0000FF"/>
                </a:solidFill>
              </a:rPr>
              <a:t>    logic [7 : 0] check;</a:t>
            </a:r>
          </a:p>
          <a:p>
            <a:pPr>
              <a:spcBef>
                <a:spcPct val="0"/>
              </a:spcBef>
            </a:pPr>
            <a:r>
              <a:rPr lang="en-US" altLang="zh-CN" sz="2400" dirty="0">
                <a:solidFill>
                  <a:srgbClr val="0000FF"/>
                </a:solidFill>
              </a:rPr>
              <a:t>    logic [63 : 0] data;</a:t>
            </a:r>
          </a:p>
          <a:p>
            <a:pPr>
              <a:spcBef>
                <a:spcPct val="0"/>
              </a:spcBef>
            </a:pPr>
            <a:r>
              <a:rPr lang="en-US" altLang="zh-CN" sz="2400" dirty="0">
                <a:solidFill>
                  <a:srgbClr val="0000FF"/>
                </a:solidFill>
              </a:rPr>
              <a:t>} </a:t>
            </a:r>
            <a:r>
              <a:rPr lang="en-US" altLang="zh-CN" sz="2400" dirty="0" err="1">
                <a:solidFill>
                  <a:srgbClr val="0000FF"/>
                </a:solidFill>
              </a:rPr>
              <a:t>packet_t</a:t>
            </a:r>
            <a:r>
              <a:rPr lang="en-US" altLang="zh-CN" sz="2400" dirty="0">
                <a:solidFill>
                  <a:srgbClr val="0000FF"/>
                </a:solidFill>
              </a:rPr>
              <a:t>;</a:t>
            </a:r>
          </a:p>
          <a:p>
            <a:pPr>
              <a:spcBef>
                <a:spcPct val="0"/>
              </a:spcBef>
            </a:pPr>
            <a:r>
              <a:rPr lang="en-US" altLang="zh-CN" sz="2400" dirty="0">
                <a:solidFill>
                  <a:srgbClr val="0000FF"/>
                </a:solidFill>
              </a:rPr>
              <a:t>function void </a:t>
            </a:r>
            <a:r>
              <a:rPr lang="en-US" altLang="zh-CN" sz="2400" dirty="0" err="1">
                <a:solidFill>
                  <a:srgbClr val="0000FF"/>
                </a:solidFill>
              </a:rPr>
              <a:t>fill_packet</a:t>
            </a:r>
            <a:r>
              <a:rPr lang="en-US" altLang="zh-CN" sz="2400" dirty="0">
                <a:solidFill>
                  <a:srgbClr val="0000FF"/>
                </a:solidFill>
              </a:rPr>
              <a:t> ( input logic [63 : 0] </a:t>
            </a:r>
            <a:r>
              <a:rPr lang="en-US" altLang="zh-CN" sz="2400" dirty="0" err="1">
                <a:solidFill>
                  <a:srgbClr val="0000FF"/>
                </a:solidFill>
              </a:rPr>
              <a:t>data_in</a:t>
            </a:r>
            <a:r>
              <a:rPr lang="en-US" altLang="zh-CN" sz="2400" dirty="0">
                <a:solidFill>
                  <a:srgbClr val="0000FF"/>
                </a:solidFill>
              </a:rPr>
              <a:t>, output </a:t>
            </a:r>
            <a:r>
              <a:rPr lang="en-US" altLang="zh-CN" sz="2400" dirty="0" err="1">
                <a:solidFill>
                  <a:srgbClr val="0000FF"/>
                </a:solidFill>
              </a:rPr>
              <a:t>packet_t</a:t>
            </a:r>
            <a:r>
              <a:rPr lang="en-US" altLang="zh-CN" sz="2400" dirty="0">
                <a:solidFill>
                  <a:srgbClr val="0000FF"/>
                </a:solidFill>
              </a:rPr>
              <a:t> </a:t>
            </a:r>
            <a:r>
              <a:rPr lang="en-US" altLang="zh-CN" sz="2400" dirty="0" err="1">
                <a:solidFill>
                  <a:srgbClr val="0000FF"/>
                </a:solidFill>
              </a:rPr>
              <a:t>data_out</a:t>
            </a:r>
            <a:r>
              <a:rPr lang="en-US" altLang="zh-CN" sz="2400" dirty="0">
                <a:solidFill>
                  <a:srgbClr val="0000FF"/>
                </a:solidFill>
              </a:rPr>
              <a:t>);</a:t>
            </a:r>
          </a:p>
          <a:p>
            <a:pPr>
              <a:spcBef>
                <a:spcPct val="0"/>
              </a:spcBef>
            </a:pPr>
            <a:r>
              <a:rPr lang="en-US" altLang="zh-CN" sz="2400" dirty="0">
                <a:solidFill>
                  <a:srgbClr val="0000FF"/>
                </a:solidFill>
              </a:rPr>
              <a:t>    </a:t>
            </a:r>
            <a:r>
              <a:rPr lang="en-US" altLang="zh-CN" sz="2400" dirty="0" err="1">
                <a:solidFill>
                  <a:srgbClr val="0000FF"/>
                </a:solidFill>
              </a:rPr>
              <a:t>data_out.data</a:t>
            </a:r>
            <a:r>
              <a:rPr lang="en-US" altLang="zh-CN" sz="2400" dirty="0">
                <a:solidFill>
                  <a:srgbClr val="0000FF"/>
                </a:solidFill>
              </a:rPr>
              <a:t> = </a:t>
            </a:r>
            <a:r>
              <a:rPr lang="en-US" altLang="zh-CN" sz="2400" dirty="0" err="1">
                <a:solidFill>
                  <a:srgbClr val="0000FF"/>
                </a:solidFill>
              </a:rPr>
              <a:t>data_in</a:t>
            </a:r>
            <a:r>
              <a:rPr lang="en-US" altLang="zh-CN" sz="2400" dirty="0">
                <a:solidFill>
                  <a:srgbClr val="0000FF"/>
                </a:solidFill>
              </a:rPr>
              <a:t>;</a:t>
            </a:r>
          </a:p>
          <a:p>
            <a:pPr>
              <a:spcBef>
                <a:spcPct val="0"/>
              </a:spcBef>
            </a:pPr>
            <a:r>
              <a:rPr lang="en-US" altLang="zh-CN" sz="2400" dirty="0">
                <a:solidFill>
                  <a:srgbClr val="0000FF"/>
                </a:solidFill>
              </a:rPr>
              <a:t>    foreach (</a:t>
            </a:r>
            <a:r>
              <a:rPr lang="en-US" altLang="zh-CN" sz="2400" dirty="0" err="1">
                <a:solidFill>
                  <a:srgbClr val="0000FF"/>
                </a:solidFill>
              </a:rPr>
              <a:t>data_out.check</a:t>
            </a:r>
            <a:r>
              <a:rPr lang="en-US" altLang="zh-CN" sz="2400" dirty="0">
                <a:solidFill>
                  <a:srgbClr val="0000FF"/>
                </a:solidFill>
              </a:rPr>
              <a:t>[</a:t>
            </a:r>
            <a:r>
              <a:rPr lang="en-US" altLang="zh-CN" sz="2400" dirty="0" err="1">
                <a:solidFill>
                  <a:srgbClr val="0000FF"/>
                </a:solidFill>
              </a:rPr>
              <a:t>i</a:t>
            </a:r>
            <a:r>
              <a:rPr lang="en-US" altLang="zh-CN" sz="2400" dirty="0">
                <a:solidFill>
                  <a:srgbClr val="0000FF"/>
                </a:solidFill>
              </a:rPr>
              <a:t>])</a:t>
            </a:r>
          </a:p>
          <a:p>
            <a:pPr>
              <a:spcBef>
                <a:spcPct val="0"/>
              </a:spcBef>
            </a:pPr>
            <a:r>
              <a:rPr lang="en-US" altLang="zh-CN" sz="2400" dirty="0">
                <a:solidFill>
                  <a:srgbClr val="FF0000"/>
                </a:solidFill>
              </a:rPr>
              <a:t>        </a:t>
            </a:r>
            <a:r>
              <a:rPr lang="en-US" altLang="zh-CN" sz="2400" dirty="0" err="1">
                <a:solidFill>
                  <a:srgbClr val="FF0000"/>
                </a:solidFill>
              </a:rPr>
              <a:t>data_out.check</a:t>
            </a:r>
            <a:r>
              <a:rPr lang="en-US" altLang="zh-CN" sz="2400" dirty="0">
                <a:solidFill>
                  <a:srgbClr val="FF0000"/>
                </a:solidFill>
              </a:rPr>
              <a:t>[</a:t>
            </a:r>
            <a:r>
              <a:rPr lang="en-US" altLang="zh-CN" sz="2400" dirty="0" err="1">
                <a:solidFill>
                  <a:srgbClr val="FF0000"/>
                </a:solidFill>
              </a:rPr>
              <a:t>i</a:t>
            </a:r>
            <a:r>
              <a:rPr lang="en-US" altLang="zh-CN" sz="2400" dirty="0">
                <a:solidFill>
                  <a:srgbClr val="FF0000"/>
                </a:solidFill>
              </a:rPr>
              <a:t>] = ^</a:t>
            </a:r>
            <a:r>
              <a:rPr lang="en-US" altLang="zh-CN" sz="2400" dirty="0" err="1">
                <a:solidFill>
                  <a:srgbClr val="FF0000"/>
                </a:solidFill>
              </a:rPr>
              <a:t>data_in</a:t>
            </a:r>
            <a:r>
              <a:rPr lang="en-US" altLang="zh-CN" sz="2400" dirty="0">
                <a:solidFill>
                  <a:srgbClr val="FF0000"/>
                </a:solidFill>
              </a:rPr>
              <a:t>[(8 * </a:t>
            </a:r>
            <a:r>
              <a:rPr lang="en-US" altLang="zh-CN" sz="2400" dirty="0" err="1">
                <a:solidFill>
                  <a:srgbClr val="FF0000"/>
                </a:solidFill>
              </a:rPr>
              <a:t>i</a:t>
            </a:r>
            <a:r>
              <a:rPr lang="en-US" altLang="zh-CN" sz="2400" dirty="0">
                <a:solidFill>
                  <a:srgbClr val="FF0000"/>
                </a:solidFill>
              </a:rPr>
              <a:t>) + : 8];</a:t>
            </a:r>
          </a:p>
          <a:p>
            <a:pPr>
              <a:spcBef>
                <a:spcPct val="0"/>
              </a:spcBef>
            </a:pPr>
            <a:r>
              <a:rPr lang="en-US" altLang="zh-CN" sz="2400" dirty="0">
                <a:solidFill>
                  <a:srgbClr val="0000FF"/>
                </a:solidFill>
              </a:rPr>
              <a:t>    </a:t>
            </a:r>
            <a:r>
              <a:rPr lang="en-US" altLang="zh-CN" sz="2400" dirty="0" err="1">
                <a:solidFill>
                  <a:srgbClr val="0000FF"/>
                </a:solidFill>
              </a:rPr>
              <a:t>data_out.valid</a:t>
            </a:r>
            <a:r>
              <a:rPr lang="en-US" altLang="zh-CN" sz="2400" dirty="0">
                <a:solidFill>
                  <a:srgbClr val="0000FF"/>
                </a:solidFill>
              </a:rPr>
              <a:t> = 1;</a:t>
            </a:r>
          </a:p>
          <a:p>
            <a:pPr>
              <a:spcBef>
                <a:spcPct val="0"/>
              </a:spcBef>
            </a:pPr>
            <a:r>
              <a:rPr lang="en-US" altLang="zh-CN" sz="2400" dirty="0" err="1">
                <a:solidFill>
                  <a:srgbClr val="0000FF"/>
                </a:solidFill>
              </a:rPr>
              <a:t>endfunction</a:t>
            </a:r>
            <a:endParaRPr lang="en-US" altLang="zh-CN" sz="2400" dirty="0">
              <a:solidFill>
                <a:srgbClr val="0000FF"/>
              </a:solidFill>
            </a:endParaRPr>
          </a:p>
        </p:txBody>
      </p:sp>
      <p:sp>
        <p:nvSpPr>
          <p:cNvPr id="4" name="Text Box 2">
            <a:extLst>
              <a:ext uri="{FF2B5EF4-FFF2-40B4-BE49-F238E27FC236}">
                <a16:creationId xmlns:a16="http://schemas.microsoft.com/office/drawing/2014/main" id="{A3F1D324-20B3-4F29-A6DC-F476DE7994F1}"/>
              </a:ext>
            </a:extLst>
          </p:cNvPr>
          <p:cNvSpPr txBox="1">
            <a:spLocks noChangeArrowheads="1"/>
          </p:cNvSpPr>
          <p:nvPr/>
        </p:nvSpPr>
        <p:spPr bwMode="auto">
          <a:xfrm>
            <a:off x="609600" y="79087"/>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a:extLst>
              <a:ext uri="{FF2B5EF4-FFF2-40B4-BE49-F238E27FC236}">
                <a16:creationId xmlns:a16="http://schemas.microsoft.com/office/drawing/2014/main" id="{CB604C61-9D17-443C-BFDC-BE27673B9A33}"/>
              </a:ext>
            </a:extLst>
          </p:cNvPr>
          <p:cNvSpPr txBox="1">
            <a:spLocks noChangeArrowheads="1"/>
          </p:cNvSpPr>
          <p:nvPr/>
        </p:nvSpPr>
        <p:spPr bwMode="auto">
          <a:xfrm>
            <a:off x="387928" y="1196976"/>
            <a:ext cx="9740324"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dirty="0">
                <a:solidFill>
                  <a:srgbClr val="FF0000"/>
                </a:solidFill>
              </a:rPr>
              <a:t>增强型函数形式参数</a:t>
            </a:r>
            <a:r>
              <a:rPr lang="zh-CN" altLang="en-US" dirty="0">
                <a:solidFill>
                  <a:srgbClr val="0000FF"/>
                </a:solidFill>
              </a:rPr>
              <a:t>：</a:t>
            </a:r>
            <a:r>
              <a:rPr lang="en-US" altLang="zh-CN" dirty="0">
                <a:solidFill>
                  <a:srgbClr val="0000FF"/>
                </a:solidFill>
              </a:rPr>
              <a:t>Verilog</a:t>
            </a:r>
            <a:r>
              <a:rPr lang="zh-CN" altLang="en-US" dirty="0">
                <a:solidFill>
                  <a:srgbClr val="0000FF"/>
                </a:solidFill>
              </a:rPr>
              <a:t>的</a:t>
            </a:r>
            <a:r>
              <a:rPr lang="zh-CN" altLang="en-US" sz="2400" dirty="0">
                <a:solidFill>
                  <a:srgbClr val="0000FF"/>
                </a:solidFill>
              </a:rPr>
              <a:t>函数</a:t>
            </a:r>
            <a:r>
              <a:rPr lang="zh-CN" altLang="en-US" dirty="0">
                <a:solidFill>
                  <a:srgbClr val="0000FF"/>
                </a:solidFill>
              </a:rPr>
              <a:t>只允许有</a:t>
            </a:r>
            <a:r>
              <a:rPr lang="en-US" altLang="zh-CN" dirty="0">
                <a:solidFill>
                  <a:srgbClr val="0000FF"/>
                </a:solidFill>
              </a:rPr>
              <a:t>input</a:t>
            </a:r>
            <a:r>
              <a:rPr lang="zh-CN" altLang="en-US" dirty="0">
                <a:solidFill>
                  <a:srgbClr val="0000FF"/>
                </a:solidFill>
              </a:rPr>
              <a:t>，唯一的输出就是它的返回值，</a:t>
            </a:r>
            <a:r>
              <a:rPr lang="en-US" altLang="zh-CN" dirty="0" err="1">
                <a:solidFill>
                  <a:srgbClr val="0000FF"/>
                </a:solidFill>
              </a:rPr>
              <a:t>SystemVerilog</a:t>
            </a:r>
            <a:r>
              <a:rPr lang="zh-CN" altLang="en-US" dirty="0">
                <a:solidFill>
                  <a:srgbClr val="0000FF"/>
                </a:solidFill>
              </a:rPr>
              <a:t>的函数可以象任务一样声明</a:t>
            </a:r>
            <a:r>
              <a:rPr lang="en-US" altLang="zh-CN" dirty="0">
                <a:solidFill>
                  <a:srgbClr val="0000FF"/>
                </a:solidFill>
              </a:rPr>
              <a:t>input</a:t>
            </a:r>
            <a:r>
              <a:rPr lang="zh-CN" altLang="en-US" dirty="0">
                <a:solidFill>
                  <a:srgbClr val="0000FF"/>
                </a:solidFill>
              </a:rPr>
              <a:t>、</a:t>
            </a:r>
            <a:r>
              <a:rPr lang="en-US" altLang="zh-CN" dirty="0">
                <a:solidFill>
                  <a:srgbClr val="0000FF"/>
                </a:solidFill>
              </a:rPr>
              <a:t>output</a:t>
            </a:r>
            <a:r>
              <a:rPr lang="zh-CN" altLang="en-US" dirty="0">
                <a:solidFill>
                  <a:srgbClr val="0000FF"/>
                </a:solidFill>
              </a:rPr>
              <a:t>和</a:t>
            </a:r>
            <a:r>
              <a:rPr lang="en-US" altLang="zh-CN" dirty="0" err="1">
                <a:solidFill>
                  <a:srgbClr val="0000FF"/>
                </a:solidFill>
              </a:rPr>
              <a:t>inout</a:t>
            </a:r>
            <a:r>
              <a:rPr lang="zh-CN" altLang="en-US" dirty="0">
                <a:solidFill>
                  <a:srgbClr val="0000FF"/>
                </a:solidFill>
              </a:rPr>
              <a:t>类型的形式参数，扩展了函数的建模范围。</a:t>
            </a:r>
          </a:p>
          <a:p>
            <a:pPr>
              <a:spcBef>
                <a:spcPct val="0"/>
              </a:spcBef>
            </a:pPr>
            <a:endParaRPr lang="zh-CN" altLang="en-US" dirty="0">
              <a:solidFill>
                <a:srgbClr val="0000FF"/>
              </a:solidFill>
            </a:endParaRPr>
          </a:p>
          <a:p>
            <a:pPr>
              <a:spcBef>
                <a:spcPct val="0"/>
              </a:spcBef>
            </a:pPr>
            <a:r>
              <a:rPr lang="zh-CN" altLang="en-US" dirty="0">
                <a:solidFill>
                  <a:srgbClr val="000099"/>
                </a:solidFill>
              </a:rPr>
              <a:t>对带输出的函数调用限制：</a:t>
            </a:r>
            <a:r>
              <a:rPr lang="zh-CN" altLang="en-US" dirty="0">
                <a:solidFill>
                  <a:srgbClr val="0000FF"/>
                </a:solidFill>
              </a:rPr>
              <a:t>不能在以下情况中调用</a:t>
            </a:r>
            <a:r>
              <a:rPr lang="en-US" altLang="zh-CN" dirty="0">
                <a:solidFill>
                  <a:srgbClr val="0000FF"/>
                </a:solidFill>
              </a:rPr>
              <a:t>(</a:t>
            </a:r>
            <a:r>
              <a:rPr lang="zh-CN" altLang="en-US" dirty="0">
                <a:solidFill>
                  <a:srgbClr val="0000FF"/>
                </a:solidFill>
              </a:rPr>
              <a:t>从综合角度考虑</a:t>
            </a:r>
            <a:r>
              <a:rPr lang="en-US" altLang="zh-CN" dirty="0">
                <a:solidFill>
                  <a:srgbClr val="0000FF"/>
                </a:solidFill>
              </a:rPr>
              <a:t>)</a:t>
            </a:r>
          </a:p>
          <a:p>
            <a:pPr>
              <a:spcBef>
                <a:spcPct val="0"/>
              </a:spcBef>
              <a:buFont typeface="Wingdings" panose="05000000000000000000" pitchFamily="2" charset="2"/>
              <a:buChar char="Ø"/>
            </a:pPr>
            <a:r>
              <a:rPr lang="en-US" altLang="zh-CN" dirty="0">
                <a:solidFill>
                  <a:srgbClr val="0000FF"/>
                </a:solidFill>
              </a:rPr>
              <a:t> </a:t>
            </a:r>
            <a:r>
              <a:rPr lang="zh-CN" altLang="en-US" dirty="0">
                <a:solidFill>
                  <a:srgbClr val="0000FF"/>
                </a:solidFill>
              </a:rPr>
              <a:t>事件表达式</a:t>
            </a:r>
          </a:p>
          <a:p>
            <a:pPr>
              <a:spcBef>
                <a:spcPct val="0"/>
              </a:spcBef>
              <a:buFont typeface="Wingdings" panose="05000000000000000000" pitchFamily="2" charset="2"/>
              <a:buChar char="Ø"/>
            </a:pPr>
            <a:r>
              <a:rPr lang="zh-CN" altLang="en-US" dirty="0">
                <a:solidFill>
                  <a:srgbClr val="0000FF"/>
                </a:solidFill>
              </a:rPr>
              <a:t> 使用过程持续赋值的表达式</a:t>
            </a:r>
          </a:p>
          <a:p>
            <a:pPr>
              <a:spcBef>
                <a:spcPct val="0"/>
              </a:spcBef>
              <a:buFont typeface="Wingdings" panose="05000000000000000000" pitchFamily="2" charset="2"/>
              <a:buChar char="Ø"/>
            </a:pPr>
            <a:r>
              <a:rPr lang="zh-CN" altLang="en-US" dirty="0">
                <a:solidFill>
                  <a:srgbClr val="0000FF"/>
                </a:solidFill>
              </a:rPr>
              <a:t> 不在过程语句内的表达式   </a:t>
            </a:r>
            <a:r>
              <a:rPr lang="en-US" altLang="zh-CN" dirty="0">
                <a:solidFill>
                  <a:srgbClr val="990000"/>
                </a:solidFill>
              </a:rPr>
              <a:t>(My view is using void function)^--^</a:t>
            </a:r>
          </a:p>
          <a:p>
            <a:pPr>
              <a:spcBef>
                <a:spcPct val="0"/>
              </a:spcBef>
              <a:buFont typeface="Wingdings" panose="05000000000000000000" pitchFamily="2" charset="2"/>
              <a:buChar char="Ø"/>
            </a:pPr>
            <a:endParaRPr lang="en-US" altLang="zh-CN" dirty="0">
              <a:solidFill>
                <a:srgbClr val="990000"/>
              </a:solidFill>
            </a:endParaRPr>
          </a:p>
          <a:p>
            <a:pPr>
              <a:spcBef>
                <a:spcPct val="0"/>
              </a:spcBef>
              <a:buFont typeface="Wingdings" panose="05000000000000000000" pitchFamily="2" charset="2"/>
              <a:buNone/>
            </a:pPr>
            <a:r>
              <a:rPr lang="zh-CN" altLang="en-US" dirty="0">
                <a:solidFill>
                  <a:srgbClr val="FF0000"/>
                </a:solidFill>
              </a:rPr>
              <a:t>无形式参数的函数</a:t>
            </a:r>
            <a:r>
              <a:rPr lang="zh-CN" altLang="en-US" dirty="0">
                <a:solidFill>
                  <a:srgbClr val="0000FF"/>
                </a:solidFill>
              </a:rPr>
              <a:t>：</a:t>
            </a:r>
            <a:r>
              <a:rPr lang="en-US" altLang="zh-CN" dirty="0">
                <a:solidFill>
                  <a:srgbClr val="0000FF"/>
                </a:solidFill>
              </a:rPr>
              <a:t>Verilog</a:t>
            </a:r>
            <a:r>
              <a:rPr lang="zh-CN" altLang="en-US" dirty="0">
                <a:solidFill>
                  <a:srgbClr val="0000FF"/>
                </a:solidFill>
              </a:rPr>
              <a:t>要求函数至少有一个输入形式参数，</a:t>
            </a:r>
            <a:r>
              <a:rPr lang="en-US" altLang="zh-CN" dirty="0" err="1">
                <a:solidFill>
                  <a:srgbClr val="0000FF"/>
                </a:solidFill>
              </a:rPr>
              <a:t>SystemVerilog</a:t>
            </a:r>
            <a:r>
              <a:rPr lang="zh-CN" altLang="en-US" dirty="0">
                <a:solidFill>
                  <a:srgbClr val="0000FF"/>
                </a:solidFill>
              </a:rPr>
              <a:t>允许函数没有形式参数</a:t>
            </a:r>
          </a:p>
          <a:p>
            <a:pPr>
              <a:spcBef>
                <a:spcPct val="0"/>
              </a:spcBef>
              <a:buFont typeface="Wingdings" panose="05000000000000000000" pitchFamily="2" charset="2"/>
              <a:buNone/>
            </a:pPr>
            <a:endParaRPr lang="zh-CN" altLang="en-US" dirty="0">
              <a:solidFill>
                <a:srgbClr val="0000FF"/>
              </a:solidFill>
            </a:endParaRPr>
          </a:p>
          <a:p>
            <a:pPr>
              <a:spcBef>
                <a:spcPct val="0"/>
              </a:spcBef>
              <a:buFont typeface="Wingdings" panose="05000000000000000000" pitchFamily="2" charset="2"/>
              <a:buNone/>
            </a:pPr>
            <a:r>
              <a:rPr lang="en-US" altLang="zh-CN" dirty="0">
                <a:solidFill>
                  <a:srgbClr val="0000FF"/>
                </a:solidFill>
              </a:rPr>
              <a:t>function [63 : 0] add ( input [63 : 0] a, b, output overflow);</a:t>
            </a:r>
          </a:p>
          <a:p>
            <a:pPr>
              <a:spcBef>
                <a:spcPct val="0"/>
              </a:spcBef>
              <a:buFont typeface="Wingdings" panose="05000000000000000000" pitchFamily="2" charset="2"/>
              <a:buNone/>
            </a:pPr>
            <a:r>
              <a:rPr lang="en-US" altLang="zh-CN" dirty="0">
                <a:solidFill>
                  <a:srgbClr val="0000FF"/>
                </a:solidFill>
              </a:rPr>
              <a:t>    {overflow, add} = a + b;</a:t>
            </a:r>
          </a:p>
          <a:p>
            <a:pPr>
              <a:spcBef>
                <a:spcPct val="0"/>
              </a:spcBef>
              <a:buFont typeface="Wingdings" panose="05000000000000000000" pitchFamily="2" charset="2"/>
              <a:buNone/>
            </a:pPr>
            <a:r>
              <a:rPr lang="en-US" altLang="zh-CN" dirty="0" err="1">
                <a:solidFill>
                  <a:srgbClr val="0000FF"/>
                </a:solidFill>
              </a:rPr>
              <a:t>endfunction</a:t>
            </a:r>
            <a:endParaRPr lang="en-US" altLang="zh-CN" dirty="0">
              <a:solidFill>
                <a:srgbClr val="0000FF"/>
              </a:solidFill>
            </a:endParaRPr>
          </a:p>
        </p:txBody>
      </p:sp>
      <p:sp>
        <p:nvSpPr>
          <p:cNvPr id="4" name="Text Box 2">
            <a:extLst>
              <a:ext uri="{FF2B5EF4-FFF2-40B4-BE49-F238E27FC236}">
                <a16:creationId xmlns:a16="http://schemas.microsoft.com/office/drawing/2014/main" id="{9116D3D6-9DB3-4536-B6C7-0AB78999CEF4}"/>
              </a:ext>
            </a:extLst>
          </p:cNvPr>
          <p:cNvSpPr txBox="1">
            <a:spLocks noChangeArrowheads="1"/>
          </p:cNvSpPr>
          <p:nvPr/>
        </p:nvSpPr>
        <p:spPr bwMode="auto">
          <a:xfrm>
            <a:off x="623744" y="226868"/>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3">
            <a:extLst>
              <a:ext uri="{FF2B5EF4-FFF2-40B4-BE49-F238E27FC236}">
                <a16:creationId xmlns:a16="http://schemas.microsoft.com/office/drawing/2014/main" id="{BF7CFF66-4B3C-48F2-9E4D-FAC064C0F82E}"/>
              </a:ext>
            </a:extLst>
          </p:cNvPr>
          <p:cNvSpPr txBox="1">
            <a:spLocks noChangeArrowheads="1"/>
          </p:cNvSpPr>
          <p:nvPr/>
        </p:nvSpPr>
        <p:spPr bwMode="auto">
          <a:xfrm>
            <a:off x="434109" y="1196976"/>
            <a:ext cx="11296073"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FF0000"/>
                </a:solidFill>
              </a:rPr>
              <a:t>数组、结构体和联合体作为形式参数</a:t>
            </a:r>
            <a:r>
              <a:rPr lang="zh-CN" altLang="en-US" sz="2400" dirty="0">
                <a:solidFill>
                  <a:srgbClr val="0000FF"/>
                </a:solidFill>
              </a:rPr>
              <a:t>：</a:t>
            </a:r>
            <a:r>
              <a:rPr lang="en-US" altLang="zh-CN" sz="2400" dirty="0" err="1">
                <a:solidFill>
                  <a:srgbClr val="0000FF"/>
                </a:solidFill>
              </a:rPr>
              <a:t>SystemVerilog</a:t>
            </a:r>
            <a:r>
              <a:rPr lang="zh-CN" altLang="en-US" sz="2400" dirty="0">
                <a:solidFill>
                  <a:srgbClr val="0000FF"/>
                </a:solidFill>
              </a:rPr>
              <a:t>允许压缩或非压缩数组、结构体或联合体传递进</a:t>
            </a:r>
            <a:r>
              <a:rPr lang="en-US" altLang="zh-CN" sz="2400" dirty="0">
                <a:solidFill>
                  <a:srgbClr val="0000FF"/>
                </a:solidFill>
              </a:rPr>
              <a:t>/</a:t>
            </a:r>
            <a:r>
              <a:rPr lang="zh-CN" altLang="en-US" sz="2400" dirty="0">
                <a:solidFill>
                  <a:srgbClr val="0000FF"/>
                </a:solidFill>
              </a:rPr>
              <a:t>出任务和函数；对于结构体和联合体，形式参数必须定义为用户自定义类型。</a:t>
            </a:r>
          </a:p>
          <a:p>
            <a:pPr>
              <a:spcBef>
                <a:spcPct val="0"/>
              </a:spcBef>
            </a:pPr>
            <a:r>
              <a:rPr lang="en-US" altLang="zh-CN" sz="2400" dirty="0">
                <a:solidFill>
                  <a:srgbClr val="0000FF"/>
                </a:solidFill>
              </a:rPr>
              <a:t>typedef struct {</a:t>
            </a:r>
          </a:p>
          <a:p>
            <a:r>
              <a:rPr lang="en-US" altLang="zh-CN" sz="2400" dirty="0">
                <a:solidFill>
                  <a:srgbClr val="0000FF"/>
                </a:solidFill>
              </a:rPr>
              <a:t>    logic valid;</a:t>
            </a:r>
          </a:p>
          <a:p>
            <a:r>
              <a:rPr lang="en-US" altLang="zh-CN" sz="2400" dirty="0">
                <a:solidFill>
                  <a:srgbClr val="0000FF"/>
                </a:solidFill>
              </a:rPr>
              <a:t>    logic [7 : 0] check;</a:t>
            </a:r>
          </a:p>
          <a:p>
            <a:r>
              <a:rPr lang="en-US" altLang="zh-CN" sz="2400" dirty="0">
                <a:solidFill>
                  <a:srgbClr val="0000FF"/>
                </a:solidFill>
              </a:rPr>
              <a:t>    logic [63 : 0] data; } </a:t>
            </a:r>
            <a:r>
              <a:rPr lang="en-US" altLang="zh-CN" sz="2400" dirty="0" err="1">
                <a:solidFill>
                  <a:srgbClr val="0000FF"/>
                </a:solidFill>
              </a:rPr>
              <a:t>packet_t</a:t>
            </a:r>
            <a:r>
              <a:rPr lang="en-US" altLang="zh-CN" sz="2400" dirty="0">
                <a:solidFill>
                  <a:srgbClr val="0000FF"/>
                </a:solidFill>
              </a:rPr>
              <a:t>;</a:t>
            </a:r>
          </a:p>
          <a:p>
            <a:r>
              <a:rPr lang="en-US" altLang="zh-CN" sz="2400" dirty="0">
                <a:solidFill>
                  <a:srgbClr val="0000FF"/>
                </a:solidFill>
              </a:rPr>
              <a:t>function void </a:t>
            </a:r>
            <a:r>
              <a:rPr lang="en-US" altLang="zh-CN" sz="2400" dirty="0" err="1">
                <a:solidFill>
                  <a:srgbClr val="0000FF"/>
                </a:solidFill>
              </a:rPr>
              <a:t>fill_packet</a:t>
            </a:r>
            <a:r>
              <a:rPr lang="en-US" altLang="zh-CN" sz="2400" dirty="0">
                <a:solidFill>
                  <a:srgbClr val="0000FF"/>
                </a:solidFill>
              </a:rPr>
              <a:t> ( input </a:t>
            </a:r>
            <a:r>
              <a:rPr lang="en-US" altLang="zh-CN" sz="2400" dirty="0">
                <a:solidFill>
                  <a:srgbClr val="FF0000"/>
                </a:solidFill>
              </a:rPr>
              <a:t>logic [7 : 0] </a:t>
            </a:r>
            <a:r>
              <a:rPr lang="en-US" altLang="zh-CN" sz="2400" dirty="0" err="1">
                <a:solidFill>
                  <a:srgbClr val="FF0000"/>
                </a:solidFill>
              </a:rPr>
              <a:t>data_in</a:t>
            </a:r>
            <a:r>
              <a:rPr lang="en-US" altLang="zh-CN" sz="2400" dirty="0">
                <a:solidFill>
                  <a:srgbClr val="FF0000"/>
                </a:solidFill>
              </a:rPr>
              <a:t> [7 : 0],</a:t>
            </a:r>
          </a:p>
          <a:p>
            <a:r>
              <a:rPr lang="en-US" altLang="zh-CN" sz="2400" dirty="0">
                <a:solidFill>
                  <a:srgbClr val="0000FF"/>
                </a:solidFill>
              </a:rPr>
              <a:t>                                           output </a:t>
            </a:r>
            <a:r>
              <a:rPr lang="en-US" altLang="zh-CN" sz="2400" dirty="0" err="1">
                <a:solidFill>
                  <a:srgbClr val="FF0000"/>
                </a:solidFill>
              </a:rPr>
              <a:t>packet_t</a:t>
            </a:r>
            <a:r>
              <a:rPr lang="en-US" altLang="zh-CN" sz="2400" dirty="0">
                <a:solidFill>
                  <a:srgbClr val="FF0000"/>
                </a:solidFill>
              </a:rPr>
              <a:t> </a:t>
            </a:r>
            <a:r>
              <a:rPr lang="en-US" altLang="zh-CN" sz="2400" dirty="0" err="1">
                <a:solidFill>
                  <a:srgbClr val="FF0000"/>
                </a:solidFill>
              </a:rPr>
              <a:t>data_out</a:t>
            </a:r>
            <a:r>
              <a:rPr lang="en-US" altLang="zh-CN" sz="2400" dirty="0">
                <a:solidFill>
                  <a:srgbClr val="0000FF"/>
                </a:solidFill>
              </a:rPr>
              <a:t>);</a:t>
            </a:r>
          </a:p>
          <a:p>
            <a:r>
              <a:rPr lang="en-US" altLang="zh-CN" sz="2400" dirty="0">
                <a:solidFill>
                  <a:srgbClr val="0000FF"/>
                </a:solidFill>
              </a:rPr>
              <a:t>    for (int </a:t>
            </a:r>
            <a:r>
              <a:rPr lang="en-US" altLang="zh-CN" sz="2400" dirty="0" err="1">
                <a:solidFill>
                  <a:srgbClr val="0000FF"/>
                </a:solidFill>
              </a:rPr>
              <a:t>i</a:t>
            </a:r>
            <a:r>
              <a:rPr lang="en-US" altLang="zh-CN" sz="2400" dirty="0">
                <a:solidFill>
                  <a:srgbClr val="0000FF"/>
                </a:solidFill>
              </a:rPr>
              <a:t> = 0; </a:t>
            </a:r>
            <a:r>
              <a:rPr lang="en-US" altLang="zh-CN" sz="2400" dirty="0" err="1">
                <a:solidFill>
                  <a:srgbClr val="0000FF"/>
                </a:solidFill>
              </a:rPr>
              <a:t>i</a:t>
            </a:r>
            <a:r>
              <a:rPr lang="en-US" altLang="zh-CN" sz="2400" dirty="0">
                <a:solidFill>
                  <a:srgbClr val="0000FF"/>
                </a:solidFill>
              </a:rPr>
              <a:t> &lt;= 7; </a:t>
            </a:r>
            <a:r>
              <a:rPr lang="en-US" altLang="zh-CN" sz="2400" dirty="0" err="1">
                <a:solidFill>
                  <a:srgbClr val="0000FF"/>
                </a:solidFill>
              </a:rPr>
              <a:t>i</a:t>
            </a:r>
            <a:r>
              <a:rPr lang="en-US" altLang="zh-CN" sz="2400" dirty="0">
                <a:solidFill>
                  <a:srgbClr val="0000FF"/>
                </a:solidFill>
              </a:rPr>
              <a:t> ++) begin</a:t>
            </a:r>
          </a:p>
          <a:p>
            <a:r>
              <a:rPr lang="en-US" altLang="zh-CN" sz="2400" dirty="0">
                <a:solidFill>
                  <a:srgbClr val="FF0000"/>
                </a:solidFill>
              </a:rPr>
              <a:t>        </a:t>
            </a:r>
            <a:r>
              <a:rPr lang="en-US" altLang="zh-CN" sz="2400" dirty="0" err="1">
                <a:solidFill>
                  <a:srgbClr val="0000FF"/>
                </a:solidFill>
              </a:rPr>
              <a:t>data_out.data</a:t>
            </a:r>
            <a:r>
              <a:rPr lang="en-US" altLang="zh-CN" sz="2400" dirty="0">
                <a:solidFill>
                  <a:srgbClr val="0000FF"/>
                </a:solidFill>
              </a:rPr>
              <a:t> [(8 * </a:t>
            </a:r>
            <a:r>
              <a:rPr lang="en-US" altLang="zh-CN" sz="2400" dirty="0" err="1">
                <a:solidFill>
                  <a:srgbClr val="0000FF"/>
                </a:solidFill>
              </a:rPr>
              <a:t>i</a:t>
            </a:r>
            <a:r>
              <a:rPr lang="en-US" altLang="zh-CN" sz="2400" dirty="0">
                <a:solidFill>
                  <a:srgbClr val="0000FF"/>
                </a:solidFill>
              </a:rPr>
              <a:t>) + : 8] = </a:t>
            </a:r>
            <a:r>
              <a:rPr lang="en-US" altLang="zh-CN" sz="2400" dirty="0" err="1">
                <a:solidFill>
                  <a:srgbClr val="0000FF"/>
                </a:solidFill>
              </a:rPr>
              <a:t>data_in</a:t>
            </a:r>
            <a:r>
              <a:rPr lang="en-US" altLang="zh-CN" sz="2400" dirty="0">
                <a:solidFill>
                  <a:srgbClr val="0000FF"/>
                </a:solidFill>
              </a:rPr>
              <a:t>[</a:t>
            </a:r>
            <a:r>
              <a:rPr lang="en-US" altLang="zh-CN" sz="2400" dirty="0" err="1">
                <a:solidFill>
                  <a:srgbClr val="0000FF"/>
                </a:solidFill>
              </a:rPr>
              <a:t>i</a:t>
            </a:r>
            <a:r>
              <a:rPr lang="en-US" altLang="zh-CN" sz="2400" dirty="0">
                <a:solidFill>
                  <a:srgbClr val="0000FF"/>
                </a:solidFill>
              </a:rPr>
              <a:t>];</a:t>
            </a:r>
          </a:p>
          <a:p>
            <a:r>
              <a:rPr lang="en-US" altLang="zh-CN" sz="2400" dirty="0">
                <a:solidFill>
                  <a:srgbClr val="0000FF"/>
                </a:solidFill>
              </a:rPr>
              <a:t>        </a:t>
            </a:r>
            <a:r>
              <a:rPr lang="en-US" altLang="zh-CN" sz="2400" dirty="0" err="1">
                <a:solidFill>
                  <a:srgbClr val="0000FF"/>
                </a:solidFill>
              </a:rPr>
              <a:t>data_out.check</a:t>
            </a:r>
            <a:r>
              <a:rPr lang="en-US" altLang="zh-CN" sz="2400" dirty="0">
                <a:solidFill>
                  <a:srgbClr val="0000FF"/>
                </a:solidFill>
              </a:rPr>
              <a:t>[</a:t>
            </a:r>
            <a:r>
              <a:rPr lang="en-US" altLang="zh-CN" sz="2400" dirty="0" err="1">
                <a:solidFill>
                  <a:srgbClr val="0000FF"/>
                </a:solidFill>
              </a:rPr>
              <a:t>i</a:t>
            </a:r>
            <a:r>
              <a:rPr lang="en-US" altLang="zh-CN" sz="2400" dirty="0">
                <a:solidFill>
                  <a:srgbClr val="0000FF"/>
                </a:solidFill>
              </a:rPr>
              <a:t>] = ^</a:t>
            </a:r>
            <a:r>
              <a:rPr lang="en-US" altLang="zh-CN" sz="2400" dirty="0" err="1">
                <a:solidFill>
                  <a:srgbClr val="0000FF"/>
                </a:solidFill>
              </a:rPr>
              <a:t>data_in</a:t>
            </a:r>
            <a:r>
              <a:rPr lang="en-US" altLang="zh-CN" sz="2400" dirty="0">
                <a:solidFill>
                  <a:srgbClr val="0000FF"/>
                </a:solidFill>
              </a:rPr>
              <a:t>[</a:t>
            </a:r>
            <a:r>
              <a:rPr lang="en-US" altLang="zh-CN" sz="2400" dirty="0" err="1">
                <a:solidFill>
                  <a:srgbClr val="0000FF"/>
                </a:solidFill>
              </a:rPr>
              <a:t>i</a:t>
            </a:r>
            <a:r>
              <a:rPr lang="en-US" altLang="zh-CN" sz="2400" dirty="0">
                <a:solidFill>
                  <a:srgbClr val="0000FF"/>
                </a:solidFill>
              </a:rPr>
              <a:t>];</a:t>
            </a:r>
          </a:p>
          <a:p>
            <a:r>
              <a:rPr lang="en-US" altLang="zh-CN" sz="2400" dirty="0">
                <a:solidFill>
                  <a:srgbClr val="0000FF"/>
                </a:solidFill>
              </a:rPr>
              <a:t>    end</a:t>
            </a:r>
          </a:p>
          <a:p>
            <a:r>
              <a:rPr lang="en-US" altLang="zh-CN" sz="2400" dirty="0">
                <a:solidFill>
                  <a:srgbClr val="0000FF"/>
                </a:solidFill>
              </a:rPr>
              <a:t>    </a:t>
            </a:r>
            <a:r>
              <a:rPr lang="en-US" altLang="zh-CN" sz="2400" dirty="0" err="1">
                <a:solidFill>
                  <a:srgbClr val="0000FF"/>
                </a:solidFill>
              </a:rPr>
              <a:t>data_out.valid</a:t>
            </a:r>
            <a:r>
              <a:rPr lang="en-US" altLang="zh-CN" sz="2400" dirty="0">
                <a:solidFill>
                  <a:srgbClr val="0000FF"/>
                </a:solidFill>
              </a:rPr>
              <a:t> = 1;</a:t>
            </a:r>
          </a:p>
          <a:p>
            <a:r>
              <a:rPr lang="en-US" altLang="zh-CN" sz="2400" dirty="0" err="1">
                <a:solidFill>
                  <a:srgbClr val="0000FF"/>
                </a:solidFill>
              </a:rPr>
              <a:t>endfunction</a:t>
            </a:r>
            <a:endParaRPr lang="en-US" altLang="zh-CN" sz="2400" dirty="0">
              <a:solidFill>
                <a:srgbClr val="0000FF"/>
              </a:solidFill>
            </a:endParaRPr>
          </a:p>
        </p:txBody>
      </p:sp>
      <p:sp>
        <p:nvSpPr>
          <p:cNvPr id="4" name="Text Box 2">
            <a:extLst>
              <a:ext uri="{FF2B5EF4-FFF2-40B4-BE49-F238E27FC236}">
                <a16:creationId xmlns:a16="http://schemas.microsoft.com/office/drawing/2014/main" id="{0BD8E650-B614-49BD-B8BA-2B732DCF8819}"/>
              </a:ext>
            </a:extLst>
          </p:cNvPr>
          <p:cNvSpPr txBox="1">
            <a:spLocks noChangeArrowheads="1"/>
          </p:cNvSpPr>
          <p:nvPr/>
        </p:nvSpPr>
        <p:spPr bwMode="auto">
          <a:xfrm>
            <a:off x="665018" y="189923"/>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a:extLst>
              <a:ext uri="{FF2B5EF4-FFF2-40B4-BE49-F238E27FC236}">
                <a16:creationId xmlns:a16="http://schemas.microsoft.com/office/drawing/2014/main" id="{D452EA89-2A56-45FF-9BCD-3E147801D883}"/>
              </a:ext>
            </a:extLst>
          </p:cNvPr>
          <p:cNvSpPr txBox="1">
            <a:spLocks noChangeArrowheads="1"/>
          </p:cNvSpPr>
          <p:nvPr/>
        </p:nvSpPr>
        <p:spPr bwMode="auto">
          <a:xfrm>
            <a:off x="609600" y="79087"/>
            <a:ext cx="926869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
        <p:nvSpPr>
          <p:cNvPr id="24579" name="Text Box 3">
            <a:extLst>
              <a:ext uri="{FF2B5EF4-FFF2-40B4-BE49-F238E27FC236}">
                <a16:creationId xmlns:a16="http://schemas.microsoft.com/office/drawing/2014/main" id="{5A2915A3-F83C-49EC-8322-E2B864555AD0}"/>
              </a:ext>
            </a:extLst>
          </p:cNvPr>
          <p:cNvSpPr txBox="1">
            <a:spLocks noChangeArrowheads="1"/>
          </p:cNvSpPr>
          <p:nvPr/>
        </p:nvSpPr>
        <p:spPr bwMode="auto">
          <a:xfrm>
            <a:off x="711200" y="997527"/>
            <a:ext cx="9417052"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FF0000"/>
                </a:solidFill>
              </a:rPr>
              <a:t>任务和函数的隐式语句组</a:t>
            </a:r>
            <a:r>
              <a:rPr lang="zh-CN" altLang="en-US" sz="2400" dirty="0">
                <a:solidFill>
                  <a:srgbClr val="0000FF"/>
                </a:solidFill>
              </a:rPr>
              <a:t>：</a:t>
            </a:r>
            <a:r>
              <a:rPr lang="en-US" altLang="zh-CN" sz="2400" dirty="0">
                <a:solidFill>
                  <a:srgbClr val="0000FF"/>
                </a:solidFill>
              </a:rPr>
              <a:t>Verilog</a:t>
            </a:r>
            <a:r>
              <a:rPr lang="zh-CN" altLang="en-US" sz="2400" dirty="0">
                <a:solidFill>
                  <a:srgbClr val="0000FF"/>
                </a:solidFill>
              </a:rPr>
              <a:t>中，如果任务或函数包含多条语句时必须写在</a:t>
            </a:r>
            <a:r>
              <a:rPr lang="en-US" altLang="zh-CN" sz="2400" dirty="0">
                <a:solidFill>
                  <a:srgbClr val="0000FF"/>
                </a:solidFill>
              </a:rPr>
              <a:t>begin … end</a:t>
            </a:r>
            <a:r>
              <a:rPr lang="zh-CN" altLang="en-US" sz="2400" dirty="0">
                <a:solidFill>
                  <a:srgbClr val="0000FF"/>
                </a:solidFill>
              </a:rPr>
              <a:t>之间，对任务也允许使用</a:t>
            </a:r>
            <a:r>
              <a:rPr lang="en-US" altLang="zh-CN" sz="2400" dirty="0">
                <a:solidFill>
                  <a:srgbClr val="0000FF"/>
                </a:solidFill>
              </a:rPr>
              <a:t>fork … join</a:t>
            </a:r>
            <a:r>
              <a:rPr lang="zh-CN" altLang="en-US" sz="2400" dirty="0">
                <a:solidFill>
                  <a:srgbClr val="0000FF"/>
                </a:solidFill>
              </a:rPr>
              <a:t>结构，对</a:t>
            </a:r>
            <a:r>
              <a:rPr lang="en-US" altLang="zh-CN" sz="2400" dirty="0" err="1">
                <a:solidFill>
                  <a:srgbClr val="0000FF"/>
                </a:solidFill>
              </a:rPr>
              <a:t>SystemVerilog</a:t>
            </a:r>
            <a:r>
              <a:rPr lang="zh-CN" altLang="en-US" sz="2400" dirty="0">
                <a:solidFill>
                  <a:srgbClr val="0000FF"/>
                </a:solidFill>
              </a:rPr>
              <a:t>则可以省略</a:t>
            </a:r>
            <a:r>
              <a:rPr lang="en-US" altLang="zh-CN" sz="2400" dirty="0">
                <a:solidFill>
                  <a:srgbClr val="0000FF"/>
                </a:solidFill>
              </a:rPr>
              <a:t>begin … end</a:t>
            </a:r>
            <a:r>
              <a:rPr lang="zh-CN" altLang="en-US" sz="2400" dirty="0">
                <a:solidFill>
                  <a:srgbClr val="0000FF"/>
                </a:solidFill>
              </a:rPr>
              <a:t>。</a:t>
            </a:r>
          </a:p>
          <a:p>
            <a:pPr>
              <a:spcBef>
                <a:spcPct val="0"/>
              </a:spcBef>
            </a:pPr>
            <a:endParaRPr lang="zh-CN" altLang="en-US" sz="2400" dirty="0">
              <a:solidFill>
                <a:srgbClr val="0000FF"/>
              </a:solidFill>
            </a:endParaRPr>
          </a:p>
          <a:p>
            <a:pPr>
              <a:spcBef>
                <a:spcPct val="0"/>
              </a:spcBef>
            </a:pPr>
            <a:r>
              <a:rPr lang="en-US" altLang="zh-CN" sz="2400" dirty="0">
                <a:solidFill>
                  <a:srgbClr val="0000FF"/>
                </a:solidFill>
              </a:rPr>
              <a:t>function </a:t>
            </a:r>
            <a:r>
              <a:rPr lang="en-US" altLang="zh-CN" sz="2400" dirty="0" err="1">
                <a:solidFill>
                  <a:srgbClr val="0000FF"/>
                </a:solidFill>
              </a:rPr>
              <a:t>states_t</a:t>
            </a:r>
            <a:r>
              <a:rPr lang="en-US" altLang="zh-CN" sz="2400" dirty="0">
                <a:solidFill>
                  <a:srgbClr val="0000FF"/>
                </a:solidFill>
              </a:rPr>
              <a:t>  </a:t>
            </a:r>
            <a:r>
              <a:rPr lang="en-US" altLang="zh-CN" sz="2400" dirty="0" err="1">
                <a:solidFill>
                  <a:srgbClr val="0000FF"/>
                </a:solidFill>
              </a:rPr>
              <a:t>nextState</a:t>
            </a:r>
            <a:r>
              <a:rPr lang="en-US" altLang="zh-CN" sz="2400" dirty="0">
                <a:solidFill>
                  <a:srgbClr val="0000FF"/>
                </a:solidFill>
              </a:rPr>
              <a:t>(</a:t>
            </a:r>
            <a:r>
              <a:rPr lang="en-US" altLang="zh-CN" sz="2400" dirty="0" err="1">
                <a:solidFill>
                  <a:srgbClr val="0000FF"/>
                </a:solidFill>
              </a:rPr>
              <a:t>state_t</a:t>
            </a:r>
            <a:r>
              <a:rPr lang="en-US" altLang="zh-CN" sz="2400" dirty="0">
                <a:solidFill>
                  <a:srgbClr val="0000FF"/>
                </a:solidFill>
              </a:rPr>
              <a:t> state);</a:t>
            </a:r>
          </a:p>
          <a:p>
            <a:pPr>
              <a:spcBef>
                <a:spcPct val="0"/>
              </a:spcBef>
            </a:pPr>
            <a:r>
              <a:rPr lang="en-US" altLang="zh-CN" sz="2400" dirty="0">
                <a:solidFill>
                  <a:srgbClr val="0000FF"/>
                </a:solidFill>
              </a:rPr>
              <a:t>    </a:t>
            </a:r>
            <a:r>
              <a:rPr lang="en-US" altLang="zh-CN" sz="2400" dirty="0" err="1">
                <a:solidFill>
                  <a:srgbClr val="0000FF"/>
                </a:solidFill>
              </a:rPr>
              <a:t>nextState</a:t>
            </a:r>
            <a:r>
              <a:rPr lang="en-US" altLang="zh-CN" sz="2400" dirty="0">
                <a:solidFill>
                  <a:srgbClr val="0000FF"/>
                </a:solidFill>
              </a:rPr>
              <a:t> = state;</a:t>
            </a:r>
          </a:p>
          <a:p>
            <a:pPr>
              <a:spcBef>
                <a:spcPct val="0"/>
              </a:spcBef>
            </a:pPr>
            <a:r>
              <a:rPr lang="en-US" altLang="zh-CN" sz="2400" dirty="0">
                <a:solidFill>
                  <a:srgbClr val="0000FF"/>
                </a:solidFill>
              </a:rPr>
              <a:t>    case (state)</a:t>
            </a:r>
          </a:p>
          <a:p>
            <a:pPr>
              <a:spcBef>
                <a:spcPct val="0"/>
              </a:spcBef>
            </a:pPr>
            <a:r>
              <a:rPr lang="en-US" altLang="zh-CN" sz="2400" dirty="0">
                <a:solidFill>
                  <a:srgbClr val="0000FF"/>
                </a:solidFill>
              </a:rPr>
              <a:t>        WAIT : if (start) </a:t>
            </a:r>
            <a:r>
              <a:rPr lang="en-US" altLang="zh-CN" sz="2400" dirty="0" err="1">
                <a:solidFill>
                  <a:srgbClr val="0000FF"/>
                </a:solidFill>
              </a:rPr>
              <a:t>nextState</a:t>
            </a:r>
            <a:r>
              <a:rPr lang="en-US" altLang="zh-CN" sz="2400" dirty="0">
                <a:solidFill>
                  <a:srgbClr val="0000FF"/>
                </a:solidFill>
              </a:rPr>
              <a:t> = LOAD;</a:t>
            </a:r>
          </a:p>
          <a:p>
            <a:pPr>
              <a:spcBef>
                <a:spcPct val="0"/>
              </a:spcBef>
            </a:pPr>
            <a:r>
              <a:rPr lang="en-US" altLang="zh-CN" sz="2400" dirty="0">
                <a:solidFill>
                  <a:srgbClr val="0000FF"/>
                </a:solidFill>
              </a:rPr>
              <a:t>        LOAD : if (done) </a:t>
            </a:r>
            <a:r>
              <a:rPr lang="en-US" altLang="zh-CN" sz="2400" dirty="0" err="1">
                <a:solidFill>
                  <a:srgbClr val="0000FF"/>
                </a:solidFill>
              </a:rPr>
              <a:t>nextState</a:t>
            </a:r>
            <a:r>
              <a:rPr lang="en-US" altLang="zh-CN" sz="2400" dirty="0">
                <a:solidFill>
                  <a:srgbClr val="0000FF"/>
                </a:solidFill>
              </a:rPr>
              <a:t> = STORE;</a:t>
            </a:r>
          </a:p>
          <a:p>
            <a:pPr>
              <a:spcBef>
                <a:spcPct val="0"/>
              </a:spcBef>
            </a:pPr>
            <a:r>
              <a:rPr lang="en-US" altLang="zh-CN" sz="2400" dirty="0">
                <a:solidFill>
                  <a:srgbClr val="0000FF"/>
                </a:solidFill>
              </a:rPr>
              <a:t>        STORE : </a:t>
            </a:r>
            <a:r>
              <a:rPr lang="en-US" altLang="zh-CN" sz="2400" dirty="0" err="1">
                <a:solidFill>
                  <a:srgbClr val="0000FF"/>
                </a:solidFill>
              </a:rPr>
              <a:t>nextState</a:t>
            </a:r>
            <a:r>
              <a:rPr lang="en-US" altLang="zh-CN" sz="2400" dirty="0">
                <a:solidFill>
                  <a:srgbClr val="0000FF"/>
                </a:solidFill>
              </a:rPr>
              <a:t> = WAIT;</a:t>
            </a:r>
          </a:p>
          <a:p>
            <a:pPr>
              <a:spcBef>
                <a:spcPct val="0"/>
              </a:spcBef>
            </a:pPr>
            <a:r>
              <a:rPr lang="en-US" altLang="zh-CN" sz="2400" dirty="0">
                <a:solidFill>
                  <a:srgbClr val="0000FF"/>
                </a:solidFill>
              </a:rPr>
              <a:t>    </a:t>
            </a:r>
            <a:r>
              <a:rPr lang="en-US" altLang="zh-CN" sz="2400" dirty="0" err="1">
                <a:solidFill>
                  <a:srgbClr val="0000FF"/>
                </a:solidFill>
              </a:rPr>
              <a:t>endcase</a:t>
            </a:r>
            <a:endParaRPr lang="en-US" altLang="zh-CN" sz="2400" dirty="0">
              <a:solidFill>
                <a:srgbClr val="0000FF"/>
              </a:solidFill>
            </a:endParaRPr>
          </a:p>
          <a:p>
            <a:pPr>
              <a:spcBef>
                <a:spcPct val="0"/>
              </a:spcBef>
            </a:pPr>
            <a:r>
              <a:rPr lang="en-US" altLang="zh-CN" sz="2400" dirty="0" err="1">
                <a:solidFill>
                  <a:srgbClr val="0000FF"/>
                </a:solidFill>
              </a:rPr>
              <a:t>endfunction</a:t>
            </a:r>
            <a:endParaRPr lang="en-US" altLang="zh-CN" sz="2400" dirty="0">
              <a:solidFill>
                <a:srgbClr val="FF0000"/>
              </a:solidFill>
            </a:endParaRPr>
          </a:p>
        </p:txBody>
      </p:sp>
    </p:spTree>
    <p:extLst>
      <p:ext uri="{BB962C8B-B14F-4D97-AF65-F5344CB8AC3E}">
        <p14:creationId xmlns:p14="http://schemas.microsoft.com/office/powerpoint/2010/main" val="3053459789"/>
      </p:ext>
    </p:extLst>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3">
            <a:extLst>
              <a:ext uri="{FF2B5EF4-FFF2-40B4-BE49-F238E27FC236}">
                <a16:creationId xmlns:a16="http://schemas.microsoft.com/office/drawing/2014/main" id="{96B30025-199F-406E-A20C-BBB90B712DD8}"/>
              </a:ext>
            </a:extLst>
          </p:cNvPr>
          <p:cNvSpPr txBox="1">
            <a:spLocks noChangeArrowheads="1"/>
          </p:cNvSpPr>
          <p:nvPr/>
        </p:nvSpPr>
        <p:spPr bwMode="auto">
          <a:xfrm>
            <a:off x="424874" y="781339"/>
            <a:ext cx="11545453"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FF0000"/>
                </a:solidFill>
              </a:rPr>
              <a:t>命名的任务和函数结尾</a:t>
            </a:r>
            <a:r>
              <a:rPr lang="zh-CN" altLang="en-US" sz="2400" dirty="0">
                <a:solidFill>
                  <a:srgbClr val="0000FF"/>
                </a:solidFill>
              </a:rPr>
              <a:t>：</a:t>
            </a:r>
            <a:r>
              <a:rPr lang="en-US" altLang="zh-CN" sz="2400" dirty="0" err="1">
                <a:solidFill>
                  <a:srgbClr val="0000FF"/>
                </a:solidFill>
              </a:rPr>
              <a:t>SystemVerilog</a:t>
            </a:r>
            <a:r>
              <a:rPr lang="zh-CN" altLang="en-US" sz="2400" dirty="0">
                <a:solidFill>
                  <a:srgbClr val="0000FF"/>
                </a:solidFill>
              </a:rPr>
              <a:t>允许在任务和函数的结尾处用关键字</a:t>
            </a:r>
            <a:r>
              <a:rPr lang="en-US" altLang="zh-CN" sz="2400" dirty="0" err="1">
                <a:solidFill>
                  <a:srgbClr val="0000FF"/>
                </a:solidFill>
              </a:rPr>
              <a:t>endtask</a:t>
            </a:r>
            <a:r>
              <a:rPr lang="zh-CN" altLang="en-US" sz="2400" dirty="0">
                <a:solidFill>
                  <a:srgbClr val="0000FF"/>
                </a:solidFill>
              </a:rPr>
              <a:t>和</a:t>
            </a:r>
            <a:r>
              <a:rPr lang="en-US" altLang="zh-CN" sz="2400" dirty="0" err="1">
                <a:solidFill>
                  <a:srgbClr val="0000FF"/>
                </a:solidFill>
              </a:rPr>
              <a:t>endfunction</a:t>
            </a:r>
            <a:r>
              <a:rPr lang="zh-CN" altLang="en-US" sz="2400" dirty="0">
                <a:solidFill>
                  <a:srgbClr val="0000FF"/>
                </a:solidFill>
              </a:rPr>
              <a:t>后面跟任务名和函数名。</a:t>
            </a:r>
          </a:p>
          <a:p>
            <a:pPr>
              <a:spcBef>
                <a:spcPct val="0"/>
              </a:spcBef>
            </a:pPr>
            <a:endParaRPr lang="en-US" altLang="zh-CN" sz="2400" dirty="0">
              <a:solidFill>
                <a:srgbClr val="0000FF"/>
              </a:solidFill>
            </a:endParaRPr>
          </a:p>
          <a:p>
            <a:pPr>
              <a:spcBef>
                <a:spcPct val="0"/>
              </a:spcBef>
            </a:pPr>
            <a:r>
              <a:rPr lang="en-US" altLang="zh-CN" sz="2400" dirty="0">
                <a:solidFill>
                  <a:srgbClr val="0000FF"/>
                </a:solidFill>
              </a:rPr>
              <a:t>function int </a:t>
            </a:r>
            <a:r>
              <a:rPr lang="en-US" altLang="zh-CN" sz="2400" dirty="0" err="1">
                <a:solidFill>
                  <a:srgbClr val="0000FF"/>
                </a:solidFill>
              </a:rPr>
              <a:t>add_and_inc</a:t>
            </a:r>
            <a:r>
              <a:rPr lang="en-US" altLang="zh-CN" sz="2400" dirty="0">
                <a:solidFill>
                  <a:srgbClr val="0000FF"/>
                </a:solidFill>
              </a:rPr>
              <a:t>(int a, b)</a:t>
            </a:r>
          </a:p>
          <a:p>
            <a:pPr>
              <a:spcBef>
                <a:spcPct val="0"/>
              </a:spcBef>
            </a:pPr>
            <a:r>
              <a:rPr lang="en-US" altLang="zh-CN" sz="2400" dirty="0">
                <a:solidFill>
                  <a:srgbClr val="0000FF"/>
                </a:solidFill>
              </a:rPr>
              <a:t>    return a + b +1;</a:t>
            </a:r>
          </a:p>
          <a:p>
            <a:pPr>
              <a:spcBef>
                <a:spcPct val="0"/>
              </a:spcBef>
            </a:pPr>
            <a:r>
              <a:rPr lang="en-US" altLang="zh-CN" sz="2400" dirty="0" err="1">
                <a:solidFill>
                  <a:srgbClr val="0000FF"/>
                </a:solidFill>
              </a:rPr>
              <a:t>endfunction</a:t>
            </a:r>
            <a:r>
              <a:rPr lang="en-US" altLang="zh-CN" sz="2400" dirty="0">
                <a:solidFill>
                  <a:srgbClr val="0000FF"/>
                </a:solidFill>
              </a:rPr>
              <a:t> </a:t>
            </a:r>
            <a:r>
              <a:rPr lang="en-US" altLang="zh-CN" sz="2400" dirty="0">
                <a:solidFill>
                  <a:srgbClr val="990000"/>
                </a:solidFill>
              </a:rPr>
              <a:t>:</a:t>
            </a:r>
            <a:r>
              <a:rPr lang="en-US" altLang="zh-CN" sz="2400" dirty="0">
                <a:solidFill>
                  <a:srgbClr val="0000FF"/>
                </a:solidFill>
              </a:rPr>
              <a:t> </a:t>
            </a:r>
            <a:r>
              <a:rPr lang="en-US" altLang="zh-CN" sz="2400" dirty="0" err="1">
                <a:solidFill>
                  <a:srgbClr val="CC0000"/>
                </a:solidFill>
              </a:rPr>
              <a:t>add_and_inc</a:t>
            </a:r>
            <a:endParaRPr lang="en-US" altLang="zh-CN" sz="2400" dirty="0">
              <a:solidFill>
                <a:srgbClr val="CC0000"/>
              </a:solidFill>
            </a:endParaRPr>
          </a:p>
          <a:p>
            <a:pPr>
              <a:spcBef>
                <a:spcPct val="0"/>
              </a:spcBef>
            </a:pPr>
            <a:endParaRPr lang="en-US" altLang="zh-CN" sz="2400" dirty="0">
              <a:solidFill>
                <a:srgbClr val="0000FF"/>
              </a:solidFill>
            </a:endParaRPr>
          </a:p>
          <a:p>
            <a:pPr>
              <a:spcBef>
                <a:spcPct val="0"/>
              </a:spcBef>
            </a:pPr>
            <a:r>
              <a:rPr lang="en-US" altLang="zh-CN" sz="2400" dirty="0">
                <a:solidFill>
                  <a:srgbClr val="0000FF"/>
                </a:solidFill>
              </a:rPr>
              <a:t>task automatic </a:t>
            </a:r>
            <a:r>
              <a:rPr lang="en-US" altLang="zh-CN" sz="2400" dirty="0" err="1">
                <a:solidFill>
                  <a:srgbClr val="0000FF"/>
                </a:solidFill>
              </a:rPr>
              <a:t>check_results</a:t>
            </a:r>
            <a:r>
              <a:rPr lang="en-US" altLang="zh-CN" sz="2400" dirty="0">
                <a:solidFill>
                  <a:srgbClr val="0000FF"/>
                </a:solidFill>
              </a:rPr>
              <a:t>( input </a:t>
            </a:r>
            <a:r>
              <a:rPr lang="en-US" altLang="zh-CN" sz="2400" dirty="0" err="1">
                <a:solidFill>
                  <a:srgbClr val="0000FF"/>
                </a:solidFill>
              </a:rPr>
              <a:t>packet_t</a:t>
            </a:r>
            <a:r>
              <a:rPr lang="en-US" altLang="zh-CN" sz="2400" dirty="0">
                <a:solidFill>
                  <a:srgbClr val="0000FF"/>
                </a:solidFill>
              </a:rPr>
              <a:t> sent;</a:t>
            </a:r>
          </a:p>
          <a:p>
            <a:pPr>
              <a:spcBef>
                <a:spcPct val="0"/>
              </a:spcBef>
            </a:pPr>
            <a:r>
              <a:rPr lang="en-US" altLang="zh-CN" sz="2400" dirty="0">
                <a:solidFill>
                  <a:srgbClr val="0000FF"/>
                </a:solidFill>
              </a:rPr>
              <a:t>    ref </a:t>
            </a:r>
            <a:r>
              <a:rPr lang="en-US" altLang="zh-CN" sz="2400" dirty="0" err="1">
                <a:solidFill>
                  <a:srgbClr val="0000FF"/>
                </a:solidFill>
              </a:rPr>
              <a:t>packet_t</a:t>
            </a:r>
            <a:r>
              <a:rPr lang="en-US" altLang="zh-CN" sz="2400" dirty="0">
                <a:solidFill>
                  <a:srgbClr val="0000FF"/>
                </a:solidFill>
              </a:rPr>
              <a:t> received;</a:t>
            </a:r>
          </a:p>
          <a:p>
            <a:pPr>
              <a:spcBef>
                <a:spcPct val="0"/>
              </a:spcBef>
            </a:pPr>
            <a:r>
              <a:rPr lang="en-US" altLang="zh-CN" sz="2400" dirty="0">
                <a:solidFill>
                  <a:srgbClr val="0000FF"/>
                </a:solidFill>
              </a:rPr>
              <a:t>    ref logic done);</a:t>
            </a:r>
          </a:p>
          <a:p>
            <a:pPr>
              <a:spcBef>
                <a:spcPct val="0"/>
              </a:spcBef>
            </a:pPr>
            <a:r>
              <a:rPr lang="en-US" altLang="zh-CN" sz="2400" dirty="0">
                <a:solidFill>
                  <a:srgbClr val="0000FF"/>
                </a:solidFill>
              </a:rPr>
              <a:t>    static int </a:t>
            </a:r>
            <a:r>
              <a:rPr lang="en-US" altLang="zh-CN" sz="2400" dirty="0" err="1">
                <a:solidFill>
                  <a:srgbClr val="0000FF"/>
                </a:solidFill>
              </a:rPr>
              <a:t>error_cnt</a:t>
            </a:r>
            <a:r>
              <a:rPr lang="en-US" altLang="zh-CN" sz="2400" dirty="0">
                <a:solidFill>
                  <a:srgbClr val="0000FF"/>
                </a:solidFill>
              </a:rPr>
              <a:t>;</a:t>
            </a:r>
          </a:p>
          <a:p>
            <a:pPr>
              <a:spcBef>
                <a:spcPct val="0"/>
              </a:spcBef>
            </a:pPr>
            <a:r>
              <a:rPr lang="en-US" altLang="zh-CN" sz="2400" dirty="0">
                <a:solidFill>
                  <a:srgbClr val="0000FF"/>
                </a:solidFill>
              </a:rPr>
              <a:t>    …</a:t>
            </a:r>
          </a:p>
          <a:p>
            <a:pPr>
              <a:spcBef>
                <a:spcPct val="0"/>
              </a:spcBef>
            </a:pPr>
            <a:r>
              <a:rPr lang="en-US" altLang="zh-CN" sz="2400" dirty="0" err="1">
                <a:solidFill>
                  <a:srgbClr val="0000FF"/>
                </a:solidFill>
              </a:rPr>
              <a:t>endtask</a:t>
            </a:r>
            <a:r>
              <a:rPr lang="en-US" altLang="zh-CN" sz="2400" dirty="0">
                <a:solidFill>
                  <a:srgbClr val="0000FF"/>
                </a:solidFill>
              </a:rPr>
              <a:t> </a:t>
            </a:r>
            <a:r>
              <a:rPr lang="en-US" altLang="zh-CN" sz="2400" dirty="0">
                <a:solidFill>
                  <a:srgbClr val="990000"/>
                </a:solidFill>
              </a:rPr>
              <a:t>:</a:t>
            </a:r>
            <a:r>
              <a:rPr lang="en-US" altLang="zh-CN" sz="2400" dirty="0">
                <a:solidFill>
                  <a:srgbClr val="0000FF"/>
                </a:solidFill>
              </a:rPr>
              <a:t> </a:t>
            </a:r>
            <a:r>
              <a:rPr lang="en-US" altLang="zh-CN" sz="2400" dirty="0" err="1">
                <a:solidFill>
                  <a:srgbClr val="FF0000"/>
                </a:solidFill>
              </a:rPr>
              <a:t>check_results</a:t>
            </a:r>
            <a:endParaRPr lang="en-US" altLang="zh-CN" sz="2400" dirty="0">
              <a:solidFill>
                <a:srgbClr val="FF0000"/>
              </a:solidFill>
            </a:endParaRPr>
          </a:p>
          <a:p>
            <a:pPr>
              <a:spcBef>
                <a:spcPct val="0"/>
              </a:spcBef>
            </a:pPr>
            <a:r>
              <a:rPr lang="zh-CN" altLang="en-US" sz="2400" dirty="0">
                <a:solidFill>
                  <a:srgbClr val="FF0000"/>
                </a:solidFill>
              </a:rPr>
              <a:t>空任务和空函数</a:t>
            </a:r>
            <a:r>
              <a:rPr lang="zh-CN" altLang="en-US" sz="2400" dirty="0">
                <a:solidFill>
                  <a:srgbClr val="0000FF"/>
                </a:solidFill>
              </a:rPr>
              <a:t>：</a:t>
            </a:r>
            <a:r>
              <a:rPr lang="en-US" altLang="zh-CN" sz="2400" dirty="0" err="1">
                <a:solidFill>
                  <a:srgbClr val="0000FF"/>
                </a:solidFill>
              </a:rPr>
              <a:t>SystemVerilog</a:t>
            </a:r>
            <a:r>
              <a:rPr lang="zh-CN" altLang="en-US" sz="2400" dirty="0">
                <a:solidFill>
                  <a:srgbClr val="0000FF"/>
                </a:solidFill>
              </a:rPr>
              <a:t>允许任务和函数不包含任何语句，空函数将返回表示函数名的隐含变量的当前值。空任务和空函数在非完整代码中预留出了空间，用于自顶向下建模。</a:t>
            </a:r>
          </a:p>
        </p:txBody>
      </p:sp>
      <p:sp>
        <p:nvSpPr>
          <p:cNvPr id="4" name="Text Box 2">
            <a:extLst>
              <a:ext uri="{FF2B5EF4-FFF2-40B4-BE49-F238E27FC236}">
                <a16:creationId xmlns:a16="http://schemas.microsoft.com/office/drawing/2014/main" id="{98189E24-9F04-44DA-ACF0-07B892BE0DB2}"/>
              </a:ext>
            </a:extLst>
          </p:cNvPr>
          <p:cNvSpPr txBox="1">
            <a:spLocks noChangeArrowheads="1"/>
          </p:cNvSpPr>
          <p:nvPr/>
        </p:nvSpPr>
        <p:spPr bwMode="auto">
          <a:xfrm>
            <a:off x="498765" y="90270"/>
            <a:ext cx="937952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a:extLst>
              <a:ext uri="{FF2B5EF4-FFF2-40B4-BE49-F238E27FC236}">
                <a16:creationId xmlns:a16="http://schemas.microsoft.com/office/drawing/2014/main" id="{19DD45E3-C604-4DED-8A0C-414351DFCFBB}"/>
              </a:ext>
            </a:extLst>
          </p:cNvPr>
          <p:cNvSpPr txBox="1">
            <a:spLocks noChangeArrowheads="1"/>
          </p:cNvSpPr>
          <p:nvPr/>
        </p:nvSpPr>
        <p:spPr bwMode="auto">
          <a:xfrm>
            <a:off x="526473" y="476251"/>
            <a:ext cx="9379527"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对任务和函数的改进</a:t>
            </a:r>
          </a:p>
        </p:txBody>
      </p:sp>
      <p:sp>
        <p:nvSpPr>
          <p:cNvPr id="28675" name="Text Box 3">
            <a:extLst>
              <a:ext uri="{FF2B5EF4-FFF2-40B4-BE49-F238E27FC236}">
                <a16:creationId xmlns:a16="http://schemas.microsoft.com/office/drawing/2014/main" id="{5BC7486D-9E5F-4459-86CA-18F088D89545}"/>
              </a:ext>
            </a:extLst>
          </p:cNvPr>
          <p:cNvSpPr txBox="1">
            <a:spLocks noChangeArrowheads="1"/>
          </p:cNvSpPr>
          <p:nvPr/>
        </p:nvSpPr>
        <p:spPr bwMode="auto">
          <a:xfrm>
            <a:off x="711200" y="1463249"/>
            <a:ext cx="1077883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FF0000"/>
                </a:solidFill>
              </a:rPr>
              <a:t>在任务和函数结束前返回</a:t>
            </a:r>
            <a:r>
              <a:rPr lang="zh-CN" altLang="en-US" sz="2400" dirty="0">
                <a:solidFill>
                  <a:srgbClr val="0000FF"/>
                </a:solidFill>
              </a:rPr>
              <a:t>：</a:t>
            </a:r>
            <a:r>
              <a:rPr lang="en-US" altLang="zh-CN" sz="2400" dirty="0">
                <a:solidFill>
                  <a:srgbClr val="0000FF"/>
                </a:solidFill>
              </a:rPr>
              <a:t>Verilog</a:t>
            </a:r>
            <a:r>
              <a:rPr lang="zh-CN" altLang="en-US" sz="2400" dirty="0">
                <a:solidFill>
                  <a:srgbClr val="0000FF"/>
                </a:solidFill>
              </a:rPr>
              <a:t>必须到达任务或函数结尾才能退出（</a:t>
            </a:r>
            <a:r>
              <a:rPr lang="en-US" altLang="zh-CN" sz="2400" dirty="0">
                <a:solidFill>
                  <a:srgbClr val="0000FF"/>
                </a:solidFill>
              </a:rPr>
              <a:t>return</a:t>
            </a:r>
            <a:r>
              <a:rPr lang="zh-CN" altLang="en-US" sz="2400" dirty="0">
                <a:solidFill>
                  <a:srgbClr val="0000FF"/>
                </a:solidFill>
              </a:rPr>
              <a:t>）</a:t>
            </a:r>
          </a:p>
        </p:txBody>
      </p:sp>
      <p:sp>
        <p:nvSpPr>
          <p:cNvPr id="28676" name="Rectangle 4">
            <a:extLst>
              <a:ext uri="{FF2B5EF4-FFF2-40B4-BE49-F238E27FC236}">
                <a16:creationId xmlns:a16="http://schemas.microsoft.com/office/drawing/2014/main" id="{36EA5215-272D-400B-8AA9-F211B6DB7FB9}"/>
              </a:ext>
            </a:extLst>
          </p:cNvPr>
          <p:cNvSpPr>
            <a:spLocks noChangeArrowheads="1"/>
          </p:cNvSpPr>
          <p:nvPr/>
        </p:nvSpPr>
        <p:spPr bwMode="auto">
          <a:xfrm>
            <a:off x="1703389" y="2507041"/>
            <a:ext cx="4123245" cy="3139321"/>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dirty="0">
                <a:solidFill>
                  <a:srgbClr val="0000FF"/>
                </a:solidFill>
              </a:rPr>
              <a:t>function automatic int log2 (input int n);</a:t>
            </a:r>
          </a:p>
          <a:p>
            <a:r>
              <a:rPr lang="en-US" altLang="zh-CN" dirty="0">
                <a:solidFill>
                  <a:srgbClr val="0000FF"/>
                </a:solidFill>
              </a:rPr>
              <a:t>    if ( n &lt;= 1) log2 = 1;</a:t>
            </a:r>
          </a:p>
          <a:p>
            <a:r>
              <a:rPr lang="en-US" altLang="zh-CN" dirty="0">
                <a:solidFill>
                  <a:srgbClr val="0000FF"/>
                </a:solidFill>
              </a:rPr>
              <a:t>    else begin</a:t>
            </a:r>
          </a:p>
          <a:p>
            <a:r>
              <a:rPr lang="en-US" altLang="zh-CN" dirty="0">
                <a:solidFill>
                  <a:srgbClr val="0000FF"/>
                </a:solidFill>
              </a:rPr>
              <a:t>        log2 = 0;</a:t>
            </a:r>
          </a:p>
          <a:p>
            <a:r>
              <a:rPr lang="en-US" altLang="zh-CN" dirty="0">
                <a:solidFill>
                  <a:srgbClr val="0000FF"/>
                </a:solidFill>
              </a:rPr>
              <a:t>        while (n &gt; 1) begin</a:t>
            </a:r>
          </a:p>
          <a:p>
            <a:r>
              <a:rPr lang="en-US" altLang="zh-CN" dirty="0">
                <a:solidFill>
                  <a:srgbClr val="0000FF"/>
                </a:solidFill>
              </a:rPr>
              <a:t>            n = n / 2;</a:t>
            </a:r>
          </a:p>
          <a:p>
            <a:r>
              <a:rPr lang="en-US" altLang="zh-CN" dirty="0">
                <a:solidFill>
                  <a:srgbClr val="0000FF"/>
                </a:solidFill>
              </a:rPr>
              <a:t>            log2 = log2 + 1;</a:t>
            </a:r>
          </a:p>
          <a:p>
            <a:r>
              <a:rPr lang="en-US" altLang="zh-CN" dirty="0">
                <a:solidFill>
                  <a:srgbClr val="0000FF"/>
                </a:solidFill>
              </a:rPr>
              <a:t>        end</a:t>
            </a:r>
          </a:p>
          <a:p>
            <a:r>
              <a:rPr lang="en-US" altLang="zh-CN" dirty="0">
                <a:solidFill>
                  <a:srgbClr val="0000FF"/>
                </a:solidFill>
              </a:rPr>
              <a:t>    end</a:t>
            </a:r>
          </a:p>
          <a:p>
            <a:r>
              <a:rPr lang="en-US" altLang="zh-CN" dirty="0" err="1">
                <a:solidFill>
                  <a:srgbClr val="0000FF"/>
                </a:solidFill>
              </a:rPr>
              <a:t>endfunction</a:t>
            </a:r>
            <a:endParaRPr lang="en-US" altLang="zh-CN" dirty="0">
              <a:solidFill>
                <a:srgbClr val="0000FF"/>
              </a:solidFill>
            </a:endParaRPr>
          </a:p>
          <a:p>
            <a:endParaRPr lang="en-US" altLang="zh-CN" dirty="0"/>
          </a:p>
        </p:txBody>
      </p:sp>
      <p:sp>
        <p:nvSpPr>
          <p:cNvPr id="28677" name="Rectangle 5">
            <a:extLst>
              <a:ext uri="{FF2B5EF4-FFF2-40B4-BE49-F238E27FC236}">
                <a16:creationId xmlns:a16="http://schemas.microsoft.com/office/drawing/2014/main" id="{DB0C2144-F54D-4F2C-9B50-3E3962DC36CB}"/>
              </a:ext>
            </a:extLst>
          </p:cNvPr>
          <p:cNvSpPr>
            <a:spLocks noChangeArrowheads="1"/>
          </p:cNvSpPr>
          <p:nvPr/>
        </p:nvSpPr>
        <p:spPr bwMode="auto">
          <a:xfrm>
            <a:off x="6268173" y="2507041"/>
            <a:ext cx="4123245" cy="2585323"/>
          </a:xfrm>
          <a:prstGeom prst="rect">
            <a:avLst/>
          </a:prstGeom>
          <a:noFill/>
          <a:ln w="9525">
            <a:solidFill>
              <a:srgbClr val="99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solidFill>
                  <a:srgbClr val="0000FF"/>
                </a:solidFill>
              </a:rPr>
              <a:t>function automatic int log2 (input int n);</a:t>
            </a:r>
          </a:p>
          <a:p>
            <a:r>
              <a:rPr lang="en-US" altLang="zh-CN">
                <a:solidFill>
                  <a:srgbClr val="0000FF"/>
                </a:solidFill>
              </a:rPr>
              <a:t>    if ( n &lt;= 1) return 1;</a:t>
            </a:r>
          </a:p>
          <a:p>
            <a:r>
              <a:rPr lang="en-US" altLang="zh-CN">
                <a:solidFill>
                  <a:srgbClr val="0000FF"/>
                </a:solidFill>
              </a:rPr>
              <a:t>    log2 = 0;</a:t>
            </a:r>
          </a:p>
          <a:p>
            <a:r>
              <a:rPr lang="en-US" altLang="zh-CN">
                <a:solidFill>
                  <a:srgbClr val="0000FF"/>
                </a:solidFill>
              </a:rPr>
              <a:t>    while (n &gt; 1) begin</a:t>
            </a:r>
          </a:p>
          <a:p>
            <a:r>
              <a:rPr lang="en-US" altLang="zh-CN">
                <a:solidFill>
                  <a:srgbClr val="0000FF"/>
                </a:solidFill>
              </a:rPr>
              <a:t>        n = n / 2;</a:t>
            </a:r>
          </a:p>
          <a:p>
            <a:r>
              <a:rPr lang="en-US" altLang="zh-CN">
                <a:solidFill>
                  <a:srgbClr val="0000FF"/>
                </a:solidFill>
              </a:rPr>
              <a:t>        log2 ++;</a:t>
            </a:r>
          </a:p>
          <a:p>
            <a:r>
              <a:rPr lang="en-US" altLang="zh-CN">
                <a:solidFill>
                  <a:srgbClr val="0000FF"/>
                </a:solidFill>
              </a:rPr>
              <a:t>    end</a:t>
            </a:r>
          </a:p>
          <a:p>
            <a:r>
              <a:rPr lang="en-US" altLang="zh-CN">
                <a:solidFill>
                  <a:srgbClr val="0000FF"/>
                </a:solidFill>
              </a:rPr>
              <a:t> endfunction</a:t>
            </a:r>
          </a:p>
          <a:p>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2">
            <a:extLst>
              <a:ext uri="{FF2B5EF4-FFF2-40B4-BE49-F238E27FC236}">
                <a16:creationId xmlns:a16="http://schemas.microsoft.com/office/drawing/2014/main" id="{D515ADBA-95B6-435E-BA1A-81D805594774}"/>
              </a:ext>
            </a:extLst>
          </p:cNvPr>
          <p:cNvSpPr txBox="1">
            <a:spLocks noChangeArrowheads="1"/>
          </p:cNvSpPr>
          <p:nvPr/>
        </p:nvSpPr>
        <p:spPr bwMode="auto">
          <a:xfrm>
            <a:off x="628072" y="138545"/>
            <a:ext cx="9268691" cy="999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ts val="1200"/>
              </a:spcBef>
            </a:pPr>
            <a:r>
              <a:rPr lang="en-US" altLang="zh-CN" sz="4400" dirty="0">
                <a:solidFill>
                  <a:srgbClr val="000066"/>
                </a:solidFill>
                <a:latin typeface="Arial" panose="020B0604020202020204" pitchFamily="34" charset="0"/>
              </a:rPr>
              <a:t>System Verilog</a:t>
            </a:r>
            <a:r>
              <a:rPr lang="zh-TW" altLang="zh-CN" sz="4400" dirty="0">
                <a:solidFill>
                  <a:srgbClr val="000066"/>
                </a:solidFill>
                <a:latin typeface="Arial" panose="020B0604020202020204" pitchFamily="34" charset="0"/>
              </a:rPr>
              <a:t>接</a:t>
            </a:r>
            <a:r>
              <a:rPr lang="zh-TW" altLang="en-US" sz="4400" dirty="0">
                <a:solidFill>
                  <a:srgbClr val="000066"/>
                </a:solidFill>
                <a:latin typeface="Arial" panose="020B0604020202020204" pitchFamily="34" charset="0"/>
              </a:rPr>
              <a:t>口</a:t>
            </a:r>
            <a:r>
              <a:rPr lang="zh-CN" altLang="en-US" sz="4400" dirty="0">
                <a:solidFill>
                  <a:srgbClr val="000066"/>
                </a:solidFill>
                <a:latin typeface="Arial" panose="020B0604020202020204" pitchFamily="34" charset="0"/>
              </a:rPr>
              <a:t>信号的增强</a:t>
            </a:r>
            <a:endParaRPr lang="zh-TW" altLang="en-US" sz="4400" dirty="0">
              <a:solidFill>
                <a:srgbClr val="000066"/>
              </a:solidFill>
              <a:latin typeface="Arial" panose="020B0604020202020204" pitchFamily="34" charset="0"/>
            </a:endParaRPr>
          </a:p>
        </p:txBody>
      </p:sp>
      <p:sp>
        <p:nvSpPr>
          <p:cNvPr id="69635" name="Text Box 3">
            <a:extLst>
              <a:ext uri="{FF2B5EF4-FFF2-40B4-BE49-F238E27FC236}">
                <a16:creationId xmlns:a16="http://schemas.microsoft.com/office/drawing/2014/main" id="{DF6931E3-119F-409D-AEF1-BC13E1D18720}"/>
              </a:ext>
            </a:extLst>
          </p:cNvPr>
          <p:cNvSpPr txBox="1">
            <a:spLocks noChangeArrowheads="1"/>
          </p:cNvSpPr>
          <p:nvPr/>
        </p:nvSpPr>
        <p:spPr bwMode="auto">
          <a:xfrm>
            <a:off x="535709" y="1371601"/>
            <a:ext cx="9594129"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增加了新的端口类型</a:t>
            </a:r>
            <a:r>
              <a:rPr lang="en-US" altLang="zh-CN" sz="2400" dirty="0">
                <a:solidFill>
                  <a:srgbClr val="0000FF"/>
                </a:solidFill>
                <a:ea typeface="CourierNewPS-BoldMT" charset="-122"/>
              </a:rPr>
              <a:t>—</a:t>
            </a:r>
            <a:r>
              <a:rPr lang="zh-CN" altLang="en-US" sz="2400" dirty="0">
                <a:solidFill>
                  <a:srgbClr val="0000FF"/>
                </a:solidFill>
                <a:ea typeface="CourierNewPS-BoldMT" charset="-122"/>
              </a:rPr>
              <a:t>接口，它允许多个信号合成一组由一个端口表示，只需在一个地方对组成接口的信号进行声明，使用这些信号的模块只需一个接口类型的端口。</a:t>
            </a:r>
            <a:endParaRPr lang="en-US" altLang="zh-CN" sz="2400" dirty="0">
              <a:solidFill>
                <a:srgbClr val="0000FF"/>
              </a:solidFill>
              <a:ea typeface="CourierNewPS-BoldMT" charset="-122"/>
            </a:endParaRPr>
          </a:p>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接口信号简化了复杂的总线信号定义，简化了芯片连接</a:t>
            </a:r>
          </a:p>
          <a:p>
            <a:pPr>
              <a:spcBef>
                <a:spcPct val="0"/>
              </a:spcBef>
            </a:pPr>
            <a:endParaRPr lang="en-US" altLang="zh-CN" dirty="0">
              <a:solidFill>
                <a:srgbClr val="0000FF"/>
              </a:solidFill>
              <a:ea typeface="CourierNewPS-BoldMT" charset="-122"/>
            </a:endParaRPr>
          </a:p>
        </p:txBody>
      </p:sp>
      <p:pic>
        <p:nvPicPr>
          <p:cNvPr id="2" name="图片 1">
            <a:extLst>
              <a:ext uri="{FF2B5EF4-FFF2-40B4-BE49-F238E27FC236}">
                <a16:creationId xmlns:a16="http://schemas.microsoft.com/office/drawing/2014/main" id="{8C717E8D-44FF-42A0-BD1A-ED144EADD822}"/>
              </a:ext>
            </a:extLst>
          </p:cNvPr>
          <p:cNvPicPr>
            <a:picLocks noChangeAspect="1"/>
          </p:cNvPicPr>
          <p:nvPr/>
        </p:nvPicPr>
        <p:blipFill>
          <a:blip r:embed="rId3"/>
          <a:stretch>
            <a:fillRect/>
          </a:stretch>
        </p:blipFill>
        <p:spPr>
          <a:xfrm>
            <a:off x="0" y="3777999"/>
            <a:ext cx="12192000" cy="294145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a:extLst>
              <a:ext uri="{FF2B5EF4-FFF2-40B4-BE49-F238E27FC236}">
                <a16:creationId xmlns:a16="http://schemas.microsoft.com/office/drawing/2014/main" id="{ABAADCB8-00E4-49E0-ADE7-90D5F0EDEC52}"/>
              </a:ext>
            </a:extLst>
          </p:cNvPr>
          <p:cNvSpPr txBox="1">
            <a:spLocks noChangeArrowheads="1"/>
          </p:cNvSpPr>
          <p:nvPr/>
        </p:nvSpPr>
        <p:spPr bwMode="auto">
          <a:xfrm>
            <a:off x="639618" y="165580"/>
            <a:ext cx="9010073"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接口声明</a:t>
            </a:r>
          </a:p>
        </p:txBody>
      </p:sp>
      <p:sp>
        <p:nvSpPr>
          <p:cNvPr id="81923" name="Text Box 3">
            <a:extLst>
              <a:ext uri="{FF2B5EF4-FFF2-40B4-BE49-F238E27FC236}">
                <a16:creationId xmlns:a16="http://schemas.microsoft.com/office/drawing/2014/main" id="{817D1105-8D79-4F5B-ADFD-473EC9D79E6C}"/>
              </a:ext>
            </a:extLst>
          </p:cNvPr>
          <p:cNvSpPr txBox="1">
            <a:spLocks noChangeArrowheads="1"/>
          </p:cNvSpPr>
          <p:nvPr/>
        </p:nvSpPr>
        <p:spPr bwMode="auto">
          <a:xfrm>
            <a:off x="417939" y="966212"/>
            <a:ext cx="1102591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接口定义语法与模块相似，接口也可以拥有端口，这些端口将成为接口所描述一组信号的一部分，接口可以包含</a:t>
            </a:r>
            <a:r>
              <a:rPr lang="en-US" altLang="zh-CN" sz="2400" dirty="0">
                <a:solidFill>
                  <a:srgbClr val="0000FF"/>
                </a:solidFill>
                <a:ea typeface="CourierNewPS-BoldMT" charset="-122"/>
              </a:rPr>
              <a:t>Verilog</a:t>
            </a:r>
            <a:r>
              <a:rPr lang="zh-CN" altLang="en-US" sz="2400" dirty="0">
                <a:solidFill>
                  <a:srgbClr val="0000FF"/>
                </a:solidFill>
                <a:ea typeface="CourierNewPS-BoldMT" charset="-122"/>
              </a:rPr>
              <a:t>和</a:t>
            </a:r>
            <a:r>
              <a:rPr lang="en-US" altLang="zh-CN" sz="2400" dirty="0" err="1">
                <a:solidFill>
                  <a:srgbClr val="0000FF"/>
                </a:solidFill>
                <a:ea typeface="CourierNewPS-BoldMT" charset="-122"/>
              </a:rPr>
              <a:t>SystemVerilog</a:t>
            </a:r>
            <a:r>
              <a:rPr lang="zh-CN" altLang="en-US" sz="2400" dirty="0">
                <a:solidFill>
                  <a:srgbClr val="0000FF"/>
                </a:solidFill>
                <a:ea typeface="CourierNewPS-BoldMT" charset="-122"/>
              </a:rPr>
              <a:t>中任何类型的声明。</a:t>
            </a:r>
            <a:endParaRPr lang="en-US" altLang="zh-CN" sz="2400" dirty="0">
              <a:solidFill>
                <a:srgbClr val="0000FF"/>
              </a:solidFill>
              <a:ea typeface="CourierNewPS-BoldMT" charset="-122"/>
            </a:endParaRPr>
          </a:p>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接口可以象模块一样单独定义，接口名称可以在设计的任何层次、任何模块中当作端口使用。</a:t>
            </a:r>
          </a:p>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接口可以在模块中定义，使用接口只能在这个模块的局部范围内使用。</a:t>
            </a:r>
            <a:endParaRPr lang="en-US" altLang="zh-CN" sz="2400" dirty="0">
              <a:solidFill>
                <a:srgbClr val="0000FF"/>
              </a:solidFill>
              <a:ea typeface="CourierNewPS-BoldMT" charset="-122"/>
            </a:endParaRPr>
          </a:p>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接口名称引用：（</a:t>
            </a:r>
            <a:r>
              <a:rPr lang="en-US" altLang="zh-CN" sz="2400" dirty="0">
                <a:solidFill>
                  <a:srgbClr val="0000FF"/>
                </a:solidFill>
                <a:ea typeface="CourierNewPS-BoldMT" charset="-122"/>
              </a:rPr>
              <a:t>1</a:t>
            </a:r>
            <a:r>
              <a:rPr lang="zh-CN" altLang="en-US" sz="2400" dirty="0">
                <a:solidFill>
                  <a:srgbClr val="0000FF"/>
                </a:solidFill>
                <a:ea typeface="CourierNewPS-BoldMT" charset="-122"/>
              </a:rPr>
              <a:t>）在模块端口中；（</a:t>
            </a:r>
            <a:r>
              <a:rPr lang="en-US" altLang="zh-CN" sz="2400" dirty="0">
                <a:solidFill>
                  <a:srgbClr val="0000FF"/>
                </a:solidFill>
                <a:ea typeface="CourierNewPS-BoldMT" charset="-122"/>
              </a:rPr>
              <a:t>2</a:t>
            </a:r>
            <a:r>
              <a:rPr lang="zh-CN" altLang="en-US" sz="2400" dirty="0">
                <a:solidFill>
                  <a:srgbClr val="0000FF"/>
                </a:solidFill>
                <a:ea typeface="CourierNewPS-BoldMT" charset="-122"/>
              </a:rPr>
              <a:t>）在接口实例化中。</a:t>
            </a:r>
            <a:endParaRPr lang="en-US" altLang="zh-CN" sz="2400" dirty="0">
              <a:solidFill>
                <a:srgbClr val="0000FF"/>
              </a:solidFill>
              <a:ea typeface="CourierNewPS-BoldMT" charset="-122"/>
            </a:endParaRPr>
          </a:p>
          <a:p>
            <a:pPr marL="342900" indent="-342900">
              <a:spcBef>
                <a:spcPct val="0"/>
              </a:spcBef>
              <a:buFont typeface="Arial" panose="020B0604020202020204" pitchFamily="34" charset="0"/>
              <a:buChar char="•"/>
            </a:pPr>
            <a:r>
              <a:rPr lang="zh-CN" altLang="en-US" sz="2400" dirty="0">
                <a:solidFill>
                  <a:srgbClr val="0000FF"/>
                </a:solidFill>
                <a:ea typeface="CourierNewPS-BoldMT" charset="-122"/>
              </a:rPr>
              <a:t>当接口作为模块的端口时，接口就象模块一样，可以在其定义之前使用。</a:t>
            </a:r>
            <a:endParaRPr lang="zh-CN" altLang="en-US" sz="2400" dirty="0">
              <a:solidFill>
                <a:srgbClr val="0000FF"/>
              </a:solidFill>
              <a:ea typeface="CourierNewPSMT" charset="-122"/>
            </a:endParaRPr>
          </a:p>
        </p:txBody>
      </p:sp>
      <p:sp>
        <p:nvSpPr>
          <p:cNvPr id="81924" name="Rectangle 4">
            <a:extLst>
              <a:ext uri="{FF2B5EF4-FFF2-40B4-BE49-F238E27FC236}">
                <a16:creationId xmlns:a16="http://schemas.microsoft.com/office/drawing/2014/main" id="{D34A6715-8992-4219-8850-6508BB948993}"/>
              </a:ext>
            </a:extLst>
          </p:cNvPr>
          <p:cNvSpPr>
            <a:spLocks noChangeArrowheads="1"/>
          </p:cNvSpPr>
          <p:nvPr/>
        </p:nvSpPr>
        <p:spPr bwMode="auto">
          <a:xfrm>
            <a:off x="212438" y="3734084"/>
            <a:ext cx="502458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000" dirty="0">
                <a:solidFill>
                  <a:srgbClr val="FF0000"/>
                </a:solidFill>
                <a:ea typeface="CourierNewPS-BoldMT" charset="-122"/>
              </a:rPr>
              <a:t>interface </a:t>
            </a:r>
            <a:r>
              <a:rPr lang="en-US" altLang="zh-CN" sz="2000" dirty="0" err="1">
                <a:solidFill>
                  <a:srgbClr val="FF0000"/>
                </a:solidFill>
                <a:ea typeface="CourierNewPSMT" charset="-122"/>
              </a:rPr>
              <a:t>main_bus</a:t>
            </a:r>
            <a:r>
              <a:rPr lang="en-US" altLang="zh-CN" sz="2000" dirty="0">
                <a:solidFill>
                  <a:srgbClr val="FF0000"/>
                </a:solidFill>
                <a:ea typeface="CourierNewPSMT" charset="-122"/>
              </a:rPr>
              <a:t> (</a:t>
            </a:r>
            <a:r>
              <a:rPr lang="en-US" altLang="zh-CN" sz="2000" dirty="0">
                <a:solidFill>
                  <a:srgbClr val="FF0000"/>
                </a:solidFill>
                <a:ea typeface="CourierNewPS-BoldMT" charset="-122"/>
              </a:rPr>
              <a:t>input logic </a:t>
            </a:r>
            <a:r>
              <a:rPr lang="en-US" altLang="zh-CN" sz="2000" dirty="0">
                <a:solidFill>
                  <a:srgbClr val="FF0000"/>
                </a:solidFill>
                <a:ea typeface="CourierNewPSMT" charset="-122"/>
              </a:rPr>
              <a:t>clock, </a:t>
            </a:r>
            <a:r>
              <a:rPr lang="en-US" altLang="zh-CN" sz="2000" dirty="0" err="1">
                <a:solidFill>
                  <a:srgbClr val="FF0000"/>
                </a:solidFill>
                <a:ea typeface="CourierNewPSMT" charset="-122"/>
              </a:rPr>
              <a:t>resetn</a:t>
            </a:r>
            <a:r>
              <a:rPr lang="en-US" altLang="zh-CN" sz="2000" dirty="0">
                <a:solidFill>
                  <a:srgbClr val="FF0000"/>
                </a:solidFill>
                <a:ea typeface="CourierNewPSMT" charset="-122"/>
              </a:rPr>
              <a:t>);</a:t>
            </a:r>
          </a:p>
          <a:p>
            <a:r>
              <a:rPr lang="en-US" altLang="zh-CN" sz="2000" dirty="0">
                <a:solidFill>
                  <a:srgbClr val="FF0000"/>
                </a:solidFill>
                <a:ea typeface="CourierNewPS-BoldMT" charset="-122"/>
              </a:rPr>
              <a:t>    wire </a:t>
            </a:r>
            <a:r>
              <a:rPr lang="en-US" altLang="zh-CN" sz="2000" dirty="0">
                <a:solidFill>
                  <a:srgbClr val="FF0000"/>
                </a:solidFill>
                <a:ea typeface="CourierNewPSMT" charset="-122"/>
              </a:rPr>
              <a:t>[15:0] data;</a:t>
            </a:r>
          </a:p>
          <a:p>
            <a:r>
              <a:rPr lang="en-US" altLang="zh-CN" sz="2000" dirty="0">
                <a:solidFill>
                  <a:srgbClr val="FF0000"/>
                </a:solidFill>
                <a:ea typeface="CourierNewPS-BoldMT" charset="-122"/>
              </a:rPr>
              <a:t>    wire </a:t>
            </a:r>
            <a:r>
              <a:rPr lang="en-US" altLang="zh-CN" sz="2000" dirty="0">
                <a:solidFill>
                  <a:srgbClr val="FF0000"/>
                </a:solidFill>
                <a:ea typeface="CourierNewPSMT" charset="-122"/>
              </a:rPr>
              <a:t>[15:0] </a:t>
            </a:r>
            <a:r>
              <a:rPr lang="en-US" altLang="zh-CN" sz="2000" dirty="0" err="1">
                <a:solidFill>
                  <a:srgbClr val="FF0000"/>
                </a:solidFill>
                <a:ea typeface="CourierNewPSMT" charset="-122"/>
              </a:rPr>
              <a:t>addr</a:t>
            </a:r>
            <a:r>
              <a:rPr lang="en-US" altLang="zh-CN" sz="2000" dirty="0">
                <a:solidFill>
                  <a:srgbClr val="FF0000"/>
                </a:solidFill>
                <a:ea typeface="CourierNewPSMT" charset="-122"/>
              </a:rPr>
              <a:t>;</a:t>
            </a:r>
          </a:p>
          <a:p>
            <a:r>
              <a:rPr lang="en-US" altLang="zh-CN" sz="2000" dirty="0">
                <a:solidFill>
                  <a:srgbClr val="FF0000"/>
                </a:solidFill>
                <a:ea typeface="CourierNewPS-BoldMT" charset="-122"/>
              </a:rPr>
              <a:t>    logic </a:t>
            </a:r>
            <a:r>
              <a:rPr lang="en-US" altLang="zh-CN" sz="2000" dirty="0">
                <a:solidFill>
                  <a:srgbClr val="FF0000"/>
                </a:solidFill>
                <a:ea typeface="CourierNewPSMT" charset="-122"/>
              </a:rPr>
              <a:t>[ 7:0] </a:t>
            </a:r>
            <a:r>
              <a:rPr lang="en-US" altLang="zh-CN" sz="2000" dirty="0" err="1">
                <a:solidFill>
                  <a:srgbClr val="FF0000"/>
                </a:solidFill>
                <a:ea typeface="CourierNewPSMT" charset="-122"/>
              </a:rPr>
              <a:t>slave_instr</a:t>
            </a:r>
            <a:r>
              <a:rPr lang="en-US" altLang="zh-CN" sz="2000" dirty="0">
                <a:solidFill>
                  <a:srgbClr val="FF0000"/>
                </a:solidFill>
                <a:ea typeface="CourierNewPSMT" charset="-122"/>
              </a:rPr>
              <a:t>;</a:t>
            </a:r>
          </a:p>
          <a:p>
            <a:r>
              <a:rPr lang="en-US" altLang="zh-CN" sz="2000" dirty="0">
                <a:solidFill>
                  <a:srgbClr val="FF0000"/>
                </a:solidFill>
                <a:ea typeface="CourierNewPS-BoldMT" charset="-122"/>
              </a:rPr>
              <a:t>    logic </a:t>
            </a:r>
            <a:r>
              <a:rPr lang="en-US" altLang="zh-CN" sz="2000" dirty="0" err="1">
                <a:solidFill>
                  <a:srgbClr val="FF0000"/>
                </a:solidFill>
                <a:ea typeface="CourierNewPSMT" charset="-122"/>
              </a:rPr>
              <a:t>slave_req</a:t>
            </a:r>
            <a:r>
              <a:rPr lang="en-US" altLang="zh-CN" sz="2000" dirty="0">
                <a:solidFill>
                  <a:srgbClr val="FF0000"/>
                </a:solidFill>
                <a:ea typeface="CourierNewPSMT" charset="-122"/>
              </a:rPr>
              <a:t>,</a:t>
            </a:r>
            <a:r>
              <a:rPr lang="en-US" altLang="zh-CN" sz="2000" dirty="0">
                <a:solidFill>
                  <a:srgbClr val="FF0000"/>
                </a:solidFill>
                <a:ea typeface="CourierNewPS-BoldMT" charset="-122"/>
              </a:rPr>
              <a:t> </a:t>
            </a:r>
            <a:r>
              <a:rPr lang="en-US" altLang="zh-CN" sz="2000" dirty="0" err="1">
                <a:solidFill>
                  <a:srgbClr val="FF0000"/>
                </a:solidFill>
                <a:ea typeface="CourierNewPSMT" charset="-122"/>
              </a:rPr>
              <a:t>slave_rdy</a:t>
            </a:r>
            <a:r>
              <a:rPr lang="en-US" altLang="zh-CN" sz="2000" dirty="0">
                <a:solidFill>
                  <a:srgbClr val="FF0000"/>
                </a:solidFill>
                <a:ea typeface="CourierNewPSMT" charset="-122"/>
              </a:rPr>
              <a:t>;</a:t>
            </a:r>
          </a:p>
          <a:p>
            <a:r>
              <a:rPr lang="en-US" altLang="zh-CN" sz="2000" dirty="0">
                <a:solidFill>
                  <a:srgbClr val="FF0000"/>
                </a:solidFill>
                <a:ea typeface="CourierNewPSMT" charset="-122"/>
              </a:rPr>
              <a:t>    </a:t>
            </a:r>
            <a:r>
              <a:rPr lang="en-US" altLang="zh-CN" sz="2000" dirty="0">
                <a:solidFill>
                  <a:srgbClr val="FF0000"/>
                </a:solidFill>
                <a:ea typeface="CourierNewPS-BoldMT" charset="-122"/>
              </a:rPr>
              <a:t>logic </a:t>
            </a:r>
            <a:r>
              <a:rPr lang="en-US" altLang="zh-CN" sz="2000" dirty="0" err="1">
                <a:solidFill>
                  <a:srgbClr val="FF0000"/>
                </a:solidFill>
                <a:ea typeface="CourierNewPSMT" charset="-122"/>
              </a:rPr>
              <a:t>bus_grant</a:t>
            </a:r>
            <a:r>
              <a:rPr lang="en-US" altLang="zh-CN" sz="2000" dirty="0">
                <a:solidFill>
                  <a:srgbClr val="FF0000"/>
                </a:solidFill>
                <a:ea typeface="CourierNewPSMT" charset="-122"/>
              </a:rPr>
              <a:t>,</a:t>
            </a:r>
            <a:r>
              <a:rPr lang="en-US" altLang="zh-CN" sz="2000" dirty="0">
                <a:solidFill>
                  <a:srgbClr val="FF0000"/>
                </a:solidFill>
                <a:ea typeface="CourierNewPS-BoldMT" charset="-122"/>
              </a:rPr>
              <a:t> </a:t>
            </a:r>
            <a:r>
              <a:rPr lang="en-US" altLang="zh-CN" sz="2000" dirty="0" err="1">
                <a:solidFill>
                  <a:srgbClr val="FF0000"/>
                </a:solidFill>
                <a:ea typeface="CourierNewPSMT" charset="-122"/>
              </a:rPr>
              <a:t>bus_req</a:t>
            </a:r>
            <a:r>
              <a:rPr lang="en-US" altLang="zh-CN" sz="2000" dirty="0">
                <a:solidFill>
                  <a:srgbClr val="FF0000"/>
                </a:solidFill>
                <a:ea typeface="CourierNewPSMT" charset="-122"/>
              </a:rPr>
              <a:t>;</a:t>
            </a:r>
            <a:r>
              <a:rPr lang="en-US" altLang="zh-CN" sz="2000" dirty="0">
                <a:solidFill>
                  <a:srgbClr val="FF0000"/>
                </a:solidFill>
                <a:ea typeface="CourierNewPS-BoldMT" charset="-122"/>
              </a:rPr>
              <a:t> </a:t>
            </a:r>
          </a:p>
          <a:p>
            <a:r>
              <a:rPr lang="en-US" altLang="zh-CN" sz="2000" dirty="0">
                <a:solidFill>
                  <a:srgbClr val="FF0000"/>
                </a:solidFill>
                <a:ea typeface="CourierNewPS-BoldMT" charset="-122"/>
              </a:rPr>
              <a:t>    logic </a:t>
            </a:r>
            <a:r>
              <a:rPr lang="en-US" altLang="zh-CN" sz="2000" dirty="0" err="1">
                <a:solidFill>
                  <a:srgbClr val="FF0000"/>
                </a:solidFill>
                <a:ea typeface="CourierNewPSMT" charset="-122"/>
              </a:rPr>
              <a:t>data_rdy</a:t>
            </a:r>
            <a:r>
              <a:rPr lang="en-US" altLang="zh-CN" sz="2000" dirty="0">
                <a:solidFill>
                  <a:srgbClr val="FF0000"/>
                </a:solidFill>
                <a:ea typeface="CourierNewPSMT" charset="-122"/>
              </a:rPr>
              <a:t>;</a:t>
            </a:r>
          </a:p>
          <a:p>
            <a:r>
              <a:rPr lang="en-US" altLang="zh-CN" sz="2000" dirty="0">
                <a:solidFill>
                  <a:srgbClr val="FF0000"/>
                </a:solidFill>
                <a:ea typeface="CourierNewPS-BoldMT" charset="-122"/>
              </a:rPr>
              <a:t>    logic </a:t>
            </a:r>
            <a:r>
              <a:rPr lang="en-US" altLang="zh-CN" sz="2000" dirty="0" err="1">
                <a:solidFill>
                  <a:srgbClr val="FF0000"/>
                </a:solidFill>
                <a:ea typeface="CourierNewPSMT" charset="-122"/>
              </a:rPr>
              <a:t>mem_read</a:t>
            </a:r>
            <a:r>
              <a:rPr lang="en-US" altLang="zh-CN" sz="2000" dirty="0">
                <a:solidFill>
                  <a:srgbClr val="FF0000"/>
                </a:solidFill>
                <a:ea typeface="CourierNewPSMT" charset="-122"/>
              </a:rPr>
              <a:t>,</a:t>
            </a:r>
            <a:r>
              <a:rPr lang="en-US" altLang="zh-CN" sz="2000" dirty="0">
                <a:solidFill>
                  <a:srgbClr val="FF0000"/>
                </a:solidFill>
                <a:ea typeface="CourierNewPS-BoldMT" charset="-122"/>
              </a:rPr>
              <a:t> </a:t>
            </a:r>
            <a:r>
              <a:rPr lang="en-US" altLang="zh-CN" sz="2000" dirty="0" err="1">
                <a:solidFill>
                  <a:srgbClr val="FF0000"/>
                </a:solidFill>
                <a:ea typeface="CourierNewPSMT" charset="-122"/>
              </a:rPr>
              <a:t>mem_write</a:t>
            </a:r>
            <a:r>
              <a:rPr lang="en-US" altLang="zh-CN" sz="2000" dirty="0">
                <a:solidFill>
                  <a:srgbClr val="FF0000"/>
                </a:solidFill>
                <a:ea typeface="CourierNewPSMT" charset="-122"/>
              </a:rPr>
              <a:t>;</a:t>
            </a:r>
          </a:p>
          <a:p>
            <a:r>
              <a:rPr lang="en-US" altLang="zh-CN" sz="2000" dirty="0" err="1">
                <a:solidFill>
                  <a:srgbClr val="FF0000"/>
                </a:solidFill>
                <a:ea typeface="CourierNewPS-BoldMT" charset="-122"/>
              </a:rPr>
              <a:t>endinterface</a:t>
            </a:r>
            <a:endParaRPr lang="en-US" altLang="zh-CN" sz="2000" dirty="0">
              <a:solidFill>
                <a:srgbClr val="FF0000"/>
              </a:solidFill>
            </a:endParaRPr>
          </a:p>
        </p:txBody>
      </p:sp>
      <p:sp>
        <p:nvSpPr>
          <p:cNvPr id="6" name="Rectangle 3">
            <a:extLst>
              <a:ext uri="{FF2B5EF4-FFF2-40B4-BE49-F238E27FC236}">
                <a16:creationId xmlns:a16="http://schemas.microsoft.com/office/drawing/2014/main" id="{2F7AA997-D0CB-4DE9-A364-6739F84843A4}"/>
              </a:ext>
            </a:extLst>
          </p:cNvPr>
          <p:cNvSpPr>
            <a:spLocks noChangeArrowheads="1"/>
          </p:cNvSpPr>
          <p:nvPr/>
        </p:nvSpPr>
        <p:spPr bwMode="auto">
          <a:xfrm>
            <a:off x="5698836" y="3687901"/>
            <a:ext cx="611447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r>
              <a:rPr lang="en-US" altLang="zh-CN" sz="2000" dirty="0">
                <a:solidFill>
                  <a:srgbClr val="0000FF"/>
                </a:solidFill>
                <a:ea typeface="CourierNewPS-BoldMT" charset="-122"/>
              </a:rPr>
              <a:t>module </a:t>
            </a:r>
            <a:r>
              <a:rPr lang="en-US" altLang="zh-CN" sz="2000" dirty="0">
                <a:solidFill>
                  <a:srgbClr val="0000FF"/>
                </a:solidFill>
                <a:ea typeface="CourierNewPSMT" charset="-122"/>
              </a:rPr>
              <a:t>top (</a:t>
            </a:r>
            <a:r>
              <a:rPr lang="en-US" altLang="zh-CN" sz="2000" dirty="0">
                <a:solidFill>
                  <a:srgbClr val="0000FF"/>
                </a:solidFill>
                <a:ea typeface="CourierNewPS-BoldMT" charset="-122"/>
              </a:rPr>
              <a:t>input logic </a:t>
            </a:r>
            <a:r>
              <a:rPr lang="en-US" altLang="zh-CN" sz="2000" dirty="0">
                <a:solidFill>
                  <a:srgbClr val="0000FF"/>
                </a:solidFill>
                <a:ea typeface="CourierNewPSMT" charset="-122"/>
              </a:rPr>
              <a:t>clock, </a:t>
            </a:r>
            <a:r>
              <a:rPr lang="en-US" altLang="zh-CN" sz="2000" dirty="0" err="1">
                <a:solidFill>
                  <a:srgbClr val="0000FF"/>
                </a:solidFill>
                <a:ea typeface="CourierNewPSMT" charset="-122"/>
              </a:rPr>
              <a:t>resetn</a:t>
            </a:r>
            <a:r>
              <a:rPr lang="en-US" altLang="zh-CN" sz="2000" dirty="0">
                <a:solidFill>
                  <a:srgbClr val="0000FF"/>
                </a:solidFill>
                <a:ea typeface="CourierNewPSMT" charset="-122"/>
              </a:rPr>
              <a:t>);</a:t>
            </a:r>
          </a:p>
          <a:p>
            <a:r>
              <a:rPr lang="en-US" altLang="zh-CN" sz="2000" dirty="0">
                <a:solidFill>
                  <a:srgbClr val="0000FF"/>
                </a:solidFill>
                <a:ea typeface="CourierNewPS-BoldMT" charset="-122"/>
              </a:rPr>
              <a:t>    logic </a:t>
            </a:r>
            <a:r>
              <a:rPr lang="en-US" altLang="zh-CN" sz="2000" dirty="0">
                <a:solidFill>
                  <a:srgbClr val="0000FF"/>
                </a:solidFill>
                <a:ea typeface="CourierNewPSMT" charset="-122"/>
              </a:rPr>
              <a:t>[15:0] </a:t>
            </a:r>
            <a:r>
              <a:rPr lang="en-US" altLang="zh-CN" sz="2000" dirty="0" err="1">
                <a:solidFill>
                  <a:srgbClr val="0000FF"/>
                </a:solidFill>
                <a:ea typeface="CourierNewPSMT" charset="-122"/>
              </a:rPr>
              <a:t>program_addr</a:t>
            </a:r>
            <a:r>
              <a:rPr lang="en-US" altLang="zh-CN" sz="2000" dirty="0">
                <a:solidFill>
                  <a:srgbClr val="0000FF"/>
                </a:solidFill>
                <a:ea typeface="CourierNewPSMT" charset="-122"/>
              </a:rPr>
              <a:t>, </a:t>
            </a:r>
            <a:r>
              <a:rPr lang="en-US" altLang="zh-CN" sz="2000" dirty="0" err="1">
                <a:solidFill>
                  <a:srgbClr val="0000FF"/>
                </a:solidFill>
                <a:ea typeface="CourierNewPSMT" charset="-122"/>
              </a:rPr>
              <a:t>jump_addr</a:t>
            </a:r>
            <a:r>
              <a:rPr lang="en-US" altLang="zh-CN" sz="2000" dirty="0">
                <a:solidFill>
                  <a:srgbClr val="0000FF"/>
                </a:solidFill>
                <a:ea typeface="CourierNewPSMT" charset="-122"/>
              </a:rPr>
              <a:t>;</a:t>
            </a:r>
          </a:p>
          <a:p>
            <a:r>
              <a:rPr lang="en-US" altLang="zh-CN" sz="2000" dirty="0">
                <a:solidFill>
                  <a:srgbClr val="0000FF"/>
                </a:solidFill>
                <a:ea typeface="CourierNewPS-BoldMT" charset="-122"/>
              </a:rPr>
              <a:t>    logic </a:t>
            </a:r>
            <a:r>
              <a:rPr lang="en-US" altLang="zh-CN" sz="2000" dirty="0">
                <a:solidFill>
                  <a:srgbClr val="0000FF"/>
                </a:solidFill>
                <a:ea typeface="CourierNewPSMT" charset="-122"/>
              </a:rPr>
              <a:t>[ 7:0] </a:t>
            </a:r>
            <a:r>
              <a:rPr lang="en-US" altLang="zh-CN" sz="2000" dirty="0" err="1">
                <a:solidFill>
                  <a:srgbClr val="0000FF"/>
                </a:solidFill>
                <a:ea typeface="CourierNewPSMT" charset="-122"/>
              </a:rPr>
              <a:t>instr</a:t>
            </a:r>
            <a:r>
              <a:rPr lang="en-US" altLang="zh-CN" sz="2000" dirty="0">
                <a:solidFill>
                  <a:srgbClr val="0000FF"/>
                </a:solidFill>
                <a:ea typeface="CourierNewPSMT" charset="-122"/>
              </a:rPr>
              <a:t>, </a:t>
            </a:r>
            <a:r>
              <a:rPr lang="en-US" altLang="zh-CN" sz="2000" dirty="0" err="1">
                <a:solidFill>
                  <a:srgbClr val="0000FF"/>
                </a:solidFill>
                <a:ea typeface="CourierNewPSMT" charset="-122"/>
              </a:rPr>
              <a:t>next_instr</a:t>
            </a:r>
            <a:r>
              <a:rPr lang="en-US" altLang="zh-CN" sz="2000" dirty="0">
                <a:solidFill>
                  <a:srgbClr val="0000FF"/>
                </a:solidFill>
                <a:ea typeface="CourierNewPSMT" charset="-122"/>
              </a:rPr>
              <a:t>;</a:t>
            </a:r>
          </a:p>
          <a:p>
            <a:r>
              <a:rPr lang="en-US" altLang="zh-CN" sz="2000" dirty="0">
                <a:solidFill>
                  <a:srgbClr val="0000FF"/>
                </a:solidFill>
                <a:ea typeface="CourierNewPSMT" charset="-122"/>
              </a:rPr>
              <a:t>    </a:t>
            </a:r>
            <a:r>
              <a:rPr lang="en-US" altLang="zh-CN" sz="2000" dirty="0" err="1">
                <a:solidFill>
                  <a:srgbClr val="FF0000"/>
                </a:solidFill>
                <a:ea typeface="CourierNewPSMT" charset="-122"/>
              </a:rPr>
              <a:t>main_bus</a:t>
            </a:r>
            <a:r>
              <a:rPr lang="en-US" altLang="zh-CN" sz="2000" dirty="0">
                <a:solidFill>
                  <a:srgbClr val="FF0000"/>
                </a:solidFill>
                <a:ea typeface="CourierNewPSMT" charset="-122"/>
              </a:rPr>
              <a:t> bus (.clock(clock),.</a:t>
            </a:r>
            <a:r>
              <a:rPr lang="en-US" altLang="zh-CN" sz="2000" dirty="0" err="1">
                <a:solidFill>
                  <a:srgbClr val="FF0000"/>
                </a:solidFill>
                <a:ea typeface="CourierNewPSMT" charset="-122"/>
              </a:rPr>
              <a:t>resetn</a:t>
            </a:r>
            <a:r>
              <a:rPr lang="en-US" altLang="zh-CN" sz="2000" dirty="0">
                <a:solidFill>
                  <a:srgbClr val="FF0000"/>
                </a:solidFill>
                <a:ea typeface="CourierNewPSMT" charset="-122"/>
              </a:rPr>
              <a:t>(</a:t>
            </a:r>
            <a:r>
              <a:rPr lang="en-US" altLang="zh-CN" sz="2000" dirty="0" err="1">
                <a:solidFill>
                  <a:srgbClr val="FF0000"/>
                </a:solidFill>
                <a:ea typeface="CourierNewPSMT" charset="-122"/>
              </a:rPr>
              <a:t>resetn</a:t>
            </a:r>
            <a:r>
              <a:rPr lang="en-US" altLang="zh-CN" sz="2000" dirty="0">
                <a:solidFill>
                  <a:srgbClr val="FF0000"/>
                </a:solidFill>
                <a:ea typeface="CourierNewPSMT" charset="-122"/>
              </a:rPr>
              <a:t>))</a:t>
            </a:r>
            <a:r>
              <a:rPr lang="en-US" altLang="zh-CN" sz="2000" dirty="0">
                <a:solidFill>
                  <a:srgbClr val="0000FF"/>
                </a:solidFill>
                <a:ea typeface="CourierNewPSMT" charset="-122"/>
              </a:rPr>
              <a:t>;</a:t>
            </a:r>
          </a:p>
          <a:p>
            <a:r>
              <a:rPr lang="en-US" altLang="zh-CN" sz="2000" dirty="0">
                <a:solidFill>
                  <a:srgbClr val="0000FF"/>
                </a:solidFill>
                <a:ea typeface="CourierNewPSMT" charset="-122"/>
              </a:rPr>
              <a:t>processor proc1 (</a:t>
            </a:r>
          </a:p>
          <a:p>
            <a:r>
              <a:rPr lang="en-US" altLang="zh-CN" sz="2000" dirty="0">
                <a:solidFill>
                  <a:srgbClr val="0000FF"/>
                </a:solidFill>
                <a:ea typeface="CourierNewPSMT" charset="-122"/>
              </a:rPr>
              <a:t>   .bus(</a:t>
            </a:r>
            <a:r>
              <a:rPr lang="en-US" altLang="zh-CN" sz="2000" dirty="0">
                <a:solidFill>
                  <a:srgbClr val="FF0000"/>
                </a:solidFill>
                <a:ea typeface="CourierNewPSMT" charset="-122"/>
              </a:rPr>
              <a:t>bus</a:t>
            </a:r>
            <a:r>
              <a:rPr lang="en-US" altLang="zh-CN" sz="2000" dirty="0">
                <a:solidFill>
                  <a:srgbClr val="0000FF"/>
                </a:solidFill>
                <a:ea typeface="CourierNewPSMT" charset="-122"/>
              </a:rPr>
              <a:t>), // interface connection, </a:t>
            </a:r>
            <a:r>
              <a:rPr lang="en-US" altLang="zh-CN" sz="2000" dirty="0" err="1">
                <a:solidFill>
                  <a:srgbClr val="0000FF"/>
                </a:solidFill>
                <a:ea typeface="CourierNewPSMT" charset="-122"/>
              </a:rPr>
              <a:t>main_bus</a:t>
            </a:r>
            <a:r>
              <a:rPr lang="en-US" altLang="zh-CN" sz="2000" dirty="0">
                <a:solidFill>
                  <a:srgbClr val="0000FF"/>
                </a:solidFill>
                <a:ea typeface="CourierNewPSMT" charset="-122"/>
              </a:rPr>
              <a:t> ports</a:t>
            </a:r>
          </a:p>
          <a:p>
            <a:r>
              <a:rPr lang="en-US" altLang="zh-CN" sz="2000" dirty="0">
                <a:solidFill>
                  <a:srgbClr val="0000FF"/>
                </a:solidFill>
                <a:ea typeface="CourierNewPSMT" charset="-122"/>
              </a:rPr>
              <a:t>// other ports</a:t>
            </a:r>
          </a:p>
          <a:p>
            <a:r>
              <a:rPr lang="en-US" altLang="zh-CN" sz="2000" dirty="0">
                <a:solidFill>
                  <a:srgbClr val="0000FF"/>
                </a:solidFill>
                <a:ea typeface="CourierNewPSMT" charset="-122"/>
              </a:rPr>
              <a:t>    .</a:t>
            </a:r>
            <a:r>
              <a:rPr lang="en-US" altLang="zh-CN" sz="2000" dirty="0" err="1">
                <a:solidFill>
                  <a:srgbClr val="0000FF"/>
                </a:solidFill>
                <a:ea typeface="CourierNewPSMT" charset="-122"/>
              </a:rPr>
              <a:t>jump_addr</a:t>
            </a:r>
            <a:r>
              <a:rPr lang="en-US" altLang="zh-CN" sz="2000" dirty="0">
                <a:solidFill>
                  <a:srgbClr val="0000FF"/>
                </a:solidFill>
                <a:ea typeface="CourierNewPSMT" charset="-122"/>
              </a:rPr>
              <a:t> (</a:t>
            </a:r>
            <a:r>
              <a:rPr lang="en-US" altLang="zh-CN" sz="2000" dirty="0" err="1">
                <a:solidFill>
                  <a:srgbClr val="0000FF"/>
                </a:solidFill>
                <a:ea typeface="CourierNewPSMT" charset="-122"/>
              </a:rPr>
              <a:t>jump_addr</a:t>
            </a:r>
            <a:r>
              <a:rPr lang="en-US" altLang="zh-CN" sz="2000" dirty="0">
                <a:solidFill>
                  <a:srgbClr val="0000FF"/>
                </a:solidFill>
                <a:ea typeface="CourierNewPSMT" charset="-122"/>
              </a:rPr>
              <a:t>),</a:t>
            </a:r>
          </a:p>
          <a:p>
            <a:r>
              <a:rPr lang="en-US" altLang="zh-CN" sz="2000" dirty="0">
                <a:solidFill>
                  <a:srgbClr val="0000FF"/>
                </a:solidFill>
                <a:ea typeface="CourierNewPSMT" charset="-122"/>
              </a:rPr>
              <a:t>    .</a:t>
            </a:r>
            <a:r>
              <a:rPr lang="en-US" altLang="zh-CN" sz="2000" dirty="0" err="1">
                <a:solidFill>
                  <a:srgbClr val="0000FF"/>
                </a:solidFill>
                <a:ea typeface="CourierNewPSMT" charset="-122"/>
              </a:rPr>
              <a:t>instr</a:t>
            </a:r>
            <a:r>
              <a:rPr lang="en-US" altLang="zh-CN" sz="2000" dirty="0">
                <a:solidFill>
                  <a:srgbClr val="0000FF"/>
                </a:solidFill>
                <a:ea typeface="CourierNewPSMT" charset="-122"/>
              </a:rPr>
              <a:t> (</a:t>
            </a:r>
            <a:r>
              <a:rPr lang="en-US" altLang="zh-CN" sz="2000" dirty="0" err="1">
                <a:solidFill>
                  <a:srgbClr val="0000FF"/>
                </a:solidFill>
                <a:ea typeface="CourierNewPSMT" charset="-122"/>
              </a:rPr>
              <a:t>instr</a:t>
            </a:r>
            <a:r>
              <a:rPr lang="en-US" altLang="zh-CN" sz="2000" dirty="0">
                <a:solidFill>
                  <a:srgbClr val="0000FF"/>
                </a:solidFill>
                <a:ea typeface="CourierNewPSMT" charset="-122"/>
              </a:rPr>
              <a:t>));</a:t>
            </a:r>
          </a:p>
          <a:p>
            <a:r>
              <a:rPr lang="en-US" altLang="zh-CN" sz="2000" dirty="0">
                <a:solidFill>
                  <a:srgbClr val="0000FF"/>
                </a:solidFill>
                <a:ea typeface="CourierNewPSMT" charset="-122"/>
              </a:rPr>
              <a:t>...</a:t>
            </a: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ext Box 2">
            <a:extLst>
              <a:ext uri="{FF2B5EF4-FFF2-40B4-BE49-F238E27FC236}">
                <a16:creationId xmlns:a16="http://schemas.microsoft.com/office/drawing/2014/main" id="{EAF0FA11-0792-4F65-BD01-839DDA4E4593}"/>
              </a:ext>
            </a:extLst>
          </p:cNvPr>
          <p:cNvSpPr txBox="1">
            <a:spLocks noChangeArrowheads="1"/>
          </p:cNvSpPr>
          <p:nvPr/>
        </p:nvSpPr>
        <p:spPr bwMode="auto">
          <a:xfrm>
            <a:off x="798945" y="208396"/>
            <a:ext cx="8954655"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4400" dirty="0">
                <a:solidFill>
                  <a:srgbClr val="000066"/>
                </a:solidFill>
                <a:latin typeface="Arial" panose="020B0604020202020204" pitchFamily="34" charset="0"/>
              </a:rPr>
              <a:t>将接口用作模块端口</a:t>
            </a:r>
          </a:p>
        </p:txBody>
      </p:sp>
      <p:sp>
        <p:nvSpPr>
          <p:cNvPr id="90115" name="Text Box 3">
            <a:extLst>
              <a:ext uri="{FF2B5EF4-FFF2-40B4-BE49-F238E27FC236}">
                <a16:creationId xmlns:a16="http://schemas.microsoft.com/office/drawing/2014/main" id="{295071F5-FBC0-4202-87AA-17E3ADB973B0}"/>
              </a:ext>
            </a:extLst>
          </p:cNvPr>
          <p:cNvSpPr txBox="1">
            <a:spLocks noChangeArrowheads="1"/>
          </p:cNvSpPr>
          <p:nvPr/>
        </p:nvSpPr>
        <p:spPr bwMode="auto">
          <a:xfrm>
            <a:off x="875144" y="1110673"/>
            <a:ext cx="1100282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FF0000"/>
                </a:solidFill>
                <a:ea typeface="CourierNewPS-BoldMT" charset="-122"/>
              </a:rPr>
              <a:t>显式命名的接口端口</a:t>
            </a:r>
            <a:r>
              <a:rPr lang="zh-CN" altLang="en-US" sz="2400" dirty="0">
                <a:solidFill>
                  <a:srgbClr val="0000FF"/>
                </a:solidFill>
                <a:ea typeface="CourierNewPS-BoldMT" charset="-122"/>
              </a:rPr>
              <a:t>：在模块端口可以显式的声明为特定接口类型，显式命名的接口端口只可以连接到同一名称的接口上。</a:t>
            </a:r>
          </a:p>
          <a:p>
            <a:pPr>
              <a:spcBef>
                <a:spcPct val="0"/>
              </a:spcBef>
            </a:pPr>
            <a:r>
              <a:rPr lang="en-US" altLang="zh-CN" sz="2400" dirty="0">
                <a:solidFill>
                  <a:srgbClr val="0000FF"/>
                </a:solidFill>
                <a:ea typeface="CourierNewPS-BoldMT" charset="-122"/>
              </a:rPr>
              <a:t>interface </a:t>
            </a:r>
            <a:r>
              <a:rPr lang="en-US" altLang="zh-CN" sz="2400" dirty="0" err="1">
                <a:solidFill>
                  <a:srgbClr val="0000FF"/>
                </a:solidFill>
                <a:ea typeface="CourierNewPS-BoldMT" charset="-122"/>
              </a:rPr>
              <a:t>chip_bus</a:t>
            </a:r>
            <a:r>
              <a:rPr lang="en-US" altLang="zh-CN" sz="2400" dirty="0">
                <a:solidFill>
                  <a:srgbClr val="0000FF"/>
                </a:solidFill>
                <a:ea typeface="CourierNewPS-BoldMT" charset="-122"/>
              </a:rPr>
              <a:t>;</a:t>
            </a:r>
          </a:p>
          <a:p>
            <a:pPr>
              <a:spcBef>
                <a:spcPct val="0"/>
              </a:spcBef>
            </a:pPr>
            <a:r>
              <a:rPr lang="en-US" altLang="zh-CN" sz="2400" dirty="0">
                <a:solidFill>
                  <a:srgbClr val="0000FF"/>
                </a:solidFill>
                <a:ea typeface="CourierNewPSMT" charset="-122"/>
              </a:rPr>
              <a:t>…</a:t>
            </a:r>
          </a:p>
          <a:p>
            <a:pPr>
              <a:spcBef>
                <a:spcPct val="0"/>
              </a:spcBef>
            </a:pPr>
            <a:r>
              <a:rPr lang="en-US" altLang="zh-CN" sz="2400" dirty="0" err="1">
                <a:solidFill>
                  <a:srgbClr val="0000FF"/>
                </a:solidFill>
                <a:ea typeface="CourierNewPSMT" charset="-122"/>
              </a:rPr>
              <a:t>endinterface</a:t>
            </a:r>
            <a:endParaRPr lang="en-US" altLang="zh-CN" sz="2400" dirty="0">
              <a:solidFill>
                <a:srgbClr val="0000FF"/>
              </a:solidFill>
              <a:ea typeface="CourierNewPSMT" charset="-122"/>
            </a:endParaRPr>
          </a:p>
          <a:p>
            <a:pPr>
              <a:spcBef>
                <a:spcPct val="0"/>
              </a:spcBef>
            </a:pPr>
            <a:r>
              <a:rPr lang="en-US" altLang="zh-CN" sz="2400" dirty="0">
                <a:solidFill>
                  <a:srgbClr val="0000FF"/>
                </a:solidFill>
                <a:ea typeface="CourierNewPSMT" charset="-122"/>
              </a:rPr>
              <a:t>module cache (</a:t>
            </a:r>
            <a:r>
              <a:rPr lang="en-US" altLang="zh-CN" sz="2400" dirty="0" err="1">
                <a:solidFill>
                  <a:srgbClr val="0000FF"/>
                </a:solidFill>
                <a:ea typeface="CourierNewPSMT" charset="-122"/>
              </a:rPr>
              <a:t>chip_bus</a:t>
            </a:r>
            <a:r>
              <a:rPr lang="en-US" altLang="zh-CN" sz="2400" dirty="0">
                <a:solidFill>
                  <a:srgbClr val="0000FF"/>
                </a:solidFill>
                <a:ea typeface="CourierNewPSMT" charset="-122"/>
              </a:rPr>
              <a:t> pins, input clock);</a:t>
            </a:r>
          </a:p>
          <a:p>
            <a:pPr>
              <a:spcBef>
                <a:spcPct val="0"/>
              </a:spcBef>
            </a:pPr>
            <a:r>
              <a:rPr lang="en-US" altLang="zh-CN" sz="2400" dirty="0">
                <a:solidFill>
                  <a:srgbClr val="0000FF"/>
                </a:solidFill>
                <a:ea typeface="CourierNewPSMT" charset="-122"/>
              </a:rPr>
              <a:t>…</a:t>
            </a:r>
          </a:p>
          <a:p>
            <a:pPr>
              <a:spcBef>
                <a:spcPct val="0"/>
              </a:spcBef>
            </a:pPr>
            <a:r>
              <a:rPr lang="en-US" altLang="zh-CN" sz="2400" dirty="0" err="1">
                <a:solidFill>
                  <a:srgbClr val="0000FF"/>
                </a:solidFill>
                <a:ea typeface="CourierNewPSMT" charset="-122"/>
              </a:rPr>
              <a:t>endmodule</a:t>
            </a:r>
            <a:endParaRPr lang="en-US" altLang="zh-CN" sz="2400" dirty="0">
              <a:solidFill>
                <a:srgbClr val="0000FF"/>
              </a:solidFill>
              <a:ea typeface="CourierNewPSMT" charset="-122"/>
            </a:endParaRPr>
          </a:p>
          <a:p>
            <a:pPr>
              <a:spcBef>
                <a:spcPct val="0"/>
              </a:spcBef>
            </a:pPr>
            <a:endParaRPr lang="en-US" altLang="zh-CN" sz="2400" dirty="0">
              <a:solidFill>
                <a:srgbClr val="0000FF"/>
              </a:solidFill>
              <a:ea typeface="CourierNewPSMT" charset="-122"/>
            </a:endParaRPr>
          </a:p>
          <a:p>
            <a:pPr>
              <a:spcBef>
                <a:spcPct val="0"/>
              </a:spcBef>
            </a:pPr>
            <a:r>
              <a:rPr lang="zh-CN" altLang="en-US" sz="2400" dirty="0">
                <a:solidFill>
                  <a:srgbClr val="FF0000"/>
                </a:solidFill>
                <a:ea typeface="CourierNewPSMT" charset="-122"/>
              </a:rPr>
              <a:t>通用接口端口</a:t>
            </a:r>
            <a:r>
              <a:rPr lang="zh-CN" altLang="en-US" sz="2400" dirty="0">
                <a:solidFill>
                  <a:srgbClr val="0000FF"/>
                </a:solidFill>
                <a:ea typeface="CourierNewPSMT" charset="-122"/>
              </a:rPr>
              <a:t>：通用接口端口用关键字</a:t>
            </a:r>
            <a:r>
              <a:rPr lang="en-US" altLang="zh-CN" sz="2400" dirty="0">
                <a:solidFill>
                  <a:srgbClr val="0000FF"/>
                </a:solidFill>
                <a:ea typeface="CourierNewPSMT" charset="-122"/>
              </a:rPr>
              <a:t>interface</a:t>
            </a:r>
            <a:r>
              <a:rPr lang="zh-CN" altLang="en-US" sz="2400" dirty="0">
                <a:solidFill>
                  <a:srgbClr val="0000FF"/>
                </a:solidFill>
                <a:ea typeface="CourierNewPSMT" charset="-122"/>
              </a:rPr>
              <a:t>定义端口类型，而不是使用特定接口类型，模块实例化时，任何接口都可以连接到通用接口端口上。</a:t>
            </a:r>
          </a:p>
          <a:p>
            <a:pPr>
              <a:spcBef>
                <a:spcPct val="0"/>
              </a:spcBef>
            </a:pPr>
            <a:r>
              <a:rPr lang="en-US" altLang="zh-CN" sz="2400" dirty="0">
                <a:solidFill>
                  <a:srgbClr val="0000FF"/>
                </a:solidFill>
                <a:ea typeface="CourierNewPSMT" charset="-122"/>
              </a:rPr>
              <a:t>module ram (interface pins, input clock);</a:t>
            </a:r>
          </a:p>
          <a:p>
            <a:pPr>
              <a:spcBef>
                <a:spcPct val="0"/>
              </a:spcBef>
            </a:pPr>
            <a:r>
              <a:rPr lang="en-US" altLang="zh-CN" sz="2400" dirty="0">
                <a:solidFill>
                  <a:srgbClr val="0000FF"/>
                </a:solidFill>
                <a:ea typeface="CourierNewPSMT" charset="-122"/>
              </a:rPr>
              <a:t>…</a:t>
            </a:r>
          </a:p>
          <a:p>
            <a:pPr>
              <a:spcBef>
                <a:spcPct val="0"/>
              </a:spcBef>
            </a:pPr>
            <a:r>
              <a:rPr lang="en-US" altLang="zh-CN" sz="2400" dirty="0" err="1">
                <a:solidFill>
                  <a:srgbClr val="0000FF"/>
                </a:solidFill>
                <a:ea typeface="CourierNewPSMT" charset="-122"/>
              </a:rPr>
              <a:t>endmodule</a:t>
            </a:r>
            <a:endParaRPr lang="en-US" altLang="zh-CN" sz="2400" dirty="0">
              <a:solidFill>
                <a:srgbClr val="0000FF"/>
              </a:solidFill>
              <a:ea typeface="CourierNewPSMT"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ext Box 2">
            <a:extLst>
              <a:ext uri="{FF2B5EF4-FFF2-40B4-BE49-F238E27FC236}">
                <a16:creationId xmlns:a16="http://schemas.microsoft.com/office/drawing/2014/main" id="{0BB51905-A631-4FE9-9070-0678AC2A18C9}"/>
              </a:ext>
            </a:extLst>
          </p:cNvPr>
          <p:cNvSpPr txBox="1">
            <a:spLocks noChangeArrowheads="1"/>
          </p:cNvSpPr>
          <p:nvPr/>
        </p:nvSpPr>
        <p:spPr bwMode="auto">
          <a:xfrm>
            <a:off x="540327" y="180687"/>
            <a:ext cx="936567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000" dirty="0">
                <a:solidFill>
                  <a:srgbClr val="000066"/>
                </a:solidFill>
                <a:latin typeface="Arial" panose="020B0604020202020204" pitchFamily="34" charset="0"/>
              </a:rPr>
              <a:t>System Verilog</a:t>
            </a:r>
            <a:r>
              <a:rPr lang="zh-CN" altLang="en-US" sz="4000" dirty="0">
                <a:solidFill>
                  <a:srgbClr val="000066"/>
                </a:solidFill>
                <a:latin typeface="Arial" panose="020B0604020202020204" pitchFamily="34" charset="0"/>
              </a:rPr>
              <a:t>接口实例化和连接</a:t>
            </a:r>
          </a:p>
        </p:txBody>
      </p:sp>
      <p:sp>
        <p:nvSpPr>
          <p:cNvPr id="92163" name="Text Box 3">
            <a:extLst>
              <a:ext uri="{FF2B5EF4-FFF2-40B4-BE49-F238E27FC236}">
                <a16:creationId xmlns:a16="http://schemas.microsoft.com/office/drawing/2014/main" id="{53A289A8-7063-4BCC-AD28-1BBC403E4E90}"/>
              </a:ext>
            </a:extLst>
          </p:cNvPr>
          <p:cNvSpPr txBox="1">
            <a:spLocks noChangeArrowheads="1"/>
          </p:cNvSpPr>
          <p:nvPr/>
        </p:nvSpPr>
        <p:spPr bwMode="auto">
          <a:xfrm>
            <a:off x="475672" y="950128"/>
            <a:ext cx="114207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spcBef>
                <a:spcPct val="0"/>
              </a:spcBef>
              <a:buFont typeface="Arial" panose="020B0604020202020204" pitchFamily="34" charset="0"/>
              <a:buChar char="•"/>
            </a:pPr>
            <a:r>
              <a:rPr lang="zh-CN" altLang="en-US" sz="2400" dirty="0">
                <a:solidFill>
                  <a:srgbClr val="0000FF"/>
                </a:solidFill>
                <a:ea typeface="CourierNewPS-BoldMT" charset="-122"/>
              </a:rPr>
              <a:t>接口实例化的方式与模块相同，如果接口定义有端口，那么信号可以像模块实例化一样通过端口次序连接方式或端口名称连接方式连接到接口实例上。</a:t>
            </a:r>
          </a:p>
          <a:p>
            <a:pPr marL="285750" indent="-285750">
              <a:spcBef>
                <a:spcPct val="0"/>
              </a:spcBef>
              <a:buFont typeface="Arial" panose="020B0604020202020204" pitchFamily="34" charset="0"/>
              <a:buChar char="•"/>
            </a:pPr>
            <a:r>
              <a:rPr lang="zh-CN" altLang="en-US" sz="2400" dirty="0">
                <a:solidFill>
                  <a:srgbClr val="FF0000"/>
                </a:solidFill>
                <a:ea typeface="CourierNewPS-BoldMT" charset="-122"/>
              </a:rPr>
              <a:t>接口类型的端口必须连接，不能悬空！</a:t>
            </a:r>
            <a:endParaRPr lang="zh-CN" altLang="en-US" sz="2400" dirty="0">
              <a:solidFill>
                <a:srgbClr val="0000FF"/>
              </a:solidFill>
              <a:ea typeface="CourierNewPS-BoldMT" charset="-122"/>
            </a:endParaRPr>
          </a:p>
          <a:p>
            <a:pPr marL="285750" indent="-285750">
              <a:spcBef>
                <a:spcPct val="0"/>
              </a:spcBef>
              <a:buFont typeface="Arial" panose="020B0604020202020204" pitchFamily="34" charset="0"/>
              <a:buChar char="•"/>
            </a:pPr>
            <a:r>
              <a:rPr lang="zh-CN" altLang="en-US" sz="2400" dirty="0">
                <a:solidFill>
                  <a:srgbClr val="0000FF"/>
                </a:solidFill>
                <a:ea typeface="CourierNewPS-BoldMT" charset="-122"/>
              </a:rPr>
              <a:t>接口的端口也可以定义为一个接口，从而使接口可以连接到另一个接口上。</a:t>
            </a:r>
            <a:endParaRPr lang="zh-CN" altLang="en-US" sz="2400" dirty="0">
              <a:solidFill>
                <a:srgbClr val="0000FF"/>
              </a:solidFill>
              <a:ea typeface="CourierNewPSMT" charset="-122"/>
            </a:endParaRPr>
          </a:p>
        </p:txBody>
      </p:sp>
      <p:sp>
        <p:nvSpPr>
          <p:cNvPr id="4" name="Text Box 2">
            <a:extLst>
              <a:ext uri="{FF2B5EF4-FFF2-40B4-BE49-F238E27FC236}">
                <a16:creationId xmlns:a16="http://schemas.microsoft.com/office/drawing/2014/main" id="{42D30CEB-8568-48E7-BF5C-A04978343FED}"/>
              </a:ext>
            </a:extLst>
          </p:cNvPr>
          <p:cNvSpPr txBox="1">
            <a:spLocks noChangeArrowheads="1"/>
          </p:cNvSpPr>
          <p:nvPr/>
        </p:nvSpPr>
        <p:spPr bwMode="auto">
          <a:xfrm>
            <a:off x="540327" y="2721114"/>
            <a:ext cx="1046941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000" dirty="0">
                <a:solidFill>
                  <a:srgbClr val="000066"/>
                </a:solidFill>
                <a:latin typeface="Arial" panose="020B0604020202020204" pitchFamily="34" charset="0"/>
              </a:rPr>
              <a:t>System Verilog</a:t>
            </a:r>
            <a:r>
              <a:rPr lang="zh-CN" altLang="en-US" sz="4000" dirty="0">
                <a:solidFill>
                  <a:srgbClr val="000066"/>
                </a:solidFill>
                <a:latin typeface="Arial" panose="020B0604020202020204" pitchFamily="34" charset="0"/>
              </a:rPr>
              <a:t>接口内部信号的引用</a:t>
            </a:r>
          </a:p>
        </p:txBody>
      </p:sp>
      <p:sp>
        <p:nvSpPr>
          <p:cNvPr id="2" name="矩形 1">
            <a:extLst>
              <a:ext uri="{FF2B5EF4-FFF2-40B4-BE49-F238E27FC236}">
                <a16:creationId xmlns:a16="http://schemas.microsoft.com/office/drawing/2014/main" id="{854FFBFC-0C71-4AB3-B359-883102EDB194}"/>
              </a:ext>
            </a:extLst>
          </p:cNvPr>
          <p:cNvSpPr/>
          <p:nvPr/>
        </p:nvSpPr>
        <p:spPr>
          <a:xfrm>
            <a:off x="507999" y="3630325"/>
            <a:ext cx="11176001" cy="3046988"/>
          </a:xfrm>
          <a:prstGeom prst="rect">
            <a:avLst/>
          </a:prstGeom>
        </p:spPr>
        <p:txBody>
          <a:bodyPr wrap="square">
            <a:spAutoFit/>
          </a:bodyPr>
          <a:lstStyle/>
          <a:p>
            <a:pPr>
              <a:spcBef>
                <a:spcPct val="0"/>
              </a:spcBef>
            </a:pPr>
            <a:r>
              <a:rPr lang="zh-CN" altLang="en-US" sz="2400" dirty="0">
                <a:solidFill>
                  <a:srgbClr val="0000FF"/>
                </a:solidFill>
                <a:ea typeface="CourierNewPS-BoldMT" charset="-122"/>
              </a:rPr>
              <a:t>接口内部信号用端口名进行访问：</a:t>
            </a:r>
            <a:r>
              <a:rPr lang="en-US" altLang="zh-CN" sz="2400" dirty="0">
                <a:solidFill>
                  <a:srgbClr val="0000FF"/>
                </a:solidFill>
                <a:ea typeface="CourierNewPS-BoldMT" charset="-122"/>
              </a:rPr>
              <a:t>&lt;</a:t>
            </a:r>
            <a:r>
              <a:rPr lang="zh-CN" altLang="en-US" sz="2400" dirty="0">
                <a:solidFill>
                  <a:srgbClr val="0000FF"/>
                </a:solidFill>
                <a:ea typeface="CourierNewPS-BoldMT" charset="-122"/>
              </a:rPr>
              <a:t>端口名称</a:t>
            </a:r>
            <a:r>
              <a:rPr lang="en-US" altLang="zh-CN" sz="2400" dirty="0">
                <a:solidFill>
                  <a:srgbClr val="0000FF"/>
                </a:solidFill>
                <a:ea typeface="CourierNewPS-BoldMT" charset="-122"/>
              </a:rPr>
              <a:t>&gt;.&lt;</a:t>
            </a:r>
            <a:r>
              <a:rPr lang="zh-CN" altLang="en-US" sz="2400" dirty="0">
                <a:solidFill>
                  <a:srgbClr val="0000FF"/>
                </a:solidFill>
                <a:ea typeface="CourierNewPS-BoldMT" charset="-122"/>
              </a:rPr>
              <a:t>接口内部信号名称</a:t>
            </a:r>
            <a:r>
              <a:rPr lang="en-US" altLang="zh-CN" sz="2400" dirty="0">
                <a:solidFill>
                  <a:srgbClr val="0000FF"/>
                </a:solidFill>
                <a:ea typeface="CourierNewPS-BoldMT" charset="-122"/>
              </a:rPr>
              <a:t>&gt;</a:t>
            </a:r>
            <a:r>
              <a:rPr lang="zh-CN" altLang="en-US" sz="2400" dirty="0">
                <a:solidFill>
                  <a:srgbClr val="0000FF"/>
                </a:solidFill>
                <a:ea typeface="CourierNewPS-BoldMT" charset="-122"/>
              </a:rPr>
              <a:t>。</a:t>
            </a:r>
          </a:p>
          <a:p>
            <a:pPr>
              <a:spcBef>
                <a:spcPct val="0"/>
              </a:spcBef>
            </a:pPr>
            <a:r>
              <a:rPr lang="en-US" altLang="zh-CN" sz="2400" dirty="0">
                <a:solidFill>
                  <a:srgbClr val="0000FF"/>
                </a:solidFill>
                <a:ea typeface="CourierNewPS-BoldMT" charset="-122"/>
              </a:rPr>
              <a:t>module </a:t>
            </a:r>
            <a:r>
              <a:rPr lang="en-US" altLang="zh-CN" sz="2400" dirty="0">
                <a:solidFill>
                  <a:srgbClr val="0000FF"/>
                </a:solidFill>
                <a:ea typeface="CourierNewPSMT" charset="-122"/>
              </a:rPr>
              <a:t>slave ( </a:t>
            </a:r>
            <a:r>
              <a:rPr lang="en-US" altLang="zh-CN" sz="2400" dirty="0" err="1">
                <a:solidFill>
                  <a:srgbClr val="0000FF"/>
                </a:solidFill>
                <a:ea typeface="CourierNewPSMT" charset="-122"/>
              </a:rPr>
              <a:t>main_bus</a:t>
            </a:r>
            <a:r>
              <a:rPr lang="en-US" altLang="zh-CN" sz="2400" dirty="0">
                <a:solidFill>
                  <a:srgbClr val="0000FF"/>
                </a:solidFill>
                <a:ea typeface="CourierNewPSMT" charset="-122"/>
              </a:rPr>
              <a:t> bus, …);</a:t>
            </a:r>
          </a:p>
          <a:p>
            <a:pPr>
              <a:spcBef>
                <a:spcPct val="0"/>
              </a:spcBef>
            </a:pPr>
            <a:r>
              <a:rPr lang="en-US" altLang="zh-CN" sz="2400" dirty="0">
                <a:solidFill>
                  <a:srgbClr val="0000FF"/>
                </a:solidFill>
                <a:ea typeface="CourierNewPSMT" charset="-122"/>
              </a:rPr>
              <a:t>// internal signals</a:t>
            </a:r>
          </a:p>
          <a:p>
            <a:pPr>
              <a:spcBef>
                <a:spcPct val="0"/>
              </a:spcBef>
            </a:pPr>
            <a:r>
              <a:rPr lang="en-US" altLang="zh-CN" sz="2400" dirty="0">
                <a:solidFill>
                  <a:srgbClr val="0000FF"/>
                </a:solidFill>
                <a:ea typeface="CourierNewPS-BoldMT" charset="-122"/>
              </a:rPr>
              <a:t>    logic </a:t>
            </a:r>
            <a:r>
              <a:rPr lang="en-US" altLang="zh-CN" sz="2400" dirty="0">
                <a:solidFill>
                  <a:srgbClr val="0000FF"/>
                </a:solidFill>
                <a:ea typeface="CourierNewPSMT" charset="-122"/>
              </a:rPr>
              <a:t>[15:0] </a:t>
            </a:r>
            <a:r>
              <a:rPr lang="en-US" altLang="zh-CN" sz="2400" dirty="0" err="1">
                <a:solidFill>
                  <a:srgbClr val="0000FF"/>
                </a:solidFill>
                <a:ea typeface="CourierNewPSMT" charset="-122"/>
              </a:rPr>
              <a:t>slave_data</a:t>
            </a:r>
            <a:r>
              <a:rPr lang="en-US" altLang="zh-CN" sz="2400" dirty="0">
                <a:solidFill>
                  <a:srgbClr val="0000FF"/>
                </a:solidFill>
                <a:ea typeface="CourierNewPSMT" charset="-122"/>
              </a:rPr>
              <a:t>, </a:t>
            </a:r>
            <a:r>
              <a:rPr lang="en-US" altLang="zh-CN" sz="2400" dirty="0" err="1">
                <a:solidFill>
                  <a:srgbClr val="0000FF"/>
                </a:solidFill>
                <a:ea typeface="CourierNewPSMT" charset="-122"/>
              </a:rPr>
              <a:t>slave_addr</a:t>
            </a:r>
            <a:r>
              <a:rPr lang="en-US" altLang="zh-CN" sz="2400" dirty="0">
                <a:solidFill>
                  <a:srgbClr val="0000FF"/>
                </a:solidFill>
                <a:ea typeface="CourierNewPSMT" charset="-122"/>
              </a:rPr>
              <a:t>;</a:t>
            </a:r>
          </a:p>
          <a:p>
            <a:pPr>
              <a:spcBef>
                <a:spcPct val="0"/>
              </a:spcBef>
            </a:pPr>
            <a:r>
              <a:rPr lang="en-US" altLang="zh-CN" sz="2400" dirty="0">
                <a:solidFill>
                  <a:srgbClr val="0000FF"/>
                </a:solidFill>
                <a:ea typeface="CourierNewPS-BoldMT" charset="-122"/>
              </a:rPr>
              <a:t>    logic </a:t>
            </a:r>
            <a:r>
              <a:rPr lang="en-US" altLang="zh-CN" sz="2400" dirty="0">
                <a:solidFill>
                  <a:srgbClr val="0000FF"/>
                </a:solidFill>
                <a:ea typeface="CourierNewPSMT" charset="-122"/>
              </a:rPr>
              <a:t>[15:0] </a:t>
            </a:r>
            <a:r>
              <a:rPr lang="en-US" altLang="zh-CN" sz="2400" dirty="0" err="1">
                <a:solidFill>
                  <a:srgbClr val="0000FF"/>
                </a:solidFill>
                <a:ea typeface="CourierNewPSMT" charset="-122"/>
              </a:rPr>
              <a:t>operand_A</a:t>
            </a:r>
            <a:r>
              <a:rPr lang="en-US" altLang="zh-CN" sz="2400" dirty="0">
                <a:solidFill>
                  <a:srgbClr val="0000FF"/>
                </a:solidFill>
                <a:ea typeface="CourierNewPSMT" charset="-122"/>
              </a:rPr>
              <a:t>, </a:t>
            </a:r>
            <a:r>
              <a:rPr lang="en-US" altLang="zh-CN" sz="2400" dirty="0" err="1">
                <a:solidFill>
                  <a:srgbClr val="0000FF"/>
                </a:solidFill>
                <a:ea typeface="CourierNewPSMT" charset="-122"/>
              </a:rPr>
              <a:t>operand_B</a:t>
            </a:r>
            <a:r>
              <a:rPr lang="en-US" altLang="zh-CN" sz="2400" dirty="0">
                <a:solidFill>
                  <a:srgbClr val="0000FF"/>
                </a:solidFill>
                <a:ea typeface="CourierNewPSMT" charset="-122"/>
              </a:rPr>
              <a:t>;</a:t>
            </a:r>
          </a:p>
          <a:p>
            <a:pPr>
              <a:spcBef>
                <a:spcPct val="0"/>
              </a:spcBef>
            </a:pPr>
            <a:r>
              <a:rPr lang="en-US" altLang="zh-CN" sz="2400" dirty="0">
                <a:solidFill>
                  <a:srgbClr val="0000FF"/>
                </a:solidFill>
                <a:ea typeface="CourierNewPS-BoldMT" charset="-122"/>
              </a:rPr>
              <a:t>    logic </a:t>
            </a:r>
            <a:r>
              <a:rPr lang="en-US" altLang="zh-CN" sz="2400" dirty="0" err="1">
                <a:solidFill>
                  <a:srgbClr val="0000FF"/>
                </a:solidFill>
                <a:ea typeface="CourierNewPSMT" charset="-122"/>
              </a:rPr>
              <a:t>mem_select</a:t>
            </a:r>
            <a:r>
              <a:rPr lang="en-US" altLang="zh-CN" sz="2400" dirty="0">
                <a:solidFill>
                  <a:srgbClr val="0000FF"/>
                </a:solidFill>
                <a:ea typeface="CourierNewPSMT" charset="-122"/>
              </a:rPr>
              <a:t>, read, write;</a:t>
            </a:r>
          </a:p>
          <a:p>
            <a:pPr>
              <a:spcBef>
                <a:spcPct val="0"/>
              </a:spcBef>
            </a:pPr>
            <a:r>
              <a:rPr lang="en-US" altLang="zh-CN" sz="2400" dirty="0">
                <a:solidFill>
                  <a:srgbClr val="0000FF"/>
                </a:solidFill>
                <a:ea typeface="CourierNewPS-BoldMT" charset="-122"/>
              </a:rPr>
              <a:t>    assign </a:t>
            </a:r>
            <a:r>
              <a:rPr lang="en-US" altLang="zh-CN" sz="2400" dirty="0" err="1">
                <a:solidFill>
                  <a:srgbClr val="FF0000"/>
                </a:solidFill>
                <a:ea typeface="CourierNewPSMT" charset="-122"/>
              </a:rPr>
              <a:t>bus.addr</a:t>
            </a:r>
            <a:r>
              <a:rPr lang="en-US" altLang="zh-CN" sz="2400" dirty="0">
                <a:solidFill>
                  <a:srgbClr val="0000FF"/>
                </a:solidFill>
                <a:ea typeface="CourierNewPSMT" charset="-122"/>
              </a:rPr>
              <a:t> = </a:t>
            </a:r>
            <a:r>
              <a:rPr lang="en-US" altLang="zh-CN" sz="2400" dirty="0" err="1">
                <a:solidFill>
                  <a:srgbClr val="0000FF"/>
                </a:solidFill>
                <a:ea typeface="CourierNewPSMT" charset="-122"/>
              </a:rPr>
              <a:t>mem_select</a:t>
            </a:r>
            <a:r>
              <a:rPr lang="en-US" altLang="zh-CN" sz="2400" dirty="0">
                <a:solidFill>
                  <a:srgbClr val="0000FF"/>
                </a:solidFill>
                <a:ea typeface="CourierNewPSMT" charset="-122"/>
              </a:rPr>
              <a:t>? </a:t>
            </a:r>
            <a:r>
              <a:rPr lang="en-US" altLang="zh-CN" sz="2400" dirty="0" err="1">
                <a:solidFill>
                  <a:srgbClr val="0000FF"/>
                </a:solidFill>
                <a:ea typeface="CourierNewPSMT" charset="-122"/>
              </a:rPr>
              <a:t>slave_addr</a:t>
            </a:r>
            <a:r>
              <a:rPr lang="en-US" altLang="zh-CN" sz="2400" dirty="0">
                <a:solidFill>
                  <a:srgbClr val="0000FF"/>
                </a:solidFill>
                <a:ea typeface="CourierNewPSMT" charset="-122"/>
              </a:rPr>
              <a:t>: ’z;</a:t>
            </a:r>
          </a:p>
          <a:p>
            <a:pPr>
              <a:spcBef>
                <a:spcPct val="0"/>
              </a:spcBef>
            </a:pPr>
            <a:r>
              <a:rPr lang="en-US" altLang="zh-CN" sz="2400" dirty="0">
                <a:solidFill>
                  <a:srgbClr val="0000FF"/>
                </a:solidFill>
                <a:ea typeface="CourierNewPS-BoldMT" charset="-122"/>
              </a:rPr>
              <a:t>    assign </a:t>
            </a:r>
            <a:r>
              <a:rPr lang="en-US" altLang="zh-CN" sz="2400" dirty="0" err="1">
                <a:solidFill>
                  <a:srgbClr val="FF0000"/>
                </a:solidFill>
                <a:ea typeface="CourierNewPSMT" charset="-122"/>
              </a:rPr>
              <a:t>bus.data</a:t>
            </a:r>
            <a:r>
              <a:rPr lang="en-US" altLang="zh-CN" sz="2400" dirty="0">
                <a:solidFill>
                  <a:srgbClr val="0000FF"/>
                </a:solidFill>
                <a:ea typeface="CourierNewPSMT" charset="-122"/>
              </a:rPr>
              <a:t>  = </a:t>
            </a:r>
            <a:r>
              <a:rPr lang="en-US" altLang="zh-CN" sz="2400" dirty="0" err="1">
                <a:solidFill>
                  <a:srgbClr val="0000FF"/>
                </a:solidFill>
                <a:ea typeface="CourierNewPSMT" charset="-122"/>
              </a:rPr>
              <a:t>bus.slave_rdy</a:t>
            </a:r>
            <a:r>
              <a:rPr lang="en-US" altLang="zh-CN" sz="2400" dirty="0">
                <a:solidFill>
                  <a:srgbClr val="0000FF"/>
                </a:solidFill>
                <a:ea typeface="CourierNewPSMT" charset="-122"/>
              </a:rPr>
              <a:t>? </a:t>
            </a:r>
            <a:r>
              <a:rPr lang="en-US" altLang="zh-CN" sz="2400" dirty="0" err="1">
                <a:solidFill>
                  <a:srgbClr val="0000FF"/>
                </a:solidFill>
                <a:ea typeface="CourierNewPSMT" charset="-122"/>
              </a:rPr>
              <a:t>slave_data</a:t>
            </a:r>
            <a:r>
              <a:rPr lang="en-US" altLang="zh-CN" sz="2400" dirty="0">
                <a:solidFill>
                  <a:srgbClr val="0000FF"/>
                </a:solidFill>
                <a:ea typeface="CourierNewPSMT" charset="-122"/>
              </a:rPr>
              <a:t>: ’z;</a:t>
            </a:r>
            <a:r>
              <a:rPr lang="en-US" altLang="zh-CN" sz="2400" dirty="0">
                <a:solidFill>
                  <a:srgbClr val="0000FF"/>
                </a:solidFill>
                <a:ea typeface="CourierNewPS-BoldMT" charset="-122"/>
              </a:rPr>
              <a:t>    </a:t>
            </a:r>
            <a:endParaRPr lang="zh-CN" altLang="en-US" sz="2400"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8C1C6ECA-944F-4865-80A1-D9EED2E0546A}"/>
              </a:ext>
            </a:extLst>
          </p:cNvPr>
          <p:cNvSpPr txBox="1">
            <a:spLocks noChangeArrowheads="1"/>
          </p:cNvSpPr>
          <p:nvPr/>
        </p:nvSpPr>
        <p:spPr bwMode="auto">
          <a:xfrm>
            <a:off x="332509" y="143741"/>
            <a:ext cx="10972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接口中的</a:t>
            </a:r>
            <a:r>
              <a:rPr lang="en-US" altLang="zh-CN" sz="4400" dirty="0" err="1">
                <a:solidFill>
                  <a:srgbClr val="000066"/>
                </a:solidFill>
                <a:latin typeface="Arial" panose="020B0604020202020204" pitchFamily="34" charset="0"/>
              </a:rPr>
              <a:t>modport</a:t>
            </a:r>
            <a:endParaRPr lang="en-US" altLang="zh-CN" sz="4400" dirty="0">
              <a:solidFill>
                <a:srgbClr val="000066"/>
              </a:solidFill>
              <a:latin typeface="Arial" panose="020B0604020202020204" pitchFamily="34" charset="0"/>
            </a:endParaRPr>
          </a:p>
        </p:txBody>
      </p:sp>
      <p:sp>
        <p:nvSpPr>
          <p:cNvPr id="12291" name="Text Box 3">
            <a:extLst>
              <a:ext uri="{FF2B5EF4-FFF2-40B4-BE49-F238E27FC236}">
                <a16:creationId xmlns:a16="http://schemas.microsoft.com/office/drawing/2014/main" id="{EFFE70CD-036E-4FF1-AB20-0C6A36F6F90C}"/>
              </a:ext>
            </a:extLst>
          </p:cNvPr>
          <p:cNvSpPr txBox="1">
            <a:spLocks noChangeArrowheads="1"/>
          </p:cNvSpPr>
          <p:nvPr/>
        </p:nvSpPr>
        <p:spPr bwMode="auto">
          <a:xfrm>
            <a:off x="417945" y="989013"/>
            <a:ext cx="1159856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spcBef>
                <a:spcPct val="0"/>
              </a:spcBef>
              <a:buFont typeface="Arial" panose="020B0604020202020204" pitchFamily="34" charset="0"/>
              <a:buChar char="•"/>
            </a:pPr>
            <a:r>
              <a:rPr lang="en-US" altLang="zh-CN" sz="2400" dirty="0" err="1">
                <a:solidFill>
                  <a:srgbClr val="0000FF"/>
                </a:solidFill>
                <a:ea typeface="CourierNewPS-BoldMT" charset="-122"/>
              </a:rPr>
              <a:t>SystemVerilog</a:t>
            </a:r>
            <a:r>
              <a:rPr lang="zh-CN" altLang="en-US" sz="2400" dirty="0">
                <a:solidFill>
                  <a:srgbClr val="0000FF"/>
                </a:solidFill>
                <a:ea typeface="CourierNewPS-BoldMT" charset="-122"/>
              </a:rPr>
              <a:t>定义接口时，可以定义接口信号的不同接入方式，以处理不同模块连接到接口端口的方向问题。</a:t>
            </a:r>
          </a:p>
          <a:p>
            <a:pPr marL="342900" indent="-342900">
              <a:spcBef>
                <a:spcPct val="0"/>
              </a:spcBef>
              <a:buFont typeface="Arial" panose="020B0604020202020204" pitchFamily="34" charset="0"/>
              <a:buChar char="•"/>
            </a:pPr>
            <a:r>
              <a:rPr lang="en-US" altLang="zh-CN" sz="2400" dirty="0" err="1">
                <a:solidFill>
                  <a:srgbClr val="0000FF"/>
                </a:solidFill>
                <a:ea typeface="CourierNewPS-BoldMT" charset="-122"/>
              </a:rPr>
              <a:t>modport</a:t>
            </a:r>
            <a:r>
              <a:rPr lang="zh-CN" altLang="en-US" sz="2400" dirty="0">
                <a:solidFill>
                  <a:srgbClr val="0000FF"/>
                </a:solidFill>
                <a:ea typeface="CourierNewPS-BoldMT" charset="-122"/>
              </a:rPr>
              <a:t>的定义从模块角度描述了接口表示的端口的接入方式，接口中可以有任意数量的</a:t>
            </a:r>
            <a:r>
              <a:rPr lang="en-US" altLang="zh-CN" sz="2400" dirty="0" err="1">
                <a:solidFill>
                  <a:srgbClr val="0000FF"/>
                </a:solidFill>
                <a:ea typeface="CourierNewPS-BoldMT" charset="-122"/>
              </a:rPr>
              <a:t>modport</a:t>
            </a:r>
            <a:r>
              <a:rPr lang="zh-CN" altLang="en-US" sz="2400" dirty="0">
                <a:solidFill>
                  <a:srgbClr val="0000FF"/>
                </a:solidFill>
                <a:ea typeface="CourierNewPS-BoldMT" charset="-122"/>
              </a:rPr>
              <a:t>定义，每个定义描述了各个模块访问接口中的信号。</a:t>
            </a:r>
          </a:p>
          <a:p>
            <a:pPr marL="342900" indent="-342900">
              <a:spcBef>
                <a:spcPct val="0"/>
              </a:spcBef>
              <a:buFont typeface="Arial" panose="020B0604020202020204" pitchFamily="34" charset="0"/>
              <a:buChar char="•"/>
            </a:pPr>
            <a:r>
              <a:rPr lang="en-US" altLang="zh-CN" sz="2400" dirty="0" err="1">
                <a:solidFill>
                  <a:srgbClr val="0000FF"/>
                </a:solidFill>
                <a:ea typeface="CourierNewPS-BoldMT" charset="-122"/>
              </a:rPr>
              <a:t>modport</a:t>
            </a:r>
            <a:r>
              <a:rPr lang="zh-CN" altLang="en-US" sz="2400" dirty="0">
                <a:solidFill>
                  <a:srgbClr val="0000FF"/>
                </a:solidFill>
                <a:ea typeface="CourierNewPS-BoldMT" charset="-122"/>
              </a:rPr>
              <a:t>定义中不包含向量位数和类型，这些信息在接口的信号类型声明中定义。</a:t>
            </a:r>
            <a:r>
              <a:rPr lang="en-US" altLang="zh-CN" sz="2400" dirty="0" err="1">
                <a:solidFill>
                  <a:srgbClr val="0000FF"/>
                </a:solidFill>
                <a:ea typeface="CourierNewPS-BoldMT" charset="-122"/>
              </a:rPr>
              <a:t>modport</a:t>
            </a:r>
            <a:r>
              <a:rPr lang="zh-CN" altLang="en-US" sz="2400" dirty="0">
                <a:solidFill>
                  <a:srgbClr val="0000FF"/>
                </a:solidFill>
                <a:ea typeface="CourierNewPS-BoldMT" charset="-122"/>
              </a:rPr>
              <a:t>声明只是使相互连接的模块将信号看成是</a:t>
            </a:r>
            <a:r>
              <a:rPr lang="en-US" altLang="zh-CN" sz="2400" dirty="0">
                <a:solidFill>
                  <a:srgbClr val="0000FF"/>
                </a:solidFill>
                <a:ea typeface="CourierNewPS-BoldMT" charset="-122"/>
              </a:rPr>
              <a:t>input</a:t>
            </a:r>
            <a:r>
              <a:rPr lang="zh-CN" altLang="en-US" sz="2400" dirty="0">
                <a:solidFill>
                  <a:srgbClr val="0000FF"/>
                </a:solidFill>
                <a:ea typeface="CourierNewPS-BoldMT" charset="-122"/>
              </a:rPr>
              <a:t>、</a:t>
            </a:r>
            <a:r>
              <a:rPr lang="en-US" altLang="zh-CN" sz="2400" dirty="0">
                <a:solidFill>
                  <a:srgbClr val="0000FF"/>
                </a:solidFill>
                <a:ea typeface="CourierNewPS-BoldMT" charset="-122"/>
              </a:rPr>
              <a:t>output</a:t>
            </a:r>
            <a:r>
              <a:rPr lang="zh-CN" altLang="en-US" sz="2400" dirty="0">
                <a:solidFill>
                  <a:srgbClr val="0000FF"/>
                </a:solidFill>
                <a:ea typeface="CourierNewPS-BoldMT" charset="-122"/>
              </a:rPr>
              <a:t>、</a:t>
            </a:r>
            <a:r>
              <a:rPr lang="en-US" altLang="zh-CN" sz="2400" dirty="0" err="1">
                <a:solidFill>
                  <a:srgbClr val="0000FF"/>
                </a:solidFill>
                <a:ea typeface="CourierNewPS-BoldMT" charset="-122"/>
              </a:rPr>
              <a:t>inout</a:t>
            </a:r>
            <a:r>
              <a:rPr lang="zh-CN" altLang="en-US" sz="2400" dirty="0">
                <a:solidFill>
                  <a:srgbClr val="0000FF"/>
                </a:solidFill>
                <a:ea typeface="CourierNewPS-BoldMT" charset="-122"/>
              </a:rPr>
              <a:t>还是</a:t>
            </a:r>
            <a:r>
              <a:rPr lang="en-US" altLang="zh-CN" sz="2400" dirty="0">
                <a:solidFill>
                  <a:srgbClr val="0000FF"/>
                </a:solidFill>
                <a:ea typeface="CourierNewPS-BoldMT" charset="-122"/>
              </a:rPr>
              <a:t>ref</a:t>
            </a:r>
            <a:r>
              <a:rPr lang="zh-CN" altLang="en-US" sz="2400" dirty="0">
                <a:solidFill>
                  <a:srgbClr val="0000FF"/>
                </a:solidFill>
                <a:ea typeface="CourierNewPS-BoldMT" charset="-122"/>
              </a:rPr>
              <a:t>。</a:t>
            </a:r>
          </a:p>
        </p:txBody>
      </p:sp>
      <p:sp>
        <p:nvSpPr>
          <p:cNvPr id="2" name="矩形 1">
            <a:extLst>
              <a:ext uri="{FF2B5EF4-FFF2-40B4-BE49-F238E27FC236}">
                <a16:creationId xmlns:a16="http://schemas.microsoft.com/office/drawing/2014/main" id="{1DE0B9F6-E9FE-4FBD-AA79-AAAAC5E08EDE}"/>
              </a:ext>
            </a:extLst>
          </p:cNvPr>
          <p:cNvSpPr/>
          <p:nvPr/>
        </p:nvSpPr>
        <p:spPr>
          <a:xfrm>
            <a:off x="417945" y="3297337"/>
            <a:ext cx="4562763" cy="3170099"/>
          </a:xfrm>
          <a:prstGeom prst="rect">
            <a:avLst/>
          </a:prstGeom>
        </p:spPr>
        <p:txBody>
          <a:bodyPr wrap="square">
            <a:spAutoFit/>
          </a:bodyPr>
          <a:lstStyle/>
          <a:p>
            <a:r>
              <a:rPr lang="en-US" altLang="zh-CN" sz="2000" dirty="0">
                <a:solidFill>
                  <a:srgbClr val="0000FF"/>
                </a:solidFill>
              </a:rPr>
              <a:t>interface </a:t>
            </a:r>
            <a:r>
              <a:rPr lang="en-US" altLang="zh-CN" sz="2000" dirty="0" err="1">
                <a:solidFill>
                  <a:srgbClr val="0000FF"/>
                </a:solidFill>
              </a:rPr>
              <a:t>chip_bus</a:t>
            </a:r>
            <a:r>
              <a:rPr lang="en-US" altLang="zh-CN" sz="2000" dirty="0">
                <a:solidFill>
                  <a:srgbClr val="0000FF"/>
                </a:solidFill>
              </a:rPr>
              <a:t> (input logic clock, </a:t>
            </a:r>
            <a:r>
              <a:rPr lang="en-US" altLang="zh-CN" sz="2000" dirty="0" err="1">
                <a:solidFill>
                  <a:srgbClr val="0000FF"/>
                </a:solidFill>
              </a:rPr>
              <a:t>resetn</a:t>
            </a:r>
            <a:r>
              <a:rPr lang="en-US" altLang="zh-CN" sz="2000" dirty="0">
                <a:solidFill>
                  <a:srgbClr val="0000FF"/>
                </a:solidFill>
              </a:rPr>
              <a:t>);</a:t>
            </a:r>
          </a:p>
          <a:p>
            <a:r>
              <a:rPr lang="en-US" altLang="zh-CN" sz="2000" dirty="0">
                <a:solidFill>
                  <a:srgbClr val="0000FF"/>
                </a:solidFill>
              </a:rPr>
              <a:t>    logic </a:t>
            </a:r>
            <a:r>
              <a:rPr lang="en-US" altLang="zh-CN" sz="2000" dirty="0" err="1">
                <a:solidFill>
                  <a:srgbClr val="0000FF"/>
                </a:solidFill>
              </a:rPr>
              <a:t>interrupt_req</a:t>
            </a:r>
            <a:r>
              <a:rPr lang="en-US" altLang="zh-CN" sz="2000" dirty="0">
                <a:solidFill>
                  <a:srgbClr val="0000FF"/>
                </a:solidFill>
              </a:rPr>
              <a:t>, grant, ready;</a:t>
            </a:r>
          </a:p>
          <a:p>
            <a:r>
              <a:rPr lang="en-US" altLang="zh-CN" sz="2000" dirty="0">
                <a:solidFill>
                  <a:srgbClr val="0000FF"/>
                </a:solidFill>
              </a:rPr>
              <a:t>    logic [31:0] address;</a:t>
            </a:r>
          </a:p>
          <a:p>
            <a:r>
              <a:rPr lang="en-US" altLang="zh-CN" sz="2000" dirty="0">
                <a:solidFill>
                  <a:srgbClr val="0000FF"/>
                </a:solidFill>
              </a:rPr>
              <a:t>    wire [63:0] data;</a:t>
            </a:r>
            <a:endParaRPr lang="en-US" altLang="zh-CN" sz="2000" dirty="0">
              <a:solidFill>
                <a:srgbClr val="0000FF"/>
              </a:solidFill>
              <a:ea typeface="CourierNewPS-BoldMT" charset="-122"/>
            </a:endParaRPr>
          </a:p>
          <a:p>
            <a:r>
              <a:rPr lang="en-US" altLang="zh-CN" sz="2000" dirty="0">
                <a:solidFill>
                  <a:srgbClr val="0000FF"/>
                </a:solidFill>
              </a:rPr>
              <a:t>    </a:t>
            </a:r>
            <a:r>
              <a:rPr lang="en-US" altLang="zh-CN" sz="2000" dirty="0" err="1">
                <a:solidFill>
                  <a:srgbClr val="0000FF"/>
                </a:solidFill>
              </a:rPr>
              <a:t>modport</a:t>
            </a:r>
            <a:r>
              <a:rPr lang="en-US" altLang="zh-CN" sz="2000" dirty="0">
                <a:solidFill>
                  <a:srgbClr val="0000FF"/>
                </a:solidFill>
              </a:rPr>
              <a:t> </a:t>
            </a:r>
            <a:r>
              <a:rPr lang="en-US" altLang="zh-CN" sz="2000" b="1" dirty="0">
                <a:solidFill>
                  <a:srgbClr val="0000FF"/>
                </a:solidFill>
              </a:rPr>
              <a:t>master</a:t>
            </a:r>
            <a:r>
              <a:rPr lang="en-US" altLang="zh-CN" sz="2000" dirty="0">
                <a:solidFill>
                  <a:srgbClr val="0000FF"/>
                </a:solidFill>
              </a:rPr>
              <a:t> (input </a:t>
            </a:r>
            <a:r>
              <a:rPr lang="en-US" altLang="zh-CN" sz="2000" dirty="0" err="1">
                <a:solidFill>
                  <a:srgbClr val="0000FF"/>
                </a:solidFill>
              </a:rPr>
              <a:t>interrupt_req</a:t>
            </a:r>
            <a:r>
              <a:rPr lang="en-US" altLang="zh-CN" sz="2000" dirty="0">
                <a:solidFill>
                  <a:srgbClr val="0000FF"/>
                </a:solidFill>
              </a:rPr>
              <a:t>,</a:t>
            </a:r>
          </a:p>
          <a:p>
            <a:r>
              <a:rPr lang="en-US" altLang="zh-CN" sz="2000" dirty="0">
                <a:solidFill>
                  <a:srgbClr val="0000FF"/>
                </a:solidFill>
              </a:rPr>
              <a:t>        </a:t>
            </a:r>
            <a:r>
              <a:rPr lang="en-US" altLang="zh-CN" sz="2000" b="1" dirty="0">
                <a:solidFill>
                  <a:srgbClr val="0000FF"/>
                </a:solidFill>
              </a:rPr>
              <a:t>input</a:t>
            </a:r>
            <a:r>
              <a:rPr lang="en-US" altLang="zh-CN" sz="2000" dirty="0">
                <a:solidFill>
                  <a:srgbClr val="0000FF"/>
                </a:solidFill>
              </a:rPr>
              <a:t> address,</a:t>
            </a:r>
          </a:p>
          <a:p>
            <a:r>
              <a:rPr lang="en-US" altLang="zh-CN" sz="2000" dirty="0">
                <a:solidFill>
                  <a:srgbClr val="0000FF"/>
                </a:solidFill>
              </a:rPr>
              <a:t>        </a:t>
            </a:r>
            <a:r>
              <a:rPr lang="en-US" altLang="zh-CN" sz="2000" b="1" dirty="0">
                <a:solidFill>
                  <a:srgbClr val="0000FF"/>
                </a:solidFill>
              </a:rPr>
              <a:t>output</a:t>
            </a:r>
            <a:r>
              <a:rPr lang="en-US" altLang="zh-CN" sz="2000" dirty="0">
                <a:solidFill>
                  <a:srgbClr val="0000FF"/>
                </a:solidFill>
              </a:rPr>
              <a:t> grant, ready,</a:t>
            </a:r>
          </a:p>
          <a:p>
            <a:r>
              <a:rPr lang="en-US" altLang="zh-CN" sz="2000" dirty="0">
                <a:solidFill>
                  <a:srgbClr val="0000FF"/>
                </a:solidFill>
              </a:rPr>
              <a:t>        </a:t>
            </a:r>
            <a:r>
              <a:rPr lang="en-US" altLang="zh-CN" sz="2000" dirty="0" err="1">
                <a:solidFill>
                  <a:srgbClr val="0000FF"/>
                </a:solidFill>
              </a:rPr>
              <a:t>inout</a:t>
            </a:r>
            <a:r>
              <a:rPr lang="en-US" altLang="zh-CN" sz="2000" dirty="0">
                <a:solidFill>
                  <a:srgbClr val="0000FF"/>
                </a:solidFill>
              </a:rPr>
              <a:t> data,</a:t>
            </a:r>
          </a:p>
          <a:p>
            <a:r>
              <a:rPr lang="en-US" altLang="zh-CN" sz="2000" dirty="0">
                <a:solidFill>
                  <a:srgbClr val="0000FF"/>
                </a:solidFill>
              </a:rPr>
              <a:t>        input clock, </a:t>
            </a:r>
            <a:r>
              <a:rPr lang="en-US" altLang="zh-CN" sz="2000" dirty="0" err="1">
                <a:solidFill>
                  <a:srgbClr val="0000FF"/>
                </a:solidFill>
              </a:rPr>
              <a:t>resetn</a:t>
            </a:r>
            <a:r>
              <a:rPr lang="en-US" altLang="zh-CN" sz="2000" dirty="0">
                <a:solidFill>
                  <a:srgbClr val="0000FF"/>
                </a:solidFill>
              </a:rPr>
              <a:t>);</a:t>
            </a:r>
            <a:endParaRPr lang="en-US" altLang="zh-CN" sz="2000" dirty="0">
              <a:solidFill>
                <a:srgbClr val="0000FF"/>
              </a:solidFill>
              <a:ea typeface="CourierNewPS-BoldMT" charset="-122"/>
            </a:endParaRPr>
          </a:p>
        </p:txBody>
      </p:sp>
      <p:sp>
        <p:nvSpPr>
          <p:cNvPr id="3" name="矩形 2">
            <a:extLst>
              <a:ext uri="{FF2B5EF4-FFF2-40B4-BE49-F238E27FC236}">
                <a16:creationId xmlns:a16="http://schemas.microsoft.com/office/drawing/2014/main" id="{AFD22765-5A30-4B96-AB5C-95D109C19801}"/>
              </a:ext>
            </a:extLst>
          </p:cNvPr>
          <p:cNvSpPr/>
          <p:nvPr/>
        </p:nvSpPr>
        <p:spPr>
          <a:xfrm>
            <a:off x="5689599" y="4775267"/>
            <a:ext cx="4895274" cy="1938992"/>
          </a:xfrm>
          <a:prstGeom prst="rect">
            <a:avLst/>
          </a:prstGeom>
        </p:spPr>
        <p:txBody>
          <a:bodyPr wrap="square">
            <a:spAutoFit/>
          </a:bodyPr>
          <a:lstStyle/>
          <a:p>
            <a:r>
              <a:rPr lang="en-US" altLang="zh-CN" sz="2000" dirty="0" err="1">
                <a:solidFill>
                  <a:srgbClr val="0000FF"/>
                </a:solidFill>
              </a:rPr>
              <a:t>modport</a:t>
            </a:r>
            <a:r>
              <a:rPr lang="en-US" altLang="zh-CN" sz="2000" dirty="0">
                <a:solidFill>
                  <a:srgbClr val="0000FF"/>
                </a:solidFill>
              </a:rPr>
              <a:t> </a:t>
            </a:r>
            <a:r>
              <a:rPr lang="en-US" altLang="zh-CN" sz="2000" b="1" dirty="0">
                <a:solidFill>
                  <a:srgbClr val="0000FF"/>
                </a:solidFill>
              </a:rPr>
              <a:t>slave</a:t>
            </a:r>
            <a:r>
              <a:rPr lang="en-US" altLang="zh-CN" sz="2000" dirty="0">
                <a:solidFill>
                  <a:srgbClr val="0000FF"/>
                </a:solidFill>
              </a:rPr>
              <a:t> (output </a:t>
            </a:r>
            <a:r>
              <a:rPr lang="en-US" altLang="zh-CN" sz="2000" dirty="0" err="1">
                <a:solidFill>
                  <a:srgbClr val="0000FF"/>
                </a:solidFill>
              </a:rPr>
              <a:t>interrupt_req</a:t>
            </a:r>
            <a:r>
              <a:rPr lang="en-US" altLang="zh-CN" sz="2000" dirty="0">
                <a:solidFill>
                  <a:srgbClr val="0000FF"/>
                </a:solidFill>
              </a:rPr>
              <a:t>,</a:t>
            </a:r>
          </a:p>
          <a:p>
            <a:r>
              <a:rPr lang="en-US" altLang="zh-CN" sz="2000" dirty="0">
                <a:solidFill>
                  <a:srgbClr val="0000FF"/>
                </a:solidFill>
              </a:rPr>
              <a:t>        </a:t>
            </a:r>
            <a:r>
              <a:rPr lang="en-US" altLang="zh-CN" sz="2000" b="1" dirty="0">
                <a:solidFill>
                  <a:srgbClr val="0000FF"/>
                </a:solidFill>
              </a:rPr>
              <a:t>output</a:t>
            </a:r>
            <a:r>
              <a:rPr lang="en-US" altLang="zh-CN" sz="2000" dirty="0">
                <a:solidFill>
                  <a:srgbClr val="0000FF"/>
                </a:solidFill>
              </a:rPr>
              <a:t> address,</a:t>
            </a:r>
          </a:p>
          <a:p>
            <a:r>
              <a:rPr lang="en-US" altLang="zh-CN" sz="2000" dirty="0">
                <a:solidFill>
                  <a:srgbClr val="0000FF"/>
                </a:solidFill>
              </a:rPr>
              <a:t>        </a:t>
            </a:r>
            <a:r>
              <a:rPr lang="en-US" altLang="zh-CN" sz="2000" b="1" dirty="0">
                <a:solidFill>
                  <a:srgbClr val="0000FF"/>
                </a:solidFill>
              </a:rPr>
              <a:t>input</a:t>
            </a:r>
            <a:r>
              <a:rPr lang="en-US" altLang="zh-CN" sz="2000" dirty="0">
                <a:solidFill>
                  <a:srgbClr val="0000FF"/>
                </a:solidFill>
              </a:rPr>
              <a:t> grant, ready,</a:t>
            </a:r>
          </a:p>
          <a:p>
            <a:r>
              <a:rPr lang="en-US" altLang="zh-CN" sz="2000" dirty="0">
                <a:solidFill>
                  <a:srgbClr val="0000FF"/>
                </a:solidFill>
              </a:rPr>
              <a:t>        </a:t>
            </a:r>
            <a:r>
              <a:rPr lang="en-US" altLang="zh-CN" sz="2000" dirty="0" err="1">
                <a:solidFill>
                  <a:srgbClr val="0000FF"/>
                </a:solidFill>
              </a:rPr>
              <a:t>inout</a:t>
            </a:r>
            <a:r>
              <a:rPr lang="en-US" altLang="zh-CN" sz="2000" dirty="0">
                <a:solidFill>
                  <a:srgbClr val="0000FF"/>
                </a:solidFill>
              </a:rPr>
              <a:t> data,</a:t>
            </a:r>
          </a:p>
          <a:p>
            <a:r>
              <a:rPr lang="en-US" altLang="zh-CN" sz="2000" dirty="0">
                <a:solidFill>
                  <a:srgbClr val="0000FF"/>
                </a:solidFill>
              </a:rPr>
              <a:t>        input clock, </a:t>
            </a:r>
            <a:r>
              <a:rPr lang="en-US" altLang="zh-CN" sz="2000" dirty="0" err="1">
                <a:solidFill>
                  <a:srgbClr val="0000FF"/>
                </a:solidFill>
              </a:rPr>
              <a:t>resetn</a:t>
            </a:r>
            <a:r>
              <a:rPr lang="en-US" altLang="zh-CN" sz="2000" dirty="0">
                <a:solidFill>
                  <a:srgbClr val="0000FF"/>
                </a:solidFill>
              </a:rPr>
              <a:t>);</a:t>
            </a:r>
          </a:p>
          <a:p>
            <a:r>
              <a:rPr lang="en-US" altLang="zh-CN" sz="2000" dirty="0" err="1">
                <a:solidFill>
                  <a:srgbClr val="0000FF"/>
                </a:solidFill>
              </a:rPr>
              <a:t>endinterface</a:t>
            </a:r>
            <a:endParaRPr lang="en-US" altLang="zh-CN" sz="2000" dirty="0">
              <a:solidFill>
                <a:srgbClr val="0000FF"/>
              </a:solidFill>
              <a:ea typeface="CourierNewPS-BoldMT"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 Box 3">
            <a:extLst>
              <a:ext uri="{FF2B5EF4-FFF2-40B4-BE49-F238E27FC236}">
                <a16:creationId xmlns:a16="http://schemas.microsoft.com/office/drawing/2014/main" id="{A58056AB-89B5-473E-A3F9-793517C82EAD}"/>
              </a:ext>
            </a:extLst>
          </p:cNvPr>
          <p:cNvSpPr txBox="1">
            <a:spLocks noChangeArrowheads="1"/>
          </p:cNvSpPr>
          <p:nvPr/>
        </p:nvSpPr>
        <p:spPr bwMode="auto">
          <a:xfrm>
            <a:off x="443345" y="913182"/>
            <a:ext cx="1141614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zh-CN" altLang="en-US" sz="2400" dirty="0">
                <a:solidFill>
                  <a:srgbClr val="0000FF"/>
                </a:solidFill>
              </a:rPr>
              <a:t>在模块实例化时的接口连接中说明</a:t>
            </a:r>
            <a:endParaRPr lang="en-US" altLang="zh-CN" sz="2400" dirty="0">
              <a:solidFill>
                <a:srgbClr val="0000FF"/>
              </a:solidFill>
            </a:endParaRPr>
          </a:p>
          <a:p>
            <a:pPr marL="342900" indent="-342900">
              <a:buFont typeface="Arial" panose="020B0604020202020204" pitchFamily="34" charset="0"/>
              <a:buChar char="•"/>
            </a:pPr>
            <a:r>
              <a:rPr lang="zh-CN" altLang="en-US" sz="2400" dirty="0">
                <a:solidFill>
                  <a:srgbClr val="0000FF"/>
                </a:solidFill>
              </a:rPr>
              <a:t>在模块定义的端口声明时说明</a:t>
            </a:r>
          </a:p>
        </p:txBody>
      </p:sp>
      <p:sp>
        <p:nvSpPr>
          <p:cNvPr id="4" name="Text Box 2">
            <a:extLst>
              <a:ext uri="{FF2B5EF4-FFF2-40B4-BE49-F238E27FC236}">
                <a16:creationId xmlns:a16="http://schemas.microsoft.com/office/drawing/2014/main" id="{F586594B-6A36-4DE2-9C53-7204792CC9C3}"/>
              </a:ext>
            </a:extLst>
          </p:cNvPr>
          <p:cNvSpPr txBox="1">
            <a:spLocks noChangeArrowheads="1"/>
          </p:cNvSpPr>
          <p:nvPr/>
        </p:nvSpPr>
        <p:spPr bwMode="auto">
          <a:xfrm>
            <a:off x="332509" y="143741"/>
            <a:ext cx="10972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接口中的</a:t>
            </a:r>
            <a:r>
              <a:rPr lang="en-US" altLang="zh-CN" sz="4400" dirty="0" err="1">
                <a:solidFill>
                  <a:srgbClr val="000066"/>
                </a:solidFill>
                <a:latin typeface="Arial" panose="020B0604020202020204" pitchFamily="34" charset="0"/>
              </a:rPr>
              <a:t>modport</a:t>
            </a:r>
            <a:endParaRPr lang="en-US" altLang="zh-CN" sz="4400" dirty="0">
              <a:solidFill>
                <a:srgbClr val="000066"/>
              </a:solidFill>
              <a:latin typeface="Arial" panose="020B0604020202020204" pitchFamily="34" charset="0"/>
            </a:endParaRPr>
          </a:p>
        </p:txBody>
      </p:sp>
      <p:sp>
        <p:nvSpPr>
          <p:cNvPr id="5" name="Text Box 3">
            <a:extLst>
              <a:ext uri="{FF2B5EF4-FFF2-40B4-BE49-F238E27FC236}">
                <a16:creationId xmlns:a16="http://schemas.microsoft.com/office/drawing/2014/main" id="{12B13A48-CDEA-45D4-A702-6238B05A76C4}"/>
              </a:ext>
            </a:extLst>
          </p:cNvPr>
          <p:cNvSpPr txBox="1">
            <a:spLocks noChangeArrowheads="1"/>
          </p:cNvSpPr>
          <p:nvPr/>
        </p:nvSpPr>
        <p:spPr bwMode="auto">
          <a:xfrm>
            <a:off x="244765" y="2226694"/>
            <a:ext cx="529705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solidFill>
                  <a:srgbClr val="0000FF"/>
                </a:solidFill>
              </a:rPr>
              <a:t>module primary (interface pins); </a:t>
            </a:r>
          </a:p>
          <a:p>
            <a:r>
              <a:rPr lang="en-US" altLang="zh-CN" sz="2000" dirty="0">
                <a:solidFill>
                  <a:srgbClr val="0000FF"/>
                </a:solidFill>
              </a:rPr>
              <a:t>...</a:t>
            </a:r>
          </a:p>
          <a:p>
            <a:r>
              <a:rPr lang="en-US" altLang="zh-CN" sz="2000" dirty="0" err="1">
                <a:solidFill>
                  <a:srgbClr val="0000FF"/>
                </a:solidFill>
              </a:rPr>
              <a:t>endmodule</a:t>
            </a:r>
            <a:endParaRPr lang="en-US" altLang="zh-CN" sz="2000" dirty="0">
              <a:solidFill>
                <a:srgbClr val="0000FF"/>
              </a:solidFill>
            </a:endParaRPr>
          </a:p>
          <a:p>
            <a:r>
              <a:rPr lang="en-US" altLang="zh-CN" sz="2000" dirty="0">
                <a:solidFill>
                  <a:srgbClr val="0000FF"/>
                </a:solidFill>
              </a:rPr>
              <a:t>module secondary (</a:t>
            </a:r>
            <a:r>
              <a:rPr lang="en-US" altLang="zh-CN" sz="2000" dirty="0" err="1">
                <a:solidFill>
                  <a:srgbClr val="0000FF"/>
                </a:solidFill>
              </a:rPr>
              <a:t>chip_bus</a:t>
            </a:r>
            <a:r>
              <a:rPr lang="en-US" altLang="zh-CN" sz="2000" dirty="0">
                <a:solidFill>
                  <a:srgbClr val="0000FF"/>
                </a:solidFill>
              </a:rPr>
              <a:t> pins);</a:t>
            </a:r>
          </a:p>
          <a:p>
            <a:r>
              <a:rPr lang="en-US" altLang="zh-CN" sz="2000" dirty="0">
                <a:solidFill>
                  <a:srgbClr val="0000FF"/>
                </a:solidFill>
              </a:rPr>
              <a:t>...</a:t>
            </a:r>
          </a:p>
          <a:p>
            <a:r>
              <a:rPr lang="en-US" altLang="zh-CN" sz="2000" dirty="0" err="1">
                <a:solidFill>
                  <a:srgbClr val="0000FF"/>
                </a:solidFill>
              </a:rPr>
              <a:t>endmodule</a:t>
            </a:r>
            <a:endParaRPr lang="en-US" altLang="zh-CN" sz="2000" dirty="0">
              <a:solidFill>
                <a:srgbClr val="0000FF"/>
              </a:solidFill>
            </a:endParaRPr>
          </a:p>
          <a:p>
            <a:r>
              <a:rPr lang="en-US" altLang="zh-CN" sz="2000" dirty="0">
                <a:solidFill>
                  <a:srgbClr val="0000FF"/>
                </a:solidFill>
              </a:rPr>
              <a:t>module chip (input logic clock, </a:t>
            </a:r>
            <a:r>
              <a:rPr lang="en-US" altLang="zh-CN" sz="2000" dirty="0" err="1">
                <a:solidFill>
                  <a:srgbClr val="0000FF"/>
                </a:solidFill>
              </a:rPr>
              <a:t>resetn</a:t>
            </a:r>
            <a:r>
              <a:rPr lang="en-US" altLang="zh-CN" sz="2000" dirty="0">
                <a:solidFill>
                  <a:srgbClr val="0000FF"/>
                </a:solidFill>
              </a:rPr>
              <a:t>);</a:t>
            </a:r>
          </a:p>
          <a:p>
            <a:r>
              <a:rPr lang="en-US" altLang="zh-CN" sz="2000" dirty="0">
                <a:solidFill>
                  <a:srgbClr val="0000FF"/>
                </a:solidFill>
              </a:rPr>
              <a:t>// instance of an interface</a:t>
            </a:r>
          </a:p>
          <a:p>
            <a:r>
              <a:rPr lang="en-US" altLang="zh-CN" sz="2000" dirty="0" err="1">
                <a:solidFill>
                  <a:srgbClr val="0000FF"/>
                </a:solidFill>
              </a:rPr>
              <a:t>chip_bus</a:t>
            </a:r>
            <a:r>
              <a:rPr lang="en-US" altLang="zh-CN" sz="2000" dirty="0">
                <a:solidFill>
                  <a:srgbClr val="0000FF"/>
                </a:solidFill>
              </a:rPr>
              <a:t> bus (clock, </a:t>
            </a:r>
            <a:r>
              <a:rPr lang="en-US" altLang="zh-CN" sz="2000" dirty="0" err="1">
                <a:solidFill>
                  <a:srgbClr val="0000FF"/>
                </a:solidFill>
              </a:rPr>
              <a:t>resetn</a:t>
            </a:r>
            <a:r>
              <a:rPr lang="en-US" altLang="zh-CN" sz="2000" dirty="0">
                <a:solidFill>
                  <a:srgbClr val="0000FF"/>
                </a:solidFill>
              </a:rPr>
              <a:t>); </a:t>
            </a:r>
          </a:p>
          <a:p>
            <a:r>
              <a:rPr lang="en-US" altLang="zh-CN" sz="2000" dirty="0">
                <a:solidFill>
                  <a:srgbClr val="FF0000"/>
                </a:solidFill>
              </a:rPr>
              <a:t>primary     i1 (</a:t>
            </a:r>
            <a:r>
              <a:rPr lang="en-US" altLang="zh-CN" sz="2000" dirty="0" err="1">
                <a:solidFill>
                  <a:srgbClr val="FF0000"/>
                </a:solidFill>
              </a:rPr>
              <a:t>bus.master</a:t>
            </a:r>
            <a:r>
              <a:rPr lang="en-US" altLang="zh-CN" sz="2000" dirty="0">
                <a:solidFill>
                  <a:srgbClr val="FF0000"/>
                </a:solidFill>
              </a:rPr>
              <a:t>);</a:t>
            </a:r>
            <a:r>
              <a:rPr lang="en-US" altLang="zh-CN" sz="2000" dirty="0">
                <a:solidFill>
                  <a:srgbClr val="0000FF"/>
                </a:solidFill>
              </a:rPr>
              <a:t> </a:t>
            </a:r>
          </a:p>
          <a:p>
            <a:r>
              <a:rPr lang="en-US" altLang="zh-CN" sz="2000" dirty="0">
                <a:solidFill>
                  <a:srgbClr val="FF0000"/>
                </a:solidFill>
              </a:rPr>
              <a:t>secondary i2 (</a:t>
            </a:r>
            <a:r>
              <a:rPr lang="en-US" altLang="zh-CN" sz="2000" dirty="0" err="1">
                <a:solidFill>
                  <a:srgbClr val="FF0000"/>
                </a:solidFill>
              </a:rPr>
              <a:t>bus.slave</a:t>
            </a:r>
            <a:r>
              <a:rPr lang="en-US" altLang="zh-CN" sz="2000" dirty="0">
                <a:solidFill>
                  <a:srgbClr val="FF0000"/>
                </a:solidFill>
              </a:rPr>
              <a:t>);</a:t>
            </a:r>
            <a:endParaRPr lang="en-US" altLang="zh-CN" sz="2000" dirty="0">
              <a:solidFill>
                <a:srgbClr val="0000FF"/>
              </a:solidFill>
            </a:endParaRPr>
          </a:p>
          <a:p>
            <a:r>
              <a:rPr lang="en-US" altLang="zh-CN" sz="2000" dirty="0" err="1">
                <a:solidFill>
                  <a:srgbClr val="0000FF"/>
                </a:solidFill>
              </a:rPr>
              <a:t>endmodule</a:t>
            </a:r>
            <a:endParaRPr lang="en-US" altLang="zh-CN" sz="2000" dirty="0">
              <a:solidFill>
                <a:srgbClr val="0000FF"/>
              </a:solidFill>
              <a:ea typeface="CourierNewPS-BoldMT" charset="-122"/>
            </a:endParaRPr>
          </a:p>
        </p:txBody>
      </p:sp>
      <p:sp>
        <p:nvSpPr>
          <p:cNvPr id="2" name="矩形 1">
            <a:extLst>
              <a:ext uri="{FF2B5EF4-FFF2-40B4-BE49-F238E27FC236}">
                <a16:creationId xmlns:a16="http://schemas.microsoft.com/office/drawing/2014/main" id="{2E484183-B447-449C-9D66-267A1DB6D52F}"/>
              </a:ext>
            </a:extLst>
          </p:cNvPr>
          <p:cNvSpPr/>
          <p:nvPr/>
        </p:nvSpPr>
        <p:spPr>
          <a:xfrm>
            <a:off x="5689599" y="2226694"/>
            <a:ext cx="6502401" cy="3477875"/>
          </a:xfrm>
          <a:prstGeom prst="rect">
            <a:avLst/>
          </a:prstGeom>
        </p:spPr>
        <p:txBody>
          <a:bodyPr wrap="square">
            <a:spAutoFit/>
          </a:bodyPr>
          <a:lstStyle/>
          <a:p>
            <a:r>
              <a:rPr lang="en-US" altLang="zh-CN" sz="2000" dirty="0">
                <a:solidFill>
                  <a:srgbClr val="0000FF"/>
                </a:solidFill>
              </a:rPr>
              <a:t>module primary (</a:t>
            </a:r>
            <a:r>
              <a:rPr lang="en-US" altLang="zh-CN" sz="2000" dirty="0" err="1">
                <a:solidFill>
                  <a:srgbClr val="FF0000"/>
                </a:solidFill>
              </a:rPr>
              <a:t>chip_bus.master</a:t>
            </a:r>
            <a:r>
              <a:rPr lang="en-US" altLang="zh-CN" sz="2000" dirty="0">
                <a:solidFill>
                  <a:srgbClr val="FF0000"/>
                </a:solidFill>
              </a:rPr>
              <a:t> pins</a:t>
            </a:r>
            <a:r>
              <a:rPr lang="en-US" altLang="zh-CN" sz="2000" dirty="0">
                <a:solidFill>
                  <a:srgbClr val="0000FF"/>
                </a:solidFill>
              </a:rPr>
              <a:t>); </a:t>
            </a:r>
          </a:p>
          <a:p>
            <a:r>
              <a:rPr lang="en-US" altLang="zh-CN" sz="2000" dirty="0">
                <a:solidFill>
                  <a:srgbClr val="0000FF"/>
                </a:solidFill>
              </a:rPr>
              <a:t>...</a:t>
            </a:r>
          </a:p>
          <a:p>
            <a:r>
              <a:rPr lang="en-US" altLang="zh-CN" sz="2000" dirty="0" err="1">
                <a:solidFill>
                  <a:srgbClr val="0000FF"/>
                </a:solidFill>
              </a:rPr>
              <a:t>endmodule</a:t>
            </a:r>
            <a:endParaRPr lang="en-US" altLang="zh-CN" sz="2000" dirty="0">
              <a:solidFill>
                <a:srgbClr val="0000FF"/>
              </a:solidFill>
            </a:endParaRPr>
          </a:p>
          <a:p>
            <a:r>
              <a:rPr lang="en-US" altLang="zh-CN" sz="2000" dirty="0">
                <a:solidFill>
                  <a:srgbClr val="0000FF"/>
                </a:solidFill>
              </a:rPr>
              <a:t>module secondary (</a:t>
            </a:r>
            <a:r>
              <a:rPr lang="en-US" altLang="zh-CN" sz="2000" dirty="0" err="1">
                <a:solidFill>
                  <a:srgbClr val="FF0000"/>
                </a:solidFill>
              </a:rPr>
              <a:t>chip_bus.slave</a:t>
            </a:r>
            <a:r>
              <a:rPr lang="en-US" altLang="zh-CN" sz="2000" dirty="0">
                <a:solidFill>
                  <a:srgbClr val="FF0000"/>
                </a:solidFill>
              </a:rPr>
              <a:t> pins</a:t>
            </a:r>
            <a:r>
              <a:rPr lang="en-US" altLang="zh-CN" sz="2000" dirty="0">
                <a:solidFill>
                  <a:srgbClr val="0000FF"/>
                </a:solidFill>
              </a:rPr>
              <a:t>); </a:t>
            </a:r>
          </a:p>
          <a:p>
            <a:r>
              <a:rPr lang="en-US" altLang="zh-CN" sz="2000" dirty="0">
                <a:solidFill>
                  <a:srgbClr val="0000FF"/>
                </a:solidFill>
              </a:rPr>
              <a:t>...</a:t>
            </a:r>
          </a:p>
          <a:p>
            <a:r>
              <a:rPr lang="en-US" altLang="zh-CN" sz="2000" dirty="0" err="1">
                <a:solidFill>
                  <a:srgbClr val="0000FF"/>
                </a:solidFill>
              </a:rPr>
              <a:t>endmodule</a:t>
            </a:r>
            <a:endParaRPr lang="en-US" altLang="zh-CN" sz="2000" dirty="0">
              <a:solidFill>
                <a:srgbClr val="0000FF"/>
              </a:solidFill>
            </a:endParaRPr>
          </a:p>
          <a:p>
            <a:r>
              <a:rPr lang="en-US" altLang="zh-CN" sz="2000" dirty="0">
                <a:solidFill>
                  <a:srgbClr val="0000FF"/>
                </a:solidFill>
              </a:rPr>
              <a:t>module chip (input logic clock, </a:t>
            </a:r>
            <a:r>
              <a:rPr lang="en-US" altLang="zh-CN" sz="2000" dirty="0" err="1">
                <a:solidFill>
                  <a:srgbClr val="0000FF"/>
                </a:solidFill>
              </a:rPr>
              <a:t>resetn</a:t>
            </a:r>
            <a:r>
              <a:rPr lang="en-US" altLang="zh-CN" sz="2000" dirty="0">
                <a:solidFill>
                  <a:srgbClr val="0000FF"/>
                </a:solidFill>
              </a:rPr>
              <a:t>);</a:t>
            </a:r>
          </a:p>
          <a:p>
            <a:r>
              <a:rPr lang="en-US" altLang="zh-CN" sz="2000" dirty="0" err="1">
                <a:solidFill>
                  <a:srgbClr val="0000FF"/>
                </a:solidFill>
              </a:rPr>
              <a:t>chip_bus</a:t>
            </a:r>
            <a:r>
              <a:rPr lang="en-US" altLang="zh-CN" sz="2000" dirty="0">
                <a:solidFill>
                  <a:srgbClr val="0000FF"/>
                </a:solidFill>
              </a:rPr>
              <a:t> bus (clock, </a:t>
            </a:r>
            <a:r>
              <a:rPr lang="en-US" altLang="zh-CN" sz="2000" dirty="0" err="1">
                <a:solidFill>
                  <a:srgbClr val="0000FF"/>
                </a:solidFill>
              </a:rPr>
              <a:t>resetn</a:t>
            </a:r>
            <a:r>
              <a:rPr lang="en-US" altLang="zh-CN" sz="2000" dirty="0">
                <a:solidFill>
                  <a:srgbClr val="0000FF"/>
                </a:solidFill>
              </a:rPr>
              <a:t>); // instance of an interface</a:t>
            </a:r>
          </a:p>
          <a:p>
            <a:r>
              <a:rPr lang="en-US" altLang="zh-CN" sz="2000" dirty="0">
                <a:solidFill>
                  <a:srgbClr val="FF0000"/>
                </a:solidFill>
              </a:rPr>
              <a:t>primary     i1 (bus);</a:t>
            </a:r>
            <a:r>
              <a:rPr lang="en-US" altLang="zh-CN" sz="2000" dirty="0">
                <a:solidFill>
                  <a:srgbClr val="0000FF"/>
                </a:solidFill>
              </a:rPr>
              <a:t> // use the master </a:t>
            </a:r>
            <a:r>
              <a:rPr lang="en-US" altLang="zh-CN" sz="2000" dirty="0" err="1">
                <a:solidFill>
                  <a:srgbClr val="0000FF"/>
                </a:solidFill>
              </a:rPr>
              <a:t>modport</a:t>
            </a:r>
            <a:r>
              <a:rPr lang="en-US" altLang="zh-CN" sz="2000" dirty="0">
                <a:solidFill>
                  <a:srgbClr val="0000FF"/>
                </a:solidFill>
              </a:rPr>
              <a:t> view</a:t>
            </a:r>
          </a:p>
          <a:p>
            <a:r>
              <a:rPr lang="en-US" altLang="zh-CN" sz="2000" dirty="0">
                <a:solidFill>
                  <a:srgbClr val="FF0000"/>
                </a:solidFill>
              </a:rPr>
              <a:t>secondary i2 (bus);</a:t>
            </a:r>
            <a:r>
              <a:rPr lang="en-US" altLang="zh-CN" sz="2000" dirty="0">
                <a:solidFill>
                  <a:srgbClr val="0000FF"/>
                </a:solidFill>
              </a:rPr>
              <a:t> // use the slave </a:t>
            </a:r>
            <a:r>
              <a:rPr lang="en-US" altLang="zh-CN" sz="2000" dirty="0" err="1">
                <a:solidFill>
                  <a:srgbClr val="0000FF"/>
                </a:solidFill>
              </a:rPr>
              <a:t>modport</a:t>
            </a:r>
            <a:r>
              <a:rPr lang="en-US" altLang="zh-CN" sz="2000" dirty="0">
                <a:solidFill>
                  <a:srgbClr val="0000FF"/>
                </a:solidFill>
              </a:rPr>
              <a:t> view</a:t>
            </a:r>
          </a:p>
          <a:p>
            <a:r>
              <a:rPr lang="en-US" altLang="zh-CN" sz="2000" dirty="0" err="1">
                <a:solidFill>
                  <a:srgbClr val="0000FF"/>
                </a:solidFill>
              </a:rPr>
              <a:t>endmodule</a:t>
            </a:r>
            <a:endParaRPr lang="zh-CN" altLang="en-US" sz="2000" dirty="0"/>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ext Box 3">
            <a:extLst>
              <a:ext uri="{FF2B5EF4-FFF2-40B4-BE49-F238E27FC236}">
                <a16:creationId xmlns:a16="http://schemas.microsoft.com/office/drawing/2014/main" id="{39A6D9B8-FF06-4556-9E3C-0A1844E8D05B}"/>
              </a:ext>
            </a:extLst>
          </p:cNvPr>
          <p:cNvSpPr txBox="1">
            <a:spLocks noChangeArrowheads="1"/>
          </p:cNvSpPr>
          <p:nvPr/>
        </p:nvSpPr>
        <p:spPr bwMode="auto">
          <a:xfrm>
            <a:off x="495300" y="1295400"/>
            <a:ext cx="114935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buFont typeface="Arial" panose="020B0604020202020204" pitchFamily="34" charset="0"/>
              <a:buChar char="•"/>
            </a:pPr>
            <a:r>
              <a:rPr lang="en-US" altLang="zh-CN" sz="2400" dirty="0" err="1">
                <a:solidFill>
                  <a:srgbClr val="0000FF"/>
                </a:solidFill>
              </a:rPr>
              <a:t>SystemVerilog</a:t>
            </a:r>
            <a:r>
              <a:rPr lang="zh-CN" altLang="en-US" sz="2400" dirty="0">
                <a:solidFill>
                  <a:srgbClr val="0000FF"/>
                </a:solidFill>
              </a:rPr>
              <a:t>可以在接口中声明任务和函数，这些任务和函数可以作为接口方法来引用。</a:t>
            </a:r>
          </a:p>
          <a:p>
            <a:pPr marL="285750" indent="-285750">
              <a:buFont typeface="Arial" panose="020B0604020202020204" pitchFamily="34" charset="0"/>
              <a:buChar char="•"/>
            </a:pPr>
            <a:endParaRPr lang="zh-CN" altLang="en-US" sz="2400" dirty="0">
              <a:solidFill>
                <a:srgbClr val="0000FF"/>
              </a:solidFill>
            </a:endParaRPr>
          </a:p>
          <a:p>
            <a:pPr marL="285750" indent="-285750">
              <a:buFont typeface="Arial" panose="020B0604020202020204" pitchFamily="34" charset="0"/>
              <a:buChar char="•"/>
            </a:pPr>
            <a:r>
              <a:rPr lang="zh-CN" altLang="en-US" sz="2400" dirty="0">
                <a:solidFill>
                  <a:srgbClr val="0000FF"/>
                </a:solidFill>
              </a:rPr>
              <a:t>接口中定义的任务或函数，语法与模块中定义任务和函数相同，使用的语句相同。</a:t>
            </a:r>
          </a:p>
          <a:p>
            <a:pPr marL="285750" indent="-285750">
              <a:buFont typeface="Arial" panose="020B0604020202020204" pitchFamily="34" charset="0"/>
              <a:buChar char="•"/>
            </a:pPr>
            <a:endParaRPr lang="zh-CN" altLang="en-US" sz="2400" dirty="0">
              <a:solidFill>
                <a:srgbClr val="0000FF"/>
              </a:solidFill>
            </a:endParaRPr>
          </a:p>
          <a:p>
            <a:pPr marL="285750" indent="-285750">
              <a:buFont typeface="Arial" panose="020B0604020202020204" pitchFamily="34" charset="0"/>
              <a:buChar char="•"/>
            </a:pPr>
            <a:r>
              <a:rPr lang="zh-CN" altLang="en-US" sz="2400" dirty="0">
                <a:solidFill>
                  <a:srgbClr val="0000FF"/>
                </a:solidFill>
              </a:rPr>
              <a:t>接口方法可以对接口中的任意信号进行操作，并可以通过输入参数从接口外部读入数值，也可将返回值从接口方法写回</a:t>
            </a:r>
            <a:endParaRPr lang="en-US" altLang="zh-CN" sz="2400" dirty="0">
              <a:solidFill>
                <a:srgbClr val="0000FF"/>
              </a:solidFill>
            </a:endParaRPr>
          </a:p>
          <a:p>
            <a:pPr marL="285750" indent="-285750">
              <a:buFont typeface="Arial" panose="020B0604020202020204" pitchFamily="34" charset="0"/>
              <a:buChar char="•"/>
            </a:pPr>
            <a:r>
              <a:rPr lang="zh-CN" altLang="en-US" sz="2400" dirty="0">
                <a:solidFill>
                  <a:srgbClr val="0000FF"/>
                </a:solidFill>
              </a:rPr>
              <a:t>在</a:t>
            </a:r>
            <a:r>
              <a:rPr lang="en-US" altLang="zh-CN" sz="2400" dirty="0" err="1">
                <a:solidFill>
                  <a:srgbClr val="0000FF"/>
                </a:solidFill>
              </a:rPr>
              <a:t>modport</a:t>
            </a:r>
            <a:r>
              <a:rPr lang="zh-CN" altLang="en-US" sz="2400" dirty="0">
                <a:solidFill>
                  <a:srgbClr val="0000FF"/>
                </a:solidFill>
              </a:rPr>
              <a:t>中的</a:t>
            </a:r>
            <a:r>
              <a:rPr lang="en-US" altLang="zh-CN" sz="2400" dirty="0">
                <a:solidFill>
                  <a:srgbClr val="0000FF"/>
                </a:solidFill>
              </a:rPr>
              <a:t>import</a:t>
            </a:r>
            <a:r>
              <a:rPr lang="zh-CN" altLang="en-US" sz="2400" dirty="0">
                <a:solidFill>
                  <a:srgbClr val="0000FF"/>
                </a:solidFill>
              </a:rPr>
              <a:t>声明表示要导入任务或函数：</a:t>
            </a:r>
          </a:p>
          <a:p>
            <a:r>
              <a:rPr lang="en-US" altLang="zh-CN" sz="2400" dirty="0">
                <a:solidFill>
                  <a:srgbClr val="0000FF"/>
                </a:solidFill>
              </a:rPr>
              <a:t>    </a:t>
            </a:r>
            <a:r>
              <a:rPr lang="en-US" altLang="zh-CN" sz="2400" dirty="0" err="1">
                <a:solidFill>
                  <a:srgbClr val="0000FF"/>
                </a:solidFill>
              </a:rPr>
              <a:t>modport</a:t>
            </a:r>
            <a:r>
              <a:rPr lang="en-US" altLang="zh-CN" sz="2400" dirty="0">
                <a:solidFill>
                  <a:srgbClr val="0000FF"/>
                </a:solidFill>
              </a:rPr>
              <a:t> ( import  task &lt;</a:t>
            </a:r>
            <a:r>
              <a:rPr lang="zh-CN" altLang="en-US" sz="2400" dirty="0">
                <a:solidFill>
                  <a:srgbClr val="0000FF"/>
                </a:solidFill>
              </a:rPr>
              <a:t>任务名称</a:t>
            </a:r>
            <a:r>
              <a:rPr lang="en-US" altLang="zh-CN" sz="2400" dirty="0">
                <a:solidFill>
                  <a:srgbClr val="0000FF"/>
                </a:solidFill>
              </a:rPr>
              <a:t>&gt; (&lt;</a:t>
            </a:r>
            <a:r>
              <a:rPr lang="zh-CN" altLang="en-US" sz="2400" dirty="0">
                <a:solidFill>
                  <a:srgbClr val="0000FF"/>
                </a:solidFill>
              </a:rPr>
              <a:t>任务形参</a:t>
            </a:r>
            <a:r>
              <a:rPr lang="en-US" altLang="zh-CN" sz="2400" dirty="0">
                <a:solidFill>
                  <a:srgbClr val="0000FF"/>
                </a:solidFill>
              </a:rPr>
              <a:t>&gt;));   </a:t>
            </a:r>
            <a:r>
              <a:rPr lang="zh-CN" altLang="en-US" sz="2400" dirty="0">
                <a:solidFill>
                  <a:srgbClr val="0000FF"/>
                </a:solidFill>
              </a:rPr>
              <a:t>或</a:t>
            </a:r>
          </a:p>
          <a:p>
            <a:r>
              <a:rPr lang="zh-CN" altLang="en-US" sz="2400" dirty="0">
                <a:solidFill>
                  <a:srgbClr val="0000FF"/>
                </a:solidFill>
              </a:rPr>
              <a:t>    </a:t>
            </a:r>
            <a:r>
              <a:rPr lang="en-US" altLang="zh-CN" sz="2400" dirty="0" err="1">
                <a:solidFill>
                  <a:srgbClr val="0000FF"/>
                </a:solidFill>
              </a:rPr>
              <a:t>modport</a:t>
            </a:r>
            <a:r>
              <a:rPr lang="en-US" altLang="zh-CN" sz="2400" dirty="0">
                <a:solidFill>
                  <a:srgbClr val="0000FF"/>
                </a:solidFill>
              </a:rPr>
              <a:t> ( import function &lt;</a:t>
            </a:r>
            <a:r>
              <a:rPr lang="zh-CN" altLang="en-US" sz="2400" dirty="0">
                <a:solidFill>
                  <a:srgbClr val="0000FF"/>
                </a:solidFill>
              </a:rPr>
              <a:t>函数名称</a:t>
            </a:r>
            <a:r>
              <a:rPr lang="en-US" altLang="zh-CN" sz="2400" dirty="0">
                <a:solidFill>
                  <a:srgbClr val="0000FF"/>
                </a:solidFill>
              </a:rPr>
              <a:t>&gt; (&lt;</a:t>
            </a:r>
            <a:r>
              <a:rPr lang="zh-CN" altLang="en-US" sz="2400" dirty="0">
                <a:solidFill>
                  <a:srgbClr val="0000FF"/>
                </a:solidFill>
              </a:rPr>
              <a:t>函数形参</a:t>
            </a:r>
            <a:r>
              <a:rPr lang="en-US" altLang="zh-CN" sz="2400" dirty="0">
                <a:solidFill>
                  <a:srgbClr val="0000FF"/>
                </a:solidFill>
              </a:rPr>
              <a:t>&gt;));</a:t>
            </a:r>
          </a:p>
          <a:p>
            <a:endParaRPr lang="en-US" altLang="zh-CN" sz="2400" dirty="0">
              <a:solidFill>
                <a:srgbClr val="0000FF"/>
              </a:solidFill>
            </a:endParaRPr>
          </a:p>
          <a:p>
            <a:pPr marL="342900" indent="-342900">
              <a:buFont typeface="Arial" panose="020B0604020202020204" pitchFamily="34" charset="0"/>
              <a:buChar char="•"/>
            </a:pPr>
            <a:r>
              <a:rPr lang="zh-CN" altLang="en-US" sz="2400" dirty="0">
                <a:solidFill>
                  <a:srgbClr val="0000FF"/>
                </a:solidFill>
              </a:rPr>
              <a:t>使用从接口中导入的任务或函数的模块是</a:t>
            </a:r>
            <a:r>
              <a:rPr lang="zh-CN" altLang="en-US" sz="2400" b="1" dirty="0">
                <a:solidFill>
                  <a:srgbClr val="FF0000"/>
                </a:solidFill>
              </a:rPr>
              <a:t>可综合的</a:t>
            </a:r>
            <a:r>
              <a:rPr lang="zh-CN" altLang="en-US" sz="2400" dirty="0">
                <a:solidFill>
                  <a:srgbClr val="0000FF"/>
                </a:solidFill>
              </a:rPr>
              <a:t>，综合将导入的任务或函数作为模块的一个局部副本。</a:t>
            </a:r>
          </a:p>
        </p:txBody>
      </p:sp>
      <p:sp>
        <p:nvSpPr>
          <p:cNvPr id="4" name="Text Box 2">
            <a:extLst>
              <a:ext uri="{FF2B5EF4-FFF2-40B4-BE49-F238E27FC236}">
                <a16:creationId xmlns:a16="http://schemas.microsoft.com/office/drawing/2014/main" id="{25C3E9BB-EDB0-46EF-8AEB-4F4555FF9AEC}"/>
              </a:ext>
            </a:extLst>
          </p:cNvPr>
          <p:cNvSpPr txBox="1">
            <a:spLocks noChangeArrowheads="1"/>
          </p:cNvSpPr>
          <p:nvPr/>
        </p:nvSpPr>
        <p:spPr bwMode="auto">
          <a:xfrm>
            <a:off x="495300" y="327203"/>
            <a:ext cx="10972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接口中使用任务和函数</a:t>
            </a:r>
            <a:endParaRPr lang="en-US" altLang="zh-CN" sz="4400" dirty="0">
              <a:solidFill>
                <a:srgbClr val="000066"/>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3">
            <a:extLst>
              <a:ext uri="{FF2B5EF4-FFF2-40B4-BE49-F238E27FC236}">
                <a16:creationId xmlns:a16="http://schemas.microsoft.com/office/drawing/2014/main" id="{6A37EBA0-0017-48F9-BA89-993058CA3D54}"/>
              </a:ext>
            </a:extLst>
          </p:cNvPr>
          <p:cNvSpPr txBox="1">
            <a:spLocks noChangeArrowheads="1"/>
          </p:cNvSpPr>
          <p:nvPr/>
        </p:nvSpPr>
        <p:spPr bwMode="auto">
          <a:xfrm>
            <a:off x="316344" y="948690"/>
            <a:ext cx="11561619"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dirty="0">
                <a:solidFill>
                  <a:srgbClr val="0000FF"/>
                </a:solidFill>
                <a:latin typeface="CourierNewPS-BoldMT" charset="-122"/>
                <a:ea typeface="CourierNewPS-BoldMT" charset="-122"/>
              </a:rPr>
              <a:t>interface </a:t>
            </a:r>
            <a:r>
              <a:rPr lang="en-US" altLang="zh-CN" dirty="0" err="1">
                <a:solidFill>
                  <a:srgbClr val="0000FF"/>
                </a:solidFill>
                <a:latin typeface="CourierNewPSMT" charset="-122"/>
                <a:ea typeface="CourierNewPSMT" charset="-122"/>
              </a:rPr>
              <a:t>math_bus</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input logic </a:t>
            </a:r>
            <a:r>
              <a:rPr lang="en-US" altLang="zh-CN" dirty="0">
                <a:solidFill>
                  <a:srgbClr val="0000FF"/>
                </a:solidFill>
                <a:latin typeface="CourierNewPSMT" charset="-122"/>
                <a:ea typeface="CourierNewPSMT" charset="-122"/>
              </a:rPr>
              <a:t>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BoldMT" charset="-122"/>
                <a:ea typeface="CourierNewPS-BoldMT" charset="-122"/>
              </a:rPr>
              <a:t>    int </a:t>
            </a:r>
            <a:r>
              <a:rPr lang="en-US" altLang="zh-CN" dirty="0" err="1">
                <a:solidFill>
                  <a:srgbClr val="0000FF"/>
                </a:solidFill>
                <a:latin typeface="CourierNewPSMT" charset="-122"/>
                <a:ea typeface="CourierNewPSMT" charset="-122"/>
              </a:rPr>
              <a:t>a_int</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b_int</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result_int</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BoldMT" charset="-122"/>
                <a:ea typeface="CourierNewPS-BoldMT" charset="-122"/>
              </a:rPr>
              <a:t>    real </a:t>
            </a:r>
            <a:r>
              <a:rPr lang="en-US" altLang="zh-CN" dirty="0" err="1">
                <a:solidFill>
                  <a:srgbClr val="0000FF"/>
                </a:solidFill>
                <a:latin typeface="CourierNewPSMT" charset="-122"/>
                <a:ea typeface="CourierNewPSMT" charset="-122"/>
              </a:rPr>
              <a:t>a_real</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b_real</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result_real</a:t>
            </a:r>
            <a:r>
              <a:rPr lang="en-US" altLang="zh-CN" dirty="0">
                <a:solidFill>
                  <a:srgbClr val="0000FF"/>
                </a:solidFill>
                <a:latin typeface="CourierNewPSMT" charset="-122"/>
                <a:ea typeface="CourierNewPSMT" charset="-122"/>
              </a:rPr>
              <a:t>;  ...  </a:t>
            </a:r>
          </a:p>
          <a:p>
            <a:r>
              <a:rPr lang="en-US" altLang="zh-CN" dirty="0">
                <a:solidFill>
                  <a:srgbClr val="0000FF"/>
                </a:solidFill>
                <a:latin typeface="CourierNewPS-BoldMT" charset="-122"/>
                <a:ea typeface="CourierNewPS-BoldMT" charset="-122"/>
              </a:rPr>
              <a:t>    task </a:t>
            </a:r>
            <a:r>
              <a:rPr lang="en-US" altLang="zh-CN" dirty="0" err="1">
                <a:solidFill>
                  <a:srgbClr val="0000FF"/>
                </a:solidFill>
                <a:latin typeface="CourierNewPSMT" charset="-122"/>
                <a:ea typeface="CourierNewPSMT" charset="-122"/>
              </a:rPr>
              <a:t>IntRead</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output int </a:t>
            </a:r>
            <a:r>
              <a:rPr lang="en-US" altLang="zh-CN" dirty="0" err="1">
                <a:solidFill>
                  <a:srgbClr val="0000FF"/>
                </a:solidFill>
                <a:latin typeface="CourierNewPSMT" charset="-122"/>
                <a:ea typeface="CourierNewPSMT" charset="-122"/>
              </a:rPr>
              <a:t>a_int</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b_int</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MT" charset="-122"/>
                <a:ea typeface="CourierNewPSMT" charset="-122"/>
              </a:rPr>
              <a:t>        ... </a:t>
            </a:r>
          </a:p>
          <a:p>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BoldMT" charset="-122"/>
                <a:ea typeface="CourierNewPS-BoldMT" charset="-122"/>
              </a:rPr>
              <a:t>endtask</a:t>
            </a:r>
            <a:endParaRPr lang="en-US" altLang="zh-CN" dirty="0">
              <a:solidFill>
                <a:srgbClr val="0000FF"/>
              </a:solidFill>
              <a:latin typeface="CourierNewPS-BoldMT" charset="-122"/>
              <a:ea typeface="CourierNewPS-BoldMT" charset="-122"/>
            </a:endParaRPr>
          </a:p>
          <a:p>
            <a:r>
              <a:rPr lang="en-US" altLang="zh-CN" dirty="0">
                <a:solidFill>
                  <a:srgbClr val="0000FF"/>
                </a:solidFill>
                <a:latin typeface="CourierNewPS-BoldMT" charset="-122"/>
                <a:ea typeface="CourierNewPS-BoldMT" charset="-122"/>
              </a:rPr>
              <a:t>    task </a:t>
            </a:r>
            <a:r>
              <a:rPr lang="en-US" altLang="zh-CN" dirty="0" err="1">
                <a:solidFill>
                  <a:srgbClr val="0000FF"/>
                </a:solidFill>
                <a:latin typeface="CourierNewPSMT" charset="-122"/>
                <a:ea typeface="CourierNewPSMT" charset="-122"/>
              </a:rPr>
              <a:t>FloatRead</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output real </a:t>
            </a:r>
            <a:r>
              <a:rPr lang="en-US" altLang="zh-CN" dirty="0" err="1">
                <a:solidFill>
                  <a:srgbClr val="0000FF"/>
                </a:solidFill>
                <a:latin typeface="CourierNewPSMT" charset="-122"/>
                <a:ea typeface="CourierNewPSMT" charset="-122"/>
              </a:rPr>
              <a:t>a_real</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b_real</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MT" charset="-122"/>
                <a:ea typeface="CourierNewPSMT" charset="-122"/>
              </a:rPr>
              <a:t>        ... </a:t>
            </a:r>
          </a:p>
          <a:p>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BoldMT" charset="-122"/>
                <a:ea typeface="CourierNewPS-BoldMT" charset="-122"/>
              </a:rPr>
              <a:t>endtask</a:t>
            </a:r>
            <a:endParaRPr lang="en-US" altLang="zh-CN" dirty="0">
              <a:solidFill>
                <a:srgbClr val="0000FF"/>
              </a:solidFill>
              <a:latin typeface="CourierNewPS-BoldMT" charset="-122"/>
              <a:ea typeface="CourierNewPS-BoldMT" charset="-122"/>
            </a:endParaRPr>
          </a:p>
          <a:p>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BoldMT" charset="-122"/>
                <a:ea typeface="CourierNewPS-BoldMT" charset="-122"/>
              </a:rPr>
              <a:t>modport</a:t>
            </a:r>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MT" charset="-122"/>
                <a:ea typeface="CourierNewPSMT" charset="-122"/>
              </a:rPr>
              <a:t>int_io</a:t>
            </a:r>
            <a:r>
              <a:rPr lang="en-US" altLang="zh-CN" dirty="0">
                <a:solidFill>
                  <a:srgbClr val="0000FF"/>
                </a:solidFill>
                <a:latin typeface="CourierNewPSMT" charset="-122"/>
                <a:ea typeface="CourierNewPSMT" charset="-122"/>
              </a:rPr>
              <a:t> (</a:t>
            </a:r>
            <a:r>
              <a:rPr lang="en-US" altLang="zh-CN" dirty="0">
                <a:solidFill>
                  <a:srgbClr val="FF0000"/>
                </a:solidFill>
                <a:latin typeface="CourierNewPS-BoldMT" charset="-122"/>
                <a:ea typeface="CourierNewPS-BoldMT" charset="-122"/>
              </a:rPr>
              <a:t>import </a:t>
            </a:r>
            <a:r>
              <a:rPr lang="en-US" altLang="zh-CN" dirty="0" err="1">
                <a:solidFill>
                  <a:srgbClr val="FF0000"/>
                </a:solidFill>
                <a:latin typeface="CourierNewPSMT" charset="-122"/>
                <a:ea typeface="CourierNewPSMT" charset="-122"/>
              </a:rPr>
              <a:t>IntRead</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input </a:t>
            </a:r>
            <a:r>
              <a:rPr lang="en-US" altLang="zh-CN" dirty="0">
                <a:solidFill>
                  <a:srgbClr val="0000FF"/>
                </a:solidFill>
                <a:latin typeface="CourierNewPSMT" charset="-122"/>
                <a:ea typeface="CourierNewPSMT" charset="-122"/>
              </a:rPr>
              <a:t>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output </a:t>
            </a:r>
            <a:r>
              <a:rPr lang="en-US" altLang="zh-CN" dirty="0" err="1">
                <a:solidFill>
                  <a:srgbClr val="0000FF"/>
                </a:solidFill>
                <a:latin typeface="CourierNewPSMT" charset="-122"/>
                <a:ea typeface="CourierNewPSMT" charset="-122"/>
              </a:rPr>
              <a:t>result_int</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BoldMT" charset="-122"/>
                <a:ea typeface="CourierNewPS-BoldMT" charset="-122"/>
              </a:rPr>
              <a:t>modport</a:t>
            </a:r>
            <a:r>
              <a:rPr lang="en-US" altLang="zh-CN" dirty="0">
                <a:solidFill>
                  <a:srgbClr val="0000FF"/>
                </a:solidFill>
                <a:latin typeface="CourierNewPS-BoldMT" charset="-122"/>
                <a:ea typeface="CourierNewPS-BoldMT" charset="-122"/>
              </a:rPr>
              <a:t> </a:t>
            </a:r>
            <a:r>
              <a:rPr lang="en-US" altLang="zh-CN" dirty="0" err="1">
                <a:solidFill>
                  <a:srgbClr val="0000FF"/>
                </a:solidFill>
                <a:latin typeface="CourierNewPSMT" charset="-122"/>
                <a:ea typeface="CourierNewPSMT" charset="-122"/>
              </a:rPr>
              <a:t>fp_io</a:t>
            </a:r>
            <a:r>
              <a:rPr lang="en-US" altLang="zh-CN" dirty="0">
                <a:solidFill>
                  <a:srgbClr val="0000FF"/>
                </a:solidFill>
                <a:latin typeface="CourierNewPSMT" charset="-122"/>
                <a:ea typeface="CourierNewPSMT" charset="-122"/>
              </a:rPr>
              <a:t> (</a:t>
            </a:r>
            <a:r>
              <a:rPr lang="en-US" altLang="zh-CN" dirty="0">
                <a:solidFill>
                  <a:srgbClr val="FF0000"/>
                </a:solidFill>
                <a:latin typeface="CourierNewPS-BoldMT" charset="-122"/>
                <a:ea typeface="CourierNewPS-BoldMT" charset="-122"/>
              </a:rPr>
              <a:t>import </a:t>
            </a:r>
            <a:r>
              <a:rPr lang="en-US" altLang="zh-CN" dirty="0" err="1">
                <a:solidFill>
                  <a:srgbClr val="FF0000"/>
                </a:solidFill>
                <a:latin typeface="CourierNewPSMT" charset="-122"/>
                <a:ea typeface="CourierNewPSMT" charset="-122"/>
              </a:rPr>
              <a:t>FloatRead</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input </a:t>
            </a:r>
            <a:r>
              <a:rPr lang="en-US" altLang="zh-CN" dirty="0">
                <a:solidFill>
                  <a:srgbClr val="0000FF"/>
                </a:solidFill>
                <a:latin typeface="CourierNewPSMT" charset="-122"/>
                <a:ea typeface="CourierNewPSMT" charset="-122"/>
              </a:rPr>
              <a:t>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output </a:t>
            </a:r>
            <a:r>
              <a:rPr lang="en-US" altLang="zh-CN" dirty="0" err="1">
                <a:solidFill>
                  <a:srgbClr val="0000FF"/>
                </a:solidFill>
                <a:latin typeface="CourierNewPSMT" charset="-122"/>
                <a:ea typeface="CourierNewPSMT" charset="-122"/>
              </a:rPr>
              <a:t>result_real</a:t>
            </a:r>
            <a:r>
              <a:rPr lang="en-US" altLang="zh-CN" dirty="0">
                <a:solidFill>
                  <a:srgbClr val="0000FF"/>
                </a:solidFill>
                <a:latin typeface="CourierNewPSMT" charset="-122"/>
                <a:ea typeface="CourierNewPSMT" charset="-122"/>
              </a:rPr>
              <a:t>);</a:t>
            </a:r>
          </a:p>
          <a:p>
            <a:r>
              <a:rPr lang="en-US" altLang="zh-CN" dirty="0" err="1">
                <a:solidFill>
                  <a:srgbClr val="0000FF"/>
                </a:solidFill>
                <a:latin typeface="CourierNewPS-BoldMT" charset="-122"/>
                <a:ea typeface="CourierNewPS-BoldMT" charset="-122"/>
              </a:rPr>
              <a:t>Endinterface</a:t>
            </a:r>
            <a:endParaRPr lang="en-US" altLang="zh-CN" dirty="0">
              <a:solidFill>
                <a:srgbClr val="0000FF"/>
              </a:solidFill>
              <a:latin typeface="CourierNewPS-BoldMT" charset="-122"/>
              <a:ea typeface="CourierNewPS-BoldMT" charset="-122"/>
            </a:endParaRPr>
          </a:p>
          <a:p>
            <a:endParaRPr lang="en-US" altLang="zh-CN" dirty="0">
              <a:solidFill>
                <a:srgbClr val="0000FF"/>
              </a:solidFill>
              <a:latin typeface="CourierNewPSMT" charset="-122"/>
              <a:ea typeface="CourierNewPSMT" charset="-122"/>
            </a:endParaRPr>
          </a:p>
          <a:p>
            <a:r>
              <a:rPr lang="en-US" altLang="zh-CN" dirty="0">
                <a:solidFill>
                  <a:srgbClr val="0000FF"/>
                </a:solidFill>
                <a:latin typeface="CourierNewPS-BoldMT" charset="-122"/>
                <a:ea typeface="CourierNewPS-BoldMT" charset="-122"/>
              </a:rPr>
              <a:t>module </a:t>
            </a:r>
            <a:r>
              <a:rPr lang="en-US" altLang="zh-CN" dirty="0" err="1">
                <a:solidFill>
                  <a:srgbClr val="0000FF"/>
                </a:solidFill>
                <a:latin typeface="CourierNewPSMT" charset="-122"/>
                <a:ea typeface="CourierNewPSMT" charset="-122"/>
              </a:rPr>
              <a:t>dual_mu</a:t>
            </a:r>
            <a:r>
              <a:rPr lang="en-US" altLang="zh-CN" dirty="0">
                <a:solidFill>
                  <a:srgbClr val="0000FF"/>
                </a:solidFill>
                <a:latin typeface="CourierNewPSMT" charset="-122"/>
                <a:ea typeface="CourierNewPSMT" charset="-122"/>
              </a:rPr>
              <a:t> (</a:t>
            </a:r>
            <a:r>
              <a:rPr lang="en-US" altLang="zh-CN" dirty="0">
                <a:solidFill>
                  <a:srgbClr val="0000FF"/>
                </a:solidFill>
                <a:latin typeface="CourierNewPS-BoldMT" charset="-122"/>
                <a:ea typeface="CourierNewPS-BoldMT" charset="-122"/>
              </a:rPr>
              <a:t>input logic </a:t>
            </a:r>
            <a:r>
              <a:rPr lang="en-US" altLang="zh-CN" dirty="0">
                <a:solidFill>
                  <a:srgbClr val="0000FF"/>
                </a:solidFill>
                <a:latin typeface="CourierNewPSMT" charset="-122"/>
                <a:ea typeface="CourierNewPSMT" charset="-122"/>
              </a:rPr>
              <a:t>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math_bus</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bus_a</a:t>
            </a:r>
            <a:r>
              <a:rPr lang="en-US" altLang="zh-CN" dirty="0">
                <a:solidFill>
                  <a:srgbClr val="0000FF"/>
                </a:solidFill>
                <a:latin typeface="CourierNewPSMT" charset="-122"/>
                <a:ea typeface="CourierNewPSMT" charset="-122"/>
              </a:rPr>
              <a:t> (clock,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 </a:t>
            </a:r>
          </a:p>
          <a:p>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math_bus</a:t>
            </a:r>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bus_b</a:t>
            </a:r>
            <a:r>
              <a:rPr lang="en-US" altLang="zh-CN" dirty="0">
                <a:solidFill>
                  <a:srgbClr val="0000FF"/>
                </a:solidFill>
                <a:latin typeface="CourierNewPSMT" charset="-122"/>
                <a:ea typeface="CourierNewPSMT" charset="-122"/>
              </a:rPr>
              <a:t> (clock, </a:t>
            </a:r>
            <a:r>
              <a:rPr lang="en-US" altLang="zh-CN" dirty="0" err="1">
                <a:solidFill>
                  <a:srgbClr val="0000FF"/>
                </a:solidFill>
                <a:latin typeface="CourierNewPSMT" charset="-122"/>
                <a:ea typeface="CourierNewPSMT" charset="-122"/>
              </a:rPr>
              <a:t>resetN</a:t>
            </a:r>
            <a:r>
              <a:rPr lang="en-US" altLang="zh-CN" dirty="0">
                <a:solidFill>
                  <a:srgbClr val="0000FF"/>
                </a:solidFill>
                <a:latin typeface="CourierNewPSMT" charset="-122"/>
                <a:ea typeface="CourierNewPSMT" charset="-122"/>
              </a:rPr>
              <a:t>); </a:t>
            </a:r>
          </a:p>
          <a:p>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integer_math_unit</a:t>
            </a:r>
            <a:r>
              <a:rPr lang="en-US" altLang="zh-CN" dirty="0">
                <a:solidFill>
                  <a:srgbClr val="0000FF"/>
                </a:solidFill>
                <a:latin typeface="CourierNewPSMT" charset="-122"/>
                <a:ea typeface="CourierNewPSMT" charset="-122"/>
              </a:rPr>
              <a:t> i1 (</a:t>
            </a:r>
            <a:r>
              <a:rPr lang="en-US" altLang="zh-CN" dirty="0" err="1">
                <a:solidFill>
                  <a:srgbClr val="0000FF"/>
                </a:solidFill>
                <a:latin typeface="CourierNewPSMT" charset="-122"/>
                <a:ea typeface="CourierNewPSMT" charset="-122"/>
              </a:rPr>
              <a:t>bus_a.int_io</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MT" charset="-122"/>
                <a:ea typeface="CourierNewPSMT" charset="-122"/>
              </a:rPr>
              <a:t>// connect to interface using integer types</a:t>
            </a:r>
          </a:p>
          <a:p>
            <a:r>
              <a:rPr lang="en-US" altLang="zh-CN" dirty="0">
                <a:solidFill>
                  <a:srgbClr val="0000FF"/>
                </a:solidFill>
                <a:latin typeface="CourierNewPSMT" charset="-122"/>
                <a:ea typeface="CourierNewPSMT" charset="-122"/>
              </a:rPr>
              <a:t>    </a:t>
            </a:r>
            <a:r>
              <a:rPr lang="en-US" altLang="zh-CN" dirty="0" err="1">
                <a:solidFill>
                  <a:srgbClr val="0000FF"/>
                </a:solidFill>
                <a:latin typeface="CourierNewPSMT" charset="-122"/>
                <a:ea typeface="CourierNewPSMT" charset="-122"/>
              </a:rPr>
              <a:t>floating_point_unit</a:t>
            </a:r>
            <a:r>
              <a:rPr lang="en-US" altLang="zh-CN" dirty="0">
                <a:solidFill>
                  <a:srgbClr val="0000FF"/>
                </a:solidFill>
                <a:latin typeface="CourierNewPSMT" charset="-122"/>
                <a:ea typeface="CourierNewPSMT" charset="-122"/>
              </a:rPr>
              <a:t> i2 (</a:t>
            </a:r>
            <a:r>
              <a:rPr lang="en-US" altLang="zh-CN" dirty="0" err="1">
                <a:solidFill>
                  <a:srgbClr val="0000FF"/>
                </a:solidFill>
                <a:latin typeface="CourierNewPSMT" charset="-122"/>
                <a:ea typeface="CourierNewPSMT" charset="-122"/>
              </a:rPr>
              <a:t>bus_b.fp_io</a:t>
            </a:r>
            <a:r>
              <a:rPr lang="en-US" altLang="zh-CN" dirty="0">
                <a:solidFill>
                  <a:srgbClr val="0000FF"/>
                </a:solidFill>
                <a:latin typeface="CourierNewPSMT" charset="-122"/>
                <a:ea typeface="CourierNewPSMT" charset="-122"/>
              </a:rPr>
              <a:t>);</a:t>
            </a:r>
          </a:p>
          <a:p>
            <a:r>
              <a:rPr lang="en-US" altLang="zh-CN" dirty="0">
                <a:solidFill>
                  <a:srgbClr val="0000FF"/>
                </a:solidFill>
                <a:latin typeface="CourierNewPSMT" charset="-122"/>
                <a:ea typeface="CourierNewPSMT" charset="-122"/>
              </a:rPr>
              <a:t>// connect to interface using real types</a:t>
            </a:r>
          </a:p>
          <a:p>
            <a:r>
              <a:rPr lang="en-US" altLang="zh-CN" dirty="0" err="1">
                <a:solidFill>
                  <a:srgbClr val="0000FF"/>
                </a:solidFill>
                <a:latin typeface="CourierNewPS-BoldMT" charset="-122"/>
                <a:ea typeface="CourierNewPS-BoldMT" charset="-122"/>
              </a:rPr>
              <a:t>endmodule</a:t>
            </a:r>
            <a:endParaRPr lang="en-US" altLang="zh-CN" dirty="0">
              <a:solidFill>
                <a:srgbClr val="0000FF"/>
              </a:solidFill>
              <a:latin typeface="CourierNewPS-BoldMT" charset="-122"/>
              <a:ea typeface="CourierNewPS-BoldMT" charset="-122"/>
            </a:endParaRPr>
          </a:p>
        </p:txBody>
      </p:sp>
      <p:sp>
        <p:nvSpPr>
          <p:cNvPr id="5" name="Text Box 2">
            <a:extLst>
              <a:ext uri="{FF2B5EF4-FFF2-40B4-BE49-F238E27FC236}">
                <a16:creationId xmlns:a16="http://schemas.microsoft.com/office/drawing/2014/main" id="{A07E7D3A-6EC4-4254-83BD-2DC5E21E8D8F}"/>
              </a:ext>
            </a:extLst>
          </p:cNvPr>
          <p:cNvSpPr txBox="1">
            <a:spLocks noChangeArrowheads="1"/>
          </p:cNvSpPr>
          <p:nvPr/>
        </p:nvSpPr>
        <p:spPr bwMode="auto">
          <a:xfrm>
            <a:off x="316344" y="46184"/>
            <a:ext cx="10972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接口中导入任务和函数</a:t>
            </a:r>
            <a:endParaRPr lang="en-US" altLang="zh-CN" sz="4400" dirty="0">
              <a:solidFill>
                <a:srgbClr val="000066"/>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3">
            <a:extLst>
              <a:ext uri="{FF2B5EF4-FFF2-40B4-BE49-F238E27FC236}">
                <a16:creationId xmlns:a16="http://schemas.microsoft.com/office/drawing/2014/main" id="{B3ECC44F-118E-47F4-AFB6-17F95829F89E}"/>
              </a:ext>
            </a:extLst>
          </p:cNvPr>
          <p:cNvSpPr txBox="1">
            <a:spLocks noChangeArrowheads="1"/>
          </p:cNvSpPr>
          <p:nvPr/>
        </p:nvSpPr>
        <p:spPr bwMode="auto">
          <a:xfrm>
            <a:off x="471054" y="905164"/>
            <a:ext cx="1151774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buFont typeface="Arial" panose="020B0604020202020204" pitchFamily="34" charset="0"/>
              <a:buChar char="•"/>
            </a:pPr>
            <a:r>
              <a:rPr lang="en-US" altLang="zh-CN" sz="2000" dirty="0" err="1">
                <a:solidFill>
                  <a:srgbClr val="0000FF"/>
                </a:solidFill>
              </a:rPr>
              <a:t>SystemVerilog</a:t>
            </a:r>
            <a:r>
              <a:rPr lang="zh-CN" altLang="en-US" sz="2000" dirty="0">
                <a:solidFill>
                  <a:srgbClr val="0000FF"/>
                </a:solidFill>
              </a:rPr>
              <a:t>可以将一个模块中定义的任务或函数通过接口导出到其它模块：</a:t>
            </a:r>
            <a:r>
              <a:rPr lang="en-US" altLang="zh-CN" sz="2000" dirty="0">
                <a:solidFill>
                  <a:srgbClr val="0000FF"/>
                </a:solidFill>
              </a:rPr>
              <a:t>export</a:t>
            </a:r>
            <a:endParaRPr lang="en-US" altLang="zh-CN" sz="2000" dirty="0">
              <a:solidFill>
                <a:srgbClr val="0000FF"/>
              </a:solidFill>
              <a:latin typeface="Arial" panose="020B0604020202020204" pitchFamily="34" charset="0"/>
              <a:ea typeface="CourierNewPSMT" charset="-122"/>
            </a:endParaRPr>
          </a:p>
          <a:p>
            <a:pPr marL="342900" indent="-342900">
              <a:buFont typeface="Arial" panose="020B0604020202020204" pitchFamily="34" charset="0"/>
              <a:buChar char="•"/>
            </a:pPr>
            <a:r>
              <a:rPr lang="zh-CN" altLang="en-US" sz="2000" dirty="0">
                <a:solidFill>
                  <a:srgbClr val="FF0000"/>
                </a:solidFill>
                <a:latin typeface="Arial" panose="020B0604020202020204" pitchFamily="34" charset="0"/>
                <a:ea typeface="华文行楷" panose="02010800040101010101" pitchFamily="2" charset="-122"/>
              </a:rPr>
              <a:t>导出任务或函数是不可综合的</a:t>
            </a:r>
            <a:endParaRPr lang="zh-CN" altLang="en-US" sz="2000" dirty="0">
              <a:solidFill>
                <a:srgbClr val="0000FF"/>
              </a:solidFill>
              <a:latin typeface="Arial" panose="020B0604020202020204" pitchFamily="34" charset="0"/>
              <a:ea typeface="CourierNewPSMT" charset="-122"/>
            </a:endParaRPr>
          </a:p>
          <a:p>
            <a:pPr marL="342900" indent="-342900">
              <a:buFont typeface="Arial" panose="020B0604020202020204" pitchFamily="34" charset="0"/>
              <a:buChar char="•"/>
            </a:pPr>
            <a:r>
              <a:rPr lang="zh-CN" altLang="en-US" sz="2000" dirty="0">
                <a:solidFill>
                  <a:srgbClr val="0000FF"/>
                </a:solidFill>
                <a:latin typeface="CourierNewPS-BoldMT" charset="-122"/>
              </a:rPr>
              <a:t>从不同模块或同一模块的两个实例导出相同的函数名到同一个接口是非法的</a:t>
            </a:r>
            <a:endParaRPr lang="en-US" altLang="zh-CN" sz="2000" dirty="0">
              <a:solidFill>
                <a:srgbClr val="0000FF"/>
              </a:solidFill>
              <a:latin typeface="CourierNewPS-BoldMT" charset="-122"/>
            </a:endParaRPr>
          </a:p>
          <a:p>
            <a:pPr marL="342900" indent="-342900">
              <a:buFont typeface="Arial" panose="020B0604020202020204" pitchFamily="34" charset="0"/>
              <a:buChar char="•"/>
            </a:pPr>
            <a:r>
              <a:rPr lang="zh-CN" altLang="en-US" sz="2000" dirty="0">
                <a:solidFill>
                  <a:srgbClr val="0000FF"/>
                </a:solidFill>
                <a:latin typeface="CourierNewPS-BoldMT" charset="-122"/>
              </a:rPr>
              <a:t>从不同模块或同一模块的两个实例导出相同的任务名到同一个接口是非法的</a:t>
            </a:r>
            <a:r>
              <a:rPr lang="en-US" altLang="zh-CN" sz="2000" dirty="0">
                <a:solidFill>
                  <a:srgbClr val="0000FF"/>
                </a:solidFill>
                <a:latin typeface="CourierNewPS-BoldMT" charset="-122"/>
              </a:rPr>
              <a:t>(</a:t>
            </a:r>
            <a:r>
              <a:rPr lang="zh-CN" altLang="en-US" sz="2000" dirty="0">
                <a:solidFill>
                  <a:srgbClr val="0000FF"/>
                </a:solidFill>
                <a:latin typeface="CourierNewPS-BoldMT" charset="-122"/>
              </a:rPr>
              <a:t>用</a:t>
            </a:r>
            <a:r>
              <a:rPr lang="en-US" altLang="zh-CN" sz="2000" dirty="0">
                <a:solidFill>
                  <a:srgbClr val="0000FF"/>
                </a:solidFill>
                <a:latin typeface="CourierNewPS-BoldMT" charset="-122"/>
              </a:rPr>
              <a:t>fork join</a:t>
            </a:r>
            <a:r>
              <a:rPr lang="zh-CN" altLang="en-US" sz="2000" dirty="0">
                <a:solidFill>
                  <a:srgbClr val="0000FF"/>
                </a:solidFill>
                <a:latin typeface="CourierNewPS-BoldMT" charset="-122"/>
              </a:rPr>
              <a:t>除外</a:t>
            </a:r>
            <a:r>
              <a:rPr lang="en-US" altLang="zh-CN" sz="2000" dirty="0">
                <a:solidFill>
                  <a:srgbClr val="0000FF"/>
                </a:solidFill>
                <a:latin typeface="CourierNewPS-BoldMT" charset="-122"/>
              </a:rPr>
              <a:t>)</a:t>
            </a:r>
            <a:endParaRPr lang="zh-CN" altLang="en-US" sz="2000" dirty="0">
              <a:solidFill>
                <a:srgbClr val="FF0000"/>
              </a:solidFill>
              <a:latin typeface="Arial" panose="020B0604020202020204" pitchFamily="34" charset="0"/>
              <a:ea typeface="华文行楷" panose="02010800040101010101" pitchFamily="2" charset="-122"/>
            </a:endParaRPr>
          </a:p>
        </p:txBody>
      </p:sp>
      <p:sp>
        <p:nvSpPr>
          <p:cNvPr id="4" name="Text Box 2">
            <a:extLst>
              <a:ext uri="{FF2B5EF4-FFF2-40B4-BE49-F238E27FC236}">
                <a16:creationId xmlns:a16="http://schemas.microsoft.com/office/drawing/2014/main" id="{AB4BADE4-E378-41F0-9A44-8F4F4EC14360}"/>
              </a:ext>
            </a:extLst>
          </p:cNvPr>
          <p:cNvSpPr txBox="1">
            <a:spLocks noChangeArrowheads="1"/>
          </p:cNvSpPr>
          <p:nvPr/>
        </p:nvSpPr>
        <p:spPr bwMode="auto">
          <a:xfrm>
            <a:off x="316344" y="46184"/>
            <a:ext cx="1097280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4400" dirty="0">
                <a:solidFill>
                  <a:srgbClr val="000066"/>
                </a:solidFill>
                <a:latin typeface="Arial" panose="020B0604020202020204" pitchFamily="34" charset="0"/>
              </a:rPr>
              <a:t>System Verilog</a:t>
            </a:r>
            <a:r>
              <a:rPr lang="zh-CN" altLang="en-US" sz="4400" dirty="0">
                <a:solidFill>
                  <a:srgbClr val="000066"/>
                </a:solidFill>
                <a:latin typeface="Arial" panose="020B0604020202020204" pitchFamily="34" charset="0"/>
              </a:rPr>
              <a:t>接口中导出任务和函数</a:t>
            </a:r>
            <a:endParaRPr lang="en-US" altLang="zh-CN" sz="4400" dirty="0">
              <a:solidFill>
                <a:srgbClr val="000066"/>
              </a:solidFill>
              <a:latin typeface="Arial" panose="020B0604020202020204" pitchFamily="34" charset="0"/>
            </a:endParaRPr>
          </a:p>
        </p:txBody>
      </p:sp>
      <p:sp>
        <p:nvSpPr>
          <p:cNvPr id="2" name="矩形 1">
            <a:extLst>
              <a:ext uri="{FF2B5EF4-FFF2-40B4-BE49-F238E27FC236}">
                <a16:creationId xmlns:a16="http://schemas.microsoft.com/office/drawing/2014/main" id="{B0497F90-6F2F-4FB9-B230-A5A3E6A7E2CF}"/>
              </a:ext>
            </a:extLst>
          </p:cNvPr>
          <p:cNvSpPr/>
          <p:nvPr/>
        </p:nvSpPr>
        <p:spPr>
          <a:xfrm>
            <a:off x="932872" y="2625919"/>
            <a:ext cx="9430328" cy="4093428"/>
          </a:xfrm>
          <a:prstGeom prst="rect">
            <a:avLst/>
          </a:prstGeom>
        </p:spPr>
        <p:txBody>
          <a:bodyPr wrap="square">
            <a:spAutoFit/>
          </a:bodyPr>
          <a:lstStyle/>
          <a:p>
            <a:r>
              <a:rPr lang="en-US" altLang="zh-CN" sz="2000" dirty="0">
                <a:solidFill>
                  <a:srgbClr val="0000FF"/>
                </a:solidFill>
                <a:latin typeface="CourierNewPS-BoldMT" charset="-122"/>
                <a:ea typeface="CourierNewPS-BoldMT" charset="-122"/>
              </a:rPr>
              <a:t>interface </a:t>
            </a:r>
            <a:r>
              <a:rPr lang="en-US" altLang="zh-CN" sz="2000" dirty="0" err="1">
                <a:solidFill>
                  <a:srgbClr val="0000FF"/>
                </a:solidFill>
                <a:latin typeface="CourierNewPSMT" charset="-122"/>
                <a:ea typeface="CourierNewPSMT" charset="-122"/>
              </a:rPr>
              <a:t>chip_bus</a:t>
            </a:r>
            <a:r>
              <a:rPr lang="en-US" altLang="zh-CN" sz="2000" dirty="0">
                <a:solidFill>
                  <a:srgbClr val="0000FF"/>
                </a:solidFill>
                <a:latin typeface="CourierNewPSMT" charset="-122"/>
                <a:ea typeface="CourierNewPSMT" charset="-122"/>
              </a:rPr>
              <a:t> (</a:t>
            </a:r>
            <a:r>
              <a:rPr lang="en-US" altLang="zh-CN" sz="2000" dirty="0">
                <a:solidFill>
                  <a:srgbClr val="0000FF"/>
                </a:solidFill>
                <a:latin typeface="CourierNewPS-BoldMT" charset="-122"/>
                <a:ea typeface="CourierNewPS-BoldMT" charset="-122"/>
              </a:rPr>
              <a:t>input logic </a:t>
            </a:r>
            <a:r>
              <a:rPr lang="en-US" altLang="zh-CN" sz="2000" dirty="0">
                <a:solidFill>
                  <a:srgbClr val="0000FF"/>
                </a:solidFill>
                <a:latin typeface="CourierNewPSMT" charset="-122"/>
                <a:ea typeface="CourierNewPSMT" charset="-122"/>
              </a:rPr>
              <a:t>clock, </a:t>
            </a:r>
            <a:r>
              <a:rPr lang="en-US" altLang="zh-CN" sz="2000" dirty="0" err="1">
                <a:solidFill>
                  <a:srgbClr val="0000FF"/>
                </a:solidFill>
                <a:latin typeface="CourierNewPSMT" charset="-122"/>
                <a:ea typeface="CourierNewPSMT" charset="-122"/>
              </a:rPr>
              <a:t>resetN</a:t>
            </a:r>
            <a:r>
              <a:rPr lang="en-US" altLang="zh-CN" sz="2000" dirty="0">
                <a:solidFill>
                  <a:srgbClr val="0000FF"/>
                </a:solidFill>
                <a:latin typeface="CourierNewPSMT" charset="-122"/>
                <a:ea typeface="CourierNewPSMT" charset="-122"/>
              </a:rPr>
              <a:t>);</a:t>
            </a:r>
          </a:p>
          <a:p>
            <a:r>
              <a:rPr lang="en-US" altLang="zh-CN" sz="2000" dirty="0">
                <a:solidFill>
                  <a:srgbClr val="0000FF"/>
                </a:solidFill>
                <a:latin typeface="CourierNewPS-BoldMT" charset="-122"/>
                <a:ea typeface="CourierNewPS-BoldMT" charset="-122"/>
              </a:rPr>
              <a:t>    logic </a:t>
            </a:r>
            <a:r>
              <a:rPr lang="en-US" altLang="zh-CN" sz="2000" dirty="0">
                <a:solidFill>
                  <a:srgbClr val="0000FF"/>
                </a:solidFill>
                <a:latin typeface="CourierNewPSMT" charset="-122"/>
                <a:ea typeface="CourierNewPSMT" charset="-122"/>
              </a:rPr>
              <a:t>request, grant, ready;</a:t>
            </a:r>
          </a:p>
          <a:p>
            <a:r>
              <a:rPr lang="en-US" altLang="zh-CN" sz="2000" dirty="0">
                <a:solidFill>
                  <a:srgbClr val="0000FF"/>
                </a:solidFill>
                <a:latin typeface="CourierNewPS-BoldMT" charset="-122"/>
                <a:ea typeface="CourierNewPS-BoldMT" charset="-122"/>
              </a:rPr>
              <a:t>    logic </a:t>
            </a:r>
            <a:r>
              <a:rPr lang="en-US" altLang="zh-CN" sz="2000" dirty="0">
                <a:solidFill>
                  <a:srgbClr val="0000FF"/>
                </a:solidFill>
                <a:latin typeface="CourierNewPSMT" charset="-122"/>
                <a:ea typeface="CourierNewPSMT" charset="-122"/>
              </a:rPr>
              <a:t>[63:0] address, data;</a:t>
            </a:r>
          </a:p>
          <a:p>
            <a:r>
              <a:rPr lang="en-US" altLang="zh-CN" sz="2000" dirty="0">
                <a:solidFill>
                  <a:srgbClr val="0000FF"/>
                </a:solidFill>
                <a:latin typeface="CourierNewPS-BoldMT" charset="-122"/>
                <a:ea typeface="CourierNewPS-BoldMT" charset="-122"/>
              </a:rPr>
              <a:t>    </a:t>
            </a:r>
            <a:r>
              <a:rPr lang="en-US" altLang="zh-CN" sz="2000" dirty="0" err="1">
                <a:solidFill>
                  <a:srgbClr val="0000FF"/>
                </a:solidFill>
                <a:latin typeface="CourierNewPS-BoldMT" charset="-122"/>
                <a:ea typeface="CourierNewPS-BoldMT" charset="-122"/>
              </a:rPr>
              <a:t>modport</a:t>
            </a:r>
            <a:r>
              <a:rPr lang="en-US" altLang="zh-CN" sz="2000" dirty="0">
                <a:solidFill>
                  <a:srgbClr val="0000FF"/>
                </a:solidFill>
                <a:latin typeface="CourierNewPS-BoldMT" charset="-122"/>
                <a:ea typeface="CourierNewPS-BoldMT" charset="-122"/>
              </a:rPr>
              <a:t> </a:t>
            </a:r>
            <a:r>
              <a:rPr lang="en-US" altLang="zh-CN" sz="2000" dirty="0">
                <a:solidFill>
                  <a:srgbClr val="0000FF"/>
                </a:solidFill>
                <a:latin typeface="CourierNewPSMT" charset="-122"/>
                <a:ea typeface="CourierNewPSMT" charset="-122"/>
              </a:rPr>
              <a:t>master (</a:t>
            </a:r>
            <a:r>
              <a:rPr lang="en-US" altLang="zh-CN" sz="2000" dirty="0">
                <a:solidFill>
                  <a:srgbClr val="0000FF"/>
                </a:solidFill>
                <a:latin typeface="CourierNewPS-BoldMT" charset="-122"/>
                <a:ea typeface="CourierNewPS-BoldMT" charset="-122"/>
              </a:rPr>
              <a:t>output </a:t>
            </a:r>
            <a:r>
              <a:rPr lang="en-US" altLang="zh-CN" sz="2000" dirty="0">
                <a:solidFill>
                  <a:srgbClr val="0000FF"/>
                </a:solidFill>
                <a:latin typeface="CourierNewPSMT" charset="-122"/>
                <a:ea typeface="CourierNewPSMT" charset="-122"/>
              </a:rPr>
              <a:t>request, ...</a:t>
            </a:r>
            <a:r>
              <a:rPr lang="zh-CN" altLang="en-US" sz="2000" dirty="0">
                <a:solidFill>
                  <a:srgbClr val="0000FF"/>
                </a:solidFill>
                <a:latin typeface="CourierNewPSMT" charset="-122"/>
                <a:ea typeface="CourierNewPSMT" charset="-122"/>
              </a:rPr>
              <a:t>，</a:t>
            </a:r>
            <a:r>
              <a:rPr lang="en-US" altLang="zh-CN" sz="2000" dirty="0">
                <a:solidFill>
                  <a:srgbClr val="0000FF"/>
                </a:solidFill>
                <a:latin typeface="CourierNewPS-BoldMT" charset="-122"/>
                <a:ea typeface="CourierNewPS-BoldMT" charset="-122"/>
              </a:rPr>
              <a:t> </a:t>
            </a:r>
            <a:r>
              <a:rPr lang="en-US" altLang="zh-CN" sz="2000" dirty="0">
                <a:solidFill>
                  <a:srgbClr val="FF0000"/>
                </a:solidFill>
                <a:latin typeface="CourierNewPS-BoldMT" charset="-122"/>
                <a:ea typeface="CourierNewPS-BoldMT" charset="-122"/>
              </a:rPr>
              <a:t>export</a:t>
            </a:r>
            <a:r>
              <a:rPr lang="en-US" altLang="zh-CN" sz="2000" dirty="0">
                <a:solidFill>
                  <a:srgbClr val="0000FF"/>
                </a:solidFill>
                <a:latin typeface="CourierNewPS-BoldMT" charset="-122"/>
                <a:ea typeface="CourierNewPS-BoldMT" charset="-122"/>
              </a:rPr>
              <a:t> </a:t>
            </a:r>
            <a:r>
              <a:rPr lang="en-US" altLang="zh-CN" sz="2000" dirty="0">
                <a:solidFill>
                  <a:srgbClr val="0000FF"/>
                </a:solidFill>
                <a:latin typeface="CourierNewPSMT" charset="-122"/>
                <a:ea typeface="CourierNewPSMT" charset="-122"/>
              </a:rPr>
              <a:t>check );</a:t>
            </a:r>
          </a:p>
          <a:p>
            <a:r>
              <a:rPr lang="en-US" altLang="zh-CN" sz="2000" dirty="0">
                <a:solidFill>
                  <a:srgbClr val="0000FF"/>
                </a:solidFill>
                <a:latin typeface="CourierNewPS-BoldMT" charset="-122"/>
                <a:ea typeface="CourierNewPS-BoldMT" charset="-122"/>
              </a:rPr>
              <a:t>    </a:t>
            </a:r>
            <a:r>
              <a:rPr lang="en-US" altLang="zh-CN" sz="2000" dirty="0" err="1">
                <a:solidFill>
                  <a:srgbClr val="0000FF"/>
                </a:solidFill>
                <a:latin typeface="CourierNewPS-BoldMT" charset="-122"/>
                <a:ea typeface="CourierNewPS-BoldMT" charset="-122"/>
              </a:rPr>
              <a:t>modport</a:t>
            </a:r>
            <a:r>
              <a:rPr lang="en-US" altLang="zh-CN" sz="2000" dirty="0">
                <a:solidFill>
                  <a:srgbClr val="0000FF"/>
                </a:solidFill>
                <a:latin typeface="CourierNewPS-BoldMT" charset="-122"/>
                <a:ea typeface="CourierNewPS-BoldMT" charset="-122"/>
              </a:rPr>
              <a:t> </a:t>
            </a:r>
            <a:r>
              <a:rPr lang="en-US" altLang="zh-CN" sz="2000" dirty="0">
                <a:solidFill>
                  <a:srgbClr val="0000FF"/>
                </a:solidFill>
                <a:latin typeface="CourierNewPSMT" charset="-122"/>
                <a:ea typeface="CourierNewPSMT" charset="-122"/>
              </a:rPr>
              <a:t>slave (</a:t>
            </a:r>
            <a:r>
              <a:rPr lang="en-US" altLang="zh-CN" sz="2000" dirty="0">
                <a:solidFill>
                  <a:srgbClr val="0000FF"/>
                </a:solidFill>
                <a:latin typeface="CourierNewPS-BoldMT" charset="-122"/>
                <a:ea typeface="CourierNewPS-BoldMT" charset="-122"/>
              </a:rPr>
              <a:t>input </a:t>
            </a:r>
            <a:r>
              <a:rPr lang="en-US" altLang="zh-CN" sz="2000" dirty="0">
                <a:solidFill>
                  <a:srgbClr val="0000FF"/>
                </a:solidFill>
                <a:latin typeface="CourierNewPSMT" charset="-122"/>
                <a:ea typeface="CourierNewPSMT" charset="-122"/>
              </a:rPr>
              <a:t>request, ...</a:t>
            </a:r>
            <a:r>
              <a:rPr lang="zh-CN" altLang="en-US" sz="2000" dirty="0">
                <a:solidFill>
                  <a:srgbClr val="0000FF"/>
                </a:solidFill>
                <a:latin typeface="CourierNewPSMT" charset="-122"/>
                <a:ea typeface="CourierNewPSMT" charset="-122"/>
              </a:rPr>
              <a:t>，</a:t>
            </a:r>
            <a:r>
              <a:rPr lang="en-US" altLang="zh-CN" sz="2000" dirty="0">
                <a:solidFill>
                  <a:srgbClr val="0000FF"/>
                </a:solidFill>
                <a:latin typeface="CourierNewPS-BoldMT" charset="-122"/>
                <a:ea typeface="CourierNewPS-BoldMT" charset="-122"/>
              </a:rPr>
              <a:t>   </a:t>
            </a:r>
            <a:r>
              <a:rPr lang="en-US" altLang="zh-CN" sz="2000" dirty="0">
                <a:solidFill>
                  <a:srgbClr val="FF0000"/>
                </a:solidFill>
                <a:latin typeface="CourierNewPS-BoldMT" charset="-122"/>
                <a:ea typeface="CourierNewPS-BoldMT" charset="-122"/>
              </a:rPr>
              <a:t>import</a:t>
            </a:r>
            <a:r>
              <a:rPr lang="en-US" altLang="zh-CN" sz="2000" dirty="0">
                <a:solidFill>
                  <a:srgbClr val="0000FF"/>
                </a:solidFill>
                <a:latin typeface="CourierNewPS-BoldMT" charset="-122"/>
                <a:ea typeface="CourierNewPS-BoldMT" charset="-122"/>
              </a:rPr>
              <a:t> </a:t>
            </a:r>
            <a:r>
              <a:rPr lang="en-US" altLang="zh-CN" sz="2000" dirty="0">
                <a:solidFill>
                  <a:srgbClr val="0000FF"/>
                </a:solidFill>
                <a:latin typeface="CourierNewPSMT" charset="-122"/>
                <a:ea typeface="CourierNewPSMT" charset="-122"/>
              </a:rPr>
              <a:t>check );</a:t>
            </a:r>
          </a:p>
          <a:p>
            <a:r>
              <a:rPr lang="en-US" altLang="zh-CN" sz="2000" dirty="0" err="1">
                <a:solidFill>
                  <a:srgbClr val="0000FF"/>
                </a:solidFill>
                <a:latin typeface="CourierNewPS-BoldMT" charset="-122"/>
                <a:ea typeface="CourierNewPS-BoldMT" charset="-122"/>
              </a:rPr>
              <a:t>Endinterface</a:t>
            </a:r>
            <a:endParaRPr lang="en-US" altLang="zh-CN" sz="2000" dirty="0">
              <a:solidFill>
                <a:srgbClr val="0000FF"/>
              </a:solidFill>
              <a:latin typeface="CourierNewPS-BoldMT" charset="-122"/>
              <a:ea typeface="CourierNewPS-BoldMT" charset="-122"/>
            </a:endParaRPr>
          </a:p>
          <a:p>
            <a:endParaRPr lang="en-US" altLang="zh-CN" sz="2000" dirty="0">
              <a:solidFill>
                <a:srgbClr val="0000FF"/>
              </a:solidFill>
              <a:latin typeface="CourierNewPS-BoldMT" charset="-122"/>
              <a:ea typeface="CourierNewPS-BoldMT" charset="-122"/>
            </a:endParaRPr>
          </a:p>
          <a:p>
            <a:r>
              <a:rPr lang="en-US" altLang="zh-CN" sz="2000" dirty="0">
                <a:solidFill>
                  <a:srgbClr val="0000FF"/>
                </a:solidFill>
                <a:latin typeface="CourierNewPS-BoldMT" charset="-122"/>
                <a:ea typeface="CourierNewPS-BoldMT" charset="-122"/>
              </a:rPr>
              <a:t>module </a:t>
            </a:r>
            <a:r>
              <a:rPr lang="en-US" altLang="zh-CN" sz="2000" dirty="0">
                <a:solidFill>
                  <a:srgbClr val="0000FF"/>
                </a:solidFill>
                <a:latin typeface="CourierNewPSMT" charset="-122"/>
                <a:ea typeface="CourierNewPSMT" charset="-122"/>
              </a:rPr>
              <a:t>CPU (</a:t>
            </a:r>
            <a:r>
              <a:rPr lang="en-US" altLang="zh-CN" sz="2000" dirty="0" err="1">
                <a:solidFill>
                  <a:srgbClr val="0000FF"/>
                </a:solidFill>
                <a:latin typeface="CourierNewPSMT" charset="-122"/>
                <a:ea typeface="CourierNewPSMT" charset="-122"/>
              </a:rPr>
              <a:t>chip_bus.master</a:t>
            </a:r>
            <a:r>
              <a:rPr lang="en-US" altLang="zh-CN" sz="2000" dirty="0">
                <a:solidFill>
                  <a:srgbClr val="0000FF"/>
                </a:solidFill>
                <a:latin typeface="CourierNewPSMT" charset="-122"/>
                <a:ea typeface="CourierNewPSMT" charset="-122"/>
              </a:rPr>
              <a:t> </a:t>
            </a:r>
            <a:r>
              <a:rPr lang="en-US" altLang="zh-CN" sz="2000" dirty="0" err="1">
                <a:solidFill>
                  <a:srgbClr val="0000FF"/>
                </a:solidFill>
                <a:latin typeface="CourierNewPSMT" charset="-122"/>
                <a:ea typeface="CourierNewPSMT" charset="-122"/>
              </a:rPr>
              <a:t>io</a:t>
            </a:r>
            <a:r>
              <a:rPr lang="en-US" altLang="zh-CN" sz="2000" dirty="0">
                <a:solidFill>
                  <a:srgbClr val="0000FF"/>
                </a:solidFill>
                <a:latin typeface="CourierNewPSMT" charset="-122"/>
                <a:ea typeface="CourierNewPSMT" charset="-122"/>
              </a:rPr>
              <a:t>);</a:t>
            </a:r>
          </a:p>
          <a:p>
            <a:r>
              <a:rPr lang="en-US" altLang="zh-CN" sz="2000" dirty="0">
                <a:solidFill>
                  <a:srgbClr val="0000FF"/>
                </a:solidFill>
                <a:latin typeface="CourierNewPS-BoldMT" charset="-122"/>
                <a:ea typeface="CourierNewPS-BoldMT" charset="-122"/>
              </a:rPr>
              <a:t>    function </a:t>
            </a:r>
            <a:r>
              <a:rPr lang="en-US" altLang="zh-CN" sz="2000" dirty="0">
                <a:solidFill>
                  <a:srgbClr val="0000FF"/>
                </a:solidFill>
                <a:latin typeface="CourierNewPSMT" charset="-122"/>
                <a:ea typeface="CourierNewPSMT" charset="-122"/>
              </a:rPr>
              <a:t>check (</a:t>
            </a:r>
            <a:r>
              <a:rPr lang="en-US" altLang="zh-CN" sz="2000" dirty="0">
                <a:solidFill>
                  <a:srgbClr val="0000FF"/>
                </a:solidFill>
                <a:latin typeface="CourierNewPS-BoldMT" charset="-122"/>
                <a:ea typeface="CourierNewPS-BoldMT" charset="-122"/>
              </a:rPr>
              <a:t>input </a:t>
            </a:r>
            <a:r>
              <a:rPr lang="en-US" altLang="zh-CN" sz="2000" dirty="0">
                <a:solidFill>
                  <a:srgbClr val="0000FF"/>
                </a:solidFill>
                <a:latin typeface="CourierNewPSMT" charset="-122"/>
                <a:ea typeface="CourierNewPSMT" charset="-122"/>
              </a:rPr>
              <a:t>parity, </a:t>
            </a:r>
            <a:r>
              <a:rPr lang="en-US" altLang="zh-CN" sz="2000" dirty="0">
                <a:solidFill>
                  <a:srgbClr val="0000FF"/>
                </a:solidFill>
                <a:latin typeface="CourierNewPS-BoldMT" charset="-122"/>
                <a:ea typeface="CourierNewPS-BoldMT" charset="-122"/>
              </a:rPr>
              <a:t>input </a:t>
            </a:r>
            <a:r>
              <a:rPr lang="en-US" altLang="zh-CN" sz="2000" dirty="0">
                <a:solidFill>
                  <a:srgbClr val="0000FF"/>
                </a:solidFill>
                <a:latin typeface="CourierNewPSMT" charset="-122"/>
                <a:ea typeface="CourierNewPSMT" charset="-122"/>
              </a:rPr>
              <a:t>[63:0] data);</a:t>
            </a:r>
          </a:p>
          <a:p>
            <a:r>
              <a:rPr lang="en-US" altLang="zh-CN" sz="2000" dirty="0">
                <a:solidFill>
                  <a:srgbClr val="0000FF"/>
                </a:solidFill>
                <a:latin typeface="CourierNewPSMT" charset="-122"/>
                <a:ea typeface="CourierNewPSMT" charset="-122"/>
              </a:rPr>
              <a:t>        ...</a:t>
            </a:r>
          </a:p>
          <a:p>
            <a:r>
              <a:rPr lang="en-US" altLang="zh-CN" sz="2000" dirty="0">
                <a:solidFill>
                  <a:srgbClr val="0000FF"/>
                </a:solidFill>
                <a:latin typeface="CourierNewPS-BoldMT" charset="-122"/>
                <a:ea typeface="CourierNewPS-BoldMT" charset="-122"/>
              </a:rPr>
              <a:t>    </a:t>
            </a:r>
            <a:r>
              <a:rPr lang="en-US" altLang="zh-CN" sz="2000" dirty="0" err="1">
                <a:solidFill>
                  <a:srgbClr val="0000FF"/>
                </a:solidFill>
                <a:latin typeface="CourierNewPS-BoldMT" charset="-122"/>
                <a:ea typeface="CourierNewPS-BoldMT" charset="-122"/>
              </a:rPr>
              <a:t>endfunction</a:t>
            </a:r>
            <a:endParaRPr lang="en-US" altLang="zh-CN" sz="2000" dirty="0">
              <a:solidFill>
                <a:srgbClr val="0000FF"/>
              </a:solidFill>
              <a:latin typeface="CourierNewPS-BoldMT" charset="-122"/>
              <a:ea typeface="CourierNewPS-BoldMT" charset="-122"/>
            </a:endParaRPr>
          </a:p>
          <a:p>
            <a:r>
              <a:rPr lang="en-US" altLang="zh-CN" sz="2000" dirty="0">
                <a:solidFill>
                  <a:srgbClr val="0000FF"/>
                </a:solidFill>
                <a:latin typeface="CourierNewPSMT" charset="-122"/>
                <a:ea typeface="CourierNewPSMT" charset="-122"/>
              </a:rPr>
              <a:t>    ...</a:t>
            </a:r>
          </a:p>
          <a:p>
            <a:r>
              <a:rPr lang="en-US" altLang="zh-CN" sz="2000" dirty="0" err="1">
                <a:solidFill>
                  <a:srgbClr val="0000FF"/>
                </a:solidFill>
                <a:latin typeface="CourierNewPS-BoldMT" charset="-122"/>
                <a:ea typeface="CourierNewPS-BoldMT" charset="-122"/>
              </a:rPr>
              <a:t>endmodule</a:t>
            </a:r>
            <a:endParaRPr lang="en-US" altLang="zh-CN" sz="2000" dirty="0">
              <a:solidFill>
                <a:srgbClr val="0000FF"/>
              </a:solidFill>
              <a:latin typeface="CourierNewPS-BoldMT" charset="-122"/>
              <a:ea typeface="CourierNewPS-BoldMT"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6000"/>
    </mc:Choice>
    <mc:Fallback xmlns="">
      <p:transition spd="slow" advTm="6000"/>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3954</TotalTime>
  <Words>9191</Words>
  <Application>Microsoft Office PowerPoint</Application>
  <PresentationFormat>宽屏</PresentationFormat>
  <Paragraphs>875</Paragraphs>
  <Slides>57</Slides>
  <Notes>50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57</vt:i4>
      </vt:variant>
    </vt:vector>
  </HeadingPairs>
  <TitlesOfParts>
    <vt:vector size="70" baseType="lpstr">
      <vt:lpstr>ArialMT</vt:lpstr>
      <vt:lpstr>ComicSansMS-Bold</vt:lpstr>
      <vt:lpstr>CourierNewPS-BoldMT</vt:lpstr>
      <vt:lpstr>CourierNewPSMT</vt:lpstr>
      <vt:lpstr>新細明體</vt:lpstr>
      <vt:lpstr>等线</vt:lpstr>
      <vt:lpstr>等线 Light</vt:lpstr>
      <vt:lpstr>华文行楷</vt:lpstr>
      <vt:lpstr>宋体</vt:lpstr>
      <vt:lpstr>Arial</vt:lpstr>
      <vt:lpstr>Times New Roman</vt:lpstr>
      <vt:lpstr>Wingdings</vt:lpstr>
      <vt:lpstr>Office 主题​​</vt:lpstr>
      <vt:lpstr>System Verilog 简介 </vt:lpstr>
      <vt:lpstr>SystemVerilog起源</vt:lpstr>
      <vt:lpstr>SystemVerilog标准历程</vt:lpstr>
      <vt:lpstr>System Verilog关键增强</vt:lpstr>
      <vt:lpstr>PowerPoint 演示文稿</vt:lpstr>
      <vt:lpstr>SystemVerilog Declaration Enhancements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System Verilog新的数据类型</vt:lpstr>
      <vt:lpstr>System Verilog 简化端口类型声明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Synthesizable SystemVerilog </dc:title>
  <dc:creator>z</dc:creator>
  <cp:lastModifiedBy>z</cp:lastModifiedBy>
  <cp:revision>121</cp:revision>
  <dcterms:created xsi:type="dcterms:W3CDTF">2022-04-01T12:51:58Z</dcterms:created>
  <dcterms:modified xsi:type="dcterms:W3CDTF">2022-04-07T03:24:12Z</dcterms:modified>
</cp:coreProperties>
</file>