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4"/>
  </p:notesMasterIdLst>
  <p:sldIdLst>
    <p:sldId id="277" r:id="rId2"/>
    <p:sldId id="438" r:id="rId3"/>
    <p:sldId id="439" r:id="rId4"/>
    <p:sldId id="326" r:id="rId5"/>
    <p:sldId id="408" r:id="rId6"/>
    <p:sldId id="407" r:id="rId7"/>
    <p:sldId id="400" r:id="rId8"/>
    <p:sldId id="401" r:id="rId9"/>
    <p:sldId id="327" r:id="rId10"/>
    <p:sldId id="256" r:id="rId11"/>
    <p:sldId id="409" r:id="rId12"/>
    <p:sldId id="410" r:id="rId13"/>
    <p:sldId id="411" r:id="rId14"/>
    <p:sldId id="412" r:id="rId15"/>
    <p:sldId id="413" r:id="rId16"/>
    <p:sldId id="414" r:id="rId17"/>
    <p:sldId id="415" r:id="rId18"/>
    <p:sldId id="416" r:id="rId19"/>
    <p:sldId id="417" r:id="rId20"/>
    <p:sldId id="418" r:id="rId21"/>
    <p:sldId id="419" r:id="rId22"/>
    <p:sldId id="421" r:id="rId23"/>
    <p:sldId id="420" r:id="rId24"/>
    <p:sldId id="422" r:id="rId25"/>
    <p:sldId id="423" r:id="rId26"/>
    <p:sldId id="424" r:id="rId27"/>
    <p:sldId id="425" r:id="rId28"/>
    <p:sldId id="426" r:id="rId29"/>
    <p:sldId id="427" r:id="rId30"/>
    <p:sldId id="290" r:id="rId31"/>
    <p:sldId id="428" r:id="rId32"/>
    <p:sldId id="429" r:id="rId33"/>
    <p:sldId id="430" r:id="rId34"/>
    <p:sldId id="431" r:id="rId35"/>
    <p:sldId id="432" r:id="rId36"/>
    <p:sldId id="433" r:id="rId37"/>
    <p:sldId id="434" r:id="rId38"/>
    <p:sldId id="436" r:id="rId39"/>
    <p:sldId id="435" r:id="rId40"/>
    <p:sldId id="437" r:id="rId41"/>
    <p:sldId id="325" r:id="rId42"/>
    <p:sldId id="282" r:id="rId43"/>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99"/>
    <a:srgbClr val="993300"/>
    <a:srgbClr val="FF9900"/>
    <a:srgbClr val="FFFF66"/>
    <a:srgbClr val="0000CC"/>
    <a:srgbClr val="66FF33"/>
    <a:srgbClr val="00FF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32" autoAdjust="0"/>
    <p:restoredTop sz="95256" autoAdjust="0"/>
  </p:normalViewPr>
  <p:slideViewPr>
    <p:cSldViewPr>
      <p:cViewPr varScale="1">
        <p:scale>
          <a:sx n="68" d="100"/>
          <a:sy n="68" d="100"/>
        </p:scale>
        <p:origin x="235" y="10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3676814988290398E-3"/>
          <c:y val="1.7241379310344827E-2"/>
          <c:w val="0.8571428571428571"/>
          <c:h val="0.76724137931034486"/>
        </c:manualLayout>
      </c:layout>
      <c:barChart>
        <c:barDir val="col"/>
        <c:grouping val="clustered"/>
        <c:varyColors val="0"/>
        <c:ser>
          <c:idx val="0"/>
          <c:order val="0"/>
          <c:tx>
            <c:strRef>
              <c:f>Sheet1!$A$2</c:f>
              <c:strCache>
                <c:ptCount val="1"/>
                <c:pt idx="0">
                  <c:v>集成度</c:v>
                </c:pt>
              </c:strCache>
            </c:strRef>
          </c:tx>
          <c:spPr>
            <a:solidFill>
              <a:schemeClr val="accent1"/>
            </a:solidFill>
            <a:ln w="12700">
              <a:solidFill>
                <a:schemeClr val="tx1"/>
              </a:solidFill>
              <a:prstDash val="solid"/>
            </a:ln>
          </c:spPr>
          <c:invertIfNegative val="0"/>
          <c:cat>
            <c:numRef>
              <c:f>Sheet1!$B$1:$I$1</c:f>
              <c:numCache>
                <c:formatCode>General</c:formatCode>
                <c:ptCount val="8"/>
              </c:numCache>
            </c:numRef>
          </c:cat>
          <c:val>
            <c:numRef>
              <c:f>Sheet1!$B$2:$I$2</c:f>
              <c:numCache>
                <c:formatCode>g/"通""用""格""式"</c:formatCode>
                <c:ptCount val="8"/>
                <c:pt idx="0">
                  <c:v>1</c:v>
                </c:pt>
                <c:pt idx="1">
                  <c:v>5</c:v>
                </c:pt>
                <c:pt idx="2">
                  <c:v>10</c:v>
                </c:pt>
                <c:pt idx="3">
                  <c:v>20</c:v>
                </c:pt>
                <c:pt idx="4">
                  <c:v>30</c:v>
                </c:pt>
                <c:pt idx="5">
                  <c:v>50</c:v>
                </c:pt>
                <c:pt idx="6">
                  <c:v>80</c:v>
                </c:pt>
              </c:numCache>
            </c:numRef>
          </c:val>
          <c:extLst>
            <c:ext xmlns:c16="http://schemas.microsoft.com/office/drawing/2014/chart" uri="{C3380CC4-5D6E-409C-BE32-E72D297353CC}">
              <c16:uniqueId val="{00000000-80C2-4094-9EB5-DF228EF69E6F}"/>
            </c:ext>
          </c:extLst>
        </c:ser>
        <c:dLbls>
          <c:showLegendKey val="0"/>
          <c:showVal val="0"/>
          <c:showCatName val="0"/>
          <c:showSerName val="0"/>
          <c:showPercent val="0"/>
          <c:showBubbleSize val="0"/>
        </c:dLbls>
        <c:gapWidth val="0"/>
        <c:axId val="37635871"/>
        <c:axId val="1"/>
      </c:barChart>
      <c:catAx>
        <c:axId val="37635871"/>
        <c:scaling>
          <c:orientation val="minMax"/>
        </c:scaling>
        <c:delete val="0"/>
        <c:axPos val="b"/>
        <c:title>
          <c:tx>
            <c:rich>
              <a:bodyPr/>
              <a:lstStyle/>
              <a:p>
                <a:pPr>
                  <a:defRPr sz="1775" b="1" i="0" u="none" strike="noStrike" baseline="0">
                    <a:solidFill>
                      <a:schemeClr val="tx1"/>
                    </a:solidFill>
                    <a:latin typeface="宋体"/>
                    <a:ea typeface="宋体"/>
                    <a:cs typeface="宋体"/>
                  </a:defRPr>
                </a:pPr>
                <a:r>
                  <a:rPr lang="zh-CN" altLang="en-US"/>
                  <a:t>年份</a:t>
                </a:r>
              </a:p>
            </c:rich>
          </c:tx>
          <c:layout>
            <c:manualLayout>
              <c:xMode val="edge"/>
              <c:yMode val="edge"/>
              <c:x val="0.81531028543307082"/>
              <c:y val="0.86592984418214503"/>
            </c:manualLayout>
          </c:layout>
          <c:overlay val="0"/>
          <c:spPr>
            <a:noFill/>
            <a:ln w="25400">
              <a:noFill/>
            </a:ln>
          </c:spPr>
        </c:title>
        <c:numFmt formatCode="General" sourceLinked="1"/>
        <c:majorTickMark val="in"/>
        <c:minorTickMark val="none"/>
        <c:tickLblPos val="nextTo"/>
        <c:spPr>
          <a:ln w="3175">
            <a:solidFill>
              <a:schemeClr val="tx1"/>
            </a:solidFill>
            <a:prstDash val="solid"/>
          </a:ln>
        </c:spPr>
        <c:txPr>
          <a:bodyPr rot="0" vert="horz"/>
          <a:lstStyle/>
          <a:p>
            <a:pPr>
              <a:defRPr sz="1775" b="1" i="0" u="none" strike="noStrike" baseline="0">
                <a:solidFill>
                  <a:schemeClr val="tx1"/>
                </a:solidFill>
                <a:latin typeface="宋体"/>
                <a:ea typeface="宋体"/>
                <a:cs typeface="宋体"/>
              </a:defRPr>
            </a:pPr>
            <a:endParaRPr lang="zh-CN"/>
          </a:p>
        </c:txPr>
        <c:crossAx val="1"/>
        <c:crosses val="autoZero"/>
        <c:auto val="1"/>
        <c:lblAlgn val="ctr"/>
        <c:lblOffset val="100"/>
        <c:tickLblSkip val="1"/>
        <c:tickMarkSkip val="1"/>
        <c:noMultiLvlLbl val="0"/>
      </c:catAx>
      <c:valAx>
        <c:axId val="1"/>
        <c:scaling>
          <c:orientation val="minMax"/>
        </c:scaling>
        <c:delete val="1"/>
        <c:axPos val="l"/>
        <c:majorGridlines>
          <c:spPr>
            <a:ln w="3175">
              <a:solidFill>
                <a:schemeClr val="tx1"/>
              </a:solidFill>
              <a:prstDash val="solid"/>
            </a:ln>
          </c:spPr>
        </c:majorGridlines>
        <c:numFmt formatCode="g/&quot;通&quot;&quot;用&quot;&quot;格&quot;&quot;式&quot;" sourceLinked="1"/>
        <c:majorTickMark val="out"/>
        <c:minorTickMark val="none"/>
        <c:tickLblPos val="nextTo"/>
        <c:crossAx val="37635871"/>
        <c:crosses val="autoZero"/>
        <c:crossBetween val="between"/>
      </c:valAx>
      <c:spPr>
        <a:noFill/>
        <a:ln w="12700">
          <a:solidFill>
            <a:schemeClr val="tx1"/>
          </a:solidFill>
          <a:prstDash val="solid"/>
        </a:ln>
      </c:spPr>
    </c:plotArea>
    <c:legend>
      <c:legendPos val="r"/>
      <c:layout>
        <c:manualLayout>
          <c:xMode val="edge"/>
          <c:yMode val="edge"/>
          <c:x val="0.87002341920374704"/>
          <c:y val="0.43103448275862066"/>
          <c:w val="0.12997658079625293"/>
          <c:h val="9.7701149425287362E-2"/>
        </c:manualLayout>
      </c:layout>
      <c:overlay val="0"/>
      <c:spPr>
        <a:noFill/>
        <a:ln w="3175">
          <a:solidFill>
            <a:schemeClr val="tx1"/>
          </a:solidFill>
          <a:prstDash val="solid"/>
        </a:ln>
      </c:spPr>
      <c:txPr>
        <a:bodyPr/>
        <a:lstStyle/>
        <a:p>
          <a:pPr>
            <a:defRPr sz="1655" b="1" i="0" u="none" strike="noStrike" baseline="0">
              <a:solidFill>
                <a:schemeClr val="tx1"/>
              </a:solidFill>
              <a:latin typeface="宋体"/>
              <a:ea typeface="宋体"/>
              <a:cs typeface="宋体"/>
            </a:defRPr>
          </a:pPr>
          <a:endParaRPr lang="zh-CN"/>
        </a:p>
      </c:txPr>
    </c:legend>
    <c:plotVisOnly val="1"/>
    <c:dispBlanksAs val="gap"/>
    <c:showDLblsOverMax val="0"/>
  </c:chart>
  <c:spPr>
    <a:noFill/>
    <a:ln>
      <a:noFill/>
    </a:ln>
  </c:spPr>
  <c:txPr>
    <a:bodyPr/>
    <a:lstStyle/>
    <a:p>
      <a:pPr>
        <a:defRPr sz="1800" b="1" i="0" u="none" strike="noStrike" baseline="0">
          <a:solidFill>
            <a:schemeClr val="tx1"/>
          </a:solidFill>
          <a:latin typeface="宋体"/>
          <a:ea typeface="宋体"/>
          <a:cs typeface="宋体"/>
        </a:defRPr>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459011DF-2B26-47D2-8C9C-8B57223F28F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115715" name="Rectangle 3">
            <a:extLst>
              <a:ext uri="{FF2B5EF4-FFF2-40B4-BE49-F238E27FC236}">
                <a16:creationId xmlns:a16="http://schemas.microsoft.com/office/drawing/2014/main" id="{F9D6D93F-7EA7-46A3-87FD-4B41DA0222A8}"/>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a:extLst>
              <a:ext uri="{FF2B5EF4-FFF2-40B4-BE49-F238E27FC236}">
                <a16:creationId xmlns:a16="http://schemas.microsoft.com/office/drawing/2014/main" id="{CB5331D0-518B-4FDB-AED6-F9D8AF80E62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5717" name="Rectangle 5">
            <a:extLst>
              <a:ext uri="{FF2B5EF4-FFF2-40B4-BE49-F238E27FC236}">
                <a16:creationId xmlns:a16="http://schemas.microsoft.com/office/drawing/2014/main" id="{FCED220D-8E45-4446-9B10-150193E49998}"/>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5718" name="Rectangle 6">
            <a:extLst>
              <a:ext uri="{FF2B5EF4-FFF2-40B4-BE49-F238E27FC236}">
                <a16:creationId xmlns:a16="http://schemas.microsoft.com/office/drawing/2014/main" id="{1A470E2F-32D9-4A4E-9927-F1ED0174511C}"/>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panose="020B0604020202020204" pitchFamily="34" charset="0"/>
                <a:ea typeface="宋体" panose="02010600030101010101" pitchFamily="2" charset="-122"/>
              </a:defRPr>
            </a:lvl1pPr>
          </a:lstStyle>
          <a:p>
            <a:pPr>
              <a:defRPr/>
            </a:pPr>
            <a:endParaRPr lang="en-US" altLang="zh-CN"/>
          </a:p>
        </p:txBody>
      </p:sp>
      <p:sp>
        <p:nvSpPr>
          <p:cNvPr id="115719" name="Rectangle 7">
            <a:extLst>
              <a:ext uri="{FF2B5EF4-FFF2-40B4-BE49-F238E27FC236}">
                <a16:creationId xmlns:a16="http://schemas.microsoft.com/office/drawing/2014/main" id="{47EF8308-EC31-4A0A-A29E-A22EE3EBC4AA}"/>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E5D76836-F611-4B03-A073-39BC50477C7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a:t>
            </a:fld>
            <a:endParaRPr lang="en-US" altLang="zh-CN"/>
          </a:p>
        </p:txBody>
      </p:sp>
    </p:spTree>
    <p:extLst>
      <p:ext uri="{BB962C8B-B14F-4D97-AF65-F5344CB8AC3E}">
        <p14:creationId xmlns:p14="http://schemas.microsoft.com/office/powerpoint/2010/main" val="24536610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领先的是逻辑器件的销售，该产品去年占中国</a:t>
            </a:r>
            <a:r>
              <a:rPr lang="en-US" altLang="zh-CN" dirty="0"/>
              <a:t>IC</a:t>
            </a:r>
            <a:r>
              <a:rPr lang="zh-CN" altLang="zh-CN" dirty="0"/>
              <a:t>市场的</a:t>
            </a:r>
            <a:r>
              <a:rPr lang="en-US" altLang="zh-CN" dirty="0"/>
              <a:t>26</a:t>
            </a:r>
            <a:r>
              <a:rPr lang="zh-CN" altLang="zh-CN" dirty="0"/>
              <a:t>％（</a:t>
            </a:r>
            <a:r>
              <a:rPr lang="en-US" altLang="zh-CN" dirty="0"/>
              <a:t>375</a:t>
            </a:r>
            <a:r>
              <a:rPr lang="zh-CN" altLang="zh-CN" dirty="0"/>
              <a:t>亿美元）。</a:t>
            </a:r>
            <a:r>
              <a:rPr lang="en-US" altLang="zh-CN" dirty="0"/>
              <a:t>IC Insights</a:t>
            </a:r>
            <a:r>
              <a:rPr lang="zh-CN" altLang="zh-CN" dirty="0"/>
              <a:t>预测，到</a:t>
            </a:r>
            <a:r>
              <a:rPr lang="en-US" altLang="zh-CN" dirty="0"/>
              <a:t>2025</a:t>
            </a:r>
            <a:r>
              <a:rPr lang="zh-CN" altLang="zh-CN" dirty="0"/>
              <a:t>年，逻辑市场仍将是中国最大的</a:t>
            </a:r>
            <a:r>
              <a:rPr lang="en-US" altLang="zh-CN" dirty="0"/>
              <a:t>IC</a:t>
            </a:r>
            <a:r>
              <a:rPr lang="zh-CN" altLang="zh-CN" dirty="0"/>
              <a:t>产品领域，在预测期内将保持</a:t>
            </a:r>
            <a:r>
              <a:rPr lang="en-US" altLang="zh-CN" dirty="0"/>
              <a:t>10.5</a:t>
            </a:r>
            <a:r>
              <a:rPr lang="zh-CN" altLang="zh-CN" dirty="0"/>
              <a:t>％的强劲复合年增长率。</a:t>
            </a:r>
            <a:endParaRPr lang="en-US" altLang="zh-CN" dirty="0"/>
          </a:p>
          <a:p>
            <a:r>
              <a:rPr lang="zh-CN" altLang="zh-CN" dirty="0"/>
              <a:t>智能手机在中国乃至全球的强劲销售以及各种计算系统的销量均有所增长，导致微处理器成为去年中国第二大</a:t>
            </a:r>
            <a:r>
              <a:rPr lang="en-US" altLang="zh-CN" dirty="0"/>
              <a:t>IC</a:t>
            </a:r>
            <a:r>
              <a:rPr lang="zh-CN" altLang="zh-CN" dirty="0"/>
              <a:t>产品领域。中国的</a:t>
            </a:r>
            <a:r>
              <a:rPr lang="en-US" altLang="zh-CN" dirty="0"/>
              <a:t>MPU</a:t>
            </a:r>
            <a:r>
              <a:rPr lang="zh-CN" altLang="zh-CN" dirty="0"/>
              <a:t>销售额（包括专用处理器的收入）在</a:t>
            </a:r>
            <a:r>
              <a:rPr lang="en-US" altLang="zh-CN" dirty="0"/>
              <a:t>2020</a:t>
            </a:r>
            <a:r>
              <a:rPr lang="zh-CN" altLang="zh-CN" dirty="0"/>
              <a:t>年增长</a:t>
            </a:r>
            <a:r>
              <a:rPr lang="en-US" altLang="zh-CN" dirty="0"/>
              <a:t>12</a:t>
            </a:r>
            <a:r>
              <a:rPr lang="zh-CN" altLang="zh-CN" dirty="0"/>
              <a:t>％，达到</a:t>
            </a:r>
            <a:r>
              <a:rPr lang="en-US" altLang="zh-CN" dirty="0"/>
              <a:t>327</a:t>
            </a:r>
            <a:r>
              <a:rPr lang="zh-CN" altLang="zh-CN" dirty="0"/>
              <a:t>亿美元。</a:t>
            </a:r>
          </a:p>
          <a:p>
            <a:r>
              <a:rPr lang="en-US" altLang="zh-CN" dirty="0"/>
              <a:t> </a:t>
            </a:r>
            <a:endParaRPr lang="zh-CN" altLang="zh-CN" dirty="0"/>
          </a:p>
          <a:p>
            <a:r>
              <a:rPr lang="zh-CN" altLang="zh-CN" dirty="0"/>
              <a:t>去年，</a:t>
            </a:r>
            <a:r>
              <a:rPr lang="en-US" altLang="zh-CN" dirty="0"/>
              <a:t>DRAM</a:t>
            </a:r>
            <a:r>
              <a:rPr lang="zh-CN" altLang="zh-CN" dirty="0"/>
              <a:t>以</a:t>
            </a:r>
            <a:r>
              <a:rPr lang="en-US" altLang="zh-CN" dirty="0"/>
              <a:t>19</a:t>
            </a:r>
            <a:r>
              <a:rPr lang="zh-CN" altLang="zh-CN" dirty="0"/>
              <a:t>％的份额成为中国第三大</a:t>
            </a:r>
            <a:r>
              <a:rPr lang="en-US" altLang="zh-CN" dirty="0"/>
              <a:t>IC</a:t>
            </a:r>
            <a:r>
              <a:rPr lang="zh-CN" altLang="zh-CN" dirty="0"/>
              <a:t>产品领域。</a:t>
            </a:r>
            <a:r>
              <a:rPr lang="en-US" altLang="zh-CN" dirty="0"/>
              <a:t>2020</a:t>
            </a:r>
            <a:r>
              <a:rPr lang="zh-CN" altLang="zh-CN" dirty="0"/>
              <a:t>年，</a:t>
            </a:r>
            <a:r>
              <a:rPr lang="en-US" altLang="zh-CN" dirty="0"/>
              <a:t>DRAM</a:t>
            </a:r>
            <a:r>
              <a:rPr lang="zh-CN" altLang="zh-CN" dirty="0"/>
              <a:t>和</a:t>
            </a:r>
            <a:r>
              <a:rPr lang="en-US" altLang="zh-CN" dirty="0"/>
              <a:t>NAND</a:t>
            </a:r>
            <a:r>
              <a:rPr lang="zh-CN" altLang="zh-CN" dirty="0"/>
              <a:t>闪存市场合计占中国</a:t>
            </a:r>
            <a:r>
              <a:rPr lang="en-US" altLang="zh-CN" dirty="0"/>
              <a:t>IC</a:t>
            </a:r>
            <a:r>
              <a:rPr lang="zh-CN" altLang="zh-CN" dirty="0"/>
              <a:t>总市场的</a:t>
            </a:r>
            <a:r>
              <a:rPr lang="en-US" altLang="zh-CN" dirty="0"/>
              <a:t>30</a:t>
            </a:r>
            <a:r>
              <a:rPr lang="zh-CN" altLang="zh-CN" dirty="0"/>
              <a:t>％。中国高水平的内存消耗正在创造出越来越多的本地生产的</a:t>
            </a:r>
            <a:r>
              <a:rPr lang="en-US" altLang="zh-CN" dirty="0"/>
              <a:t>DRAM</a:t>
            </a:r>
            <a:r>
              <a:rPr lang="zh-CN" altLang="zh-CN" dirty="0"/>
              <a:t>和</a:t>
            </a:r>
            <a:r>
              <a:rPr lang="en-US" altLang="zh-CN" dirty="0"/>
              <a:t>NAND</a:t>
            </a:r>
            <a:r>
              <a:rPr lang="zh-CN" altLang="zh-CN" dirty="0"/>
              <a:t>闪存设备。</a:t>
            </a:r>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a:t>
            </a:fld>
            <a:endParaRPr lang="en-US" altLang="zh-CN"/>
          </a:p>
        </p:txBody>
      </p:sp>
    </p:spTree>
    <p:extLst>
      <p:ext uri="{BB962C8B-B14F-4D97-AF65-F5344CB8AC3E}">
        <p14:creationId xmlns:p14="http://schemas.microsoft.com/office/powerpoint/2010/main" val="2979444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9</a:t>
            </a:fld>
            <a:endParaRPr lang="en-US" altLang="zh-CN"/>
          </a:p>
        </p:txBody>
      </p:sp>
    </p:spTree>
    <p:extLst>
      <p:ext uri="{BB962C8B-B14F-4D97-AF65-F5344CB8AC3E}">
        <p14:creationId xmlns:p14="http://schemas.microsoft.com/office/powerpoint/2010/main" val="2913881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10</a:t>
            </a:fld>
            <a:endParaRPr lang="en-US" altLang="zh-CN"/>
          </a:p>
        </p:txBody>
      </p:sp>
    </p:spTree>
    <p:extLst>
      <p:ext uri="{BB962C8B-B14F-4D97-AF65-F5344CB8AC3E}">
        <p14:creationId xmlns:p14="http://schemas.microsoft.com/office/powerpoint/2010/main" val="3383863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11</a:t>
            </a:fld>
            <a:endParaRPr lang="en-US" altLang="zh-CN"/>
          </a:p>
        </p:txBody>
      </p:sp>
    </p:spTree>
    <p:extLst>
      <p:ext uri="{BB962C8B-B14F-4D97-AF65-F5344CB8AC3E}">
        <p14:creationId xmlns:p14="http://schemas.microsoft.com/office/powerpoint/2010/main" val="33374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12</a:t>
            </a:fld>
            <a:endParaRPr lang="en-US" altLang="zh-CN"/>
          </a:p>
        </p:txBody>
      </p:sp>
    </p:spTree>
    <p:extLst>
      <p:ext uri="{BB962C8B-B14F-4D97-AF65-F5344CB8AC3E}">
        <p14:creationId xmlns:p14="http://schemas.microsoft.com/office/powerpoint/2010/main" val="1193286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13</a:t>
            </a:fld>
            <a:endParaRPr lang="en-US" altLang="zh-CN"/>
          </a:p>
        </p:txBody>
      </p:sp>
    </p:spTree>
    <p:extLst>
      <p:ext uri="{BB962C8B-B14F-4D97-AF65-F5344CB8AC3E}">
        <p14:creationId xmlns:p14="http://schemas.microsoft.com/office/powerpoint/2010/main" val="3359948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15</a:t>
            </a:fld>
            <a:endParaRPr lang="en-US" altLang="zh-CN"/>
          </a:p>
        </p:txBody>
      </p:sp>
    </p:spTree>
    <p:extLst>
      <p:ext uri="{BB962C8B-B14F-4D97-AF65-F5344CB8AC3E}">
        <p14:creationId xmlns:p14="http://schemas.microsoft.com/office/powerpoint/2010/main" val="1452600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16</a:t>
            </a:fld>
            <a:endParaRPr lang="en-US" altLang="zh-CN"/>
          </a:p>
        </p:txBody>
      </p:sp>
    </p:spTree>
    <p:extLst>
      <p:ext uri="{BB962C8B-B14F-4D97-AF65-F5344CB8AC3E}">
        <p14:creationId xmlns:p14="http://schemas.microsoft.com/office/powerpoint/2010/main" val="2919056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17</a:t>
            </a:fld>
            <a:endParaRPr lang="en-US" altLang="zh-CN"/>
          </a:p>
        </p:txBody>
      </p:sp>
    </p:spTree>
    <p:extLst>
      <p:ext uri="{BB962C8B-B14F-4D97-AF65-F5344CB8AC3E}">
        <p14:creationId xmlns:p14="http://schemas.microsoft.com/office/powerpoint/2010/main" val="35715267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18</a:t>
            </a:fld>
            <a:endParaRPr lang="en-US" altLang="zh-CN"/>
          </a:p>
        </p:txBody>
      </p:sp>
    </p:spTree>
    <p:extLst>
      <p:ext uri="{BB962C8B-B14F-4D97-AF65-F5344CB8AC3E}">
        <p14:creationId xmlns:p14="http://schemas.microsoft.com/office/powerpoint/2010/main" val="15382512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19</a:t>
            </a:fld>
            <a:endParaRPr lang="en-US" altLang="zh-CN"/>
          </a:p>
        </p:txBody>
      </p:sp>
    </p:spTree>
    <p:extLst>
      <p:ext uri="{BB962C8B-B14F-4D97-AF65-F5344CB8AC3E}">
        <p14:creationId xmlns:p14="http://schemas.microsoft.com/office/powerpoint/2010/main" val="4158806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20</a:t>
            </a:fld>
            <a:endParaRPr lang="en-US" altLang="zh-CN"/>
          </a:p>
        </p:txBody>
      </p:sp>
    </p:spTree>
    <p:extLst>
      <p:ext uri="{BB962C8B-B14F-4D97-AF65-F5344CB8AC3E}">
        <p14:creationId xmlns:p14="http://schemas.microsoft.com/office/powerpoint/2010/main" val="3451593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21</a:t>
            </a:fld>
            <a:endParaRPr lang="en-US" altLang="zh-CN"/>
          </a:p>
        </p:txBody>
      </p:sp>
    </p:spTree>
    <p:extLst>
      <p:ext uri="{BB962C8B-B14F-4D97-AF65-F5344CB8AC3E}">
        <p14:creationId xmlns:p14="http://schemas.microsoft.com/office/powerpoint/2010/main" val="4167172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23</a:t>
            </a:fld>
            <a:endParaRPr lang="en-US" altLang="zh-CN"/>
          </a:p>
        </p:txBody>
      </p:sp>
    </p:spTree>
    <p:extLst>
      <p:ext uri="{BB962C8B-B14F-4D97-AF65-F5344CB8AC3E}">
        <p14:creationId xmlns:p14="http://schemas.microsoft.com/office/powerpoint/2010/main" val="28569974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24</a:t>
            </a:fld>
            <a:endParaRPr lang="en-US" altLang="zh-CN"/>
          </a:p>
        </p:txBody>
      </p:sp>
    </p:spTree>
    <p:extLst>
      <p:ext uri="{BB962C8B-B14F-4D97-AF65-F5344CB8AC3E}">
        <p14:creationId xmlns:p14="http://schemas.microsoft.com/office/powerpoint/2010/main" val="13876867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25</a:t>
            </a:fld>
            <a:endParaRPr lang="en-US" altLang="zh-CN"/>
          </a:p>
        </p:txBody>
      </p:sp>
    </p:spTree>
    <p:extLst>
      <p:ext uri="{BB962C8B-B14F-4D97-AF65-F5344CB8AC3E}">
        <p14:creationId xmlns:p14="http://schemas.microsoft.com/office/powerpoint/2010/main" val="35427275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26</a:t>
            </a:fld>
            <a:endParaRPr lang="en-US" altLang="zh-CN"/>
          </a:p>
        </p:txBody>
      </p:sp>
    </p:spTree>
    <p:extLst>
      <p:ext uri="{BB962C8B-B14F-4D97-AF65-F5344CB8AC3E}">
        <p14:creationId xmlns:p14="http://schemas.microsoft.com/office/powerpoint/2010/main" val="26946059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27</a:t>
            </a:fld>
            <a:endParaRPr lang="en-US" altLang="zh-CN"/>
          </a:p>
        </p:txBody>
      </p:sp>
    </p:spTree>
    <p:extLst>
      <p:ext uri="{BB962C8B-B14F-4D97-AF65-F5344CB8AC3E}">
        <p14:creationId xmlns:p14="http://schemas.microsoft.com/office/powerpoint/2010/main" val="25443223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28</a:t>
            </a:fld>
            <a:endParaRPr lang="en-US" altLang="zh-CN"/>
          </a:p>
        </p:txBody>
      </p:sp>
    </p:spTree>
    <p:extLst>
      <p:ext uri="{BB962C8B-B14F-4D97-AF65-F5344CB8AC3E}">
        <p14:creationId xmlns:p14="http://schemas.microsoft.com/office/powerpoint/2010/main" val="16960745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29</a:t>
            </a:fld>
            <a:endParaRPr lang="en-US" altLang="zh-CN"/>
          </a:p>
        </p:txBody>
      </p:sp>
    </p:spTree>
    <p:extLst>
      <p:ext uri="{BB962C8B-B14F-4D97-AF65-F5344CB8AC3E}">
        <p14:creationId xmlns:p14="http://schemas.microsoft.com/office/powerpoint/2010/main" val="8419713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31</a:t>
            </a:fld>
            <a:endParaRPr lang="en-US" altLang="zh-CN"/>
          </a:p>
        </p:txBody>
      </p:sp>
    </p:spTree>
    <p:extLst>
      <p:ext uri="{BB962C8B-B14F-4D97-AF65-F5344CB8AC3E}">
        <p14:creationId xmlns:p14="http://schemas.microsoft.com/office/powerpoint/2010/main" val="9939029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32</a:t>
            </a:fld>
            <a:endParaRPr lang="en-US" altLang="zh-CN"/>
          </a:p>
        </p:txBody>
      </p:sp>
    </p:spTree>
    <p:extLst>
      <p:ext uri="{BB962C8B-B14F-4D97-AF65-F5344CB8AC3E}">
        <p14:creationId xmlns:p14="http://schemas.microsoft.com/office/powerpoint/2010/main" val="18658657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33</a:t>
            </a:fld>
            <a:endParaRPr lang="en-US" altLang="zh-CN"/>
          </a:p>
        </p:txBody>
      </p:sp>
    </p:spTree>
    <p:extLst>
      <p:ext uri="{BB962C8B-B14F-4D97-AF65-F5344CB8AC3E}">
        <p14:creationId xmlns:p14="http://schemas.microsoft.com/office/powerpoint/2010/main" val="40559235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34</a:t>
            </a:fld>
            <a:endParaRPr lang="en-US" altLang="zh-CN"/>
          </a:p>
        </p:txBody>
      </p:sp>
    </p:spTree>
    <p:extLst>
      <p:ext uri="{BB962C8B-B14F-4D97-AF65-F5344CB8AC3E}">
        <p14:creationId xmlns:p14="http://schemas.microsoft.com/office/powerpoint/2010/main" val="25688168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35</a:t>
            </a:fld>
            <a:endParaRPr lang="en-US" altLang="zh-CN"/>
          </a:p>
        </p:txBody>
      </p:sp>
    </p:spTree>
    <p:extLst>
      <p:ext uri="{BB962C8B-B14F-4D97-AF65-F5344CB8AC3E}">
        <p14:creationId xmlns:p14="http://schemas.microsoft.com/office/powerpoint/2010/main" val="34195870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36</a:t>
            </a:fld>
            <a:endParaRPr lang="en-US" altLang="zh-CN"/>
          </a:p>
        </p:txBody>
      </p:sp>
    </p:spTree>
    <p:extLst>
      <p:ext uri="{BB962C8B-B14F-4D97-AF65-F5344CB8AC3E}">
        <p14:creationId xmlns:p14="http://schemas.microsoft.com/office/powerpoint/2010/main" val="42264407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37</a:t>
            </a:fld>
            <a:endParaRPr lang="en-US" altLang="zh-CN"/>
          </a:p>
        </p:txBody>
      </p:sp>
    </p:spTree>
    <p:extLst>
      <p:ext uri="{BB962C8B-B14F-4D97-AF65-F5344CB8AC3E}">
        <p14:creationId xmlns:p14="http://schemas.microsoft.com/office/powerpoint/2010/main" val="525465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0" hangingPunct="0"/>
            <a:r>
              <a:rPr lang="zh-CN" altLang="zh-CN" sz="1200" kern="1200" dirty="0">
                <a:solidFill>
                  <a:schemeClr val="tx1"/>
                </a:solidFill>
                <a:effectLst/>
                <a:latin typeface="Arial" panose="020B0604020202020204" pitchFamily="34" charset="0"/>
                <a:ea typeface="宋体" panose="02010600030101010101" pitchFamily="2" charset="-122"/>
                <a:cs typeface="+mn-cs"/>
              </a:rPr>
              <a:t>每个单元准备多个设计视圈，包括如下几方面。</a:t>
            </a:r>
          </a:p>
          <a:p>
            <a:pPr eaLnBrk="0" hangingPunct="0"/>
            <a:r>
              <a:rPr lang="zh-CN" altLang="zh-CN" sz="1200" kern="1200" dirty="0">
                <a:solidFill>
                  <a:schemeClr val="tx1"/>
                </a:solidFill>
                <a:effectLst/>
                <a:latin typeface="Arial" panose="020B0604020202020204" pitchFamily="34" charset="0"/>
                <a:ea typeface="宋体" panose="02010600030101010101" pitchFamily="2" charset="-122"/>
                <a:cs typeface="+mn-cs"/>
              </a:rPr>
              <a:t>·带有功能、电学和时序规格说明的</a:t>
            </a:r>
            <a:r>
              <a:rPr lang="zh-CN" altLang="en-US" sz="1200" kern="1200" dirty="0">
                <a:solidFill>
                  <a:schemeClr val="tx1"/>
                </a:solidFill>
                <a:effectLst/>
                <a:latin typeface="Arial" panose="020B0604020202020204" pitchFamily="34" charset="0"/>
                <a:ea typeface="宋体" panose="02010600030101010101" pitchFamily="2" charset="-122"/>
                <a:cs typeface="+mn-cs"/>
              </a:rPr>
              <a:t>数据</a:t>
            </a:r>
            <a:r>
              <a:rPr lang="zh-CN" altLang="zh-CN" sz="1200" kern="1200" dirty="0">
                <a:solidFill>
                  <a:schemeClr val="tx1"/>
                </a:solidFill>
                <a:effectLst/>
                <a:latin typeface="Arial" panose="020B0604020202020204" pitchFamily="34" charset="0"/>
                <a:ea typeface="宋体" panose="02010600030101010101" pitchFamily="2" charset="-122"/>
                <a:cs typeface="+mn-cs"/>
              </a:rPr>
              <a:t>手册。</a:t>
            </a:r>
          </a:p>
          <a:p>
            <a:pPr eaLnBrk="0" hangingPunct="0"/>
            <a:r>
              <a:rPr lang="zh-CN" altLang="zh-CN" sz="1200" kern="1200" dirty="0">
                <a:solidFill>
                  <a:schemeClr val="tx1"/>
                </a:solidFill>
                <a:effectLst/>
                <a:latin typeface="Arial" panose="020B0604020202020204" pitchFamily="34" charset="0"/>
                <a:ea typeface="宋体" panose="02010600030101010101" pitchFamily="2" charset="-122"/>
                <a:cs typeface="+mn-cs"/>
              </a:rPr>
              <a:t>·一个固标 </a:t>
            </a:r>
            <a:r>
              <a:rPr lang="en-US" altLang="zh-CN" sz="1200" kern="1200" dirty="0">
                <a:solidFill>
                  <a:schemeClr val="tx1"/>
                </a:solidFill>
                <a:effectLst/>
                <a:latin typeface="Arial" panose="020B0604020202020204" pitchFamily="34" charset="0"/>
                <a:ea typeface="宋体" panose="02010600030101010101" pitchFamily="2" charset="-122"/>
                <a:cs typeface="+mn-cs"/>
              </a:rPr>
              <a:t>(icon)  </a:t>
            </a:r>
            <a:r>
              <a:rPr lang="zh-CN" altLang="zh-CN" sz="1200" kern="1200" dirty="0">
                <a:solidFill>
                  <a:schemeClr val="tx1"/>
                </a:solidFill>
                <a:effectLst/>
                <a:latin typeface="Arial" panose="020B0604020202020204" pitchFamily="34" charset="0"/>
                <a:ea typeface="宋体" panose="02010600030101010101" pitchFamily="2" charset="-122"/>
                <a:cs typeface="+mn-cs"/>
              </a:rPr>
              <a:t>或符号用于包含到电路图里。</a:t>
            </a:r>
          </a:p>
          <a:p>
            <a:pPr eaLnBrk="0" hangingPunct="0"/>
            <a:r>
              <a:rPr lang="zh-CN" altLang="zh-CN" sz="1200" kern="1200" dirty="0">
                <a:solidFill>
                  <a:schemeClr val="tx1"/>
                </a:solidFill>
                <a:effectLst/>
                <a:latin typeface="Arial" panose="020B0604020202020204" pitchFamily="34" charset="0"/>
                <a:ea typeface="宋体" panose="02010600030101010101" pitchFamily="2" charset="-122"/>
                <a:cs typeface="+mn-cs"/>
              </a:rPr>
              <a:t>·用于仿真和时序分析的准确的行为模型。</a:t>
            </a:r>
          </a:p>
          <a:p>
            <a:pPr eaLnBrk="0" hangingPunct="0"/>
            <a:r>
              <a:rPr lang="zh-CN" altLang="zh-CN" sz="1200" kern="1200" dirty="0">
                <a:solidFill>
                  <a:schemeClr val="tx1"/>
                </a:solidFill>
                <a:effectLst/>
                <a:latin typeface="Arial" panose="020B0604020202020204" pitchFamily="34" charset="0"/>
                <a:ea typeface="宋体" panose="02010600030101010101" pitchFamily="2" charset="-122"/>
                <a:cs typeface="+mn-cs"/>
              </a:rPr>
              <a:t>·一组仿真和测试向量。</a:t>
            </a:r>
          </a:p>
          <a:p>
            <a:pPr eaLnBrk="0" hangingPunct="0"/>
            <a:r>
              <a:rPr lang="zh-CN" altLang="zh-CN" sz="1200" kern="1200" dirty="0">
                <a:solidFill>
                  <a:schemeClr val="tx1"/>
                </a:solidFill>
                <a:effectLst/>
                <a:latin typeface="Arial" panose="020B0604020202020204" pitchFamily="34" charset="0"/>
                <a:ea typeface="宋体" panose="02010600030101010101" pitchFamily="2" charset="-122"/>
                <a:cs typeface="+mn-cs"/>
              </a:rPr>
              <a:t>·晶体管级网表或电路图。</a:t>
            </a:r>
          </a:p>
          <a:p>
            <a:pPr eaLnBrk="0" hangingPunct="0"/>
            <a:r>
              <a:rPr lang="zh-CN" altLang="zh-CN" sz="1200" kern="1200" dirty="0">
                <a:solidFill>
                  <a:schemeClr val="tx1"/>
                </a:solidFill>
                <a:effectLst/>
                <a:latin typeface="Arial" panose="020B0604020202020204" pitchFamily="34" charset="0"/>
                <a:ea typeface="宋体" panose="02010600030101010101" pitchFamily="2" charset="-122"/>
                <a:cs typeface="+mn-cs"/>
              </a:rPr>
              <a:t>·详细的版图。</a:t>
            </a:r>
          </a:p>
          <a:p>
            <a:pPr eaLnBrk="0" hangingPunct="0"/>
            <a:r>
              <a:rPr lang="zh-CN" altLang="zh-CN" sz="1200" kern="1200" dirty="0">
                <a:solidFill>
                  <a:schemeClr val="tx1"/>
                </a:solidFill>
                <a:effectLst/>
                <a:latin typeface="Arial" panose="020B0604020202020204" pitchFamily="34" charset="0"/>
                <a:ea typeface="宋体" panose="02010600030101010101" pitchFamily="2" charset="-122"/>
                <a:cs typeface="+mn-cs"/>
              </a:rPr>
              <a:t>·简化的版图视图，只显示了用于布局布线的轮廓和连接点，称为单元抽象、布局抽象或虚幻元件。</a:t>
            </a:r>
          </a:p>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38</a:t>
            </a:fld>
            <a:endParaRPr lang="en-US" altLang="zh-CN"/>
          </a:p>
        </p:txBody>
      </p:sp>
    </p:spTree>
    <p:extLst>
      <p:ext uri="{BB962C8B-B14F-4D97-AF65-F5344CB8AC3E}">
        <p14:creationId xmlns:p14="http://schemas.microsoft.com/office/powerpoint/2010/main" val="31612963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39</a:t>
            </a:fld>
            <a:endParaRPr lang="en-US" altLang="zh-CN"/>
          </a:p>
        </p:txBody>
      </p:sp>
    </p:spTree>
    <p:extLst>
      <p:ext uri="{BB962C8B-B14F-4D97-AF65-F5344CB8AC3E}">
        <p14:creationId xmlns:p14="http://schemas.microsoft.com/office/powerpoint/2010/main" val="19388374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5D76836-F611-4B03-A073-39BC50477C7C}" type="slidenum">
              <a:rPr lang="en-US" altLang="zh-CN" smtClean="0"/>
              <a:pPr>
                <a:defRPr/>
              </a:pPr>
              <a:t>40</a:t>
            </a:fld>
            <a:endParaRPr lang="en-US" altLang="zh-CN"/>
          </a:p>
        </p:txBody>
      </p:sp>
    </p:spTree>
    <p:extLst>
      <p:ext uri="{BB962C8B-B14F-4D97-AF65-F5344CB8AC3E}">
        <p14:creationId xmlns:p14="http://schemas.microsoft.com/office/powerpoint/2010/main" val="3768596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0D073E0C-595E-4C53-9095-8208B06586E6}"/>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4B2B1E6C-A0FA-473D-881F-01B288FF9548}"/>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E10965E1-6CEF-4B23-BAC6-1B9B5A5ED488}"/>
              </a:ext>
            </a:extLst>
          </p:cNvPr>
          <p:cNvSpPr>
            <a:spLocks noGrp="1"/>
          </p:cNvSpPr>
          <p:nvPr>
            <p:ph type="sldNum" sz="quarter" idx="12"/>
          </p:nvPr>
        </p:nvSpPr>
        <p:spPr/>
        <p:txBody>
          <a:bodyPr/>
          <a:lstStyle>
            <a:lvl1pPr>
              <a:defRPr/>
            </a:lvl1pPr>
          </a:lstStyle>
          <a:p>
            <a:pPr>
              <a:defRPr/>
            </a:pPr>
            <a:fld id="{40EE8921-E360-4F97-9C99-61A8741713BD}" type="slidenum">
              <a:rPr lang="en-US" altLang="zh-CN"/>
              <a:pPr>
                <a:defRPr/>
              </a:pPr>
              <a:t>‹#›</a:t>
            </a:fld>
            <a:endParaRPr lang="en-US" altLang="zh-CN"/>
          </a:p>
        </p:txBody>
      </p:sp>
    </p:spTree>
    <p:extLst>
      <p:ext uri="{BB962C8B-B14F-4D97-AF65-F5344CB8AC3E}">
        <p14:creationId xmlns:p14="http://schemas.microsoft.com/office/powerpoint/2010/main" val="4028780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9F614CD-B239-45D8-A0A7-A12DEFF44993}"/>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639DCE3F-9750-4FFD-A721-4D3E16578A37}"/>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FFAF3DD8-E4BC-4FD3-8612-043EA5BA4E54}"/>
              </a:ext>
            </a:extLst>
          </p:cNvPr>
          <p:cNvSpPr>
            <a:spLocks noGrp="1"/>
          </p:cNvSpPr>
          <p:nvPr>
            <p:ph type="sldNum" sz="quarter" idx="12"/>
          </p:nvPr>
        </p:nvSpPr>
        <p:spPr/>
        <p:txBody>
          <a:bodyPr/>
          <a:lstStyle>
            <a:lvl1pPr>
              <a:defRPr/>
            </a:lvl1pPr>
          </a:lstStyle>
          <a:p>
            <a:pPr>
              <a:defRPr/>
            </a:pPr>
            <a:fld id="{57D42A9A-50D9-44A0-942F-830B13065C54}" type="slidenum">
              <a:rPr lang="en-US" altLang="zh-CN"/>
              <a:pPr>
                <a:defRPr/>
              </a:pPr>
              <a:t>‹#›</a:t>
            </a:fld>
            <a:endParaRPr lang="en-US" altLang="zh-CN"/>
          </a:p>
        </p:txBody>
      </p:sp>
    </p:spTree>
    <p:extLst>
      <p:ext uri="{BB962C8B-B14F-4D97-AF65-F5344CB8AC3E}">
        <p14:creationId xmlns:p14="http://schemas.microsoft.com/office/powerpoint/2010/main" val="156491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37316A9-C9F5-4902-A039-6290DA8C091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2B7336F3-15CE-4640-985D-FEF857055255}"/>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83B2E73B-89F0-4624-8161-00493E6633E0}"/>
              </a:ext>
            </a:extLst>
          </p:cNvPr>
          <p:cNvSpPr>
            <a:spLocks noGrp="1"/>
          </p:cNvSpPr>
          <p:nvPr>
            <p:ph type="sldNum" sz="quarter" idx="12"/>
          </p:nvPr>
        </p:nvSpPr>
        <p:spPr/>
        <p:txBody>
          <a:bodyPr/>
          <a:lstStyle>
            <a:lvl1pPr>
              <a:defRPr/>
            </a:lvl1pPr>
          </a:lstStyle>
          <a:p>
            <a:pPr>
              <a:defRPr/>
            </a:pPr>
            <a:fld id="{5815FD0E-A9F0-4EE9-A7BA-C1FC57D0F8C7}" type="slidenum">
              <a:rPr lang="en-US" altLang="zh-CN"/>
              <a:pPr>
                <a:defRPr/>
              </a:pPr>
              <a:t>‹#›</a:t>
            </a:fld>
            <a:endParaRPr lang="en-US" altLang="zh-CN"/>
          </a:p>
        </p:txBody>
      </p:sp>
    </p:spTree>
    <p:extLst>
      <p:ext uri="{BB962C8B-B14F-4D97-AF65-F5344CB8AC3E}">
        <p14:creationId xmlns:p14="http://schemas.microsoft.com/office/powerpoint/2010/main" val="3445475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684298B5-1997-47D3-8707-43139F3C6235}"/>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69C13878-3A5B-4C6E-A392-24112FF256E3}"/>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E318DBB8-F3A7-4DB1-B70A-9BB8BBE1602E}"/>
              </a:ext>
            </a:extLst>
          </p:cNvPr>
          <p:cNvSpPr>
            <a:spLocks noGrp="1"/>
          </p:cNvSpPr>
          <p:nvPr>
            <p:ph type="sldNum" sz="quarter" idx="12"/>
          </p:nvPr>
        </p:nvSpPr>
        <p:spPr/>
        <p:txBody>
          <a:bodyPr/>
          <a:lstStyle>
            <a:lvl1pPr>
              <a:defRPr/>
            </a:lvl1pPr>
          </a:lstStyle>
          <a:p>
            <a:pPr>
              <a:defRPr/>
            </a:pPr>
            <a:fld id="{AA174120-868A-4421-8249-4D6E3ADF6E6C}" type="slidenum">
              <a:rPr lang="en-US" altLang="zh-CN"/>
              <a:pPr>
                <a:defRPr/>
              </a:pPr>
              <a:t>‹#›</a:t>
            </a:fld>
            <a:endParaRPr lang="en-US" altLang="zh-CN"/>
          </a:p>
        </p:txBody>
      </p:sp>
    </p:spTree>
    <p:extLst>
      <p:ext uri="{BB962C8B-B14F-4D97-AF65-F5344CB8AC3E}">
        <p14:creationId xmlns:p14="http://schemas.microsoft.com/office/powerpoint/2010/main" val="2933068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6B5DDD5D-68B2-4EE4-9D49-47ECEFAF308F}"/>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269F8334-9B83-4AFE-829B-1D1AB9DF91DF}"/>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98AC02CA-5B2C-4006-8CF2-9AFD2C5F3CAA}"/>
              </a:ext>
            </a:extLst>
          </p:cNvPr>
          <p:cNvSpPr>
            <a:spLocks noGrp="1"/>
          </p:cNvSpPr>
          <p:nvPr>
            <p:ph type="sldNum" sz="quarter" idx="12"/>
          </p:nvPr>
        </p:nvSpPr>
        <p:spPr/>
        <p:txBody>
          <a:bodyPr/>
          <a:lstStyle>
            <a:lvl1pPr>
              <a:defRPr/>
            </a:lvl1pPr>
          </a:lstStyle>
          <a:p>
            <a:pPr>
              <a:defRPr/>
            </a:pPr>
            <a:fld id="{3EF73EEF-4FEF-4791-9BF5-33ED2E9237A8}" type="slidenum">
              <a:rPr lang="en-US" altLang="zh-CN"/>
              <a:pPr>
                <a:defRPr/>
              </a:pPr>
              <a:t>‹#›</a:t>
            </a:fld>
            <a:endParaRPr lang="en-US" altLang="zh-CN"/>
          </a:p>
        </p:txBody>
      </p:sp>
    </p:spTree>
    <p:extLst>
      <p:ext uri="{BB962C8B-B14F-4D97-AF65-F5344CB8AC3E}">
        <p14:creationId xmlns:p14="http://schemas.microsoft.com/office/powerpoint/2010/main" val="355217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57A7FE08-A47F-4728-BA15-939D7D164626}"/>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91E6467E-C8D4-4B27-B76E-17877C3562F4}"/>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D18B86C8-75E7-42E3-9475-F5A931077006}"/>
              </a:ext>
            </a:extLst>
          </p:cNvPr>
          <p:cNvSpPr>
            <a:spLocks noGrp="1"/>
          </p:cNvSpPr>
          <p:nvPr>
            <p:ph type="sldNum" sz="quarter" idx="12"/>
          </p:nvPr>
        </p:nvSpPr>
        <p:spPr/>
        <p:txBody>
          <a:bodyPr/>
          <a:lstStyle>
            <a:lvl1pPr>
              <a:defRPr/>
            </a:lvl1pPr>
          </a:lstStyle>
          <a:p>
            <a:pPr>
              <a:defRPr/>
            </a:pPr>
            <a:fld id="{754EDC7B-39ED-4E06-8261-D282CFB739B0}" type="slidenum">
              <a:rPr lang="en-US" altLang="zh-CN"/>
              <a:pPr>
                <a:defRPr/>
              </a:pPr>
              <a:t>‹#›</a:t>
            </a:fld>
            <a:endParaRPr lang="en-US" altLang="zh-CN"/>
          </a:p>
        </p:txBody>
      </p:sp>
    </p:spTree>
    <p:extLst>
      <p:ext uri="{BB962C8B-B14F-4D97-AF65-F5344CB8AC3E}">
        <p14:creationId xmlns:p14="http://schemas.microsoft.com/office/powerpoint/2010/main" val="4178909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D63E48E-14B0-4254-85F2-1127F8EF8389}"/>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CD097F6E-BBCD-4B75-8AA0-D308D5882B20}"/>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496222CC-E15B-4156-B3B7-3118E27E1294}"/>
              </a:ext>
            </a:extLst>
          </p:cNvPr>
          <p:cNvSpPr>
            <a:spLocks noGrp="1"/>
          </p:cNvSpPr>
          <p:nvPr>
            <p:ph type="sldNum" sz="quarter" idx="12"/>
          </p:nvPr>
        </p:nvSpPr>
        <p:spPr/>
        <p:txBody>
          <a:bodyPr/>
          <a:lstStyle>
            <a:lvl1pPr>
              <a:defRPr/>
            </a:lvl1pPr>
          </a:lstStyle>
          <a:p>
            <a:pPr>
              <a:defRPr/>
            </a:pPr>
            <a:fld id="{6BB18EFD-3A09-45D9-93FD-660BCD5D131C}" type="slidenum">
              <a:rPr lang="en-US" altLang="zh-CN"/>
              <a:pPr>
                <a:defRPr/>
              </a:pPr>
              <a:t>‹#›</a:t>
            </a:fld>
            <a:endParaRPr lang="en-US" altLang="zh-CN"/>
          </a:p>
        </p:txBody>
      </p:sp>
    </p:spTree>
    <p:extLst>
      <p:ext uri="{BB962C8B-B14F-4D97-AF65-F5344CB8AC3E}">
        <p14:creationId xmlns:p14="http://schemas.microsoft.com/office/powerpoint/2010/main" val="785780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9874A74-7AD0-4E58-BCCC-249F369E6B16}"/>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CBB7CA2F-3DF2-49AD-9CFD-031F69E11E41}"/>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1E4ADBA7-8C9B-46F8-8CA9-1C50501B040C}"/>
              </a:ext>
            </a:extLst>
          </p:cNvPr>
          <p:cNvSpPr>
            <a:spLocks noGrp="1"/>
          </p:cNvSpPr>
          <p:nvPr>
            <p:ph type="sldNum" sz="quarter" idx="12"/>
          </p:nvPr>
        </p:nvSpPr>
        <p:spPr/>
        <p:txBody>
          <a:bodyPr/>
          <a:lstStyle>
            <a:lvl1pPr>
              <a:defRPr/>
            </a:lvl1pPr>
          </a:lstStyle>
          <a:p>
            <a:pPr>
              <a:defRPr/>
            </a:pPr>
            <a:fld id="{BEC7728D-3AF0-4D0B-8BBC-020591782043}" type="slidenum">
              <a:rPr lang="en-US" altLang="zh-CN"/>
              <a:pPr>
                <a:defRPr/>
              </a:pPr>
              <a:t>‹#›</a:t>
            </a:fld>
            <a:endParaRPr lang="en-US" altLang="zh-CN"/>
          </a:p>
        </p:txBody>
      </p:sp>
    </p:spTree>
    <p:extLst>
      <p:ext uri="{BB962C8B-B14F-4D97-AF65-F5344CB8AC3E}">
        <p14:creationId xmlns:p14="http://schemas.microsoft.com/office/powerpoint/2010/main" val="2871024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14F84FB5-1CCE-40FE-B3AB-DBF9BEF55DA1}"/>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2466C46B-A236-4A20-B24E-803F8A00558D}"/>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A67AB6C4-84B8-47E3-A774-091F34804831}"/>
              </a:ext>
            </a:extLst>
          </p:cNvPr>
          <p:cNvSpPr>
            <a:spLocks noGrp="1"/>
          </p:cNvSpPr>
          <p:nvPr>
            <p:ph type="sldNum" sz="quarter" idx="12"/>
          </p:nvPr>
        </p:nvSpPr>
        <p:spPr/>
        <p:txBody>
          <a:bodyPr/>
          <a:lstStyle>
            <a:lvl1pPr>
              <a:defRPr/>
            </a:lvl1pPr>
          </a:lstStyle>
          <a:p>
            <a:pPr>
              <a:defRPr/>
            </a:pPr>
            <a:fld id="{0ED70BCD-4D22-4981-9B1B-3248931CF6F1}" type="slidenum">
              <a:rPr lang="en-US" altLang="zh-CN"/>
              <a:pPr>
                <a:defRPr/>
              </a:pPr>
              <a:t>‹#›</a:t>
            </a:fld>
            <a:endParaRPr lang="en-US" altLang="zh-CN"/>
          </a:p>
        </p:txBody>
      </p:sp>
    </p:spTree>
    <p:extLst>
      <p:ext uri="{BB962C8B-B14F-4D97-AF65-F5344CB8AC3E}">
        <p14:creationId xmlns:p14="http://schemas.microsoft.com/office/powerpoint/2010/main" val="399926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A6063F-5BED-4D65-9A6C-76CBFDD5FAD8}"/>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55F8E9E7-9530-4E53-9BAC-529EEACBF12E}"/>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7676F0A4-4CF5-4EDF-8761-F2A1233150CD}"/>
              </a:ext>
            </a:extLst>
          </p:cNvPr>
          <p:cNvSpPr>
            <a:spLocks noGrp="1"/>
          </p:cNvSpPr>
          <p:nvPr>
            <p:ph type="sldNum" sz="quarter" idx="12"/>
          </p:nvPr>
        </p:nvSpPr>
        <p:spPr/>
        <p:txBody>
          <a:bodyPr/>
          <a:lstStyle>
            <a:lvl1pPr>
              <a:defRPr/>
            </a:lvl1pPr>
          </a:lstStyle>
          <a:p>
            <a:pPr>
              <a:defRPr/>
            </a:pPr>
            <a:fld id="{0B4737E1-E987-4AD5-B2EB-0DDC696930E3}" type="slidenum">
              <a:rPr lang="en-US" altLang="zh-CN"/>
              <a:pPr>
                <a:defRPr/>
              </a:pPr>
              <a:t>‹#›</a:t>
            </a:fld>
            <a:endParaRPr lang="en-US" altLang="zh-CN"/>
          </a:p>
        </p:txBody>
      </p:sp>
    </p:spTree>
    <p:extLst>
      <p:ext uri="{BB962C8B-B14F-4D97-AF65-F5344CB8AC3E}">
        <p14:creationId xmlns:p14="http://schemas.microsoft.com/office/powerpoint/2010/main" val="1708526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ACDBBE8-3F87-4EAA-AD7E-2E49380052AC}"/>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1DC92921-454E-40E8-8306-30A3BA2B98E0}"/>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6C44A951-BEE1-473C-A9B4-94A9FAAFA067}"/>
              </a:ext>
            </a:extLst>
          </p:cNvPr>
          <p:cNvSpPr>
            <a:spLocks noGrp="1"/>
          </p:cNvSpPr>
          <p:nvPr>
            <p:ph type="sldNum" sz="quarter" idx="12"/>
          </p:nvPr>
        </p:nvSpPr>
        <p:spPr/>
        <p:txBody>
          <a:bodyPr/>
          <a:lstStyle>
            <a:lvl1pPr>
              <a:defRPr/>
            </a:lvl1pPr>
          </a:lstStyle>
          <a:p>
            <a:pPr>
              <a:defRPr/>
            </a:pPr>
            <a:fld id="{A11CB01F-0E82-40BF-8900-42E0D2BCC473}" type="slidenum">
              <a:rPr lang="en-US" altLang="zh-CN"/>
              <a:pPr>
                <a:defRPr/>
              </a:pPr>
              <a:t>‹#›</a:t>
            </a:fld>
            <a:endParaRPr lang="en-US" altLang="zh-CN"/>
          </a:p>
        </p:txBody>
      </p:sp>
    </p:spTree>
    <p:extLst>
      <p:ext uri="{BB962C8B-B14F-4D97-AF65-F5344CB8AC3E}">
        <p14:creationId xmlns:p14="http://schemas.microsoft.com/office/powerpoint/2010/main" val="651276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8229600" cy="21891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57200" y="3941763"/>
            <a:ext cx="8229600" cy="2189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32E4DE25-97A9-44BB-8095-99BF804FCBFA}"/>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88B51006-D93F-4F76-BF53-9588C0483153}"/>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8FA0F9F8-78D5-4290-AD6B-F8FF82D0FA24}"/>
              </a:ext>
            </a:extLst>
          </p:cNvPr>
          <p:cNvSpPr>
            <a:spLocks noGrp="1"/>
          </p:cNvSpPr>
          <p:nvPr>
            <p:ph type="sldNum" sz="quarter" idx="12"/>
          </p:nvPr>
        </p:nvSpPr>
        <p:spPr/>
        <p:txBody>
          <a:bodyPr/>
          <a:lstStyle>
            <a:lvl1pPr>
              <a:defRPr/>
            </a:lvl1pPr>
          </a:lstStyle>
          <a:p>
            <a:pPr>
              <a:defRPr/>
            </a:pPr>
            <a:fld id="{923F48E1-159F-4290-8C96-7F23D05E643F}" type="slidenum">
              <a:rPr lang="en-US" altLang="zh-CN"/>
              <a:pPr>
                <a:defRPr/>
              </a:pPr>
              <a:t>‹#›</a:t>
            </a:fld>
            <a:endParaRPr lang="en-US" altLang="zh-CN"/>
          </a:p>
        </p:txBody>
      </p:sp>
    </p:spTree>
    <p:extLst>
      <p:ext uri="{BB962C8B-B14F-4D97-AF65-F5344CB8AC3E}">
        <p14:creationId xmlns:p14="http://schemas.microsoft.com/office/powerpoint/2010/main" val="2981464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752F6EB8-5E53-465C-9AF4-2F9556260DF8}"/>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3D3C6D25-02EA-4FD7-BBFE-0A079CC201CA}"/>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329B950-2279-426B-A75D-2205C4FDCAFE}"/>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宋体" panose="02010600030101010101" pitchFamily="2" charset="-122"/>
              </a:defRPr>
            </a:lvl1pPr>
          </a:lstStyle>
          <a:p>
            <a:pPr>
              <a:defRPr/>
            </a:pPr>
            <a:endParaRPr lang="en-US" altLang="zh-CN"/>
          </a:p>
        </p:txBody>
      </p:sp>
      <p:sp>
        <p:nvSpPr>
          <p:cNvPr id="5" name="页脚占位符 4">
            <a:extLst>
              <a:ext uri="{FF2B5EF4-FFF2-40B4-BE49-F238E27FC236}">
                <a16:creationId xmlns:a16="http://schemas.microsoft.com/office/drawing/2014/main" id="{9F55F833-D392-45C0-81AD-6A85F2D1B1FE}"/>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宋体" panose="02010600030101010101" pitchFamily="2" charset="-122"/>
              </a:defRPr>
            </a:lvl1pPr>
          </a:lstStyle>
          <a:p>
            <a:pPr>
              <a:defRPr/>
            </a:pPr>
            <a:endParaRPr lang="en-US" altLang="zh-CN"/>
          </a:p>
        </p:txBody>
      </p:sp>
      <p:sp>
        <p:nvSpPr>
          <p:cNvPr id="6" name="灯片编号占位符 5">
            <a:extLst>
              <a:ext uri="{FF2B5EF4-FFF2-40B4-BE49-F238E27FC236}">
                <a16:creationId xmlns:a16="http://schemas.microsoft.com/office/drawing/2014/main" id="{A8C5D78B-D30C-4403-B3CF-84D6D44D6463}"/>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D04381-0D1C-45F5-A5D4-27800770629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a:extLst>
              <a:ext uri="{FF2B5EF4-FFF2-40B4-BE49-F238E27FC236}">
                <a16:creationId xmlns:a16="http://schemas.microsoft.com/office/drawing/2014/main" id="{11354116-69CD-41E5-87B9-187054499177}"/>
              </a:ext>
            </a:extLst>
          </p:cNvPr>
          <p:cNvSpPr>
            <a:spLocks noGrp="1" noChangeArrowheads="1"/>
          </p:cNvSpPr>
          <p:nvPr>
            <p:ph idx="1"/>
          </p:nvPr>
        </p:nvSpPr>
        <p:spPr>
          <a:xfrm>
            <a:off x="457200" y="990600"/>
            <a:ext cx="8229600" cy="5038725"/>
          </a:xfrm>
        </p:spPr>
        <p:txBody>
          <a:bodyPr/>
          <a:lstStyle/>
          <a:p>
            <a:pPr eaLnBrk="1" hangingPunct="1"/>
            <a:endParaRPr lang="en-US" altLang="zh-CN" sz="2400" b="1" dirty="0"/>
          </a:p>
          <a:p>
            <a:pPr eaLnBrk="1" hangingPunct="1"/>
            <a:endParaRPr lang="en-US" altLang="zh-CN" sz="2400" b="1" dirty="0"/>
          </a:p>
          <a:p>
            <a:pPr eaLnBrk="1" hangingPunct="1">
              <a:buFont typeface="Wingdings" panose="05000000000000000000" pitchFamily="2" charset="2"/>
              <a:buNone/>
            </a:pPr>
            <a:r>
              <a:rPr lang="en-US" altLang="zh-CN" sz="4400" b="1" dirty="0">
                <a:latin typeface="仿宋_GB2312" pitchFamily="49" charset="-122"/>
                <a:ea typeface="仿宋_GB2312" pitchFamily="49" charset="-122"/>
              </a:rPr>
              <a:t>         </a:t>
            </a:r>
            <a:r>
              <a:rPr lang="zh-CN" altLang="en-US" sz="4800" b="1" dirty="0">
                <a:latin typeface="仿宋_GB2312" pitchFamily="49" charset="-122"/>
                <a:ea typeface="仿宋_GB2312" pitchFamily="49" charset="-122"/>
              </a:rPr>
              <a:t>第一讲 绪  论</a:t>
            </a:r>
          </a:p>
          <a:p>
            <a:pPr eaLnBrk="1" hangingPunct="1">
              <a:buFont typeface="Wingdings" panose="05000000000000000000" pitchFamily="2" charset="2"/>
              <a:buNone/>
            </a:pPr>
            <a:r>
              <a:rPr lang="zh-CN" altLang="en-US" sz="4800" b="1" dirty="0">
                <a:latin typeface="仿宋_GB2312" pitchFamily="49" charset="-122"/>
                <a:ea typeface="仿宋_GB2312" pitchFamily="49" charset="-122"/>
              </a:rPr>
              <a:t>         </a:t>
            </a:r>
            <a:endParaRPr lang="en-US" altLang="zh-CN" sz="4800" b="1" dirty="0">
              <a:latin typeface="仿宋_GB2312" pitchFamily="49" charset="-122"/>
              <a:ea typeface="仿宋_GB2312" pitchFamily="49" charset="-122"/>
            </a:endParaRPr>
          </a:p>
          <a:p>
            <a:pPr eaLnBrk="1" hangingPunct="1">
              <a:buFont typeface="Wingdings" panose="05000000000000000000" pitchFamily="2" charset="2"/>
              <a:buNone/>
            </a:pPr>
            <a:endParaRPr lang="en-US" altLang="zh-CN" sz="4800" b="1" dirty="0">
              <a:latin typeface="仿宋_GB2312" pitchFamily="49" charset="-122"/>
              <a:ea typeface="仿宋_GB2312" pitchFamily="49" charset="-122"/>
            </a:endParaRPr>
          </a:p>
          <a:p>
            <a:pPr algn="ctr" eaLnBrk="1" hangingPunct="1">
              <a:buFont typeface="Wingdings" panose="05000000000000000000" pitchFamily="2" charset="2"/>
              <a:buNone/>
            </a:pPr>
            <a:r>
              <a:rPr lang="zh-CN" altLang="en-US" b="1" dirty="0">
                <a:latin typeface="仿宋_GB2312" pitchFamily="49" charset="-122"/>
                <a:ea typeface="仿宋_GB2312" pitchFamily="49" charset="-122"/>
              </a:rPr>
              <a:t>周开伦</a:t>
            </a:r>
            <a:endParaRPr lang="en-US" altLang="zh-CN" b="1" dirty="0">
              <a:latin typeface="仿宋_GB2312" pitchFamily="49" charset="-122"/>
              <a:ea typeface="仿宋_GB2312" pitchFamily="49" charset="-122"/>
            </a:endParaRPr>
          </a:p>
          <a:p>
            <a:pPr algn="ctr" eaLnBrk="1" hangingPunct="1">
              <a:buFont typeface="Wingdings" panose="05000000000000000000" pitchFamily="2" charset="2"/>
              <a:buNone/>
            </a:pPr>
            <a:r>
              <a:rPr lang="en-US" altLang="zh-CN" b="1" dirty="0">
                <a:latin typeface="仿宋_GB2312" pitchFamily="49" charset="-122"/>
                <a:ea typeface="仿宋_GB2312" pitchFamily="49" charset="-122"/>
              </a:rPr>
              <a:t>03167@tongji.edu.cn</a:t>
            </a:r>
            <a:endParaRPr lang="zh-CN" altLang="en-US" b="1" dirty="0">
              <a:latin typeface="仿宋_GB2312" pitchFamily="49" charset="-122"/>
              <a:ea typeface="仿宋_GB2312"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C4BB3E-0FC5-4A2B-9D15-40CD33E8F8D7}"/>
              </a:ext>
            </a:extLst>
          </p:cNvPr>
          <p:cNvSpPr>
            <a:spLocks noGrp="1"/>
          </p:cNvSpPr>
          <p:nvPr>
            <p:ph type="title"/>
          </p:nvPr>
        </p:nvSpPr>
        <p:spPr>
          <a:xfrm>
            <a:off x="457200" y="274638"/>
            <a:ext cx="8229600" cy="3442394"/>
          </a:xfrm>
        </p:spPr>
        <p:txBody>
          <a:bodyPr/>
          <a:lstStyle/>
          <a:p>
            <a:pPr algn="l"/>
            <a:r>
              <a:rPr lang="zh-CN" altLang="en-US" sz="2800" dirty="0"/>
              <a:t>参考教材</a:t>
            </a:r>
            <a:br>
              <a:rPr lang="en-US" altLang="zh-CN" sz="2800" dirty="0"/>
            </a:br>
            <a:r>
              <a:rPr lang="en-US" altLang="zh-CN" sz="2800" dirty="0"/>
              <a:t>1</a:t>
            </a:r>
            <a:r>
              <a:rPr lang="zh-CN" altLang="en-US" sz="2800" dirty="0"/>
              <a:t>、数字集成电路设计 从</a:t>
            </a:r>
            <a:r>
              <a:rPr lang="en-US" altLang="zh-CN" sz="2800" dirty="0"/>
              <a:t>VLSI</a:t>
            </a:r>
            <a:r>
              <a:rPr lang="zh-CN" altLang="en-US" sz="2800" dirty="0"/>
              <a:t>体系结构到</a:t>
            </a:r>
            <a:r>
              <a:rPr lang="en-US" altLang="zh-CN" sz="2800" dirty="0"/>
              <a:t>CMOS</a:t>
            </a:r>
            <a:r>
              <a:rPr lang="zh-CN" altLang="en-US" sz="2800" dirty="0"/>
              <a:t>制造</a:t>
            </a:r>
            <a:br>
              <a:rPr lang="en-US" altLang="zh-CN" sz="2800"/>
            </a:br>
            <a:br>
              <a:rPr lang="en-US" altLang="zh-CN" sz="2800"/>
            </a:br>
            <a:r>
              <a:rPr lang="en-US" altLang="zh-CN" sz="2800"/>
              <a:t>2</a:t>
            </a:r>
            <a:r>
              <a:rPr lang="zh-CN" altLang="en-US" sz="2800"/>
              <a:t>、</a:t>
            </a:r>
            <a:r>
              <a:rPr lang="zh-CN" altLang="en-US" sz="2800" dirty="0"/>
              <a:t>数字集成电路</a:t>
            </a:r>
            <a:r>
              <a:rPr lang="en-US" altLang="zh-CN" sz="2800" b="1" dirty="0"/>
              <a:t>—</a:t>
            </a:r>
            <a:r>
              <a:rPr lang="zh-CN" altLang="en-US" sz="2800" dirty="0"/>
              <a:t>电路、系统与设计</a:t>
            </a:r>
            <a:r>
              <a:rPr lang="zh-CN" altLang="en-US" sz="2800" b="1" dirty="0"/>
              <a:t>（第二版），</a:t>
            </a:r>
            <a:r>
              <a:rPr lang="en-US" altLang="zh-CN" sz="2800" dirty="0"/>
              <a:t>Jan M. </a:t>
            </a:r>
            <a:r>
              <a:rPr lang="en-US" altLang="zh-CN" sz="2800" dirty="0" err="1"/>
              <a:t>Rabaey</a:t>
            </a:r>
            <a:r>
              <a:rPr lang="en-US" altLang="zh-CN" sz="2800" dirty="0"/>
              <a:t> [</a:t>
            </a:r>
            <a:r>
              <a:rPr lang="zh-CN" altLang="en-US" sz="2800" dirty="0"/>
              <a:t>著</a:t>
            </a:r>
            <a:r>
              <a:rPr lang="en-US" altLang="zh-CN" sz="2800" dirty="0"/>
              <a:t>]</a:t>
            </a:r>
            <a:r>
              <a:rPr lang="zh-CN" altLang="en-US" sz="2800" b="1" dirty="0"/>
              <a:t>，</a:t>
            </a:r>
            <a:r>
              <a:rPr lang="zh-CN" altLang="en-US" sz="2800" dirty="0"/>
              <a:t>周润德 </a:t>
            </a:r>
            <a:r>
              <a:rPr lang="en-US" altLang="zh-CN" sz="2800" dirty="0"/>
              <a:t>[</a:t>
            </a:r>
            <a:r>
              <a:rPr lang="zh-CN" altLang="en-US" sz="2800" dirty="0"/>
              <a:t>译</a:t>
            </a:r>
            <a:r>
              <a:rPr lang="en-US" altLang="zh-CN" sz="2800" dirty="0"/>
              <a:t>]</a:t>
            </a:r>
            <a:r>
              <a:rPr lang="en-US" altLang="zh-CN" sz="2800" b="1" dirty="0"/>
              <a:t>. </a:t>
            </a:r>
            <a:r>
              <a:rPr lang="zh-CN" altLang="en-US" sz="2800" dirty="0"/>
              <a:t>电子工业出版社 </a:t>
            </a:r>
            <a:br>
              <a:rPr lang="en-US" altLang="zh-CN" sz="2800" dirty="0"/>
            </a:br>
            <a:endParaRPr lang="zh-CN" altLang="en-US" sz="2800" dirty="0"/>
          </a:p>
        </p:txBody>
      </p:sp>
      <p:sp>
        <p:nvSpPr>
          <p:cNvPr id="3" name="内容占位符 2">
            <a:extLst>
              <a:ext uri="{FF2B5EF4-FFF2-40B4-BE49-F238E27FC236}">
                <a16:creationId xmlns:a16="http://schemas.microsoft.com/office/drawing/2014/main" id="{F7DA6F92-3CB4-473F-A0C5-AD57B0FD0DF3}"/>
              </a:ext>
            </a:extLst>
          </p:cNvPr>
          <p:cNvSpPr>
            <a:spLocks noGrp="1"/>
          </p:cNvSpPr>
          <p:nvPr>
            <p:ph idx="1"/>
          </p:nvPr>
        </p:nvSpPr>
        <p:spPr>
          <a:xfrm>
            <a:off x="457200" y="3861048"/>
            <a:ext cx="8579296" cy="2265115"/>
          </a:xfrm>
        </p:spPr>
        <p:txBody>
          <a:bodyPr/>
          <a:lstStyle/>
          <a:p>
            <a:pPr marL="0" indent="0">
              <a:buNone/>
            </a:pPr>
            <a:r>
              <a:rPr lang="zh-CN" altLang="en-US" sz="2800" dirty="0"/>
              <a:t>推荐刊物及国际会议</a:t>
            </a:r>
            <a:endParaRPr lang="en-US" altLang="zh-CN" sz="2800" dirty="0"/>
          </a:p>
          <a:p>
            <a:r>
              <a:rPr lang="en-US" altLang="zh-CN" sz="2800" b="1" dirty="0"/>
              <a:t>JSSC: IEEE Journal of Solid-State Circuits</a:t>
            </a:r>
            <a:r>
              <a:rPr lang="en-US" altLang="zh-CN" sz="2800" dirty="0"/>
              <a:t> </a:t>
            </a:r>
          </a:p>
          <a:p>
            <a:r>
              <a:rPr lang="en-US" altLang="zh-CN" sz="2800" b="1" dirty="0"/>
              <a:t>ISSCC: The International Solid-State Circuits Conference</a:t>
            </a:r>
            <a:r>
              <a:rPr lang="zh-CN" altLang="en-US" sz="2800" b="1" dirty="0"/>
              <a:t>，</a:t>
            </a:r>
            <a:r>
              <a:rPr lang="en-US" altLang="zh-CN" sz="2800" b="1" dirty="0"/>
              <a:t>IEEE</a:t>
            </a:r>
            <a:r>
              <a:rPr lang="en-US" altLang="zh-CN" sz="2800" dirty="0"/>
              <a:t> </a:t>
            </a:r>
            <a:br>
              <a:rPr lang="en-US" altLang="zh-CN" sz="2800" dirty="0"/>
            </a:br>
            <a:endParaRPr lang="zh-CN" altLang="en-US" sz="2800" dirty="0"/>
          </a:p>
        </p:txBody>
      </p:sp>
    </p:spTree>
    <p:extLst>
      <p:ext uri="{BB962C8B-B14F-4D97-AF65-F5344CB8AC3E}">
        <p14:creationId xmlns:p14="http://schemas.microsoft.com/office/powerpoint/2010/main" val="330472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C4BB3E-0FC5-4A2B-9D15-40CD33E8F8D7}"/>
              </a:ext>
            </a:extLst>
          </p:cNvPr>
          <p:cNvSpPr>
            <a:spLocks noGrp="1"/>
          </p:cNvSpPr>
          <p:nvPr>
            <p:ph type="title"/>
          </p:nvPr>
        </p:nvSpPr>
        <p:spPr>
          <a:xfrm>
            <a:off x="457200" y="274638"/>
            <a:ext cx="8229600" cy="5530626"/>
          </a:xfrm>
        </p:spPr>
        <p:txBody>
          <a:bodyPr/>
          <a:lstStyle/>
          <a:p>
            <a:pPr algn="l"/>
            <a:r>
              <a:rPr lang="zh-CN" altLang="en-US" sz="2800" dirty="0"/>
              <a:t>成绩与考核</a:t>
            </a:r>
            <a:br>
              <a:rPr lang="en-US" altLang="zh-CN" sz="2800" dirty="0"/>
            </a:br>
            <a:br>
              <a:rPr lang="en-US" altLang="zh-CN" sz="2800" dirty="0"/>
            </a:br>
            <a:r>
              <a:rPr lang="zh-CN" altLang="en-US" sz="2800" dirty="0"/>
              <a:t>总成绩由</a:t>
            </a:r>
            <a:r>
              <a:rPr lang="en-US" altLang="zh-CN" sz="2800" dirty="0"/>
              <a:t>4</a:t>
            </a:r>
            <a:r>
              <a:rPr lang="zh-CN" altLang="en-US" sz="2800" dirty="0"/>
              <a:t>部分组成：</a:t>
            </a:r>
            <a:br>
              <a:rPr lang="en-US" altLang="zh-CN" sz="2800" dirty="0"/>
            </a:br>
            <a:r>
              <a:rPr lang="en-US" altLang="zh-CN" sz="2800" dirty="0"/>
              <a:t>1</a:t>
            </a:r>
            <a:r>
              <a:rPr lang="zh-CN" altLang="en-US" sz="2800" dirty="0"/>
              <a:t>）考勤：</a:t>
            </a:r>
            <a:r>
              <a:rPr lang="en-US" altLang="zh-CN" sz="2800" dirty="0"/>
              <a:t>10%</a:t>
            </a:r>
            <a:br>
              <a:rPr lang="en-US" altLang="zh-CN" sz="2800" dirty="0"/>
            </a:br>
            <a:br>
              <a:rPr lang="en-US" altLang="zh-CN" sz="2800" dirty="0"/>
            </a:br>
            <a:r>
              <a:rPr lang="en-US" altLang="zh-CN" sz="2800" dirty="0"/>
              <a:t>2</a:t>
            </a:r>
            <a:r>
              <a:rPr lang="zh-CN" altLang="en-US" sz="2800" dirty="0"/>
              <a:t>）过程性考核</a:t>
            </a:r>
            <a:r>
              <a:rPr lang="en-US" altLang="zh-CN" sz="2800" dirty="0"/>
              <a:t>1</a:t>
            </a:r>
            <a:r>
              <a:rPr lang="zh-CN" altLang="en-US" sz="2800" dirty="0"/>
              <a:t>（文献翻译和平时作业）：</a:t>
            </a:r>
            <a:r>
              <a:rPr lang="en-US" altLang="zh-CN" sz="2800" dirty="0"/>
              <a:t>10%</a:t>
            </a:r>
            <a:br>
              <a:rPr lang="en-US" altLang="zh-CN" sz="2800" dirty="0"/>
            </a:br>
            <a:br>
              <a:rPr lang="en-US" altLang="zh-CN" sz="2800" dirty="0"/>
            </a:br>
            <a:r>
              <a:rPr lang="en-US" altLang="zh-CN" sz="2800" dirty="0"/>
              <a:t>3</a:t>
            </a:r>
            <a:r>
              <a:rPr lang="zh-CN" altLang="en-US" sz="2800" dirty="0"/>
              <a:t>）过程性考核</a:t>
            </a:r>
            <a:r>
              <a:rPr lang="en-US" altLang="zh-CN" sz="2800" dirty="0"/>
              <a:t>2</a:t>
            </a:r>
            <a:r>
              <a:rPr lang="zh-CN" altLang="en-US" sz="2800" dirty="0"/>
              <a:t>（课程设计） ： </a:t>
            </a:r>
            <a:r>
              <a:rPr lang="en-US" altLang="zh-CN" sz="2800" dirty="0"/>
              <a:t>20%</a:t>
            </a:r>
            <a:br>
              <a:rPr lang="en-US" altLang="zh-CN" sz="2800" dirty="0"/>
            </a:br>
            <a:r>
              <a:rPr lang="en-US" altLang="zh-CN" sz="2800" dirty="0"/>
              <a:t>3~4</a:t>
            </a:r>
            <a:r>
              <a:rPr lang="zh-CN" altLang="en-US" sz="2800" dirty="0"/>
              <a:t>人一组，完成课程设计，并提交设计报告</a:t>
            </a:r>
            <a:br>
              <a:rPr lang="en-US" altLang="zh-CN" sz="2800" dirty="0"/>
            </a:br>
            <a:br>
              <a:rPr lang="en-US" altLang="zh-CN" sz="2800" dirty="0"/>
            </a:br>
            <a:r>
              <a:rPr lang="en-US" altLang="zh-CN" sz="2800" dirty="0"/>
              <a:t>4</a:t>
            </a:r>
            <a:r>
              <a:rPr lang="zh-CN" altLang="en-US" sz="2800" dirty="0"/>
              <a:t>）期末考试：</a:t>
            </a:r>
            <a:r>
              <a:rPr lang="en-US" altLang="zh-CN" sz="2800"/>
              <a:t>60</a:t>
            </a:r>
            <a:r>
              <a:rPr lang="en-US" altLang="zh-CN" sz="2800" dirty="0"/>
              <a:t>%</a:t>
            </a:r>
            <a:br>
              <a:rPr lang="en-US" altLang="zh-CN" sz="2800" dirty="0"/>
            </a:br>
            <a:r>
              <a:rPr lang="zh-CN" altLang="en-US" sz="2800" dirty="0"/>
              <a:t>闭卷考试</a:t>
            </a:r>
          </a:p>
        </p:txBody>
      </p:sp>
    </p:spTree>
    <p:extLst>
      <p:ext uri="{BB962C8B-B14F-4D97-AF65-F5344CB8AC3E}">
        <p14:creationId xmlns:p14="http://schemas.microsoft.com/office/powerpoint/2010/main" val="3306300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457200" y="44624"/>
            <a:ext cx="8003232" cy="720080"/>
          </a:xfrm>
        </p:spPr>
        <p:txBody>
          <a:bodyPr/>
          <a:lstStyle/>
          <a:p>
            <a:r>
              <a:rPr lang="en-US" altLang="zh-CN" dirty="0"/>
              <a:t>1.1 </a:t>
            </a:r>
            <a:r>
              <a:rPr lang="zh-CN" altLang="en-US" dirty="0"/>
              <a:t>集成电路对经济的影响</a:t>
            </a:r>
          </a:p>
        </p:txBody>
      </p:sp>
      <p:pic>
        <p:nvPicPr>
          <p:cNvPr id="4" name="内容占位符 3">
            <a:extLst>
              <a:ext uri="{FF2B5EF4-FFF2-40B4-BE49-F238E27FC236}">
                <a16:creationId xmlns:a16="http://schemas.microsoft.com/office/drawing/2014/main" id="{45A7755F-39A4-4ECF-B9BD-B53FE1B4CCA9}"/>
              </a:ext>
            </a:extLst>
          </p:cNvPr>
          <p:cNvPicPr>
            <a:picLocks noGrp="1" noChangeAspect="1"/>
          </p:cNvPicPr>
          <p:nvPr>
            <p:ph idx="1"/>
          </p:nvPr>
        </p:nvPicPr>
        <p:blipFill>
          <a:blip r:embed="rId3"/>
          <a:stretch>
            <a:fillRect/>
          </a:stretch>
        </p:blipFill>
        <p:spPr>
          <a:xfrm>
            <a:off x="3957438" y="2276872"/>
            <a:ext cx="5142859" cy="3528392"/>
          </a:xfrm>
          <a:prstGeom prst="rect">
            <a:avLst/>
          </a:prstGeom>
        </p:spPr>
      </p:pic>
      <p:sp>
        <p:nvSpPr>
          <p:cNvPr id="5" name="矩形 4">
            <a:extLst>
              <a:ext uri="{FF2B5EF4-FFF2-40B4-BE49-F238E27FC236}">
                <a16:creationId xmlns:a16="http://schemas.microsoft.com/office/drawing/2014/main" id="{1E2ED1F1-6E0A-4664-8D1A-90FAB810303F}"/>
              </a:ext>
            </a:extLst>
          </p:cNvPr>
          <p:cNvSpPr/>
          <p:nvPr/>
        </p:nvSpPr>
        <p:spPr>
          <a:xfrm>
            <a:off x="285030" y="2001839"/>
            <a:ext cx="3672408" cy="1477328"/>
          </a:xfrm>
          <a:prstGeom prst="rect">
            <a:avLst/>
          </a:prstGeom>
        </p:spPr>
        <p:txBody>
          <a:bodyPr wrap="square">
            <a:spAutoFit/>
          </a:bodyPr>
          <a:lstStyle/>
          <a:p>
            <a:pPr algn="just">
              <a:spcAft>
                <a:spcPts val="0"/>
              </a:spcAft>
            </a:pPr>
            <a:r>
              <a:rPr lang="zh-CN" altLang="zh-CN" kern="100" dirty="0">
                <a:latin typeface="Times New Roman" panose="02020603050405020304" pitchFamily="18" charset="0"/>
              </a:rPr>
              <a:t>中国自</a:t>
            </a:r>
            <a:r>
              <a:rPr lang="en-US" altLang="zh-CN" kern="100" dirty="0">
                <a:latin typeface="Times New Roman" panose="02020603050405020304" pitchFamily="18" charset="0"/>
              </a:rPr>
              <a:t>2005</a:t>
            </a:r>
            <a:r>
              <a:rPr lang="zh-CN" altLang="zh-CN" kern="100" dirty="0">
                <a:latin typeface="Times New Roman" panose="02020603050405020304" pitchFamily="18" charset="0"/>
              </a:rPr>
              <a:t>年以来成为世界上最大的</a:t>
            </a:r>
            <a:r>
              <a:rPr lang="en-US" altLang="zh-CN" kern="100" dirty="0">
                <a:latin typeface="Times New Roman" panose="02020603050405020304" pitchFamily="18" charset="0"/>
              </a:rPr>
              <a:t>IC</a:t>
            </a:r>
            <a:r>
              <a:rPr lang="zh-CN" altLang="zh-CN" kern="100" dirty="0">
                <a:latin typeface="Times New Roman" panose="02020603050405020304" pitchFamily="18" charset="0"/>
              </a:rPr>
              <a:t>市场，并且自那时以来规模一直在增长。</a:t>
            </a:r>
            <a:r>
              <a:rPr lang="zh-CN" altLang="zh-CN" kern="100" dirty="0">
                <a:latin typeface="Times New Roman" panose="02020603050405020304" pitchFamily="18" charset="0"/>
                <a:cs typeface="Times New Roman" panose="02020603050405020304" pitchFamily="18" charset="0"/>
              </a:rPr>
              <a:t>截至</a:t>
            </a:r>
            <a:r>
              <a:rPr lang="en-US" altLang="zh-CN" kern="100" dirty="0">
                <a:latin typeface="Times New Roman" panose="02020603050405020304" pitchFamily="18" charset="0"/>
              </a:rPr>
              <a:t>2020</a:t>
            </a:r>
            <a:r>
              <a:rPr lang="zh-CN" altLang="zh-CN" kern="100" dirty="0">
                <a:latin typeface="Times New Roman" panose="02020603050405020304" pitchFamily="18" charset="0"/>
                <a:cs typeface="Times New Roman" panose="02020603050405020304" pitchFamily="18" charset="0"/>
              </a:rPr>
              <a:t>年，中国集成电路市场规模增至</a:t>
            </a:r>
            <a:r>
              <a:rPr lang="en-US" altLang="zh-CN" kern="100" dirty="0">
                <a:latin typeface="Times New Roman" panose="02020603050405020304" pitchFamily="18" charset="0"/>
              </a:rPr>
              <a:t>1,434</a:t>
            </a:r>
            <a:r>
              <a:rPr lang="zh-CN" altLang="zh-CN" kern="100" dirty="0">
                <a:latin typeface="Times New Roman" panose="02020603050405020304" pitchFamily="18" charset="0"/>
                <a:cs typeface="Times New Roman" panose="02020603050405020304" pitchFamily="18" charset="0"/>
              </a:rPr>
              <a:t>亿美元，较</a:t>
            </a:r>
            <a:r>
              <a:rPr lang="en-US" altLang="zh-CN" kern="100" dirty="0">
                <a:latin typeface="Times New Roman" panose="02020603050405020304" pitchFamily="18" charset="0"/>
              </a:rPr>
              <a:t>2019</a:t>
            </a:r>
            <a:r>
              <a:rPr lang="zh-CN" altLang="zh-CN" kern="100" dirty="0">
                <a:latin typeface="Times New Roman" panose="02020603050405020304" pitchFamily="18" charset="0"/>
                <a:cs typeface="Times New Roman" panose="02020603050405020304" pitchFamily="18" charset="0"/>
              </a:rPr>
              <a:t>年的</a:t>
            </a:r>
            <a:r>
              <a:rPr lang="en-US" altLang="zh-CN" kern="100" dirty="0">
                <a:latin typeface="Times New Roman" panose="02020603050405020304" pitchFamily="18" charset="0"/>
              </a:rPr>
              <a:t>1,313</a:t>
            </a:r>
            <a:r>
              <a:rPr lang="zh-CN" altLang="zh-CN" kern="100" dirty="0">
                <a:latin typeface="Times New Roman" panose="02020603050405020304" pitchFamily="18" charset="0"/>
                <a:cs typeface="Times New Roman" panose="02020603050405020304" pitchFamily="18" charset="0"/>
              </a:rPr>
              <a:t>亿美元增长</a:t>
            </a:r>
            <a:r>
              <a:rPr lang="en-US" altLang="zh-CN" kern="100" dirty="0">
                <a:latin typeface="Times New Roman" panose="02020603050405020304" pitchFamily="18" charset="0"/>
              </a:rPr>
              <a:t>9</a:t>
            </a:r>
            <a:r>
              <a:rPr lang="zh-CN" altLang="zh-CN" kern="100" dirty="0">
                <a:latin typeface="Times New Roman" panose="02020603050405020304" pitchFamily="18" charset="0"/>
                <a:cs typeface="Times New Roman" panose="02020603050405020304" pitchFamily="18" charset="0"/>
              </a:rPr>
              <a:t>％。</a:t>
            </a:r>
            <a:endParaRPr lang="zh-CN" altLang="en-US" dirty="0"/>
          </a:p>
        </p:txBody>
      </p:sp>
      <p:sp>
        <p:nvSpPr>
          <p:cNvPr id="3" name="矩形 2">
            <a:extLst>
              <a:ext uri="{FF2B5EF4-FFF2-40B4-BE49-F238E27FC236}">
                <a16:creationId xmlns:a16="http://schemas.microsoft.com/office/drawing/2014/main" id="{EF62B4A8-DB90-43DC-9872-202DF9DDB5B0}"/>
              </a:ext>
            </a:extLst>
          </p:cNvPr>
          <p:cNvSpPr/>
          <p:nvPr/>
        </p:nvSpPr>
        <p:spPr>
          <a:xfrm>
            <a:off x="395536" y="801510"/>
            <a:ext cx="7200800" cy="1200329"/>
          </a:xfrm>
          <a:prstGeom prst="rect">
            <a:avLst/>
          </a:prstGeom>
        </p:spPr>
        <p:txBody>
          <a:bodyPr wrap="square">
            <a:spAutoFit/>
          </a:bodyPr>
          <a:lstStyle/>
          <a:p>
            <a:r>
              <a:rPr lang="zh-CN" altLang="zh-CN" dirty="0">
                <a:solidFill>
                  <a:srgbClr val="191919"/>
                </a:solidFill>
                <a:latin typeface="Arial" panose="020B0604020202020204" pitchFamily="34" charset="0"/>
                <a:cs typeface="Arial" panose="020B0604020202020204" pitchFamily="34" charset="0"/>
              </a:rPr>
              <a:t>集成电路为半导体核心产品，是全球信息产业的基础，是现代日常生活和未来科技进步中必不可少的组成部分。集成电路行业下游应用广泛，包括消费电子、互联网、数字图像、网络通信、云计算、大数据、人工智能等，是衡量一个国家或地区综合竞争力的重要标志。</a:t>
            </a:r>
            <a:endParaRPr lang="zh-CN" altLang="en-US" dirty="0"/>
          </a:p>
        </p:txBody>
      </p:sp>
      <p:sp>
        <p:nvSpPr>
          <p:cNvPr id="6" name="矩形 5">
            <a:extLst>
              <a:ext uri="{FF2B5EF4-FFF2-40B4-BE49-F238E27FC236}">
                <a16:creationId xmlns:a16="http://schemas.microsoft.com/office/drawing/2014/main" id="{973C2AA7-0983-46F1-B35A-65FCFE59DA57}"/>
              </a:ext>
            </a:extLst>
          </p:cNvPr>
          <p:cNvSpPr/>
          <p:nvPr/>
        </p:nvSpPr>
        <p:spPr>
          <a:xfrm>
            <a:off x="182514" y="3999075"/>
            <a:ext cx="3957438" cy="2585323"/>
          </a:xfrm>
          <a:prstGeom prst="rect">
            <a:avLst/>
          </a:prstGeom>
        </p:spPr>
        <p:txBody>
          <a:bodyPr wrap="square">
            <a:spAutoFit/>
          </a:bodyPr>
          <a:lstStyle/>
          <a:p>
            <a:pPr algn="just">
              <a:spcAft>
                <a:spcPts val="0"/>
              </a:spcAft>
            </a:pPr>
            <a:r>
              <a:rPr lang="en-US" altLang="zh-CN" kern="100" dirty="0">
                <a:latin typeface="Times New Roman" panose="02020603050405020304" pitchFamily="18" charset="0"/>
              </a:rPr>
              <a:t>2020</a:t>
            </a:r>
            <a:r>
              <a:rPr lang="zh-CN" altLang="zh-CN" kern="100" dirty="0">
                <a:latin typeface="Times New Roman" panose="02020603050405020304" pitchFamily="18" charset="0"/>
              </a:rPr>
              <a:t>，智能手机在中国乃至全球的强劲销售以及各种计算系统的销量均有所增长，导致微处理器成为去年中国第二大</a:t>
            </a:r>
            <a:r>
              <a:rPr lang="en-US" altLang="zh-CN" kern="100" dirty="0">
                <a:latin typeface="Times New Roman" panose="02020603050405020304" pitchFamily="18" charset="0"/>
              </a:rPr>
              <a:t>IC</a:t>
            </a:r>
            <a:r>
              <a:rPr lang="zh-CN" altLang="zh-CN" kern="100" dirty="0">
                <a:latin typeface="Times New Roman" panose="02020603050405020304" pitchFamily="18" charset="0"/>
              </a:rPr>
              <a:t>产品领域。中国的</a:t>
            </a:r>
            <a:r>
              <a:rPr lang="en-US" altLang="zh-CN" kern="100" dirty="0">
                <a:latin typeface="Times New Roman" panose="02020603050405020304" pitchFamily="18" charset="0"/>
              </a:rPr>
              <a:t>MPU</a:t>
            </a:r>
            <a:r>
              <a:rPr lang="zh-CN" altLang="zh-CN" kern="100" dirty="0">
                <a:latin typeface="Times New Roman" panose="02020603050405020304" pitchFamily="18" charset="0"/>
              </a:rPr>
              <a:t>销售额（包括专用处理器的收入）在</a:t>
            </a:r>
            <a:r>
              <a:rPr lang="en-US" altLang="zh-CN" kern="100" dirty="0">
                <a:latin typeface="Times New Roman" panose="02020603050405020304" pitchFamily="18" charset="0"/>
              </a:rPr>
              <a:t>2020</a:t>
            </a:r>
            <a:r>
              <a:rPr lang="zh-CN" altLang="zh-CN" kern="100" dirty="0">
                <a:latin typeface="Times New Roman" panose="02020603050405020304" pitchFamily="18" charset="0"/>
              </a:rPr>
              <a:t>年增长</a:t>
            </a:r>
            <a:r>
              <a:rPr lang="en-US" altLang="zh-CN" kern="100" dirty="0">
                <a:latin typeface="Times New Roman" panose="02020603050405020304" pitchFamily="18" charset="0"/>
              </a:rPr>
              <a:t>12</a:t>
            </a:r>
            <a:r>
              <a:rPr lang="zh-CN" altLang="zh-CN" kern="100" dirty="0">
                <a:latin typeface="Times New Roman" panose="02020603050405020304" pitchFamily="18" charset="0"/>
              </a:rPr>
              <a:t>％，达到</a:t>
            </a:r>
            <a:r>
              <a:rPr lang="en-US" altLang="zh-CN" kern="100" dirty="0">
                <a:latin typeface="Times New Roman" panose="02020603050405020304" pitchFamily="18" charset="0"/>
              </a:rPr>
              <a:t>327</a:t>
            </a:r>
            <a:r>
              <a:rPr lang="zh-CN" altLang="zh-CN" kern="100" dirty="0">
                <a:latin typeface="Times New Roman" panose="02020603050405020304" pitchFamily="18" charset="0"/>
              </a:rPr>
              <a:t>亿美元。</a:t>
            </a:r>
            <a:endParaRPr lang="en-US" altLang="zh-CN" kern="100" dirty="0">
              <a:latin typeface="Times New Roman" panose="02020603050405020304" pitchFamily="18" charset="0"/>
            </a:endParaRPr>
          </a:p>
          <a:p>
            <a:pPr algn="just">
              <a:spcAft>
                <a:spcPts val="0"/>
              </a:spcAft>
            </a:pPr>
            <a:endParaRPr lang="en-US" altLang="zh-CN" kern="100" dirty="0">
              <a:latin typeface="Times New Roman" panose="02020603050405020304" pitchFamily="18" charset="0"/>
            </a:endParaRPr>
          </a:p>
          <a:p>
            <a:pPr algn="just">
              <a:spcAft>
                <a:spcPts val="0"/>
              </a:spcAft>
            </a:pPr>
            <a:r>
              <a:rPr lang="en-US" altLang="zh-CN" kern="100" dirty="0">
                <a:latin typeface="Times New Roman" panose="02020603050405020304" pitchFamily="18" charset="0"/>
              </a:rPr>
              <a:t>2020</a:t>
            </a:r>
            <a:r>
              <a:rPr lang="zh-CN" altLang="zh-CN" kern="100" dirty="0">
                <a:latin typeface="Times New Roman" panose="02020603050405020304" pitchFamily="18" charset="0"/>
              </a:rPr>
              <a:t>年，</a:t>
            </a:r>
            <a:r>
              <a:rPr lang="en-US" altLang="zh-CN" kern="100" dirty="0">
                <a:latin typeface="Times New Roman" panose="02020603050405020304" pitchFamily="18" charset="0"/>
              </a:rPr>
              <a:t>DRAM</a:t>
            </a:r>
            <a:r>
              <a:rPr lang="zh-CN" altLang="zh-CN" kern="100" dirty="0">
                <a:latin typeface="Times New Roman" panose="02020603050405020304" pitchFamily="18" charset="0"/>
              </a:rPr>
              <a:t>和</a:t>
            </a:r>
            <a:r>
              <a:rPr lang="en-US" altLang="zh-CN" kern="100" dirty="0">
                <a:latin typeface="Times New Roman" panose="02020603050405020304" pitchFamily="18" charset="0"/>
              </a:rPr>
              <a:t>NAND</a:t>
            </a:r>
            <a:r>
              <a:rPr lang="zh-CN" altLang="zh-CN" kern="100" dirty="0">
                <a:latin typeface="Times New Roman" panose="02020603050405020304" pitchFamily="18" charset="0"/>
              </a:rPr>
              <a:t>闪存市场合计占中国</a:t>
            </a:r>
            <a:r>
              <a:rPr lang="en-US" altLang="zh-CN" kern="100" dirty="0">
                <a:latin typeface="Times New Roman" panose="02020603050405020304" pitchFamily="18" charset="0"/>
              </a:rPr>
              <a:t>IC</a:t>
            </a:r>
            <a:r>
              <a:rPr lang="zh-CN" altLang="zh-CN" kern="100" dirty="0">
                <a:latin typeface="Times New Roman" panose="02020603050405020304" pitchFamily="18" charset="0"/>
              </a:rPr>
              <a:t>总市场的</a:t>
            </a:r>
            <a:r>
              <a:rPr lang="en-US" altLang="zh-CN" kern="100" dirty="0">
                <a:latin typeface="Times New Roman" panose="02020603050405020304" pitchFamily="18" charset="0"/>
              </a:rPr>
              <a:t>30</a:t>
            </a:r>
            <a:r>
              <a:rPr lang="zh-CN" altLang="zh-CN" kern="100" dirty="0">
                <a:latin typeface="Times New Roman" panose="02020603050405020304" pitchFamily="18" charset="0"/>
              </a:rPr>
              <a:t>％。</a:t>
            </a:r>
          </a:p>
        </p:txBody>
      </p:sp>
    </p:spTree>
    <p:extLst>
      <p:ext uri="{BB962C8B-B14F-4D97-AF65-F5344CB8AC3E}">
        <p14:creationId xmlns:p14="http://schemas.microsoft.com/office/powerpoint/2010/main" val="2924497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3">
            <a:extLst>
              <a:ext uri="{FF2B5EF4-FFF2-40B4-BE49-F238E27FC236}">
                <a16:creationId xmlns:a16="http://schemas.microsoft.com/office/drawing/2014/main" id="{3CC902DC-45BF-4D61-805C-5502B9EF0CC8}"/>
              </a:ext>
            </a:extLst>
          </p:cNvPr>
          <p:cNvSpPr>
            <a:spLocks noGrp="1"/>
          </p:cNvSpPr>
          <p:nvPr>
            <p:ph type="sldNum" sz="quarter" idx="10"/>
          </p:nvPr>
        </p:nvSpPr>
        <p:spPr>
          <a:noFill/>
        </p:spPr>
        <p:txBody>
          <a:bodyPr/>
          <a:lstStyle>
            <a:lvl1pPr>
              <a:defRPr kumimoji="1" sz="2800">
                <a:solidFill>
                  <a:schemeClr val="tx1"/>
                </a:solidFill>
                <a:latin typeface="Tahoma" panose="020B0604030504040204" pitchFamily="34" charset="0"/>
                <a:ea typeface="宋体" panose="02010600030101010101" pitchFamily="2" charset="-122"/>
              </a:defRPr>
            </a:lvl1pPr>
            <a:lvl2pPr marL="742950" indent="-285750">
              <a:defRPr kumimoji="1" sz="2800">
                <a:solidFill>
                  <a:schemeClr val="tx1"/>
                </a:solidFill>
                <a:latin typeface="Tahoma" panose="020B0604030504040204" pitchFamily="34" charset="0"/>
                <a:ea typeface="宋体" panose="02010600030101010101" pitchFamily="2" charset="-122"/>
              </a:defRPr>
            </a:lvl2pPr>
            <a:lvl3pPr marL="1143000" indent="-228600">
              <a:defRPr kumimoji="1" sz="2800">
                <a:solidFill>
                  <a:schemeClr val="tx1"/>
                </a:solidFill>
                <a:latin typeface="Tahoma" panose="020B0604030504040204" pitchFamily="34" charset="0"/>
                <a:ea typeface="宋体" panose="02010600030101010101" pitchFamily="2" charset="-122"/>
              </a:defRPr>
            </a:lvl3pPr>
            <a:lvl4pPr marL="1600200" indent="-228600">
              <a:defRPr kumimoji="1" sz="2800">
                <a:solidFill>
                  <a:schemeClr val="tx1"/>
                </a:solidFill>
                <a:latin typeface="Tahoma" panose="020B0604030504040204" pitchFamily="34" charset="0"/>
                <a:ea typeface="宋体" panose="02010600030101010101" pitchFamily="2" charset="-122"/>
              </a:defRPr>
            </a:lvl4pPr>
            <a:lvl5pPr marL="2057400" indent="-228600">
              <a:defRPr kumimoji="1"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9pPr>
          </a:lstStyle>
          <a:p>
            <a:fld id="{5D8AD5A2-EAF6-4AD2-A936-974DDEA39FC6}" type="slidenum">
              <a:rPr lang="en-US" altLang="zh-CN">
                <a:solidFill>
                  <a:srgbClr val="FF0000"/>
                </a:solidFill>
                <a:latin typeface="Times New Roman" panose="02020603050405020304" pitchFamily="18" charset="0"/>
              </a:rPr>
              <a:pPr/>
              <a:t>5</a:t>
            </a:fld>
            <a:endParaRPr lang="en-US" altLang="zh-CN">
              <a:solidFill>
                <a:srgbClr val="FF0000"/>
              </a:solidFill>
              <a:latin typeface="Times New Roman" panose="02020603050405020304" pitchFamily="18" charset="0"/>
            </a:endParaRPr>
          </a:p>
        </p:txBody>
      </p:sp>
      <p:sp>
        <p:nvSpPr>
          <p:cNvPr id="6147" name="Rectangle 2">
            <a:extLst>
              <a:ext uri="{FF2B5EF4-FFF2-40B4-BE49-F238E27FC236}">
                <a16:creationId xmlns:a16="http://schemas.microsoft.com/office/drawing/2014/main" id="{529E32F8-BE57-4E0F-AD54-F48EFE76A6D8}"/>
              </a:ext>
            </a:extLst>
          </p:cNvPr>
          <p:cNvSpPr>
            <a:spLocks noGrp="1" noChangeArrowheads="1"/>
          </p:cNvSpPr>
          <p:nvPr>
            <p:ph type="body" idx="1"/>
          </p:nvPr>
        </p:nvSpPr>
        <p:spPr bwMode="auto">
          <a:xfrm>
            <a:off x="431800" y="5373688"/>
            <a:ext cx="7235825" cy="1008062"/>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eaLnBrk="1" hangingPunct="1">
              <a:lnSpc>
                <a:spcPct val="80000"/>
              </a:lnSpc>
              <a:buFontTx/>
              <a:buNone/>
            </a:pPr>
            <a:r>
              <a:rPr lang="en-US" altLang="zh-CN" sz="1600"/>
              <a:t>	</a:t>
            </a:r>
            <a:r>
              <a:rPr lang="en-US" altLang="zh-CN" sz="2000"/>
              <a:t>1946</a:t>
            </a:r>
            <a:r>
              <a:rPr lang="zh-CN" altLang="en-US" sz="2000"/>
              <a:t>年，世界第一台电子管计算机─埃尼克（</a:t>
            </a:r>
            <a:r>
              <a:rPr lang="en-US" altLang="zh-CN" sz="2000"/>
              <a:t>ENIAC</a:t>
            </a:r>
            <a:r>
              <a:rPr lang="zh-CN" altLang="en-US" sz="2000"/>
              <a:t>，数字积分计算机）诞生，</a:t>
            </a:r>
            <a:r>
              <a:rPr lang="en-US" altLang="zh-CN" sz="2000"/>
              <a:t>ENIAC</a:t>
            </a:r>
            <a:r>
              <a:rPr lang="zh-CN" altLang="en-US" sz="2000"/>
              <a:t>长</a:t>
            </a:r>
            <a:r>
              <a:rPr lang="en-US" altLang="zh-CN" sz="2000"/>
              <a:t>30.48</a:t>
            </a:r>
            <a:r>
              <a:rPr lang="zh-CN" altLang="en-US" sz="2000"/>
              <a:t>米，宽</a:t>
            </a:r>
            <a:r>
              <a:rPr lang="en-US" altLang="zh-CN" sz="2000"/>
              <a:t>1</a:t>
            </a:r>
            <a:r>
              <a:rPr lang="zh-CN" altLang="en-US" sz="2000"/>
              <a:t>米，占地面积约</a:t>
            </a:r>
            <a:r>
              <a:rPr lang="en-US" altLang="zh-CN" sz="2000"/>
              <a:t>170</a:t>
            </a:r>
            <a:r>
              <a:rPr lang="zh-CN" altLang="en-US" sz="2000"/>
              <a:t>平方米，重达</a:t>
            </a:r>
            <a:r>
              <a:rPr lang="en-US" altLang="zh-CN" sz="2000"/>
              <a:t>30</a:t>
            </a:r>
            <a:r>
              <a:rPr lang="zh-CN" altLang="en-US" sz="2000"/>
              <a:t>吨，耗电量</a:t>
            </a:r>
            <a:r>
              <a:rPr lang="en-US" altLang="zh-CN" sz="2000"/>
              <a:t>150</a:t>
            </a:r>
            <a:r>
              <a:rPr lang="zh-CN" altLang="en-US" sz="2000"/>
              <a:t>千瓦</a:t>
            </a:r>
          </a:p>
        </p:txBody>
      </p:sp>
      <p:pic>
        <p:nvPicPr>
          <p:cNvPr id="6148" name="Picture 3" descr="01_01_01_1">
            <a:extLst>
              <a:ext uri="{FF2B5EF4-FFF2-40B4-BE49-F238E27FC236}">
                <a16:creationId xmlns:a16="http://schemas.microsoft.com/office/drawing/2014/main" id="{FB88B7D9-3845-4A85-9FC2-1AE8D06189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800" y="728663"/>
            <a:ext cx="6178550" cy="460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3">
            <a:extLst>
              <a:ext uri="{FF2B5EF4-FFF2-40B4-BE49-F238E27FC236}">
                <a16:creationId xmlns:a16="http://schemas.microsoft.com/office/drawing/2014/main" id="{1C69F4A2-FD6F-40CD-9EC4-0176FC8D6D7D}"/>
              </a:ext>
            </a:extLst>
          </p:cNvPr>
          <p:cNvSpPr>
            <a:spLocks noGrp="1"/>
          </p:cNvSpPr>
          <p:nvPr>
            <p:ph type="sldNum" sz="quarter" idx="10"/>
          </p:nvPr>
        </p:nvSpPr>
        <p:spPr>
          <a:noFill/>
        </p:spPr>
        <p:txBody>
          <a:bodyPr/>
          <a:lstStyle>
            <a:lvl1pPr>
              <a:defRPr kumimoji="1" sz="2800">
                <a:solidFill>
                  <a:schemeClr val="tx1"/>
                </a:solidFill>
                <a:latin typeface="Tahoma" panose="020B0604030504040204" pitchFamily="34" charset="0"/>
                <a:ea typeface="宋体" panose="02010600030101010101" pitchFamily="2" charset="-122"/>
              </a:defRPr>
            </a:lvl1pPr>
            <a:lvl2pPr marL="742950" indent="-285750">
              <a:defRPr kumimoji="1" sz="2800">
                <a:solidFill>
                  <a:schemeClr val="tx1"/>
                </a:solidFill>
                <a:latin typeface="Tahoma" panose="020B0604030504040204" pitchFamily="34" charset="0"/>
                <a:ea typeface="宋体" panose="02010600030101010101" pitchFamily="2" charset="-122"/>
              </a:defRPr>
            </a:lvl2pPr>
            <a:lvl3pPr marL="1143000" indent="-228600">
              <a:defRPr kumimoji="1" sz="2800">
                <a:solidFill>
                  <a:schemeClr val="tx1"/>
                </a:solidFill>
                <a:latin typeface="Tahoma" panose="020B0604030504040204" pitchFamily="34" charset="0"/>
                <a:ea typeface="宋体" panose="02010600030101010101" pitchFamily="2" charset="-122"/>
              </a:defRPr>
            </a:lvl3pPr>
            <a:lvl4pPr marL="1600200" indent="-228600">
              <a:defRPr kumimoji="1" sz="2800">
                <a:solidFill>
                  <a:schemeClr val="tx1"/>
                </a:solidFill>
                <a:latin typeface="Tahoma" panose="020B0604030504040204" pitchFamily="34" charset="0"/>
                <a:ea typeface="宋体" panose="02010600030101010101" pitchFamily="2" charset="-122"/>
              </a:defRPr>
            </a:lvl4pPr>
            <a:lvl5pPr marL="2057400" indent="-228600">
              <a:defRPr kumimoji="1"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9pPr>
          </a:lstStyle>
          <a:p>
            <a:fld id="{6D7B7075-B7F1-4D30-AB3D-1288C41BD596}" type="slidenum">
              <a:rPr lang="en-US" altLang="zh-CN">
                <a:solidFill>
                  <a:srgbClr val="FF0000"/>
                </a:solidFill>
                <a:latin typeface="Times New Roman" panose="02020603050405020304" pitchFamily="18" charset="0"/>
              </a:rPr>
              <a:pPr/>
              <a:t>6</a:t>
            </a:fld>
            <a:endParaRPr lang="en-US" altLang="zh-CN">
              <a:solidFill>
                <a:srgbClr val="FF0000"/>
              </a:solidFill>
              <a:latin typeface="Times New Roman" panose="02020603050405020304" pitchFamily="18" charset="0"/>
            </a:endParaRPr>
          </a:p>
        </p:txBody>
      </p:sp>
      <p:pic>
        <p:nvPicPr>
          <p:cNvPr id="7171" name="Picture 6" descr="01_01_01_2">
            <a:extLst>
              <a:ext uri="{FF2B5EF4-FFF2-40B4-BE49-F238E27FC236}">
                <a16:creationId xmlns:a16="http://schemas.microsoft.com/office/drawing/2014/main" id="{B719A3EF-A803-4304-95D5-33ECBFF262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6613"/>
            <a:ext cx="2987675" cy="219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7" descr="01_01_01_3">
            <a:extLst>
              <a:ext uri="{FF2B5EF4-FFF2-40B4-BE49-F238E27FC236}">
                <a16:creationId xmlns:a16="http://schemas.microsoft.com/office/drawing/2014/main" id="{18673991-0184-41AD-A78A-CAF874A95E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3913" y="836613"/>
            <a:ext cx="3097212" cy="233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8" descr="01_01_01_4">
            <a:extLst>
              <a:ext uri="{FF2B5EF4-FFF2-40B4-BE49-F238E27FC236}">
                <a16:creationId xmlns:a16="http://schemas.microsoft.com/office/drawing/2014/main" id="{A223C54B-DF74-43BC-B516-1BE0605EAD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850900"/>
            <a:ext cx="2879725" cy="232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9" descr="01_01_01_5">
            <a:extLst>
              <a:ext uri="{FF2B5EF4-FFF2-40B4-BE49-F238E27FC236}">
                <a16:creationId xmlns:a16="http://schemas.microsoft.com/office/drawing/2014/main" id="{4A1F58A8-2A88-4C5C-991B-4A29372473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465513"/>
            <a:ext cx="2987675" cy="24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5" name="Picture 10" descr="01_01_01_6">
            <a:extLst>
              <a:ext uri="{FF2B5EF4-FFF2-40B4-BE49-F238E27FC236}">
                <a16:creationId xmlns:a16="http://schemas.microsoft.com/office/drawing/2014/main" id="{6668F27C-5CEA-4CAB-8EDF-EDFB01E974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3465513"/>
            <a:ext cx="3097213"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6" name="Rectangle 11">
            <a:extLst>
              <a:ext uri="{FF2B5EF4-FFF2-40B4-BE49-F238E27FC236}">
                <a16:creationId xmlns:a16="http://schemas.microsoft.com/office/drawing/2014/main" id="{A96E4714-D2A7-4800-AE37-EF9BD9FDDE12}"/>
              </a:ext>
            </a:extLst>
          </p:cNvPr>
          <p:cNvSpPr>
            <a:spLocks noChangeArrowheads="1"/>
          </p:cNvSpPr>
          <p:nvPr/>
        </p:nvSpPr>
        <p:spPr bwMode="auto">
          <a:xfrm>
            <a:off x="0" y="3105150"/>
            <a:ext cx="2843213"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ahoma" panose="020B0604030504040204" pitchFamily="34" charset="0"/>
                <a:ea typeface="宋体" panose="02010600030101010101" pitchFamily="2" charset="-122"/>
              </a:defRPr>
            </a:lvl1pPr>
            <a:lvl2pPr marL="742950" indent="-285750">
              <a:defRPr kumimoji="1" sz="2800">
                <a:solidFill>
                  <a:schemeClr val="tx1"/>
                </a:solidFill>
                <a:latin typeface="Tahoma" panose="020B0604030504040204" pitchFamily="34" charset="0"/>
                <a:ea typeface="宋体" panose="02010600030101010101" pitchFamily="2" charset="-122"/>
              </a:defRPr>
            </a:lvl2pPr>
            <a:lvl3pPr marL="1143000" indent="-228600">
              <a:defRPr kumimoji="1" sz="2800">
                <a:solidFill>
                  <a:schemeClr val="tx1"/>
                </a:solidFill>
                <a:latin typeface="Tahoma" panose="020B0604030504040204" pitchFamily="34" charset="0"/>
                <a:ea typeface="宋体" panose="02010600030101010101" pitchFamily="2" charset="-122"/>
              </a:defRPr>
            </a:lvl3pPr>
            <a:lvl4pPr marL="1600200" indent="-228600">
              <a:defRPr kumimoji="1" sz="2800">
                <a:solidFill>
                  <a:schemeClr val="tx1"/>
                </a:solidFill>
                <a:latin typeface="Tahoma" panose="020B0604030504040204" pitchFamily="34" charset="0"/>
                <a:ea typeface="宋体" panose="02010600030101010101" pitchFamily="2" charset="-122"/>
              </a:defRPr>
            </a:lvl4pPr>
            <a:lvl5pPr marL="2057400" indent="-228600">
              <a:defRPr kumimoji="1"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9pPr>
          </a:lstStyle>
          <a:p>
            <a:pPr algn="ctr" eaLnBrk="1" hangingPunct="1"/>
            <a:r>
              <a:rPr kumimoji="0" lang="zh-CN" altLang="en-US" sz="1800">
                <a:solidFill>
                  <a:schemeClr val="tx2"/>
                </a:solidFill>
                <a:latin typeface="Arial" panose="020B0604020202020204" pitchFamily="34" charset="0"/>
              </a:rPr>
              <a:t>笔记本电脑</a:t>
            </a:r>
          </a:p>
        </p:txBody>
      </p:sp>
      <p:sp>
        <p:nvSpPr>
          <p:cNvPr id="7177" name="Rectangle 12">
            <a:extLst>
              <a:ext uri="{FF2B5EF4-FFF2-40B4-BE49-F238E27FC236}">
                <a16:creationId xmlns:a16="http://schemas.microsoft.com/office/drawing/2014/main" id="{21FFD844-1F2F-4F0D-9560-5B015B976330}"/>
              </a:ext>
            </a:extLst>
          </p:cNvPr>
          <p:cNvSpPr>
            <a:spLocks noChangeArrowheads="1"/>
          </p:cNvSpPr>
          <p:nvPr/>
        </p:nvSpPr>
        <p:spPr bwMode="auto">
          <a:xfrm>
            <a:off x="6011863" y="3176588"/>
            <a:ext cx="2843212"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ahoma" panose="020B0604030504040204" pitchFamily="34" charset="0"/>
                <a:ea typeface="宋体" panose="02010600030101010101" pitchFamily="2" charset="-122"/>
              </a:defRPr>
            </a:lvl1pPr>
            <a:lvl2pPr marL="742950" indent="-285750">
              <a:defRPr kumimoji="1" sz="2800">
                <a:solidFill>
                  <a:schemeClr val="tx1"/>
                </a:solidFill>
                <a:latin typeface="Tahoma" panose="020B0604030504040204" pitchFamily="34" charset="0"/>
                <a:ea typeface="宋体" panose="02010600030101010101" pitchFamily="2" charset="-122"/>
              </a:defRPr>
            </a:lvl2pPr>
            <a:lvl3pPr marL="1143000" indent="-228600">
              <a:defRPr kumimoji="1" sz="2800">
                <a:solidFill>
                  <a:schemeClr val="tx1"/>
                </a:solidFill>
                <a:latin typeface="Tahoma" panose="020B0604030504040204" pitchFamily="34" charset="0"/>
                <a:ea typeface="宋体" panose="02010600030101010101" pitchFamily="2" charset="-122"/>
              </a:defRPr>
            </a:lvl3pPr>
            <a:lvl4pPr marL="1600200" indent="-228600">
              <a:defRPr kumimoji="1" sz="2800">
                <a:solidFill>
                  <a:schemeClr val="tx1"/>
                </a:solidFill>
                <a:latin typeface="Tahoma" panose="020B0604030504040204" pitchFamily="34" charset="0"/>
                <a:ea typeface="宋体" panose="02010600030101010101" pitchFamily="2" charset="-122"/>
              </a:defRPr>
            </a:lvl4pPr>
            <a:lvl5pPr marL="2057400" indent="-228600">
              <a:defRPr kumimoji="1"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9pPr>
          </a:lstStyle>
          <a:p>
            <a:pPr algn="ctr" eaLnBrk="1" hangingPunct="1"/>
            <a:r>
              <a:rPr kumimoji="0" lang="zh-CN" altLang="en-US" sz="1800">
                <a:solidFill>
                  <a:schemeClr val="tx2"/>
                </a:solidFill>
                <a:latin typeface="Arial" panose="020B0604020202020204" pitchFamily="34" charset="0"/>
              </a:rPr>
              <a:t>计算机网络</a:t>
            </a:r>
          </a:p>
        </p:txBody>
      </p:sp>
      <p:sp>
        <p:nvSpPr>
          <p:cNvPr id="7178" name="Rectangle 13">
            <a:extLst>
              <a:ext uri="{FF2B5EF4-FFF2-40B4-BE49-F238E27FC236}">
                <a16:creationId xmlns:a16="http://schemas.microsoft.com/office/drawing/2014/main" id="{57156CE8-D16D-4D11-9661-69DBE3EA15E4}"/>
              </a:ext>
            </a:extLst>
          </p:cNvPr>
          <p:cNvSpPr>
            <a:spLocks noChangeArrowheads="1"/>
          </p:cNvSpPr>
          <p:nvPr/>
        </p:nvSpPr>
        <p:spPr bwMode="auto">
          <a:xfrm>
            <a:off x="3024188" y="3176588"/>
            <a:ext cx="2843212"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ahoma" panose="020B0604030504040204" pitchFamily="34" charset="0"/>
                <a:ea typeface="宋体" panose="02010600030101010101" pitchFamily="2" charset="-122"/>
              </a:defRPr>
            </a:lvl1pPr>
            <a:lvl2pPr marL="742950" indent="-285750">
              <a:defRPr kumimoji="1" sz="2800">
                <a:solidFill>
                  <a:schemeClr val="tx1"/>
                </a:solidFill>
                <a:latin typeface="Tahoma" panose="020B0604030504040204" pitchFamily="34" charset="0"/>
                <a:ea typeface="宋体" panose="02010600030101010101" pitchFamily="2" charset="-122"/>
              </a:defRPr>
            </a:lvl2pPr>
            <a:lvl3pPr marL="1143000" indent="-228600">
              <a:defRPr kumimoji="1" sz="2800">
                <a:solidFill>
                  <a:schemeClr val="tx1"/>
                </a:solidFill>
                <a:latin typeface="Tahoma" panose="020B0604030504040204" pitchFamily="34" charset="0"/>
                <a:ea typeface="宋体" panose="02010600030101010101" pitchFamily="2" charset="-122"/>
              </a:defRPr>
            </a:lvl3pPr>
            <a:lvl4pPr marL="1600200" indent="-228600">
              <a:defRPr kumimoji="1" sz="2800">
                <a:solidFill>
                  <a:schemeClr val="tx1"/>
                </a:solidFill>
                <a:latin typeface="Tahoma" panose="020B0604030504040204" pitchFamily="34" charset="0"/>
                <a:ea typeface="宋体" panose="02010600030101010101" pitchFamily="2" charset="-122"/>
              </a:defRPr>
            </a:lvl4pPr>
            <a:lvl5pPr marL="2057400" indent="-228600">
              <a:defRPr kumimoji="1"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9pPr>
          </a:lstStyle>
          <a:p>
            <a:pPr algn="ctr" eaLnBrk="1" hangingPunct="1"/>
            <a:r>
              <a:rPr kumimoji="0" lang="zh-CN" altLang="en-US" sz="1800">
                <a:solidFill>
                  <a:schemeClr val="tx2"/>
                </a:solidFill>
                <a:latin typeface="Arial" panose="020B0604020202020204" pitchFamily="34" charset="0"/>
              </a:rPr>
              <a:t>移动通信</a:t>
            </a:r>
          </a:p>
        </p:txBody>
      </p:sp>
      <p:sp>
        <p:nvSpPr>
          <p:cNvPr id="7179" name="Rectangle 14">
            <a:extLst>
              <a:ext uri="{FF2B5EF4-FFF2-40B4-BE49-F238E27FC236}">
                <a16:creationId xmlns:a16="http://schemas.microsoft.com/office/drawing/2014/main" id="{5246B83B-A7E6-429A-A53B-D7036446CCA4}"/>
              </a:ext>
            </a:extLst>
          </p:cNvPr>
          <p:cNvSpPr>
            <a:spLocks noChangeArrowheads="1"/>
          </p:cNvSpPr>
          <p:nvPr/>
        </p:nvSpPr>
        <p:spPr bwMode="auto">
          <a:xfrm>
            <a:off x="0" y="5949950"/>
            <a:ext cx="2843213"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ahoma" panose="020B0604030504040204" pitchFamily="34" charset="0"/>
                <a:ea typeface="宋体" panose="02010600030101010101" pitchFamily="2" charset="-122"/>
              </a:defRPr>
            </a:lvl1pPr>
            <a:lvl2pPr marL="742950" indent="-285750">
              <a:defRPr kumimoji="1" sz="2800">
                <a:solidFill>
                  <a:schemeClr val="tx1"/>
                </a:solidFill>
                <a:latin typeface="Tahoma" panose="020B0604030504040204" pitchFamily="34" charset="0"/>
                <a:ea typeface="宋体" panose="02010600030101010101" pitchFamily="2" charset="-122"/>
              </a:defRPr>
            </a:lvl2pPr>
            <a:lvl3pPr marL="1143000" indent="-228600">
              <a:defRPr kumimoji="1" sz="2800">
                <a:solidFill>
                  <a:schemeClr val="tx1"/>
                </a:solidFill>
                <a:latin typeface="Tahoma" panose="020B0604030504040204" pitchFamily="34" charset="0"/>
                <a:ea typeface="宋体" panose="02010600030101010101" pitchFamily="2" charset="-122"/>
              </a:defRPr>
            </a:lvl3pPr>
            <a:lvl4pPr marL="1600200" indent="-228600">
              <a:defRPr kumimoji="1" sz="2800">
                <a:solidFill>
                  <a:schemeClr val="tx1"/>
                </a:solidFill>
                <a:latin typeface="Tahoma" panose="020B0604030504040204" pitchFamily="34" charset="0"/>
                <a:ea typeface="宋体" panose="02010600030101010101" pitchFamily="2" charset="-122"/>
              </a:defRPr>
            </a:lvl4pPr>
            <a:lvl5pPr marL="2057400" indent="-228600">
              <a:defRPr kumimoji="1"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9pPr>
          </a:lstStyle>
          <a:p>
            <a:pPr algn="ctr" eaLnBrk="1" hangingPunct="1"/>
            <a:r>
              <a:rPr kumimoji="0" lang="zh-CN" altLang="en-US" sz="1800">
                <a:solidFill>
                  <a:schemeClr val="tx2"/>
                </a:solidFill>
                <a:latin typeface="Arial" panose="020B0604020202020204" pitchFamily="34" charset="0"/>
              </a:rPr>
              <a:t>智能家居</a:t>
            </a:r>
          </a:p>
        </p:txBody>
      </p:sp>
      <p:sp>
        <p:nvSpPr>
          <p:cNvPr id="7180" name="Rectangle 15">
            <a:extLst>
              <a:ext uri="{FF2B5EF4-FFF2-40B4-BE49-F238E27FC236}">
                <a16:creationId xmlns:a16="http://schemas.microsoft.com/office/drawing/2014/main" id="{5A655E63-71AB-4C3C-8C49-08AB9BD553E4}"/>
              </a:ext>
            </a:extLst>
          </p:cNvPr>
          <p:cNvSpPr>
            <a:spLocks noChangeArrowheads="1"/>
          </p:cNvSpPr>
          <p:nvPr/>
        </p:nvSpPr>
        <p:spPr bwMode="auto">
          <a:xfrm>
            <a:off x="3132138" y="5949950"/>
            <a:ext cx="2843212"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ahoma" panose="020B0604030504040204" pitchFamily="34" charset="0"/>
                <a:ea typeface="宋体" panose="02010600030101010101" pitchFamily="2" charset="-122"/>
              </a:defRPr>
            </a:lvl1pPr>
            <a:lvl2pPr marL="742950" indent="-285750">
              <a:defRPr kumimoji="1" sz="2800">
                <a:solidFill>
                  <a:schemeClr val="tx1"/>
                </a:solidFill>
                <a:latin typeface="Tahoma" panose="020B0604030504040204" pitchFamily="34" charset="0"/>
                <a:ea typeface="宋体" panose="02010600030101010101" pitchFamily="2" charset="-122"/>
              </a:defRPr>
            </a:lvl2pPr>
            <a:lvl3pPr marL="1143000" indent="-228600">
              <a:defRPr kumimoji="1" sz="2800">
                <a:solidFill>
                  <a:schemeClr val="tx1"/>
                </a:solidFill>
                <a:latin typeface="Tahoma" panose="020B0604030504040204" pitchFamily="34" charset="0"/>
                <a:ea typeface="宋体" panose="02010600030101010101" pitchFamily="2" charset="-122"/>
              </a:defRPr>
            </a:lvl3pPr>
            <a:lvl4pPr marL="1600200" indent="-228600">
              <a:defRPr kumimoji="1" sz="2800">
                <a:solidFill>
                  <a:schemeClr val="tx1"/>
                </a:solidFill>
                <a:latin typeface="Tahoma" panose="020B0604030504040204" pitchFamily="34" charset="0"/>
                <a:ea typeface="宋体" panose="02010600030101010101" pitchFamily="2" charset="-122"/>
              </a:defRPr>
            </a:lvl4pPr>
            <a:lvl5pPr marL="2057400" indent="-228600">
              <a:defRPr kumimoji="1"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9pPr>
          </a:lstStyle>
          <a:p>
            <a:pPr algn="ctr" eaLnBrk="1" hangingPunct="1"/>
            <a:r>
              <a:rPr kumimoji="0" lang="zh-CN" altLang="en-US" sz="1800">
                <a:solidFill>
                  <a:schemeClr val="tx2"/>
                </a:solidFill>
                <a:latin typeface="Arial" panose="020B0604020202020204" pitchFamily="34" charset="0"/>
              </a:rPr>
              <a:t>办公自动化</a:t>
            </a:r>
          </a:p>
        </p:txBody>
      </p:sp>
      <p:sp>
        <p:nvSpPr>
          <p:cNvPr id="7181" name="Rectangle 16">
            <a:extLst>
              <a:ext uri="{FF2B5EF4-FFF2-40B4-BE49-F238E27FC236}">
                <a16:creationId xmlns:a16="http://schemas.microsoft.com/office/drawing/2014/main" id="{675B2F06-743A-48E0-BED8-A69256C52BB6}"/>
              </a:ext>
            </a:extLst>
          </p:cNvPr>
          <p:cNvSpPr>
            <a:spLocks noChangeArrowheads="1"/>
          </p:cNvSpPr>
          <p:nvPr/>
        </p:nvSpPr>
        <p:spPr bwMode="auto">
          <a:xfrm>
            <a:off x="6156325" y="5949950"/>
            <a:ext cx="2843213"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ahoma" panose="020B0604030504040204" pitchFamily="34" charset="0"/>
                <a:ea typeface="宋体" panose="02010600030101010101" pitchFamily="2" charset="-122"/>
              </a:defRPr>
            </a:lvl1pPr>
            <a:lvl2pPr marL="742950" indent="-285750">
              <a:defRPr kumimoji="1" sz="2800">
                <a:solidFill>
                  <a:schemeClr val="tx1"/>
                </a:solidFill>
                <a:latin typeface="Tahoma" panose="020B0604030504040204" pitchFamily="34" charset="0"/>
                <a:ea typeface="宋体" panose="02010600030101010101" pitchFamily="2" charset="-122"/>
              </a:defRPr>
            </a:lvl2pPr>
            <a:lvl3pPr marL="1143000" indent="-228600">
              <a:defRPr kumimoji="1" sz="2800">
                <a:solidFill>
                  <a:schemeClr val="tx1"/>
                </a:solidFill>
                <a:latin typeface="Tahoma" panose="020B0604030504040204" pitchFamily="34" charset="0"/>
                <a:ea typeface="宋体" panose="02010600030101010101" pitchFamily="2" charset="-122"/>
              </a:defRPr>
            </a:lvl3pPr>
            <a:lvl4pPr marL="1600200" indent="-228600">
              <a:defRPr kumimoji="1" sz="2800">
                <a:solidFill>
                  <a:schemeClr val="tx1"/>
                </a:solidFill>
                <a:latin typeface="Tahoma" panose="020B0604030504040204" pitchFamily="34" charset="0"/>
                <a:ea typeface="宋体" panose="02010600030101010101" pitchFamily="2" charset="-122"/>
              </a:defRPr>
            </a:lvl4pPr>
            <a:lvl5pPr marL="2057400" indent="-228600">
              <a:defRPr kumimoji="1"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9pPr>
          </a:lstStyle>
          <a:p>
            <a:pPr algn="ctr" eaLnBrk="1" hangingPunct="1"/>
            <a:r>
              <a:rPr kumimoji="0" lang="zh-CN" altLang="en-US" sz="1800">
                <a:solidFill>
                  <a:schemeClr val="tx2"/>
                </a:solidFill>
                <a:latin typeface="Arial" panose="020B0604020202020204" pitchFamily="34" charset="0"/>
              </a:rPr>
              <a:t>工业自动化</a:t>
            </a:r>
          </a:p>
        </p:txBody>
      </p:sp>
      <p:sp>
        <p:nvSpPr>
          <p:cNvPr id="7182" name="Rectangle 18">
            <a:extLst>
              <a:ext uri="{FF2B5EF4-FFF2-40B4-BE49-F238E27FC236}">
                <a16:creationId xmlns:a16="http://schemas.microsoft.com/office/drawing/2014/main" id="{70853AFD-C009-4B2C-B74A-7662C713873B}"/>
              </a:ext>
            </a:extLst>
          </p:cNvPr>
          <p:cNvSpPr>
            <a:spLocks noGrp="1" noChangeArrowheads="1"/>
          </p:cNvSpPr>
          <p:nvPr>
            <p:ph type="title"/>
          </p:nvPr>
        </p:nvSpPr>
        <p:spPr bwMode="auto">
          <a:xfrm>
            <a:off x="431800" y="0"/>
            <a:ext cx="8229600" cy="6334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eaLnBrk="1" hangingPunct="1"/>
            <a:r>
              <a:rPr lang="zh-CN" altLang="en-US" sz="4000" dirty="0"/>
              <a:t>集成电路无处不在</a:t>
            </a:r>
          </a:p>
        </p:txBody>
      </p:sp>
      <p:pic>
        <p:nvPicPr>
          <p:cNvPr id="7183" name="Picture 19" descr="01_02_03_2">
            <a:extLst>
              <a:ext uri="{FF2B5EF4-FFF2-40B4-BE49-F238E27FC236}">
                <a16:creationId xmlns:a16="http://schemas.microsoft.com/office/drawing/2014/main" id="{238C546A-97F4-46B0-AB89-50B80F9AAE1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19813" y="3500438"/>
            <a:ext cx="2916237" cy="238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a:extLst>
              <a:ext uri="{FF2B5EF4-FFF2-40B4-BE49-F238E27FC236}">
                <a16:creationId xmlns:a16="http://schemas.microsoft.com/office/drawing/2014/main" id="{9F3BA963-517A-489A-A861-67D05284BB32}"/>
              </a:ext>
            </a:extLst>
          </p:cNvPr>
          <p:cNvSpPr>
            <a:spLocks noGrp="1"/>
          </p:cNvSpPr>
          <p:nvPr>
            <p:ph type="sldNum" sz="quarter" idx="10"/>
          </p:nvPr>
        </p:nvSpPr>
        <p:spPr>
          <a:noFill/>
        </p:spPr>
        <p:txBody>
          <a:bodyPr/>
          <a:lstStyle>
            <a:lvl1pPr>
              <a:defRPr kumimoji="1" sz="2800">
                <a:solidFill>
                  <a:schemeClr val="tx1"/>
                </a:solidFill>
                <a:latin typeface="Tahoma" panose="020B0604030504040204" pitchFamily="34" charset="0"/>
                <a:ea typeface="宋体" panose="02010600030101010101" pitchFamily="2" charset="-122"/>
              </a:defRPr>
            </a:lvl1pPr>
            <a:lvl2pPr marL="742950" indent="-285750">
              <a:defRPr kumimoji="1" sz="2800">
                <a:solidFill>
                  <a:schemeClr val="tx1"/>
                </a:solidFill>
                <a:latin typeface="Tahoma" panose="020B0604030504040204" pitchFamily="34" charset="0"/>
                <a:ea typeface="宋体" panose="02010600030101010101" pitchFamily="2" charset="-122"/>
              </a:defRPr>
            </a:lvl2pPr>
            <a:lvl3pPr marL="1143000" indent="-228600">
              <a:defRPr kumimoji="1" sz="2800">
                <a:solidFill>
                  <a:schemeClr val="tx1"/>
                </a:solidFill>
                <a:latin typeface="Tahoma" panose="020B0604030504040204" pitchFamily="34" charset="0"/>
                <a:ea typeface="宋体" panose="02010600030101010101" pitchFamily="2" charset="-122"/>
              </a:defRPr>
            </a:lvl3pPr>
            <a:lvl4pPr marL="1600200" indent="-228600">
              <a:defRPr kumimoji="1" sz="2800">
                <a:solidFill>
                  <a:schemeClr val="tx1"/>
                </a:solidFill>
                <a:latin typeface="Tahoma" panose="020B0604030504040204" pitchFamily="34" charset="0"/>
                <a:ea typeface="宋体" panose="02010600030101010101" pitchFamily="2" charset="-122"/>
              </a:defRPr>
            </a:lvl4pPr>
            <a:lvl5pPr marL="2057400" indent="-228600">
              <a:defRPr kumimoji="1"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9pPr>
          </a:lstStyle>
          <a:p>
            <a:fld id="{9DED4D5F-071D-4ED9-A0F7-33C899E4CFB9}" type="slidenum">
              <a:rPr lang="en-US" altLang="zh-CN">
                <a:solidFill>
                  <a:srgbClr val="FF0000"/>
                </a:solidFill>
                <a:latin typeface="Times New Roman" panose="02020603050405020304" pitchFamily="18" charset="0"/>
              </a:rPr>
              <a:pPr/>
              <a:t>7</a:t>
            </a:fld>
            <a:endParaRPr lang="en-US" altLang="zh-CN">
              <a:solidFill>
                <a:srgbClr val="FF0000"/>
              </a:solidFill>
              <a:latin typeface="Times New Roman" panose="02020603050405020304" pitchFamily="18" charset="0"/>
            </a:endParaRPr>
          </a:p>
        </p:txBody>
      </p:sp>
      <p:sp>
        <p:nvSpPr>
          <p:cNvPr id="17411" name="Rectangle 2">
            <a:extLst>
              <a:ext uri="{FF2B5EF4-FFF2-40B4-BE49-F238E27FC236}">
                <a16:creationId xmlns:a16="http://schemas.microsoft.com/office/drawing/2014/main" id="{0218FCAB-37D4-468D-B372-A3BB0CDA3286}"/>
              </a:ext>
            </a:extLst>
          </p:cNvPr>
          <p:cNvSpPr>
            <a:spLocks noGrp="1" noChangeArrowheads="1"/>
          </p:cNvSpPr>
          <p:nvPr>
            <p:ph type="title"/>
          </p:nvPr>
        </p:nvSpPr>
        <p:spPr bwMode="auto">
          <a:xfrm>
            <a:off x="468313" y="0"/>
            <a:ext cx="8229600" cy="6921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eaLnBrk="1" hangingPunct="1"/>
            <a:r>
              <a:rPr lang="en-US" altLang="zh-CN" sz="4000"/>
              <a:t>IPHONE4S </a:t>
            </a:r>
            <a:r>
              <a:rPr lang="zh-CN" altLang="en-US" sz="4000"/>
              <a:t>拆解图</a:t>
            </a:r>
          </a:p>
        </p:txBody>
      </p:sp>
      <p:sp>
        <p:nvSpPr>
          <p:cNvPr id="17412" name="Rectangle 3">
            <a:extLst>
              <a:ext uri="{FF2B5EF4-FFF2-40B4-BE49-F238E27FC236}">
                <a16:creationId xmlns:a16="http://schemas.microsoft.com/office/drawing/2014/main" id="{8AB0A8B1-4E0F-442A-9EF7-1CF45838F1D6}"/>
              </a:ext>
            </a:extLst>
          </p:cNvPr>
          <p:cNvSpPr>
            <a:spLocks noGrp="1" noChangeArrowheads="1"/>
          </p:cNvSpPr>
          <p:nvPr>
            <p:ph type="body" idx="1"/>
          </p:nvPr>
        </p:nvSpPr>
        <p:spPr bwMode="auto">
          <a:xfrm>
            <a:off x="457200" y="1600200"/>
            <a:ext cx="8229600" cy="45259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eaLnBrk="1" hangingPunct="1"/>
            <a:endParaRPr lang="zh-CN" altLang="zh-CN"/>
          </a:p>
        </p:txBody>
      </p:sp>
      <p:pic>
        <p:nvPicPr>
          <p:cNvPr id="17413" name="Picture 4" descr="iphone4s_拆解图">
            <a:extLst>
              <a:ext uri="{FF2B5EF4-FFF2-40B4-BE49-F238E27FC236}">
                <a16:creationId xmlns:a16="http://schemas.microsoft.com/office/drawing/2014/main" id="{8626CCCE-6C39-47CE-8E2C-4413C3C86A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3" y="981075"/>
            <a:ext cx="8929687" cy="542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a:extLst>
              <a:ext uri="{FF2B5EF4-FFF2-40B4-BE49-F238E27FC236}">
                <a16:creationId xmlns:a16="http://schemas.microsoft.com/office/drawing/2014/main" id="{467FC3A1-978B-4984-B0D8-B826F0C88F63}"/>
              </a:ext>
            </a:extLst>
          </p:cNvPr>
          <p:cNvSpPr>
            <a:spLocks noGrp="1"/>
          </p:cNvSpPr>
          <p:nvPr>
            <p:ph type="sldNum" sz="quarter" idx="10"/>
          </p:nvPr>
        </p:nvSpPr>
        <p:spPr>
          <a:noFill/>
        </p:spPr>
        <p:txBody>
          <a:bodyPr/>
          <a:lstStyle>
            <a:lvl1pPr>
              <a:defRPr kumimoji="1" sz="2800">
                <a:solidFill>
                  <a:schemeClr val="tx1"/>
                </a:solidFill>
                <a:latin typeface="Tahoma" panose="020B0604030504040204" pitchFamily="34" charset="0"/>
                <a:ea typeface="宋体" panose="02010600030101010101" pitchFamily="2" charset="-122"/>
              </a:defRPr>
            </a:lvl1pPr>
            <a:lvl2pPr marL="742950" indent="-285750">
              <a:defRPr kumimoji="1" sz="2800">
                <a:solidFill>
                  <a:schemeClr val="tx1"/>
                </a:solidFill>
                <a:latin typeface="Tahoma" panose="020B0604030504040204" pitchFamily="34" charset="0"/>
                <a:ea typeface="宋体" panose="02010600030101010101" pitchFamily="2" charset="-122"/>
              </a:defRPr>
            </a:lvl2pPr>
            <a:lvl3pPr marL="1143000" indent="-228600">
              <a:defRPr kumimoji="1" sz="2800">
                <a:solidFill>
                  <a:schemeClr val="tx1"/>
                </a:solidFill>
                <a:latin typeface="Tahoma" panose="020B0604030504040204" pitchFamily="34" charset="0"/>
                <a:ea typeface="宋体" panose="02010600030101010101" pitchFamily="2" charset="-122"/>
              </a:defRPr>
            </a:lvl3pPr>
            <a:lvl4pPr marL="1600200" indent="-228600">
              <a:defRPr kumimoji="1" sz="2800">
                <a:solidFill>
                  <a:schemeClr val="tx1"/>
                </a:solidFill>
                <a:latin typeface="Tahoma" panose="020B0604030504040204" pitchFamily="34" charset="0"/>
                <a:ea typeface="宋体" panose="02010600030101010101" pitchFamily="2" charset="-122"/>
              </a:defRPr>
            </a:lvl4pPr>
            <a:lvl5pPr marL="2057400" indent="-228600">
              <a:defRPr kumimoji="1"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9pPr>
          </a:lstStyle>
          <a:p>
            <a:fld id="{457E88EF-E3E3-4101-8782-72C675F45B5F}" type="slidenum">
              <a:rPr lang="en-US" altLang="zh-CN">
                <a:solidFill>
                  <a:srgbClr val="FF0000"/>
                </a:solidFill>
                <a:latin typeface="Times New Roman" panose="02020603050405020304" pitchFamily="18" charset="0"/>
              </a:rPr>
              <a:pPr/>
              <a:t>8</a:t>
            </a:fld>
            <a:endParaRPr lang="en-US" altLang="zh-CN">
              <a:solidFill>
                <a:srgbClr val="FF0000"/>
              </a:solidFill>
              <a:latin typeface="Times New Roman" panose="02020603050405020304" pitchFamily="18" charset="0"/>
            </a:endParaRPr>
          </a:p>
        </p:txBody>
      </p:sp>
      <p:pic>
        <p:nvPicPr>
          <p:cNvPr id="18435" name="Picture 5">
            <a:extLst>
              <a:ext uri="{FF2B5EF4-FFF2-40B4-BE49-F238E27FC236}">
                <a16:creationId xmlns:a16="http://schemas.microsoft.com/office/drawing/2014/main" id="{93BBB8D6-B738-461E-B811-31CCFA65BA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75" y="692150"/>
            <a:ext cx="2644775" cy="565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6" name="Picture 7">
            <a:extLst>
              <a:ext uri="{FF2B5EF4-FFF2-40B4-BE49-F238E27FC236}">
                <a16:creationId xmlns:a16="http://schemas.microsoft.com/office/drawing/2014/main" id="{85FBD6B5-51C0-4DC6-AADD-DC0DEB11C8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213" y="333375"/>
            <a:ext cx="6186487"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Rectangle 8">
            <a:extLst>
              <a:ext uri="{FF2B5EF4-FFF2-40B4-BE49-F238E27FC236}">
                <a16:creationId xmlns:a16="http://schemas.microsoft.com/office/drawing/2014/main" id="{B45EFBDE-AE84-415F-8785-33D72F2B169D}"/>
              </a:ext>
            </a:extLst>
          </p:cNvPr>
          <p:cNvSpPr>
            <a:spLocks noChangeArrowheads="1"/>
          </p:cNvSpPr>
          <p:nvPr/>
        </p:nvSpPr>
        <p:spPr bwMode="auto">
          <a:xfrm>
            <a:off x="2843213" y="3752850"/>
            <a:ext cx="3744912"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ahoma" panose="020B0604030504040204" pitchFamily="34" charset="0"/>
                <a:ea typeface="宋体" panose="02010600030101010101" pitchFamily="2" charset="-122"/>
              </a:defRPr>
            </a:lvl1pPr>
            <a:lvl2pPr marL="742950" indent="-285750">
              <a:defRPr kumimoji="1" sz="2800">
                <a:solidFill>
                  <a:schemeClr val="tx1"/>
                </a:solidFill>
                <a:latin typeface="Tahoma" panose="020B0604030504040204" pitchFamily="34" charset="0"/>
                <a:ea typeface="宋体" panose="02010600030101010101" pitchFamily="2" charset="-122"/>
              </a:defRPr>
            </a:lvl2pPr>
            <a:lvl3pPr marL="1143000" indent="-228600">
              <a:defRPr kumimoji="1" sz="2800">
                <a:solidFill>
                  <a:schemeClr val="tx1"/>
                </a:solidFill>
                <a:latin typeface="Tahoma" panose="020B0604030504040204" pitchFamily="34" charset="0"/>
                <a:ea typeface="宋体" panose="02010600030101010101" pitchFamily="2" charset="-122"/>
              </a:defRPr>
            </a:lvl3pPr>
            <a:lvl4pPr marL="1600200" indent="-228600">
              <a:defRPr kumimoji="1" sz="2800">
                <a:solidFill>
                  <a:schemeClr val="tx1"/>
                </a:solidFill>
                <a:latin typeface="Tahoma" panose="020B0604030504040204" pitchFamily="34" charset="0"/>
                <a:ea typeface="宋体" panose="02010600030101010101" pitchFamily="2" charset="-122"/>
              </a:defRPr>
            </a:lvl4pPr>
            <a:lvl5pPr marL="2057400" indent="-228600">
              <a:defRPr kumimoji="1" sz="28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ahoma" panose="020B0604030504040204" pitchFamily="34" charset="0"/>
                <a:ea typeface="宋体" panose="02010600030101010101" pitchFamily="2" charset="-122"/>
              </a:defRPr>
            </a:lvl9pPr>
          </a:lstStyle>
          <a:p>
            <a:pPr eaLnBrk="1" hangingPunct="1"/>
            <a:r>
              <a:rPr lang="en-US" altLang="zh-CN" sz="2000" dirty="0"/>
              <a:t>-</a:t>
            </a:r>
            <a:r>
              <a:rPr lang="zh-CN" altLang="en-US" sz="2000" dirty="0"/>
              <a:t>红色：苹果定制</a:t>
            </a:r>
            <a:r>
              <a:rPr lang="en-US" altLang="zh-CN" sz="2000" dirty="0"/>
              <a:t>A5</a:t>
            </a:r>
            <a:r>
              <a:rPr lang="zh-CN" altLang="en-US" sz="2000" dirty="0"/>
              <a:t>双核处理器</a:t>
            </a:r>
          </a:p>
          <a:p>
            <a:pPr eaLnBrk="1" hangingPunct="1"/>
            <a:r>
              <a:rPr lang="en-US" altLang="zh-CN" sz="2000" dirty="0"/>
              <a:t>-</a:t>
            </a:r>
            <a:r>
              <a:rPr lang="zh-CN" altLang="en-US" sz="2000" dirty="0"/>
              <a:t>绿色：</a:t>
            </a:r>
            <a:r>
              <a:rPr lang="en-US" altLang="zh-CN" sz="2000" dirty="0"/>
              <a:t>Avago ACPM-71811</a:t>
            </a:r>
          </a:p>
          <a:p>
            <a:pPr eaLnBrk="1" hangingPunct="1"/>
            <a:r>
              <a:rPr lang="zh-CN" altLang="en-US" sz="2000" dirty="0"/>
              <a:t>功率放大器</a:t>
            </a:r>
          </a:p>
          <a:p>
            <a:pPr eaLnBrk="1" hangingPunct="1"/>
            <a:r>
              <a:rPr lang="en-US" altLang="zh-CN" sz="2000" dirty="0"/>
              <a:t>-</a:t>
            </a:r>
            <a:r>
              <a:rPr lang="zh-CN" altLang="en-US" sz="2000" dirty="0"/>
              <a:t>橙色：高通</a:t>
            </a:r>
            <a:r>
              <a:rPr lang="en-US" altLang="zh-CN" sz="2000" dirty="0"/>
              <a:t>RER8605</a:t>
            </a:r>
            <a:r>
              <a:rPr lang="zh-CN" altLang="en-US" sz="2000" dirty="0"/>
              <a:t>无线芯片</a:t>
            </a:r>
          </a:p>
          <a:p>
            <a:pPr eaLnBrk="1" hangingPunct="1"/>
            <a:r>
              <a:rPr lang="en-US" altLang="zh-CN" sz="2000" dirty="0"/>
              <a:t>-</a:t>
            </a:r>
            <a:r>
              <a:rPr lang="zh-CN" altLang="en-US" sz="2000" dirty="0"/>
              <a:t>黄色：</a:t>
            </a:r>
            <a:r>
              <a:rPr lang="en-US" altLang="zh-CN" sz="2000" dirty="0"/>
              <a:t>Skyworks 7764-20</a:t>
            </a:r>
          </a:p>
          <a:p>
            <a:pPr eaLnBrk="1" hangingPunct="1"/>
            <a:r>
              <a:rPr lang="en-US" altLang="zh-CN" sz="2000" dirty="0"/>
              <a:t>-</a:t>
            </a:r>
            <a:r>
              <a:rPr lang="zh-CN" altLang="en-US" sz="2000" dirty="0"/>
              <a:t>蓝色：</a:t>
            </a:r>
            <a:r>
              <a:rPr lang="en-US" altLang="zh-CN" sz="2000" dirty="0" err="1"/>
              <a:t>TriQuint</a:t>
            </a:r>
            <a:r>
              <a:rPr lang="en-US" altLang="zh-CN" sz="2000" dirty="0"/>
              <a:t> TQM9M9030</a:t>
            </a:r>
          </a:p>
          <a:p>
            <a:pPr eaLnBrk="1" hangingPunct="1"/>
            <a:r>
              <a:rPr lang="zh-CN" altLang="en-US" sz="2000" dirty="0"/>
              <a:t>多模四频功率放大器模块</a:t>
            </a:r>
          </a:p>
          <a:p>
            <a:pPr eaLnBrk="1" hangingPunct="1"/>
            <a:r>
              <a:rPr lang="en-US" altLang="zh-CN" sz="2000" dirty="0"/>
              <a:t>-</a:t>
            </a:r>
            <a:r>
              <a:rPr lang="zh-CN" altLang="en-US" sz="2000" dirty="0"/>
              <a:t>紫色：</a:t>
            </a:r>
            <a:r>
              <a:rPr lang="en-US" altLang="zh-CN" sz="2000" dirty="0" err="1"/>
              <a:t>TriQuint</a:t>
            </a:r>
            <a:r>
              <a:rPr lang="en-US" altLang="zh-CN" sz="2000" dirty="0"/>
              <a:t> TQM66052</a:t>
            </a:r>
          </a:p>
        </p:txBody>
      </p:sp>
      <p:pic>
        <p:nvPicPr>
          <p:cNvPr id="18438" name="Picture 31">
            <a:extLst>
              <a:ext uri="{FF2B5EF4-FFF2-40B4-BE49-F238E27FC236}">
                <a16:creationId xmlns:a16="http://schemas.microsoft.com/office/drawing/2014/main" id="{289A507A-42B7-41AC-80E5-8272AA3C7E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0175" y="3752850"/>
            <a:ext cx="2555875" cy="270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D85D8-4E81-48DD-8DA7-3347CA76EC71}"/>
              </a:ext>
            </a:extLst>
          </p:cNvPr>
          <p:cNvSpPr>
            <a:spLocks noGrp="1"/>
          </p:cNvSpPr>
          <p:nvPr>
            <p:ph type="title"/>
          </p:nvPr>
        </p:nvSpPr>
        <p:spPr>
          <a:xfrm>
            <a:off x="156103" y="11266"/>
            <a:ext cx="8229600" cy="897454"/>
          </a:xfrm>
        </p:spPr>
        <p:txBody>
          <a:bodyPr/>
          <a:lstStyle/>
          <a:p>
            <a:r>
              <a:rPr lang="en-US" altLang="zh-CN" dirty="0"/>
              <a:t>1.2 </a:t>
            </a:r>
            <a:r>
              <a:rPr lang="zh-CN" altLang="en-US" dirty="0"/>
              <a:t>概念和术语</a:t>
            </a:r>
          </a:p>
        </p:txBody>
      </p:sp>
      <p:sp>
        <p:nvSpPr>
          <p:cNvPr id="5" name="矩形 4">
            <a:extLst>
              <a:ext uri="{FF2B5EF4-FFF2-40B4-BE49-F238E27FC236}">
                <a16:creationId xmlns:a16="http://schemas.microsoft.com/office/drawing/2014/main" id="{1E2ED1F1-6E0A-4664-8D1A-90FAB810303F}"/>
              </a:ext>
            </a:extLst>
          </p:cNvPr>
          <p:cNvSpPr/>
          <p:nvPr/>
        </p:nvSpPr>
        <p:spPr>
          <a:xfrm>
            <a:off x="269776" y="1124744"/>
            <a:ext cx="7110536" cy="738664"/>
          </a:xfrm>
          <a:prstGeom prst="rect">
            <a:avLst/>
          </a:prstGeom>
        </p:spPr>
        <p:txBody>
          <a:bodyPr wrap="square">
            <a:spAutoFit/>
          </a:bodyPr>
          <a:lstStyle/>
          <a:p>
            <a:pPr algn="just">
              <a:spcAft>
                <a:spcPts val="0"/>
              </a:spcAft>
            </a:pPr>
            <a:r>
              <a:rPr lang="en-US" altLang="zh-CN" sz="2400" kern="100" dirty="0">
                <a:latin typeface="Times New Roman" panose="02020603050405020304" pitchFamily="18" charset="0"/>
              </a:rPr>
              <a:t>1.2.1 </a:t>
            </a:r>
            <a:r>
              <a:rPr lang="zh-CN" altLang="en-US" sz="2400" kern="100" dirty="0">
                <a:latin typeface="Times New Roman" panose="02020603050405020304" pitchFamily="18" charset="0"/>
              </a:rPr>
              <a:t>芯片规模</a:t>
            </a:r>
            <a:endParaRPr lang="en-US" altLang="zh-CN" sz="2400" kern="100" dirty="0">
              <a:latin typeface="Times New Roman" panose="02020603050405020304" pitchFamily="18" charset="0"/>
              <a:cs typeface="Times New Roman" panose="02020603050405020304" pitchFamily="18" charset="0"/>
            </a:endParaRPr>
          </a:p>
          <a:p>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457200" y="1600201"/>
            <a:ext cx="8229600" cy="2908920"/>
          </a:xfrm>
        </p:spPr>
        <p:txBody>
          <a:bodyPr/>
          <a:lstStyle/>
          <a:p>
            <a:r>
              <a:rPr lang="zh-CN" altLang="en-US" sz="2400" dirty="0"/>
              <a:t>芯片尺寸（</a:t>
            </a:r>
            <a:r>
              <a:rPr lang="en-US" altLang="zh-CN" sz="2400" dirty="0"/>
              <a:t> Die Size </a:t>
            </a:r>
            <a:r>
              <a:rPr lang="zh-CN" altLang="en-US" sz="2400" dirty="0"/>
              <a:t>）</a:t>
            </a:r>
            <a:endParaRPr lang="en-US" altLang="zh-CN" sz="2400" dirty="0"/>
          </a:p>
          <a:p>
            <a:pPr marL="0" indent="0">
              <a:buNone/>
            </a:pPr>
            <a:r>
              <a:rPr lang="en-US" altLang="zh-CN" sz="2400" dirty="0"/>
              <a:t> </a:t>
            </a:r>
            <a:r>
              <a:rPr lang="zh-CN" altLang="en-US" sz="2400" dirty="0"/>
              <a:t>电路的几何尺寸和工艺相关，无法直接比较</a:t>
            </a:r>
            <a:endParaRPr lang="en-US" altLang="zh-CN" sz="2400" dirty="0"/>
          </a:p>
          <a:p>
            <a:r>
              <a:rPr lang="zh-CN" altLang="en-US" sz="2400" b="1" dirty="0"/>
              <a:t>晶体管数量（</a:t>
            </a:r>
            <a:r>
              <a:rPr lang="en-US" altLang="zh-CN" sz="2400" b="1" dirty="0"/>
              <a:t> Transistor count </a:t>
            </a:r>
            <a:r>
              <a:rPr lang="zh-CN" altLang="en-US" sz="2400" b="1" dirty="0"/>
              <a:t>）</a:t>
            </a:r>
            <a:endParaRPr lang="en-US" altLang="zh-CN" sz="2400" b="1" dirty="0"/>
          </a:p>
          <a:p>
            <a:r>
              <a:rPr lang="zh-CN" altLang="en-US" sz="2400" b="1" dirty="0"/>
              <a:t>等效门（</a:t>
            </a:r>
            <a:r>
              <a:rPr lang="en-US" altLang="zh-CN" sz="2400" b="1" dirty="0"/>
              <a:t> Gate equivalents</a:t>
            </a:r>
            <a:r>
              <a:rPr lang="en-US" altLang="zh-CN" sz="2400" dirty="0"/>
              <a:t> </a:t>
            </a:r>
            <a:r>
              <a:rPr lang="zh-CN" altLang="en-US" sz="2400" b="1" dirty="0"/>
              <a:t>）</a:t>
            </a:r>
            <a:endParaRPr lang="en-US" altLang="zh-CN" sz="2400" dirty="0"/>
          </a:p>
          <a:p>
            <a:pPr marL="0" indent="0">
              <a:buNone/>
            </a:pPr>
            <a:r>
              <a:rPr lang="en-US" altLang="zh-CN" sz="2400" dirty="0"/>
              <a:t> </a:t>
            </a:r>
            <a:r>
              <a:rPr lang="zh-CN" altLang="en-US" sz="2400" dirty="0"/>
              <a:t>一个</a:t>
            </a:r>
            <a:r>
              <a:rPr lang="en-US" altLang="zh-CN" sz="2400" dirty="0"/>
              <a:t>GE</a:t>
            </a:r>
            <a:r>
              <a:rPr lang="zh-CN" altLang="en-US" sz="2400" dirty="0"/>
              <a:t>代表两输入的与非门（</a:t>
            </a:r>
            <a:r>
              <a:rPr lang="en-US" altLang="zh-CN" sz="2400" dirty="0"/>
              <a:t>NAND</a:t>
            </a:r>
            <a:r>
              <a:rPr lang="zh-CN" altLang="en-US" sz="2400" dirty="0"/>
              <a:t>），并对应了</a:t>
            </a:r>
            <a:r>
              <a:rPr lang="en-US" altLang="zh-CN" sz="2400" dirty="0"/>
              <a:t>CMOS</a:t>
            </a:r>
            <a:r>
              <a:rPr lang="zh-CN" altLang="en-US" sz="2400" dirty="0"/>
              <a:t>中的</a:t>
            </a:r>
            <a:r>
              <a:rPr lang="en-US" altLang="zh-CN" sz="2400" dirty="0"/>
              <a:t>4</a:t>
            </a:r>
            <a:r>
              <a:rPr lang="zh-CN" altLang="en-US" sz="2400" dirty="0"/>
              <a:t>个</a:t>
            </a:r>
            <a:r>
              <a:rPr lang="en-US" altLang="zh-CN" sz="2400" dirty="0"/>
              <a:t>MOSFET</a:t>
            </a:r>
            <a:r>
              <a:rPr lang="zh-CN" altLang="en-US" sz="2400" dirty="0"/>
              <a:t>；</a:t>
            </a:r>
            <a:br>
              <a:rPr lang="en-US" altLang="zh-CN" sz="2400" dirty="0"/>
            </a:br>
            <a:endParaRPr lang="zh-CN" altLang="en-US" sz="2400" dirty="0"/>
          </a:p>
        </p:txBody>
      </p:sp>
      <p:pic>
        <p:nvPicPr>
          <p:cNvPr id="8" name="图片 7">
            <a:extLst>
              <a:ext uri="{FF2B5EF4-FFF2-40B4-BE49-F238E27FC236}">
                <a16:creationId xmlns:a16="http://schemas.microsoft.com/office/drawing/2014/main" id="{5F846387-F136-440F-A20A-246A7E99F2A7}"/>
              </a:ext>
            </a:extLst>
          </p:cNvPr>
          <p:cNvPicPr>
            <a:picLocks noChangeAspect="1"/>
          </p:cNvPicPr>
          <p:nvPr/>
        </p:nvPicPr>
        <p:blipFill>
          <a:blip r:embed="rId3"/>
          <a:stretch>
            <a:fillRect/>
          </a:stretch>
        </p:blipFill>
        <p:spPr>
          <a:xfrm>
            <a:off x="757993" y="4293096"/>
            <a:ext cx="6741471" cy="2376264"/>
          </a:xfrm>
          <a:prstGeom prst="rect">
            <a:avLst/>
          </a:prstGeom>
        </p:spPr>
      </p:pic>
    </p:spTree>
    <p:extLst>
      <p:ext uri="{BB962C8B-B14F-4D97-AF65-F5344CB8AC3E}">
        <p14:creationId xmlns:p14="http://schemas.microsoft.com/office/powerpoint/2010/main" val="2748628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 name="Object 18">
            <a:extLst>
              <a:ext uri="{FF2B5EF4-FFF2-40B4-BE49-F238E27FC236}">
                <a16:creationId xmlns:a16="http://schemas.microsoft.com/office/drawing/2014/main" id="{0EBE2A7C-9584-467F-8E5D-18B54A393B66}"/>
              </a:ext>
            </a:extLst>
          </p:cNvPr>
          <p:cNvGraphicFramePr>
            <a:graphicFrameLocks noGrp="1" noChangeAspect="1"/>
          </p:cNvGraphicFramePr>
          <p:nvPr>
            <p:ph sz="half" idx="2"/>
            <p:extLst>
              <p:ext uri="{D42A27DB-BD31-4B8C-83A1-F6EECF244321}">
                <p14:modId xmlns:p14="http://schemas.microsoft.com/office/powerpoint/2010/main" val="2943836729"/>
              </p:ext>
            </p:extLst>
          </p:nvPr>
        </p:nvGraphicFramePr>
        <p:xfrm>
          <a:off x="965200" y="2946400"/>
          <a:ext cx="8128000" cy="3308350"/>
        </p:xfrm>
        <a:graphic>
          <a:graphicData uri="http://schemas.openxmlformats.org/drawingml/2006/chart">
            <c:chart xmlns:c="http://schemas.openxmlformats.org/drawingml/2006/chart" xmlns:r="http://schemas.openxmlformats.org/officeDocument/2006/relationships" r:id="rId3"/>
          </a:graphicData>
        </a:graphic>
      </p:graphicFrame>
      <p:sp>
        <p:nvSpPr>
          <p:cNvPr id="2067" name="Rectangle 19">
            <a:extLst>
              <a:ext uri="{FF2B5EF4-FFF2-40B4-BE49-F238E27FC236}">
                <a16:creationId xmlns:a16="http://schemas.microsoft.com/office/drawing/2014/main" id="{3BF125DA-4EE8-4E55-B8F3-B9C4BC1A5029}"/>
              </a:ext>
            </a:extLst>
          </p:cNvPr>
          <p:cNvSpPr>
            <a:spLocks noChangeArrowheads="1"/>
          </p:cNvSpPr>
          <p:nvPr/>
        </p:nvSpPr>
        <p:spPr bwMode="auto">
          <a:xfrm>
            <a:off x="685800" y="5562600"/>
            <a:ext cx="81359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b="1" dirty="0">
                <a:solidFill>
                  <a:srgbClr val="FF0000"/>
                </a:solidFill>
                <a:effectLst>
                  <a:outerShdw blurRad="38100" dist="38100" dir="2700000" algn="tl">
                    <a:srgbClr val="000000"/>
                  </a:outerShdw>
                </a:effectLst>
                <a:latin typeface="Times New Roman" panose="02020603050405020304" pitchFamily="18" charset="0"/>
              </a:rPr>
              <a:t>1948        1961      1966       1971       1980      1990       1998       2000</a:t>
            </a:r>
          </a:p>
        </p:txBody>
      </p:sp>
      <p:sp>
        <p:nvSpPr>
          <p:cNvPr id="2068" name="Rectangle 20">
            <a:extLst>
              <a:ext uri="{FF2B5EF4-FFF2-40B4-BE49-F238E27FC236}">
                <a16:creationId xmlns:a16="http://schemas.microsoft.com/office/drawing/2014/main" id="{F3A32F97-E231-4040-88BD-AE962DB50DC7}"/>
              </a:ext>
            </a:extLst>
          </p:cNvPr>
          <p:cNvSpPr>
            <a:spLocks noChangeArrowheads="1"/>
          </p:cNvSpPr>
          <p:nvPr/>
        </p:nvSpPr>
        <p:spPr bwMode="auto">
          <a:xfrm>
            <a:off x="1655763" y="4700588"/>
            <a:ext cx="8747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ltLang="zh-CN" b="1">
                <a:solidFill>
                  <a:srgbClr val="FF99FF"/>
                </a:solidFill>
                <a:effectLst>
                  <a:outerShdw blurRad="38100" dist="38100" dir="2700000" algn="tl">
                    <a:srgbClr val="000000"/>
                  </a:outerShdw>
                </a:effectLst>
                <a:latin typeface="Times New Roman" panose="02020603050405020304" pitchFamily="18" charset="0"/>
              </a:rPr>
              <a:t>SSI</a:t>
            </a:r>
          </a:p>
          <a:p>
            <a:pPr algn="ctr" eaLnBrk="1" hangingPunct="1">
              <a:defRPr/>
            </a:pPr>
            <a:r>
              <a:rPr lang="en-US" altLang="zh-CN" b="1">
                <a:solidFill>
                  <a:srgbClr val="FF99FF"/>
                </a:solidFill>
                <a:effectLst>
                  <a:outerShdw blurRad="38100" dist="38100" dir="2700000" algn="tl">
                    <a:srgbClr val="000000"/>
                  </a:outerShdw>
                </a:effectLst>
                <a:latin typeface="Times New Roman" panose="02020603050405020304" pitchFamily="18" charset="0"/>
              </a:rPr>
              <a:t>10~100</a:t>
            </a:r>
          </a:p>
        </p:txBody>
      </p:sp>
      <p:sp>
        <p:nvSpPr>
          <p:cNvPr id="2069" name="Rectangle 21">
            <a:extLst>
              <a:ext uri="{FF2B5EF4-FFF2-40B4-BE49-F238E27FC236}">
                <a16:creationId xmlns:a16="http://schemas.microsoft.com/office/drawing/2014/main" id="{F569C0AC-8363-4D64-8F60-FBE52C56C17A}"/>
              </a:ext>
            </a:extLst>
          </p:cNvPr>
          <p:cNvSpPr>
            <a:spLocks noChangeArrowheads="1"/>
          </p:cNvSpPr>
          <p:nvPr/>
        </p:nvSpPr>
        <p:spPr bwMode="auto">
          <a:xfrm>
            <a:off x="2476500" y="4484688"/>
            <a:ext cx="11033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ltLang="zh-CN" b="1">
                <a:solidFill>
                  <a:srgbClr val="FF99CC"/>
                </a:solidFill>
                <a:effectLst>
                  <a:outerShdw blurRad="38100" dist="38100" dir="2700000" algn="tl">
                    <a:srgbClr val="000000"/>
                  </a:outerShdw>
                </a:effectLst>
                <a:latin typeface="Times New Roman" panose="02020603050405020304" pitchFamily="18" charset="0"/>
              </a:rPr>
              <a:t>MSI</a:t>
            </a:r>
          </a:p>
          <a:p>
            <a:pPr algn="ctr" eaLnBrk="1" hangingPunct="1">
              <a:defRPr/>
            </a:pPr>
            <a:r>
              <a:rPr lang="en-US" altLang="zh-CN" b="1">
                <a:solidFill>
                  <a:srgbClr val="FF99CC"/>
                </a:solidFill>
                <a:effectLst>
                  <a:outerShdw blurRad="38100" dist="38100" dir="2700000" algn="tl">
                    <a:srgbClr val="000000"/>
                  </a:outerShdw>
                </a:effectLst>
                <a:latin typeface="Times New Roman" panose="02020603050405020304" pitchFamily="18" charset="0"/>
              </a:rPr>
              <a:t>100~1000</a:t>
            </a:r>
          </a:p>
        </p:txBody>
      </p:sp>
      <p:sp>
        <p:nvSpPr>
          <p:cNvPr id="2070" name="Rectangle 22">
            <a:extLst>
              <a:ext uri="{FF2B5EF4-FFF2-40B4-BE49-F238E27FC236}">
                <a16:creationId xmlns:a16="http://schemas.microsoft.com/office/drawing/2014/main" id="{E5136C9C-BEF9-431F-BC7A-CAE365A5D3FE}"/>
              </a:ext>
            </a:extLst>
          </p:cNvPr>
          <p:cNvSpPr>
            <a:spLocks noChangeArrowheads="1"/>
          </p:cNvSpPr>
          <p:nvPr/>
        </p:nvSpPr>
        <p:spPr bwMode="auto">
          <a:xfrm>
            <a:off x="3435350" y="4341813"/>
            <a:ext cx="9128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ltLang="zh-CN" b="1">
                <a:solidFill>
                  <a:srgbClr val="FF99FF"/>
                </a:solidFill>
                <a:effectLst>
                  <a:outerShdw blurRad="38100" dist="38100" dir="2700000" algn="tl">
                    <a:srgbClr val="000000"/>
                  </a:outerShdw>
                </a:effectLst>
                <a:latin typeface="Times New Roman" panose="02020603050405020304" pitchFamily="18" charset="0"/>
              </a:rPr>
              <a:t>LSI</a:t>
            </a:r>
          </a:p>
          <a:p>
            <a:pPr algn="ctr" eaLnBrk="1" hangingPunct="1">
              <a:defRPr/>
            </a:pPr>
            <a:r>
              <a:rPr lang="en-US" altLang="zh-CN" b="1">
                <a:solidFill>
                  <a:srgbClr val="FF99FF"/>
                </a:solidFill>
                <a:effectLst>
                  <a:outerShdw blurRad="38100" dist="38100" dir="2700000" algn="tl">
                    <a:srgbClr val="000000"/>
                  </a:outerShdw>
                </a:effectLst>
                <a:latin typeface="Times New Roman" panose="02020603050405020304" pitchFamily="18" charset="0"/>
              </a:rPr>
              <a:t>10</a:t>
            </a:r>
            <a:r>
              <a:rPr lang="en-US" altLang="zh-CN" b="1" baseline="30000">
                <a:solidFill>
                  <a:srgbClr val="FF99FF"/>
                </a:solidFill>
                <a:effectLst>
                  <a:outerShdw blurRad="38100" dist="38100" dir="2700000" algn="tl">
                    <a:srgbClr val="000000"/>
                  </a:outerShdw>
                </a:effectLst>
                <a:latin typeface="Times New Roman" panose="02020603050405020304" pitchFamily="18" charset="0"/>
              </a:rPr>
              <a:t>3</a:t>
            </a:r>
            <a:r>
              <a:rPr lang="en-US" altLang="zh-CN" b="1">
                <a:solidFill>
                  <a:srgbClr val="FF99FF"/>
                </a:solidFill>
                <a:effectLst>
                  <a:outerShdw blurRad="38100" dist="38100" dir="2700000" algn="tl">
                    <a:srgbClr val="000000"/>
                  </a:outerShdw>
                </a:effectLst>
                <a:latin typeface="Times New Roman" panose="02020603050405020304" pitchFamily="18" charset="0"/>
              </a:rPr>
              <a:t>~10</a:t>
            </a:r>
            <a:r>
              <a:rPr lang="en-US" altLang="zh-CN" b="1" baseline="30000">
                <a:solidFill>
                  <a:srgbClr val="FF99FF"/>
                </a:solidFill>
                <a:effectLst>
                  <a:outerShdw blurRad="38100" dist="38100" dir="2700000" algn="tl">
                    <a:srgbClr val="000000"/>
                  </a:outerShdw>
                </a:effectLst>
                <a:latin typeface="Times New Roman" panose="02020603050405020304" pitchFamily="18" charset="0"/>
              </a:rPr>
              <a:t>4</a:t>
            </a:r>
          </a:p>
        </p:txBody>
      </p:sp>
      <p:sp>
        <p:nvSpPr>
          <p:cNvPr id="2071" name="Rectangle 23">
            <a:extLst>
              <a:ext uri="{FF2B5EF4-FFF2-40B4-BE49-F238E27FC236}">
                <a16:creationId xmlns:a16="http://schemas.microsoft.com/office/drawing/2014/main" id="{D5BF81B9-8D4A-4B1A-8221-71C251290109}"/>
              </a:ext>
            </a:extLst>
          </p:cNvPr>
          <p:cNvSpPr>
            <a:spLocks noChangeArrowheads="1"/>
          </p:cNvSpPr>
          <p:nvPr/>
        </p:nvSpPr>
        <p:spPr bwMode="auto">
          <a:xfrm>
            <a:off x="4356100" y="4076700"/>
            <a:ext cx="83978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ltLang="zh-CN" sz="1600" b="1">
                <a:solidFill>
                  <a:srgbClr val="FF99CC"/>
                </a:solidFill>
                <a:effectLst>
                  <a:outerShdw blurRad="38100" dist="38100" dir="2700000" algn="tl">
                    <a:srgbClr val="000000"/>
                  </a:outerShdw>
                </a:effectLst>
                <a:latin typeface="Times New Roman" panose="02020603050405020304" pitchFamily="18" charset="0"/>
              </a:rPr>
              <a:t>VLSI</a:t>
            </a:r>
          </a:p>
          <a:p>
            <a:pPr algn="ctr" eaLnBrk="1" hangingPunct="1">
              <a:defRPr/>
            </a:pPr>
            <a:r>
              <a:rPr lang="en-US" altLang="zh-CN" sz="1600" b="1">
                <a:solidFill>
                  <a:srgbClr val="FF99CC"/>
                </a:solidFill>
                <a:effectLst>
                  <a:outerShdw blurRad="38100" dist="38100" dir="2700000" algn="tl">
                    <a:srgbClr val="000000"/>
                  </a:outerShdw>
                </a:effectLst>
                <a:latin typeface="Times New Roman" panose="02020603050405020304" pitchFamily="18" charset="0"/>
              </a:rPr>
              <a:t>10</a:t>
            </a:r>
            <a:r>
              <a:rPr lang="en-US" altLang="zh-CN" sz="1600" b="1" baseline="30000">
                <a:solidFill>
                  <a:srgbClr val="FF99CC"/>
                </a:solidFill>
                <a:effectLst>
                  <a:outerShdw blurRad="38100" dist="38100" dir="2700000" algn="tl">
                    <a:srgbClr val="000000"/>
                  </a:outerShdw>
                </a:effectLst>
                <a:latin typeface="Times New Roman" panose="02020603050405020304" pitchFamily="18" charset="0"/>
              </a:rPr>
              <a:t>5</a:t>
            </a:r>
            <a:r>
              <a:rPr lang="en-US" altLang="zh-CN" sz="1600" b="1">
                <a:solidFill>
                  <a:srgbClr val="FF99CC"/>
                </a:solidFill>
                <a:effectLst>
                  <a:outerShdw blurRad="38100" dist="38100" dir="2700000" algn="tl">
                    <a:srgbClr val="000000"/>
                  </a:outerShdw>
                </a:effectLst>
                <a:latin typeface="Times New Roman" panose="02020603050405020304" pitchFamily="18" charset="0"/>
              </a:rPr>
              <a:t>~10</a:t>
            </a:r>
            <a:r>
              <a:rPr lang="en-US" altLang="zh-CN" sz="1600" b="1" baseline="30000">
                <a:solidFill>
                  <a:srgbClr val="FF99CC"/>
                </a:solidFill>
                <a:effectLst>
                  <a:outerShdw blurRad="38100" dist="38100" dir="2700000" algn="tl">
                    <a:srgbClr val="000000"/>
                  </a:outerShdw>
                </a:effectLst>
                <a:latin typeface="Times New Roman" panose="02020603050405020304" pitchFamily="18" charset="0"/>
              </a:rPr>
              <a:t>6</a:t>
            </a:r>
          </a:p>
        </p:txBody>
      </p:sp>
      <p:sp>
        <p:nvSpPr>
          <p:cNvPr id="2072" name="Rectangle 24">
            <a:extLst>
              <a:ext uri="{FF2B5EF4-FFF2-40B4-BE49-F238E27FC236}">
                <a16:creationId xmlns:a16="http://schemas.microsoft.com/office/drawing/2014/main" id="{C18A63B4-62ED-422E-A2F8-D7551BF89CBF}"/>
              </a:ext>
            </a:extLst>
          </p:cNvPr>
          <p:cNvSpPr>
            <a:spLocks noChangeArrowheads="1"/>
          </p:cNvSpPr>
          <p:nvPr/>
        </p:nvSpPr>
        <p:spPr bwMode="auto">
          <a:xfrm>
            <a:off x="5183188" y="3549650"/>
            <a:ext cx="9128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ltLang="zh-CN" b="1">
                <a:solidFill>
                  <a:srgbClr val="FF99CC"/>
                </a:solidFill>
                <a:effectLst>
                  <a:outerShdw blurRad="38100" dist="38100" dir="2700000" algn="tl">
                    <a:srgbClr val="000000"/>
                  </a:outerShdw>
                </a:effectLst>
                <a:latin typeface="Times New Roman" panose="02020603050405020304" pitchFamily="18" charset="0"/>
              </a:rPr>
              <a:t>ULSI</a:t>
            </a:r>
          </a:p>
          <a:p>
            <a:pPr algn="ctr" eaLnBrk="1" hangingPunct="1">
              <a:defRPr/>
            </a:pPr>
            <a:r>
              <a:rPr lang="en-US" altLang="zh-CN" b="1">
                <a:solidFill>
                  <a:srgbClr val="FF99CC"/>
                </a:solidFill>
                <a:effectLst>
                  <a:outerShdw blurRad="38100" dist="38100" dir="2700000" algn="tl">
                    <a:srgbClr val="000000"/>
                  </a:outerShdw>
                </a:effectLst>
                <a:latin typeface="Times New Roman" panose="02020603050405020304" pitchFamily="18" charset="0"/>
              </a:rPr>
              <a:t>10</a:t>
            </a:r>
            <a:r>
              <a:rPr lang="en-US" altLang="zh-CN" b="1" baseline="30000">
                <a:solidFill>
                  <a:srgbClr val="FF99CC"/>
                </a:solidFill>
                <a:effectLst>
                  <a:outerShdw blurRad="38100" dist="38100" dir="2700000" algn="tl">
                    <a:srgbClr val="000000"/>
                  </a:outerShdw>
                </a:effectLst>
                <a:latin typeface="Times New Roman" panose="02020603050405020304" pitchFamily="18" charset="0"/>
              </a:rPr>
              <a:t>6</a:t>
            </a:r>
            <a:r>
              <a:rPr lang="en-US" altLang="zh-CN" b="1">
                <a:solidFill>
                  <a:srgbClr val="FF99CC"/>
                </a:solidFill>
                <a:effectLst>
                  <a:outerShdw blurRad="38100" dist="38100" dir="2700000" algn="tl">
                    <a:srgbClr val="000000"/>
                  </a:outerShdw>
                </a:effectLst>
                <a:latin typeface="Times New Roman" panose="02020603050405020304" pitchFamily="18" charset="0"/>
              </a:rPr>
              <a:t>~10</a:t>
            </a:r>
            <a:r>
              <a:rPr lang="en-US" altLang="zh-CN" b="1" baseline="30000">
                <a:solidFill>
                  <a:srgbClr val="FF99CC"/>
                </a:solidFill>
                <a:effectLst>
                  <a:outerShdw blurRad="38100" dist="38100" dir="2700000" algn="tl">
                    <a:srgbClr val="000000"/>
                  </a:outerShdw>
                </a:effectLst>
                <a:latin typeface="Times New Roman" panose="02020603050405020304" pitchFamily="18" charset="0"/>
              </a:rPr>
              <a:t>9</a:t>
            </a:r>
          </a:p>
        </p:txBody>
      </p:sp>
      <p:sp>
        <p:nvSpPr>
          <p:cNvPr id="2073" name="Rectangle 25">
            <a:extLst>
              <a:ext uri="{FF2B5EF4-FFF2-40B4-BE49-F238E27FC236}">
                <a16:creationId xmlns:a16="http://schemas.microsoft.com/office/drawing/2014/main" id="{CE84DDDB-70AB-4460-907A-1705B0FE361C}"/>
              </a:ext>
            </a:extLst>
          </p:cNvPr>
          <p:cNvSpPr>
            <a:spLocks noChangeArrowheads="1"/>
          </p:cNvSpPr>
          <p:nvPr/>
        </p:nvSpPr>
        <p:spPr bwMode="auto">
          <a:xfrm>
            <a:off x="6196013" y="2900363"/>
            <a:ext cx="6191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ltLang="zh-CN" b="1">
                <a:solidFill>
                  <a:srgbClr val="FF99CC"/>
                </a:solidFill>
                <a:effectLst>
                  <a:outerShdw blurRad="38100" dist="38100" dir="2700000" algn="tl">
                    <a:srgbClr val="000000"/>
                  </a:outerShdw>
                </a:effectLst>
                <a:latin typeface="Times New Roman" panose="02020603050405020304" pitchFamily="18" charset="0"/>
              </a:rPr>
              <a:t>GSI</a:t>
            </a:r>
          </a:p>
          <a:p>
            <a:pPr algn="ctr" eaLnBrk="1" hangingPunct="1">
              <a:defRPr/>
            </a:pPr>
            <a:r>
              <a:rPr lang="en-US" altLang="zh-CN" b="1">
                <a:solidFill>
                  <a:srgbClr val="FF99CC"/>
                </a:solidFill>
                <a:effectLst>
                  <a:outerShdw blurRad="38100" dist="38100" dir="2700000" algn="tl">
                    <a:srgbClr val="000000"/>
                  </a:outerShdw>
                </a:effectLst>
                <a:latin typeface="Times New Roman" panose="02020603050405020304" pitchFamily="18" charset="0"/>
              </a:rPr>
              <a:t>&gt;10</a:t>
            </a:r>
            <a:r>
              <a:rPr lang="en-US" altLang="zh-CN" b="1" baseline="30000">
                <a:solidFill>
                  <a:srgbClr val="FF99CC"/>
                </a:solidFill>
                <a:effectLst>
                  <a:outerShdw blurRad="38100" dist="38100" dir="2700000" algn="tl">
                    <a:srgbClr val="000000"/>
                  </a:outerShdw>
                </a:effectLst>
                <a:latin typeface="Times New Roman" panose="02020603050405020304" pitchFamily="18" charset="0"/>
              </a:rPr>
              <a:t>9</a:t>
            </a:r>
          </a:p>
        </p:txBody>
      </p:sp>
      <p:sp>
        <p:nvSpPr>
          <p:cNvPr id="11276" name="AutoShape 27">
            <a:extLst>
              <a:ext uri="{FF2B5EF4-FFF2-40B4-BE49-F238E27FC236}">
                <a16:creationId xmlns:a16="http://schemas.microsoft.com/office/drawing/2014/main" id="{9344022D-B4B0-4F25-8835-C4CF50F91EC3}"/>
              </a:ext>
            </a:extLst>
          </p:cNvPr>
          <p:cNvSpPr>
            <a:spLocks noChangeArrowheads="1"/>
          </p:cNvSpPr>
          <p:nvPr/>
        </p:nvSpPr>
        <p:spPr bwMode="auto">
          <a:xfrm>
            <a:off x="4932363" y="1557338"/>
            <a:ext cx="3887787" cy="1223962"/>
          </a:xfrm>
          <a:prstGeom prst="wedgeRoundRectCallout">
            <a:avLst>
              <a:gd name="adj1" fmla="val -43755"/>
              <a:gd name="adj2" fmla="val 67639"/>
              <a:gd name="adj3" fmla="val 166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en-US" altLang="zh-CN" sz="1800">
                <a:latin typeface="Verdana" panose="020B0604030504040204" pitchFamily="34" charset="0"/>
              </a:rPr>
              <a:t>   </a:t>
            </a:r>
            <a:r>
              <a:rPr lang="zh-CN" altLang="en-US" sz="1800">
                <a:latin typeface="Verdana" panose="020B0604030504040204" pitchFamily="34" charset="0"/>
              </a:rPr>
              <a:t>从沙子中提出高纯度的硅，制成芯片，单位价值课超过黄金，从这个意义讲，集成电路设计是真正点石成金术。</a:t>
            </a:r>
          </a:p>
        </p:txBody>
      </p:sp>
    </p:spTree>
    <p:extLst>
      <p:ext uri="{BB962C8B-B14F-4D97-AF65-F5344CB8AC3E}">
        <p14:creationId xmlns:p14="http://schemas.microsoft.com/office/powerpoint/2010/main" val="7235290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738664"/>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1.2.2 </a:t>
            </a:r>
            <a:r>
              <a:rPr lang="zh-CN" altLang="en-US" sz="2400" b="1" kern="100" dirty="0">
                <a:latin typeface="Times New Roman" panose="02020603050405020304" pitchFamily="18" charset="0"/>
              </a:rPr>
              <a:t>市场视角</a:t>
            </a:r>
            <a:endParaRPr lang="en-US" altLang="zh-CN" sz="2400" b="1" kern="100" dirty="0">
              <a:latin typeface="Times New Roman" panose="02020603050405020304" pitchFamily="18" charset="0"/>
              <a:cs typeface="Times New Roman" panose="02020603050405020304" pitchFamily="18" charset="0"/>
            </a:endParaRPr>
          </a:p>
          <a:p>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457200" y="836712"/>
            <a:ext cx="8229600" cy="2232248"/>
          </a:xfrm>
        </p:spPr>
        <p:txBody>
          <a:bodyPr/>
          <a:lstStyle/>
          <a:p>
            <a:pPr marL="0" indent="0">
              <a:buNone/>
            </a:pPr>
            <a:r>
              <a:rPr lang="en-US" altLang="zh-CN" sz="2400" b="1" dirty="0"/>
              <a:t>1</a:t>
            </a:r>
            <a:r>
              <a:rPr lang="zh-CN" altLang="en-US" sz="2400" b="1" dirty="0"/>
              <a:t>）通用</a:t>
            </a:r>
            <a:r>
              <a:rPr lang="en-US" altLang="zh-CN" sz="2400" b="1" dirty="0"/>
              <a:t>IC</a:t>
            </a:r>
          </a:p>
          <a:p>
            <a:pPr marL="0" indent="0">
              <a:buNone/>
            </a:pPr>
            <a:r>
              <a:rPr lang="en-US" altLang="zh-CN" sz="2400" b="1" dirty="0"/>
              <a:t>2</a:t>
            </a:r>
            <a:r>
              <a:rPr lang="zh-CN" altLang="en-US" sz="2400" b="1" dirty="0"/>
              <a:t>）专用集成电路（</a:t>
            </a:r>
            <a:r>
              <a:rPr lang="en-US" altLang="zh-CN" sz="2400" b="1" dirty="0"/>
              <a:t>ASIC</a:t>
            </a:r>
            <a:r>
              <a:rPr lang="zh-CN" altLang="en-US" sz="2400" b="1" dirty="0"/>
              <a:t>：</a:t>
            </a:r>
            <a:r>
              <a:rPr lang="en-US" altLang="zh-CN" sz="2400" b="1" dirty="0"/>
              <a:t> Application-specific IC</a:t>
            </a:r>
            <a:r>
              <a:rPr lang="zh-CN" altLang="en-US" sz="2400" b="1" dirty="0"/>
              <a:t>）</a:t>
            </a:r>
            <a:endParaRPr lang="en-US" altLang="zh-CN" sz="2400" b="1" dirty="0"/>
          </a:p>
          <a:p>
            <a:pPr marL="0" indent="0">
              <a:buNone/>
            </a:pPr>
            <a:r>
              <a:rPr lang="en-US" altLang="zh-CN" sz="2400" b="1" dirty="0"/>
              <a:t>a</a:t>
            </a:r>
            <a:r>
              <a:rPr lang="zh-CN" altLang="en-US" sz="2400" b="1" dirty="0"/>
              <a:t>）专用标准产品（</a:t>
            </a:r>
            <a:r>
              <a:rPr lang="en-US" altLang="zh-CN" sz="2400" b="1" dirty="0"/>
              <a:t>ASSP</a:t>
            </a:r>
            <a:r>
              <a:rPr lang="zh-CN" altLang="en-US" sz="2400" b="1" dirty="0"/>
              <a:t>：</a:t>
            </a:r>
            <a:r>
              <a:rPr lang="en-US" altLang="zh-CN" sz="2400" b="1" dirty="0"/>
              <a:t>Application-Specific Standard Product</a:t>
            </a:r>
            <a:r>
              <a:rPr lang="zh-CN" altLang="en-US" sz="2400" b="1" dirty="0"/>
              <a:t>）</a:t>
            </a:r>
            <a:endParaRPr lang="en-US" altLang="zh-CN" sz="2400" dirty="0"/>
          </a:p>
          <a:p>
            <a:pPr marL="0" indent="0">
              <a:buNone/>
            </a:pPr>
            <a:r>
              <a:rPr lang="en-US" altLang="zh-CN" sz="2400" b="1" dirty="0"/>
              <a:t>b</a:t>
            </a:r>
            <a:r>
              <a:rPr lang="zh-CN" altLang="en-US" sz="2400" b="1" dirty="0"/>
              <a:t>）用户专用集成电路（</a:t>
            </a:r>
            <a:r>
              <a:rPr lang="en-US" altLang="zh-CN" sz="2400" b="1" dirty="0"/>
              <a:t>USIC</a:t>
            </a:r>
            <a:r>
              <a:rPr lang="zh-CN" altLang="en-US" sz="2400" b="1" dirty="0"/>
              <a:t>：</a:t>
            </a:r>
            <a:r>
              <a:rPr lang="en-US" altLang="zh-CN" sz="2400" b="1" dirty="0"/>
              <a:t>User-Specific IC</a:t>
            </a:r>
            <a:r>
              <a:rPr lang="zh-CN" altLang="en-US" sz="2400" b="1" dirty="0"/>
              <a:t>）</a:t>
            </a:r>
            <a:endParaRPr lang="en-US" altLang="zh-CN" sz="2400" dirty="0"/>
          </a:p>
          <a:p>
            <a:pPr marL="0" indent="0">
              <a:buNone/>
            </a:pPr>
            <a:br>
              <a:rPr lang="en-US" altLang="zh-CN" sz="2400" dirty="0"/>
            </a:br>
            <a:endParaRPr lang="zh-CN" altLang="en-US" sz="2400" dirty="0"/>
          </a:p>
        </p:txBody>
      </p:sp>
      <p:pic>
        <p:nvPicPr>
          <p:cNvPr id="7" name="图片 6">
            <a:extLst>
              <a:ext uri="{FF2B5EF4-FFF2-40B4-BE49-F238E27FC236}">
                <a16:creationId xmlns:a16="http://schemas.microsoft.com/office/drawing/2014/main" id="{C84CCB1A-890D-463D-8BE0-56C285E7CFFA}"/>
              </a:ext>
            </a:extLst>
          </p:cNvPr>
          <p:cNvPicPr>
            <a:picLocks noChangeAspect="1"/>
          </p:cNvPicPr>
          <p:nvPr/>
        </p:nvPicPr>
        <p:blipFill>
          <a:blip r:embed="rId3"/>
          <a:stretch>
            <a:fillRect/>
          </a:stretch>
        </p:blipFill>
        <p:spPr>
          <a:xfrm>
            <a:off x="179512" y="3218695"/>
            <a:ext cx="8644830" cy="3522673"/>
          </a:xfrm>
          <a:prstGeom prst="rect">
            <a:avLst/>
          </a:prstGeom>
        </p:spPr>
      </p:pic>
    </p:spTree>
    <p:extLst>
      <p:ext uri="{BB962C8B-B14F-4D97-AF65-F5344CB8AC3E}">
        <p14:creationId xmlns:p14="http://schemas.microsoft.com/office/powerpoint/2010/main" val="2269060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738664"/>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1.2.3 </a:t>
            </a:r>
            <a:r>
              <a:rPr lang="zh-CN" altLang="en-US" sz="2400" b="1" kern="100" dirty="0">
                <a:latin typeface="Times New Roman" panose="02020603050405020304" pitchFamily="18" charset="0"/>
              </a:rPr>
              <a:t>生产视角</a:t>
            </a:r>
            <a:endParaRPr lang="en-US" altLang="zh-CN" sz="2400" b="1" kern="100" dirty="0">
              <a:latin typeface="Times New Roman" panose="02020603050405020304" pitchFamily="18" charset="0"/>
              <a:cs typeface="Times New Roman" panose="02020603050405020304" pitchFamily="18" charset="0"/>
            </a:endParaRPr>
          </a:p>
          <a:p>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457200" y="836712"/>
            <a:ext cx="7787208" cy="2232248"/>
          </a:xfrm>
        </p:spPr>
        <p:txBody>
          <a:bodyPr/>
          <a:lstStyle/>
          <a:p>
            <a:pPr marL="0" indent="0">
              <a:buNone/>
            </a:pPr>
            <a:r>
              <a:rPr lang="en-US" altLang="zh-CN" sz="2400" b="1" dirty="0"/>
              <a:t>1</a:t>
            </a:r>
            <a:r>
              <a:rPr lang="zh-CN" altLang="en-US" sz="2400" b="1" dirty="0"/>
              <a:t>）全定制</a:t>
            </a:r>
            <a:r>
              <a:rPr lang="en-US" altLang="zh-CN" sz="2400" b="1" dirty="0"/>
              <a:t>IC</a:t>
            </a:r>
            <a:r>
              <a:rPr lang="zh-CN" altLang="en-US" sz="2400" b="1" dirty="0"/>
              <a:t>：</a:t>
            </a:r>
            <a:r>
              <a:rPr lang="en-US" altLang="zh-CN" sz="2400" b="1" dirty="0"/>
              <a:t>Full Mask</a:t>
            </a:r>
          </a:p>
          <a:p>
            <a:pPr marL="0" indent="0">
              <a:buNone/>
            </a:pPr>
            <a:r>
              <a:rPr lang="zh-CN" altLang="zh-CN" sz="2400" dirty="0"/>
              <a:t>所有</a:t>
            </a:r>
            <a:r>
              <a:rPr lang="en-US" altLang="zh-CN" sz="2400" dirty="0"/>
              <a:t>Mask</a:t>
            </a:r>
            <a:r>
              <a:rPr lang="zh-CN" altLang="zh-CN" sz="2400" dirty="0"/>
              <a:t>都是根据用户的规格制定图形的。制造一个特定的设计需要晶圆在完整的一套光刻掩模 </a:t>
            </a:r>
            <a:r>
              <a:rPr lang="en-US" altLang="zh-CN" sz="2400" dirty="0"/>
              <a:t>(photomask) </a:t>
            </a:r>
            <a:r>
              <a:rPr lang="zh-CN" altLang="zh-CN" sz="2400" dirty="0"/>
              <a:t>控制下经过所有的处理步骤，这些掩模是根据这个唯一的设计定制的</a:t>
            </a:r>
            <a:endParaRPr lang="en-US" altLang="zh-CN" sz="2400" b="1" dirty="0"/>
          </a:p>
        </p:txBody>
      </p:sp>
      <p:sp>
        <p:nvSpPr>
          <p:cNvPr id="3" name="矩形 2">
            <a:extLst>
              <a:ext uri="{FF2B5EF4-FFF2-40B4-BE49-F238E27FC236}">
                <a16:creationId xmlns:a16="http://schemas.microsoft.com/office/drawing/2014/main" id="{B5FF815F-9606-4CD3-BACE-D7942BA47014}"/>
              </a:ext>
            </a:extLst>
          </p:cNvPr>
          <p:cNvSpPr/>
          <p:nvPr/>
        </p:nvSpPr>
        <p:spPr>
          <a:xfrm>
            <a:off x="361414" y="3188874"/>
            <a:ext cx="3850546" cy="1477328"/>
          </a:xfrm>
          <a:prstGeom prst="rect">
            <a:avLst/>
          </a:prstGeom>
        </p:spPr>
        <p:txBody>
          <a:bodyPr wrap="square">
            <a:spAutoFit/>
          </a:bodyPr>
          <a:lstStyle/>
          <a:p>
            <a:r>
              <a:rPr lang="zh-CN" altLang="zh-CN" i="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制作掩模是</a:t>
            </a:r>
            <a:r>
              <a:rPr lang="zh-CN" altLang="zh-CN" i="1" kern="0" spc="-200" dirty="0">
                <a:solidFill>
                  <a:srgbClr val="FF0000"/>
                </a:solidFill>
                <a:ea typeface="Times New Roman" panose="02020603050405020304" pitchFamily="18" charset="0"/>
              </a:rPr>
              <a:t> </a:t>
            </a:r>
            <a:r>
              <a:rPr lang="en-US" altLang="zh-CN" sz="1400" i="1" kern="0" dirty="0">
                <a:solidFill>
                  <a:srgbClr val="FF0000"/>
                </a:solidFill>
                <a:latin typeface="Courier New" panose="02070309020205020404" pitchFamily="49" charset="0"/>
                <a:ea typeface="等线" panose="02010600030101010101" pitchFamily="2" charset="-122"/>
              </a:rPr>
              <a:t>VLSI</a:t>
            </a:r>
            <a:r>
              <a:rPr lang="en-US" altLang="zh-CN" sz="1400" i="1" kern="0" spc="-570" dirty="0">
                <a:solidFill>
                  <a:srgbClr val="FF0000"/>
                </a:solidFill>
                <a:latin typeface="Courier New" panose="02070309020205020404" pitchFamily="49" charset="0"/>
                <a:ea typeface="等线" panose="02010600030101010101" pitchFamily="2" charset="-122"/>
              </a:rPr>
              <a:t> </a:t>
            </a:r>
            <a:r>
              <a:rPr lang="zh-CN" altLang="zh-CN" i="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制造的非经常性成本的主要</a:t>
            </a:r>
            <a:r>
              <a:rPr lang="zh-CN" altLang="en-US" i="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部分</a:t>
            </a:r>
            <a:r>
              <a:rPr lang="zh-CN" altLang="zh-CN" i="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。有两层金属的最基本的</a:t>
            </a:r>
            <a:r>
              <a:rPr lang="en-US" altLang="zh-CN" sz="1400" i="1" kern="0" dirty="0">
                <a:solidFill>
                  <a:srgbClr val="FF0000"/>
                </a:solidFill>
                <a:latin typeface="Courier New" panose="02070309020205020404" pitchFamily="49" charset="0"/>
                <a:ea typeface="等线" panose="02010600030101010101" pitchFamily="2" charset="-122"/>
              </a:rPr>
              <a:t>CMOS</a:t>
            </a:r>
            <a:r>
              <a:rPr lang="en-US" altLang="zh-CN" sz="1400" i="1" kern="0" spc="-425" dirty="0">
                <a:solidFill>
                  <a:srgbClr val="FF0000"/>
                </a:solidFill>
                <a:latin typeface="Courier New" panose="02070309020205020404" pitchFamily="49" charset="0"/>
                <a:ea typeface="等线" panose="02010600030101010101" pitchFamily="2" charset="-122"/>
              </a:rPr>
              <a:t> </a:t>
            </a:r>
            <a:r>
              <a:rPr lang="zh-CN" altLang="zh-CN" i="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工艺需要大约</a:t>
            </a:r>
            <a:r>
              <a:rPr lang="zh-CN" altLang="zh-CN" i="1" kern="0" spc="-275" dirty="0">
                <a:solidFill>
                  <a:srgbClr val="FF0000"/>
                </a:solidFill>
                <a:ea typeface="Times New Roman" panose="02020603050405020304" pitchFamily="18" charset="0"/>
              </a:rPr>
              <a:t> </a:t>
            </a:r>
            <a:r>
              <a:rPr lang="en-US" altLang="zh-CN" sz="1200" i="1" kern="0" dirty="0">
                <a:solidFill>
                  <a:srgbClr val="FF0000"/>
                </a:solidFill>
                <a:latin typeface="Times New Roman" panose="02020603050405020304" pitchFamily="18" charset="0"/>
                <a:ea typeface="等线" panose="02010600030101010101" pitchFamily="2" charset="-122"/>
              </a:rPr>
              <a:t>10-1</a:t>
            </a:r>
            <a:r>
              <a:rPr lang="en-US" altLang="zh-CN" sz="1200" i="1" kern="0" spc="-60" dirty="0">
                <a:solidFill>
                  <a:srgbClr val="FF0000"/>
                </a:solidFill>
                <a:latin typeface="Times New Roman" panose="02020603050405020304" pitchFamily="18" charset="0"/>
                <a:ea typeface="等线" panose="02010600030101010101" pitchFamily="2" charset="-122"/>
              </a:rPr>
              <a:t>2</a:t>
            </a:r>
            <a:r>
              <a:rPr lang="zh-CN" altLang="zh-CN" i="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个制造掩模，每增加一层金属，就需要另外两个掩模。</a:t>
            </a:r>
            <a:endParaRPr lang="zh-CN" altLang="en-US" i="1" dirty="0">
              <a:solidFill>
                <a:srgbClr val="FF0000"/>
              </a:solidFill>
            </a:endParaRPr>
          </a:p>
        </p:txBody>
      </p:sp>
      <p:pic>
        <p:nvPicPr>
          <p:cNvPr id="4" name="图片 3">
            <a:extLst>
              <a:ext uri="{FF2B5EF4-FFF2-40B4-BE49-F238E27FC236}">
                <a16:creationId xmlns:a16="http://schemas.microsoft.com/office/drawing/2014/main" id="{A58FA144-1989-43EC-8B9F-3312853AAE4C}"/>
              </a:ext>
            </a:extLst>
          </p:cNvPr>
          <p:cNvPicPr>
            <a:picLocks noChangeAspect="1"/>
          </p:cNvPicPr>
          <p:nvPr/>
        </p:nvPicPr>
        <p:blipFill>
          <a:blip r:embed="rId3"/>
          <a:stretch>
            <a:fillRect/>
          </a:stretch>
        </p:blipFill>
        <p:spPr>
          <a:xfrm>
            <a:off x="4427984" y="2492896"/>
            <a:ext cx="4010794" cy="4129256"/>
          </a:xfrm>
          <a:prstGeom prst="rect">
            <a:avLst/>
          </a:prstGeom>
        </p:spPr>
      </p:pic>
    </p:spTree>
    <p:extLst>
      <p:ext uri="{BB962C8B-B14F-4D97-AF65-F5344CB8AC3E}">
        <p14:creationId xmlns:p14="http://schemas.microsoft.com/office/powerpoint/2010/main" val="3384595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738664"/>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1.2.3 </a:t>
            </a:r>
            <a:r>
              <a:rPr lang="zh-CN" altLang="en-US" sz="2400" b="1" kern="100" dirty="0">
                <a:latin typeface="Times New Roman" panose="02020603050405020304" pitchFamily="18" charset="0"/>
              </a:rPr>
              <a:t>生产视角</a:t>
            </a:r>
            <a:endParaRPr lang="en-US" altLang="zh-CN" sz="2400" b="1" kern="100" dirty="0">
              <a:latin typeface="Times New Roman" panose="02020603050405020304" pitchFamily="18" charset="0"/>
              <a:cs typeface="Times New Roman" panose="02020603050405020304" pitchFamily="18" charset="0"/>
            </a:endParaRPr>
          </a:p>
          <a:p>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457200" y="836712"/>
            <a:ext cx="7787208" cy="2232248"/>
          </a:xfrm>
        </p:spPr>
        <p:txBody>
          <a:bodyPr/>
          <a:lstStyle/>
          <a:p>
            <a:pPr marL="0" indent="0">
              <a:buNone/>
            </a:pPr>
            <a:r>
              <a:rPr lang="en-US" altLang="zh-CN" sz="2400" b="1" dirty="0"/>
              <a:t>2</a:t>
            </a:r>
            <a:r>
              <a:rPr lang="zh-CN" altLang="en-US" sz="2400" b="1" dirty="0"/>
              <a:t>）半定制</a:t>
            </a:r>
            <a:r>
              <a:rPr lang="en-US" altLang="zh-CN" sz="2400" b="1" dirty="0"/>
              <a:t>IC</a:t>
            </a:r>
            <a:r>
              <a:rPr lang="zh-CN" altLang="en-US" sz="2400" b="1" dirty="0"/>
              <a:t>：</a:t>
            </a:r>
            <a:r>
              <a:rPr lang="en-US" altLang="zh-CN" sz="2400" b="1" dirty="0"/>
              <a:t>Full Mask</a:t>
            </a:r>
          </a:p>
          <a:p>
            <a:pPr marL="0" indent="0">
              <a:buNone/>
            </a:pPr>
            <a:r>
              <a:rPr lang="zh-CN" altLang="zh-CN" sz="2400" dirty="0"/>
              <a:t>只有一小部分制造掩模是每个设计独有的。用户定制化从预处理过的晶圆</a:t>
            </a:r>
            <a:r>
              <a:rPr lang="zh-CN" altLang="en-US" sz="2400" dirty="0"/>
              <a:t>（</a:t>
            </a:r>
            <a:r>
              <a:rPr lang="zh-CN" altLang="zh-CN" sz="2400" dirty="0"/>
              <a:t>母 片 </a:t>
            </a:r>
            <a:r>
              <a:rPr lang="zh-CN" altLang="en-US" sz="2400" dirty="0"/>
              <a:t>：</a:t>
            </a:r>
            <a:r>
              <a:rPr lang="en-US" altLang="zh-CN" sz="2400" dirty="0"/>
              <a:t>master wafer</a:t>
            </a:r>
            <a:r>
              <a:rPr lang="zh-CN" altLang="en-US" sz="2400" dirty="0"/>
              <a:t>）</a:t>
            </a:r>
            <a:r>
              <a:rPr lang="zh-CN" altLang="zh-CN" sz="2400" dirty="0"/>
              <a:t>开始</a:t>
            </a:r>
            <a:r>
              <a:rPr lang="zh-CN" altLang="en-US" sz="2400" dirty="0"/>
              <a:t>，</a:t>
            </a:r>
            <a:r>
              <a:rPr lang="zh-CN" altLang="zh-CN" sz="2400" dirty="0"/>
              <a:t>大量预制造的但是基本 上未确定用途的基本元件，如晶体管或逻辑门。</a:t>
            </a:r>
            <a:endParaRPr lang="en-US" altLang="zh-CN" sz="2400" b="1" dirty="0"/>
          </a:p>
        </p:txBody>
      </p:sp>
      <p:pic>
        <p:nvPicPr>
          <p:cNvPr id="2" name="图片 1">
            <a:extLst>
              <a:ext uri="{FF2B5EF4-FFF2-40B4-BE49-F238E27FC236}">
                <a16:creationId xmlns:a16="http://schemas.microsoft.com/office/drawing/2014/main" id="{566E5725-75E2-45EF-8ECB-5DB77C9673E8}"/>
              </a:ext>
            </a:extLst>
          </p:cNvPr>
          <p:cNvPicPr>
            <a:picLocks noChangeAspect="1"/>
          </p:cNvPicPr>
          <p:nvPr/>
        </p:nvPicPr>
        <p:blipFill>
          <a:blip r:embed="rId3"/>
          <a:stretch>
            <a:fillRect/>
          </a:stretch>
        </p:blipFill>
        <p:spPr>
          <a:xfrm>
            <a:off x="3963160" y="2537520"/>
            <a:ext cx="3927709" cy="4320480"/>
          </a:xfrm>
          <a:prstGeom prst="rect">
            <a:avLst/>
          </a:prstGeom>
        </p:spPr>
      </p:pic>
      <p:sp>
        <p:nvSpPr>
          <p:cNvPr id="9" name="矩形 8">
            <a:extLst>
              <a:ext uri="{FF2B5EF4-FFF2-40B4-BE49-F238E27FC236}">
                <a16:creationId xmlns:a16="http://schemas.microsoft.com/office/drawing/2014/main" id="{C22ED4FC-7B20-4839-81CC-9C967F1399D8}"/>
              </a:ext>
            </a:extLst>
          </p:cNvPr>
          <p:cNvSpPr/>
          <p:nvPr/>
        </p:nvSpPr>
        <p:spPr>
          <a:xfrm>
            <a:off x="363823" y="3220432"/>
            <a:ext cx="3128057" cy="1200329"/>
          </a:xfrm>
          <a:prstGeom prst="rect">
            <a:avLst/>
          </a:prstGeom>
        </p:spPr>
        <p:txBody>
          <a:bodyPr wrap="square">
            <a:spAutoFit/>
          </a:bodyPr>
          <a:lstStyle/>
          <a:p>
            <a:r>
              <a:rPr lang="zh-CN" altLang="en-US" i="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门阵列</a:t>
            </a:r>
            <a:endParaRPr lang="en-US" altLang="zh-CN" i="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i="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门海</a:t>
            </a:r>
            <a:endParaRPr lang="en-US" altLang="zh-CN" i="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i="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结构化</a:t>
            </a:r>
            <a:r>
              <a:rPr lang="en-US" altLang="zh-CN" i="1" kern="0" dirty="0">
                <a:solidFill>
                  <a:srgbClr val="FF0000"/>
                </a:solidFill>
                <a:latin typeface="Times New Roman" panose="02020603050405020304" pitchFamily="18" charset="0"/>
                <a:ea typeface="等线" panose="02010600030101010101" pitchFamily="2" charset="-122"/>
                <a:cs typeface="Times New Roman" panose="02020603050405020304" pitchFamily="18" charset="0"/>
              </a:rPr>
              <a:t>ASIC</a:t>
            </a:r>
          </a:p>
          <a:p>
            <a:r>
              <a:rPr lang="en-US" altLang="zh-CN" i="1" dirty="0">
                <a:solidFill>
                  <a:srgbClr val="FF0000"/>
                </a:solidFill>
              </a:rPr>
              <a:t>Fabric</a:t>
            </a:r>
            <a:endParaRPr lang="zh-CN" altLang="en-US" i="1" dirty="0">
              <a:solidFill>
                <a:srgbClr val="FF0000"/>
              </a:solidFill>
            </a:endParaRPr>
          </a:p>
        </p:txBody>
      </p:sp>
    </p:spTree>
    <p:extLst>
      <p:ext uri="{BB962C8B-B14F-4D97-AF65-F5344CB8AC3E}">
        <p14:creationId xmlns:p14="http://schemas.microsoft.com/office/powerpoint/2010/main" val="1155733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FB83D290-DC63-4512-9726-34A24C4DE88C}"/>
              </a:ext>
            </a:extLst>
          </p:cNvPr>
          <p:cNvPicPr>
            <a:picLocks noChangeAspect="1"/>
          </p:cNvPicPr>
          <p:nvPr/>
        </p:nvPicPr>
        <p:blipFill>
          <a:blip r:embed="rId2"/>
          <a:stretch>
            <a:fillRect/>
          </a:stretch>
        </p:blipFill>
        <p:spPr>
          <a:xfrm>
            <a:off x="1259632" y="188640"/>
            <a:ext cx="5463877" cy="5849296"/>
          </a:xfrm>
          <a:prstGeom prst="rect">
            <a:avLst/>
          </a:prstGeom>
        </p:spPr>
      </p:pic>
      <p:sp>
        <p:nvSpPr>
          <p:cNvPr id="5" name="矩形 4">
            <a:extLst>
              <a:ext uri="{FF2B5EF4-FFF2-40B4-BE49-F238E27FC236}">
                <a16:creationId xmlns:a16="http://schemas.microsoft.com/office/drawing/2014/main" id="{A4F2B215-E316-428A-BBE8-B4B36120BE1C}"/>
              </a:ext>
            </a:extLst>
          </p:cNvPr>
          <p:cNvSpPr/>
          <p:nvPr/>
        </p:nvSpPr>
        <p:spPr>
          <a:xfrm>
            <a:off x="5796136" y="1052736"/>
            <a:ext cx="3315651" cy="1661993"/>
          </a:xfrm>
          <a:prstGeom prst="rect">
            <a:avLst/>
          </a:prstGeom>
        </p:spPr>
        <p:txBody>
          <a:bodyPr wrap="square">
            <a:spAutoFit/>
          </a:bodyPr>
          <a:lstStyle/>
          <a:p>
            <a:r>
              <a:rPr lang="zh-CN" altLang="zh-CN" kern="0" dirty="0">
                <a:solidFill>
                  <a:srgbClr val="282828"/>
                </a:solidFill>
                <a:cs typeface="宋体" panose="02010600030101010101" pitchFamily="2" charset="-122"/>
              </a:rPr>
              <a:t>门阵列定制化</a:t>
            </a:r>
            <a:r>
              <a:rPr lang="en-US" altLang="zh-CN" kern="0" dirty="0">
                <a:solidFill>
                  <a:srgbClr val="282828"/>
                </a:solidFill>
                <a:cs typeface="宋体" panose="02010600030101010101" pitchFamily="2" charset="-122"/>
              </a:rPr>
              <a:t>(</a:t>
            </a:r>
            <a:r>
              <a:rPr lang="zh-CN" altLang="zh-CN" kern="0" dirty="0">
                <a:solidFill>
                  <a:srgbClr val="282828"/>
                </a:solidFill>
                <a:cs typeface="宋体" panose="02010600030101010101" pitchFamily="2" charset="-122"/>
              </a:rPr>
              <a:t>简化图</a:t>
            </a:r>
            <a:r>
              <a:rPr lang="zh-CN" altLang="zh-CN" kern="0" spc="-130" dirty="0">
                <a:solidFill>
                  <a:srgbClr val="282828"/>
                </a:solidFill>
                <a:cs typeface="宋体" panose="02010600030101010101" pitchFamily="2" charset="-122"/>
              </a:rPr>
              <a:t> </a:t>
            </a:r>
            <a:r>
              <a:rPr lang="en-US" altLang="zh-CN" kern="0" dirty="0">
                <a:solidFill>
                  <a:srgbClr val="282828"/>
                </a:solidFill>
                <a:latin typeface="Times New Roman" panose="02020603050405020304" pitchFamily="18" charset="0"/>
              </a:rPr>
              <a:t>)</a:t>
            </a:r>
            <a:r>
              <a:rPr lang="en-US" altLang="zh-CN" kern="0" spc="155" dirty="0">
                <a:solidFill>
                  <a:srgbClr val="282828"/>
                </a:solidFill>
                <a:latin typeface="Times New Roman" panose="02020603050405020304" pitchFamily="18" charset="0"/>
              </a:rPr>
              <a:t> </a:t>
            </a:r>
          </a:p>
          <a:p>
            <a:r>
              <a:rPr lang="zh-CN" altLang="en-US" kern="0" spc="155" dirty="0">
                <a:solidFill>
                  <a:srgbClr val="282828"/>
                </a:solidFill>
                <a:latin typeface="Times New Roman" panose="02020603050405020304" pitchFamily="18" charset="0"/>
              </a:rPr>
              <a:t>（</a:t>
            </a:r>
            <a:r>
              <a:rPr lang="en-US" altLang="zh-CN" kern="0" spc="155" dirty="0">
                <a:solidFill>
                  <a:srgbClr val="282828"/>
                </a:solidFill>
                <a:latin typeface="Times New Roman" panose="02020603050405020304" pitchFamily="18" charset="0"/>
              </a:rPr>
              <a:t>a</a:t>
            </a:r>
            <a:r>
              <a:rPr lang="zh-CN" altLang="en-US" kern="0" spc="155" dirty="0">
                <a:solidFill>
                  <a:srgbClr val="282828"/>
                </a:solidFill>
                <a:latin typeface="Times New Roman" panose="02020603050405020304" pitchFamily="18" charset="0"/>
              </a:rPr>
              <a:t>）</a:t>
            </a:r>
            <a:r>
              <a:rPr lang="en-US" altLang="zh-CN" sz="2400" kern="0" spc="-135" dirty="0">
                <a:solidFill>
                  <a:srgbClr val="282828"/>
                </a:solidFill>
                <a:latin typeface="Courier New" panose="02070309020205020404" pitchFamily="49" charset="0"/>
              </a:rPr>
              <a:t>6</a:t>
            </a:r>
            <a:r>
              <a:rPr lang="zh-CN" altLang="zh-CN" kern="0" spc="-10" dirty="0">
                <a:solidFill>
                  <a:srgbClr val="282828"/>
                </a:solidFill>
                <a:cs typeface="宋体" panose="02010600030101010101" pitchFamily="2" charset="-122"/>
              </a:rPr>
              <a:t>个</a:t>
            </a:r>
            <a:r>
              <a:rPr lang="zh-CN" altLang="zh-CN" kern="0" spc="-15" dirty="0">
                <a:solidFill>
                  <a:srgbClr val="6E6E6E"/>
                </a:solidFill>
                <a:cs typeface="宋体" panose="02010600030101010101" pitchFamily="2" charset="-122"/>
              </a:rPr>
              <a:t>一</a:t>
            </a:r>
            <a:r>
              <a:rPr lang="zh-CN" altLang="zh-CN" kern="0" dirty="0">
                <a:solidFill>
                  <a:srgbClr val="282828"/>
                </a:solidFill>
                <a:cs typeface="宋体" panose="02010600030101010101" pitchFamily="2" charset="-122"/>
              </a:rPr>
              <a:t>组的预先制造的</a:t>
            </a:r>
            <a:r>
              <a:rPr lang="zh-CN" altLang="zh-CN" kern="0" spc="165" dirty="0">
                <a:solidFill>
                  <a:srgbClr val="282828"/>
                </a:solidFill>
                <a:cs typeface="宋体" panose="02010600030101010101" pitchFamily="2" charset="-122"/>
              </a:rPr>
              <a:t> </a:t>
            </a:r>
            <a:r>
              <a:rPr lang="en-US" altLang="zh-CN" sz="2400" kern="0" dirty="0">
                <a:solidFill>
                  <a:srgbClr val="282828"/>
                </a:solidFill>
                <a:latin typeface="Courier New" panose="02070309020205020404" pitchFamily="49" charset="0"/>
              </a:rPr>
              <a:t>MOS</a:t>
            </a:r>
            <a:r>
              <a:rPr lang="zh-CN" altLang="zh-CN" kern="0" dirty="0">
                <a:solidFill>
                  <a:srgbClr val="282828"/>
                </a:solidFill>
                <a:cs typeface="宋体" panose="02010600030101010101" pitchFamily="2" charset="-122"/>
              </a:rPr>
              <a:t>晶体</a:t>
            </a:r>
            <a:r>
              <a:rPr lang="zh-CN" altLang="zh-CN" kern="0" spc="-40" dirty="0">
                <a:solidFill>
                  <a:srgbClr val="282828"/>
                </a:solidFill>
                <a:cs typeface="宋体" panose="02010600030101010101" pitchFamily="2" charset="-122"/>
              </a:rPr>
              <a:t>管</a:t>
            </a:r>
            <a:endParaRPr lang="en-US" altLang="zh-CN" kern="0" dirty="0">
              <a:solidFill>
                <a:srgbClr val="282828"/>
              </a:solidFill>
              <a:latin typeface="Times New Roman" panose="02020603050405020304" pitchFamily="18" charset="0"/>
            </a:endParaRPr>
          </a:p>
          <a:p>
            <a:r>
              <a:rPr lang="zh-CN" altLang="en-US" kern="0" dirty="0">
                <a:solidFill>
                  <a:srgbClr val="282828"/>
                </a:solidFill>
                <a:latin typeface="Times New Roman" panose="02020603050405020304" pitchFamily="18" charset="0"/>
                <a:cs typeface="宋体" panose="02010600030101010101" pitchFamily="2" charset="-122"/>
              </a:rPr>
              <a:t>（</a:t>
            </a:r>
            <a:r>
              <a:rPr lang="en-US" altLang="zh-CN" kern="0" dirty="0">
                <a:solidFill>
                  <a:srgbClr val="282828"/>
                </a:solidFill>
                <a:latin typeface="Times New Roman" panose="02020603050405020304" pitchFamily="18" charset="0"/>
                <a:cs typeface="宋体" panose="02010600030101010101" pitchFamily="2" charset="-122"/>
              </a:rPr>
              <a:t>b</a:t>
            </a:r>
            <a:r>
              <a:rPr lang="zh-CN" altLang="en-US" kern="0" dirty="0">
                <a:solidFill>
                  <a:srgbClr val="282828"/>
                </a:solidFill>
                <a:latin typeface="Times New Roman" panose="02020603050405020304" pitchFamily="18" charset="0"/>
                <a:cs typeface="宋体" panose="02010600030101010101" pitchFamily="2" charset="-122"/>
              </a:rPr>
              <a:t>）</a:t>
            </a:r>
            <a:r>
              <a:rPr lang="zh-CN" altLang="zh-CN" kern="0" dirty="0">
                <a:solidFill>
                  <a:srgbClr val="282828"/>
                </a:solidFill>
                <a:cs typeface="宋体" panose="02010600030101010101" pitchFamily="2" charset="-122"/>
              </a:rPr>
              <a:t>有接触孔开口的金属图形</a:t>
            </a:r>
            <a:endParaRPr lang="en-US" altLang="zh-CN" kern="0" dirty="0">
              <a:solidFill>
                <a:srgbClr val="282828"/>
              </a:solidFill>
              <a:cs typeface="宋体" panose="02010600030101010101" pitchFamily="2" charset="-122"/>
            </a:endParaRPr>
          </a:p>
          <a:p>
            <a:r>
              <a:rPr lang="zh-CN" altLang="en-US" kern="0" dirty="0">
                <a:solidFill>
                  <a:srgbClr val="282828"/>
                </a:solidFill>
                <a:cs typeface="宋体" panose="02010600030101010101" pitchFamily="2" charset="-122"/>
              </a:rPr>
              <a:t>（</a:t>
            </a:r>
            <a:r>
              <a:rPr lang="en-US" altLang="zh-CN" kern="0" dirty="0">
                <a:solidFill>
                  <a:srgbClr val="282828"/>
                </a:solidFill>
                <a:cs typeface="宋体" panose="02010600030101010101" pitchFamily="2" charset="-122"/>
              </a:rPr>
              <a:t>c</a:t>
            </a:r>
            <a:r>
              <a:rPr lang="zh-CN" altLang="en-US" kern="0" dirty="0">
                <a:solidFill>
                  <a:srgbClr val="282828"/>
                </a:solidFill>
                <a:cs typeface="宋体" panose="02010600030101010101" pitchFamily="2" charset="-122"/>
              </a:rPr>
              <a:t>）</a:t>
            </a:r>
            <a:r>
              <a:rPr lang="zh-CN" altLang="zh-CN" kern="0" dirty="0">
                <a:solidFill>
                  <a:srgbClr val="282828"/>
                </a:solidFill>
                <a:cs typeface="宋体" panose="02010600030101010101" pitchFamily="2" charset="-122"/>
              </a:rPr>
              <a:t>完成</a:t>
            </a:r>
            <a:r>
              <a:rPr lang="zh-CN" altLang="zh-CN" kern="0" spc="60" dirty="0">
                <a:solidFill>
                  <a:srgbClr val="282828"/>
                </a:solidFill>
                <a:cs typeface="宋体" panose="02010600030101010101" pitchFamily="2" charset="-122"/>
              </a:rPr>
              <a:t>的</a:t>
            </a:r>
            <a:r>
              <a:rPr lang="zh-CN" altLang="zh-CN" kern="0" spc="-60" dirty="0">
                <a:solidFill>
                  <a:srgbClr val="565656"/>
                </a:solidFill>
                <a:cs typeface="宋体" panose="02010600030101010101" pitchFamily="2" charset="-122"/>
              </a:rPr>
              <a:t>二</a:t>
            </a:r>
            <a:r>
              <a:rPr lang="zh-CN" altLang="zh-CN" kern="0" dirty="0">
                <a:solidFill>
                  <a:srgbClr val="282828"/>
                </a:solidFill>
                <a:cs typeface="宋体" panose="02010600030101010101" pitchFamily="2" charset="-122"/>
              </a:rPr>
              <a:t>输入与非</a:t>
            </a:r>
            <a:r>
              <a:rPr lang="zh-CN" altLang="zh-CN" kern="0" spc="45" dirty="0">
                <a:solidFill>
                  <a:srgbClr val="282828"/>
                </a:solidFill>
                <a:cs typeface="宋体" panose="02010600030101010101" pitchFamily="2" charset="-122"/>
              </a:rPr>
              <a:t>门</a:t>
            </a:r>
            <a:endParaRPr lang="zh-CN" altLang="en-US" dirty="0"/>
          </a:p>
        </p:txBody>
      </p:sp>
    </p:spTree>
    <p:extLst>
      <p:ext uri="{BB962C8B-B14F-4D97-AF65-F5344CB8AC3E}">
        <p14:creationId xmlns:p14="http://schemas.microsoft.com/office/powerpoint/2010/main" val="3190308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738664"/>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1.2.3 </a:t>
            </a:r>
            <a:r>
              <a:rPr lang="zh-CN" altLang="en-US" sz="2400" b="1" kern="100" dirty="0">
                <a:latin typeface="Times New Roman" panose="02020603050405020304" pitchFamily="18" charset="0"/>
              </a:rPr>
              <a:t>生产视角</a:t>
            </a:r>
            <a:endParaRPr lang="en-US" altLang="zh-CN" sz="2400" b="1" kern="100" dirty="0">
              <a:latin typeface="Times New Roman" panose="02020603050405020304" pitchFamily="18" charset="0"/>
              <a:cs typeface="Times New Roman" panose="02020603050405020304" pitchFamily="18" charset="0"/>
            </a:endParaRPr>
          </a:p>
          <a:p>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457200" y="836712"/>
            <a:ext cx="7787208" cy="2232248"/>
          </a:xfrm>
        </p:spPr>
        <p:txBody>
          <a:bodyPr/>
          <a:lstStyle/>
          <a:p>
            <a:pPr marL="0" indent="0">
              <a:buNone/>
            </a:pPr>
            <a:r>
              <a:rPr lang="en-US" altLang="zh-CN" sz="2400" b="1" dirty="0"/>
              <a:t>3</a:t>
            </a:r>
            <a:r>
              <a:rPr lang="zh-CN" altLang="en-US" sz="2400" b="1" dirty="0"/>
              <a:t>）现场可编程逻辑（</a:t>
            </a:r>
            <a:r>
              <a:rPr lang="en-US" altLang="zh-CN" sz="2400" b="1" dirty="0"/>
              <a:t>FPL</a:t>
            </a:r>
            <a:r>
              <a:rPr lang="zh-CN" altLang="en-US" sz="2400" b="1" dirty="0"/>
              <a:t>：</a:t>
            </a:r>
            <a:r>
              <a:rPr lang="en-US" altLang="zh-CN" sz="2400" b="1" dirty="0"/>
              <a:t>Field-Programmable Logic</a:t>
            </a:r>
            <a:r>
              <a:rPr lang="zh-CN" altLang="en-US" sz="2400" b="1" dirty="0"/>
              <a:t>）</a:t>
            </a:r>
            <a:endParaRPr lang="en-US" altLang="zh-CN" sz="2400" b="1" dirty="0"/>
          </a:p>
          <a:p>
            <a:pPr marL="0" indent="0">
              <a:buNone/>
            </a:pPr>
            <a:r>
              <a:rPr lang="zh-CN" altLang="zh-CN" sz="2400" dirty="0"/>
              <a:t>不像半定制或全定制 </a:t>
            </a:r>
            <a:r>
              <a:rPr lang="en-US" altLang="zh-CN" sz="2400" dirty="0"/>
              <a:t>ASIC </a:t>
            </a:r>
            <a:r>
              <a:rPr lang="zh-CN" altLang="zh-CN" sz="2400" dirty="0"/>
              <a:t>，</a:t>
            </a:r>
            <a:r>
              <a:rPr lang="en-US" altLang="zh-CN" sz="2400" dirty="0"/>
              <a:t>FPL </a:t>
            </a:r>
            <a:r>
              <a:rPr lang="zh-CN" altLang="zh-CN" sz="2400" dirty="0"/>
              <a:t>器件提供的周转时间 从数秒到 几分钟，许多产品系列甚至允许系统内配置 </a:t>
            </a:r>
            <a:r>
              <a:rPr lang="en-US" altLang="zh-CN" sz="2400" dirty="0"/>
              <a:t>(In-System Configuration </a:t>
            </a:r>
            <a:r>
              <a:rPr lang="zh-CN" altLang="zh-CN" sz="2400" dirty="0"/>
              <a:t>，</a:t>
            </a:r>
            <a:r>
              <a:rPr lang="en-US" altLang="zh-CN" sz="2400" dirty="0"/>
              <a:t>ISC) </a:t>
            </a:r>
            <a:r>
              <a:rPr lang="zh-CN" altLang="zh-CN" sz="2400" dirty="0"/>
              <a:t>。</a:t>
            </a:r>
            <a:endParaRPr lang="en-US" altLang="zh-CN" sz="2400" dirty="0"/>
          </a:p>
          <a:p>
            <a:pPr marL="0" indent="0">
              <a:buNone/>
            </a:pPr>
            <a:endParaRPr lang="en-US" altLang="zh-CN" sz="2400" b="1" dirty="0"/>
          </a:p>
        </p:txBody>
      </p:sp>
      <p:pic>
        <p:nvPicPr>
          <p:cNvPr id="2" name="图片 1">
            <a:extLst>
              <a:ext uri="{FF2B5EF4-FFF2-40B4-BE49-F238E27FC236}">
                <a16:creationId xmlns:a16="http://schemas.microsoft.com/office/drawing/2014/main" id="{566E5725-75E2-45EF-8ECB-5DB77C9673E8}"/>
              </a:ext>
            </a:extLst>
          </p:cNvPr>
          <p:cNvPicPr>
            <a:picLocks noChangeAspect="1"/>
          </p:cNvPicPr>
          <p:nvPr/>
        </p:nvPicPr>
        <p:blipFill>
          <a:blip r:embed="rId3"/>
          <a:stretch>
            <a:fillRect/>
          </a:stretch>
        </p:blipFill>
        <p:spPr>
          <a:xfrm>
            <a:off x="3963160" y="2537520"/>
            <a:ext cx="3927709" cy="4320480"/>
          </a:xfrm>
          <a:prstGeom prst="rect">
            <a:avLst/>
          </a:prstGeom>
        </p:spPr>
      </p:pic>
      <p:sp>
        <p:nvSpPr>
          <p:cNvPr id="9" name="矩形 8">
            <a:extLst>
              <a:ext uri="{FF2B5EF4-FFF2-40B4-BE49-F238E27FC236}">
                <a16:creationId xmlns:a16="http://schemas.microsoft.com/office/drawing/2014/main" id="{C22ED4FC-7B20-4839-81CC-9C967F1399D8}"/>
              </a:ext>
            </a:extLst>
          </p:cNvPr>
          <p:cNvSpPr/>
          <p:nvPr/>
        </p:nvSpPr>
        <p:spPr>
          <a:xfrm>
            <a:off x="363823" y="3220432"/>
            <a:ext cx="3128057" cy="1477328"/>
          </a:xfrm>
          <a:prstGeom prst="rect">
            <a:avLst/>
          </a:prstGeom>
        </p:spPr>
        <p:txBody>
          <a:bodyPr wrap="square">
            <a:spAutoFit/>
          </a:bodyPr>
          <a:lstStyle/>
          <a:p>
            <a:r>
              <a:rPr lang="zh-CN" altLang="zh-CN" dirty="0"/>
              <a:t>现场可编程门阵列</a:t>
            </a:r>
            <a:r>
              <a:rPr lang="en-US" altLang="zh-CN" dirty="0"/>
              <a:t>(FPGA) </a:t>
            </a:r>
            <a:r>
              <a:rPr lang="zh-CN" altLang="zh-CN" dirty="0"/>
              <a:t>类似于掩模可编程门阵列 </a:t>
            </a:r>
            <a:r>
              <a:rPr lang="en-US" altLang="zh-CN" dirty="0"/>
              <a:t>(MPGA) </a:t>
            </a:r>
            <a:r>
              <a:rPr lang="zh-CN" altLang="zh-CN" dirty="0"/>
              <a:t>的地方在于，它们都被组织为多个逻辑组和互连通道</a:t>
            </a:r>
            <a:endParaRPr lang="zh-CN" altLang="en-US" i="1" dirty="0">
              <a:solidFill>
                <a:srgbClr val="FF0000"/>
              </a:solidFill>
            </a:endParaRPr>
          </a:p>
        </p:txBody>
      </p:sp>
    </p:spTree>
    <p:extLst>
      <p:ext uri="{BB962C8B-B14F-4D97-AF65-F5344CB8AC3E}">
        <p14:creationId xmlns:p14="http://schemas.microsoft.com/office/powerpoint/2010/main" val="3823650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738664"/>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1.2.3 </a:t>
            </a:r>
            <a:r>
              <a:rPr lang="zh-CN" altLang="en-US" sz="2400" b="1" kern="100" dirty="0">
                <a:latin typeface="Times New Roman" panose="02020603050405020304" pitchFamily="18" charset="0"/>
              </a:rPr>
              <a:t>生产视角</a:t>
            </a:r>
            <a:endParaRPr lang="en-US" altLang="zh-CN" sz="2400" b="1" kern="100" dirty="0">
              <a:latin typeface="Times New Roman" panose="02020603050405020304" pitchFamily="18" charset="0"/>
              <a:cs typeface="Times New Roman" panose="02020603050405020304" pitchFamily="18" charset="0"/>
            </a:endParaRPr>
          </a:p>
          <a:p>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457200" y="836712"/>
            <a:ext cx="7787208" cy="2232248"/>
          </a:xfrm>
        </p:spPr>
        <p:txBody>
          <a:bodyPr/>
          <a:lstStyle/>
          <a:p>
            <a:pPr marL="0" indent="0">
              <a:buNone/>
            </a:pPr>
            <a:r>
              <a:rPr lang="en-US" altLang="zh-CN" sz="2400" b="1" dirty="0"/>
              <a:t>4</a:t>
            </a:r>
            <a:r>
              <a:rPr lang="zh-CN" altLang="en-US" sz="2400" b="1" dirty="0"/>
              <a:t>）标准组件</a:t>
            </a:r>
            <a:endParaRPr lang="en-US" altLang="zh-CN" sz="2400" b="1" dirty="0"/>
          </a:p>
          <a:p>
            <a:pPr marL="0" indent="0">
              <a:buNone/>
            </a:pPr>
            <a:r>
              <a:rPr lang="zh-CN" altLang="zh-CN" sz="2400" dirty="0"/>
              <a:t>也称为商用现货 </a:t>
            </a:r>
            <a:r>
              <a:rPr lang="en-US" altLang="zh-CN" sz="2400" dirty="0"/>
              <a:t>(Commercial  Off The-Shelf</a:t>
            </a:r>
            <a:r>
              <a:rPr lang="zh-CN" altLang="zh-CN" sz="2400" dirty="0"/>
              <a:t>，</a:t>
            </a:r>
            <a:r>
              <a:rPr lang="en-US" altLang="zh-CN" sz="2400" dirty="0"/>
              <a:t>COTS) </a:t>
            </a:r>
            <a:r>
              <a:rPr lang="zh-CN" altLang="zh-CN" sz="2400" dirty="0"/>
              <a:t>元件，意思是无论电路硬件是 什么都没有定制的组件。</a:t>
            </a:r>
            <a:endParaRPr lang="en-US" altLang="zh-CN" sz="2400" dirty="0"/>
          </a:p>
          <a:p>
            <a:pPr marL="0" indent="0">
              <a:buNone/>
            </a:pPr>
            <a:endParaRPr lang="en-US" altLang="zh-CN" sz="2400" b="1" dirty="0"/>
          </a:p>
        </p:txBody>
      </p:sp>
    </p:spTree>
    <p:extLst>
      <p:ext uri="{BB962C8B-B14F-4D97-AF65-F5344CB8AC3E}">
        <p14:creationId xmlns:p14="http://schemas.microsoft.com/office/powerpoint/2010/main" val="209425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1.2.4 </a:t>
            </a:r>
            <a:r>
              <a:rPr lang="zh-CN" altLang="en-US" sz="2400" b="1" kern="100" dirty="0">
                <a:latin typeface="Times New Roman" panose="02020603050405020304" pitchFamily="18" charset="0"/>
              </a:rPr>
              <a:t>设计视角</a:t>
            </a:r>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467544" y="1196752"/>
            <a:ext cx="7920880" cy="4392488"/>
          </a:xfrm>
        </p:spPr>
        <p:txBody>
          <a:bodyPr/>
          <a:lstStyle/>
          <a:p>
            <a:pPr marL="0" indent="0">
              <a:buNone/>
            </a:pPr>
            <a:r>
              <a:rPr lang="en-US" altLang="zh-CN" sz="2400" b="1" dirty="0"/>
              <a:t>1</a:t>
            </a:r>
            <a:r>
              <a:rPr lang="zh-CN" altLang="en-US" sz="2400" b="1" dirty="0"/>
              <a:t>）手工版图</a:t>
            </a:r>
            <a:endParaRPr lang="en-US" altLang="zh-CN" sz="2400" b="1" dirty="0"/>
          </a:p>
          <a:p>
            <a:pPr marL="0" indent="0">
              <a:buNone/>
            </a:pPr>
            <a:r>
              <a:rPr lang="en-US" altLang="zh-CN" sz="2400" dirty="0"/>
              <a:t>IC </a:t>
            </a:r>
            <a:r>
              <a:rPr lang="zh-CN" altLang="zh-CN" sz="2400" dirty="0"/>
              <a:t>或它的某个子模块通过在版图层次描述单个晶体管、导线和其他电 路元件被输入到 </a:t>
            </a:r>
            <a:r>
              <a:rPr lang="en-US" altLang="zh-CN" sz="2400" dirty="0"/>
              <a:t>CAD </a:t>
            </a:r>
            <a:r>
              <a:rPr lang="zh-CN" altLang="zh-CN" sz="2400" dirty="0"/>
              <a:t>数据库中 。设计者使用版图编辑器</a:t>
            </a:r>
            <a:r>
              <a:rPr lang="en-US" altLang="zh-CN" sz="2400" dirty="0"/>
              <a:t>(</a:t>
            </a:r>
            <a:r>
              <a:rPr lang="zh-CN" altLang="zh-CN" sz="2400" dirty="0"/>
              <a:t>本质上是个彩色图形编辑工具</a:t>
            </a:r>
            <a:r>
              <a:rPr lang="en-US" altLang="zh-CN" sz="2400" dirty="0"/>
              <a:t>)</a:t>
            </a:r>
            <a:r>
              <a:rPr lang="zh-CN" altLang="zh-CN" sz="2400" dirty="0"/>
              <a:t>按比例画 出几何形状。</a:t>
            </a:r>
            <a:endParaRPr lang="en-US" altLang="zh-CN" sz="2400" dirty="0"/>
          </a:p>
          <a:p>
            <a:pPr marL="0" indent="0">
              <a:buNone/>
            </a:pPr>
            <a:r>
              <a:rPr lang="zh-CN" altLang="zh-CN" sz="2400" dirty="0"/>
              <a:t>以这种方式设计的任何电路必须遵守目标 工艺规定的版图规则。 移植到另一个工艺时需要重新设计版图，除非这 一组新的规则是通过前一组规则的简单缩放操作得 到的。</a:t>
            </a:r>
            <a:endParaRPr lang="en-US" altLang="zh-CN" sz="2400" b="1" dirty="0"/>
          </a:p>
          <a:p>
            <a:pPr marL="0" indent="0">
              <a:buNone/>
            </a:pPr>
            <a:r>
              <a:rPr lang="zh-CN" altLang="zh-CN" sz="2400" dirty="0"/>
              <a:t>当寻求最大的密度、性能或电学匹配时，手工编辑给予设计者对他们版图的完全控制。</a:t>
            </a:r>
            <a:endParaRPr lang="en-US" altLang="zh-CN" sz="2400" dirty="0"/>
          </a:p>
          <a:p>
            <a:pPr marL="0" indent="0">
              <a:buNone/>
            </a:pPr>
            <a:endParaRPr lang="en-US" altLang="zh-CN" sz="2400" b="1" dirty="0"/>
          </a:p>
          <a:p>
            <a:pPr marL="0" indent="0">
              <a:buNone/>
            </a:pPr>
            <a:endParaRPr lang="en-US" altLang="zh-CN" sz="2400" b="1" dirty="0"/>
          </a:p>
          <a:p>
            <a:pPr marL="0" indent="0">
              <a:buNone/>
            </a:pPr>
            <a:endParaRPr lang="en-US" altLang="zh-CN" sz="2400" b="1" dirty="0"/>
          </a:p>
        </p:txBody>
      </p:sp>
    </p:spTree>
    <p:extLst>
      <p:ext uri="{BB962C8B-B14F-4D97-AF65-F5344CB8AC3E}">
        <p14:creationId xmlns:p14="http://schemas.microsoft.com/office/powerpoint/2010/main" val="2322620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1.2.4 </a:t>
            </a:r>
            <a:r>
              <a:rPr lang="zh-CN" altLang="en-US" sz="2400" b="1" kern="100" dirty="0">
                <a:latin typeface="Times New Roman" panose="02020603050405020304" pitchFamily="18" charset="0"/>
              </a:rPr>
              <a:t>设计视角</a:t>
            </a:r>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467544" y="1196752"/>
            <a:ext cx="7992888" cy="5400600"/>
          </a:xfrm>
        </p:spPr>
        <p:txBody>
          <a:bodyPr/>
          <a:lstStyle/>
          <a:p>
            <a:pPr marL="0" indent="0">
              <a:buNone/>
            </a:pPr>
            <a:r>
              <a:rPr lang="en-US" altLang="zh-CN" sz="2400" b="1" dirty="0"/>
              <a:t>2</a:t>
            </a:r>
            <a:r>
              <a:rPr lang="zh-CN" altLang="en-US" sz="2400" b="1" dirty="0"/>
              <a:t>）通过电路图输入的基于单元的设计</a:t>
            </a:r>
            <a:endParaRPr lang="en-US" altLang="zh-CN" sz="2400" b="1" dirty="0"/>
          </a:p>
          <a:p>
            <a:pPr marL="0" indent="0">
              <a:buNone/>
            </a:pPr>
            <a:r>
              <a:rPr lang="zh-CN" altLang="zh-CN" sz="2400" dirty="0"/>
              <a:t>设计描述是画出电路的结构图，其中的子功能</a:t>
            </a:r>
            <a:r>
              <a:rPr lang="en-US" altLang="zh-CN" sz="2400" dirty="0"/>
              <a:t>(</a:t>
            </a:r>
            <a:r>
              <a:rPr lang="zh-CN" altLang="zh-CN" sz="2400" dirty="0"/>
              <a:t>大部分是逻辑门</a:t>
            </a:r>
            <a:r>
              <a:rPr lang="en-US" altLang="zh-CN" sz="2400" dirty="0"/>
              <a:t>)</a:t>
            </a:r>
            <a:r>
              <a:rPr lang="zh-CN" altLang="zh-CN" sz="2400" dirty="0"/>
              <a:t>是实例化的并用导线 互连 ，那些基本子电路</a:t>
            </a:r>
            <a:r>
              <a:rPr lang="en-US" altLang="zh-CN" sz="2400" dirty="0"/>
              <a:t>(</a:t>
            </a:r>
            <a:r>
              <a:rPr lang="zh-CN" altLang="zh-CN" sz="2400" dirty="0"/>
              <a:t>也称为单元</a:t>
            </a:r>
            <a:r>
              <a:rPr lang="en-US" altLang="zh-CN" sz="2400" dirty="0"/>
              <a:t>)</a:t>
            </a:r>
            <a:r>
              <a:rPr lang="zh-CN" altLang="zh-CN" sz="2400" dirty="0"/>
              <a:t>的所有细节 是在之前确定的，并 收集在单元 库里供 </a:t>
            </a:r>
            <a:r>
              <a:rPr lang="en-US" altLang="zh-CN" sz="2400" dirty="0"/>
              <a:t>VLSI </a:t>
            </a:r>
            <a:r>
              <a:rPr lang="zh-CN" altLang="zh-CN" sz="2400" dirty="0"/>
              <a:t>设计者使用</a:t>
            </a:r>
            <a:r>
              <a:rPr lang="zh-CN" altLang="en-US" sz="2400" dirty="0"/>
              <a:t>。</a:t>
            </a:r>
            <a:endParaRPr lang="en-US" altLang="zh-CN" sz="2400" dirty="0"/>
          </a:p>
          <a:p>
            <a:pPr marL="0" indent="0">
              <a:buNone/>
            </a:pPr>
            <a:r>
              <a:rPr lang="zh-CN" altLang="zh-CN" sz="2400" dirty="0"/>
              <a:t>电路图编辑器与标准的绘图工具在好几个方面都不同。</a:t>
            </a:r>
          </a:p>
          <a:p>
            <a:r>
              <a:rPr lang="zh-CN" altLang="zh-CN" sz="2400" dirty="0"/>
              <a:t>当元件的位置改变时，电路的互连 仍然保持。</a:t>
            </a:r>
          </a:p>
          <a:p>
            <a:r>
              <a:rPr lang="zh-CN" altLang="zh-CN" sz="2400" dirty="0"/>
              <a:t>电路图编辑器能够读入和写出电路图和网表。</a:t>
            </a:r>
          </a:p>
          <a:p>
            <a:r>
              <a:rPr lang="zh-CN" altLang="zh-CN" sz="2400" dirty="0"/>
              <a:t>它支持电路的概念，如连接器、总线、节点名和实例标识符。得到的电路和网表再通过仿真和其 他方</a:t>
            </a:r>
            <a:r>
              <a:rPr lang="zh-CN" altLang="en-US" sz="2400" dirty="0"/>
              <a:t>法</a:t>
            </a:r>
            <a:r>
              <a:rPr lang="zh-CN" altLang="zh-CN" sz="2400" dirty="0"/>
              <a:t>验证 。</a:t>
            </a:r>
            <a:endParaRPr lang="en-US" altLang="zh-CN" sz="2400" dirty="0"/>
          </a:p>
          <a:p>
            <a:r>
              <a:rPr lang="zh-CN" altLang="zh-CN" sz="2400" dirty="0"/>
              <a:t>与手工绘制版图的方式相比，基于单元的设计从依赖工艺的细节向着抽象设计迈出了显著的一步。</a:t>
            </a:r>
            <a:endParaRPr lang="en-US" altLang="zh-CN" sz="2400" b="1" dirty="0"/>
          </a:p>
        </p:txBody>
      </p:sp>
    </p:spTree>
    <p:extLst>
      <p:ext uri="{BB962C8B-B14F-4D97-AF65-F5344CB8AC3E}">
        <p14:creationId xmlns:p14="http://schemas.microsoft.com/office/powerpoint/2010/main" val="1430924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1.2.4 </a:t>
            </a:r>
            <a:r>
              <a:rPr lang="zh-CN" altLang="en-US" sz="2400" b="1" kern="100" dirty="0">
                <a:latin typeface="Times New Roman" panose="02020603050405020304" pitchFamily="18" charset="0"/>
              </a:rPr>
              <a:t>设计视角</a:t>
            </a:r>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251520" y="1196752"/>
            <a:ext cx="8496944" cy="5472608"/>
          </a:xfrm>
        </p:spPr>
        <p:txBody>
          <a:bodyPr/>
          <a:lstStyle/>
          <a:p>
            <a:pPr marL="0" indent="0">
              <a:buNone/>
            </a:pPr>
            <a:r>
              <a:rPr lang="en-US" altLang="zh-CN" sz="2400" b="1" dirty="0"/>
              <a:t>2</a:t>
            </a:r>
            <a:r>
              <a:rPr lang="zh-CN" altLang="en-US" sz="2400" b="1" dirty="0"/>
              <a:t>）通过电路图输入的基于单元的设计</a:t>
            </a:r>
            <a:endParaRPr lang="en-US" altLang="zh-CN" sz="2400" b="1" dirty="0"/>
          </a:p>
          <a:p>
            <a:pPr marL="0" indent="0">
              <a:buNone/>
            </a:pPr>
            <a:r>
              <a:rPr lang="zh-CN" altLang="zh-CN" sz="2400" b="1" dirty="0"/>
              <a:t>标准单元</a:t>
            </a:r>
            <a:r>
              <a:rPr lang="zh-CN" altLang="en-US" sz="2400" b="1" dirty="0"/>
              <a:t>：</a:t>
            </a:r>
            <a:r>
              <a:rPr lang="zh-CN" altLang="zh-CN" sz="2400" dirty="0"/>
              <a:t>很小但很通用的构建模块，例如逻辑门、锁存器、触发器、多路选择器、加陆器片段等， 有预先确定的版图和确定的电学特性。</a:t>
            </a:r>
            <a:endParaRPr lang="en-US" altLang="zh-CN" sz="2400" dirty="0"/>
          </a:p>
          <a:p>
            <a:pPr marL="0" indent="0">
              <a:buNone/>
            </a:pPr>
            <a:r>
              <a:rPr lang="zh-CN" altLang="zh-CN" sz="2400" b="1" dirty="0"/>
              <a:t>巨单元 </a:t>
            </a:r>
            <a:r>
              <a:rPr lang="en-US" altLang="zh-CN" sz="2400" b="1" dirty="0"/>
              <a:t>(megacel1)</a:t>
            </a:r>
            <a:r>
              <a:rPr lang="zh-CN" altLang="en-US" sz="2400" b="1" dirty="0"/>
              <a:t>：</a:t>
            </a:r>
            <a:r>
              <a:rPr lang="zh-CN" altLang="zh-CN" sz="2400" dirty="0"/>
              <a:t>与标准元件的区别在于它们更大的尺寸和更 高的复杂度。典型的例子包括微处理核以及外围设备，例如直接存储访问控制器、各种串行和 并行通信接口、定时器、 </a:t>
            </a:r>
            <a:r>
              <a:rPr lang="en-US" altLang="zh-CN" sz="2400" dirty="0"/>
              <a:t>AID </a:t>
            </a:r>
            <a:r>
              <a:rPr lang="zh-CN" altLang="zh-CN" sz="2400" dirty="0"/>
              <a:t>和 </a:t>
            </a:r>
            <a:r>
              <a:rPr lang="en-US" altLang="zh-CN" sz="2400" dirty="0"/>
              <a:t>D/A </a:t>
            </a:r>
            <a:r>
              <a:rPr lang="zh-CN" altLang="zh-CN" sz="2400" dirty="0"/>
              <a:t>转换器等。</a:t>
            </a:r>
            <a:endParaRPr lang="en-US" altLang="zh-CN" sz="2400" dirty="0"/>
          </a:p>
          <a:p>
            <a:pPr marL="0" indent="0">
              <a:buNone/>
            </a:pPr>
            <a:r>
              <a:rPr lang="zh-CN" altLang="zh-CN" sz="2400" b="1" dirty="0"/>
              <a:t>宏单元</a:t>
            </a:r>
            <a:r>
              <a:rPr lang="zh-CN" altLang="en-US" sz="2400" b="1" dirty="0"/>
              <a:t>：</a:t>
            </a:r>
            <a:r>
              <a:rPr lang="zh-CN" altLang="zh-CN" sz="2400" dirty="0"/>
              <a:t>它 们的版图根据设计者的规格基于每个案例的情况被组合汇编。执行这个任务的软件工具被称为 宏单元生产器 ，它还负责提供仿真模型、图标、数据手册和宏单元的 其他视图。出于面积和设计效率的考虑，基本上只限于使用在中等复杂度的通用构建 模块，如 </a:t>
            </a:r>
            <a:r>
              <a:rPr lang="en-US" altLang="zh-CN" sz="2400" dirty="0"/>
              <a:t>RAM </a:t>
            </a:r>
            <a:r>
              <a:rPr lang="zh-CN" altLang="zh-CN" sz="2400" dirty="0"/>
              <a:t>和 </a:t>
            </a:r>
            <a:r>
              <a:rPr lang="en-US" altLang="zh-CN" sz="2400" dirty="0"/>
              <a:t>ROM </a:t>
            </a:r>
            <a:r>
              <a:rPr lang="zh-CN" altLang="zh-CN" sz="2400" dirty="0"/>
              <a:t>。</a:t>
            </a:r>
            <a:endParaRPr lang="en-US" altLang="zh-CN" sz="2400" b="1" dirty="0"/>
          </a:p>
        </p:txBody>
      </p:sp>
    </p:spTree>
    <p:extLst>
      <p:ext uri="{BB962C8B-B14F-4D97-AF65-F5344CB8AC3E}">
        <p14:creationId xmlns:p14="http://schemas.microsoft.com/office/powerpoint/2010/main" val="2289529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1.2.4 </a:t>
            </a:r>
            <a:r>
              <a:rPr lang="zh-CN" altLang="en-US" sz="2400" b="1" kern="100" dirty="0">
                <a:latin typeface="Times New Roman" panose="02020603050405020304" pitchFamily="18" charset="0"/>
              </a:rPr>
              <a:t>设计视角</a:t>
            </a:r>
            <a:endParaRPr lang="zh-CN" altLang="en-US" dirty="0"/>
          </a:p>
        </p:txBody>
      </p:sp>
      <p:pic>
        <p:nvPicPr>
          <p:cNvPr id="2" name="图片 1">
            <a:extLst>
              <a:ext uri="{FF2B5EF4-FFF2-40B4-BE49-F238E27FC236}">
                <a16:creationId xmlns:a16="http://schemas.microsoft.com/office/drawing/2014/main" id="{78531DB2-1180-4AAA-9127-438900DBE194}"/>
              </a:ext>
            </a:extLst>
          </p:cNvPr>
          <p:cNvPicPr>
            <a:picLocks noChangeAspect="1"/>
          </p:cNvPicPr>
          <p:nvPr/>
        </p:nvPicPr>
        <p:blipFill>
          <a:blip r:embed="rId3"/>
          <a:stretch>
            <a:fillRect/>
          </a:stretch>
        </p:blipFill>
        <p:spPr>
          <a:xfrm>
            <a:off x="422676" y="794320"/>
            <a:ext cx="7533700" cy="5529661"/>
          </a:xfrm>
          <a:prstGeom prst="rect">
            <a:avLst/>
          </a:prstGeom>
        </p:spPr>
      </p:pic>
      <p:sp>
        <p:nvSpPr>
          <p:cNvPr id="3" name="矩形 2">
            <a:extLst>
              <a:ext uri="{FF2B5EF4-FFF2-40B4-BE49-F238E27FC236}">
                <a16:creationId xmlns:a16="http://schemas.microsoft.com/office/drawing/2014/main" id="{D24610D4-1C61-4DD1-9993-2EA610F7943A}"/>
              </a:ext>
            </a:extLst>
          </p:cNvPr>
          <p:cNvSpPr/>
          <p:nvPr/>
        </p:nvSpPr>
        <p:spPr>
          <a:xfrm>
            <a:off x="2020422" y="6445058"/>
            <a:ext cx="5103155" cy="369332"/>
          </a:xfrm>
          <a:prstGeom prst="rect">
            <a:avLst/>
          </a:prstGeom>
        </p:spPr>
        <p:txBody>
          <a:bodyPr wrap="square">
            <a:spAutoFit/>
          </a:bodyPr>
          <a:lstStyle/>
          <a:p>
            <a:r>
              <a:rPr lang="zh-CN" altLang="zh-CN" kern="0" dirty="0">
                <a:solidFill>
                  <a:srgbClr val="383838"/>
                </a:solidFill>
                <a:latin typeface="Times New Roman" panose="02020603050405020304" pitchFamily="18" charset="0"/>
                <a:ea typeface="等线" panose="02010600030101010101" pitchFamily="2" charset="-122"/>
                <a:cs typeface="Times New Roman" panose="02020603050405020304" pitchFamily="18" charset="0"/>
              </a:rPr>
              <a:t>全定制</a:t>
            </a:r>
            <a:r>
              <a:rPr lang="zh-CN" altLang="zh-CN" kern="0" spc="-165" dirty="0">
                <a:solidFill>
                  <a:srgbClr val="383838"/>
                </a:solidFill>
                <a:ea typeface="Times New Roman" panose="02020603050405020304" pitchFamily="18" charset="0"/>
              </a:rPr>
              <a:t> </a:t>
            </a:r>
            <a:r>
              <a:rPr lang="en-US" altLang="zh-CN" kern="0" dirty="0">
                <a:solidFill>
                  <a:srgbClr val="383838"/>
                </a:solidFill>
                <a:latin typeface="Times New Roman" panose="02020603050405020304" pitchFamily="18" charset="0"/>
                <a:ea typeface="等线" panose="02010600030101010101" pitchFamily="2" charset="-122"/>
              </a:rPr>
              <a:t>IC</a:t>
            </a:r>
            <a:r>
              <a:rPr lang="en-US" altLang="zh-CN" kern="0" spc="55" dirty="0">
                <a:solidFill>
                  <a:srgbClr val="383838"/>
                </a:solidFill>
                <a:latin typeface="Times New Roman" panose="02020603050405020304" pitchFamily="18" charset="0"/>
                <a:ea typeface="等线" panose="02010600030101010101" pitchFamily="2" charset="-122"/>
              </a:rPr>
              <a:t> </a:t>
            </a:r>
            <a:r>
              <a:rPr lang="zh-CN" altLang="zh-CN" kern="0" dirty="0">
                <a:solidFill>
                  <a:srgbClr val="383838"/>
                </a:solidFill>
                <a:latin typeface="Times New Roman" panose="02020603050405020304" pitchFamily="18" charset="0"/>
                <a:ea typeface="等线" panose="02010600030101010101" pitchFamily="2" charset="-122"/>
                <a:cs typeface="Times New Roman" panose="02020603050405020304" pitchFamily="18" charset="0"/>
              </a:rPr>
              <a:t>中的典型的单元</a:t>
            </a:r>
            <a:r>
              <a:rPr lang="zh-CN" altLang="en-US" kern="0" dirty="0">
                <a:solidFill>
                  <a:srgbClr val="383838"/>
                </a:solidFill>
                <a:latin typeface="Times New Roman" panose="02020603050405020304" pitchFamily="18" charset="0"/>
                <a:ea typeface="等线" panose="02010600030101010101" pitchFamily="2" charset="-122"/>
              </a:rPr>
              <a:t>混合</a:t>
            </a:r>
            <a:endParaRPr lang="zh-CN" altLang="en-US" dirty="0"/>
          </a:p>
        </p:txBody>
      </p:sp>
    </p:spTree>
    <p:extLst>
      <p:ext uri="{BB962C8B-B14F-4D97-AF65-F5344CB8AC3E}">
        <p14:creationId xmlns:p14="http://schemas.microsoft.com/office/powerpoint/2010/main" val="1860243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1.2.4 </a:t>
            </a:r>
            <a:r>
              <a:rPr lang="zh-CN" altLang="en-US" sz="2400" b="1" kern="100" dirty="0">
                <a:latin typeface="Times New Roman" panose="02020603050405020304" pitchFamily="18" charset="0"/>
              </a:rPr>
              <a:t>设计视角</a:t>
            </a:r>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251520" y="1196752"/>
            <a:ext cx="8496944" cy="5472608"/>
          </a:xfrm>
        </p:spPr>
        <p:txBody>
          <a:bodyPr/>
          <a:lstStyle/>
          <a:p>
            <a:pPr marL="0" indent="0">
              <a:buNone/>
            </a:pPr>
            <a:r>
              <a:rPr lang="en-US" altLang="zh-CN" sz="2400" b="1" dirty="0"/>
              <a:t>3</a:t>
            </a:r>
            <a:r>
              <a:rPr lang="zh-CN" altLang="en-US" sz="2400" b="1" dirty="0"/>
              <a:t>）自动电路综合</a:t>
            </a:r>
            <a:endParaRPr lang="en-US" altLang="zh-CN" sz="2400" b="1" dirty="0"/>
          </a:p>
          <a:p>
            <a:pPr marL="0" indent="0">
              <a:buNone/>
            </a:pPr>
            <a:r>
              <a:rPr lang="zh-CN" altLang="zh-CN" sz="2400" dirty="0"/>
              <a:t>设计</a:t>
            </a:r>
            <a:r>
              <a:rPr lang="zh-CN" altLang="en-US" sz="2400" dirty="0"/>
              <a:t>入口</a:t>
            </a:r>
            <a:r>
              <a:rPr lang="zh-CN" altLang="zh-CN" sz="2400" dirty="0"/>
              <a:t>层次是整个芯片或其中主要子模块的形式化描述</a:t>
            </a:r>
            <a:r>
              <a:rPr lang="zh-CN" altLang="en-US" sz="2400" dirty="0"/>
              <a:t>，</a:t>
            </a:r>
            <a:r>
              <a:rPr lang="zh-CN" altLang="zh-CN" sz="2400" dirty="0"/>
              <a:t>用 </a:t>
            </a:r>
            <a:r>
              <a:rPr lang="en-US" altLang="zh-CN" sz="2400" dirty="0"/>
              <a:t>HDL (Hardware Description </a:t>
            </a:r>
            <a:r>
              <a:rPr lang="en-US" altLang="zh-CN" sz="2400" dirty="0" err="1"/>
              <a:t>Langu</a:t>
            </a:r>
            <a:r>
              <a:rPr lang="en-US" altLang="zh-CN" sz="2400" dirty="0"/>
              <a:t> age </a:t>
            </a:r>
            <a:r>
              <a:rPr lang="zh-CN" altLang="zh-CN" sz="2400" dirty="0"/>
              <a:t>，硬件描述语言 </a:t>
            </a:r>
            <a:r>
              <a:rPr lang="en-US" altLang="zh-CN" sz="2400" dirty="0"/>
              <a:t>)</a:t>
            </a:r>
            <a:r>
              <a:rPr lang="zh-CN" altLang="zh-CN" sz="2400" dirty="0"/>
              <a:t>写成的，比如 </a:t>
            </a:r>
            <a:r>
              <a:rPr lang="en-US" altLang="zh-CN" sz="2400" dirty="0"/>
              <a:t>VHDL </a:t>
            </a:r>
            <a:r>
              <a:rPr lang="zh-CN" altLang="zh-CN" sz="2400" dirty="0"/>
              <a:t>或 </a:t>
            </a:r>
            <a:r>
              <a:rPr lang="en-US" altLang="zh-CN" sz="2400" dirty="0" err="1"/>
              <a:t>Veri</a:t>
            </a:r>
            <a:r>
              <a:rPr lang="en-US" altLang="zh-CN" sz="2400" dirty="0"/>
              <a:t> log </a:t>
            </a:r>
            <a:r>
              <a:rPr lang="zh-CN" altLang="zh-CN" sz="2400" dirty="0"/>
              <a:t>，自动综合输出门级网表</a:t>
            </a:r>
            <a:r>
              <a:rPr lang="zh-CN" altLang="en-US" sz="2400" dirty="0"/>
              <a:t>，</a:t>
            </a:r>
            <a:r>
              <a:rPr lang="zh-CN" altLang="zh-CN" sz="2400" dirty="0"/>
              <a:t>然后这些网表就形成了布局布线或者准备位数据流的起点，那些数据流将 最终用于配置 </a:t>
            </a:r>
            <a:r>
              <a:rPr lang="en-US" altLang="zh-CN" sz="2400" dirty="0"/>
              <a:t>FPL </a:t>
            </a:r>
            <a:r>
              <a:rPr lang="zh-CN" altLang="zh-CN" sz="2400" dirty="0"/>
              <a:t>器件</a:t>
            </a:r>
            <a:r>
              <a:rPr lang="zh-CN" altLang="en-US" sz="2400" dirty="0"/>
              <a:t>或者</a:t>
            </a:r>
            <a:r>
              <a:rPr lang="en-US" altLang="zh-CN" sz="2400" dirty="0"/>
              <a:t>ASIC</a:t>
            </a:r>
            <a:r>
              <a:rPr lang="zh-CN" altLang="zh-CN" sz="2400" dirty="0"/>
              <a:t>。</a:t>
            </a:r>
            <a:endParaRPr lang="en-US" altLang="zh-CN" sz="2400" dirty="0"/>
          </a:p>
          <a:p>
            <a:pPr marL="0" indent="0">
              <a:buNone/>
            </a:pPr>
            <a:r>
              <a:rPr lang="zh-CN" altLang="zh-CN" sz="2400" dirty="0"/>
              <a:t>逻辑综合指的是生成组合网络和</a:t>
            </a:r>
            <a:r>
              <a:rPr lang="en-US" altLang="zh-CN" sz="2400" dirty="0"/>
              <a:t>(</a:t>
            </a:r>
            <a:r>
              <a:rPr lang="zh-CN" altLang="zh-CN" sz="2400" dirty="0"/>
              <a:t>作为 一个扩展</a:t>
            </a:r>
            <a:r>
              <a:rPr lang="en-US" altLang="zh-CN" sz="2400" dirty="0"/>
              <a:t>)</a:t>
            </a:r>
            <a:r>
              <a:rPr lang="zh-CN" altLang="zh-CN" sz="2400" dirty="0"/>
              <a:t>相对简单的有限状态机</a:t>
            </a:r>
            <a:r>
              <a:rPr lang="en-US" altLang="zh-CN" sz="2400" dirty="0"/>
              <a:t>   (FSM) </a:t>
            </a:r>
            <a:r>
              <a:rPr lang="zh-CN" altLang="zh-CN" sz="2400" dirty="0"/>
              <a:t>。综合工具接受由 操作符例如非、与、或、异或等搭建的逻辑等式、真值表、状态图等。</a:t>
            </a:r>
            <a:endParaRPr lang="en-US" altLang="zh-CN" sz="2400" dirty="0"/>
          </a:p>
          <a:p>
            <a:pPr marL="0" indent="0">
              <a:buNone/>
            </a:pPr>
            <a:r>
              <a:rPr lang="en-US" altLang="zh-CN" sz="2400" dirty="0"/>
              <a:t>RTL (</a:t>
            </a:r>
            <a:r>
              <a:rPr lang="zh-CN" altLang="zh-CN" sz="2400" dirty="0"/>
              <a:t>寄存器传输级</a:t>
            </a:r>
            <a:r>
              <a:rPr lang="en-US" altLang="zh-CN" sz="2400" dirty="0"/>
              <a:t>)</a:t>
            </a:r>
            <a:r>
              <a:rPr lang="zh-CN" altLang="zh-CN" sz="2400" dirty="0"/>
              <a:t>综合要更进一步，它把整个电路看作是由存储元件</a:t>
            </a:r>
            <a:r>
              <a:rPr lang="zh-CN" altLang="en-US" sz="2400" dirty="0"/>
              <a:t>（</a:t>
            </a:r>
            <a:r>
              <a:rPr lang="zh-CN" altLang="zh-CN" sz="2400" dirty="0"/>
              <a:t>寄存器</a:t>
            </a:r>
            <a:r>
              <a:rPr lang="zh-CN" altLang="en-US" sz="2400" dirty="0"/>
              <a:t>或</a:t>
            </a:r>
            <a:r>
              <a:rPr lang="zh-CN" altLang="zh-CN" sz="2400" dirty="0"/>
              <a:t> </a:t>
            </a:r>
            <a:r>
              <a:rPr lang="en-US" altLang="zh-CN" sz="2400" dirty="0"/>
              <a:t>RAM</a:t>
            </a:r>
            <a:r>
              <a:rPr lang="zh-CN" altLang="en-US" sz="2400" dirty="0"/>
              <a:t>）</a:t>
            </a:r>
            <a:r>
              <a:rPr lang="zh-CN" altLang="zh-CN" sz="2400" dirty="0"/>
              <a:t>构成的网络，存储元件由组合构建模块结合在一起。允许包括算</a:t>
            </a:r>
            <a:r>
              <a:rPr lang="zh-CN" altLang="en-US" sz="2400" dirty="0"/>
              <a:t>法</a:t>
            </a:r>
            <a:r>
              <a:rPr lang="zh-CN" altLang="zh-CN" sz="2400" dirty="0"/>
              <a:t>功能</a:t>
            </a:r>
            <a:r>
              <a:rPr lang="en-US" altLang="zh-CN" sz="2400" dirty="0"/>
              <a:t>(</a:t>
            </a:r>
            <a:r>
              <a:rPr lang="zh-CN" altLang="zh-CN" sz="2400" dirty="0"/>
              <a:t>如比较、加</a:t>
            </a:r>
            <a:r>
              <a:rPr lang="zh-CN" altLang="en-US" sz="2400" dirty="0"/>
              <a:t>法</a:t>
            </a:r>
            <a:r>
              <a:rPr lang="zh-CN" altLang="zh-CN" sz="2400" dirty="0"/>
              <a:t>、减</a:t>
            </a:r>
            <a:r>
              <a:rPr lang="zh-CN" altLang="en-US" sz="2400" dirty="0"/>
              <a:t>法</a:t>
            </a:r>
            <a:r>
              <a:rPr lang="zh-CN" altLang="zh-CN" sz="2400" dirty="0"/>
              <a:t>、乘</a:t>
            </a:r>
            <a:r>
              <a:rPr lang="zh-CN" altLang="en-US" sz="2400" dirty="0"/>
              <a:t>法</a:t>
            </a:r>
            <a:r>
              <a:rPr lang="en-US" altLang="zh-CN" sz="2400" dirty="0"/>
              <a:t>)</a:t>
            </a:r>
            <a:r>
              <a:rPr lang="zh-CN" altLang="zh-CN" sz="2400" dirty="0"/>
              <a:t>、字符串操作</a:t>
            </a:r>
            <a:r>
              <a:rPr lang="en-US" altLang="zh-CN" sz="2400" dirty="0"/>
              <a:t>(</a:t>
            </a:r>
            <a:r>
              <a:rPr lang="zh-CN" altLang="zh-CN" sz="2400" dirty="0"/>
              <a:t>如级连</a:t>
            </a:r>
            <a:r>
              <a:rPr lang="en-US" altLang="zh-CN" sz="2400" dirty="0"/>
              <a:t>)</a:t>
            </a:r>
            <a:r>
              <a:rPr lang="zh-CN" altLang="zh-CN" sz="2400" dirty="0"/>
              <a:t>、 数组、枚举类型和其他功能更强大的结构 。</a:t>
            </a:r>
            <a:endParaRPr lang="en-US" altLang="zh-CN" sz="2400" b="1" dirty="0"/>
          </a:p>
        </p:txBody>
      </p:sp>
    </p:spTree>
    <p:extLst>
      <p:ext uri="{BB962C8B-B14F-4D97-AF65-F5344CB8AC3E}">
        <p14:creationId xmlns:p14="http://schemas.microsoft.com/office/powerpoint/2010/main" val="1940522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5472F2-C352-4BCB-909C-4A269142BD0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ABFC17D-906A-44AE-A00F-66A4CE992288}"/>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1F415C03-1F78-4DA0-9DC4-B011CAA08C28}"/>
              </a:ext>
            </a:extLst>
          </p:cNvPr>
          <p:cNvPicPr>
            <a:picLocks noChangeAspect="1"/>
          </p:cNvPicPr>
          <p:nvPr/>
        </p:nvPicPr>
        <p:blipFill>
          <a:blip r:embed="rId2"/>
          <a:stretch>
            <a:fillRect/>
          </a:stretch>
        </p:blipFill>
        <p:spPr>
          <a:xfrm>
            <a:off x="0" y="64524"/>
            <a:ext cx="9144000" cy="6728952"/>
          </a:xfrm>
          <a:prstGeom prst="rect">
            <a:avLst/>
          </a:prstGeom>
        </p:spPr>
      </p:pic>
    </p:spTree>
    <p:extLst>
      <p:ext uri="{BB962C8B-B14F-4D97-AF65-F5344CB8AC3E}">
        <p14:creationId xmlns:p14="http://schemas.microsoft.com/office/powerpoint/2010/main" val="37704749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1.2.4 </a:t>
            </a:r>
            <a:r>
              <a:rPr lang="zh-CN" altLang="en-US" sz="2400" b="1" kern="100" dirty="0">
                <a:latin typeface="Times New Roman" panose="02020603050405020304" pitchFamily="18" charset="0"/>
              </a:rPr>
              <a:t>设计视角</a:t>
            </a:r>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251520" y="794321"/>
            <a:ext cx="8496944" cy="5731023"/>
          </a:xfrm>
        </p:spPr>
        <p:txBody>
          <a:bodyPr/>
          <a:lstStyle/>
          <a:p>
            <a:pPr marL="0" indent="0">
              <a:buNone/>
            </a:pPr>
            <a:r>
              <a:rPr lang="en-US" altLang="zh-CN" sz="2400" b="1" dirty="0"/>
              <a:t>3</a:t>
            </a:r>
            <a:r>
              <a:rPr lang="zh-CN" altLang="en-US" sz="2400" b="1" dirty="0"/>
              <a:t>）自动电路综合</a:t>
            </a:r>
            <a:endParaRPr lang="en-US" altLang="zh-CN" sz="2400" b="1" dirty="0"/>
          </a:p>
          <a:p>
            <a:pPr marL="0" indent="0">
              <a:buNone/>
            </a:pPr>
            <a:r>
              <a:rPr lang="zh-CN" altLang="en-US" sz="2400" dirty="0"/>
              <a:t>架构</a:t>
            </a:r>
            <a:r>
              <a:rPr lang="zh-CN" altLang="zh-CN" sz="2400" dirty="0"/>
              <a:t>综合指从数据或信号处理</a:t>
            </a:r>
            <a:r>
              <a:rPr lang="zh-CN" altLang="en-US" sz="2400" dirty="0"/>
              <a:t>算法</a:t>
            </a:r>
            <a:r>
              <a:rPr lang="zh-CN" altLang="zh-CN" sz="2400" dirty="0"/>
              <a:t>开始，比如 </a:t>
            </a:r>
            <a:r>
              <a:rPr lang="en-US" altLang="zh-CN" sz="2400" dirty="0"/>
              <a:t>C</a:t>
            </a:r>
            <a:r>
              <a:rPr lang="zh-CN" altLang="zh-CN" sz="2400" dirty="0"/>
              <a:t>程序或者 </a:t>
            </a:r>
            <a:r>
              <a:rPr lang="en-US" altLang="zh-CN" sz="2400" dirty="0"/>
              <a:t>MATLAB </a:t>
            </a:r>
            <a:r>
              <a:rPr lang="zh-CN" altLang="zh-CN" sz="2400" dirty="0"/>
              <a:t>模型。</a:t>
            </a:r>
            <a:r>
              <a:rPr lang="zh-CN" altLang="en-US" sz="2400" dirty="0"/>
              <a:t>主要包含</a:t>
            </a:r>
            <a:r>
              <a:rPr lang="en-US" altLang="zh-CN" sz="2400" dirty="0"/>
              <a:t>5</a:t>
            </a:r>
            <a:r>
              <a:rPr lang="zh-CN" altLang="zh-CN" sz="2400" dirty="0"/>
              <a:t>个主要的阶段</a:t>
            </a:r>
            <a:r>
              <a:rPr lang="zh-CN" altLang="en-US" sz="2400" dirty="0"/>
              <a:t>：</a:t>
            </a:r>
            <a:endParaRPr lang="en-US" altLang="zh-CN" sz="2400" dirty="0"/>
          </a:p>
          <a:p>
            <a:pPr marL="0" indent="0">
              <a:buNone/>
            </a:pPr>
            <a:r>
              <a:rPr lang="en-US" altLang="zh-CN" sz="2400" dirty="0"/>
              <a:t>(1) </a:t>
            </a:r>
            <a:r>
              <a:rPr lang="zh-CN" altLang="zh-CN" sz="2400" dirty="0"/>
              <a:t>确定算</a:t>
            </a:r>
            <a:r>
              <a:rPr lang="zh-CN" altLang="en-US" sz="2400" dirty="0"/>
              <a:t>法</a:t>
            </a:r>
            <a:r>
              <a:rPr lang="zh-CN" altLang="zh-CN" sz="2400" dirty="0"/>
              <a:t>的计算和存储的需求。</a:t>
            </a:r>
          </a:p>
          <a:p>
            <a:pPr marL="0" indent="0">
              <a:buNone/>
            </a:pPr>
            <a:r>
              <a:rPr lang="en-US" altLang="zh-CN" sz="2400" dirty="0"/>
              <a:t>(2) </a:t>
            </a:r>
            <a:r>
              <a:rPr lang="zh-CN" altLang="zh-CN" sz="2400" dirty="0"/>
              <a:t>从通用的硬件构建模块的虚拟库中为每个处理和存储运算选择出合适的元件。</a:t>
            </a:r>
            <a:endParaRPr lang="en-US" altLang="zh-CN" sz="2400" dirty="0"/>
          </a:p>
          <a:p>
            <a:pPr marL="0" indent="0">
              <a:buNone/>
            </a:pPr>
            <a:r>
              <a:rPr lang="en-US" altLang="zh-CN" sz="2400" dirty="0"/>
              <a:t>(3) </a:t>
            </a:r>
            <a:r>
              <a:rPr lang="zh-CN" altLang="zh-CN" sz="2400" dirty="0"/>
              <a:t>建立一个使用那些资源执行算挂的基于周期的时间表。</a:t>
            </a:r>
            <a:endParaRPr lang="en-US" altLang="zh-CN" sz="2400" dirty="0"/>
          </a:p>
          <a:p>
            <a:pPr marL="457200" indent="-457200">
              <a:buAutoNum type="arabicParenBoth" startAt="4"/>
            </a:pPr>
            <a:r>
              <a:rPr lang="zh-CN" altLang="zh-CN" sz="2400" dirty="0"/>
              <a:t>决定出能够执行得到的工作计划的硬件结构  。</a:t>
            </a:r>
            <a:endParaRPr lang="en-US" altLang="zh-CN" sz="2400" dirty="0"/>
          </a:p>
          <a:p>
            <a:pPr marL="0" indent="0">
              <a:buNone/>
            </a:pPr>
            <a:r>
              <a:rPr lang="zh-CN" altLang="zh-CN" sz="2400" dirty="0"/>
              <a:t>确定架构，包括组合逻辑模块、数据寄存器、 片上或片外存储器 、总结、开关 、信号和有限状态机等。</a:t>
            </a:r>
          </a:p>
          <a:p>
            <a:pPr marL="0" indent="0">
              <a:buNone/>
            </a:pPr>
            <a:r>
              <a:rPr lang="en-US" altLang="zh-CN" sz="2400" dirty="0"/>
              <a:t>(5) </a:t>
            </a:r>
            <a:r>
              <a:rPr lang="zh-CN" altLang="zh-CN" sz="2400" dirty="0"/>
              <a:t>记录每个时钟周期的数据流动和运算，把这些转换成  </a:t>
            </a:r>
            <a:r>
              <a:rPr lang="en-US" altLang="zh-CN" sz="2400" dirty="0"/>
              <a:t>RTL </a:t>
            </a:r>
            <a:r>
              <a:rPr lang="zh-CN" altLang="zh-CN" sz="2400" dirty="0"/>
              <a:t>级综合的必要指示。</a:t>
            </a:r>
            <a:endParaRPr lang="en-US" altLang="zh-CN" sz="2400" b="1" dirty="0"/>
          </a:p>
        </p:txBody>
      </p:sp>
    </p:spTree>
    <p:extLst>
      <p:ext uri="{BB962C8B-B14F-4D97-AF65-F5344CB8AC3E}">
        <p14:creationId xmlns:p14="http://schemas.microsoft.com/office/powerpoint/2010/main" val="15331036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1.2.4 </a:t>
            </a:r>
            <a:r>
              <a:rPr lang="zh-CN" altLang="en-US" sz="2400" b="1" kern="100" dirty="0">
                <a:latin typeface="Times New Roman" panose="02020603050405020304" pitchFamily="18" charset="0"/>
              </a:rPr>
              <a:t>设计视角</a:t>
            </a:r>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251520" y="794321"/>
            <a:ext cx="8496944" cy="3426767"/>
          </a:xfrm>
        </p:spPr>
        <p:txBody>
          <a:bodyPr/>
          <a:lstStyle/>
          <a:p>
            <a:pPr marL="0" indent="0">
              <a:buNone/>
            </a:pPr>
            <a:r>
              <a:rPr lang="en-US" altLang="zh-CN" sz="2400" b="1" dirty="0"/>
              <a:t>4</a:t>
            </a:r>
            <a:r>
              <a:rPr lang="zh-CN" altLang="en-US" sz="2400" b="1" dirty="0"/>
              <a:t>）使用虚拟元件设计</a:t>
            </a:r>
            <a:endParaRPr lang="en-US" altLang="zh-CN" sz="2400" b="1" dirty="0"/>
          </a:p>
          <a:p>
            <a:pPr marL="0" indent="0">
              <a:buNone/>
            </a:pPr>
            <a:r>
              <a:rPr lang="zh-CN" altLang="zh-CN" sz="2400" dirty="0"/>
              <a:t>虚拟元件 </a:t>
            </a:r>
            <a:r>
              <a:rPr lang="en-US" altLang="zh-CN" sz="2400" dirty="0"/>
              <a:t>(Virtual Component </a:t>
            </a:r>
            <a:r>
              <a:rPr lang="zh-CN" altLang="zh-CN" sz="2400" dirty="0"/>
              <a:t>，</a:t>
            </a:r>
            <a:r>
              <a:rPr lang="en-US" altLang="zh-CN" sz="2400" dirty="0"/>
              <a:t>VC) </a:t>
            </a:r>
            <a:r>
              <a:rPr lang="zh-CN" altLang="en-US" sz="2400" dirty="0"/>
              <a:t>，</a:t>
            </a:r>
            <a:r>
              <a:rPr lang="zh-CN" altLang="zh-CN" sz="2400" dirty="0"/>
              <a:t>本质上是一个 </a:t>
            </a:r>
            <a:r>
              <a:rPr lang="en-US" altLang="zh-CN" sz="2400" dirty="0"/>
              <a:t>HDL </a:t>
            </a:r>
            <a:r>
              <a:rPr lang="zh-CN" altLang="zh-CN" sz="2400" dirty="0"/>
              <a:t>综合包，其他人可以 将其集成到他们自己的 </a:t>
            </a:r>
            <a:r>
              <a:rPr lang="en-US" altLang="zh-CN" sz="2400" dirty="0"/>
              <a:t>IC </a:t>
            </a:r>
            <a:r>
              <a:rPr lang="zh-CN" altLang="zh-CN" sz="2400" dirty="0"/>
              <a:t>里。</a:t>
            </a:r>
            <a:r>
              <a:rPr lang="zh-CN" altLang="en-US" sz="2400" dirty="0"/>
              <a:t>虚拟元件作为知识产权模块（</a:t>
            </a:r>
            <a:r>
              <a:rPr lang="en-US" altLang="zh-CN" sz="2400" dirty="0"/>
              <a:t>IP</a:t>
            </a:r>
            <a:r>
              <a:rPr lang="zh-CN" altLang="en-US" sz="2400" dirty="0"/>
              <a:t>，</a:t>
            </a:r>
            <a:r>
              <a:rPr lang="en-US" altLang="zh-CN" sz="2400" dirty="0"/>
              <a:t>intellectual property</a:t>
            </a:r>
            <a:r>
              <a:rPr lang="zh-CN" altLang="en-US" sz="2400" dirty="0"/>
              <a:t>）更广为人知，</a:t>
            </a:r>
            <a:r>
              <a:rPr lang="zh-CN" altLang="zh-CN" sz="2400" dirty="0"/>
              <a:t>这些授权许可只是负责综合、 布局布线和整体验证。</a:t>
            </a:r>
            <a:endParaRPr lang="en-US" altLang="zh-CN" sz="2400" dirty="0"/>
          </a:p>
          <a:p>
            <a:pPr marL="0" indent="0">
              <a:buNone/>
            </a:pPr>
            <a:r>
              <a:rPr lang="zh-CN" altLang="zh-CN" sz="2400" dirty="0"/>
              <a:t>例子包括但不仅限于微处理器和信号处理核、</a:t>
            </a:r>
            <a:r>
              <a:rPr lang="zh-CN" altLang="en-US" sz="2400" dirty="0"/>
              <a:t>各种滤波</a:t>
            </a:r>
            <a:r>
              <a:rPr lang="zh-CN" altLang="zh-CN" sz="2400" dirty="0"/>
              <a:t>器、音频或视频</a:t>
            </a:r>
            <a:r>
              <a:rPr lang="zh-CN" altLang="en-US" sz="2400" dirty="0"/>
              <a:t>编解码</a:t>
            </a:r>
            <a:r>
              <a:rPr lang="zh-CN" altLang="zh-CN" sz="2400" dirty="0"/>
              <a:t>器、加</a:t>
            </a:r>
            <a:r>
              <a:rPr lang="zh-CN" altLang="en-US" sz="2400" dirty="0"/>
              <a:t>解密</a:t>
            </a:r>
            <a:r>
              <a:rPr lang="zh-CN" altLang="zh-CN" sz="2400" dirty="0"/>
              <a:t>函数、纠错编 </a:t>
            </a:r>
            <a:r>
              <a:rPr lang="en-US" altLang="zh-CN" sz="2400" dirty="0"/>
              <a:t>/</a:t>
            </a:r>
            <a:r>
              <a:rPr lang="zh-CN" altLang="zh-CN" sz="2400" dirty="0"/>
              <a:t>译码器、 </a:t>
            </a:r>
            <a:r>
              <a:rPr lang="en-US" altLang="zh-CN" sz="2400" dirty="0"/>
              <a:t>USB </a:t>
            </a:r>
            <a:r>
              <a:rPr lang="zh-CN" altLang="zh-CN" sz="2400" dirty="0"/>
              <a:t>、火线和许多其他接口。</a:t>
            </a:r>
            <a:endParaRPr lang="en-US" altLang="zh-CN" sz="2400" b="1" dirty="0"/>
          </a:p>
        </p:txBody>
      </p:sp>
      <p:pic>
        <p:nvPicPr>
          <p:cNvPr id="2" name="图片 1">
            <a:extLst>
              <a:ext uri="{FF2B5EF4-FFF2-40B4-BE49-F238E27FC236}">
                <a16:creationId xmlns:a16="http://schemas.microsoft.com/office/drawing/2014/main" id="{B5FCAD74-9FCB-4EBA-872C-87402283D953}"/>
              </a:ext>
            </a:extLst>
          </p:cNvPr>
          <p:cNvPicPr>
            <a:picLocks noChangeAspect="1"/>
          </p:cNvPicPr>
          <p:nvPr/>
        </p:nvPicPr>
        <p:blipFill>
          <a:blip r:embed="rId3"/>
          <a:stretch>
            <a:fillRect/>
          </a:stretch>
        </p:blipFill>
        <p:spPr>
          <a:xfrm>
            <a:off x="-1115" y="4365104"/>
            <a:ext cx="9144000" cy="2360591"/>
          </a:xfrm>
          <a:prstGeom prst="rect">
            <a:avLst/>
          </a:prstGeom>
        </p:spPr>
      </p:pic>
    </p:spTree>
    <p:extLst>
      <p:ext uri="{BB962C8B-B14F-4D97-AF65-F5344CB8AC3E}">
        <p14:creationId xmlns:p14="http://schemas.microsoft.com/office/powerpoint/2010/main" val="583955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1.2.4 </a:t>
            </a:r>
            <a:r>
              <a:rPr lang="zh-CN" altLang="en-US" sz="2400" b="1" kern="100" dirty="0">
                <a:latin typeface="Times New Roman" panose="02020603050405020304" pitchFamily="18" charset="0"/>
              </a:rPr>
              <a:t>设计视角</a:t>
            </a:r>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251520" y="794321"/>
            <a:ext cx="8496944" cy="3786807"/>
          </a:xfrm>
        </p:spPr>
        <p:txBody>
          <a:bodyPr/>
          <a:lstStyle/>
          <a:p>
            <a:pPr marL="0" indent="0">
              <a:buNone/>
            </a:pPr>
            <a:r>
              <a:rPr lang="en-US" altLang="zh-CN" sz="2400" b="1" dirty="0"/>
              <a:t>5</a:t>
            </a:r>
            <a:r>
              <a:rPr lang="zh-CN" altLang="en-US" sz="2400" b="1" dirty="0"/>
              <a:t>）电子系统级（</a:t>
            </a:r>
            <a:r>
              <a:rPr lang="en-US" altLang="zh-CN" sz="2400" b="1" dirty="0"/>
              <a:t>ESL</a:t>
            </a:r>
            <a:r>
              <a:rPr lang="zh-CN" altLang="en-US" sz="2400" b="1" dirty="0"/>
              <a:t>）设计自动化</a:t>
            </a:r>
            <a:endParaRPr lang="en-US" altLang="zh-CN" sz="2400" b="1" dirty="0"/>
          </a:p>
          <a:p>
            <a:r>
              <a:rPr lang="zh-CN" altLang="zh-CN" sz="2400" dirty="0"/>
              <a:t>通过支持从系统的虚拟原型开始的持续不断的细化改进，实施构建再校正</a:t>
            </a:r>
            <a:r>
              <a:rPr lang="en-US" altLang="zh-CN" sz="2400" dirty="0"/>
              <a:t>(   correct-by- construction)  </a:t>
            </a:r>
            <a:r>
              <a:rPr lang="zh-CN" altLang="zh-CN" sz="2400" dirty="0"/>
              <a:t>的方法。</a:t>
            </a:r>
            <a:r>
              <a:rPr lang="en-US" altLang="zh-CN" sz="2400" dirty="0"/>
              <a:t>	</a:t>
            </a:r>
            <a:endParaRPr lang="zh-CN" altLang="zh-CN" sz="2400" dirty="0"/>
          </a:p>
          <a:p>
            <a:r>
              <a:rPr lang="zh-CN" altLang="zh-CN" sz="2400" dirty="0"/>
              <a:t>与传统的  </a:t>
            </a:r>
            <a:r>
              <a:rPr lang="en-US" altLang="zh-CN" sz="2400" dirty="0"/>
              <a:t>RTL   </a:t>
            </a:r>
            <a:r>
              <a:rPr lang="zh-CN" altLang="zh-CN" sz="2400" dirty="0"/>
              <a:t>综合</a:t>
            </a:r>
            <a:r>
              <a:rPr lang="zh-CN" altLang="en-US" sz="2400" dirty="0"/>
              <a:t>方案</a:t>
            </a:r>
            <a:r>
              <a:rPr lang="zh-CN" altLang="zh-CN" sz="2400" dirty="0"/>
              <a:t>相比，采取架构级综合能更系统、更快速地探索解决方案空间。</a:t>
            </a:r>
          </a:p>
          <a:p>
            <a:r>
              <a:rPr lang="zh-CN" altLang="zh-CN" sz="2400" dirty="0"/>
              <a:t>在硬件设计完成前就开始进行软件设计，以支持软硬件协同设计。</a:t>
            </a:r>
          </a:p>
          <a:p>
            <a:r>
              <a:rPr lang="zh-CN" altLang="zh-CN" sz="2400" dirty="0"/>
              <a:t>通过处理系统级事务和在可能的地方利用形式验证技术来提高功能验证的覆盖率和效率。</a:t>
            </a:r>
          </a:p>
          <a:p>
            <a:pPr marL="0" indent="0">
              <a:buNone/>
            </a:pPr>
            <a:endParaRPr lang="en-US" altLang="zh-CN" sz="2400" b="1" dirty="0"/>
          </a:p>
        </p:txBody>
      </p:sp>
    </p:spTree>
    <p:extLst>
      <p:ext uri="{BB962C8B-B14F-4D97-AF65-F5344CB8AC3E}">
        <p14:creationId xmlns:p14="http://schemas.microsoft.com/office/powerpoint/2010/main" val="26582248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1.2.5 </a:t>
            </a:r>
            <a:r>
              <a:rPr lang="zh-CN" altLang="en-US" sz="2400" b="1" kern="100" dirty="0">
                <a:latin typeface="Times New Roman" panose="02020603050405020304" pitchFamily="18" charset="0"/>
              </a:rPr>
              <a:t>商业视角</a:t>
            </a:r>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251520" y="794321"/>
            <a:ext cx="8496944" cy="5370983"/>
          </a:xfrm>
        </p:spPr>
        <p:txBody>
          <a:bodyPr/>
          <a:lstStyle/>
          <a:p>
            <a:pPr marL="0" indent="0">
              <a:buNone/>
            </a:pPr>
            <a:r>
              <a:rPr lang="en-US" altLang="zh-CN" sz="2400" dirty="0"/>
              <a:t>1</a:t>
            </a:r>
            <a:r>
              <a:rPr lang="zh-CN" altLang="en-US" sz="2400" dirty="0"/>
              <a:t>）</a:t>
            </a:r>
            <a:r>
              <a:rPr lang="zh-CN" altLang="zh-CN" sz="2400" dirty="0"/>
              <a:t>集成器件制造商</a:t>
            </a:r>
            <a:endParaRPr lang="en-US" altLang="zh-CN" sz="2400" dirty="0"/>
          </a:p>
          <a:p>
            <a:pPr marL="0" indent="0">
              <a:buNone/>
            </a:pPr>
            <a:r>
              <a:rPr lang="zh-CN" altLang="en-US" sz="2400" dirty="0"/>
              <a:t>设计、生产芯片。英特尔，三星等。</a:t>
            </a:r>
            <a:endParaRPr lang="en-US" altLang="zh-CN" sz="2400" dirty="0"/>
          </a:p>
          <a:p>
            <a:pPr marL="0" indent="0">
              <a:buNone/>
            </a:pPr>
            <a:endParaRPr lang="en-US" altLang="zh-CN" sz="2400" dirty="0"/>
          </a:p>
          <a:p>
            <a:pPr marL="0" indent="0">
              <a:buNone/>
            </a:pPr>
            <a:r>
              <a:rPr lang="en-US" altLang="zh-CN" sz="2400" dirty="0"/>
              <a:t>2</a:t>
            </a:r>
            <a:r>
              <a:rPr lang="zh-CN" altLang="en-US" sz="2400" dirty="0"/>
              <a:t>）</a:t>
            </a:r>
            <a:r>
              <a:rPr lang="zh-CN" altLang="zh-CN" sz="2400" dirty="0"/>
              <a:t>无晶圆厂供应商</a:t>
            </a:r>
            <a:endParaRPr lang="en-US" altLang="zh-CN" sz="2400" dirty="0"/>
          </a:p>
          <a:p>
            <a:pPr marL="0" indent="0">
              <a:buNone/>
            </a:pPr>
            <a:r>
              <a:rPr lang="zh-CN" altLang="en-US" sz="2400" dirty="0"/>
              <a:t>仅仅设计和销售，生产外包。</a:t>
            </a:r>
            <a:endParaRPr lang="en-US" altLang="zh-CN" sz="2400" dirty="0"/>
          </a:p>
          <a:p>
            <a:pPr marL="0" indent="0">
              <a:buNone/>
            </a:pPr>
            <a:endParaRPr lang="en-US" altLang="zh-CN" sz="2400" dirty="0"/>
          </a:p>
          <a:p>
            <a:pPr marL="0" indent="0">
              <a:buNone/>
            </a:pPr>
            <a:r>
              <a:rPr lang="en-US" altLang="zh-CN" sz="2400" dirty="0"/>
              <a:t>3</a:t>
            </a:r>
            <a:r>
              <a:rPr lang="zh-CN" altLang="en-US" sz="2400" dirty="0"/>
              <a:t>）</a:t>
            </a:r>
            <a:r>
              <a:rPr lang="zh-CN" altLang="zh-CN" sz="2400" dirty="0"/>
              <a:t>晶圆代工厂</a:t>
            </a:r>
            <a:endParaRPr lang="en-US" altLang="zh-CN" sz="2400" dirty="0"/>
          </a:p>
          <a:p>
            <a:pPr marL="0" indent="0">
              <a:buNone/>
            </a:pPr>
            <a:r>
              <a:rPr lang="zh-CN" altLang="en-US" sz="2400" dirty="0"/>
              <a:t>为其它公司提供芯片生产的服务。</a:t>
            </a:r>
            <a:r>
              <a:rPr lang="en-US" altLang="zh-CN" sz="2400" dirty="0"/>
              <a:t>TSMC</a:t>
            </a:r>
            <a:r>
              <a:rPr lang="zh-CN" altLang="en-US" sz="2400" dirty="0"/>
              <a:t>，三星，中芯国际等。</a:t>
            </a:r>
            <a:endParaRPr lang="en-US" altLang="zh-CN" sz="2400" dirty="0"/>
          </a:p>
          <a:p>
            <a:pPr marL="0" indent="0">
              <a:buNone/>
            </a:pPr>
            <a:r>
              <a:rPr lang="en-US" altLang="zh-CN" sz="2400" dirty="0"/>
              <a:t>4</a:t>
            </a:r>
            <a:r>
              <a:rPr lang="zh-CN" altLang="en-US" sz="2400" dirty="0"/>
              <a:t>）</a:t>
            </a:r>
            <a:r>
              <a:rPr lang="zh-CN" altLang="zh-CN" sz="2400" dirty="0"/>
              <a:t>虚拟元件供应商</a:t>
            </a:r>
            <a:r>
              <a:rPr lang="zh-CN" altLang="en-US" sz="2400" dirty="0"/>
              <a:t>（</a:t>
            </a:r>
            <a:r>
              <a:rPr lang="en-US" altLang="zh-CN" sz="2400" dirty="0"/>
              <a:t>IP Vendor</a:t>
            </a:r>
            <a:r>
              <a:rPr lang="zh-CN" altLang="en-US" sz="2400" dirty="0"/>
              <a:t>）</a:t>
            </a:r>
            <a:endParaRPr lang="en-US" altLang="zh-CN" sz="2400" dirty="0"/>
          </a:p>
          <a:p>
            <a:pPr marL="0" indent="0">
              <a:buNone/>
            </a:pPr>
            <a:r>
              <a:rPr lang="zh-CN" altLang="en-US" sz="2400" b="1" dirty="0"/>
              <a:t>提供专业</a:t>
            </a:r>
            <a:r>
              <a:rPr lang="en-US" altLang="zh-CN" sz="2400" b="1" dirty="0"/>
              <a:t>IP</a:t>
            </a:r>
            <a:r>
              <a:rPr lang="zh-CN" altLang="en-US" sz="2400" b="1" dirty="0"/>
              <a:t>。</a:t>
            </a:r>
            <a:r>
              <a:rPr lang="en-US" altLang="zh-CN" sz="2400" b="1" dirty="0"/>
              <a:t>ARM</a:t>
            </a:r>
            <a:r>
              <a:rPr lang="zh-CN" altLang="en-US" sz="2400" b="1" dirty="0"/>
              <a:t>，芯源等。</a:t>
            </a:r>
            <a:endParaRPr lang="en-US" altLang="zh-CN" sz="2400" b="1" dirty="0"/>
          </a:p>
        </p:txBody>
      </p:sp>
    </p:spTree>
    <p:extLst>
      <p:ext uri="{BB962C8B-B14F-4D97-AF65-F5344CB8AC3E}">
        <p14:creationId xmlns:p14="http://schemas.microsoft.com/office/powerpoint/2010/main" val="35683839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1.3 </a:t>
            </a:r>
            <a:r>
              <a:rPr lang="zh-CN" altLang="en-US" sz="2400" b="1" kern="100" dirty="0">
                <a:latin typeface="Times New Roman" panose="02020603050405020304" pitchFamily="18" charset="0"/>
              </a:rPr>
              <a:t>数字</a:t>
            </a:r>
            <a:r>
              <a:rPr lang="en-US" altLang="zh-CN" sz="2400" b="1" kern="100" dirty="0">
                <a:latin typeface="Times New Roman" panose="02020603050405020304" pitchFamily="18" charset="0"/>
              </a:rPr>
              <a:t>VLSI</a:t>
            </a:r>
            <a:r>
              <a:rPr lang="zh-CN" altLang="en-US" sz="2400" b="1" kern="100" dirty="0">
                <a:latin typeface="Times New Roman" panose="02020603050405020304" pitchFamily="18" charset="0"/>
              </a:rPr>
              <a:t>设计流程</a:t>
            </a:r>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251520" y="794321"/>
            <a:ext cx="8496944" cy="1338535"/>
          </a:xfrm>
        </p:spPr>
        <p:txBody>
          <a:bodyPr/>
          <a:lstStyle/>
          <a:p>
            <a:pPr marL="0" indent="0">
              <a:buNone/>
            </a:pPr>
            <a:r>
              <a:rPr lang="en-US" altLang="zh-CN" sz="2400" dirty="0"/>
              <a:t>1.3.1</a:t>
            </a:r>
            <a:r>
              <a:rPr lang="zh-CN" altLang="en-US" sz="2400" dirty="0"/>
              <a:t> </a:t>
            </a:r>
            <a:r>
              <a:rPr lang="en-US" altLang="zh-CN" sz="2400" dirty="0"/>
              <a:t>Y</a:t>
            </a:r>
            <a:r>
              <a:rPr lang="zh-CN" altLang="en-US" sz="2400" dirty="0"/>
              <a:t>图</a:t>
            </a:r>
            <a:endParaRPr lang="en-US" altLang="zh-CN" sz="2400" dirty="0"/>
          </a:p>
          <a:p>
            <a:pPr marL="0" indent="0">
              <a:buNone/>
            </a:pPr>
            <a:r>
              <a:rPr lang="en-US" altLang="zh-CN" sz="2400" dirty="0" err="1"/>
              <a:t>Gajski</a:t>
            </a:r>
            <a:r>
              <a:rPr lang="en-US" altLang="zh-CN" sz="2400" dirty="0"/>
              <a:t> </a:t>
            </a:r>
            <a:r>
              <a:rPr lang="zh-CN" altLang="zh-CN" sz="2400" dirty="0"/>
              <a:t>发明的 </a:t>
            </a:r>
            <a:r>
              <a:rPr lang="en-US" altLang="zh-CN" sz="2400" dirty="0"/>
              <a:t>Y  </a:t>
            </a:r>
            <a:r>
              <a:rPr lang="zh-CN" altLang="zh-CN" sz="2400" dirty="0"/>
              <a:t>图非常便于定位数字设计的各个阶段，以及各种使设计流程自动 化的种种尝试。</a:t>
            </a:r>
            <a:endParaRPr lang="en-US" altLang="zh-CN" sz="2400" dirty="0"/>
          </a:p>
          <a:p>
            <a:pPr marL="0" indent="0">
              <a:buNone/>
            </a:pPr>
            <a:endParaRPr lang="en-US" altLang="zh-CN" sz="2400" b="1" dirty="0"/>
          </a:p>
        </p:txBody>
      </p:sp>
      <p:pic>
        <p:nvPicPr>
          <p:cNvPr id="2" name="图片 1">
            <a:extLst>
              <a:ext uri="{FF2B5EF4-FFF2-40B4-BE49-F238E27FC236}">
                <a16:creationId xmlns:a16="http://schemas.microsoft.com/office/drawing/2014/main" id="{7E49976E-AEF7-42C6-8974-ED7C80350247}"/>
              </a:ext>
            </a:extLst>
          </p:cNvPr>
          <p:cNvPicPr>
            <a:picLocks noChangeAspect="1"/>
          </p:cNvPicPr>
          <p:nvPr/>
        </p:nvPicPr>
        <p:blipFill>
          <a:blip r:embed="rId3"/>
          <a:stretch>
            <a:fillRect/>
          </a:stretch>
        </p:blipFill>
        <p:spPr>
          <a:xfrm>
            <a:off x="428435" y="2130759"/>
            <a:ext cx="7560840" cy="4575316"/>
          </a:xfrm>
          <a:prstGeom prst="rect">
            <a:avLst/>
          </a:prstGeom>
        </p:spPr>
      </p:pic>
    </p:spTree>
    <p:extLst>
      <p:ext uri="{BB962C8B-B14F-4D97-AF65-F5344CB8AC3E}">
        <p14:creationId xmlns:p14="http://schemas.microsoft.com/office/powerpoint/2010/main" val="16728533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marL="0" indent="0">
              <a:buNone/>
            </a:pPr>
            <a:r>
              <a:rPr lang="en-US" altLang="zh-CN" sz="2400" dirty="0"/>
              <a:t>1.3.1</a:t>
            </a:r>
            <a:r>
              <a:rPr lang="zh-CN" altLang="en-US" sz="2400" dirty="0"/>
              <a:t> </a:t>
            </a:r>
            <a:r>
              <a:rPr lang="en-US" altLang="zh-CN" sz="2400" dirty="0"/>
              <a:t>Y</a:t>
            </a:r>
            <a:r>
              <a:rPr lang="zh-CN" altLang="en-US" sz="2400" dirty="0"/>
              <a:t>图</a:t>
            </a:r>
            <a:endParaRPr lang="en-US" altLang="zh-CN" sz="2400" dirty="0"/>
          </a:p>
        </p:txBody>
      </p:sp>
      <p:pic>
        <p:nvPicPr>
          <p:cNvPr id="3" name="图片 2">
            <a:extLst>
              <a:ext uri="{FF2B5EF4-FFF2-40B4-BE49-F238E27FC236}">
                <a16:creationId xmlns:a16="http://schemas.microsoft.com/office/drawing/2014/main" id="{28255176-F272-4BF6-ABEB-7D5D286C81ED}"/>
              </a:ext>
            </a:extLst>
          </p:cNvPr>
          <p:cNvPicPr>
            <a:picLocks noChangeAspect="1"/>
          </p:cNvPicPr>
          <p:nvPr/>
        </p:nvPicPr>
        <p:blipFill>
          <a:blip r:embed="rId3"/>
          <a:stretch>
            <a:fillRect/>
          </a:stretch>
        </p:blipFill>
        <p:spPr>
          <a:xfrm>
            <a:off x="0" y="1988840"/>
            <a:ext cx="9144000" cy="2536166"/>
          </a:xfrm>
          <a:prstGeom prst="rect">
            <a:avLst/>
          </a:prstGeom>
        </p:spPr>
      </p:pic>
    </p:spTree>
    <p:extLst>
      <p:ext uri="{BB962C8B-B14F-4D97-AF65-F5344CB8AC3E}">
        <p14:creationId xmlns:p14="http://schemas.microsoft.com/office/powerpoint/2010/main" val="9511057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1.3.2 VLSI</a:t>
            </a:r>
            <a:r>
              <a:rPr lang="zh-CN" altLang="en-US" sz="2400" b="1" kern="100" dirty="0">
                <a:latin typeface="Times New Roman" panose="02020603050405020304" pitchFamily="18" charset="0"/>
              </a:rPr>
              <a:t>设计的主要阶段</a:t>
            </a:r>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251520" y="794321"/>
            <a:ext cx="8496944" cy="5731023"/>
          </a:xfrm>
        </p:spPr>
        <p:txBody>
          <a:bodyPr/>
          <a:lstStyle/>
          <a:p>
            <a:pPr marL="0" indent="0">
              <a:buNone/>
            </a:pPr>
            <a:r>
              <a:rPr lang="en-US" altLang="zh-CN" sz="2400" dirty="0"/>
              <a:t>1</a:t>
            </a:r>
            <a:r>
              <a:rPr lang="zh-CN" altLang="en-US" sz="2400" dirty="0"/>
              <a:t>）</a:t>
            </a:r>
            <a:r>
              <a:rPr lang="zh-CN" altLang="zh-CN" sz="2400" dirty="0"/>
              <a:t>系统</a:t>
            </a:r>
            <a:r>
              <a:rPr lang="zh-CN" altLang="en-US" sz="2400" dirty="0"/>
              <a:t>级</a:t>
            </a:r>
            <a:r>
              <a:rPr lang="zh-CN" altLang="zh-CN" sz="2400" dirty="0"/>
              <a:t>设计</a:t>
            </a:r>
            <a:endParaRPr lang="en-US" altLang="zh-CN" sz="2400" dirty="0"/>
          </a:p>
          <a:p>
            <a:r>
              <a:rPr lang="zh-CN" altLang="zh-CN" sz="2400" dirty="0"/>
              <a:t>确定系统要有的功能、运行环境和期望特性</a:t>
            </a:r>
            <a:r>
              <a:rPr lang="en-US" altLang="zh-CN" sz="2400" dirty="0"/>
              <a:t>(</a:t>
            </a:r>
            <a:r>
              <a:rPr lang="zh-CN" altLang="zh-CN" sz="2400" dirty="0"/>
              <a:t>性能、功率、外形尺寸、成本等方面</a:t>
            </a:r>
            <a:r>
              <a:rPr lang="en-US" altLang="zh-CN" sz="2400" dirty="0"/>
              <a:t>)</a:t>
            </a:r>
            <a:r>
              <a:rPr lang="zh-CN" altLang="zh-CN" sz="2400" dirty="0"/>
              <a:t>。</a:t>
            </a:r>
          </a:p>
          <a:p>
            <a:r>
              <a:rPr lang="zh-CN" altLang="zh-CN" sz="2400" dirty="0"/>
              <a:t>将系统功能划分为子任务。</a:t>
            </a:r>
          </a:p>
          <a:p>
            <a:r>
              <a:rPr lang="zh-CN" altLang="zh-CN" sz="2400" dirty="0"/>
              <a:t>探索可选的软件和硬件折中。</a:t>
            </a:r>
          </a:p>
          <a:p>
            <a:r>
              <a:rPr lang="zh-CN" altLang="zh-CN" sz="2400" dirty="0"/>
              <a:t>为所有的主要构建模块决定是设计还是购买。</a:t>
            </a:r>
          </a:p>
          <a:p>
            <a:r>
              <a:rPr lang="zh-CN" altLang="zh-CN" sz="2400" dirty="0"/>
              <a:t>决定数据交换接口和协议。</a:t>
            </a:r>
          </a:p>
          <a:p>
            <a:r>
              <a:rPr lang="zh-CN" altLang="zh-CN" sz="2400" dirty="0"/>
              <a:t>决定数据格式、运行模式和异常处理过程等。</a:t>
            </a:r>
          </a:p>
          <a:p>
            <a:r>
              <a:rPr lang="zh-CN" altLang="zh-CN" sz="2400" dirty="0"/>
              <a:t>从行为视角出发，定义、建模、评估和细化改进各种不同的子任务。</a:t>
            </a:r>
            <a:endParaRPr lang="en-US" altLang="zh-CN" sz="2400" b="1" dirty="0"/>
          </a:p>
        </p:txBody>
      </p:sp>
    </p:spTree>
    <p:extLst>
      <p:ext uri="{BB962C8B-B14F-4D97-AF65-F5344CB8AC3E}">
        <p14:creationId xmlns:p14="http://schemas.microsoft.com/office/powerpoint/2010/main" val="2471151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05B02A0-4291-4764-B252-5861CFF8104A}"/>
              </a:ext>
            </a:extLst>
          </p:cNvPr>
          <p:cNvPicPr>
            <a:picLocks noChangeAspect="1"/>
          </p:cNvPicPr>
          <p:nvPr/>
        </p:nvPicPr>
        <p:blipFill>
          <a:blip r:embed="rId2"/>
          <a:stretch>
            <a:fillRect/>
          </a:stretch>
        </p:blipFill>
        <p:spPr>
          <a:xfrm>
            <a:off x="536455" y="0"/>
            <a:ext cx="807109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1.3.2 VLSI</a:t>
            </a:r>
            <a:r>
              <a:rPr lang="zh-CN" altLang="en-US" sz="2400" b="1" kern="100" dirty="0">
                <a:latin typeface="Times New Roman" panose="02020603050405020304" pitchFamily="18" charset="0"/>
              </a:rPr>
              <a:t>设计的主要阶段</a:t>
            </a:r>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251520" y="794321"/>
            <a:ext cx="8496944" cy="5731023"/>
          </a:xfrm>
        </p:spPr>
        <p:txBody>
          <a:bodyPr/>
          <a:lstStyle/>
          <a:p>
            <a:pPr marL="0" indent="0">
              <a:buNone/>
            </a:pPr>
            <a:r>
              <a:rPr lang="en-US" altLang="zh-CN" sz="2400" dirty="0"/>
              <a:t>2</a:t>
            </a:r>
            <a:r>
              <a:rPr lang="zh-CN" altLang="en-US" sz="2400" dirty="0"/>
              <a:t>）算法</a:t>
            </a:r>
            <a:r>
              <a:rPr lang="zh-CN" altLang="zh-CN" sz="2400" dirty="0"/>
              <a:t>设计</a:t>
            </a:r>
            <a:endParaRPr lang="en-US" altLang="zh-CN" sz="2400" dirty="0"/>
          </a:p>
          <a:p>
            <a:r>
              <a:rPr lang="zh-CN" altLang="zh-CN" sz="2400" dirty="0"/>
              <a:t>提出很多合适的算</a:t>
            </a:r>
            <a:r>
              <a:rPr lang="zh-CN" altLang="en-US" sz="2400" dirty="0"/>
              <a:t>法</a:t>
            </a:r>
            <a:r>
              <a:rPr lang="zh-CN" altLang="zh-CN" sz="2400" dirty="0"/>
              <a:t>或计算</a:t>
            </a:r>
            <a:r>
              <a:rPr lang="zh-CN" altLang="en-US" sz="2400" dirty="0"/>
              <a:t>方案</a:t>
            </a:r>
            <a:r>
              <a:rPr lang="zh-CN" altLang="zh-CN" sz="2400" dirty="0"/>
              <a:t> </a:t>
            </a:r>
          </a:p>
          <a:p>
            <a:r>
              <a:rPr lang="zh-CN" altLang="zh-CN" sz="2400" dirty="0"/>
              <a:t>降低计算负荷及存储 需求</a:t>
            </a:r>
          </a:p>
          <a:p>
            <a:r>
              <a:rPr lang="zh-CN" altLang="zh-CN" sz="2400" dirty="0"/>
              <a:t>在计算复杂度和精度之 间找到可接受的折中</a:t>
            </a:r>
          </a:p>
          <a:p>
            <a:r>
              <a:rPr lang="zh-CN" altLang="zh-CN" sz="2400" dirty="0"/>
              <a:t>分析并抑制有限字长计算的效应</a:t>
            </a:r>
          </a:p>
          <a:p>
            <a:r>
              <a:rPr lang="zh-CN" altLang="zh-CN" sz="2400" dirty="0"/>
              <a:t>决定数据表示方案</a:t>
            </a:r>
          </a:p>
          <a:p>
            <a:r>
              <a:rPr lang="zh-CN" altLang="zh-CN" sz="2400" dirty="0"/>
              <a:t>评估各种选择并挑选出最合适眼前情况的选择</a:t>
            </a:r>
            <a:endParaRPr lang="en-US" altLang="zh-CN" sz="2400" dirty="0"/>
          </a:p>
          <a:p>
            <a:r>
              <a:rPr lang="zh-CN" altLang="zh-CN" sz="2400" dirty="0"/>
              <a:t>量化所需的最小计算资源</a:t>
            </a:r>
            <a:r>
              <a:rPr lang="en-US" altLang="zh-CN" sz="2400" dirty="0"/>
              <a:t>(</a:t>
            </a:r>
            <a:r>
              <a:rPr lang="zh-CN" altLang="zh-CN" sz="2400" dirty="0"/>
              <a:t>存储器、字宽 、算术及逻辑操作，以及它们出现的频率</a:t>
            </a:r>
            <a:r>
              <a:rPr lang="en-US" altLang="zh-CN" sz="2400" dirty="0"/>
              <a:t>)</a:t>
            </a:r>
            <a:r>
              <a:rPr lang="zh-CN" altLang="zh-CN" sz="2400" dirty="0"/>
              <a:t>。 算</a:t>
            </a:r>
            <a:r>
              <a:rPr lang="zh-CN" altLang="en-US" sz="2400" dirty="0"/>
              <a:t>法</a:t>
            </a:r>
            <a:r>
              <a:rPr lang="zh-CN" altLang="zh-CN" sz="2400" dirty="0"/>
              <a:t>设计以位真 </a:t>
            </a:r>
            <a:r>
              <a:rPr lang="en-US" altLang="zh-CN" sz="2400" dirty="0"/>
              <a:t>( bit-true) </a:t>
            </a:r>
            <a:r>
              <a:rPr lang="zh-CN" altLang="zh-CN" sz="2400" dirty="0"/>
              <a:t>软件模型为终点 ，它对于核对规格和目前应用有关的性能指标是必不可少的，这些指标包括信噪比、编码增益、数据压缩因子 、出错率等。</a:t>
            </a:r>
          </a:p>
        </p:txBody>
      </p:sp>
    </p:spTree>
    <p:extLst>
      <p:ext uri="{BB962C8B-B14F-4D97-AF65-F5344CB8AC3E}">
        <p14:creationId xmlns:p14="http://schemas.microsoft.com/office/powerpoint/2010/main" val="42096034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1.3.2 VLSI</a:t>
            </a:r>
            <a:r>
              <a:rPr lang="zh-CN" altLang="en-US" sz="2400" b="1" kern="100" dirty="0">
                <a:latin typeface="Times New Roman" panose="02020603050405020304" pitchFamily="18" charset="0"/>
              </a:rPr>
              <a:t>设计的主要阶段</a:t>
            </a:r>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251520" y="794321"/>
            <a:ext cx="8496944" cy="5731023"/>
          </a:xfrm>
        </p:spPr>
        <p:txBody>
          <a:bodyPr/>
          <a:lstStyle/>
          <a:p>
            <a:pPr marL="0" indent="0">
              <a:buNone/>
            </a:pPr>
            <a:r>
              <a:rPr lang="en-US" altLang="zh-CN" sz="2400" dirty="0"/>
              <a:t>3</a:t>
            </a:r>
            <a:r>
              <a:rPr lang="zh-CN" altLang="en-US" sz="2400" dirty="0"/>
              <a:t>）架构</a:t>
            </a:r>
            <a:r>
              <a:rPr lang="zh-CN" altLang="zh-CN" sz="2400" dirty="0"/>
              <a:t>设计</a:t>
            </a:r>
            <a:endParaRPr lang="en-US" altLang="zh-CN" sz="2400" dirty="0"/>
          </a:p>
          <a:p>
            <a:pPr marL="0" indent="0">
              <a:buNone/>
            </a:pPr>
            <a:r>
              <a:rPr lang="en-US" altLang="zh-CN" sz="2400" dirty="0"/>
              <a:t>A</a:t>
            </a:r>
            <a:r>
              <a:rPr lang="zh-CN" altLang="en-US" sz="2400" dirty="0"/>
              <a:t>）</a:t>
            </a:r>
            <a:r>
              <a:rPr lang="zh-CN" altLang="zh-CN" sz="2400" dirty="0"/>
              <a:t>高层次架构设计</a:t>
            </a:r>
            <a:endParaRPr lang="en-US" altLang="zh-CN" sz="2400" dirty="0"/>
          </a:p>
          <a:p>
            <a:r>
              <a:rPr lang="zh-CN" altLang="zh-CN" sz="2400" dirty="0"/>
              <a:t>根据硬件实现的划分计算任务。</a:t>
            </a:r>
          </a:p>
          <a:p>
            <a:r>
              <a:rPr lang="zh-CN" altLang="zh-CN" sz="2400" dirty="0"/>
              <a:t>安排不同子任务间的相互作用。</a:t>
            </a:r>
          </a:p>
          <a:p>
            <a:r>
              <a:rPr lang="zh-CN" altLang="zh-CN" sz="2400" dirty="0"/>
              <a:t>决定硬件资源来分配每个子任务</a:t>
            </a:r>
            <a:r>
              <a:rPr lang="en-US" altLang="zh-CN" sz="2400" dirty="0"/>
              <a:t>(</a:t>
            </a:r>
            <a:r>
              <a:rPr lang="zh-CN" altLang="zh-CN" sz="2400" dirty="0"/>
              <a:t>分配 </a:t>
            </a:r>
            <a:r>
              <a:rPr lang="en-US" altLang="zh-CN" sz="2400" dirty="0"/>
              <a:t>)</a:t>
            </a:r>
            <a:r>
              <a:rPr lang="zh-CN" altLang="zh-CN" sz="2400" dirty="0"/>
              <a:t>。</a:t>
            </a:r>
          </a:p>
          <a:p>
            <a:r>
              <a:rPr lang="zh-CN" altLang="zh-CN" sz="2400" dirty="0"/>
              <a:t>定义数据通路及控制器。</a:t>
            </a:r>
          </a:p>
          <a:p>
            <a:r>
              <a:rPr lang="zh-CN" altLang="zh-CN" sz="2400" dirty="0"/>
              <a:t>决定片外 </a:t>
            </a:r>
            <a:r>
              <a:rPr lang="en-US" altLang="zh-CN" sz="2400" dirty="0"/>
              <a:t>RAM</a:t>
            </a:r>
            <a:r>
              <a:rPr lang="zh-CN" altLang="zh-CN" sz="2400" dirty="0"/>
              <a:t>、片上</a:t>
            </a:r>
            <a:r>
              <a:rPr lang="en-US" altLang="zh-CN" sz="2400" dirty="0"/>
              <a:t>RAM </a:t>
            </a:r>
            <a:r>
              <a:rPr lang="zh-CN" altLang="zh-CN" sz="2400" dirty="0"/>
              <a:t>和寄存器。</a:t>
            </a:r>
          </a:p>
          <a:p>
            <a:r>
              <a:rPr lang="zh-CN" altLang="zh-CN" sz="2400" dirty="0"/>
              <a:t>决定通信拓扑结构和协议</a:t>
            </a:r>
            <a:r>
              <a:rPr lang="en-US" altLang="zh-CN" sz="2400" dirty="0"/>
              <a:t>(</a:t>
            </a:r>
            <a:r>
              <a:rPr lang="zh-CN" altLang="zh-CN" sz="2400" dirty="0"/>
              <a:t>并行、串行</a:t>
            </a:r>
            <a:r>
              <a:rPr lang="en-US" altLang="zh-CN" sz="2400" dirty="0"/>
              <a:t>)</a:t>
            </a:r>
            <a:r>
              <a:rPr lang="zh-CN" altLang="zh-CN" sz="2400" dirty="0"/>
              <a:t>。</a:t>
            </a:r>
          </a:p>
          <a:p>
            <a:r>
              <a:rPr lang="zh-CN" altLang="zh-CN" sz="2400" dirty="0"/>
              <a:t>确定硬件提供多大的并行度。</a:t>
            </a:r>
          </a:p>
          <a:p>
            <a:r>
              <a:rPr lang="zh-CN" altLang="zh-CN" sz="2400" dirty="0"/>
              <a:t>确定在哪里选择流水线和流水线深度。</a:t>
            </a:r>
          </a:p>
          <a:p>
            <a:r>
              <a:rPr lang="zh-CN" altLang="zh-CN" sz="2400" dirty="0"/>
              <a:t>决定电路类型、制造技术和生产工艺。</a:t>
            </a:r>
          </a:p>
          <a:p>
            <a:r>
              <a:rPr lang="zh-CN" altLang="zh-CN" sz="2400" dirty="0"/>
              <a:t>确定设计的抽象层次和要使用的单元库，如果有的话。</a:t>
            </a:r>
          </a:p>
          <a:p>
            <a:r>
              <a:rPr lang="zh-CN" altLang="zh-CN" sz="2400" dirty="0"/>
              <a:t>获得电路规模和成本的初步评估。</a:t>
            </a:r>
            <a:endParaRPr lang="en-US" altLang="zh-CN" sz="2400" dirty="0"/>
          </a:p>
        </p:txBody>
      </p:sp>
    </p:spTree>
    <p:extLst>
      <p:ext uri="{BB962C8B-B14F-4D97-AF65-F5344CB8AC3E}">
        <p14:creationId xmlns:p14="http://schemas.microsoft.com/office/powerpoint/2010/main" val="18732074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1.3.2 VLSI</a:t>
            </a:r>
            <a:r>
              <a:rPr lang="zh-CN" altLang="en-US" sz="2400" b="1" kern="100" dirty="0">
                <a:latin typeface="Times New Roman" panose="02020603050405020304" pitchFamily="18" charset="0"/>
              </a:rPr>
              <a:t>设计的主要阶段</a:t>
            </a:r>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251520" y="794321"/>
            <a:ext cx="8496944" cy="6063679"/>
          </a:xfrm>
        </p:spPr>
        <p:txBody>
          <a:bodyPr/>
          <a:lstStyle/>
          <a:p>
            <a:pPr marL="0" indent="0">
              <a:buNone/>
            </a:pPr>
            <a:r>
              <a:rPr lang="en-US" altLang="zh-CN" sz="2400" dirty="0"/>
              <a:t>B</a:t>
            </a:r>
            <a:r>
              <a:rPr lang="zh-CN" altLang="en-US" sz="2400" dirty="0"/>
              <a:t>）</a:t>
            </a:r>
            <a:r>
              <a:rPr lang="en-US" altLang="zh-CN" sz="2400" dirty="0"/>
              <a:t>RTL (</a:t>
            </a:r>
            <a:r>
              <a:rPr lang="zh-CN" altLang="zh-CN" sz="2400" dirty="0"/>
              <a:t>寄存器</a:t>
            </a:r>
            <a:r>
              <a:rPr lang="zh-CN" altLang="en-US" sz="2400" dirty="0"/>
              <a:t>传输级</a:t>
            </a:r>
            <a:r>
              <a:rPr lang="zh-CN" altLang="zh-CN" sz="2400" dirty="0"/>
              <a:t> </a:t>
            </a:r>
            <a:r>
              <a:rPr lang="en-US" altLang="zh-CN" sz="2400" dirty="0"/>
              <a:t>)</a:t>
            </a:r>
            <a:r>
              <a:rPr lang="zh-CN" altLang="en-US" sz="2400" dirty="0"/>
              <a:t> </a:t>
            </a:r>
            <a:r>
              <a:rPr lang="zh-CN" altLang="zh-CN" sz="2400" dirty="0"/>
              <a:t>设计</a:t>
            </a:r>
            <a:endParaRPr lang="en-US" altLang="zh-CN" sz="2400" dirty="0"/>
          </a:p>
          <a:p>
            <a:r>
              <a:rPr lang="zh-CN" altLang="zh-CN" sz="2400" dirty="0"/>
              <a:t>如何实现算术和逻辑单元。</a:t>
            </a:r>
          </a:p>
          <a:p>
            <a:r>
              <a:rPr lang="zh-CN" altLang="zh-CN" sz="2400" dirty="0"/>
              <a:t>使用硬连线还是微代码实现控制器。</a:t>
            </a:r>
          </a:p>
          <a:p>
            <a:r>
              <a:rPr lang="zh-CN" altLang="zh-CN" sz="2400" dirty="0"/>
              <a:t>何时使用 </a:t>
            </a:r>
            <a:r>
              <a:rPr lang="en-US" altLang="zh-CN" sz="2400" dirty="0"/>
              <a:t>ROM </a:t>
            </a:r>
            <a:r>
              <a:rPr lang="zh-CN" altLang="zh-CN" sz="2400" dirty="0"/>
              <a:t>而非随机逻辑。</a:t>
            </a:r>
          </a:p>
          <a:p>
            <a:r>
              <a:rPr lang="zh-CN" altLang="zh-CN" sz="2400" dirty="0"/>
              <a:t>在哪个时钟周期执行什么运算</a:t>
            </a:r>
            <a:r>
              <a:rPr lang="en-US" altLang="zh-CN" sz="2400" dirty="0"/>
              <a:t>(</a:t>
            </a:r>
            <a:r>
              <a:rPr lang="zh-CN" altLang="zh-CN" sz="2400" dirty="0"/>
              <a:t>调度</a:t>
            </a:r>
            <a:r>
              <a:rPr lang="en-US" altLang="zh-CN" sz="2400" dirty="0"/>
              <a:t>)</a:t>
            </a:r>
            <a:r>
              <a:rPr lang="zh-CN" altLang="zh-CN" sz="2400" dirty="0"/>
              <a:t>。</a:t>
            </a:r>
          </a:p>
          <a:p>
            <a:r>
              <a:rPr lang="zh-CN" altLang="zh-CN" sz="2400" dirty="0"/>
              <a:t>在哪个处理单元执行什么运算</a:t>
            </a:r>
            <a:r>
              <a:rPr lang="en-US" altLang="zh-CN" sz="2400" dirty="0"/>
              <a:t>(</a:t>
            </a:r>
            <a:r>
              <a:rPr lang="zh-CN" altLang="zh-CN" sz="2400" dirty="0"/>
              <a:t>绑 定</a:t>
            </a:r>
            <a:r>
              <a:rPr lang="en-US" altLang="zh-CN" sz="2400" dirty="0"/>
              <a:t>)</a:t>
            </a:r>
            <a:r>
              <a:rPr lang="zh-CN" altLang="zh-CN" sz="2400" dirty="0"/>
              <a:t>。</a:t>
            </a:r>
          </a:p>
          <a:p>
            <a:r>
              <a:rPr lang="zh-CN" altLang="zh-CN" sz="2400" dirty="0"/>
              <a:t>在哪里插入流水线寄存器和填隙寄存器。</a:t>
            </a:r>
          </a:p>
          <a:p>
            <a:r>
              <a:rPr lang="zh-CN" altLang="zh-CN" sz="2400" dirty="0"/>
              <a:t>如何在寄存器之间平衡组合逻辑深度。</a:t>
            </a:r>
          </a:p>
          <a:p>
            <a:r>
              <a:rPr lang="zh-CN" altLang="zh-CN" sz="2400" dirty="0"/>
              <a:t>采用什么时钟方案。</a:t>
            </a:r>
          </a:p>
          <a:p>
            <a:r>
              <a:rPr lang="zh-CN" altLang="zh-CN" sz="2400" dirty="0"/>
              <a:t>使用多少时间间隔作为频率基本时钟周期。</a:t>
            </a:r>
          </a:p>
          <a:p>
            <a:r>
              <a:rPr lang="zh-CN" altLang="zh-CN" sz="2400" dirty="0"/>
              <a:t>在哪里使用双向或单向主线，在哪里使用 三态总线驱动器而不是多路选择器。</a:t>
            </a:r>
          </a:p>
          <a:p>
            <a:r>
              <a:rPr lang="zh-CN" altLang="zh-CN" sz="2400" dirty="0"/>
              <a:t>用什么测试方案来确保可行性。</a:t>
            </a:r>
          </a:p>
          <a:p>
            <a:r>
              <a:rPr lang="zh-CN" altLang="zh-CN" sz="2400" dirty="0"/>
              <a:t>如何初始化电路。</a:t>
            </a:r>
          </a:p>
          <a:p>
            <a:pPr marL="0" indent="0">
              <a:buNone/>
            </a:pPr>
            <a:endParaRPr lang="en-US" altLang="zh-CN" sz="2400" dirty="0"/>
          </a:p>
        </p:txBody>
      </p:sp>
    </p:spTree>
    <p:extLst>
      <p:ext uri="{BB962C8B-B14F-4D97-AF65-F5344CB8AC3E}">
        <p14:creationId xmlns:p14="http://schemas.microsoft.com/office/powerpoint/2010/main" val="31791503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1.3.2 VLSI</a:t>
            </a:r>
            <a:r>
              <a:rPr lang="zh-CN" altLang="en-US" sz="2400" b="1" kern="100" dirty="0">
                <a:latin typeface="Times New Roman" panose="02020603050405020304" pitchFamily="18" charset="0"/>
              </a:rPr>
              <a:t>设计的主要阶段</a:t>
            </a:r>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258128" y="794321"/>
            <a:ext cx="8496944" cy="6063679"/>
          </a:xfrm>
        </p:spPr>
        <p:txBody>
          <a:bodyPr/>
          <a:lstStyle/>
          <a:p>
            <a:pPr marL="0" indent="0">
              <a:buNone/>
            </a:pPr>
            <a:r>
              <a:rPr lang="en-US" altLang="zh-CN" sz="2400" dirty="0"/>
              <a:t>4</a:t>
            </a:r>
            <a:r>
              <a:rPr lang="zh-CN" altLang="en-US" sz="2400" dirty="0"/>
              <a:t>）逻辑</a:t>
            </a:r>
            <a:r>
              <a:rPr lang="zh-CN" altLang="zh-CN" sz="2400" dirty="0"/>
              <a:t>设计</a:t>
            </a:r>
            <a:endParaRPr lang="en-US" altLang="zh-CN" sz="2400" dirty="0"/>
          </a:p>
          <a:p>
            <a:pPr marL="0" indent="0">
              <a:buNone/>
            </a:pPr>
            <a:r>
              <a:rPr lang="en-US" altLang="zh-CN" sz="2400" dirty="0"/>
              <a:t>RTL</a:t>
            </a:r>
            <a:r>
              <a:rPr lang="zh-CN" altLang="zh-CN" sz="2400" dirty="0"/>
              <a:t>转换到门级网表和布尔优化主要是自动化的。现在的设计并进行优化的工作大部分由工 具自动完成。</a:t>
            </a:r>
            <a:endParaRPr lang="en-US" altLang="zh-CN" sz="2400" dirty="0"/>
          </a:p>
          <a:p>
            <a:pPr marL="0" indent="0">
              <a:buNone/>
            </a:pPr>
            <a:r>
              <a:rPr lang="en-US" altLang="zh-CN" sz="2400" dirty="0"/>
              <a:t>5</a:t>
            </a:r>
            <a:r>
              <a:rPr lang="zh-CN" altLang="en-US" sz="2400" dirty="0"/>
              <a:t>）可测试设计</a:t>
            </a:r>
            <a:endParaRPr lang="en-US" altLang="zh-CN" sz="2400" dirty="0"/>
          </a:p>
          <a:p>
            <a:pPr marL="0" indent="0">
              <a:buNone/>
            </a:pPr>
            <a:r>
              <a:rPr lang="zh-CN" altLang="zh-CN" sz="2400" dirty="0"/>
              <a:t>有故障的</a:t>
            </a:r>
            <a:r>
              <a:rPr lang="en-US" altLang="zh-CN" sz="2400" dirty="0"/>
              <a:t>IC</a:t>
            </a:r>
            <a:r>
              <a:rPr lang="zh-CN" altLang="zh-CN" sz="2400" dirty="0"/>
              <a:t>是设计缺陷、制造缺陷，或两者兼有的结果。可测性设计 </a:t>
            </a:r>
            <a:r>
              <a:rPr lang="en-US" altLang="zh-CN" sz="2400" dirty="0"/>
              <a:t>( Design  For  Test </a:t>
            </a:r>
            <a:r>
              <a:rPr lang="zh-CN" altLang="zh-CN" sz="2400" dirty="0"/>
              <a:t>，</a:t>
            </a:r>
            <a:r>
              <a:rPr lang="en-US" altLang="zh-CN" sz="2400" dirty="0"/>
              <a:t>DFT) </a:t>
            </a:r>
            <a:r>
              <a:rPr lang="zh-CN" altLang="zh-CN" sz="2400" dirty="0"/>
              <a:t>增加额外的辅助电路来提高内部电路节点的可控性和可观性。</a:t>
            </a:r>
            <a:r>
              <a:rPr lang="zh-CN" altLang="en-US" sz="2400" dirty="0"/>
              <a:t>同时</a:t>
            </a:r>
            <a:r>
              <a:rPr lang="zh-CN" altLang="zh-CN" sz="2400" dirty="0"/>
              <a:t>生成一组测试向量集来区分有故障的和好的电路。</a:t>
            </a:r>
            <a:endParaRPr lang="en-US" altLang="zh-CN" sz="2400" dirty="0"/>
          </a:p>
          <a:p>
            <a:pPr marL="0" indent="0">
              <a:buNone/>
            </a:pPr>
            <a:r>
              <a:rPr lang="zh-CN" altLang="zh-CN" sz="2400" dirty="0"/>
              <a:t>可测性用一个测试向量级真正能检测到的制造缺陷数量与所有可能的总故障数量的比率来评估。</a:t>
            </a:r>
            <a:endParaRPr lang="en-US" altLang="zh-CN" sz="2400" dirty="0"/>
          </a:p>
          <a:p>
            <a:pPr marL="0" indent="0">
              <a:buNone/>
            </a:pPr>
            <a:r>
              <a:rPr lang="en-US" altLang="zh-CN" sz="2400" dirty="0"/>
              <a:t>6</a:t>
            </a:r>
            <a:r>
              <a:rPr lang="zh-CN" altLang="en-US" sz="2400" dirty="0"/>
              <a:t>）物理设计：布局规划，布局布线。</a:t>
            </a:r>
            <a:endParaRPr lang="en-US" altLang="zh-CN" sz="2400" dirty="0"/>
          </a:p>
          <a:p>
            <a:pPr marL="0" indent="0">
              <a:buNone/>
            </a:pPr>
            <a:r>
              <a:rPr lang="zh-CN" altLang="en-US" sz="2400" dirty="0"/>
              <a:t>版图规则检查（</a:t>
            </a:r>
            <a:r>
              <a:rPr lang="en-US" altLang="zh-CN" sz="2400" dirty="0"/>
              <a:t>DRC</a:t>
            </a:r>
            <a:r>
              <a:rPr lang="zh-CN" altLang="en-US" sz="2400" dirty="0"/>
              <a:t>），版图提取，版图原理图一致性检查（</a:t>
            </a:r>
            <a:r>
              <a:rPr lang="en-US" altLang="zh-CN" sz="2400" dirty="0"/>
              <a:t>LVS</a:t>
            </a:r>
            <a:r>
              <a:rPr lang="zh-CN" altLang="en-US" sz="2400" dirty="0"/>
              <a:t>），版图后时序验证，版图后仿真。</a:t>
            </a:r>
            <a:endParaRPr lang="en-US" altLang="zh-CN" sz="2400" dirty="0"/>
          </a:p>
          <a:p>
            <a:pPr marL="0" indent="0">
              <a:buNone/>
            </a:pPr>
            <a:r>
              <a:rPr lang="en-US" altLang="zh-CN" sz="2400" dirty="0"/>
              <a:t>7</a:t>
            </a:r>
            <a:r>
              <a:rPr lang="zh-CN" altLang="en-US" sz="2400" dirty="0"/>
              <a:t>）设计签付（</a:t>
            </a:r>
            <a:r>
              <a:rPr lang="en-US" altLang="zh-CN" sz="2400" dirty="0"/>
              <a:t>Sign off</a:t>
            </a:r>
            <a:r>
              <a:rPr lang="zh-CN" altLang="en-US" sz="2400" dirty="0"/>
              <a:t>）</a:t>
            </a:r>
            <a:endParaRPr lang="en-US" altLang="zh-CN" sz="2400" dirty="0"/>
          </a:p>
        </p:txBody>
      </p:sp>
    </p:spTree>
    <p:extLst>
      <p:ext uri="{BB962C8B-B14F-4D97-AF65-F5344CB8AC3E}">
        <p14:creationId xmlns:p14="http://schemas.microsoft.com/office/powerpoint/2010/main" val="2512393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1.3.2 VLSI</a:t>
            </a:r>
            <a:r>
              <a:rPr lang="zh-CN" altLang="en-US" sz="2400" b="1" kern="100" dirty="0">
                <a:latin typeface="Times New Roman" panose="02020603050405020304" pitchFamily="18" charset="0"/>
              </a:rPr>
              <a:t>设计的主要阶段</a:t>
            </a:r>
            <a:endParaRPr lang="zh-CN" altLang="en-US" dirty="0"/>
          </a:p>
        </p:txBody>
      </p:sp>
      <p:pic>
        <p:nvPicPr>
          <p:cNvPr id="7" name="图片 6">
            <a:extLst>
              <a:ext uri="{FF2B5EF4-FFF2-40B4-BE49-F238E27FC236}">
                <a16:creationId xmlns:a16="http://schemas.microsoft.com/office/drawing/2014/main" id="{2343064D-33BF-4C4D-AC1E-5AA22D77D4F4}"/>
              </a:ext>
            </a:extLst>
          </p:cNvPr>
          <p:cNvPicPr>
            <a:picLocks noChangeAspect="1"/>
          </p:cNvPicPr>
          <p:nvPr/>
        </p:nvPicPr>
        <p:blipFill>
          <a:blip r:embed="rId3"/>
          <a:stretch>
            <a:fillRect/>
          </a:stretch>
        </p:blipFill>
        <p:spPr>
          <a:xfrm>
            <a:off x="388928" y="1196752"/>
            <a:ext cx="8152427" cy="5256584"/>
          </a:xfrm>
          <a:prstGeom prst="rect">
            <a:avLst/>
          </a:prstGeom>
        </p:spPr>
      </p:pic>
    </p:spTree>
    <p:extLst>
      <p:ext uri="{BB962C8B-B14F-4D97-AF65-F5344CB8AC3E}">
        <p14:creationId xmlns:p14="http://schemas.microsoft.com/office/powerpoint/2010/main" val="13063050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32A6421-B36A-4093-8A34-3C32CB9EB1A7}"/>
              </a:ext>
            </a:extLst>
          </p:cNvPr>
          <p:cNvPicPr>
            <a:picLocks noChangeAspect="1"/>
          </p:cNvPicPr>
          <p:nvPr/>
        </p:nvPicPr>
        <p:blipFill>
          <a:blip r:embed="rId3"/>
          <a:stretch>
            <a:fillRect/>
          </a:stretch>
        </p:blipFill>
        <p:spPr>
          <a:xfrm>
            <a:off x="857250" y="185737"/>
            <a:ext cx="7429500" cy="6486525"/>
          </a:xfrm>
          <a:prstGeom prst="rect">
            <a:avLst/>
          </a:prstGeom>
        </p:spPr>
      </p:pic>
    </p:spTree>
    <p:extLst>
      <p:ext uri="{BB962C8B-B14F-4D97-AF65-F5344CB8AC3E}">
        <p14:creationId xmlns:p14="http://schemas.microsoft.com/office/powerpoint/2010/main" val="4643756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1.3.3 </a:t>
            </a:r>
            <a:r>
              <a:rPr lang="zh-CN" altLang="en-US" sz="2400" b="1" kern="100" dirty="0">
                <a:latin typeface="Times New Roman" panose="02020603050405020304" pitchFamily="18" charset="0"/>
              </a:rPr>
              <a:t>单元库</a:t>
            </a:r>
            <a:endParaRPr lang="zh-CN" altLang="en-US" dirty="0"/>
          </a:p>
        </p:txBody>
      </p:sp>
      <p:sp>
        <p:nvSpPr>
          <p:cNvPr id="8" name="矩形 7">
            <a:extLst>
              <a:ext uri="{FF2B5EF4-FFF2-40B4-BE49-F238E27FC236}">
                <a16:creationId xmlns:a16="http://schemas.microsoft.com/office/drawing/2014/main" id="{8EBD962D-0C30-4666-A159-ADBF93842ED2}"/>
              </a:ext>
            </a:extLst>
          </p:cNvPr>
          <p:cNvSpPr/>
          <p:nvPr/>
        </p:nvSpPr>
        <p:spPr>
          <a:xfrm>
            <a:off x="388928" y="980729"/>
            <a:ext cx="7423432" cy="5262979"/>
          </a:xfrm>
          <a:prstGeom prst="rect">
            <a:avLst/>
          </a:prstGeom>
        </p:spPr>
        <p:txBody>
          <a:bodyPr wrap="square">
            <a:spAutoFit/>
          </a:bodyPr>
          <a:lstStyle/>
          <a:p>
            <a:r>
              <a:rPr lang="zh-CN" altLang="zh-CN" sz="2400" dirty="0"/>
              <a:t>单元库的开发和实际的</a:t>
            </a:r>
            <a:r>
              <a:rPr lang="en-US" altLang="zh-CN" sz="2400" dirty="0"/>
              <a:t>IC </a:t>
            </a:r>
            <a:r>
              <a:rPr lang="zh-CN" altLang="zh-CN" sz="2400" dirty="0"/>
              <a:t>设计是完全分开的</a:t>
            </a:r>
            <a:r>
              <a:rPr lang="zh-CN" altLang="en-US" sz="2400" dirty="0"/>
              <a:t>，</a:t>
            </a:r>
            <a:r>
              <a:rPr lang="zh-CN" altLang="zh-CN" sz="2400" dirty="0"/>
              <a:t>单元库通常是由专门的库厂商授权许可给</a:t>
            </a:r>
            <a:r>
              <a:rPr lang="en-US" altLang="zh-CN" sz="2400" dirty="0"/>
              <a:t>IC </a:t>
            </a:r>
            <a:r>
              <a:rPr lang="zh-CN" altLang="zh-CN" sz="2400" dirty="0"/>
              <a:t>开发者</a:t>
            </a:r>
            <a:r>
              <a:rPr lang="zh-CN" altLang="en-US" sz="2400" dirty="0"/>
              <a:t>。</a:t>
            </a:r>
            <a:endParaRPr lang="en-US" altLang="zh-CN" sz="2400" dirty="0"/>
          </a:p>
          <a:p>
            <a:endParaRPr lang="en-US" altLang="zh-CN" sz="2400" dirty="0"/>
          </a:p>
          <a:p>
            <a:r>
              <a:rPr lang="zh-CN" altLang="en-US" sz="2400" dirty="0">
                <a:latin typeface="Arial" panose="020B0604020202020204" pitchFamily="34" charset="0"/>
              </a:rPr>
              <a:t>单元库为</a:t>
            </a:r>
            <a:r>
              <a:rPr lang="zh-CN" altLang="zh-CN" sz="2400" dirty="0">
                <a:latin typeface="Arial" panose="020B0604020202020204" pitchFamily="34" charset="0"/>
              </a:rPr>
              <a:t>每个单元</a:t>
            </a:r>
            <a:r>
              <a:rPr lang="zh-CN" altLang="en-US" sz="2400" dirty="0">
                <a:latin typeface="Arial" panose="020B0604020202020204" pitchFamily="34" charset="0"/>
              </a:rPr>
              <a:t>提供</a:t>
            </a:r>
            <a:r>
              <a:rPr lang="zh-CN" altLang="zh-CN" sz="2400" dirty="0">
                <a:latin typeface="Arial" panose="020B0604020202020204" pitchFamily="34" charset="0"/>
              </a:rPr>
              <a:t>多个设计视圈，包括如下几方面。</a:t>
            </a:r>
            <a:endParaRPr lang="en-US" altLang="zh-CN" sz="2400" dirty="0">
              <a:latin typeface="Arial" panose="020B0604020202020204" pitchFamily="34" charset="0"/>
            </a:endParaRPr>
          </a:p>
          <a:p>
            <a:endParaRPr lang="zh-CN" altLang="zh-CN" sz="2400" dirty="0">
              <a:latin typeface="Arial" panose="020B0604020202020204" pitchFamily="34" charset="0"/>
            </a:endParaRPr>
          </a:p>
          <a:p>
            <a:r>
              <a:rPr lang="zh-CN" altLang="zh-CN" sz="2400" dirty="0">
                <a:latin typeface="Arial" panose="020B0604020202020204" pitchFamily="34" charset="0"/>
              </a:rPr>
              <a:t>·带有功能、电学和时序规格说明的</a:t>
            </a:r>
            <a:r>
              <a:rPr lang="zh-CN" altLang="en-US" sz="2400" dirty="0">
                <a:latin typeface="Arial" panose="020B0604020202020204" pitchFamily="34" charset="0"/>
              </a:rPr>
              <a:t>数据</a:t>
            </a:r>
            <a:r>
              <a:rPr lang="zh-CN" altLang="zh-CN" sz="2400" dirty="0">
                <a:latin typeface="Arial" panose="020B0604020202020204" pitchFamily="34" charset="0"/>
              </a:rPr>
              <a:t>手册。</a:t>
            </a:r>
          </a:p>
          <a:p>
            <a:r>
              <a:rPr lang="zh-CN" altLang="zh-CN" sz="2400" dirty="0">
                <a:latin typeface="Arial" panose="020B0604020202020204" pitchFamily="34" charset="0"/>
              </a:rPr>
              <a:t>·一个固标 </a:t>
            </a:r>
            <a:r>
              <a:rPr lang="en-US" altLang="zh-CN" sz="2400" dirty="0">
                <a:latin typeface="Arial" panose="020B0604020202020204" pitchFamily="34" charset="0"/>
              </a:rPr>
              <a:t>(icon)  </a:t>
            </a:r>
            <a:r>
              <a:rPr lang="zh-CN" altLang="zh-CN" sz="2400" dirty="0">
                <a:latin typeface="Arial" panose="020B0604020202020204" pitchFamily="34" charset="0"/>
              </a:rPr>
              <a:t>或符号用于包含到电路图里。</a:t>
            </a:r>
          </a:p>
          <a:p>
            <a:r>
              <a:rPr lang="zh-CN" altLang="zh-CN" sz="2400" dirty="0">
                <a:latin typeface="Arial" panose="020B0604020202020204" pitchFamily="34" charset="0"/>
              </a:rPr>
              <a:t>·用于仿真和时序分析的准确的行为模型。</a:t>
            </a:r>
          </a:p>
          <a:p>
            <a:r>
              <a:rPr lang="zh-CN" altLang="zh-CN" sz="2400" dirty="0">
                <a:latin typeface="Arial" panose="020B0604020202020204" pitchFamily="34" charset="0"/>
              </a:rPr>
              <a:t>·一组仿真和测试向量。</a:t>
            </a:r>
          </a:p>
          <a:p>
            <a:r>
              <a:rPr lang="zh-CN" altLang="zh-CN" sz="2400" dirty="0">
                <a:latin typeface="Arial" panose="020B0604020202020204" pitchFamily="34" charset="0"/>
              </a:rPr>
              <a:t>·晶体管级网表或电路图。</a:t>
            </a:r>
          </a:p>
          <a:p>
            <a:r>
              <a:rPr lang="zh-CN" altLang="zh-CN" sz="2400" dirty="0">
                <a:latin typeface="Arial" panose="020B0604020202020204" pitchFamily="34" charset="0"/>
              </a:rPr>
              <a:t>·详细的版图。</a:t>
            </a:r>
          </a:p>
          <a:p>
            <a:r>
              <a:rPr lang="zh-CN" altLang="zh-CN" sz="2400" dirty="0">
                <a:latin typeface="Arial" panose="020B0604020202020204" pitchFamily="34" charset="0"/>
              </a:rPr>
              <a:t>·简化的版图视图，只显示了用于布局布线的轮廓和连接点，称为单元抽象、布局抽象或虚幻元件。</a:t>
            </a:r>
            <a:endParaRPr lang="zh-CN" altLang="en-US" sz="2400" dirty="0"/>
          </a:p>
        </p:txBody>
      </p:sp>
    </p:spTree>
    <p:extLst>
      <p:ext uri="{BB962C8B-B14F-4D97-AF65-F5344CB8AC3E}">
        <p14:creationId xmlns:p14="http://schemas.microsoft.com/office/powerpoint/2010/main" val="37636912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1.3.3 </a:t>
            </a:r>
            <a:r>
              <a:rPr lang="zh-CN" altLang="en-US" sz="2400" b="1" kern="100" dirty="0">
                <a:latin typeface="Times New Roman" panose="02020603050405020304" pitchFamily="18" charset="0"/>
              </a:rPr>
              <a:t>单元库</a:t>
            </a:r>
            <a:endParaRPr lang="zh-CN" altLang="en-US" dirty="0"/>
          </a:p>
        </p:txBody>
      </p:sp>
      <p:pic>
        <p:nvPicPr>
          <p:cNvPr id="7" name="图片 6">
            <a:extLst>
              <a:ext uri="{FF2B5EF4-FFF2-40B4-BE49-F238E27FC236}">
                <a16:creationId xmlns:a16="http://schemas.microsoft.com/office/drawing/2014/main" id="{5BBECFD1-58E7-470D-8730-2FDCA244A258}"/>
              </a:ext>
            </a:extLst>
          </p:cNvPr>
          <p:cNvPicPr>
            <a:picLocks noChangeAspect="1"/>
          </p:cNvPicPr>
          <p:nvPr/>
        </p:nvPicPr>
        <p:blipFill>
          <a:blip r:embed="rId3"/>
          <a:stretch>
            <a:fillRect/>
          </a:stretch>
        </p:blipFill>
        <p:spPr>
          <a:xfrm>
            <a:off x="388928" y="794321"/>
            <a:ext cx="8462494" cy="5514999"/>
          </a:xfrm>
          <a:prstGeom prst="rect">
            <a:avLst/>
          </a:prstGeom>
        </p:spPr>
      </p:pic>
    </p:spTree>
    <p:extLst>
      <p:ext uri="{BB962C8B-B14F-4D97-AF65-F5344CB8AC3E}">
        <p14:creationId xmlns:p14="http://schemas.microsoft.com/office/powerpoint/2010/main" val="9632029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 4 FPL</a:t>
            </a:r>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258128" y="794321"/>
            <a:ext cx="8496944" cy="4290863"/>
          </a:xfrm>
        </p:spPr>
        <p:txBody>
          <a:bodyPr/>
          <a:lstStyle/>
          <a:p>
            <a:pPr marL="0" indent="0">
              <a:buNone/>
            </a:pPr>
            <a:r>
              <a:rPr lang="en-US" altLang="zh-CN" sz="2400" dirty="0"/>
              <a:t>1.4.1 </a:t>
            </a:r>
            <a:r>
              <a:rPr lang="zh-CN" altLang="en-US" sz="2400" dirty="0"/>
              <a:t>配置技术</a:t>
            </a:r>
            <a:endParaRPr lang="en-US" altLang="zh-CN" sz="2400" dirty="0"/>
          </a:p>
          <a:p>
            <a:pPr marL="0" indent="0">
              <a:buNone/>
            </a:pPr>
            <a:r>
              <a:rPr lang="en-US" altLang="zh-CN" sz="2400" dirty="0"/>
              <a:t>SRAM</a:t>
            </a:r>
            <a:r>
              <a:rPr lang="zh-CN" altLang="en-US" sz="2400" dirty="0"/>
              <a:t>：</a:t>
            </a:r>
            <a:r>
              <a:rPr lang="zh-CN" altLang="zh-CN" sz="2400" dirty="0"/>
              <a:t>静态存储器。</a:t>
            </a:r>
            <a:endParaRPr lang="en-US" altLang="zh-CN" sz="2400" dirty="0"/>
          </a:p>
          <a:p>
            <a:pPr marL="0" indent="0">
              <a:buNone/>
            </a:pPr>
            <a:r>
              <a:rPr lang="zh-CN" altLang="zh-CN" sz="2400" dirty="0"/>
              <a:t>紫外线可擦除存储器 </a:t>
            </a:r>
            <a:r>
              <a:rPr lang="zh-CN" altLang="en-US" sz="2400" dirty="0"/>
              <a:t>：</a:t>
            </a:r>
            <a:r>
              <a:rPr lang="zh-CN" altLang="zh-CN" sz="2400" dirty="0"/>
              <a:t>电学可编程只读存储器 </a:t>
            </a:r>
            <a:r>
              <a:rPr lang="en-US" altLang="zh-CN" sz="2400" dirty="0"/>
              <a:t>(EPROM )</a:t>
            </a:r>
            <a:r>
              <a:rPr lang="zh-CN" altLang="zh-CN" sz="2400" dirty="0"/>
              <a:t>依靠特殊 </a:t>
            </a:r>
            <a:r>
              <a:rPr lang="en-US" altLang="zh-CN" sz="2400" dirty="0"/>
              <a:t>MOSFET</a:t>
            </a:r>
            <a:r>
              <a:rPr lang="zh-CN" altLang="en-US" sz="2400" dirty="0"/>
              <a:t>的</a:t>
            </a:r>
            <a:r>
              <a:rPr lang="zh-CN" altLang="zh-CN" sz="2400" dirty="0"/>
              <a:t>浮栅</a:t>
            </a:r>
            <a:r>
              <a:rPr lang="zh-CN" altLang="en-US" sz="2400" dirty="0"/>
              <a:t>实现。</a:t>
            </a:r>
            <a:endParaRPr lang="en-US" altLang="zh-CN" sz="2400" dirty="0"/>
          </a:p>
          <a:p>
            <a:pPr marL="0" indent="0">
              <a:buNone/>
            </a:pPr>
            <a:r>
              <a:rPr lang="zh-CN" altLang="zh-CN" sz="2400" dirty="0"/>
              <a:t>电学可擦除存储器</a:t>
            </a:r>
            <a:r>
              <a:rPr lang="zh-CN" altLang="en-US" sz="2400" dirty="0"/>
              <a:t>：</a:t>
            </a:r>
            <a:r>
              <a:rPr lang="en-US" altLang="zh-CN" sz="2400" dirty="0"/>
              <a:t>EEPROM </a:t>
            </a:r>
            <a:r>
              <a:rPr lang="zh-CN" altLang="zh-CN" sz="2400" dirty="0"/>
              <a:t>技术是来自于紫外线可擦除存储器。区别在于捕获浮栅上的电荷是用 电学</a:t>
            </a:r>
            <a:r>
              <a:rPr lang="zh-CN" altLang="en-US" sz="2400" dirty="0"/>
              <a:t>方法</a:t>
            </a:r>
            <a:r>
              <a:rPr lang="zh-CN" altLang="zh-CN" sz="2400" dirty="0"/>
              <a:t>去除的</a:t>
            </a:r>
            <a:r>
              <a:rPr lang="zh-CN" altLang="en-US" sz="2400" dirty="0"/>
              <a:t>；</a:t>
            </a:r>
            <a:endParaRPr lang="en-US" altLang="zh-CN" sz="2400" dirty="0"/>
          </a:p>
          <a:p>
            <a:pPr marL="0" indent="0">
              <a:buNone/>
            </a:pPr>
            <a:r>
              <a:rPr lang="zh-CN" altLang="zh-CN" sz="2400" dirty="0"/>
              <a:t>熔丝或反熔丝</a:t>
            </a:r>
            <a:r>
              <a:rPr lang="zh-CN" altLang="en-US" sz="2400" dirty="0"/>
              <a:t>：</a:t>
            </a:r>
            <a:r>
              <a:rPr lang="zh-CN" altLang="zh-CN" sz="2400" dirty="0"/>
              <a:t>熔丝，在早期的双极型 </a:t>
            </a:r>
            <a:r>
              <a:rPr lang="en-US" altLang="zh-CN" sz="2400" dirty="0"/>
              <a:t>PROM </a:t>
            </a:r>
            <a:r>
              <a:rPr lang="zh-CN" altLang="zh-CN" sz="2400" dirty="0"/>
              <a:t>和 </a:t>
            </a:r>
            <a:r>
              <a:rPr lang="en-US" altLang="zh-CN" sz="2400" dirty="0"/>
              <a:t>SPLD </a:t>
            </a:r>
            <a:r>
              <a:rPr lang="zh-CN" altLang="zh-CN" sz="2400" dirty="0"/>
              <a:t>里使用，当施加编 程电路时以受控的方式烧断。反熔丝，在当今的 </a:t>
            </a:r>
            <a:r>
              <a:rPr lang="en-US" altLang="zh-CN" sz="2400" dirty="0"/>
              <a:t>FPGA </a:t>
            </a:r>
            <a:r>
              <a:rPr lang="zh-CN" altLang="zh-CN" sz="2400" dirty="0"/>
              <a:t>里使用的，是隔离两个导电层的薄 层介质，在施加编程电压时就被击穿，从而形成了低阻扰的导电通路。</a:t>
            </a:r>
            <a:endParaRPr lang="en-US" altLang="zh-CN" sz="2400" dirty="0"/>
          </a:p>
        </p:txBody>
      </p:sp>
      <p:pic>
        <p:nvPicPr>
          <p:cNvPr id="2" name="图片 1">
            <a:extLst>
              <a:ext uri="{FF2B5EF4-FFF2-40B4-BE49-F238E27FC236}">
                <a16:creationId xmlns:a16="http://schemas.microsoft.com/office/drawing/2014/main" id="{799A97A0-DC48-4700-91A2-70B4B1130B5C}"/>
              </a:ext>
            </a:extLst>
          </p:cNvPr>
          <p:cNvPicPr>
            <a:picLocks noChangeAspect="1"/>
          </p:cNvPicPr>
          <p:nvPr/>
        </p:nvPicPr>
        <p:blipFill>
          <a:blip r:embed="rId3"/>
          <a:stretch>
            <a:fillRect/>
          </a:stretch>
        </p:blipFill>
        <p:spPr>
          <a:xfrm>
            <a:off x="398274" y="5085184"/>
            <a:ext cx="7953375" cy="2181225"/>
          </a:xfrm>
          <a:prstGeom prst="rect">
            <a:avLst/>
          </a:prstGeom>
        </p:spPr>
      </p:pic>
    </p:spTree>
    <p:extLst>
      <p:ext uri="{BB962C8B-B14F-4D97-AF65-F5344CB8AC3E}">
        <p14:creationId xmlns:p14="http://schemas.microsoft.com/office/powerpoint/2010/main" val="39031835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E2ED1F1-6E0A-4664-8D1A-90FAB810303F}"/>
              </a:ext>
            </a:extLst>
          </p:cNvPr>
          <p:cNvSpPr/>
          <p:nvPr/>
        </p:nvSpPr>
        <p:spPr>
          <a:xfrm>
            <a:off x="388928" y="332656"/>
            <a:ext cx="7110536" cy="461665"/>
          </a:xfrm>
          <a:prstGeom prst="rect">
            <a:avLst/>
          </a:prstGeom>
        </p:spPr>
        <p:txBody>
          <a:bodyPr wrap="square">
            <a:spAutoFit/>
          </a:bodyPr>
          <a:lstStyle/>
          <a:p>
            <a:pPr algn="just">
              <a:spcAft>
                <a:spcPts val="0"/>
              </a:spcAft>
            </a:pPr>
            <a:r>
              <a:rPr lang="en-US" altLang="zh-CN" sz="2400" b="1" kern="100" dirty="0">
                <a:latin typeface="Times New Roman" panose="02020603050405020304" pitchFamily="18" charset="0"/>
              </a:rPr>
              <a:t>1. 4.2 </a:t>
            </a:r>
            <a:r>
              <a:rPr lang="zh-CN" altLang="en-US" sz="2400" b="1" kern="100" dirty="0">
                <a:latin typeface="Times New Roman" panose="02020603050405020304" pitchFamily="18" charset="0"/>
              </a:rPr>
              <a:t>硬件资源的结构</a:t>
            </a:r>
            <a:endParaRPr lang="zh-CN" altLang="en-US" dirty="0"/>
          </a:p>
        </p:txBody>
      </p:sp>
      <p:sp>
        <p:nvSpPr>
          <p:cNvPr id="6" name="内容占位符 5">
            <a:extLst>
              <a:ext uri="{FF2B5EF4-FFF2-40B4-BE49-F238E27FC236}">
                <a16:creationId xmlns:a16="http://schemas.microsoft.com/office/drawing/2014/main" id="{726F841D-DC0B-477E-91D3-8BFF72C9E110}"/>
              </a:ext>
            </a:extLst>
          </p:cNvPr>
          <p:cNvSpPr>
            <a:spLocks noGrp="1"/>
          </p:cNvSpPr>
          <p:nvPr>
            <p:ph idx="1"/>
          </p:nvPr>
        </p:nvSpPr>
        <p:spPr>
          <a:xfrm>
            <a:off x="258128" y="794321"/>
            <a:ext cx="8496944" cy="5226967"/>
          </a:xfrm>
        </p:spPr>
        <p:txBody>
          <a:bodyPr/>
          <a:lstStyle/>
          <a:p>
            <a:pPr marL="0" indent="0">
              <a:buNone/>
            </a:pPr>
            <a:r>
              <a:rPr lang="en-US" altLang="zh-CN" sz="2400" dirty="0"/>
              <a:t>1</a:t>
            </a:r>
            <a:r>
              <a:rPr lang="zh-CN" altLang="en-US" sz="2400" dirty="0"/>
              <a:t>）</a:t>
            </a:r>
            <a:r>
              <a:rPr lang="en-US" altLang="zh-CN" sz="2400" dirty="0"/>
              <a:t>SPLD</a:t>
            </a:r>
            <a:r>
              <a:rPr lang="zh-CN" altLang="en-US" sz="2400" dirty="0"/>
              <a:t>：简单可编程逻辑器件</a:t>
            </a:r>
            <a:endParaRPr lang="en-US" altLang="zh-CN" sz="2400" dirty="0"/>
          </a:p>
          <a:p>
            <a:pPr marL="0" indent="0">
              <a:buNone/>
            </a:pPr>
            <a:r>
              <a:rPr lang="zh-CN" altLang="en-US" sz="2400" dirty="0"/>
              <a:t>包含</a:t>
            </a:r>
            <a:r>
              <a:rPr lang="zh-CN" altLang="zh-CN" sz="2400" dirty="0"/>
              <a:t>  </a:t>
            </a:r>
            <a:r>
              <a:rPr lang="en-US" altLang="zh-CN" sz="2400" dirty="0"/>
              <a:t>1 </a:t>
            </a:r>
            <a:r>
              <a:rPr lang="zh-CN" altLang="zh-CN" sz="2400" dirty="0"/>
              <a:t>或 </a:t>
            </a:r>
            <a:r>
              <a:rPr lang="en-US" altLang="zh-CN" sz="2400" dirty="0"/>
              <a:t>2 </a:t>
            </a:r>
            <a:r>
              <a:rPr lang="zh-CN" altLang="zh-CN" sz="2400" dirty="0"/>
              <a:t>个可编程逻辑 层次的纯组 合逻辑器件</a:t>
            </a:r>
            <a:r>
              <a:rPr lang="zh-CN" altLang="en-US" sz="2400" dirty="0"/>
              <a:t>，</a:t>
            </a:r>
            <a:r>
              <a:rPr lang="zh-CN" altLang="zh-CN" sz="2400" dirty="0"/>
              <a:t>加上寄存器的架构，和数 量有限的输入、输出、乘积项与触发器</a:t>
            </a:r>
            <a:r>
              <a:rPr lang="zh-CN" altLang="en-US" sz="2400" dirty="0"/>
              <a:t>。</a:t>
            </a:r>
            <a:endParaRPr lang="en-US" altLang="zh-CN" sz="2400" dirty="0"/>
          </a:p>
          <a:p>
            <a:pPr marL="0" indent="0">
              <a:buNone/>
            </a:pPr>
            <a:r>
              <a:rPr lang="en-US" altLang="zh-CN" sz="2400" dirty="0"/>
              <a:t>2</a:t>
            </a:r>
            <a:r>
              <a:rPr lang="zh-CN" altLang="en-US" sz="2400" dirty="0"/>
              <a:t>）</a:t>
            </a:r>
            <a:r>
              <a:rPr lang="en-US" altLang="zh-CN" sz="2400" dirty="0"/>
              <a:t>CPLD</a:t>
            </a:r>
            <a:r>
              <a:rPr lang="zh-CN" altLang="en-US" sz="2400" dirty="0"/>
              <a:t>：复杂可编程逻辑器件</a:t>
            </a:r>
            <a:endParaRPr lang="en-US" altLang="zh-CN" sz="2400" dirty="0"/>
          </a:p>
          <a:p>
            <a:pPr marL="0" indent="0">
              <a:buNone/>
            </a:pPr>
            <a:r>
              <a:rPr lang="zh-CN" altLang="zh-CN" sz="2400" dirty="0"/>
              <a:t>在一个芯片上提供许多 </a:t>
            </a:r>
            <a:r>
              <a:rPr lang="en-US" altLang="zh-CN" sz="2400" dirty="0"/>
              <a:t>SPLD </a:t>
            </a:r>
            <a:r>
              <a:rPr lang="zh-CN" altLang="zh-CN" sz="2400" dirty="0"/>
              <a:t>器件，用一个大型的可编程连接阵列或网 络结合在一起</a:t>
            </a:r>
            <a:endParaRPr lang="en-US" altLang="zh-CN" sz="2400" dirty="0"/>
          </a:p>
          <a:p>
            <a:pPr marL="0" indent="0">
              <a:buNone/>
            </a:pPr>
            <a:r>
              <a:rPr lang="en-US" altLang="zh-CN" sz="2400" dirty="0"/>
              <a:t>3</a:t>
            </a:r>
            <a:r>
              <a:rPr lang="zh-CN" altLang="en-US" sz="2400" dirty="0"/>
              <a:t>）</a:t>
            </a:r>
            <a:r>
              <a:rPr lang="en-US" altLang="zh-CN" sz="2400" dirty="0"/>
              <a:t>FPGA</a:t>
            </a:r>
            <a:r>
              <a:rPr lang="zh-CN" altLang="en-US" sz="2400" dirty="0"/>
              <a:t>：现场可编程门阵列</a:t>
            </a:r>
            <a:endParaRPr lang="en-US" altLang="zh-CN" sz="2400" dirty="0"/>
          </a:p>
          <a:p>
            <a:pPr marL="0" indent="0">
              <a:buNone/>
            </a:pPr>
            <a:r>
              <a:rPr lang="zh-CN" altLang="zh-CN" sz="2400" dirty="0"/>
              <a:t>许多可配置逻辑单元</a:t>
            </a:r>
            <a:r>
              <a:rPr lang="zh-CN" altLang="en-US" sz="2400" dirty="0"/>
              <a:t>以</a:t>
            </a:r>
            <a:r>
              <a:rPr lang="zh-CN" altLang="zh-CN" sz="2400" dirty="0"/>
              <a:t>二维阵列</a:t>
            </a:r>
            <a:r>
              <a:rPr lang="zh-CN" altLang="en-US" sz="2400" dirty="0"/>
              <a:t>的方式</a:t>
            </a:r>
            <a:r>
              <a:rPr lang="zh-CN" altLang="zh-CN" sz="2400" dirty="0"/>
              <a:t>排列，之间有大量的平行导线。每个逻辑单元可以被配置为执行不那么复杂的组合逻辑、存储一个或两个位的信息， 或两者兼而有之。</a:t>
            </a:r>
            <a:endParaRPr lang="en-US" altLang="zh-CN" sz="2400" dirty="0"/>
          </a:p>
          <a:p>
            <a:pPr marL="0" indent="0">
              <a:buNone/>
            </a:pPr>
            <a:r>
              <a:rPr lang="zh-CN" altLang="zh-CN" sz="2400" dirty="0"/>
              <a:t>与传统的门阵列不同，可编程连接的状态而不是制造掩模决定了电路的功能和信号</a:t>
            </a:r>
            <a:r>
              <a:rPr lang="zh-CN" altLang="zh-CN" sz="2400"/>
              <a:t>路由</a:t>
            </a:r>
            <a:r>
              <a:rPr lang="zh-CN" altLang="en-US" sz="2400"/>
              <a:t>。</a:t>
            </a:r>
            <a:endParaRPr lang="en-US" altLang="zh-CN" sz="2400" dirty="0"/>
          </a:p>
        </p:txBody>
      </p:sp>
    </p:spTree>
    <p:extLst>
      <p:ext uri="{BB962C8B-B14F-4D97-AF65-F5344CB8AC3E}">
        <p14:creationId xmlns:p14="http://schemas.microsoft.com/office/powerpoint/2010/main" val="34143651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a:extLst>
              <a:ext uri="{FF2B5EF4-FFF2-40B4-BE49-F238E27FC236}">
                <a16:creationId xmlns:a16="http://schemas.microsoft.com/office/drawing/2014/main" id="{905257DD-191A-4BEA-9450-073CB9D42DE5}"/>
              </a:ext>
            </a:extLst>
          </p:cNvPr>
          <p:cNvSpPr>
            <a:spLocks noGrp="1"/>
          </p:cNvSpPr>
          <p:nvPr>
            <p:ph type="title"/>
          </p:nvPr>
        </p:nvSpPr>
        <p:spPr>
          <a:xfrm>
            <a:off x="323850" y="22225"/>
            <a:ext cx="8229600" cy="1143000"/>
          </a:xfrm>
        </p:spPr>
        <p:txBody>
          <a:bodyPr/>
          <a:lstStyle/>
          <a:p>
            <a:r>
              <a:rPr lang="zh-CN" altLang="en-US" dirty="0"/>
              <a:t>课程主要教学交流内容</a:t>
            </a:r>
          </a:p>
        </p:txBody>
      </p:sp>
      <p:sp>
        <p:nvSpPr>
          <p:cNvPr id="56323" name="内容占位符 2">
            <a:extLst>
              <a:ext uri="{FF2B5EF4-FFF2-40B4-BE49-F238E27FC236}">
                <a16:creationId xmlns:a16="http://schemas.microsoft.com/office/drawing/2014/main" id="{4932AE7D-93FC-478C-AED6-EF038759F442}"/>
              </a:ext>
            </a:extLst>
          </p:cNvPr>
          <p:cNvSpPr>
            <a:spLocks noGrp="1"/>
          </p:cNvSpPr>
          <p:nvPr>
            <p:ph idx="1"/>
          </p:nvPr>
        </p:nvSpPr>
        <p:spPr>
          <a:xfrm>
            <a:off x="323850" y="1052513"/>
            <a:ext cx="8229600" cy="5545137"/>
          </a:xfrm>
        </p:spPr>
        <p:txBody>
          <a:bodyPr/>
          <a:lstStyle/>
          <a:p>
            <a:r>
              <a:rPr lang="zh-CN" altLang="en-US" sz="2400" dirty="0"/>
              <a:t>第</a:t>
            </a:r>
            <a:r>
              <a:rPr lang="en-US" altLang="zh-CN" sz="2400" dirty="0"/>
              <a:t>1</a:t>
            </a:r>
            <a:r>
              <a:rPr lang="zh-CN" altLang="en-US" sz="2400" dirty="0"/>
              <a:t>讲</a:t>
            </a:r>
            <a:r>
              <a:rPr lang="en-US" altLang="zh-CN" sz="2400" dirty="0"/>
              <a:t>-</a:t>
            </a:r>
            <a:r>
              <a:rPr lang="zh-CN" altLang="en-US" sz="2400" dirty="0"/>
              <a:t>绪论</a:t>
            </a:r>
            <a:endParaRPr lang="en-US" altLang="zh-CN" sz="2400" dirty="0"/>
          </a:p>
          <a:p>
            <a:r>
              <a:rPr lang="zh-CN" altLang="en-US" sz="2400" dirty="0"/>
              <a:t>第</a:t>
            </a:r>
            <a:r>
              <a:rPr lang="en-US" altLang="zh-CN" sz="2400" dirty="0"/>
              <a:t>2</a:t>
            </a:r>
            <a:r>
              <a:rPr lang="zh-CN" altLang="en-US" sz="2400" dirty="0"/>
              <a:t>章</a:t>
            </a:r>
            <a:r>
              <a:rPr lang="en-US" altLang="zh-CN" sz="2400" dirty="0"/>
              <a:t>-</a:t>
            </a:r>
            <a:r>
              <a:rPr lang="zh-CN" altLang="en-US" sz="2400" dirty="0"/>
              <a:t>从算法到架构</a:t>
            </a:r>
            <a:endParaRPr lang="en-US" altLang="zh-CN" sz="2400" dirty="0"/>
          </a:p>
          <a:p>
            <a:r>
              <a:rPr lang="zh-CN" altLang="en-US" sz="2400" dirty="0"/>
              <a:t>第</a:t>
            </a:r>
            <a:r>
              <a:rPr lang="en-US" altLang="zh-CN" sz="2400" dirty="0"/>
              <a:t>3</a:t>
            </a:r>
            <a:r>
              <a:rPr lang="zh-CN" altLang="en-US" sz="2400" dirty="0"/>
              <a:t>章</a:t>
            </a:r>
            <a:r>
              <a:rPr lang="en-US" altLang="zh-CN" sz="2400" dirty="0"/>
              <a:t>-</a:t>
            </a:r>
            <a:r>
              <a:rPr lang="zh-CN" altLang="en-US" sz="2400" dirty="0"/>
              <a:t>功能验证</a:t>
            </a:r>
            <a:endParaRPr lang="en-US" altLang="zh-CN" sz="2400" dirty="0"/>
          </a:p>
          <a:p>
            <a:r>
              <a:rPr lang="zh-CN" altLang="en-US" sz="2400" dirty="0"/>
              <a:t>第</a:t>
            </a:r>
            <a:r>
              <a:rPr lang="en-US" altLang="zh-CN" sz="2400" dirty="0"/>
              <a:t>4</a:t>
            </a:r>
            <a:r>
              <a:rPr lang="zh-CN" altLang="en-US" sz="2400" dirty="0"/>
              <a:t>章</a:t>
            </a:r>
            <a:r>
              <a:rPr lang="en-US" altLang="zh-CN" sz="2400" dirty="0"/>
              <a:t>-</a:t>
            </a:r>
            <a:r>
              <a:rPr lang="zh-CN" altLang="en-US" sz="2400" dirty="0"/>
              <a:t>硬件描述语言</a:t>
            </a:r>
            <a:endParaRPr lang="en-US" altLang="zh-CN" sz="2400" dirty="0"/>
          </a:p>
          <a:p>
            <a:r>
              <a:rPr lang="zh-CN" altLang="en-US" sz="2400" dirty="0"/>
              <a:t>第</a:t>
            </a:r>
            <a:r>
              <a:rPr lang="en-US" altLang="zh-CN" sz="2400" dirty="0"/>
              <a:t>5</a:t>
            </a:r>
            <a:r>
              <a:rPr lang="zh-CN" altLang="en-US" sz="2400" dirty="0"/>
              <a:t>章</a:t>
            </a:r>
            <a:r>
              <a:rPr lang="en-US" altLang="zh-CN" sz="2400" dirty="0"/>
              <a:t>-</a:t>
            </a:r>
            <a:r>
              <a:rPr lang="zh-CN" altLang="en-US" sz="2400" dirty="0"/>
              <a:t>同步电路设计</a:t>
            </a:r>
            <a:endParaRPr lang="en-US" altLang="zh-CN" sz="2400" dirty="0"/>
          </a:p>
          <a:p>
            <a:r>
              <a:rPr lang="zh-CN" altLang="en-US" sz="2400" dirty="0"/>
              <a:t>第</a:t>
            </a:r>
            <a:r>
              <a:rPr lang="en-US" altLang="zh-CN" sz="2400" dirty="0"/>
              <a:t>6</a:t>
            </a:r>
            <a:r>
              <a:rPr lang="zh-CN" altLang="en-US" sz="2400" dirty="0"/>
              <a:t>章</a:t>
            </a:r>
            <a:r>
              <a:rPr lang="en-US" altLang="zh-CN" sz="2400" dirty="0"/>
              <a:t>-</a:t>
            </a:r>
            <a:r>
              <a:rPr lang="zh-CN" altLang="en-US" sz="2400" dirty="0"/>
              <a:t>同步电路时钟</a:t>
            </a:r>
            <a:endParaRPr lang="en-US" altLang="zh-CN" sz="2400" dirty="0"/>
          </a:p>
          <a:p>
            <a:r>
              <a:rPr lang="zh-CN" altLang="en-US" sz="2400" dirty="0"/>
              <a:t>第</a:t>
            </a:r>
            <a:r>
              <a:rPr lang="en-US" altLang="zh-CN" sz="2400" dirty="0"/>
              <a:t>7</a:t>
            </a:r>
            <a:r>
              <a:rPr lang="zh-CN" altLang="en-US" sz="2400" dirty="0"/>
              <a:t>章</a:t>
            </a:r>
            <a:r>
              <a:rPr lang="en-US" altLang="zh-CN" sz="2400" dirty="0"/>
              <a:t>-</a:t>
            </a:r>
            <a:r>
              <a:rPr lang="zh-CN" altLang="en-US" sz="2400" dirty="0"/>
              <a:t>异步数据采集</a:t>
            </a:r>
            <a:endParaRPr lang="en-US" altLang="zh-CN" sz="2400" dirty="0"/>
          </a:p>
          <a:p>
            <a:r>
              <a:rPr lang="zh-CN" altLang="en-US" sz="2400" dirty="0"/>
              <a:t>第</a:t>
            </a:r>
            <a:r>
              <a:rPr lang="en-US" altLang="zh-CN" sz="2400" dirty="0"/>
              <a:t>8</a:t>
            </a:r>
            <a:r>
              <a:rPr lang="zh-CN" altLang="en-US" sz="2400" dirty="0"/>
              <a:t>章</a:t>
            </a:r>
            <a:r>
              <a:rPr lang="en-US" altLang="zh-CN" sz="2400" dirty="0"/>
              <a:t>-</a:t>
            </a:r>
            <a:r>
              <a:rPr lang="zh-CN" altLang="en-US" sz="2400" dirty="0"/>
              <a:t>门级和晶体管级设计</a:t>
            </a:r>
            <a:endParaRPr lang="en-US" altLang="zh-CN" sz="2400" dirty="0"/>
          </a:p>
          <a:p>
            <a:r>
              <a:rPr lang="zh-CN" altLang="en-US" sz="2400" dirty="0"/>
              <a:t>第</a:t>
            </a:r>
            <a:r>
              <a:rPr lang="en-US" altLang="zh-CN" sz="2400" dirty="0"/>
              <a:t>13</a:t>
            </a:r>
            <a:r>
              <a:rPr lang="zh-CN" altLang="en-US" sz="2400" dirty="0"/>
              <a:t>章</a:t>
            </a:r>
            <a:r>
              <a:rPr lang="en-US" altLang="zh-CN" sz="2400" dirty="0"/>
              <a:t>-VLSI</a:t>
            </a:r>
            <a:r>
              <a:rPr lang="zh-CN" altLang="en-US" sz="2400" dirty="0"/>
              <a:t>经济学及项目管理</a:t>
            </a:r>
            <a:endParaRPr lang="en-US" altLang="zh-CN"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Text Box 6">
            <a:extLst>
              <a:ext uri="{FF2B5EF4-FFF2-40B4-BE49-F238E27FC236}">
                <a16:creationId xmlns:a16="http://schemas.microsoft.com/office/drawing/2014/main" id="{EFFB062C-46FA-4105-9D83-B933FBBA520A}"/>
              </a:ext>
            </a:extLst>
          </p:cNvPr>
          <p:cNvSpPr txBox="1">
            <a:spLocks noChangeArrowheads="1"/>
          </p:cNvSpPr>
          <p:nvPr/>
        </p:nvSpPr>
        <p:spPr bwMode="auto">
          <a:xfrm>
            <a:off x="3492500" y="2924175"/>
            <a:ext cx="2374900"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50000"/>
              </a:spcBef>
              <a:buFontTx/>
              <a:buNone/>
              <a:defRPr/>
            </a:pPr>
            <a:r>
              <a:rPr lang="zh-CN" altLang="en-US" sz="4800" b="1" dirty="0">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谢  谢！</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5499</TotalTime>
  <Words>3518</Words>
  <Application>Microsoft Office PowerPoint</Application>
  <PresentationFormat>全屏显示(4:3)</PresentationFormat>
  <Paragraphs>286</Paragraphs>
  <Slides>42</Slides>
  <Notes>31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42</vt:i4>
      </vt:variant>
    </vt:vector>
  </HeadingPairs>
  <TitlesOfParts>
    <vt:vector size="54" baseType="lpstr">
      <vt:lpstr>等线</vt:lpstr>
      <vt:lpstr>仿宋_GB2312</vt:lpstr>
      <vt:lpstr>华文楷体</vt:lpstr>
      <vt:lpstr>宋体</vt:lpstr>
      <vt:lpstr>Arial</vt:lpstr>
      <vt:lpstr>Calibri</vt:lpstr>
      <vt:lpstr>Courier New</vt:lpstr>
      <vt:lpstr>Tahoma</vt:lpstr>
      <vt:lpstr>Times New Roman</vt:lpstr>
      <vt:lpstr>Verdana</vt:lpstr>
      <vt:lpstr>Wingdings</vt:lpstr>
      <vt:lpstr>Office 主题​​</vt:lpstr>
      <vt:lpstr>PowerPoint 演示文稿</vt:lpstr>
      <vt:lpstr>参考教材 1、数字集成电路设计 从VLSI体系结构到CMOS制造  2、数字集成电路—电路、系统与设计（第二版），Jan M. Rabaey [著]，周润德 [译]. 电子工业出版社  </vt:lpstr>
      <vt:lpstr>成绩与考核  总成绩由4部分组成： 1）考勤：10%  2）过程性考核1（文献翻译和平时作业）：10%  3）过程性考核2（课程设计） ： 20% 3~4人一组，完成课程设计，并提交设计报告  4）期末考试：60% 闭卷考试</vt:lpstr>
      <vt:lpstr>1.1 集成电路对经济的影响</vt:lpstr>
      <vt:lpstr>PowerPoint 演示文稿</vt:lpstr>
      <vt:lpstr>集成电路无处不在</vt:lpstr>
      <vt:lpstr>IPHONE4S 拆解图</vt:lpstr>
      <vt:lpstr>PowerPoint 演示文稿</vt:lpstr>
      <vt:lpstr>1.2 概念和术语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课程主要教学交流内容</vt:lpstr>
      <vt:lpstr>PowerPoint 演示文稿</vt:lpstr>
    </vt:vector>
  </TitlesOfParts>
  <Company>tj</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national</dc:creator>
  <cp:lastModifiedBy>z</cp:lastModifiedBy>
  <cp:revision>216</cp:revision>
  <dcterms:created xsi:type="dcterms:W3CDTF">2007-07-19T09:42:33Z</dcterms:created>
  <dcterms:modified xsi:type="dcterms:W3CDTF">2024-02-28T09:53:01Z</dcterms:modified>
</cp:coreProperties>
</file>