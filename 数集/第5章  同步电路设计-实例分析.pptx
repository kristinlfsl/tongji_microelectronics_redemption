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8"/>
  </p:notesMasterIdLst>
  <p:sldIdLst>
    <p:sldId id="277" r:id="rId2"/>
    <p:sldId id="488" r:id="rId3"/>
    <p:sldId id="624" r:id="rId4"/>
    <p:sldId id="625" r:id="rId5"/>
    <p:sldId id="626" r:id="rId6"/>
    <p:sldId id="627" r:id="rId7"/>
    <p:sldId id="628" r:id="rId8"/>
    <p:sldId id="629" r:id="rId9"/>
    <p:sldId id="630" r:id="rId10"/>
    <p:sldId id="631" r:id="rId11"/>
    <p:sldId id="632" r:id="rId12"/>
    <p:sldId id="633" r:id="rId13"/>
    <p:sldId id="622" r:id="rId14"/>
    <p:sldId id="634" r:id="rId15"/>
    <p:sldId id="635" r:id="rId16"/>
    <p:sldId id="636" r:id="rId17"/>
    <p:sldId id="640" r:id="rId18"/>
    <p:sldId id="639" r:id="rId19"/>
    <p:sldId id="641" r:id="rId20"/>
    <p:sldId id="642" r:id="rId21"/>
    <p:sldId id="643" r:id="rId22"/>
    <p:sldId id="645" r:id="rId23"/>
    <p:sldId id="646" r:id="rId24"/>
    <p:sldId id="647" r:id="rId25"/>
    <p:sldId id="648" r:id="rId26"/>
    <p:sldId id="644" r:id="rId27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" initials="z" lastIdx="2" clrIdx="0">
    <p:extLst>
      <p:ext uri="{19B8F6BF-5375-455C-9EA6-DF929625EA0E}">
        <p15:presenceInfo xmlns:p15="http://schemas.microsoft.com/office/powerpoint/2012/main" userId="z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  <a:srgbClr val="0000CC"/>
    <a:srgbClr val="FF0000"/>
    <a:srgbClr val="FFCC99"/>
    <a:srgbClr val="993300"/>
    <a:srgbClr val="FFFF66"/>
    <a:srgbClr val="66FF33"/>
    <a:srgbClr val="00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42" autoAdjust="0"/>
    <p:restoredTop sz="96461" autoAdjust="0"/>
  </p:normalViewPr>
  <p:slideViewPr>
    <p:cSldViewPr>
      <p:cViewPr>
        <p:scale>
          <a:sx n="125" d="100"/>
          <a:sy n="125" d="100"/>
        </p:scale>
        <p:origin x="744" y="-17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>
            <a:extLst>
              <a:ext uri="{FF2B5EF4-FFF2-40B4-BE49-F238E27FC236}">
                <a16:creationId xmlns:a16="http://schemas.microsoft.com/office/drawing/2014/main" id="{459011DF-2B26-47D2-8C9C-8B57223F28F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5715" name="Rectangle 3">
            <a:extLst>
              <a:ext uri="{FF2B5EF4-FFF2-40B4-BE49-F238E27FC236}">
                <a16:creationId xmlns:a16="http://schemas.microsoft.com/office/drawing/2014/main" id="{F9D6D93F-7EA7-46A3-87FD-4B41DA0222A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CB5331D0-518B-4FDB-AED6-F9D8AF80E62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15717" name="Rectangle 5">
            <a:extLst>
              <a:ext uri="{FF2B5EF4-FFF2-40B4-BE49-F238E27FC236}">
                <a16:creationId xmlns:a16="http://schemas.microsoft.com/office/drawing/2014/main" id="{FCED220D-8E45-4446-9B10-150193E4999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15718" name="Rectangle 6">
            <a:extLst>
              <a:ext uri="{FF2B5EF4-FFF2-40B4-BE49-F238E27FC236}">
                <a16:creationId xmlns:a16="http://schemas.microsoft.com/office/drawing/2014/main" id="{1A470E2F-32D9-4A4E-9927-F1ED0174511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5719" name="Rectangle 7">
            <a:extLst>
              <a:ext uri="{FF2B5EF4-FFF2-40B4-BE49-F238E27FC236}">
                <a16:creationId xmlns:a16="http://schemas.microsoft.com/office/drawing/2014/main" id="{47EF8308-EC31-4A0A-A29E-A22EE3EBC4A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E5D76836-F611-4B03-A073-39BC50477C7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D76836-F611-4B03-A073-39BC50477C7C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508268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D76836-F611-4B03-A073-39BC50477C7C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681843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D76836-F611-4B03-A073-39BC50477C7C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962251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D76836-F611-4B03-A073-39BC50477C7C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1108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D76836-F611-4B03-A073-39BC50477C7C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43461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D76836-F611-4B03-A073-39BC50477C7C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050349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D76836-F611-4B03-A073-39BC50477C7C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112152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D76836-F611-4B03-A073-39BC50477C7C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499953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D76836-F611-4B03-A073-39BC50477C7C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550912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D76836-F611-4B03-A073-39BC50477C7C}" type="slidenum">
              <a:rPr lang="en-US" altLang="zh-CN" smtClean="0"/>
              <a:pPr>
                <a:defRPr/>
              </a:pPr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110368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D76836-F611-4B03-A073-39BC50477C7C}" type="slidenum">
              <a:rPr lang="en-US" altLang="zh-CN" smtClean="0"/>
              <a:pPr>
                <a:defRPr/>
              </a:pPr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84817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D76836-F611-4B03-A073-39BC50477C7C}" type="slidenum">
              <a:rPr lang="en-US" altLang="zh-CN" smtClean="0"/>
              <a:pPr>
                <a:defRPr/>
              </a:pPr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134255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073E0C-595E-4C53-9095-8208B0658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2B1E6C-A0FA-473D-881F-01B288FF9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0965E1-6CEF-4B23-BAC6-1B9B5A5ED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EE8921-E360-4F97-9C99-61A8741713B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28780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F614CD-B239-45D8-A0A7-A12DEFF44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9DCE3F-9750-4FFD-A721-4D3E16578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AF3DD8-E4BC-4FD3-8612-043EA5BA4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D42A9A-50D9-44A0-942F-830B13065C5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4910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7316A9-C9F5-4902-A039-6290DA8C0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7336F3-15CE-4640-985D-FEF857055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B2E73B-89F0-4624-8161-00493E663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15FD0E-A9F0-4EE9-A7BA-C1FC57D0F8C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5475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684298B5-1997-47D3-8707-43139F3C6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69C13878-3A5B-4C6E-A392-24112FF25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E318DBB8-F3A7-4DB1-B70A-9BB8BBE16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174120-868A-4421-8249-4D6E3ADF6E6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3068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6B5DDD5D-68B2-4EE4-9D49-47ECEFAF3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269F8334-9B83-4AFE-829B-1D1AB9DF9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98AC02CA-5B2C-4006-8CF2-9AFD2C5F3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F73EEF-4FEF-4791-9BF5-33ED2E9237A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52170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57A7FE08-A47F-4728-BA15-939D7D164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91E6467E-C8D4-4B27-B76E-17877C356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D18B86C8-75E7-42E3-9475-F5A931077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4EDC7B-39ED-4E06-8261-D282CFB739B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78909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0D63E48E-14B0-4254-85F2-1127F8EF8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CD097F6E-BBCD-4B75-8AA0-D308D5882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496222CC-E15B-4156-B3B7-3118E27E1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B18EFD-3A09-45D9-93FD-660BCD5D131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85780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09874A74-7AD0-4E58-BCCC-249F369E6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CBB7CA2F-3DF2-49AD-9CFD-031F69E11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1E4ADBA7-8C9B-46F8-8CA9-1C50501B0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C7728D-3AF0-4D0B-8BBC-02059178204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71024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14F84FB5-1CCE-40FE-B3AB-DBF9BEF55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2466C46B-A236-4A20-B24E-803F8A005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A67AB6C4-84B8-47E3-A774-091F34804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D70BCD-4D22-4981-9B1B-3248931CF6F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99261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A6063F-5BED-4D65-9A6C-76CBFDD5F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F8E9E7-9530-4E53-9BAC-529EEACBF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676F0A4-4CF5-4EDF-8761-F2A123315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4737E1-E987-4AD5-B2EB-0DDC696930E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08526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CDBBE8-3F87-4EAA-AD7E-2E4938005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C92921-454E-40E8-8306-30A3BA2B9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44A951-BEE1-473C-A9B4-94A9FAAFA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1CB01F-0E82-40BF-8900-42E0D2BCC47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51276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752F6EB8-5E53-465C-9AF4-2F9556260DF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3D3C6D25-02EA-4FD7-BBFE-0A079CC201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29B950-2279-426B-A75D-2205C4FDCA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55F833-D392-45C0-81AD-6A85F2D1B1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C5D78B-D30C-4403-B3CF-84D6D44D64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ADD04381-0D1C-45F5-A5D4-27800770629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3">
            <a:extLst>
              <a:ext uri="{FF2B5EF4-FFF2-40B4-BE49-F238E27FC236}">
                <a16:creationId xmlns:a16="http://schemas.microsoft.com/office/drawing/2014/main" id="{11354116-69CD-41E5-87B9-18705449917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990600"/>
            <a:ext cx="8229600" cy="5038725"/>
          </a:xfrm>
        </p:spPr>
        <p:txBody>
          <a:bodyPr/>
          <a:lstStyle/>
          <a:p>
            <a:pPr eaLnBrk="1" hangingPunct="1"/>
            <a:endParaRPr lang="en-US" altLang="zh-CN" sz="2400" b="1" dirty="0"/>
          </a:p>
          <a:p>
            <a:pPr eaLnBrk="1" hangingPunct="1"/>
            <a:endParaRPr lang="en-US" altLang="zh-CN" sz="2400" b="1" dirty="0"/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zh-CN" altLang="en-US" sz="2800" dirty="0">
                <a:latin typeface="仿宋_GB2312" pitchFamily="49" charset="-122"/>
                <a:ea typeface="仿宋_GB2312" pitchFamily="49" charset="-122"/>
              </a:rPr>
              <a:t>同步电路设计</a:t>
            </a:r>
            <a:endParaRPr lang="en-US" altLang="zh-CN" sz="2800" dirty="0">
              <a:latin typeface="仿宋_GB2312" pitchFamily="49" charset="-122"/>
              <a:ea typeface="仿宋_GB2312" pitchFamily="49" charset="-122"/>
            </a:endParaRP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zh-CN" altLang="en-US" sz="2800" dirty="0">
                <a:latin typeface="仿宋_GB2312" pitchFamily="49" charset="-122"/>
                <a:ea typeface="仿宋_GB2312" pitchFamily="49" charset="-122"/>
              </a:rPr>
              <a:t>之</a:t>
            </a:r>
            <a:endParaRPr lang="en-US" altLang="zh-CN" sz="2800" dirty="0">
              <a:latin typeface="仿宋_GB2312" pitchFamily="49" charset="-122"/>
              <a:ea typeface="仿宋_GB2312" pitchFamily="49" charset="-122"/>
            </a:endParaRP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CN" sz="4800" b="1" dirty="0">
                <a:latin typeface="仿宋_GB2312" pitchFamily="49" charset="-122"/>
                <a:ea typeface="仿宋_GB2312" pitchFamily="49" charset="-122"/>
              </a:rPr>
              <a:t>Verilog</a:t>
            </a:r>
            <a:r>
              <a:rPr lang="zh-CN" altLang="en-US" sz="4800" b="1" dirty="0">
                <a:latin typeface="仿宋_GB2312" pitchFamily="49" charset="-122"/>
                <a:ea typeface="仿宋_GB2312" pitchFamily="49" charset="-122"/>
              </a:rPr>
              <a:t>设计实例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4800" b="1" dirty="0">
                <a:latin typeface="仿宋_GB2312" pitchFamily="49" charset="-122"/>
                <a:ea typeface="仿宋_GB2312" pitchFamily="49" charset="-122"/>
              </a:rPr>
              <a:t>         </a:t>
            </a:r>
            <a:endParaRPr lang="en-US" altLang="zh-CN" sz="4800" b="1" dirty="0">
              <a:latin typeface="仿宋_GB2312" pitchFamily="49" charset="-122"/>
              <a:ea typeface="仿宋_GB2312" pitchFamily="49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4800" b="1" dirty="0">
              <a:latin typeface="仿宋_GB2312" pitchFamily="49" charset="-122"/>
              <a:ea typeface="仿宋_GB2312" pitchFamily="49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BD85D8-4E81-48DD-8DA7-3347CA76E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624"/>
            <a:ext cx="8003232" cy="576064"/>
          </a:xfrm>
        </p:spPr>
        <p:txBody>
          <a:bodyPr/>
          <a:lstStyle/>
          <a:p>
            <a:r>
              <a:rPr lang="zh-CN" altLang="en-US" sz="3600" b="1" dirty="0"/>
              <a:t>主要内容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F62B4A8-DB90-43DC-9872-202DF9DDB5B0}"/>
              </a:ext>
            </a:extLst>
          </p:cNvPr>
          <p:cNvSpPr/>
          <p:nvPr/>
        </p:nvSpPr>
        <p:spPr>
          <a:xfrm>
            <a:off x="267538" y="641845"/>
            <a:ext cx="869695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4000" dirty="0"/>
              <a:t>Arithmetic and Logic Unit(ALU)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4000" dirty="0"/>
              <a:t>Finite State Machine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4000" dirty="0"/>
              <a:t>Misc. Circuit</a:t>
            </a:r>
          </a:p>
        </p:txBody>
      </p:sp>
    </p:spTree>
    <p:extLst>
      <p:ext uri="{BB962C8B-B14F-4D97-AF65-F5344CB8AC3E}">
        <p14:creationId xmlns:p14="http://schemas.microsoft.com/office/powerpoint/2010/main" val="3285206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BD85D8-4E81-48DD-8DA7-3347CA76E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624"/>
            <a:ext cx="8003232" cy="576064"/>
          </a:xfrm>
        </p:spPr>
        <p:txBody>
          <a:bodyPr/>
          <a:lstStyle/>
          <a:p>
            <a:r>
              <a:rPr lang="en-US" altLang="zh-CN" sz="3200" dirty="0"/>
              <a:t>ALU</a:t>
            </a:r>
            <a:r>
              <a:rPr lang="zh-CN" altLang="en-US" sz="3200" dirty="0"/>
              <a:t>之加法器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F62B4A8-DB90-43DC-9872-202DF9DDB5B0}"/>
              </a:ext>
            </a:extLst>
          </p:cNvPr>
          <p:cNvSpPr/>
          <p:nvPr/>
        </p:nvSpPr>
        <p:spPr>
          <a:xfrm>
            <a:off x="840272" y="1196752"/>
            <a:ext cx="297179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1-bit</a:t>
            </a:r>
            <a:r>
              <a:rPr lang="zh-CN" altLang="en-US" sz="2400" dirty="0"/>
              <a:t>全加器真值表</a:t>
            </a:r>
            <a:endParaRPr lang="en-US" altLang="zh-CN" sz="2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B165927-73E3-4939-8716-7B92F12A3D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272" y="1700808"/>
            <a:ext cx="3648075" cy="25908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9FFF6ACA-3C55-4698-8018-1A968135B654}"/>
              </a:ext>
            </a:extLst>
          </p:cNvPr>
          <p:cNvSpPr/>
          <p:nvPr/>
        </p:nvSpPr>
        <p:spPr>
          <a:xfrm>
            <a:off x="5304600" y="1196752"/>
            <a:ext cx="297179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1-bit</a:t>
            </a:r>
            <a:r>
              <a:rPr lang="zh-CN" altLang="en-US" sz="2400" dirty="0"/>
              <a:t>半加器真值表</a:t>
            </a:r>
            <a:endParaRPr lang="en-US" altLang="zh-CN" sz="24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13B2751-C404-4DF7-8F1F-D8FCF24429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2208" y="1700808"/>
            <a:ext cx="3076575" cy="158115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86FE03C-4465-4D6D-BE5B-23A08BB891A7}"/>
                  </a:ext>
                </a:extLst>
              </p:cNvPr>
              <p:cNvSpPr txBox="1"/>
              <p:nvPr/>
            </p:nvSpPr>
            <p:spPr>
              <a:xfrm>
                <a:off x="5868144" y="3554555"/>
                <a:ext cx="1665521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US" altLang="zh-CN" i="1">
                        <a:latin typeface="Cambria Math" panose="02040503050406030204" pitchFamily="18" charset="0"/>
                      </a:rPr>
                      <m:t>um</m:t>
                    </m:r>
                  </m:oMath>
                </a14:m>
                <a:r>
                  <a:rPr lang="en-US" altLang="zh-CN" dirty="0"/>
                  <a:t>=</a:t>
                </a:r>
                <a:r>
                  <a:rPr lang="en-US" altLang="zh-CN" dirty="0" err="1"/>
                  <a:t>a’b</a:t>
                </a:r>
                <a:r>
                  <a:rPr lang="en-US" altLang="zh-CN" dirty="0"/>
                  <a:t> + ab’</a:t>
                </a:r>
              </a:p>
              <a:p>
                <a:r>
                  <a:rPr lang="en-US" altLang="zh-CN" dirty="0" err="1"/>
                  <a:t>cout</a:t>
                </a:r>
                <a:r>
                  <a:rPr lang="en-US" altLang="zh-CN" dirty="0"/>
                  <a:t>=ab</a:t>
                </a:r>
                <a:endParaRPr lang="zh-CN" altLang="en-US" dirty="0"/>
              </a:p>
            </p:txBody>
          </p:sp>
        </mc:Choice>
        <mc:Fallback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86FE03C-4465-4D6D-BE5B-23A08BB891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8144" y="3554555"/>
                <a:ext cx="1665521" cy="553998"/>
              </a:xfrm>
              <a:prstGeom prst="rect">
                <a:avLst/>
              </a:prstGeom>
              <a:blipFill>
                <a:blip r:embed="rId5"/>
                <a:stretch>
                  <a:fillRect l="-8791" t="-14286" r="-7692" b="-252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B2124199-2FB3-4F3B-93FC-E17ECE5CC76B}"/>
                  </a:ext>
                </a:extLst>
              </p:cNvPr>
              <p:cNvSpPr txBox="1"/>
              <p:nvPr/>
            </p:nvSpPr>
            <p:spPr>
              <a:xfrm>
                <a:off x="324049" y="4553252"/>
                <a:ext cx="4680520" cy="110799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US" altLang="zh-CN" i="1">
                        <a:latin typeface="Cambria Math" panose="02040503050406030204" pitchFamily="18" charset="0"/>
                      </a:rPr>
                      <m:t>um</m:t>
                    </m:r>
                  </m:oMath>
                </a14:m>
                <a:r>
                  <a:rPr lang="en-US" altLang="zh-CN" dirty="0"/>
                  <a:t>=</a:t>
                </a:r>
                <a:r>
                  <a:rPr lang="en-US" altLang="zh-CN" dirty="0" err="1"/>
                  <a:t>a’b’cin</a:t>
                </a:r>
                <a:r>
                  <a:rPr lang="en-US" altLang="zh-CN" dirty="0"/>
                  <a:t> + </a:t>
                </a:r>
                <a:r>
                  <a:rPr lang="en-US" altLang="zh-CN" dirty="0" err="1"/>
                  <a:t>a’bcin</a:t>
                </a:r>
                <a:r>
                  <a:rPr lang="en-US" altLang="zh-CN" dirty="0"/>
                  <a:t>’ + </a:t>
                </a:r>
                <a:r>
                  <a:rPr lang="en-US" altLang="zh-CN" dirty="0" err="1"/>
                  <a:t>ab’cin</a:t>
                </a:r>
                <a:r>
                  <a:rPr lang="en-US" altLang="zh-CN" dirty="0"/>
                  <a:t>’ + </a:t>
                </a:r>
                <a:r>
                  <a:rPr lang="en-US" altLang="zh-CN" dirty="0" err="1"/>
                  <a:t>abcin</a:t>
                </a:r>
                <a:endParaRPr lang="en-US" altLang="zh-CN" dirty="0"/>
              </a:p>
              <a:p>
                <a:r>
                  <a:rPr lang="en-US" altLang="zh-CN" dirty="0"/>
                  <a:t>      =a ⊕ b ⊕ </a:t>
                </a:r>
                <a:r>
                  <a:rPr lang="en-US" altLang="zh-CN" dirty="0" err="1"/>
                  <a:t>cin</a:t>
                </a:r>
                <a:endParaRPr lang="en-US" altLang="zh-CN" dirty="0"/>
              </a:p>
              <a:p>
                <a:r>
                  <a:rPr lang="en-US" altLang="zh-CN" dirty="0" err="1"/>
                  <a:t>cout</a:t>
                </a:r>
                <a:r>
                  <a:rPr lang="en-US" altLang="zh-CN" dirty="0"/>
                  <a:t>=</a:t>
                </a:r>
                <a:r>
                  <a:rPr lang="en-US" altLang="zh-CN" dirty="0" err="1"/>
                  <a:t>a’bcin</a:t>
                </a:r>
                <a:r>
                  <a:rPr lang="en-US" altLang="zh-CN" dirty="0"/>
                  <a:t> + </a:t>
                </a:r>
                <a:r>
                  <a:rPr lang="en-US" altLang="zh-CN" dirty="0" err="1"/>
                  <a:t>ab’cin</a:t>
                </a:r>
                <a:r>
                  <a:rPr lang="en-US" altLang="zh-CN" dirty="0"/>
                  <a:t> + </a:t>
                </a:r>
                <a:r>
                  <a:rPr lang="en-US" altLang="zh-CN" dirty="0" err="1"/>
                  <a:t>abcin</a:t>
                </a:r>
                <a:r>
                  <a:rPr lang="en-US" altLang="zh-CN" dirty="0"/>
                  <a:t>’ + </a:t>
                </a:r>
                <a:r>
                  <a:rPr lang="en-US" altLang="zh-CN" dirty="0" err="1"/>
                  <a:t>abcin</a:t>
                </a:r>
                <a:endParaRPr lang="en-US" altLang="zh-CN" dirty="0"/>
              </a:p>
              <a:p>
                <a:r>
                  <a:rPr lang="en-US" altLang="zh-CN" dirty="0"/>
                  <a:t>       =(a ⊕ b) </a:t>
                </a:r>
                <a:r>
                  <a:rPr lang="en-US" altLang="zh-CN" dirty="0" err="1"/>
                  <a:t>cin</a:t>
                </a:r>
                <a:r>
                  <a:rPr lang="en-US" altLang="zh-CN" dirty="0"/>
                  <a:t> + ab</a:t>
                </a:r>
                <a:endParaRPr lang="zh-CN" altLang="en-US" dirty="0"/>
              </a:p>
            </p:txBody>
          </p:sp>
        </mc:Choice>
        <mc:Fallback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B2124199-2FB3-4F3B-93FC-E17ECE5CC7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49" y="4553252"/>
                <a:ext cx="4680520" cy="1107996"/>
              </a:xfrm>
              <a:prstGeom prst="rect">
                <a:avLst/>
              </a:prstGeom>
              <a:blipFill>
                <a:blip r:embed="rId6"/>
                <a:stretch>
                  <a:fillRect l="-2995" t="-7143" b="-115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6714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DA3250C6-8286-4D7B-87EE-AB967ADA1A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9832" y="842954"/>
            <a:ext cx="5915025" cy="241935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0ABD85D8-4E81-48DD-8DA7-3347CA76E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624"/>
            <a:ext cx="8003232" cy="576064"/>
          </a:xfrm>
        </p:spPr>
        <p:txBody>
          <a:bodyPr/>
          <a:lstStyle/>
          <a:p>
            <a:r>
              <a:rPr lang="en-US" altLang="zh-CN" sz="3200" dirty="0"/>
              <a:t>ALU</a:t>
            </a:r>
            <a:r>
              <a:rPr lang="zh-CN" altLang="en-US" sz="3200" dirty="0"/>
              <a:t>之加法器</a:t>
            </a:r>
            <a:r>
              <a:rPr lang="en-US" altLang="zh-CN" sz="3200" dirty="0"/>
              <a:t>(</a:t>
            </a:r>
            <a:r>
              <a:rPr lang="en-US" altLang="zh-CN" sz="3200" dirty="0" err="1"/>
              <a:t>cont</a:t>
            </a:r>
            <a:r>
              <a:rPr lang="en-US" altLang="zh-CN" sz="3200" dirty="0"/>
              <a:t>)</a:t>
            </a:r>
            <a:endParaRPr lang="zh-CN" altLang="en-US" sz="32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F62B4A8-DB90-43DC-9872-202DF9DDB5B0}"/>
              </a:ext>
            </a:extLst>
          </p:cNvPr>
          <p:cNvSpPr/>
          <p:nvPr/>
        </p:nvSpPr>
        <p:spPr>
          <a:xfrm>
            <a:off x="539552" y="876303"/>
            <a:ext cx="216024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1-bit</a:t>
            </a:r>
            <a:r>
              <a:rPr lang="zh-CN" altLang="en-US" sz="2400" dirty="0"/>
              <a:t>全加器</a:t>
            </a:r>
            <a:endParaRPr lang="en-US" altLang="zh-CN" sz="2400" dirty="0"/>
          </a:p>
          <a:p>
            <a:r>
              <a:rPr lang="zh-CN" altLang="en-US" sz="2400" dirty="0"/>
              <a:t>电路实现</a:t>
            </a:r>
            <a:endParaRPr lang="en-US" altLang="zh-CN" sz="2400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72AB0AD-177B-4E06-BF6F-66E5494D0C4D}"/>
              </a:ext>
            </a:extLst>
          </p:cNvPr>
          <p:cNvSpPr/>
          <p:nvPr/>
        </p:nvSpPr>
        <p:spPr>
          <a:xfrm>
            <a:off x="107505" y="2780928"/>
            <a:ext cx="4861006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9900"/>
                </a:solidFill>
              </a:rPr>
              <a:t>module</a:t>
            </a:r>
            <a:r>
              <a:rPr lang="zh-CN" altLang="en-US" dirty="0"/>
              <a:t> full_adder(a, b, cin, sum, cout);</a:t>
            </a:r>
          </a:p>
          <a:p>
            <a:r>
              <a:rPr lang="zh-CN" altLang="en-US" dirty="0">
                <a:solidFill>
                  <a:srgbClr val="00B050"/>
                </a:solidFill>
              </a:rPr>
              <a:t>//define inputs and outputs</a:t>
            </a:r>
          </a:p>
          <a:p>
            <a:r>
              <a:rPr lang="zh-CN" altLang="en-US" dirty="0"/>
              <a:t>input a, b, cin;</a:t>
            </a:r>
          </a:p>
          <a:p>
            <a:r>
              <a:rPr lang="zh-CN" altLang="en-US" dirty="0"/>
              <a:t>output sum, cout;</a:t>
            </a:r>
          </a:p>
          <a:p>
            <a:r>
              <a:rPr lang="zh-CN" altLang="en-US" dirty="0">
                <a:solidFill>
                  <a:srgbClr val="00B050"/>
                </a:solidFill>
              </a:rPr>
              <a:t>//design the full adder</a:t>
            </a:r>
          </a:p>
          <a:p>
            <a:r>
              <a:rPr lang="zh-CN" altLang="en-US" dirty="0">
                <a:solidFill>
                  <a:srgbClr val="00B050"/>
                </a:solidFill>
              </a:rPr>
              <a:t>//design the sum</a:t>
            </a:r>
          </a:p>
          <a:p>
            <a:r>
              <a:rPr lang="zh-CN" altLang="en-US" dirty="0">
                <a:solidFill>
                  <a:srgbClr val="0000CC"/>
                </a:solidFill>
              </a:rPr>
              <a:t>xor inst1 (net1, a, b);</a:t>
            </a:r>
          </a:p>
          <a:p>
            <a:r>
              <a:rPr lang="zh-CN" altLang="en-US" dirty="0">
                <a:solidFill>
                  <a:srgbClr val="0000CC"/>
                </a:solidFill>
              </a:rPr>
              <a:t>and inst2 (net2, a, b);</a:t>
            </a:r>
          </a:p>
          <a:p>
            <a:r>
              <a:rPr lang="zh-CN" altLang="en-US" dirty="0">
                <a:solidFill>
                  <a:srgbClr val="0000CC"/>
                </a:solidFill>
              </a:rPr>
              <a:t>xor inst3 (sum, net1, cin);</a:t>
            </a:r>
          </a:p>
          <a:p>
            <a:r>
              <a:rPr lang="zh-CN" altLang="en-US" dirty="0">
                <a:solidFill>
                  <a:srgbClr val="00B050"/>
                </a:solidFill>
              </a:rPr>
              <a:t>//define the carry-out</a:t>
            </a:r>
          </a:p>
          <a:p>
            <a:r>
              <a:rPr lang="zh-CN" altLang="en-US" dirty="0">
                <a:solidFill>
                  <a:srgbClr val="0000CC"/>
                </a:solidFill>
              </a:rPr>
              <a:t>and inst4 (net3, net1, cin);</a:t>
            </a:r>
          </a:p>
          <a:p>
            <a:r>
              <a:rPr lang="zh-CN" altLang="en-US" dirty="0">
                <a:solidFill>
                  <a:srgbClr val="0000CC"/>
                </a:solidFill>
              </a:rPr>
              <a:t>or inst5 (cout, net3, net2);</a:t>
            </a:r>
          </a:p>
          <a:p>
            <a:r>
              <a:rPr lang="zh-CN" altLang="en-US" dirty="0">
                <a:solidFill>
                  <a:srgbClr val="FF9900"/>
                </a:solidFill>
              </a:rPr>
              <a:t>endmodule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2085A92-9D2E-488D-8601-34EFC98A7966}"/>
              </a:ext>
            </a:extLst>
          </p:cNvPr>
          <p:cNvSpPr/>
          <p:nvPr/>
        </p:nvSpPr>
        <p:spPr>
          <a:xfrm>
            <a:off x="4355976" y="3898779"/>
            <a:ext cx="410445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课堂练习：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1) </a:t>
            </a:r>
            <a:r>
              <a:rPr lang="zh-CN" altLang="en-US" dirty="0">
                <a:solidFill>
                  <a:srgbClr val="FF0000"/>
                </a:solidFill>
              </a:rPr>
              <a:t>用</a:t>
            </a:r>
            <a:r>
              <a:rPr lang="en-US" altLang="zh-CN" dirty="0">
                <a:solidFill>
                  <a:srgbClr val="FF0000"/>
                </a:solidFill>
              </a:rPr>
              <a:t>Verilog</a:t>
            </a:r>
            <a:r>
              <a:rPr lang="zh-CN" altLang="en-US" dirty="0">
                <a:solidFill>
                  <a:srgbClr val="FF0000"/>
                </a:solidFill>
              </a:rPr>
              <a:t>实现</a:t>
            </a:r>
            <a:r>
              <a:rPr lang="en-US" altLang="zh-CN" dirty="0" err="1">
                <a:solidFill>
                  <a:srgbClr val="FF0000"/>
                </a:solidFill>
              </a:rPr>
              <a:t>half_adder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2) </a:t>
            </a:r>
            <a:r>
              <a:rPr lang="zh-CN" altLang="en-US" dirty="0">
                <a:solidFill>
                  <a:srgbClr val="FF0000"/>
                </a:solidFill>
              </a:rPr>
              <a:t>用</a:t>
            </a:r>
            <a:r>
              <a:rPr lang="en-US" altLang="zh-CN" dirty="0" err="1">
                <a:solidFill>
                  <a:srgbClr val="FF0000"/>
                </a:solidFill>
              </a:rPr>
              <a:t>half_adder</a:t>
            </a:r>
            <a:r>
              <a:rPr lang="zh-CN" altLang="en-US" dirty="0">
                <a:solidFill>
                  <a:srgbClr val="FF0000"/>
                </a:solidFill>
              </a:rPr>
              <a:t>实现</a:t>
            </a:r>
            <a:r>
              <a:rPr lang="en-US" altLang="zh-CN" dirty="0" err="1">
                <a:solidFill>
                  <a:srgbClr val="FF0000"/>
                </a:solidFill>
              </a:rPr>
              <a:t>full_adder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827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BD85D8-4E81-48DD-8DA7-3347CA76E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624"/>
            <a:ext cx="8003232" cy="576064"/>
          </a:xfrm>
        </p:spPr>
        <p:txBody>
          <a:bodyPr/>
          <a:lstStyle/>
          <a:p>
            <a:r>
              <a:rPr lang="en-US" altLang="zh-CN" sz="3200" dirty="0"/>
              <a:t>ALU</a:t>
            </a:r>
            <a:r>
              <a:rPr lang="zh-CN" altLang="en-US" sz="3200" dirty="0"/>
              <a:t>之加法器</a:t>
            </a:r>
            <a:r>
              <a:rPr lang="en-US" altLang="zh-CN" sz="3200" dirty="0"/>
              <a:t>(</a:t>
            </a:r>
            <a:r>
              <a:rPr lang="en-US" altLang="zh-CN" sz="3200" dirty="0" err="1"/>
              <a:t>cont</a:t>
            </a:r>
            <a:r>
              <a:rPr lang="en-US" altLang="zh-CN" sz="3200" dirty="0"/>
              <a:t>)</a:t>
            </a:r>
            <a:endParaRPr lang="zh-CN" altLang="en-US" sz="3200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72AB0AD-177B-4E06-BF6F-66E5494D0C4D}"/>
              </a:ext>
            </a:extLst>
          </p:cNvPr>
          <p:cNvSpPr/>
          <p:nvPr/>
        </p:nvSpPr>
        <p:spPr>
          <a:xfrm>
            <a:off x="3607407" y="787573"/>
            <a:ext cx="486100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9900"/>
                </a:solidFill>
              </a:rPr>
              <a:t>module</a:t>
            </a:r>
            <a:r>
              <a:rPr lang="zh-CN" altLang="en-US" dirty="0"/>
              <a:t> adder</a:t>
            </a:r>
            <a:r>
              <a:rPr lang="en-US" altLang="zh-CN" dirty="0"/>
              <a:t>4</a:t>
            </a:r>
            <a:r>
              <a:rPr lang="zh-CN" altLang="en-US" dirty="0"/>
              <a:t>(a, b, cin, sum, cout);</a:t>
            </a:r>
          </a:p>
          <a:p>
            <a:r>
              <a:rPr lang="zh-CN" altLang="en-US" dirty="0">
                <a:solidFill>
                  <a:srgbClr val="00B050"/>
                </a:solidFill>
              </a:rPr>
              <a:t>//define inputs and outputs</a:t>
            </a:r>
          </a:p>
          <a:p>
            <a:r>
              <a:rPr lang="en-US" altLang="zh-CN" dirty="0" err="1"/>
              <a:t>i</a:t>
            </a:r>
            <a:r>
              <a:rPr lang="zh-CN" altLang="en-US" dirty="0"/>
              <a:t>nput </a:t>
            </a:r>
            <a:r>
              <a:rPr lang="en-US" altLang="zh-CN" dirty="0"/>
              <a:t>[3:0]</a:t>
            </a:r>
            <a:r>
              <a:rPr lang="zh-CN" altLang="en-US" dirty="0"/>
              <a:t> a, b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input </a:t>
            </a:r>
            <a:r>
              <a:rPr lang="zh-CN" altLang="en-US" dirty="0"/>
              <a:t>cin;</a:t>
            </a:r>
          </a:p>
          <a:p>
            <a:r>
              <a:rPr lang="en-US" altLang="zh-CN" dirty="0"/>
              <a:t>o</a:t>
            </a:r>
            <a:r>
              <a:rPr lang="zh-CN" altLang="en-US" dirty="0"/>
              <a:t>utput</a:t>
            </a:r>
            <a:r>
              <a:rPr lang="en-US" altLang="zh-CN" dirty="0"/>
              <a:t>[3:0]</a:t>
            </a:r>
            <a:r>
              <a:rPr lang="zh-CN" altLang="en-US" dirty="0"/>
              <a:t> sum;</a:t>
            </a:r>
            <a:endParaRPr lang="en-US" altLang="zh-CN" dirty="0"/>
          </a:p>
          <a:p>
            <a:r>
              <a:rPr lang="zh-CN" altLang="en-US" dirty="0"/>
              <a:t>output cout;</a:t>
            </a:r>
          </a:p>
          <a:p>
            <a:r>
              <a:rPr lang="en-US" altLang="zh-CN" dirty="0">
                <a:solidFill>
                  <a:srgbClr val="0000CC"/>
                </a:solidFill>
              </a:rPr>
              <a:t>assign {</a:t>
            </a:r>
            <a:r>
              <a:rPr lang="en-US" altLang="zh-CN" dirty="0" err="1">
                <a:solidFill>
                  <a:srgbClr val="0000CC"/>
                </a:solidFill>
              </a:rPr>
              <a:t>cout</a:t>
            </a:r>
            <a:r>
              <a:rPr lang="en-US" altLang="zh-CN" dirty="0">
                <a:solidFill>
                  <a:srgbClr val="0000CC"/>
                </a:solidFill>
              </a:rPr>
              <a:t>, sum} = a + b + </a:t>
            </a:r>
            <a:r>
              <a:rPr lang="en-US" altLang="zh-CN" dirty="0" err="1">
                <a:solidFill>
                  <a:srgbClr val="0000CC"/>
                </a:solidFill>
              </a:rPr>
              <a:t>cin</a:t>
            </a:r>
            <a:r>
              <a:rPr lang="zh-CN" altLang="en-US" dirty="0">
                <a:solidFill>
                  <a:srgbClr val="0000CC"/>
                </a:solidFill>
              </a:rPr>
              <a:t>;</a:t>
            </a:r>
          </a:p>
          <a:p>
            <a:r>
              <a:rPr lang="zh-CN" altLang="en-US" dirty="0">
                <a:solidFill>
                  <a:srgbClr val="FF9900"/>
                </a:solidFill>
              </a:rPr>
              <a:t>endmodule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2A467FD-071B-4BF8-9A8F-416822DA7627}"/>
              </a:ext>
            </a:extLst>
          </p:cNvPr>
          <p:cNvSpPr/>
          <p:nvPr/>
        </p:nvSpPr>
        <p:spPr>
          <a:xfrm>
            <a:off x="251520" y="2956520"/>
            <a:ext cx="6984776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9900"/>
                </a:solidFill>
              </a:rPr>
              <a:t>module</a:t>
            </a:r>
            <a:r>
              <a:rPr lang="zh-CN" altLang="en-US" dirty="0"/>
              <a:t> </a:t>
            </a:r>
            <a:r>
              <a:rPr lang="en-US" altLang="zh-CN" dirty="0"/>
              <a:t>tb_</a:t>
            </a:r>
            <a:r>
              <a:rPr lang="zh-CN" altLang="en-US" dirty="0"/>
              <a:t>adder</a:t>
            </a:r>
            <a:r>
              <a:rPr lang="en-US" altLang="zh-CN" dirty="0"/>
              <a:t>4</a:t>
            </a:r>
            <a:r>
              <a:rPr lang="zh-CN" altLang="en-US" dirty="0"/>
              <a:t>;</a:t>
            </a:r>
          </a:p>
          <a:p>
            <a:r>
              <a:rPr lang="en-US" altLang="zh-CN" dirty="0"/>
              <a:t>reg</a:t>
            </a:r>
            <a:r>
              <a:rPr lang="zh-CN" altLang="en-US" dirty="0"/>
              <a:t> </a:t>
            </a:r>
            <a:r>
              <a:rPr lang="en-US" altLang="zh-CN" dirty="0"/>
              <a:t>[3:0]</a:t>
            </a:r>
            <a:r>
              <a:rPr lang="zh-CN" altLang="en-US" dirty="0"/>
              <a:t> a, b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reg </a:t>
            </a:r>
            <a:r>
              <a:rPr lang="zh-CN" altLang="en-US" dirty="0"/>
              <a:t>cin;</a:t>
            </a:r>
          </a:p>
          <a:p>
            <a:r>
              <a:rPr lang="en-US" altLang="zh-CN" dirty="0"/>
              <a:t>wire[3:0]</a:t>
            </a:r>
            <a:r>
              <a:rPr lang="zh-CN" altLang="en-US" dirty="0"/>
              <a:t> sum;</a:t>
            </a:r>
            <a:endParaRPr lang="en-US" altLang="zh-CN" dirty="0"/>
          </a:p>
          <a:p>
            <a:r>
              <a:rPr lang="en-US" altLang="zh-CN" dirty="0"/>
              <a:t>wire </a:t>
            </a:r>
            <a:r>
              <a:rPr lang="en-US" altLang="zh-CN" dirty="0" err="1"/>
              <a:t>cout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integer ii;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adder4 </a:t>
            </a:r>
            <a:r>
              <a:rPr lang="en-US" altLang="zh-CN" dirty="0" err="1">
                <a:solidFill>
                  <a:srgbClr val="FF0000"/>
                </a:solidFill>
              </a:rPr>
              <a:t>dut</a:t>
            </a:r>
            <a:r>
              <a:rPr lang="en-US" altLang="zh-CN" dirty="0">
                <a:solidFill>
                  <a:srgbClr val="FF0000"/>
                </a:solidFill>
              </a:rPr>
              <a:t>(a, b, </a:t>
            </a:r>
            <a:r>
              <a:rPr lang="en-US" altLang="zh-CN" dirty="0" err="1">
                <a:solidFill>
                  <a:srgbClr val="FF0000"/>
                </a:solidFill>
              </a:rPr>
              <a:t>cin</a:t>
            </a:r>
            <a:r>
              <a:rPr lang="en-US" altLang="zh-CN" dirty="0">
                <a:solidFill>
                  <a:srgbClr val="FF0000"/>
                </a:solidFill>
              </a:rPr>
              <a:t>, sum,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 err="1">
                <a:solidFill>
                  <a:srgbClr val="FF0000"/>
                </a:solidFill>
              </a:rPr>
              <a:t>cout</a:t>
            </a:r>
            <a:r>
              <a:rPr lang="en-US" altLang="zh-CN" dirty="0">
                <a:solidFill>
                  <a:srgbClr val="FF0000"/>
                </a:solidFill>
              </a:rPr>
              <a:t>);</a:t>
            </a:r>
          </a:p>
          <a:p>
            <a:r>
              <a:rPr lang="en-US" altLang="zh-CN" dirty="0">
                <a:solidFill>
                  <a:srgbClr val="0000CC"/>
                </a:solidFill>
              </a:rPr>
              <a:t>initial begin</a:t>
            </a:r>
          </a:p>
          <a:p>
            <a:r>
              <a:rPr lang="en-US" altLang="zh-CN" dirty="0">
                <a:solidFill>
                  <a:srgbClr val="0000CC"/>
                </a:solidFill>
              </a:rPr>
              <a:t>  for(ii=0; ii&lt;512; ii=ii+1) begin</a:t>
            </a:r>
          </a:p>
          <a:p>
            <a:r>
              <a:rPr lang="en-US" altLang="zh-CN" dirty="0">
                <a:solidFill>
                  <a:srgbClr val="0000CC"/>
                </a:solidFill>
              </a:rPr>
              <a:t>    {</a:t>
            </a:r>
            <a:r>
              <a:rPr lang="en-US" altLang="zh-CN" dirty="0" err="1">
                <a:solidFill>
                  <a:srgbClr val="0000CC"/>
                </a:solidFill>
              </a:rPr>
              <a:t>a,b,cin</a:t>
            </a:r>
            <a:r>
              <a:rPr lang="en-US" altLang="zh-CN" dirty="0">
                <a:solidFill>
                  <a:srgbClr val="0000CC"/>
                </a:solidFill>
              </a:rPr>
              <a:t>} = ii;</a:t>
            </a:r>
          </a:p>
          <a:p>
            <a:r>
              <a:rPr lang="en-US" altLang="zh-CN" dirty="0">
                <a:solidFill>
                  <a:srgbClr val="0000CC"/>
                </a:solidFill>
              </a:rPr>
              <a:t>    #10 $display(“%b,%b,%b,%b,%b”,</a:t>
            </a:r>
            <a:r>
              <a:rPr lang="en-US" altLang="zh-CN" dirty="0" err="1">
                <a:solidFill>
                  <a:srgbClr val="0000CC"/>
                </a:solidFill>
              </a:rPr>
              <a:t>a,b,cin,sum,cout</a:t>
            </a:r>
            <a:r>
              <a:rPr lang="en-US" altLang="zh-CN" dirty="0">
                <a:solidFill>
                  <a:srgbClr val="0000CC"/>
                </a:solidFill>
              </a:rPr>
              <a:t>);</a:t>
            </a:r>
          </a:p>
          <a:p>
            <a:r>
              <a:rPr lang="en-US" altLang="zh-CN" dirty="0">
                <a:solidFill>
                  <a:srgbClr val="0000CC"/>
                </a:solidFill>
              </a:rPr>
              <a:t>  end</a:t>
            </a:r>
          </a:p>
          <a:p>
            <a:r>
              <a:rPr lang="en-US" altLang="zh-CN" dirty="0">
                <a:solidFill>
                  <a:srgbClr val="0000CC"/>
                </a:solidFill>
              </a:rPr>
              <a:t>end</a:t>
            </a:r>
            <a:endParaRPr lang="zh-CN" altLang="en-US" dirty="0">
              <a:solidFill>
                <a:srgbClr val="0000CC"/>
              </a:solidFill>
            </a:endParaRPr>
          </a:p>
          <a:p>
            <a:r>
              <a:rPr lang="zh-CN" altLang="en-US" dirty="0">
                <a:solidFill>
                  <a:srgbClr val="FF9900"/>
                </a:solidFill>
              </a:rPr>
              <a:t>endmodule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DD12345-A77A-4E13-85E1-6FF1843DAD27}"/>
              </a:ext>
            </a:extLst>
          </p:cNvPr>
          <p:cNvSpPr/>
          <p:nvPr/>
        </p:nvSpPr>
        <p:spPr>
          <a:xfrm>
            <a:off x="395536" y="836712"/>
            <a:ext cx="216024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4-bit</a:t>
            </a:r>
            <a:r>
              <a:rPr lang="zh-CN" altLang="en-US" sz="2400" dirty="0"/>
              <a:t>全加器</a:t>
            </a:r>
            <a:endParaRPr lang="en-US" altLang="zh-CN" sz="2400" dirty="0"/>
          </a:p>
          <a:p>
            <a:r>
              <a:rPr lang="zh-CN" altLang="en-US" sz="2400" dirty="0"/>
              <a:t>电路实现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125936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BD85D8-4E81-48DD-8DA7-3347CA76E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624"/>
            <a:ext cx="8003232" cy="576064"/>
          </a:xfrm>
        </p:spPr>
        <p:txBody>
          <a:bodyPr/>
          <a:lstStyle/>
          <a:p>
            <a:r>
              <a:rPr lang="en-US" altLang="zh-CN" sz="3200" dirty="0"/>
              <a:t>ALU</a:t>
            </a:r>
            <a:r>
              <a:rPr lang="zh-CN" altLang="en-US" sz="3200" dirty="0"/>
              <a:t>之加法器</a:t>
            </a:r>
            <a:r>
              <a:rPr lang="en-US" altLang="zh-CN" sz="3200" dirty="0"/>
              <a:t>(</a:t>
            </a:r>
            <a:r>
              <a:rPr lang="en-US" altLang="zh-CN" sz="3200" dirty="0" err="1"/>
              <a:t>cont</a:t>
            </a:r>
            <a:r>
              <a:rPr lang="en-US" altLang="zh-CN" sz="3200" dirty="0"/>
              <a:t>)</a:t>
            </a:r>
            <a:endParaRPr lang="zh-CN" altLang="en-US" sz="3200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2085A92-9D2E-488D-8601-34EFC98A7966}"/>
              </a:ext>
            </a:extLst>
          </p:cNvPr>
          <p:cNvSpPr/>
          <p:nvPr/>
        </p:nvSpPr>
        <p:spPr>
          <a:xfrm>
            <a:off x="832768" y="4941168"/>
            <a:ext cx="648072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课堂练习：</a:t>
            </a:r>
            <a:endParaRPr lang="en-US" altLang="zh-CN" dirty="0">
              <a:solidFill>
                <a:srgbClr val="FF0000"/>
              </a:solidFill>
            </a:endParaRPr>
          </a:p>
          <a:p>
            <a:pPr marL="342900" indent="-342900">
              <a:buAutoNum type="arabicParenR"/>
            </a:pPr>
            <a:r>
              <a:rPr lang="zh-CN" altLang="en-US" dirty="0">
                <a:solidFill>
                  <a:srgbClr val="FF0000"/>
                </a:solidFill>
              </a:rPr>
              <a:t>用</a:t>
            </a:r>
            <a:r>
              <a:rPr lang="en-US" altLang="zh-CN" dirty="0">
                <a:solidFill>
                  <a:srgbClr val="FF0000"/>
                </a:solidFill>
              </a:rPr>
              <a:t>Verilog</a:t>
            </a:r>
            <a:r>
              <a:rPr lang="zh-CN" altLang="en-US" dirty="0">
                <a:solidFill>
                  <a:srgbClr val="FF0000"/>
                </a:solidFill>
              </a:rPr>
              <a:t>实现上述电路中的加法器</a:t>
            </a:r>
            <a:endParaRPr lang="en-US" altLang="zh-CN" dirty="0">
              <a:solidFill>
                <a:srgbClr val="FF0000"/>
              </a:solidFill>
            </a:endParaRPr>
          </a:p>
          <a:p>
            <a:pPr marL="342900" indent="-342900">
              <a:buAutoNum type="arabicParenR"/>
            </a:pPr>
            <a:r>
              <a:rPr lang="zh-CN" altLang="en-US" dirty="0">
                <a:solidFill>
                  <a:srgbClr val="FF0000"/>
                </a:solidFill>
              </a:rPr>
              <a:t>为其建立</a:t>
            </a:r>
            <a:r>
              <a:rPr lang="en-US" altLang="zh-CN" dirty="0">
                <a:solidFill>
                  <a:srgbClr val="FF0000"/>
                </a:solidFill>
              </a:rPr>
              <a:t>testbench</a:t>
            </a:r>
            <a:r>
              <a:rPr lang="zh-CN" altLang="en-US" dirty="0">
                <a:solidFill>
                  <a:srgbClr val="FF0000"/>
                </a:solidFill>
              </a:rPr>
              <a:t>，并验证该加法器的结果是否正确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3B85988-230F-46E3-8709-6CF3480BA5C7}"/>
              </a:ext>
            </a:extLst>
          </p:cNvPr>
          <p:cNvSpPr/>
          <p:nvPr/>
        </p:nvSpPr>
        <p:spPr>
          <a:xfrm>
            <a:off x="683568" y="1095810"/>
            <a:ext cx="57748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4-bit</a:t>
            </a:r>
            <a:r>
              <a:rPr lang="zh-CN" altLang="en-US" sz="2400" dirty="0"/>
              <a:t>全加器</a:t>
            </a:r>
            <a:r>
              <a:rPr lang="en-US" altLang="zh-CN" sz="2400" dirty="0"/>
              <a:t>: Ripple-carry</a:t>
            </a:r>
            <a:r>
              <a:rPr lang="zh-CN" altLang="en-US" sz="2400" dirty="0"/>
              <a:t>实现</a:t>
            </a:r>
            <a:r>
              <a:rPr lang="en-US" altLang="zh-CN" sz="2400" dirty="0"/>
              <a:t> 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E6765BE-A170-4ADA-8B0E-16C05D2A4A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6" y="1887860"/>
            <a:ext cx="5915025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6936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83181B0-233E-481C-A519-A973EC989BBF}"/>
              </a:ext>
            </a:extLst>
          </p:cNvPr>
          <p:cNvSpPr/>
          <p:nvPr/>
        </p:nvSpPr>
        <p:spPr>
          <a:xfrm>
            <a:off x="459174" y="709823"/>
            <a:ext cx="7272808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  <a:latin typeface="CourierNewPSMT"/>
              </a:rPr>
              <a:t>//structural for four-bit ripple-carry adder</a:t>
            </a:r>
            <a:br>
              <a:rPr lang="en-US" altLang="zh-CN" dirty="0">
                <a:solidFill>
                  <a:srgbClr val="000000"/>
                </a:solidFill>
                <a:latin typeface="CourierNewPSMT"/>
              </a:rPr>
            </a:br>
            <a:r>
              <a:rPr lang="en-US" altLang="zh-CN" b="1" dirty="0">
                <a:solidFill>
                  <a:srgbClr val="FF9900"/>
                </a:solidFill>
                <a:latin typeface="CourierNewPS-BoldMT"/>
              </a:rPr>
              <a:t>module</a:t>
            </a:r>
            <a:r>
              <a:rPr lang="en-US" altLang="zh-CN" b="1" dirty="0">
                <a:solidFill>
                  <a:srgbClr val="000000"/>
                </a:solidFill>
                <a:latin typeface="CourierNewPS-BoldMT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ourierNewPSMT"/>
              </a:rPr>
              <a:t>adder4_ripple_carry (a, b, </a:t>
            </a:r>
            <a:r>
              <a:rPr lang="en-US" altLang="zh-CN" dirty="0" err="1">
                <a:solidFill>
                  <a:srgbClr val="000000"/>
                </a:solidFill>
                <a:latin typeface="CourierNewPSMT"/>
              </a:rPr>
              <a:t>cin</a:t>
            </a:r>
            <a:r>
              <a:rPr lang="en-US" altLang="zh-CN" dirty="0">
                <a:solidFill>
                  <a:srgbClr val="000000"/>
                </a:solidFill>
                <a:latin typeface="CourierNewPSMT"/>
              </a:rPr>
              <a:t>, sum, </a:t>
            </a:r>
            <a:r>
              <a:rPr lang="en-US" altLang="zh-CN" dirty="0" err="1">
                <a:solidFill>
                  <a:srgbClr val="000000"/>
                </a:solidFill>
                <a:latin typeface="CourierNewPSMT"/>
              </a:rPr>
              <a:t>cout</a:t>
            </a:r>
            <a:r>
              <a:rPr lang="en-US" altLang="zh-CN" dirty="0">
                <a:solidFill>
                  <a:srgbClr val="000000"/>
                </a:solidFill>
                <a:latin typeface="CourierNewPSMT"/>
              </a:rPr>
              <a:t>);</a:t>
            </a:r>
            <a:br>
              <a:rPr lang="en-US" altLang="zh-CN" dirty="0">
                <a:solidFill>
                  <a:srgbClr val="000000"/>
                </a:solidFill>
                <a:latin typeface="CourierNewPSMT"/>
              </a:rPr>
            </a:br>
            <a:r>
              <a:rPr lang="en-US" altLang="zh-CN" dirty="0">
                <a:solidFill>
                  <a:srgbClr val="00B050"/>
                </a:solidFill>
              </a:rPr>
              <a:t>//define inputs and outputs</a:t>
            </a:r>
            <a:endParaRPr lang="en-US" altLang="zh-CN" dirty="0">
              <a:solidFill>
                <a:srgbClr val="000000"/>
              </a:solidFill>
              <a:latin typeface="CourierNewPSMT"/>
            </a:endParaRPr>
          </a:p>
          <a:p>
            <a:r>
              <a:rPr lang="en-US" altLang="zh-CN" b="1" dirty="0">
                <a:solidFill>
                  <a:srgbClr val="000000"/>
                </a:solidFill>
                <a:latin typeface="CourierNewPS-BoldMT"/>
              </a:rPr>
              <a:t>input </a:t>
            </a:r>
            <a:r>
              <a:rPr lang="en-US" altLang="zh-CN" dirty="0">
                <a:solidFill>
                  <a:srgbClr val="000000"/>
                </a:solidFill>
                <a:latin typeface="CourierNewPSMT"/>
              </a:rPr>
              <a:t>[3:0] a, b; </a:t>
            </a:r>
            <a:br>
              <a:rPr lang="en-US" altLang="zh-CN" dirty="0">
                <a:solidFill>
                  <a:srgbClr val="000000"/>
                </a:solidFill>
                <a:latin typeface="CourierNewPSMT"/>
              </a:rPr>
            </a:br>
            <a:r>
              <a:rPr lang="en-US" altLang="zh-CN" b="1" dirty="0">
                <a:solidFill>
                  <a:srgbClr val="000000"/>
                </a:solidFill>
                <a:latin typeface="CourierNewPS-BoldMT"/>
              </a:rPr>
              <a:t>input </a:t>
            </a:r>
            <a:r>
              <a:rPr lang="en-US" altLang="zh-CN" dirty="0" err="1">
                <a:solidFill>
                  <a:srgbClr val="000000"/>
                </a:solidFill>
                <a:latin typeface="CourierNewPSMT"/>
              </a:rPr>
              <a:t>cin</a:t>
            </a:r>
            <a:r>
              <a:rPr lang="en-US" altLang="zh-CN" dirty="0">
                <a:solidFill>
                  <a:srgbClr val="000000"/>
                </a:solidFill>
                <a:latin typeface="CourierNewPSMT"/>
              </a:rPr>
              <a:t>;</a:t>
            </a:r>
            <a:br>
              <a:rPr lang="en-US" altLang="zh-CN" dirty="0">
                <a:solidFill>
                  <a:srgbClr val="000000"/>
                </a:solidFill>
                <a:latin typeface="CourierNewPSMT"/>
              </a:rPr>
            </a:br>
            <a:r>
              <a:rPr lang="en-US" altLang="zh-CN" b="1" dirty="0">
                <a:solidFill>
                  <a:srgbClr val="000000"/>
                </a:solidFill>
                <a:latin typeface="CourierNewPS-BoldMT"/>
              </a:rPr>
              <a:t>output </a:t>
            </a:r>
            <a:r>
              <a:rPr lang="en-US" altLang="zh-CN" dirty="0">
                <a:solidFill>
                  <a:srgbClr val="000000"/>
                </a:solidFill>
                <a:latin typeface="CourierNewPSMT"/>
              </a:rPr>
              <a:t>[3:0] sum;</a:t>
            </a:r>
            <a:br>
              <a:rPr lang="en-US" altLang="zh-CN" dirty="0">
                <a:solidFill>
                  <a:srgbClr val="000000"/>
                </a:solidFill>
                <a:latin typeface="CourierNewPSMT"/>
              </a:rPr>
            </a:br>
            <a:r>
              <a:rPr lang="en-US" altLang="zh-CN" b="1" dirty="0">
                <a:solidFill>
                  <a:srgbClr val="000000"/>
                </a:solidFill>
                <a:latin typeface="CourierNewPS-BoldMT"/>
              </a:rPr>
              <a:t>output </a:t>
            </a:r>
            <a:r>
              <a:rPr lang="en-US" altLang="zh-CN" dirty="0" err="1">
                <a:solidFill>
                  <a:srgbClr val="000000"/>
                </a:solidFill>
                <a:latin typeface="CourierNewPSMT"/>
              </a:rPr>
              <a:t>cout</a:t>
            </a:r>
            <a:r>
              <a:rPr lang="en-US" altLang="zh-CN" dirty="0">
                <a:solidFill>
                  <a:srgbClr val="000000"/>
                </a:solidFill>
                <a:latin typeface="CourierNewPSMT"/>
              </a:rPr>
              <a:t>;</a:t>
            </a:r>
            <a:br>
              <a:rPr lang="en-US" altLang="zh-CN" dirty="0">
                <a:solidFill>
                  <a:srgbClr val="000000"/>
                </a:solidFill>
                <a:latin typeface="CourierNewPSMT"/>
              </a:rPr>
            </a:br>
            <a:r>
              <a:rPr lang="en-US" altLang="zh-CN" dirty="0">
                <a:solidFill>
                  <a:srgbClr val="00B050"/>
                </a:solidFill>
              </a:rPr>
              <a:t>//define internal nets</a:t>
            </a:r>
            <a:br>
              <a:rPr lang="en-US" altLang="zh-CN" dirty="0">
                <a:solidFill>
                  <a:srgbClr val="000000"/>
                </a:solidFill>
                <a:latin typeface="CourierNewPSMT"/>
              </a:rPr>
            </a:br>
            <a:r>
              <a:rPr lang="en-US" altLang="zh-CN" b="1" dirty="0">
                <a:solidFill>
                  <a:srgbClr val="000000"/>
                </a:solidFill>
                <a:latin typeface="CourierNewPS-BoldMT"/>
              </a:rPr>
              <a:t>wire </a:t>
            </a:r>
            <a:r>
              <a:rPr lang="en-US" altLang="zh-CN" dirty="0">
                <a:solidFill>
                  <a:srgbClr val="000000"/>
                </a:solidFill>
                <a:latin typeface="CourierNewPSMT"/>
              </a:rPr>
              <a:t>[3:0] c;</a:t>
            </a:r>
            <a:br>
              <a:rPr lang="en-US" altLang="zh-CN" dirty="0">
                <a:solidFill>
                  <a:srgbClr val="000000"/>
                </a:solidFill>
                <a:latin typeface="CourierNewPSMT"/>
              </a:rPr>
            </a:br>
            <a:r>
              <a:rPr lang="en-US" altLang="zh-CN" dirty="0">
                <a:solidFill>
                  <a:srgbClr val="00B050"/>
                </a:solidFill>
              </a:rPr>
              <a:t>//define output</a:t>
            </a:r>
            <a:br>
              <a:rPr lang="en-US" altLang="zh-CN" dirty="0">
                <a:solidFill>
                  <a:srgbClr val="000000"/>
                </a:solidFill>
                <a:latin typeface="CourierNewPSMT"/>
              </a:rPr>
            </a:br>
            <a:r>
              <a:rPr lang="en-US" altLang="zh-CN" b="1" dirty="0">
                <a:solidFill>
                  <a:srgbClr val="0000CC"/>
                </a:solidFill>
                <a:latin typeface="CourierNewPS-BoldMT"/>
              </a:rPr>
              <a:t>assign </a:t>
            </a:r>
            <a:r>
              <a:rPr lang="en-US" altLang="zh-CN" dirty="0" err="1">
                <a:solidFill>
                  <a:srgbClr val="0000CC"/>
                </a:solidFill>
                <a:latin typeface="CourierNewPSMT"/>
              </a:rPr>
              <a:t>cout</a:t>
            </a:r>
            <a:r>
              <a:rPr lang="en-US" altLang="zh-CN" dirty="0">
                <a:solidFill>
                  <a:srgbClr val="0000CC"/>
                </a:solidFill>
                <a:latin typeface="CourierNewPSMT"/>
              </a:rPr>
              <a:t> = c[3];</a:t>
            </a:r>
            <a:endParaRPr lang="en-US" altLang="zh-CN" dirty="0">
              <a:solidFill>
                <a:srgbClr val="0000CC"/>
              </a:solidFill>
            </a:endParaRPr>
          </a:p>
          <a:p>
            <a:r>
              <a:rPr lang="en-US" altLang="zh-CN" dirty="0"/>
              <a:t>//design the ripple-carry adder</a:t>
            </a:r>
            <a:br>
              <a:rPr lang="en-US" altLang="zh-CN" dirty="0"/>
            </a:br>
            <a:r>
              <a:rPr lang="en-US" altLang="zh-CN" dirty="0"/>
              <a:t>//instantiating the full adders</a:t>
            </a:r>
            <a:br>
              <a:rPr lang="en-US" altLang="zh-CN" dirty="0"/>
            </a:br>
            <a:r>
              <a:rPr lang="en-US" altLang="zh-CN" dirty="0" err="1">
                <a:solidFill>
                  <a:srgbClr val="0000CC"/>
                </a:solidFill>
              </a:rPr>
              <a:t>full_adder</a:t>
            </a:r>
            <a:r>
              <a:rPr lang="en-US" altLang="zh-CN" dirty="0">
                <a:solidFill>
                  <a:srgbClr val="0000CC"/>
                </a:solidFill>
              </a:rPr>
              <a:t> inst0 (a[0], b[0], </a:t>
            </a:r>
            <a:r>
              <a:rPr lang="en-US" altLang="zh-CN" dirty="0" err="1">
                <a:solidFill>
                  <a:srgbClr val="0000CC"/>
                </a:solidFill>
              </a:rPr>
              <a:t>cin</a:t>
            </a:r>
            <a:r>
              <a:rPr lang="en-US" altLang="zh-CN" dirty="0">
                <a:solidFill>
                  <a:srgbClr val="0000CC"/>
                </a:solidFill>
              </a:rPr>
              <a:t> , sum[0], c[0]);</a:t>
            </a:r>
            <a:br>
              <a:rPr lang="en-US" altLang="zh-CN" dirty="0">
                <a:solidFill>
                  <a:srgbClr val="0000CC"/>
                </a:solidFill>
              </a:rPr>
            </a:br>
            <a:r>
              <a:rPr lang="en-US" altLang="zh-CN" dirty="0" err="1">
                <a:solidFill>
                  <a:srgbClr val="0000CC"/>
                </a:solidFill>
              </a:rPr>
              <a:t>full_adder</a:t>
            </a:r>
            <a:r>
              <a:rPr lang="en-US" altLang="zh-CN" dirty="0">
                <a:solidFill>
                  <a:srgbClr val="0000CC"/>
                </a:solidFill>
              </a:rPr>
              <a:t> inst1 (a[1], b[1], c[0], sum[1], c[1]);</a:t>
            </a:r>
            <a:br>
              <a:rPr lang="en-US" altLang="zh-CN" dirty="0">
                <a:solidFill>
                  <a:srgbClr val="0000CC"/>
                </a:solidFill>
              </a:rPr>
            </a:br>
            <a:r>
              <a:rPr lang="en-US" altLang="zh-CN" dirty="0" err="1">
                <a:solidFill>
                  <a:srgbClr val="0000CC"/>
                </a:solidFill>
              </a:rPr>
              <a:t>full_adder</a:t>
            </a:r>
            <a:r>
              <a:rPr lang="en-US" altLang="zh-CN" dirty="0">
                <a:solidFill>
                  <a:srgbClr val="0000CC"/>
                </a:solidFill>
              </a:rPr>
              <a:t> inst2 (a[2], b[2], c[1], sum[2], c[2]);</a:t>
            </a:r>
            <a:br>
              <a:rPr lang="en-US" altLang="zh-CN" dirty="0">
                <a:solidFill>
                  <a:srgbClr val="0000CC"/>
                </a:solidFill>
              </a:rPr>
            </a:br>
            <a:r>
              <a:rPr lang="en-US" altLang="zh-CN" dirty="0" err="1">
                <a:solidFill>
                  <a:srgbClr val="0000CC"/>
                </a:solidFill>
              </a:rPr>
              <a:t>full_adder</a:t>
            </a:r>
            <a:r>
              <a:rPr lang="en-US" altLang="zh-CN" dirty="0">
                <a:solidFill>
                  <a:srgbClr val="0000CC"/>
                </a:solidFill>
              </a:rPr>
              <a:t> inst3 (a[3], b[3], c[2], sum[3], c[3]);</a:t>
            </a:r>
            <a:br>
              <a:rPr lang="en-US" altLang="zh-CN" dirty="0"/>
            </a:br>
            <a:r>
              <a:rPr lang="en-US" altLang="zh-CN" b="1" dirty="0" err="1">
                <a:solidFill>
                  <a:srgbClr val="FF9900"/>
                </a:solidFill>
              </a:rPr>
              <a:t>endmodule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C33A949-CB0A-4DAD-9E49-51B88FF4E3B0}"/>
              </a:ext>
            </a:extLst>
          </p:cNvPr>
          <p:cNvSpPr/>
          <p:nvPr/>
        </p:nvSpPr>
        <p:spPr>
          <a:xfrm>
            <a:off x="539552" y="5877272"/>
            <a:ext cx="46085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扩展思考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>
                <a:solidFill>
                  <a:srgbClr val="FF0000"/>
                </a:solidFill>
              </a:rPr>
              <a:t>：</a:t>
            </a:r>
            <a:r>
              <a:rPr lang="en-US" altLang="zh-CN" dirty="0">
                <a:solidFill>
                  <a:srgbClr val="FF0000"/>
                </a:solidFill>
              </a:rPr>
              <a:t>carry-ahead adder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扩展思考</a:t>
            </a:r>
            <a:r>
              <a:rPr lang="en-US" altLang="zh-CN" dirty="0">
                <a:solidFill>
                  <a:srgbClr val="FF0000"/>
                </a:solidFill>
              </a:rPr>
              <a:t>2</a:t>
            </a:r>
            <a:r>
              <a:rPr lang="zh-CN" altLang="en-US" dirty="0">
                <a:solidFill>
                  <a:srgbClr val="FF0000"/>
                </a:solidFill>
              </a:rPr>
              <a:t>：定点数减法如何实现？</a:t>
            </a: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DC02A585-2298-4CCC-ACE5-270BEB194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174" y="89191"/>
            <a:ext cx="8003232" cy="576064"/>
          </a:xfrm>
        </p:spPr>
        <p:txBody>
          <a:bodyPr/>
          <a:lstStyle/>
          <a:p>
            <a:r>
              <a:rPr lang="en-US" altLang="zh-CN" sz="3200" dirty="0"/>
              <a:t>ALU</a:t>
            </a:r>
            <a:r>
              <a:rPr lang="zh-CN" altLang="en-US" sz="3200" dirty="0"/>
              <a:t>之加法器</a:t>
            </a:r>
            <a:r>
              <a:rPr lang="en-US" altLang="zh-CN" sz="3200" dirty="0"/>
              <a:t>(</a:t>
            </a:r>
            <a:r>
              <a:rPr lang="en-US" altLang="zh-CN" sz="3200" dirty="0" err="1"/>
              <a:t>cont</a:t>
            </a:r>
            <a:r>
              <a:rPr lang="en-US" altLang="zh-CN" sz="3200" dirty="0"/>
              <a:t>)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9941906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83181B0-233E-481C-A519-A973EC989BBF}"/>
              </a:ext>
            </a:extLst>
          </p:cNvPr>
          <p:cNvSpPr/>
          <p:nvPr/>
        </p:nvSpPr>
        <p:spPr>
          <a:xfrm>
            <a:off x="459174" y="709823"/>
            <a:ext cx="7272808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  <a:latin typeface="CourierNewPSMT"/>
              </a:rPr>
              <a:t>//structural for four-bit ripple-carry adder</a:t>
            </a:r>
            <a:br>
              <a:rPr lang="en-US" altLang="zh-CN" dirty="0">
                <a:solidFill>
                  <a:srgbClr val="000000"/>
                </a:solidFill>
                <a:latin typeface="CourierNewPSMT"/>
              </a:rPr>
            </a:br>
            <a:r>
              <a:rPr lang="en-US" altLang="zh-CN" b="1" dirty="0">
                <a:solidFill>
                  <a:srgbClr val="FF9900"/>
                </a:solidFill>
                <a:latin typeface="CourierNewPS-BoldMT"/>
              </a:rPr>
              <a:t>module</a:t>
            </a:r>
            <a:r>
              <a:rPr lang="en-US" altLang="zh-CN" b="1" dirty="0">
                <a:solidFill>
                  <a:srgbClr val="000000"/>
                </a:solidFill>
                <a:latin typeface="CourierNewPS-BoldMT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ourierNewPSMT"/>
              </a:rPr>
              <a:t>adder4_ripple_carry (a, b, </a:t>
            </a:r>
            <a:r>
              <a:rPr lang="en-US" altLang="zh-CN" dirty="0" err="1">
                <a:solidFill>
                  <a:srgbClr val="000000"/>
                </a:solidFill>
                <a:latin typeface="CourierNewPSMT"/>
              </a:rPr>
              <a:t>cin</a:t>
            </a:r>
            <a:r>
              <a:rPr lang="en-US" altLang="zh-CN" dirty="0">
                <a:solidFill>
                  <a:srgbClr val="000000"/>
                </a:solidFill>
                <a:latin typeface="CourierNewPSMT"/>
              </a:rPr>
              <a:t>, sum, </a:t>
            </a:r>
            <a:r>
              <a:rPr lang="en-US" altLang="zh-CN" dirty="0" err="1">
                <a:solidFill>
                  <a:srgbClr val="000000"/>
                </a:solidFill>
                <a:latin typeface="CourierNewPSMT"/>
              </a:rPr>
              <a:t>cout</a:t>
            </a:r>
            <a:r>
              <a:rPr lang="en-US" altLang="zh-CN" dirty="0">
                <a:solidFill>
                  <a:srgbClr val="000000"/>
                </a:solidFill>
                <a:latin typeface="CourierNewPSMT"/>
              </a:rPr>
              <a:t>);</a:t>
            </a:r>
            <a:br>
              <a:rPr lang="en-US" altLang="zh-CN" dirty="0">
                <a:solidFill>
                  <a:srgbClr val="000000"/>
                </a:solidFill>
                <a:latin typeface="CourierNewPSMT"/>
              </a:rPr>
            </a:br>
            <a:r>
              <a:rPr lang="en-US" altLang="zh-CN" dirty="0">
                <a:solidFill>
                  <a:srgbClr val="00B050"/>
                </a:solidFill>
              </a:rPr>
              <a:t>//define inputs and outputs</a:t>
            </a:r>
            <a:endParaRPr lang="en-US" altLang="zh-CN" dirty="0">
              <a:solidFill>
                <a:srgbClr val="000000"/>
              </a:solidFill>
              <a:latin typeface="CourierNewPSMT"/>
            </a:endParaRPr>
          </a:p>
          <a:p>
            <a:r>
              <a:rPr lang="en-US" altLang="zh-CN" b="1" dirty="0">
                <a:solidFill>
                  <a:srgbClr val="000000"/>
                </a:solidFill>
                <a:latin typeface="CourierNewPS-BoldMT"/>
              </a:rPr>
              <a:t>input </a:t>
            </a:r>
            <a:r>
              <a:rPr lang="en-US" altLang="zh-CN" dirty="0">
                <a:solidFill>
                  <a:srgbClr val="000000"/>
                </a:solidFill>
                <a:latin typeface="CourierNewPSMT"/>
              </a:rPr>
              <a:t>[3:0] a, b; </a:t>
            </a:r>
            <a:br>
              <a:rPr lang="en-US" altLang="zh-CN" dirty="0">
                <a:solidFill>
                  <a:srgbClr val="000000"/>
                </a:solidFill>
                <a:latin typeface="CourierNewPSMT"/>
              </a:rPr>
            </a:br>
            <a:r>
              <a:rPr lang="en-US" altLang="zh-CN" b="1" dirty="0">
                <a:solidFill>
                  <a:srgbClr val="000000"/>
                </a:solidFill>
                <a:latin typeface="CourierNewPS-BoldMT"/>
              </a:rPr>
              <a:t>input </a:t>
            </a:r>
            <a:r>
              <a:rPr lang="en-US" altLang="zh-CN" dirty="0" err="1">
                <a:solidFill>
                  <a:srgbClr val="000000"/>
                </a:solidFill>
                <a:latin typeface="CourierNewPSMT"/>
              </a:rPr>
              <a:t>cin</a:t>
            </a:r>
            <a:r>
              <a:rPr lang="en-US" altLang="zh-CN" dirty="0">
                <a:solidFill>
                  <a:srgbClr val="000000"/>
                </a:solidFill>
                <a:latin typeface="CourierNewPSMT"/>
              </a:rPr>
              <a:t>;</a:t>
            </a:r>
            <a:br>
              <a:rPr lang="en-US" altLang="zh-CN" dirty="0">
                <a:solidFill>
                  <a:srgbClr val="000000"/>
                </a:solidFill>
                <a:latin typeface="CourierNewPSMT"/>
              </a:rPr>
            </a:br>
            <a:r>
              <a:rPr lang="en-US" altLang="zh-CN" b="1" dirty="0">
                <a:solidFill>
                  <a:srgbClr val="000000"/>
                </a:solidFill>
                <a:latin typeface="CourierNewPS-BoldMT"/>
              </a:rPr>
              <a:t>output </a:t>
            </a:r>
            <a:r>
              <a:rPr lang="en-US" altLang="zh-CN" dirty="0">
                <a:solidFill>
                  <a:srgbClr val="000000"/>
                </a:solidFill>
                <a:latin typeface="CourierNewPSMT"/>
              </a:rPr>
              <a:t>[3:0] sum;</a:t>
            </a:r>
            <a:br>
              <a:rPr lang="en-US" altLang="zh-CN" dirty="0">
                <a:solidFill>
                  <a:srgbClr val="000000"/>
                </a:solidFill>
                <a:latin typeface="CourierNewPSMT"/>
              </a:rPr>
            </a:br>
            <a:r>
              <a:rPr lang="en-US" altLang="zh-CN" b="1" dirty="0">
                <a:solidFill>
                  <a:srgbClr val="000000"/>
                </a:solidFill>
                <a:latin typeface="CourierNewPS-BoldMT"/>
              </a:rPr>
              <a:t>output </a:t>
            </a:r>
            <a:r>
              <a:rPr lang="en-US" altLang="zh-CN" dirty="0" err="1">
                <a:solidFill>
                  <a:srgbClr val="000000"/>
                </a:solidFill>
                <a:latin typeface="CourierNewPSMT"/>
              </a:rPr>
              <a:t>cout</a:t>
            </a:r>
            <a:r>
              <a:rPr lang="en-US" altLang="zh-CN" dirty="0">
                <a:solidFill>
                  <a:srgbClr val="000000"/>
                </a:solidFill>
                <a:latin typeface="CourierNewPSMT"/>
              </a:rPr>
              <a:t>;</a:t>
            </a:r>
            <a:br>
              <a:rPr lang="en-US" altLang="zh-CN" dirty="0">
                <a:solidFill>
                  <a:srgbClr val="000000"/>
                </a:solidFill>
                <a:latin typeface="CourierNewPSMT"/>
              </a:rPr>
            </a:br>
            <a:r>
              <a:rPr lang="en-US" altLang="zh-CN" dirty="0">
                <a:solidFill>
                  <a:srgbClr val="00B050"/>
                </a:solidFill>
              </a:rPr>
              <a:t>//define internal nets</a:t>
            </a:r>
            <a:br>
              <a:rPr lang="en-US" altLang="zh-CN" dirty="0">
                <a:solidFill>
                  <a:srgbClr val="000000"/>
                </a:solidFill>
                <a:latin typeface="CourierNewPSMT"/>
              </a:rPr>
            </a:br>
            <a:r>
              <a:rPr lang="en-US" altLang="zh-CN" b="1" dirty="0">
                <a:solidFill>
                  <a:srgbClr val="000000"/>
                </a:solidFill>
                <a:latin typeface="CourierNewPS-BoldMT"/>
              </a:rPr>
              <a:t>wire </a:t>
            </a:r>
            <a:r>
              <a:rPr lang="en-US" altLang="zh-CN" dirty="0">
                <a:solidFill>
                  <a:srgbClr val="000000"/>
                </a:solidFill>
                <a:latin typeface="CourierNewPSMT"/>
              </a:rPr>
              <a:t>[3:0] c;</a:t>
            </a:r>
            <a:br>
              <a:rPr lang="en-US" altLang="zh-CN" dirty="0">
                <a:solidFill>
                  <a:srgbClr val="000000"/>
                </a:solidFill>
                <a:latin typeface="CourierNewPSMT"/>
              </a:rPr>
            </a:br>
            <a:r>
              <a:rPr lang="en-US" altLang="zh-CN" dirty="0">
                <a:solidFill>
                  <a:srgbClr val="00B050"/>
                </a:solidFill>
              </a:rPr>
              <a:t>//define output</a:t>
            </a:r>
            <a:br>
              <a:rPr lang="en-US" altLang="zh-CN" dirty="0">
                <a:solidFill>
                  <a:srgbClr val="000000"/>
                </a:solidFill>
                <a:latin typeface="CourierNewPSMT"/>
              </a:rPr>
            </a:br>
            <a:r>
              <a:rPr lang="en-US" altLang="zh-CN" b="1" dirty="0">
                <a:solidFill>
                  <a:srgbClr val="0000CC"/>
                </a:solidFill>
                <a:latin typeface="CourierNewPS-BoldMT"/>
              </a:rPr>
              <a:t>assign </a:t>
            </a:r>
            <a:r>
              <a:rPr lang="en-US" altLang="zh-CN" dirty="0" err="1">
                <a:solidFill>
                  <a:srgbClr val="0000CC"/>
                </a:solidFill>
                <a:latin typeface="CourierNewPSMT"/>
              </a:rPr>
              <a:t>cout</a:t>
            </a:r>
            <a:r>
              <a:rPr lang="en-US" altLang="zh-CN" dirty="0">
                <a:solidFill>
                  <a:srgbClr val="0000CC"/>
                </a:solidFill>
                <a:latin typeface="CourierNewPSMT"/>
              </a:rPr>
              <a:t> = c[3];</a:t>
            </a:r>
            <a:endParaRPr lang="en-US" altLang="zh-CN" dirty="0">
              <a:solidFill>
                <a:srgbClr val="0000CC"/>
              </a:solidFill>
            </a:endParaRPr>
          </a:p>
          <a:p>
            <a:r>
              <a:rPr lang="en-US" altLang="zh-CN" dirty="0"/>
              <a:t>//design the ripple-carry adder</a:t>
            </a:r>
            <a:br>
              <a:rPr lang="en-US" altLang="zh-CN" dirty="0"/>
            </a:br>
            <a:r>
              <a:rPr lang="en-US" altLang="zh-CN" dirty="0"/>
              <a:t>//instantiating the full adders</a:t>
            </a:r>
            <a:br>
              <a:rPr lang="en-US" altLang="zh-CN" dirty="0"/>
            </a:br>
            <a:r>
              <a:rPr lang="en-US" altLang="zh-CN" dirty="0" err="1">
                <a:solidFill>
                  <a:srgbClr val="0000CC"/>
                </a:solidFill>
              </a:rPr>
              <a:t>full_adder</a:t>
            </a:r>
            <a:r>
              <a:rPr lang="en-US" altLang="zh-CN" dirty="0">
                <a:solidFill>
                  <a:srgbClr val="0000CC"/>
                </a:solidFill>
              </a:rPr>
              <a:t> inst0 (a[0], b[0], </a:t>
            </a:r>
            <a:r>
              <a:rPr lang="en-US" altLang="zh-CN" dirty="0" err="1">
                <a:solidFill>
                  <a:srgbClr val="0000CC"/>
                </a:solidFill>
              </a:rPr>
              <a:t>cin</a:t>
            </a:r>
            <a:r>
              <a:rPr lang="en-US" altLang="zh-CN" dirty="0">
                <a:solidFill>
                  <a:srgbClr val="0000CC"/>
                </a:solidFill>
              </a:rPr>
              <a:t> , sum[0], c[0]);</a:t>
            </a:r>
            <a:br>
              <a:rPr lang="en-US" altLang="zh-CN" dirty="0">
                <a:solidFill>
                  <a:srgbClr val="0000CC"/>
                </a:solidFill>
              </a:rPr>
            </a:br>
            <a:r>
              <a:rPr lang="en-US" altLang="zh-CN" dirty="0" err="1">
                <a:solidFill>
                  <a:srgbClr val="0000CC"/>
                </a:solidFill>
              </a:rPr>
              <a:t>full_adder</a:t>
            </a:r>
            <a:r>
              <a:rPr lang="en-US" altLang="zh-CN" dirty="0">
                <a:solidFill>
                  <a:srgbClr val="0000CC"/>
                </a:solidFill>
              </a:rPr>
              <a:t> inst1 (a[1], b[1], c[0], sum[1], c[1]);</a:t>
            </a:r>
            <a:br>
              <a:rPr lang="en-US" altLang="zh-CN" dirty="0">
                <a:solidFill>
                  <a:srgbClr val="0000CC"/>
                </a:solidFill>
              </a:rPr>
            </a:br>
            <a:r>
              <a:rPr lang="en-US" altLang="zh-CN" dirty="0" err="1">
                <a:solidFill>
                  <a:srgbClr val="0000CC"/>
                </a:solidFill>
              </a:rPr>
              <a:t>full_adder</a:t>
            </a:r>
            <a:r>
              <a:rPr lang="en-US" altLang="zh-CN" dirty="0">
                <a:solidFill>
                  <a:srgbClr val="0000CC"/>
                </a:solidFill>
              </a:rPr>
              <a:t> inst2 (a[2], b[2], c[1], sum[2], c[2]);</a:t>
            </a:r>
            <a:br>
              <a:rPr lang="en-US" altLang="zh-CN" dirty="0">
                <a:solidFill>
                  <a:srgbClr val="0000CC"/>
                </a:solidFill>
              </a:rPr>
            </a:br>
            <a:r>
              <a:rPr lang="en-US" altLang="zh-CN" dirty="0" err="1">
                <a:solidFill>
                  <a:srgbClr val="0000CC"/>
                </a:solidFill>
              </a:rPr>
              <a:t>full_adder</a:t>
            </a:r>
            <a:r>
              <a:rPr lang="en-US" altLang="zh-CN" dirty="0">
                <a:solidFill>
                  <a:srgbClr val="0000CC"/>
                </a:solidFill>
              </a:rPr>
              <a:t> inst3 (a[3], b[3], c[2], sum[3], c[3]);</a:t>
            </a:r>
            <a:br>
              <a:rPr lang="en-US" altLang="zh-CN" dirty="0"/>
            </a:br>
            <a:r>
              <a:rPr lang="en-US" altLang="zh-CN" b="1" dirty="0" err="1">
                <a:solidFill>
                  <a:srgbClr val="FF9900"/>
                </a:solidFill>
              </a:rPr>
              <a:t>endmodule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C33A949-CB0A-4DAD-9E49-51B88FF4E3B0}"/>
              </a:ext>
            </a:extLst>
          </p:cNvPr>
          <p:cNvSpPr/>
          <p:nvPr/>
        </p:nvSpPr>
        <p:spPr>
          <a:xfrm>
            <a:off x="539552" y="5877272"/>
            <a:ext cx="46085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扩展思考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>
                <a:solidFill>
                  <a:srgbClr val="FF0000"/>
                </a:solidFill>
              </a:rPr>
              <a:t>：</a:t>
            </a:r>
            <a:r>
              <a:rPr lang="en-US" altLang="zh-CN" dirty="0">
                <a:solidFill>
                  <a:srgbClr val="FF0000"/>
                </a:solidFill>
              </a:rPr>
              <a:t>carry-ahead adder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扩展思考</a:t>
            </a:r>
            <a:r>
              <a:rPr lang="en-US" altLang="zh-CN" dirty="0">
                <a:solidFill>
                  <a:srgbClr val="FF0000"/>
                </a:solidFill>
              </a:rPr>
              <a:t>2</a:t>
            </a:r>
            <a:r>
              <a:rPr lang="zh-CN" altLang="en-US" dirty="0">
                <a:solidFill>
                  <a:srgbClr val="FF0000"/>
                </a:solidFill>
              </a:rPr>
              <a:t>：定点数减法如何实现？</a:t>
            </a: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DC02A585-2298-4CCC-ACE5-270BEB194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174" y="89191"/>
            <a:ext cx="8003232" cy="576064"/>
          </a:xfrm>
        </p:spPr>
        <p:txBody>
          <a:bodyPr/>
          <a:lstStyle/>
          <a:p>
            <a:r>
              <a:rPr lang="en-US" altLang="zh-CN" sz="3200" dirty="0"/>
              <a:t>ALU</a:t>
            </a:r>
            <a:r>
              <a:rPr lang="zh-CN" altLang="en-US" sz="3200" dirty="0"/>
              <a:t>之乘法器</a:t>
            </a:r>
            <a:r>
              <a:rPr lang="en-US" altLang="zh-CN" sz="3200" dirty="0"/>
              <a:t>(</a:t>
            </a:r>
            <a:r>
              <a:rPr lang="en-US" altLang="zh-CN" sz="3200" dirty="0" err="1"/>
              <a:t>cont</a:t>
            </a:r>
            <a:r>
              <a:rPr lang="en-US" altLang="zh-CN" sz="3200" dirty="0"/>
              <a:t>)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40517085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83181B0-233E-481C-A519-A973EC989BBF}"/>
              </a:ext>
            </a:extLst>
          </p:cNvPr>
          <p:cNvSpPr/>
          <p:nvPr/>
        </p:nvSpPr>
        <p:spPr>
          <a:xfrm>
            <a:off x="459174" y="709823"/>
            <a:ext cx="37527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CourierNewPSMT"/>
              </a:rPr>
              <a:t>定点乘法：</a:t>
            </a:r>
            <a:r>
              <a:rPr lang="en-US" altLang="zh-CN" dirty="0">
                <a:solidFill>
                  <a:srgbClr val="000000"/>
                </a:solidFill>
                <a:latin typeface="CourierNewPSMT"/>
              </a:rPr>
              <a:t>behavior model</a:t>
            </a:r>
            <a:endParaRPr lang="zh-CN" altLang="en-US" dirty="0"/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DC02A585-2298-4CCC-ACE5-270BEB194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174" y="89191"/>
            <a:ext cx="8003232" cy="576064"/>
          </a:xfrm>
        </p:spPr>
        <p:txBody>
          <a:bodyPr/>
          <a:lstStyle/>
          <a:p>
            <a:r>
              <a:rPr lang="en-US" altLang="zh-CN" sz="3200" dirty="0"/>
              <a:t>ALU</a:t>
            </a:r>
            <a:r>
              <a:rPr lang="zh-CN" altLang="en-US" sz="3200" dirty="0"/>
              <a:t>之乘法器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B0DC9BC-4705-480D-8733-F298F44A54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692" y="1567225"/>
            <a:ext cx="4095750" cy="165735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67FD88BA-313C-42EC-A3EB-B7279E09DF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0032" y="1628800"/>
            <a:ext cx="4029075" cy="165735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677A73E-6E72-4216-981B-28EB364365E0}"/>
              </a:ext>
            </a:extLst>
          </p:cNvPr>
          <p:cNvSpPr/>
          <p:nvPr/>
        </p:nvSpPr>
        <p:spPr>
          <a:xfrm>
            <a:off x="475803" y="1139335"/>
            <a:ext cx="37527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  <a:latin typeface="CourierNewPSMT"/>
              </a:rPr>
              <a:t>1</a:t>
            </a:r>
            <a:r>
              <a:rPr lang="zh-CN" altLang="en-US" dirty="0">
                <a:solidFill>
                  <a:srgbClr val="000000"/>
                </a:solidFill>
                <a:latin typeface="CourierNewPSMT"/>
              </a:rPr>
              <a:t>）正数 * 正数 </a:t>
            </a:r>
            <a:r>
              <a:rPr lang="en-US" altLang="zh-CN" dirty="0">
                <a:solidFill>
                  <a:srgbClr val="000000"/>
                </a:solidFill>
                <a:latin typeface="CourierNewPSMT"/>
              </a:rPr>
              <a:t>= </a:t>
            </a:r>
            <a:r>
              <a:rPr lang="zh-CN" altLang="en-US" dirty="0">
                <a:solidFill>
                  <a:srgbClr val="000000"/>
                </a:solidFill>
                <a:latin typeface="CourierNewPSMT"/>
              </a:rPr>
              <a:t>正数</a:t>
            </a:r>
            <a:endParaRPr lang="en-US" altLang="zh-CN" dirty="0">
              <a:solidFill>
                <a:srgbClr val="000000"/>
              </a:solidFill>
              <a:latin typeface="CourierNewPSMT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7D72460-7F35-454C-8ED8-7C781BE77F52}"/>
              </a:ext>
            </a:extLst>
          </p:cNvPr>
          <p:cNvSpPr/>
          <p:nvPr/>
        </p:nvSpPr>
        <p:spPr>
          <a:xfrm>
            <a:off x="5208328" y="1110912"/>
            <a:ext cx="37527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  <a:latin typeface="CourierNewPSMT"/>
              </a:rPr>
              <a:t>2</a:t>
            </a:r>
            <a:r>
              <a:rPr lang="zh-CN" altLang="en-US" dirty="0">
                <a:solidFill>
                  <a:srgbClr val="000000"/>
                </a:solidFill>
                <a:latin typeface="CourierNewPSMT"/>
              </a:rPr>
              <a:t>）负数 * 正数 </a:t>
            </a:r>
            <a:r>
              <a:rPr lang="en-US" altLang="zh-CN" dirty="0">
                <a:solidFill>
                  <a:srgbClr val="000000"/>
                </a:solidFill>
                <a:latin typeface="CourierNewPSMT"/>
              </a:rPr>
              <a:t>= </a:t>
            </a:r>
            <a:r>
              <a:rPr lang="zh-CN" altLang="en-US" dirty="0">
                <a:solidFill>
                  <a:srgbClr val="000000"/>
                </a:solidFill>
                <a:latin typeface="CourierNewPSMT"/>
              </a:rPr>
              <a:t>负数</a:t>
            </a:r>
            <a:endParaRPr lang="en-US" altLang="zh-CN" dirty="0">
              <a:solidFill>
                <a:srgbClr val="000000"/>
              </a:solidFill>
              <a:latin typeface="CourierNewPSMT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1B4FA76-2F17-4E4C-B9DD-41A7CD9C7FA9}"/>
              </a:ext>
            </a:extLst>
          </p:cNvPr>
          <p:cNvSpPr/>
          <p:nvPr/>
        </p:nvSpPr>
        <p:spPr>
          <a:xfrm>
            <a:off x="271522" y="3405194"/>
            <a:ext cx="395706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  <a:latin typeface="CourierNewPSMT"/>
              </a:rPr>
              <a:t>3</a:t>
            </a:r>
            <a:r>
              <a:rPr lang="zh-CN" altLang="en-US" dirty="0">
                <a:solidFill>
                  <a:srgbClr val="000000"/>
                </a:solidFill>
                <a:latin typeface="CourierNewPSMT"/>
              </a:rPr>
              <a:t>）正数 * 负数 </a:t>
            </a:r>
            <a:r>
              <a:rPr lang="en-US" altLang="zh-CN" dirty="0">
                <a:solidFill>
                  <a:srgbClr val="000000"/>
                </a:solidFill>
                <a:latin typeface="CourierNewPSMT"/>
              </a:rPr>
              <a:t>= </a:t>
            </a:r>
            <a:r>
              <a:rPr lang="zh-CN" altLang="en-US" dirty="0">
                <a:solidFill>
                  <a:srgbClr val="000000"/>
                </a:solidFill>
                <a:latin typeface="CourierNewPSMT"/>
              </a:rPr>
              <a:t>负数</a:t>
            </a:r>
            <a:endParaRPr lang="en-US" altLang="zh-CN" dirty="0">
              <a:solidFill>
                <a:srgbClr val="000000"/>
              </a:solidFill>
              <a:latin typeface="CourierNewPSMT"/>
            </a:endParaRPr>
          </a:p>
          <a:p>
            <a:r>
              <a:rPr lang="zh-CN" altLang="en-US" dirty="0">
                <a:solidFill>
                  <a:srgbClr val="000000"/>
                </a:solidFill>
                <a:latin typeface="CourierNewPSMT"/>
              </a:rPr>
              <a:t>对负数转为</a:t>
            </a:r>
            <a:r>
              <a:rPr lang="en-US" altLang="zh-CN" dirty="0">
                <a:solidFill>
                  <a:srgbClr val="000000"/>
                </a:solidFill>
                <a:latin typeface="CourierNewPSMT"/>
              </a:rPr>
              <a:t>2</a:t>
            </a:r>
            <a:r>
              <a:rPr lang="zh-CN" altLang="en-US" dirty="0">
                <a:solidFill>
                  <a:srgbClr val="000000"/>
                </a:solidFill>
                <a:latin typeface="CourierNewPSMT"/>
              </a:rPr>
              <a:t>进制补码进行乘法计算，最后结果再进行补码转换</a:t>
            </a:r>
            <a:endParaRPr lang="en-US" altLang="zh-CN" dirty="0">
              <a:solidFill>
                <a:srgbClr val="000000"/>
              </a:solidFill>
              <a:latin typeface="CourierNewPSMT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021693F-881E-460B-805A-18E25E826CDA}"/>
              </a:ext>
            </a:extLst>
          </p:cNvPr>
          <p:cNvSpPr/>
          <p:nvPr/>
        </p:nvSpPr>
        <p:spPr>
          <a:xfrm>
            <a:off x="4998176" y="3387185"/>
            <a:ext cx="375278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  <a:latin typeface="CourierNewPSMT"/>
              </a:rPr>
              <a:t>4</a:t>
            </a:r>
            <a:r>
              <a:rPr lang="zh-CN" altLang="en-US" dirty="0">
                <a:solidFill>
                  <a:srgbClr val="000000"/>
                </a:solidFill>
                <a:latin typeface="CourierNewPSMT"/>
              </a:rPr>
              <a:t>）负数 * 负数 </a:t>
            </a:r>
            <a:r>
              <a:rPr lang="en-US" altLang="zh-CN" dirty="0">
                <a:solidFill>
                  <a:srgbClr val="000000"/>
                </a:solidFill>
                <a:latin typeface="CourierNewPSMT"/>
              </a:rPr>
              <a:t>=</a:t>
            </a:r>
            <a:r>
              <a:rPr lang="zh-CN" altLang="en-US" dirty="0">
                <a:solidFill>
                  <a:srgbClr val="000000"/>
                </a:solidFill>
                <a:latin typeface="CourierNewPSMT"/>
              </a:rPr>
              <a:t>正数</a:t>
            </a:r>
            <a:endParaRPr lang="en-US" altLang="zh-CN" dirty="0">
              <a:solidFill>
                <a:srgbClr val="000000"/>
              </a:solidFill>
              <a:latin typeface="CourierNewPSMT"/>
            </a:endParaRPr>
          </a:p>
          <a:p>
            <a:r>
              <a:rPr lang="zh-CN" altLang="en-US" dirty="0">
                <a:solidFill>
                  <a:srgbClr val="000000"/>
                </a:solidFill>
                <a:latin typeface="CourierNewPSMT"/>
              </a:rPr>
              <a:t>对两个负数均转为补码进行运算，结果无需再转换</a:t>
            </a:r>
            <a:endParaRPr lang="en-US" altLang="zh-CN" dirty="0">
              <a:solidFill>
                <a:srgbClr val="000000"/>
              </a:solidFill>
              <a:latin typeface="CourierNewPSMT"/>
            </a:endParaRPr>
          </a:p>
          <a:p>
            <a:r>
              <a:rPr lang="zh-CN" altLang="en-US" dirty="0">
                <a:solidFill>
                  <a:srgbClr val="000000"/>
                </a:solidFill>
                <a:latin typeface="CourierNewPSMT"/>
              </a:rPr>
              <a:t>例</a:t>
            </a:r>
            <a:r>
              <a:rPr lang="en-US" altLang="zh-CN" dirty="0">
                <a:solidFill>
                  <a:srgbClr val="000000"/>
                </a:solidFill>
                <a:latin typeface="CourierNewPSMT"/>
                <a:sym typeface="Wingdings" panose="05000000000000000000" pitchFamily="2" charset="2"/>
              </a:rPr>
              <a:t>:(-5) * (-5)</a:t>
            </a:r>
            <a:endParaRPr lang="en-US" altLang="zh-CN" dirty="0">
              <a:solidFill>
                <a:srgbClr val="000000"/>
              </a:solidFill>
              <a:latin typeface="CourierNewPSMT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9D73042D-9E24-4B21-9B41-5DE13321C2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893" y="4432269"/>
            <a:ext cx="4105275" cy="201930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DD397FFE-C2DF-424B-A6C7-91E57F49E7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4085" y="4803744"/>
            <a:ext cx="4133850" cy="164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9379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26ABC7-490B-492F-8DA7-2329FFF07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25747"/>
            <a:ext cx="8229600" cy="706090"/>
          </a:xfrm>
        </p:spPr>
        <p:txBody>
          <a:bodyPr/>
          <a:lstStyle/>
          <a:p>
            <a:r>
              <a:rPr lang="en-US" altLang="zh-CN" dirty="0"/>
              <a:t>ALU</a:t>
            </a:r>
            <a:r>
              <a:rPr lang="zh-CN" altLang="en-US" dirty="0"/>
              <a:t>之乘法器</a:t>
            </a:r>
            <a:r>
              <a:rPr lang="en-US" altLang="zh-CN" dirty="0"/>
              <a:t>(</a:t>
            </a:r>
            <a:r>
              <a:rPr lang="en-US" altLang="zh-CN" dirty="0" err="1"/>
              <a:t>cont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165908-7FFB-428C-9721-1143F8C254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2670872"/>
            <a:ext cx="5184576" cy="3600399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000" dirty="0"/>
              <a:t>利用</a:t>
            </a:r>
            <a:r>
              <a:rPr lang="en-US" altLang="zh-CN" sz="2000" dirty="0"/>
              <a:t>Verilog</a:t>
            </a:r>
            <a:r>
              <a:rPr lang="zh-CN" altLang="en-US" sz="2000" dirty="0"/>
              <a:t>乘法运算符直接计算</a:t>
            </a:r>
            <a:endParaRPr lang="en-US" altLang="zh-CN" sz="2000" dirty="0"/>
          </a:p>
          <a:p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>
                <a:solidFill>
                  <a:srgbClr val="00B050"/>
                </a:solidFill>
              </a:rPr>
              <a:t>//dataflow for 4-bit multiplier</a:t>
            </a:r>
            <a:br>
              <a:rPr lang="en-US" altLang="zh-CN" sz="2000" dirty="0"/>
            </a:br>
            <a:r>
              <a:rPr lang="en-US" altLang="zh-CN" sz="2000" b="1" dirty="0">
                <a:solidFill>
                  <a:srgbClr val="FF9900"/>
                </a:solidFill>
              </a:rPr>
              <a:t>module</a:t>
            </a:r>
            <a:r>
              <a:rPr lang="en-US" altLang="zh-CN" sz="2000" b="1" dirty="0"/>
              <a:t> </a:t>
            </a:r>
            <a:r>
              <a:rPr lang="en-US" altLang="zh-CN" sz="2000" dirty="0"/>
              <a:t>mul_4bits_assign (</a:t>
            </a:r>
            <a:r>
              <a:rPr lang="en-US" altLang="zh-CN" sz="2000" dirty="0" err="1"/>
              <a:t>mpcnd</a:t>
            </a:r>
            <a:r>
              <a:rPr lang="en-US" altLang="zh-CN" sz="2000" dirty="0"/>
              <a:t>, </a:t>
            </a:r>
            <a:r>
              <a:rPr lang="en-US" altLang="zh-CN" sz="2000" dirty="0" err="1"/>
              <a:t>mplyr</a:t>
            </a:r>
            <a:r>
              <a:rPr lang="en-US" altLang="zh-CN" sz="2000" dirty="0"/>
              <a:t>, prod);</a:t>
            </a:r>
            <a:br>
              <a:rPr lang="en-US" altLang="zh-CN" sz="2000" dirty="0"/>
            </a:br>
            <a:r>
              <a:rPr lang="en-US" altLang="zh-CN" sz="2000" dirty="0">
                <a:solidFill>
                  <a:srgbClr val="00B050"/>
                </a:solidFill>
              </a:rPr>
              <a:t>//define inputs and outputs</a:t>
            </a:r>
            <a:br>
              <a:rPr lang="en-US" altLang="zh-CN" sz="2000" dirty="0"/>
            </a:br>
            <a:r>
              <a:rPr lang="en-US" altLang="zh-CN" sz="2000" b="1" dirty="0"/>
              <a:t>input </a:t>
            </a:r>
            <a:r>
              <a:rPr lang="en-US" altLang="zh-CN" sz="2000" dirty="0"/>
              <a:t>[3:0] </a:t>
            </a:r>
            <a:r>
              <a:rPr lang="en-US" altLang="zh-CN" sz="2000" dirty="0" err="1"/>
              <a:t>mpcnd</a:t>
            </a:r>
            <a:r>
              <a:rPr lang="en-US" altLang="zh-CN" sz="2000" dirty="0"/>
              <a:t>, </a:t>
            </a:r>
            <a:r>
              <a:rPr lang="en-US" altLang="zh-CN" sz="2000" dirty="0" err="1"/>
              <a:t>mplyr</a:t>
            </a:r>
            <a:r>
              <a:rPr lang="en-US" altLang="zh-CN" sz="2000" dirty="0"/>
              <a:t>;</a:t>
            </a:r>
            <a:br>
              <a:rPr lang="en-US" altLang="zh-CN" sz="2000" dirty="0"/>
            </a:br>
            <a:r>
              <a:rPr lang="en-US" altLang="zh-CN" sz="2000" b="1" dirty="0"/>
              <a:t>output </a:t>
            </a:r>
            <a:r>
              <a:rPr lang="en-US" altLang="zh-CN" sz="2000" dirty="0"/>
              <a:t>[7:0] prod;</a:t>
            </a:r>
            <a:br>
              <a:rPr lang="en-US" altLang="zh-CN" sz="2000" dirty="0"/>
            </a:br>
            <a:r>
              <a:rPr lang="en-US" altLang="zh-CN" sz="2000" dirty="0">
                <a:solidFill>
                  <a:srgbClr val="00B050"/>
                </a:solidFill>
              </a:rPr>
              <a:t>//calculate the product</a:t>
            </a:r>
            <a:br>
              <a:rPr lang="en-US" altLang="zh-CN" sz="2000" dirty="0"/>
            </a:br>
            <a:r>
              <a:rPr lang="en-US" altLang="zh-CN" sz="2000" b="1" dirty="0">
                <a:solidFill>
                  <a:srgbClr val="0070C0"/>
                </a:solidFill>
              </a:rPr>
              <a:t>assign </a:t>
            </a:r>
            <a:r>
              <a:rPr lang="en-US" altLang="zh-CN" sz="2000" dirty="0">
                <a:solidFill>
                  <a:srgbClr val="0070C0"/>
                </a:solidFill>
              </a:rPr>
              <a:t>prod = </a:t>
            </a:r>
            <a:r>
              <a:rPr lang="en-US" altLang="zh-CN" sz="2000" dirty="0" err="1">
                <a:solidFill>
                  <a:srgbClr val="0070C0"/>
                </a:solidFill>
              </a:rPr>
              <a:t>mpcnd</a:t>
            </a:r>
            <a:r>
              <a:rPr lang="en-US" altLang="zh-CN" sz="2000" dirty="0">
                <a:solidFill>
                  <a:srgbClr val="0070C0"/>
                </a:solidFill>
              </a:rPr>
              <a:t> * </a:t>
            </a:r>
            <a:r>
              <a:rPr lang="en-US" altLang="zh-CN" sz="2000" dirty="0" err="1">
                <a:solidFill>
                  <a:srgbClr val="0070C0"/>
                </a:solidFill>
              </a:rPr>
              <a:t>mplyr</a:t>
            </a:r>
            <a:r>
              <a:rPr lang="en-US" altLang="zh-CN" sz="2000" dirty="0">
                <a:solidFill>
                  <a:srgbClr val="0070C0"/>
                </a:solidFill>
              </a:rPr>
              <a:t>;</a:t>
            </a:r>
            <a:br>
              <a:rPr lang="en-US" altLang="zh-CN" sz="2000" dirty="0"/>
            </a:br>
            <a:r>
              <a:rPr lang="en-US" altLang="zh-CN" sz="2000" b="1" dirty="0" err="1">
                <a:solidFill>
                  <a:srgbClr val="FF9900"/>
                </a:solidFill>
              </a:rPr>
              <a:t>endmodule</a:t>
            </a:r>
            <a:r>
              <a:rPr lang="en-US" altLang="zh-CN" sz="2000" dirty="0"/>
              <a:t> </a:t>
            </a:r>
            <a:br>
              <a:rPr lang="en-US" altLang="zh-CN" sz="2000" dirty="0"/>
            </a:br>
            <a:endParaRPr lang="zh-CN" altLang="en-US" sz="20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AE83CD2-2EB6-43BC-9E84-29BB7D2DE5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8024" y="980728"/>
            <a:ext cx="39243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2920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41DD988-E75B-40B6-82DB-AB0D270C33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6" y="1476848"/>
            <a:ext cx="5429250" cy="5267325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D83181B0-233E-481C-A519-A973EC989BBF}"/>
              </a:ext>
            </a:extLst>
          </p:cNvPr>
          <p:cNvSpPr/>
          <p:nvPr/>
        </p:nvSpPr>
        <p:spPr>
          <a:xfrm>
            <a:off x="459174" y="709823"/>
            <a:ext cx="735318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000000"/>
                </a:solidFill>
                <a:latin typeface="CourierNewPSMT"/>
              </a:rPr>
              <a:t>定点除法：</a:t>
            </a:r>
            <a:r>
              <a:rPr lang="en-US" altLang="zh-CN" sz="2400" dirty="0">
                <a:solidFill>
                  <a:srgbClr val="000000"/>
                </a:solidFill>
                <a:latin typeface="CourierNewPSMT"/>
              </a:rPr>
              <a:t>Dividend / Divisor = Quotient </a:t>
            </a:r>
          </a:p>
          <a:p>
            <a:r>
              <a:rPr lang="zh-CN" altLang="en-US" sz="2400" dirty="0">
                <a:solidFill>
                  <a:srgbClr val="000000"/>
                </a:solidFill>
                <a:latin typeface="CourierNewPSMT"/>
              </a:rPr>
              <a:t>例：</a:t>
            </a:r>
            <a:r>
              <a:rPr lang="en-US" altLang="zh-CN" sz="2400" dirty="0">
                <a:solidFill>
                  <a:srgbClr val="000000"/>
                </a:solidFill>
                <a:latin typeface="CourierNewPSMT"/>
              </a:rPr>
              <a:t>restoring division algorithm</a:t>
            </a:r>
            <a:endParaRPr lang="zh-CN" altLang="en-US" sz="2400" dirty="0"/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DC02A585-2298-4CCC-ACE5-270BEB194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174" y="89191"/>
            <a:ext cx="8003232" cy="576064"/>
          </a:xfrm>
        </p:spPr>
        <p:txBody>
          <a:bodyPr/>
          <a:lstStyle/>
          <a:p>
            <a:r>
              <a:rPr lang="en-US" altLang="zh-CN" sz="3200" dirty="0"/>
              <a:t>ALU</a:t>
            </a:r>
            <a:r>
              <a:rPr lang="zh-CN" altLang="en-US" sz="3200" dirty="0"/>
              <a:t>之除法器</a:t>
            </a:r>
          </a:p>
        </p:txBody>
      </p:sp>
    </p:spTree>
    <p:extLst>
      <p:ext uri="{BB962C8B-B14F-4D97-AF65-F5344CB8AC3E}">
        <p14:creationId xmlns:p14="http://schemas.microsoft.com/office/powerpoint/2010/main" val="37510357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83181B0-233E-481C-A519-A973EC989BBF}"/>
              </a:ext>
            </a:extLst>
          </p:cNvPr>
          <p:cNvSpPr/>
          <p:nvPr/>
        </p:nvSpPr>
        <p:spPr>
          <a:xfrm>
            <a:off x="112207" y="1124744"/>
            <a:ext cx="4069433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/>
              <a:t>//mixed-design for restoring division</a:t>
            </a:r>
            <a:br>
              <a:rPr lang="en-US" altLang="zh-CN" sz="1600" dirty="0"/>
            </a:br>
            <a:r>
              <a:rPr lang="en-US" altLang="zh-CN" sz="1600" b="1" dirty="0"/>
              <a:t>module </a:t>
            </a:r>
            <a:r>
              <a:rPr lang="en-US" altLang="zh-CN" sz="1600" dirty="0" err="1"/>
              <a:t>div_restoring</a:t>
            </a:r>
            <a:r>
              <a:rPr lang="en-US" altLang="zh-CN" sz="1600" dirty="0"/>
              <a:t> (</a:t>
            </a:r>
          </a:p>
          <a:p>
            <a:r>
              <a:rPr lang="en-US" altLang="zh-CN" sz="1600" b="1" dirty="0"/>
              <a:t>input </a:t>
            </a:r>
            <a:r>
              <a:rPr lang="en-US" altLang="zh-CN" sz="1600" dirty="0"/>
              <a:t>[7:0] a</a:t>
            </a:r>
            <a:r>
              <a:rPr lang="zh-CN" altLang="en-US" sz="1600" dirty="0"/>
              <a:t>，</a:t>
            </a:r>
            <a:br>
              <a:rPr lang="en-US" altLang="zh-CN" sz="1600" dirty="0"/>
            </a:br>
            <a:r>
              <a:rPr lang="en-US" altLang="zh-CN" sz="1600" b="1" dirty="0"/>
              <a:t>input </a:t>
            </a:r>
            <a:r>
              <a:rPr lang="en-US" altLang="zh-CN" sz="1600" dirty="0"/>
              <a:t>[3:0] b</a:t>
            </a:r>
            <a:r>
              <a:rPr lang="zh-CN" altLang="en-US" sz="1600" dirty="0"/>
              <a:t>，</a:t>
            </a:r>
            <a:br>
              <a:rPr lang="en-US" altLang="zh-CN" sz="1600" dirty="0"/>
            </a:br>
            <a:r>
              <a:rPr lang="en-US" altLang="zh-CN" sz="1600" b="1" dirty="0"/>
              <a:t>input </a:t>
            </a:r>
            <a:r>
              <a:rPr lang="en-US" altLang="zh-CN" sz="1600" dirty="0"/>
              <a:t>start</a:t>
            </a:r>
            <a:r>
              <a:rPr lang="zh-CN" altLang="en-US" sz="1600" dirty="0"/>
              <a:t>，</a:t>
            </a:r>
            <a:br>
              <a:rPr lang="en-US" altLang="zh-CN" sz="1600" dirty="0"/>
            </a:br>
            <a:r>
              <a:rPr lang="en-US" altLang="zh-CN" sz="1600" b="1" dirty="0"/>
              <a:t>output </a:t>
            </a:r>
            <a:r>
              <a:rPr lang="en-US" altLang="zh-CN" sz="1600" dirty="0"/>
              <a:t>[7:0] </a:t>
            </a:r>
            <a:r>
              <a:rPr lang="en-US" altLang="zh-CN" sz="1600" dirty="0" err="1"/>
              <a:t>rslt</a:t>
            </a:r>
            <a:r>
              <a:rPr lang="zh-CN" altLang="en-US" sz="1600" dirty="0"/>
              <a:t>，</a:t>
            </a:r>
            <a:br>
              <a:rPr lang="en-US" altLang="zh-CN" sz="1600" dirty="0"/>
            </a:br>
            <a:r>
              <a:rPr lang="en-US" altLang="zh-CN" sz="1600" dirty="0"/>
              <a:t>); </a:t>
            </a:r>
          </a:p>
          <a:p>
            <a:r>
              <a:rPr lang="en-US" altLang="zh-CN" sz="1600" dirty="0"/>
              <a:t>//define internal net</a:t>
            </a:r>
            <a:br>
              <a:rPr lang="en-US" altLang="zh-CN" sz="1600" dirty="0"/>
            </a:br>
            <a:r>
              <a:rPr lang="en-US" altLang="zh-CN" sz="1600" b="1" dirty="0"/>
              <a:t>wire </a:t>
            </a:r>
            <a:r>
              <a:rPr lang="en-US" altLang="zh-CN" sz="1600" dirty="0"/>
              <a:t>[3:0] </a:t>
            </a:r>
            <a:r>
              <a:rPr lang="en-US" altLang="zh-CN" sz="1600" dirty="0" err="1"/>
              <a:t>b_neg</a:t>
            </a:r>
            <a:r>
              <a:rPr lang="en-US" altLang="zh-CN" sz="1600" dirty="0"/>
              <a:t>;</a:t>
            </a:r>
            <a:br>
              <a:rPr lang="en-US" altLang="zh-CN" sz="1600" dirty="0"/>
            </a:br>
            <a:r>
              <a:rPr lang="en-US" altLang="zh-CN" sz="1600" dirty="0"/>
              <a:t>//define internal registers</a:t>
            </a:r>
            <a:br>
              <a:rPr lang="en-US" altLang="zh-CN" sz="1600" dirty="0"/>
            </a:br>
            <a:r>
              <a:rPr lang="en-US" altLang="zh-CN" sz="1600" b="1" dirty="0"/>
              <a:t>reg </a:t>
            </a:r>
            <a:r>
              <a:rPr lang="en-US" altLang="zh-CN" sz="1600" dirty="0"/>
              <a:t>[7:0] </a:t>
            </a:r>
            <a:r>
              <a:rPr lang="en-US" altLang="zh-CN" sz="1600" dirty="0" err="1"/>
              <a:t>rslt</a:t>
            </a:r>
            <a:r>
              <a:rPr lang="en-US" altLang="zh-CN" sz="1600" dirty="0"/>
              <a:t>;</a:t>
            </a:r>
            <a:br>
              <a:rPr lang="en-US" altLang="zh-CN" sz="1600" dirty="0"/>
            </a:br>
            <a:r>
              <a:rPr lang="en-US" altLang="zh-CN" sz="1600" b="1" dirty="0"/>
              <a:t>reg </a:t>
            </a:r>
            <a:r>
              <a:rPr lang="en-US" altLang="zh-CN" sz="1600" dirty="0"/>
              <a:t>[3:0] count;</a:t>
            </a:r>
            <a:br>
              <a:rPr lang="en-US" altLang="zh-CN" sz="1600" dirty="0"/>
            </a:br>
            <a:r>
              <a:rPr lang="en-US" altLang="zh-CN" sz="1600" b="1" dirty="0"/>
              <a:t>assign </a:t>
            </a:r>
            <a:r>
              <a:rPr lang="en-US" altLang="zh-CN" sz="1600" dirty="0" err="1"/>
              <a:t>b_neg</a:t>
            </a:r>
            <a:r>
              <a:rPr lang="en-US" altLang="zh-CN" sz="1600" dirty="0"/>
              <a:t> = ~b + 1;</a:t>
            </a:r>
            <a:br>
              <a:rPr lang="en-US" altLang="zh-CN" sz="1600" dirty="0"/>
            </a:br>
            <a:r>
              <a:rPr lang="en-US" altLang="zh-CN" sz="1600" dirty="0"/>
              <a:t>//continue on the right side</a:t>
            </a:r>
            <a:endParaRPr lang="zh-CN" altLang="en-US" sz="1600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20FEF6A-73A8-47BB-980E-14DB8EF8073E}"/>
              </a:ext>
            </a:extLst>
          </p:cNvPr>
          <p:cNvSpPr/>
          <p:nvPr/>
        </p:nvSpPr>
        <p:spPr>
          <a:xfrm>
            <a:off x="4211960" y="1124744"/>
            <a:ext cx="4789513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0000"/>
                </a:solidFill>
                <a:latin typeface="CourierNewPSMT"/>
              </a:rPr>
              <a:t>//execute the behavioral statements </a:t>
            </a:r>
            <a:r>
              <a:rPr lang="en-US" altLang="zh-CN" sz="1600" b="1" dirty="0">
                <a:solidFill>
                  <a:srgbClr val="000000"/>
                </a:solidFill>
                <a:latin typeface="CourierNewPS-BoldMT"/>
              </a:rPr>
              <a:t>always </a:t>
            </a:r>
            <a:r>
              <a:rPr lang="en-US" altLang="zh-CN" sz="1600" dirty="0">
                <a:solidFill>
                  <a:srgbClr val="000000"/>
                </a:solidFill>
                <a:latin typeface="CourierNewPSMT"/>
              </a:rPr>
              <a:t>@ (</a:t>
            </a:r>
            <a:r>
              <a:rPr lang="en-US" altLang="zh-CN" sz="1600" b="1" dirty="0" err="1">
                <a:solidFill>
                  <a:srgbClr val="000000"/>
                </a:solidFill>
                <a:latin typeface="CourierNewPS-BoldMT"/>
              </a:rPr>
              <a:t>posedge</a:t>
            </a:r>
            <a:r>
              <a:rPr lang="en-US" altLang="zh-CN" sz="1600" b="1" dirty="0">
                <a:solidFill>
                  <a:srgbClr val="000000"/>
                </a:solidFill>
                <a:latin typeface="CourierNewPS-BoldMT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urierNewPSMT"/>
              </a:rPr>
              <a:t>start) </a:t>
            </a:r>
            <a:r>
              <a:rPr lang="en-US" altLang="zh-CN" sz="1600" b="1" dirty="0">
                <a:solidFill>
                  <a:srgbClr val="000000"/>
                </a:solidFill>
                <a:latin typeface="CourierNewPS-BoldMT"/>
              </a:rPr>
              <a:t>begin</a:t>
            </a:r>
            <a:br>
              <a:rPr lang="en-US" altLang="zh-CN" sz="1600" b="1" dirty="0">
                <a:solidFill>
                  <a:srgbClr val="000000"/>
                </a:solidFill>
                <a:latin typeface="CourierNewPS-BoldMT"/>
              </a:rPr>
            </a:br>
            <a:r>
              <a:rPr lang="en-US" altLang="zh-CN" sz="1600" b="1" dirty="0">
                <a:solidFill>
                  <a:srgbClr val="000000"/>
                </a:solidFill>
                <a:latin typeface="CourierNewPS-BoldMT"/>
              </a:rPr>
              <a:t>  </a:t>
            </a:r>
            <a:r>
              <a:rPr lang="en-US" altLang="zh-CN" sz="1600" dirty="0" err="1">
                <a:solidFill>
                  <a:srgbClr val="000000"/>
                </a:solidFill>
                <a:latin typeface="CourierNewPSMT"/>
              </a:rPr>
              <a:t>rslt</a:t>
            </a:r>
            <a:r>
              <a:rPr lang="en-US" altLang="zh-CN" sz="1600" dirty="0">
                <a:solidFill>
                  <a:srgbClr val="000000"/>
                </a:solidFill>
                <a:latin typeface="CourierNewPSMT"/>
              </a:rPr>
              <a:t> = a;</a:t>
            </a:r>
            <a:br>
              <a:rPr lang="en-US" altLang="zh-CN" sz="1600" dirty="0">
                <a:solidFill>
                  <a:srgbClr val="000000"/>
                </a:solidFill>
                <a:latin typeface="CourierNewPSMT"/>
              </a:rPr>
            </a:br>
            <a:r>
              <a:rPr lang="en-US" altLang="zh-CN" sz="1600" dirty="0">
                <a:solidFill>
                  <a:srgbClr val="000000"/>
                </a:solidFill>
                <a:latin typeface="CourierNewPSMT"/>
              </a:rPr>
              <a:t>  count = 4'b0100;</a:t>
            </a:r>
            <a:br>
              <a:rPr lang="en-US" altLang="zh-CN" sz="1600" dirty="0">
                <a:solidFill>
                  <a:srgbClr val="000000"/>
                </a:solidFill>
                <a:latin typeface="CourierNewPSMT"/>
              </a:rPr>
            </a:br>
            <a:r>
              <a:rPr lang="en-US" altLang="zh-CN" sz="1600" dirty="0">
                <a:solidFill>
                  <a:srgbClr val="000000"/>
                </a:solidFill>
                <a:latin typeface="CourierNewPSMT"/>
              </a:rPr>
              <a:t>  </a:t>
            </a:r>
            <a:r>
              <a:rPr lang="en-US" altLang="zh-CN" sz="1600" b="1" dirty="0">
                <a:solidFill>
                  <a:srgbClr val="000000"/>
                </a:solidFill>
                <a:latin typeface="CourierNewPS-BoldMT"/>
              </a:rPr>
              <a:t>if </a:t>
            </a:r>
            <a:r>
              <a:rPr lang="en-US" altLang="zh-CN" sz="1600" dirty="0">
                <a:solidFill>
                  <a:srgbClr val="000000"/>
                </a:solidFill>
                <a:latin typeface="CourierNewPSMT"/>
              </a:rPr>
              <a:t>((a!=0) &amp;&amp; (b!=0))</a:t>
            </a:r>
            <a:br>
              <a:rPr lang="en-US" altLang="zh-CN" sz="1600" dirty="0">
                <a:solidFill>
                  <a:srgbClr val="000000"/>
                </a:solidFill>
                <a:latin typeface="CourierNewPSMT"/>
              </a:rPr>
            </a:br>
            <a:r>
              <a:rPr lang="en-US" altLang="zh-CN" sz="1600" dirty="0">
                <a:solidFill>
                  <a:srgbClr val="000000"/>
                </a:solidFill>
                <a:latin typeface="CourierNewPSMT"/>
              </a:rPr>
              <a:t>    </a:t>
            </a:r>
            <a:r>
              <a:rPr lang="en-US" altLang="zh-CN" sz="1600" b="1" dirty="0">
                <a:solidFill>
                  <a:srgbClr val="000000"/>
                </a:solidFill>
                <a:latin typeface="CourierNewPS-BoldMT"/>
              </a:rPr>
              <a:t>while </a:t>
            </a:r>
            <a:r>
              <a:rPr lang="en-US" altLang="zh-CN" sz="1600" dirty="0">
                <a:solidFill>
                  <a:srgbClr val="000000"/>
                </a:solidFill>
                <a:latin typeface="CourierNewPSMT"/>
              </a:rPr>
              <a:t>(count) </a:t>
            </a:r>
            <a:r>
              <a:rPr lang="en-US" altLang="zh-CN" sz="1600" b="1" dirty="0">
                <a:solidFill>
                  <a:srgbClr val="000000"/>
                </a:solidFill>
                <a:latin typeface="CourierNewPS-BoldMT"/>
              </a:rPr>
              <a:t>begin</a:t>
            </a:r>
            <a:br>
              <a:rPr lang="en-US" altLang="zh-CN" sz="1600" b="1" dirty="0">
                <a:solidFill>
                  <a:srgbClr val="000000"/>
                </a:solidFill>
                <a:latin typeface="CourierNewPS-BoldMT"/>
              </a:rPr>
            </a:br>
            <a:r>
              <a:rPr lang="en-US" altLang="zh-CN" sz="1600" b="1" dirty="0">
                <a:solidFill>
                  <a:srgbClr val="000000"/>
                </a:solidFill>
                <a:latin typeface="CourierNewPS-BoldMT"/>
              </a:rPr>
              <a:t>      </a:t>
            </a:r>
            <a:r>
              <a:rPr lang="en-US" altLang="zh-CN" sz="1600" dirty="0" err="1">
                <a:solidFill>
                  <a:srgbClr val="000000"/>
                </a:solidFill>
                <a:latin typeface="CourierNewPSMT"/>
              </a:rPr>
              <a:t>rslt</a:t>
            </a:r>
            <a:r>
              <a:rPr lang="en-US" altLang="zh-CN" sz="1600" dirty="0">
                <a:solidFill>
                  <a:srgbClr val="000000"/>
                </a:solidFill>
                <a:latin typeface="CourierNewPSMT"/>
              </a:rPr>
              <a:t> = </a:t>
            </a:r>
            <a:r>
              <a:rPr lang="en-US" altLang="zh-CN" sz="1600" dirty="0" err="1">
                <a:solidFill>
                  <a:srgbClr val="000000"/>
                </a:solidFill>
                <a:latin typeface="CourierNewPSMT"/>
              </a:rPr>
              <a:t>rslt</a:t>
            </a:r>
            <a:r>
              <a:rPr lang="en-US" altLang="zh-CN" sz="1600" dirty="0">
                <a:solidFill>
                  <a:srgbClr val="000000"/>
                </a:solidFill>
                <a:latin typeface="CourierNewPSMT"/>
              </a:rPr>
              <a:t> &lt;&lt; 1;</a:t>
            </a:r>
            <a:br>
              <a:rPr lang="en-US" altLang="zh-CN" sz="1600" dirty="0">
                <a:solidFill>
                  <a:srgbClr val="000000"/>
                </a:solidFill>
                <a:latin typeface="CourierNewPSMT"/>
              </a:rPr>
            </a:br>
            <a:r>
              <a:rPr lang="en-US" altLang="zh-CN" sz="1600" dirty="0">
                <a:solidFill>
                  <a:srgbClr val="000000"/>
                </a:solidFill>
                <a:latin typeface="CourierNewPSMT"/>
              </a:rPr>
              <a:t>      </a:t>
            </a:r>
            <a:r>
              <a:rPr lang="en-US" altLang="zh-CN" sz="1600" dirty="0" err="1">
                <a:solidFill>
                  <a:srgbClr val="000000"/>
                </a:solidFill>
                <a:latin typeface="CourierNewPSMT"/>
              </a:rPr>
              <a:t>rslt</a:t>
            </a:r>
            <a:r>
              <a:rPr lang="en-US" altLang="zh-CN" sz="1600" dirty="0">
                <a:solidFill>
                  <a:srgbClr val="000000"/>
                </a:solidFill>
                <a:latin typeface="CourierNewPSMT"/>
              </a:rPr>
              <a:t> = {(</a:t>
            </a:r>
            <a:r>
              <a:rPr lang="en-US" altLang="zh-CN" sz="1600" dirty="0" err="1">
                <a:solidFill>
                  <a:srgbClr val="000000"/>
                </a:solidFill>
                <a:latin typeface="CourierNewPSMT"/>
              </a:rPr>
              <a:t>rslt</a:t>
            </a:r>
            <a:r>
              <a:rPr lang="en-US" altLang="zh-CN" sz="1600" dirty="0">
                <a:solidFill>
                  <a:srgbClr val="000000"/>
                </a:solidFill>
                <a:latin typeface="CourierNewPSMT"/>
              </a:rPr>
              <a:t>[7:4] + </a:t>
            </a:r>
            <a:r>
              <a:rPr lang="en-US" altLang="zh-CN" sz="1600" dirty="0" err="1">
                <a:solidFill>
                  <a:srgbClr val="000000"/>
                </a:solidFill>
                <a:latin typeface="CourierNewPSMT"/>
              </a:rPr>
              <a:t>b_neg</a:t>
            </a:r>
            <a:r>
              <a:rPr lang="en-US" altLang="zh-CN" sz="1600" dirty="0">
                <a:solidFill>
                  <a:srgbClr val="000000"/>
                </a:solidFill>
                <a:latin typeface="CourierNewPSMT"/>
              </a:rPr>
              <a:t>),     </a:t>
            </a:r>
            <a:r>
              <a:rPr lang="en-US" altLang="zh-CN" sz="1600" dirty="0" err="1">
                <a:solidFill>
                  <a:srgbClr val="000000"/>
                </a:solidFill>
                <a:latin typeface="CourierNewPSMT"/>
              </a:rPr>
              <a:t>rslt</a:t>
            </a:r>
            <a:r>
              <a:rPr lang="en-US" altLang="zh-CN" sz="1600" dirty="0">
                <a:solidFill>
                  <a:srgbClr val="000000"/>
                </a:solidFill>
                <a:latin typeface="CourierNewPSMT"/>
              </a:rPr>
              <a:t>[3:0]};</a:t>
            </a:r>
            <a:br>
              <a:rPr lang="en-US" altLang="zh-CN" sz="1600" dirty="0">
                <a:solidFill>
                  <a:srgbClr val="000000"/>
                </a:solidFill>
                <a:latin typeface="CourierNewPSMT"/>
              </a:rPr>
            </a:br>
            <a:r>
              <a:rPr lang="en-US" altLang="zh-CN" sz="1600" dirty="0">
                <a:solidFill>
                  <a:srgbClr val="000000"/>
                </a:solidFill>
                <a:latin typeface="CourierNewPSMT"/>
              </a:rPr>
              <a:t>      </a:t>
            </a:r>
            <a:r>
              <a:rPr lang="en-US" altLang="zh-CN" sz="1600" b="1" dirty="0">
                <a:solidFill>
                  <a:srgbClr val="000000"/>
                </a:solidFill>
                <a:latin typeface="CourierNewPS-BoldMT"/>
              </a:rPr>
              <a:t>if </a:t>
            </a:r>
            <a:r>
              <a:rPr lang="en-US" altLang="zh-CN" sz="1600" dirty="0">
                <a:solidFill>
                  <a:srgbClr val="000000"/>
                </a:solidFill>
                <a:latin typeface="CourierNewPSMT"/>
              </a:rPr>
              <a:t>(</a:t>
            </a:r>
            <a:r>
              <a:rPr lang="en-US" altLang="zh-CN" sz="1600" dirty="0" err="1">
                <a:solidFill>
                  <a:srgbClr val="000000"/>
                </a:solidFill>
                <a:latin typeface="CourierNewPSMT"/>
              </a:rPr>
              <a:t>rslt</a:t>
            </a:r>
            <a:r>
              <a:rPr lang="en-US" altLang="zh-CN" sz="1600" dirty="0">
                <a:solidFill>
                  <a:srgbClr val="000000"/>
                </a:solidFill>
                <a:latin typeface="CourierNewPSMT"/>
              </a:rPr>
              <a:t>[7] == 1) </a:t>
            </a:r>
            <a:r>
              <a:rPr lang="en-US" altLang="zh-CN" sz="1600" b="1" dirty="0">
                <a:solidFill>
                  <a:srgbClr val="000000"/>
                </a:solidFill>
                <a:latin typeface="CourierNewPS-BoldMT"/>
              </a:rPr>
              <a:t>begin</a:t>
            </a:r>
            <a:br>
              <a:rPr lang="en-US" altLang="zh-CN" sz="1600" b="1" dirty="0">
                <a:solidFill>
                  <a:srgbClr val="000000"/>
                </a:solidFill>
                <a:latin typeface="CourierNewPS-BoldMT"/>
              </a:rPr>
            </a:br>
            <a:r>
              <a:rPr lang="en-US" altLang="zh-CN" sz="1600" b="1" dirty="0">
                <a:solidFill>
                  <a:srgbClr val="000000"/>
                </a:solidFill>
                <a:latin typeface="CourierNewPS-BoldMT"/>
              </a:rPr>
              <a:t>        </a:t>
            </a:r>
            <a:r>
              <a:rPr lang="en-US" altLang="zh-CN" sz="1600" dirty="0" err="1">
                <a:solidFill>
                  <a:srgbClr val="000000"/>
                </a:solidFill>
                <a:latin typeface="CourierNewPSMT"/>
              </a:rPr>
              <a:t>rslt</a:t>
            </a:r>
            <a:r>
              <a:rPr lang="en-US" altLang="zh-CN" sz="1600" dirty="0">
                <a:solidFill>
                  <a:srgbClr val="000000"/>
                </a:solidFill>
                <a:latin typeface="CourierNewPSMT"/>
              </a:rPr>
              <a:t> = {(</a:t>
            </a:r>
            <a:r>
              <a:rPr lang="en-US" altLang="zh-CN" sz="1600" dirty="0" err="1">
                <a:solidFill>
                  <a:srgbClr val="000000"/>
                </a:solidFill>
                <a:latin typeface="CourierNewPSMT"/>
              </a:rPr>
              <a:t>rslt</a:t>
            </a:r>
            <a:r>
              <a:rPr lang="en-US" altLang="zh-CN" sz="1600" dirty="0">
                <a:solidFill>
                  <a:srgbClr val="000000"/>
                </a:solidFill>
                <a:latin typeface="CourierNewPSMT"/>
              </a:rPr>
              <a:t>[7:4] + b), </a:t>
            </a:r>
            <a:r>
              <a:rPr lang="en-US" altLang="zh-CN" sz="1600" dirty="0" err="1">
                <a:solidFill>
                  <a:srgbClr val="000000"/>
                </a:solidFill>
                <a:latin typeface="CourierNewPSMT"/>
              </a:rPr>
              <a:t>rslt</a:t>
            </a:r>
            <a:r>
              <a:rPr lang="en-US" altLang="zh-CN" sz="1600" dirty="0">
                <a:solidFill>
                  <a:srgbClr val="000000"/>
                </a:solidFill>
                <a:latin typeface="CourierNewPSMT"/>
              </a:rPr>
              <a:t>[3:1], 1'b0};</a:t>
            </a:r>
            <a:br>
              <a:rPr lang="en-US" altLang="zh-CN" sz="1600" dirty="0">
                <a:solidFill>
                  <a:srgbClr val="000000"/>
                </a:solidFill>
                <a:latin typeface="CourierNewPSMT"/>
              </a:rPr>
            </a:br>
            <a:r>
              <a:rPr lang="en-US" altLang="zh-CN" sz="1600" dirty="0">
                <a:solidFill>
                  <a:srgbClr val="000000"/>
                </a:solidFill>
                <a:latin typeface="CourierNewPSMT"/>
              </a:rPr>
              <a:t>        count = count - 1;</a:t>
            </a:r>
            <a:br>
              <a:rPr lang="en-US" altLang="zh-CN" sz="1600" dirty="0">
                <a:solidFill>
                  <a:srgbClr val="000000"/>
                </a:solidFill>
                <a:latin typeface="CourierNewPSMT"/>
              </a:rPr>
            </a:br>
            <a:r>
              <a:rPr lang="en-US" altLang="zh-CN" sz="1600" dirty="0">
                <a:solidFill>
                  <a:srgbClr val="000000"/>
                </a:solidFill>
                <a:latin typeface="CourierNewPSMT"/>
              </a:rPr>
              <a:t>      </a:t>
            </a:r>
            <a:r>
              <a:rPr lang="en-US" altLang="zh-CN" sz="1600" b="1" dirty="0">
                <a:solidFill>
                  <a:srgbClr val="000000"/>
                </a:solidFill>
                <a:latin typeface="CourierNewPS-BoldMT"/>
              </a:rPr>
              <a:t>end</a:t>
            </a:r>
            <a:br>
              <a:rPr lang="en-US" altLang="zh-CN" sz="1600" b="1" dirty="0">
                <a:solidFill>
                  <a:srgbClr val="000000"/>
                </a:solidFill>
                <a:latin typeface="CourierNewPS-BoldMT"/>
              </a:rPr>
            </a:br>
            <a:r>
              <a:rPr lang="en-US" altLang="zh-CN" sz="1600" b="1" dirty="0">
                <a:solidFill>
                  <a:srgbClr val="000000"/>
                </a:solidFill>
                <a:latin typeface="CourierNewPS-BoldMT"/>
              </a:rPr>
              <a:t>      else begin</a:t>
            </a:r>
            <a:br>
              <a:rPr lang="en-US" altLang="zh-CN" sz="1600" b="1" dirty="0">
                <a:solidFill>
                  <a:srgbClr val="000000"/>
                </a:solidFill>
                <a:latin typeface="CourierNewPS-BoldMT"/>
              </a:rPr>
            </a:br>
            <a:r>
              <a:rPr lang="en-US" altLang="zh-CN" sz="1600" b="1" dirty="0">
                <a:solidFill>
                  <a:srgbClr val="000000"/>
                </a:solidFill>
                <a:latin typeface="CourierNewPS-BoldMT"/>
              </a:rPr>
              <a:t>        </a:t>
            </a:r>
            <a:r>
              <a:rPr lang="en-US" altLang="zh-CN" sz="1600" dirty="0" err="1">
                <a:solidFill>
                  <a:srgbClr val="000000"/>
                </a:solidFill>
                <a:latin typeface="CourierNewPSMT"/>
              </a:rPr>
              <a:t>rslt</a:t>
            </a:r>
            <a:r>
              <a:rPr lang="en-US" altLang="zh-CN" sz="1600" dirty="0">
                <a:solidFill>
                  <a:srgbClr val="000000"/>
                </a:solidFill>
                <a:latin typeface="CourierNewPSMT"/>
              </a:rPr>
              <a:t> = {</a:t>
            </a:r>
            <a:r>
              <a:rPr lang="en-US" altLang="zh-CN" sz="1600" dirty="0" err="1">
                <a:solidFill>
                  <a:srgbClr val="000000"/>
                </a:solidFill>
                <a:latin typeface="CourierNewPSMT"/>
              </a:rPr>
              <a:t>rslt</a:t>
            </a:r>
            <a:r>
              <a:rPr lang="en-US" altLang="zh-CN" sz="1600" dirty="0">
                <a:solidFill>
                  <a:srgbClr val="000000"/>
                </a:solidFill>
                <a:latin typeface="CourierNewPSMT"/>
              </a:rPr>
              <a:t>[7:1], 1'b1};</a:t>
            </a:r>
            <a:br>
              <a:rPr lang="en-US" altLang="zh-CN" sz="1600" dirty="0">
                <a:solidFill>
                  <a:srgbClr val="000000"/>
                </a:solidFill>
                <a:latin typeface="CourierNewPSMT"/>
              </a:rPr>
            </a:br>
            <a:r>
              <a:rPr lang="en-US" altLang="zh-CN" sz="1600" dirty="0">
                <a:solidFill>
                  <a:srgbClr val="000000"/>
                </a:solidFill>
                <a:latin typeface="CourierNewPSMT"/>
              </a:rPr>
              <a:t>        count = count - 1;</a:t>
            </a:r>
            <a:br>
              <a:rPr lang="en-US" altLang="zh-CN" sz="1600" dirty="0">
                <a:solidFill>
                  <a:srgbClr val="000000"/>
                </a:solidFill>
                <a:latin typeface="CourierNewPSMT"/>
              </a:rPr>
            </a:br>
            <a:r>
              <a:rPr lang="en-US" altLang="zh-CN" sz="1600" dirty="0">
                <a:solidFill>
                  <a:srgbClr val="000000"/>
                </a:solidFill>
                <a:latin typeface="CourierNewPSMT"/>
              </a:rPr>
              <a:t>      </a:t>
            </a:r>
            <a:r>
              <a:rPr lang="en-US" altLang="zh-CN" sz="1600" b="1" dirty="0">
                <a:solidFill>
                  <a:srgbClr val="000000"/>
                </a:solidFill>
                <a:latin typeface="CourierNewPS-BoldMT"/>
              </a:rPr>
              <a:t>end</a:t>
            </a:r>
            <a:br>
              <a:rPr lang="en-US" altLang="zh-CN" sz="1600" b="1" dirty="0">
                <a:solidFill>
                  <a:srgbClr val="000000"/>
                </a:solidFill>
                <a:latin typeface="CourierNewPS-BoldMT"/>
              </a:rPr>
            </a:br>
            <a:r>
              <a:rPr lang="en-US" altLang="zh-CN" sz="1600" b="1" dirty="0">
                <a:solidFill>
                  <a:srgbClr val="000000"/>
                </a:solidFill>
                <a:latin typeface="CourierNewPS-BoldMT"/>
              </a:rPr>
              <a:t>   </a:t>
            </a:r>
            <a:r>
              <a:rPr lang="en-US" altLang="zh-CN" sz="1600" b="1" dirty="0" err="1">
                <a:solidFill>
                  <a:srgbClr val="000000"/>
                </a:solidFill>
                <a:latin typeface="CourierNewPS-BoldMT"/>
              </a:rPr>
              <a:t>end</a:t>
            </a:r>
            <a:br>
              <a:rPr lang="en-US" altLang="zh-CN" sz="1600" b="1" dirty="0">
                <a:solidFill>
                  <a:srgbClr val="000000"/>
                </a:solidFill>
                <a:latin typeface="CourierNewPS-BoldMT"/>
              </a:rPr>
            </a:br>
            <a:r>
              <a:rPr lang="en-US" altLang="zh-CN" sz="1600" b="1" dirty="0" err="1">
                <a:solidFill>
                  <a:srgbClr val="000000"/>
                </a:solidFill>
                <a:latin typeface="CourierNewPS-BoldMT"/>
              </a:rPr>
              <a:t>end</a:t>
            </a:r>
            <a:br>
              <a:rPr lang="en-US" altLang="zh-CN" sz="1600" b="1" dirty="0">
                <a:solidFill>
                  <a:srgbClr val="000000"/>
                </a:solidFill>
                <a:latin typeface="CourierNewPS-BoldMT"/>
              </a:rPr>
            </a:br>
            <a:r>
              <a:rPr lang="en-US" altLang="zh-CN" sz="1600" b="1" dirty="0" err="1">
                <a:solidFill>
                  <a:srgbClr val="000000"/>
                </a:solidFill>
                <a:latin typeface="CourierNewPS-BoldMT"/>
              </a:rPr>
              <a:t>endmodule</a:t>
            </a:r>
            <a:r>
              <a:rPr lang="en-US" altLang="zh-CN" sz="1600" dirty="0"/>
              <a:t> </a:t>
            </a:r>
            <a:endParaRPr lang="zh-CN" altLang="en-US" sz="1600" dirty="0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0C1373B3-E619-4D88-AFF1-F01436AE0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182245"/>
            <a:ext cx="8003232" cy="576064"/>
          </a:xfrm>
        </p:spPr>
        <p:txBody>
          <a:bodyPr/>
          <a:lstStyle/>
          <a:p>
            <a:r>
              <a:rPr lang="en-US" altLang="zh-CN" sz="3200" dirty="0"/>
              <a:t>ALU</a:t>
            </a:r>
            <a:r>
              <a:rPr lang="zh-CN" altLang="en-US" sz="3200" dirty="0"/>
              <a:t>之除法器</a:t>
            </a:r>
            <a:r>
              <a:rPr lang="en-US" altLang="zh-CN" sz="3200" dirty="0"/>
              <a:t>(</a:t>
            </a:r>
            <a:r>
              <a:rPr lang="en-US" altLang="zh-CN" sz="3200" dirty="0" err="1"/>
              <a:t>cont</a:t>
            </a:r>
            <a:r>
              <a:rPr lang="en-US" altLang="zh-CN" sz="3200" dirty="0"/>
              <a:t>)</a:t>
            </a:r>
            <a:endParaRPr lang="zh-CN" altLang="en-US" sz="32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3F14C7F-A821-4AC7-89F8-382BBCD3DF46}"/>
              </a:ext>
            </a:extLst>
          </p:cNvPr>
          <p:cNvSpPr/>
          <p:nvPr/>
        </p:nvSpPr>
        <p:spPr>
          <a:xfrm>
            <a:off x="139690" y="5741392"/>
            <a:ext cx="328018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注意：这是一个行为模型！！</a:t>
            </a:r>
            <a:endParaRPr lang="en-US" altLang="zh-C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37780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BD85D8-4E81-48DD-8DA7-3347CA76E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103" y="11266"/>
            <a:ext cx="8229600" cy="897454"/>
          </a:xfrm>
        </p:spPr>
        <p:txBody>
          <a:bodyPr/>
          <a:lstStyle/>
          <a:p>
            <a:r>
              <a:rPr lang="en-US" altLang="zh-CN" dirty="0"/>
              <a:t>ALU(Arithmetic and Logic Unit)</a:t>
            </a:r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1FE1196-912E-43A5-BC50-9D10976287FF}"/>
              </a:ext>
            </a:extLst>
          </p:cNvPr>
          <p:cNvSpPr/>
          <p:nvPr/>
        </p:nvSpPr>
        <p:spPr>
          <a:xfrm>
            <a:off x="131176" y="764704"/>
            <a:ext cx="8229600" cy="62786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例：</a:t>
            </a:r>
            <a:r>
              <a:rPr lang="en-US" altLang="zh-CN" sz="2400" dirty="0"/>
              <a:t>4-bit ALU</a:t>
            </a:r>
            <a:r>
              <a:rPr lang="zh-CN" altLang="en-US" sz="2400" dirty="0"/>
              <a:t>，支持加法，减法，乘法，除法，逻辑或，逻辑反，逻辑异或，逻辑同或运算</a:t>
            </a:r>
            <a:endParaRPr lang="en-US" altLang="zh-CN" sz="2400" dirty="0"/>
          </a:p>
          <a:p>
            <a:r>
              <a:rPr lang="en-US" altLang="zh-CN" dirty="0"/>
              <a:t>Module alu_8(</a:t>
            </a:r>
          </a:p>
          <a:p>
            <a:r>
              <a:rPr lang="en-US" altLang="zh-CN" dirty="0"/>
              <a:t>input [3:0] </a:t>
            </a:r>
            <a:r>
              <a:rPr lang="en-US" altLang="zh-CN" dirty="0" err="1"/>
              <a:t>a,b</a:t>
            </a:r>
            <a:r>
              <a:rPr lang="en-US" altLang="zh-CN" dirty="0"/>
              <a:t>,</a:t>
            </a:r>
          </a:p>
          <a:p>
            <a:r>
              <a:rPr lang="en-US" altLang="zh-CN" dirty="0"/>
              <a:t>input [2:0] opcode,</a:t>
            </a:r>
          </a:p>
          <a:p>
            <a:r>
              <a:rPr lang="en-US" altLang="zh-CN" dirty="0"/>
              <a:t>Output reg [7:0] </a:t>
            </a:r>
            <a:r>
              <a:rPr lang="en-US" altLang="zh-CN" dirty="0" err="1"/>
              <a:t>rslt</a:t>
            </a:r>
            <a:r>
              <a:rPr lang="en-US" altLang="zh-CN" dirty="0"/>
              <a:t>);</a:t>
            </a:r>
          </a:p>
          <a:p>
            <a:r>
              <a:rPr lang="en-US" altLang="zh-CN" dirty="0" err="1"/>
              <a:t>localparam</a:t>
            </a:r>
            <a:r>
              <a:rPr lang="en-US" altLang="zh-CN" dirty="0"/>
              <a:t> </a:t>
            </a:r>
            <a:r>
              <a:rPr lang="en-US" altLang="zh-CN" dirty="0" err="1"/>
              <a:t>add_op</a:t>
            </a:r>
            <a:r>
              <a:rPr lang="en-US" altLang="zh-CN" dirty="0"/>
              <a:t>=3’d0,sub_op=3’d1,mul_op=3’d2, </a:t>
            </a:r>
            <a:r>
              <a:rPr lang="en-US" altLang="zh-CN" dirty="0" err="1"/>
              <a:t>div_op</a:t>
            </a:r>
            <a:r>
              <a:rPr lang="en-US" altLang="zh-CN" dirty="0"/>
              <a:t>=3’d3,or_op=3’d4,inv_op=3’d5,xor_op=3’d6,xnor_op=3’d7;</a:t>
            </a:r>
            <a:endParaRPr lang="en-US" altLang="zh-CN" sz="2400" dirty="0"/>
          </a:p>
          <a:p>
            <a:r>
              <a:rPr lang="en-US" altLang="zh-CN" sz="1600" dirty="0"/>
              <a:t>always@( * ) begin</a:t>
            </a:r>
          </a:p>
          <a:p>
            <a:r>
              <a:rPr lang="en-US" altLang="zh-CN" sz="1600" dirty="0"/>
              <a:t>  case(opcode)</a:t>
            </a:r>
          </a:p>
          <a:p>
            <a:r>
              <a:rPr lang="en-US" altLang="zh-CN" sz="1600" dirty="0"/>
              <a:t>    </a:t>
            </a:r>
            <a:r>
              <a:rPr lang="en-US" altLang="zh-CN" sz="1600" dirty="0" err="1"/>
              <a:t>add_op</a:t>
            </a:r>
            <a:r>
              <a:rPr lang="en-US" altLang="zh-CN" sz="1600" dirty="0"/>
              <a:t>: </a:t>
            </a:r>
            <a:r>
              <a:rPr lang="en-US" altLang="zh-CN" sz="1600" dirty="0" err="1"/>
              <a:t>rslt</a:t>
            </a:r>
            <a:r>
              <a:rPr lang="en-US" altLang="zh-CN" sz="1600" dirty="0"/>
              <a:t> = a + b;</a:t>
            </a:r>
          </a:p>
          <a:p>
            <a:r>
              <a:rPr lang="en-US" altLang="zh-CN" sz="1600" dirty="0"/>
              <a:t>    </a:t>
            </a:r>
            <a:r>
              <a:rPr lang="en-US" altLang="zh-CN" sz="1600" dirty="0" err="1"/>
              <a:t>sub_op</a:t>
            </a:r>
            <a:r>
              <a:rPr lang="en-US" altLang="zh-CN" sz="1600" dirty="0"/>
              <a:t>: </a:t>
            </a:r>
            <a:r>
              <a:rPr lang="en-US" altLang="zh-CN" sz="1600" dirty="0" err="1"/>
              <a:t>rslt</a:t>
            </a:r>
            <a:r>
              <a:rPr lang="en-US" altLang="zh-CN" sz="1600" dirty="0"/>
              <a:t> = a - b;</a:t>
            </a:r>
          </a:p>
          <a:p>
            <a:r>
              <a:rPr lang="en-US" altLang="zh-CN" sz="1600" dirty="0"/>
              <a:t>    </a:t>
            </a:r>
            <a:r>
              <a:rPr lang="en-US" altLang="zh-CN" sz="1600" dirty="0" err="1"/>
              <a:t>mul_op</a:t>
            </a:r>
            <a:r>
              <a:rPr lang="en-US" altLang="zh-CN" sz="1600" dirty="0"/>
              <a:t>: </a:t>
            </a:r>
            <a:r>
              <a:rPr lang="en-US" altLang="zh-CN" sz="1600" dirty="0" err="1"/>
              <a:t>rslt</a:t>
            </a:r>
            <a:r>
              <a:rPr lang="en-US" altLang="zh-CN" sz="1600" dirty="0"/>
              <a:t> = a * b;</a:t>
            </a:r>
          </a:p>
          <a:p>
            <a:r>
              <a:rPr lang="en-US" altLang="zh-CN" sz="1600" dirty="0"/>
              <a:t>    </a:t>
            </a:r>
            <a:r>
              <a:rPr lang="en-US" altLang="zh-CN" sz="1600" dirty="0" err="1"/>
              <a:t>div_op</a:t>
            </a:r>
            <a:r>
              <a:rPr lang="en-US" altLang="zh-CN" sz="1600" dirty="0"/>
              <a:t> : </a:t>
            </a:r>
            <a:r>
              <a:rPr lang="en-US" altLang="zh-CN" sz="1600" dirty="0" err="1"/>
              <a:t>rslt</a:t>
            </a:r>
            <a:r>
              <a:rPr lang="en-US" altLang="zh-CN" sz="1600" dirty="0"/>
              <a:t> = a / b;</a:t>
            </a:r>
          </a:p>
          <a:p>
            <a:r>
              <a:rPr lang="en-US" altLang="zh-CN" sz="1600" dirty="0"/>
              <a:t>    </a:t>
            </a:r>
            <a:r>
              <a:rPr lang="en-US" altLang="zh-CN" sz="1600" dirty="0" err="1"/>
              <a:t>or_op</a:t>
            </a:r>
            <a:r>
              <a:rPr lang="en-US" altLang="zh-CN" sz="1600" dirty="0"/>
              <a:t>  : </a:t>
            </a:r>
            <a:r>
              <a:rPr lang="en-US" altLang="zh-CN" sz="1600" dirty="0" err="1"/>
              <a:t>rslt</a:t>
            </a:r>
            <a:r>
              <a:rPr lang="en-US" altLang="zh-CN" sz="1600" dirty="0"/>
              <a:t> = a | b;</a:t>
            </a:r>
          </a:p>
          <a:p>
            <a:r>
              <a:rPr lang="en-US" altLang="zh-CN" sz="1600" dirty="0"/>
              <a:t>    </a:t>
            </a:r>
            <a:r>
              <a:rPr lang="en-US" altLang="zh-CN" sz="1600" dirty="0" err="1"/>
              <a:t>inv_op</a:t>
            </a:r>
            <a:r>
              <a:rPr lang="en-US" altLang="zh-CN" sz="1600" dirty="0"/>
              <a:t> : </a:t>
            </a:r>
            <a:r>
              <a:rPr lang="en-US" altLang="zh-CN" sz="1600" dirty="0" err="1"/>
              <a:t>rslt</a:t>
            </a:r>
            <a:r>
              <a:rPr lang="en-US" altLang="zh-CN" sz="1600" dirty="0"/>
              <a:t> = ~a;</a:t>
            </a:r>
          </a:p>
          <a:p>
            <a:r>
              <a:rPr lang="en-US" altLang="zh-CN" sz="1600" dirty="0"/>
              <a:t>    </a:t>
            </a:r>
            <a:r>
              <a:rPr lang="en-US" altLang="zh-CN" sz="1600" dirty="0" err="1"/>
              <a:t>xor_op</a:t>
            </a:r>
            <a:r>
              <a:rPr lang="en-US" altLang="zh-CN" sz="1600" dirty="0"/>
              <a:t> : </a:t>
            </a:r>
            <a:r>
              <a:rPr lang="en-US" altLang="zh-CN" sz="1600" dirty="0" err="1"/>
              <a:t>rslt</a:t>
            </a:r>
            <a:r>
              <a:rPr lang="en-US" altLang="zh-CN" sz="1600" dirty="0"/>
              <a:t> = a ^ b;</a:t>
            </a:r>
          </a:p>
          <a:p>
            <a:r>
              <a:rPr lang="en-US" altLang="zh-CN" sz="1600" dirty="0"/>
              <a:t>    </a:t>
            </a:r>
            <a:r>
              <a:rPr lang="en-US" altLang="zh-CN" sz="1600" dirty="0" err="1"/>
              <a:t>xnor_op:rslt</a:t>
            </a:r>
            <a:r>
              <a:rPr lang="en-US" altLang="zh-CN" sz="1600" dirty="0"/>
              <a:t> = ~(a ^ b);    </a:t>
            </a:r>
          </a:p>
          <a:p>
            <a:r>
              <a:rPr lang="en-US" altLang="zh-CN" sz="1600" dirty="0"/>
              <a:t>  </a:t>
            </a:r>
            <a:r>
              <a:rPr lang="en-US" altLang="zh-CN" sz="1600" dirty="0" err="1"/>
              <a:t>endcase</a:t>
            </a:r>
            <a:endParaRPr lang="en-US" altLang="zh-CN" sz="1600" dirty="0"/>
          </a:p>
          <a:p>
            <a:r>
              <a:rPr lang="en-US" altLang="zh-CN" sz="1600" dirty="0"/>
              <a:t>end</a:t>
            </a:r>
          </a:p>
          <a:p>
            <a:r>
              <a:rPr lang="en-US" altLang="zh-CN" sz="1600" dirty="0" err="1"/>
              <a:t>endmodule</a:t>
            </a:r>
            <a:endParaRPr lang="en-US" altLang="zh-CN" sz="1600" dirty="0"/>
          </a:p>
          <a:p>
            <a:endParaRPr lang="zh-CN" altLang="en-US" sz="24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0790A99-A4DD-4840-B601-9E54583E261D}"/>
              </a:ext>
            </a:extLst>
          </p:cNvPr>
          <p:cNvSpPr/>
          <p:nvPr/>
        </p:nvSpPr>
        <p:spPr>
          <a:xfrm>
            <a:off x="4588518" y="5517232"/>
            <a:ext cx="33678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注意：这是一个行为模型！！</a:t>
            </a:r>
            <a:endParaRPr lang="en-US" altLang="zh-C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26475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BD85D8-4E81-48DD-8DA7-3347CA76E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103" y="11266"/>
            <a:ext cx="8229600" cy="897454"/>
          </a:xfrm>
        </p:spPr>
        <p:txBody>
          <a:bodyPr/>
          <a:lstStyle/>
          <a:p>
            <a:r>
              <a:rPr lang="en-US" altLang="zh-CN" dirty="0"/>
              <a:t>Finite State Machine(FSM)</a:t>
            </a:r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1FE1196-912E-43A5-BC50-9D10976287FF}"/>
              </a:ext>
            </a:extLst>
          </p:cNvPr>
          <p:cNvSpPr/>
          <p:nvPr/>
        </p:nvSpPr>
        <p:spPr>
          <a:xfrm>
            <a:off x="131176" y="764704"/>
            <a:ext cx="868929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400" dirty="0"/>
              <a:t>Mealy and Moore FSMs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rgbClr val="000000"/>
                </a:solidFill>
                <a:latin typeface="TimesNewRomanPSMT"/>
              </a:rPr>
              <a:t>A Moore FSM is a state machine where the outputs are only a function of the present state.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rgbClr val="000000"/>
                </a:solidFill>
                <a:latin typeface="TimesNewRomanPSMT"/>
              </a:rPr>
              <a:t>A Mealy FSM is a state machine where one or more of the outputs is a function of the present state and one or more of the inputs. </a:t>
            </a:r>
            <a:endParaRPr lang="zh-CN" altLang="en-US" sz="24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E673A8C-365E-4661-A342-786E67170B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265" y="3071714"/>
            <a:ext cx="7153275" cy="3267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3935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BD85D8-4E81-48DD-8DA7-3347CA76E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103" y="11266"/>
            <a:ext cx="8229600" cy="897454"/>
          </a:xfrm>
        </p:spPr>
        <p:txBody>
          <a:bodyPr/>
          <a:lstStyle/>
          <a:p>
            <a:r>
              <a:rPr lang="en-US" altLang="zh-CN" dirty="0"/>
              <a:t>FSM state encoding</a:t>
            </a:r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1FE1196-912E-43A5-BC50-9D10976287FF}"/>
              </a:ext>
            </a:extLst>
          </p:cNvPr>
          <p:cNvSpPr/>
          <p:nvPr/>
        </p:nvSpPr>
        <p:spPr>
          <a:xfrm>
            <a:off x="131176" y="764704"/>
            <a:ext cx="868929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400" dirty="0"/>
              <a:t>Binary encoded or one-hot encoded?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rgbClr val="000000"/>
                </a:solidFill>
                <a:latin typeface="TimesNewRomanPSMT"/>
              </a:rPr>
              <a:t>Binary encoded uses less flip-flops.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rgbClr val="000000"/>
                </a:solidFill>
                <a:latin typeface="TimesNewRomanPSMT"/>
              </a:rPr>
              <a:t>One-hot encoded runs faster. </a:t>
            </a:r>
            <a:endParaRPr lang="zh-CN" altLang="en-US" sz="2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458F1F5-9560-4211-BE0E-AEB7E3FA4A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128" y="2420888"/>
            <a:ext cx="8029575" cy="391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504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A785F1-04CF-4867-8868-85A0FBFFE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634082"/>
          </a:xfrm>
        </p:spPr>
        <p:txBody>
          <a:bodyPr/>
          <a:lstStyle/>
          <a:p>
            <a:r>
              <a:rPr lang="en-US" altLang="zh-CN" dirty="0"/>
              <a:t>FSM Good Style: two always block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9A47BE9-3B6B-4FE1-90AC-BB0D853CF2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691577"/>
            <a:ext cx="7299360" cy="6166422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65E58E57-DF5C-49C1-887B-1AD84FFBAA0C}"/>
              </a:ext>
            </a:extLst>
          </p:cNvPr>
          <p:cNvSpPr/>
          <p:nvPr/>
        </p:nvSpPr>
        <p:spPr>
          <a:xfrm>
            <a:off x="5364088" y="5085184"/>
            <a:ext cx="367240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注意：在状态机中产生</a:t>
            </a:r>
            <a:r>
              <a:rPr lang="en-US" altLang="zh-CN" dirty="0" err="1">
                <a:solidFill>
                  <a:srgbClr val="FF0000"/>
                </a:solidFill>
              </a:rPr>
              <a:t>nextstate</a:t>
            </a:r>
            <a:r>
              <a:rPr lang="zh-CN" altLang="en-US" dirty="0">
                <a:solidFill>
                  <a:srgbClr val="FF0000"/>
                </a:solidFill>
              </a:rPr>
              <a:t>默认值，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>
                <a:solidFill>
                  <a:srgbClr val="FF0000"/>
                </a:solidFill>
              </a:rPr>
              <a:t>）</a:t>
            </a:r>
            <a:r>
              <a:rPr lang="en-US" altLang="zh-CN" dirty="0" err="1">
                <a:solidFill>
                  <a:srgbClr val="FF0000"/>
                </a:solidFill>
              </a:rPr>
              <a:t>nextstate</a:t>
            </a:r>
            <a:r>
              <a:rPr lang="en-US" altLang="zh-CN" dirty="0">
                <a:solidFill>
                  <a:srgbClr val="FF0000"/>
                </a:solidFill>
              </a:rPr>
              <a:t>= ‘bx</a:t>
            </a:r>
            <a:r>
              <a:rPr lang="zh-CN" altLang="en-US" dirty="0">
                <a:solidFill>
                  <a:srgbClr val="FF0000"/>
                </a:solidFill>
              </a:rPr>
              <a:t>；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2</a:t>
            </a:r>
            <a:r>
              <a:rPr lang="zh-CN" altLang="en-US" dirty="0">
                <a:solidFill>
                  <a:srgbClr val="FF0000"/>
                </a:solidFill>
              </a:rPr>
              <a:t>）</a:t>
            </a:r>
            <a:r>
              <a:rPr lang="en-US" altLang="zh-CN" dirty="0" err="1">
                <a:solidFill>
                  <a:srgbClr val="FF0000"/>
                </a:solidFill>
              </a:rPr>
              <a:t>nextstate</a:t>
            </a:r>
            <a:r>
              <a:rPr lang="en-US" altLang="zh-CN" dirty="0">
                <a:solidFill>
                  <a:srgbClr val="FF0000"/>
                </a:solidFill>
              </a:rPr>
              <a:t>=IDLE</a:t>
            </a:r>
            <a:r>
              <a:rPr lang="zh-CN" altLang="en-US" dirty="0">
                <a:solidFill>
                  <a:srgbClr val="FF0000"/>
                </a:solidFill>
              </a:rPr>
              <a:t>；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3</a:t>
            </a:r>
            <a:r>
              <a:rPr lang="zh-CN" altLang="en-US" dirty="0">
                <a:solidFill>
                  <a:srgbClr val="FF0000"/>
                </a:solidFill>
              </a:rPr>
              <a:t>）</a:t>
            </a:r>
            <a:r>
              <a:rPr lang="en-US" altLang="zh-CN" dirty="0" err="1">
                <a:solidFill>
                  <a:srgbClr val="FF0000"/>
                </a:solidFill>
              </a:rPr>
              <a:t>nextstate</a:t>
            </a:r>
            <a:r>
              <a:rPr lang="en-US" altLang="zh-CN" dirty="0">
                <a:solidFill>
                  <a:srgbClr val="FF0000"/>
                </a:solidFill>
              </a:rPr>
              <a:t>= </a:t>
            </a:r>
            <a:r>
              <a:rPr lang="en-US" altLang="zh-CN" dirty="0" err="1">
                <a:solidFill>
                  <a:srgbClr val="FF0000"/>
                </a:solidFill>
              </a:rPr>
              <a:t>current_state</a:t>
            </a:r>
            <a:r>
              <a:rPr lang="en-US" altLang="zh-CN" dirty="0">
                <a:solidFill>
                  <a:srgbClr val="FF0000"/>
                </a:solidFill>
              </a:rPr>
              <a:t> ;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方法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>
                <a:solidFill>
                  <a:srgbClr val="FF0000"/>
                </a:solidFill>
              </a:rPr>
              <a:t>）方便</a:t>
            </a:r>
            <a:r>
              <a:rPr lang="en-US" altLang="zh-CN" dirty="0">
                <a:solidFill>
                  <a:srgbClr val="FF0000"/>
                </a:solidFill>
              </a:rPr>
              <a:t>debug</a:t>
            </a:r>
            <a:r>
              <a:rPr lang="zh-CN" altLang="en-US" dirty="0">
                <a:solidFill>
                  <a:srgbClr val="FF0000"/>
                </a:solidFill>
              </a:rPr>
              <a:t>状态机！</a:t>
            </a:r>
            <a:endParaRPr lang="en-US" altLang="zh-C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33899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3DEFC4C-4FBC-4FC4-9554-7B449A3989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646748"/>
            <a:ext cx="5505409" cy="6175073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DFA785F1-04CF-4867-8868-85A0FBFFE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634082"/>
          </a:xfrm>
        </p:spPr>
        <p:txBody>
          <a:bodyPr/>
          <a:lstStyle/>
          <a:p>
            <a:r>
              <a:rPr lang="en-US" altLang="zh-CN" dirty="0"/>
              <a:t>FSM Style: one always block(avoid)</a:t>
            </a:r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5E58E57-DF5C-49C1-887B-1AD84FFBAA0C}"/>
              </a:ext>
            </a:extLst>
          </p:cNvPr>
          <p:cNvSpPr/>
          <p:nvPr/>
        </p:nvSpPr>
        <p:spPr>
          <a:xfrm>
            <a:off x="5148064" y="4204224"/>
            <a:ext cx="3672408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注意：</a:t>
            </a:r>
            <a:r>
              <a:rPr lang="en-US" altLang="zh-CN" dirty="0"/>
              <a:t>the one always block FSM coding style is more confusing and more error prone than a comparable two always block coding</a:t>
            </a:r>
            <a:br>
              <a:rPr lang="en-US" altLang="zh-CN" dirty="0"/>
            </a:br>
            <a:r>
              <a:rPr lang="en-US" altLang="zh-CN" dirty="0"/>
              <a:t>style. </a:t>
            </a:r>
            <a:br>
              <a:rPr lang="en-US" altLang="zh-CN" dirty="0"/>
            </a:br>
            <a:r>
              <a:rPr lang="zh-CN" altLang="en-US" dirty="0">
                <a:solidFill>
                  <a:srgbClr val="FF0000"/>
                </a:solidFill>
              </a:rPr>
              <a:t>方法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>
                <a:solidFill>
                  <a:srgbClr val="FF0000"/>
                </a:solidFill>
              </a:rPr>
              <a:t>）方便</a:t>
            </a:r>
            <a:r>
              <a:rPr lang="en-US" altLang="zh-CN" dirty="0">
                <a:solidFill>
                  <a:srgbClr val="FF0000"/>
                </a:solidFill>
              </a:rPr>
              <a:t>debug</a:t>
            </a:r>
            <a:r>
              <a:rPr lang="zh-CN" altLang="en-US" dirty="0">
                <a:solidFill>
                  <a:srgbClr val="FF0000"/>
                </a:solidFill>
              </a:rPr>
              <a:t>状态机！</a:t>
            </a:r>
            <a:endParaRPr lang="en-US" altLang="zh-C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29514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60AD470A-EF8F-4C75-B891-5E9B5CA133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624" y="530450"/>
            <a:ext cx="7388112" cy="6327549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DFA785F1-04CF-4867-8868-85A0FBFFE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-1"/>
            <a:ext cx="8928992" cy="574065"/>
          </a:xfrm>
        </p:spPr>
        <p:txBody>
          <a:bodyPr/>
          <a:lstStyle/>
          <a:p>
            <a:r>
              <a:rPr lang="en-US" altLang="zh-CN" dirty="0"/>
              <a:t>FSM Style: one-hot coding</a:t>
            </a:r>
            <a:r>
              <a:rPr lang="zh-CN" altLang="en-US" dirty="0"/>
              <a:t>（</a:t>
            </a:r>
            <a:r>
              <a:rPr lang="en-US" altLang="zh-CN" dirty="0"/>
              <a:t>good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9779107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A785F1-04CF-4867-8868-85A0FBFFE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9144000" cy="574065"/>
          </a:xfrm>
        </p:spPr>
        <p:txBody>
          <a:bodyPr/>
          <a:lstStyle/>
          <a:p>
            <a:r>
              <a:rPr lang="en-US" altLang="zh-CN" dirty="0"/>
              <a:t>FSM Style: registered outputs(good)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48E066C-B3F6-4C7F-B381-A26D96872B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5655" y="599940"/>
            <a:ext cx="6849311" cy="6258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2299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1A99EC-E1B0-4A06-A1B1-566B83915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16632"/>
            <a:ext cx="8784976" cy="562074"/>
          </a:xfrm>
        </p:spPr>
        <p:txBody>
          <a:bodyPr/>
          <a:lstStyle/>
          <a:p>
            <a:r>
              <a:rPr lang="en-US" altLang="zh-CN" dirty="0"/>
              <a:t>Misc. Verilog </a:t>
            </a:r>
            <a:r>
              <a:rPr lang="zh-CN" altLang="en-US" dirty="0"/>
              <a:t>实例：并行输入</a:t>
            </a:r>
            <a:r>
              <a:rPr lang="en-US" altLang="zh-CN" dirty="0"/>
              <a:t>/</a:t>
            </a:r>
            <a:r>
              <a:rPr lang="zh-CN" altLang="en-US" dirty="0"/>
              <a:t>输出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82D3DC0-4190-4836-9FAB-224FBCEF40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6" y="729211"/>
            <a:ext cx="6865540" cy="6128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8631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1A99EC-E1B0-4A06-A1B1-566B83915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116632"/>
            <a:ext cx="8856984" cy="562074"/>
          </a:xfrm>
        </p:spPr>
        <p:txBody>
          <a:bodyPr/>
          <a:lstStyle/>
          <a:p>
            <a:r>
              <a:rPr lang="en-US" altLang="zh-CN" dirty="0"/>
              <a:t>Misc. Verilog </a:t>
            </a:r>
            <a:r>
              <a:rPr lang="zh-CN" altLang="en-US" dirty="0"/>
              <a:t>实例：串行输入</a:t>
            </a:r>
            <a:r>
              <a:rPr lang="en-US" altLang="zh-CN" dirty="0"/>
              <a:t>/</a:t>
            </a:r>
            <a:r>
              <a:rPr lang="zh-CN" altLang="en-US" dirty="0"/>
              <a:t>输出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9A7A828-7236-4D4E-BDC4-216F16682E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741812"/>
            <a:ext cx="6565734" cy="610892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DDEC05A-5BAF-4B5B-8051-0200BEA8D01A}"/>
              </a:ext>
            </a:extLst>
          </p:cNvPr>
          <p:cNvSpPr/>
          <p:nvPr/>
        </p:nvSpPr>
        <p:spPr>
          <a:xfrm>
            <a:off x="4716016" y="1052736"/>
            <a:ext cx="36724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课堂练习：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>
                <a:solidFill>
                  <a:srgbClr val="FF0000"/>
                </a:solidFill>
              </a:rPr>
              <a:t>）串行输入，并行输出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2</a:t>
            </a:r>
            <a:r>
              <a:rPr lang="zh-CN" altLang="en-US" dirty="0">
                <a:solidFill>
                  <a:srgbClr val="FF0000"/>
                </a:solidFill>
              </a:rPr>
              <a:t>）并行输入，串行输出</a:t>
            </a:r>
            <a:endParaRPr lang="en-US" altLang="zh-C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98833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A23CFA-5D18-44F7-92A3-2853E1286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523"/>
            <a:ext cx="8229600" cy="958205"/>
          </a:xfrm>
        </p:spPr>
        <p:txBody>
          <a:bodyPr/>
          <a:lstStyle/>
          <a:p>
            <a:r>
              <a:rPr lang="en-US" altLang="zh-CN" dirty="0"/>
              <a:t>Misc. Verilog </a:t>
            </a:r>
            <a:r>
              <a:rPr lang="zh-CN" altLang="en-US" dirty="0"/>
              <a:t>实例：</a:t>
            </a:r>
            <a:r>
              <a:rPr lang="en-US" altLang="zh-CN" dirty="0"/>
              <a:t>FIR</a:t>
            </a:r>
            <a:endParaRPr lang="zh-CN" altLang="en-US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79118D8F-B82A-4AE9-8ED2-8A1B70826F81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9672" y="1412776"/>
            <a:ext cx="5760640" cy="5256584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DADBC987-CD42-42F6-B93C-4391909A1318}"/>
              </a:ext>
            </a:extLst>
          </p:cNvPr>
          <p:cNvSpPr/>
          <p:nvPr/>
        </p:nvSpPr>
        <p:spPr>
          <a:xfrm>
            <a:off x="323528" y="980728"/>
            <a:ext cx="78488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b="1" kern="100" dirty="0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P96 </a:t>
            </a:r>
            <a:r>
              <a:rPr lang="zh-CN" altLang="zh-CN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）再考虑图</a:t>
            </a:r>
            <a:r>
              <a:rPr lang="en-US" altLang="zh-CN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2-25</a:t>
            </a:r>
            <a:r>
              <a:rPr lang="zh-CN" altLang="zh-CN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）中的三阶相关器</a:t>
            </a:r>
            <a:r>
              <a:rPr lang="zh-CN" altLang="en-US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，用</a:t>
            </a:r>
            <a:r>
              <a:rPr lang="en-US" altLang="zh-CN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Verilog</a:t>
            </a:r>
            <a:r>
              <a:rPr lang="zh-CN" altLang="en-US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实现其功能。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71472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42FBACC-A887-4FCC-98E3-18A40098138E}"/>
              </a:ext>
            </a:extLst>
          </p:cNvPr>
          <p:cNvSpPr/>
          <p:nvPr/>
        </p:nvSpPr>
        <p:spPr>
          <a:xfrm>
            <a:off x="611560" y="1124744"/>
            <a:ext cx="5760640" cy="5088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/>
              <a:t>module fir_a(input clk,rstn,</a:t>
            </a:r>
          </a:p>
          <a:p>
            <a:r>
              <a:rPr lang="zh-CN" altLang="en-US" sz="1600" dirty="0"/>
              <a:t>input [7:0] c0, c1, c2, c3, x_in,</a:t>
            </a:r>
          </a:p>
          <a:p>
            <a:r>
              <a:rPr lang="zh-CN" altLang="en-US" sz="1600" dirty="0"/>
              <a:t>output reg [15:0] y_out);</a:t>
            </a:r>
          </a:p>
          <a:p>
            <a:r>
              <a:rPr lang="zh-CN" altLang="en-US" sz="1600" dirty="0"/>
              <a:t>reg [7:0] x1,x2,x3;</a:t>
            </a:r>
          </a:p>
          <a:p>
            <a:endParaRPr lang="zh-CN" altLang="en-US" sz="1600" dirty="0"/>
          </a:p>
          <a:p>
            <a:r>
              <a:rPr lang="zh-CN" altLang="en-US" sz="1600" dirty="0"/>
              <a:t>always@(posedge clk or negedge rstn)</a:t>
            </a:r>
          </a:p>
          <a:p>
            <a:r>
              <a:rPr lang="zh-CN" altLang="en-US" sz="1600" dirty="0"/>
              <a:t>if(~rstn) begin</a:t>
            </a:r>
          </a:p>
          <a:p>
            <a:r>
              <a:rPr lang="en-US" altLang="zh-CN" sz="1600" dirty="0"/>
              <a:t>  {</a:t>
            </a:r>
            <a:r>
              <a:rPr lang="zh-CN" altLang="en-US" sz="1600" dirty="0"/>
              <a:t>x3 </a:t>
            </a:r>
            <a:r>
              <a:rPr lang="en-US" altLang="zh-CN" sz="1600" dirty="0"/>
              <a:t>, x2 , </a:t>
            </a:r>
            <a:r>
              <a:rPr lang="zh-CN" altLang="en-US" sz="1600" dirty="0"/>
              <a:t>x1</a:t>
            </a:r>
            <a:r>
              <a:rPr lang="en-US" altLang="zh-CN" sz="1600" dirty="0"/>
              <a:t>}</a:t>
            </a:r>
            <a:r>
              <a:rPr lang="zh-CN" altLang="en-US" sz="1600" dirty="0"/>
              <a:t> &lt;= </a:t>
            </a:r>
            <a:r>
              <a:rPr lang="en-US" altLang="zh-CN" sz="1600" dirty="0"/>
              <a:t>{3{</a:t>
            </a:r>
            <a:r>
              <a:rPr lang="zh-CN" altLang="en-US" sz="1600" dirty="0"/>
              <a:t>8</a:t>
            </a:r>
            <a:r>
              <a:rPr lang="en-US" altLang="zh-CN" sz="1600" dirty="0"/>
              <a:t>’</a:t>
            </a:r>
            <a:r>
              <a:rPr lang="zh-CN" altLang="en-US" sz="1600" dirty="0"/>
              <a:t>d0</a:t>
            </a:r>
            <a:r>
              <a:rPr lang="en-US" altLang="zh-CN" sz="1600" dirty="0"/>
              <a:t>}}</a:t>
            </a:r>
            <a:r>
              <a:rPr lang="zh-CN" altLang="en-US" sz="1600" dirty="0"/>
              <a:t>;</a:t>
            </a:r>
          </a:p>
          <a:p>
            <a:r>
              <a:rPr lang="zh-CN" altLang="en-US" sz="1600" dirty="0"/>
              <a:t>end else begin</a:t>
            </a:r>
          </a:p>
          <a:p>
            <a:r>
              <a:rPr lang="en-US" altLang="zh-CN" sz="1600" dirty="0"/>
              <a:t>  {</a:t>
            </a:r>
            <a:r>
              <a:rPr lang="zh-CN" altLang="en-US" sz="1600" dirty="0"/>
              <a:t>x3 </a:t>
            </a:r>
            <a:r>
              <a:rPr lang="en-US" altLang="zh-CN" sz="1600" dirty="0"/>
              <a:t>, x2 , </a:t>
            </a:r>
            <a:r>
              <a:rPr lang="zh-CN" altLang="en-US" sz="1600" dirty="0"/>
              <a:t>x1</a:t>
            </a:r>
            <a:r>
              <a:rPr lang="en-US" altLang="zh-CN" sz="1600" dirty="0"/>
              <a:t>}</a:t>
            </a:r>
            <a:r>
              <a:rPr lang="zh-CN" altLang="en-US" sz="1600" dirty="0"/>
              <a:t> &lt;= </a:t>
            </a:r>
            <a:r>
              <a:rPr lang="en-US" altLang="zh-CN" sz="1600" dirty="0"/>
              <a:t>{</a:t>
            </a:r>
            <a:r>
              <a:rPr lang="zh-CN" altLang="en-US" sz="1600" dirty="0"/>
              <a:t>x2</a:t>
            </a:r>
            <a:r>
              <a:rPr lang="en-US" altLang="zh-CN" sz="1600" dirty="0"/>
              <a:t>, x1, </a:t>
            </a:r>
            <a:r>
              <a:rPr lang="zh-CN" altLang="en-US" sz="1600" dirty="0"/>
              <a:t>x_in</a:t>
            </a:r>
            <a:r>
              <a:rPr lang="en-US" altLang="zh-CN" sz="1600" dirty="0"/>
              <a:t>}</a:t>
            </a:r>
            <a:r>
              <a:rPr lang="zh-CN" altLang="en-US" sz="1600" dirty="0"/>
              <a:t>; </a:t>
            </a:r>
            <a:endParaRPr lang="en-US" altLang="zh-CN" sz="1600" dirty="0"/>
          </a:p>
          <a:p>
            <a:r>
              <a:rPr lang="zh-CN" altLang="en-US" sz="1600" dirty="0"/>
              <a:t>end</a:t>
            </a:r>
          </a:p>
          <a:p>
            <a:endParaRPr lang="zh-CN" altLang="en-US" sz="1600" dirty="0"/>
          </a:p>
          <a:p>
            <a:r>
              <a:rPr lang="zh-CN" altLang="en-US" sz="1600" dirty="0"/>
              <a:t>always@(posedge clk or negedge rstn)</a:t>
            </a:r>
          </a:p>
          <a:p>
            <a:r>
              <a:rPr lang="zh-CN" altLang="en-US" sz="1600" dirty="0"/>
              <a:t>if(~rstn) begin</a:t>
            </a:r>
          </a:p>
          <a:p>
            <a:r>
              <a:rPr lang="zh-CN" altLang="en-US" sz="1600" dirty="0"/>
              <a:t>  y_out &lt;= </a:t>
            </a:r>
            <a:r>
              <a:rPr lang="en-US" altLang="zh-CN" sz="1600" dirty="0"/>
              <a:t>16</a:t>
            </a:r>
            <a:r>
              <a:rPr lang="zh-CN" altLang="en-US" sz="1600" dirty="0"/>
              <a:t>'d0;</a:t>
            </a:r>
          </a:p>
          <a:p>
            <a:r>
              <a:rPr lang="zh-CN" altLang="en-US" sz="1600" dirty="0"/>
              <a:t>end else begin</a:t>
            </a:r>
          </a:p>
          <a:p>
            <a:r>
              <a:rPr lang="zh-CN" altLang="en-US" sz="1600" dirty="0"/>
              <a:t>  y_out &lt;= c0 * x_in + c1 * x1 + c2 * c2 + c3 * x3;</a:t>
            </a:r>
          </a:p>
          <a:p>
            <a:r>
              <a:rPr lang="en-US" altLang="zh-CN" sz="1600" dirty="0"/>
              <a:t>e</a:t>
            </a:r>
            <a:r>
              <a:rPr lang="zh-CN" altLang="en-US" sz="1600" dirty="0"/>
              <a:t>nd</a:t>
            </a:r>
            <a:endParaRPr lang="en-US" altLang="zh-CN" sz="1600" dirty="0"/>
          </a:p>
          <a:p>
            <a:endParaRPr lang="zh-CN" altLang="en-US" sz="1600" dirty="0"/>
          </a:p>
          <a:p>
            <a:r>
              <a:rPr lang="zh-CN" altLang="en-US" sz="1600" dirty="0"/>
              <a:t>endmodule</a:t>
            </a: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A40A9E4D-392E-4B36-B260-C207A517F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958205"/>
          </a:xfrm>
        </p:spPr>
        <p:txBody>
          <a:bodyPr/>
          <a:lstStyle/>
          <a:p>
            <a:r>
              <a:rPr lang="en-US" altLang="zh-CN" dirty="0"/>
              <a:t>Misc. Verilog </a:t>
            </a:r>
            <a:r>
              <a:rPr lang="zh-CN" altLang="en-US" dirty="0"/>
              <a:t>实例：</a:t>
            </a:r>
            <a:r>
              <a:rPr lang="en-US" altLang="zh-CN" dirty="0"/>
              <a:t>FIR(</a:t>
            </a:r>
            <a:r>
              <a:rPr lang="en-US" altLang="zh-CN" dirty="0" err="1"/>
              <a:t>cont</a:t>
            </a:r>
            <a:r>
              <a:rPr lang="en-US" altLang="zh-CN" dirty="0"/>
              <a:t>)</a:t>
            </a:r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1ED3EAD-3740-4737-A841-4469AC8218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104" y="1051605"/>
            <a:ext cx="3553321" cy="3057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8378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42FBACC-A887-4FCC-98E3-18A40098138E}"/>
              </a:ext>
            </a:extLst>
          </p:cNvPr>
          <p:cNvSpPr/>
          <p:nvPr/>
        </p:nvSpPr>
        <p:spPr>
          <a:xfrm>
            <a:off x="611560" y="1196752"/>
            <a:ext cx="4536504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/>
              <a:t>module fir_</a:t>
            </a:r>
            <a:r>
              <a:rPr lang="en-US" altLang="zh-CN" sz="1600" dirty="0" err="1"/>
              <a:t>c_retiming</a:t>
            </a:r>
            <a:r>
              <a:rPr lang="zh-CN" altLang="en-US" sz="1600" dirty="0"/>
              <a:t>(input clk,rstn,</a:t>
            </a:r>
          </a:p>
          <a:p>
            <a:r>
              <a:rPr lang="zh-CN" altLang="en-US" sz="1600" dirty="0"/>
              <a:t>input [7:0] c0, c1, c2, c3, x_in,</a:t>
            </a:r>
          </a:p>
          <a:p>
            <a:r>
              <a:rPr lang="zh-CN" altLang="en-US" sz="1600" dirty="0"/>
              <a:t>output reg [15:0] y_out);</a:t>
            </a:r>
          </a:p>
          <a:p>
            <a:r>
              <a:rPr lang="zh-CN" altLang="en-US" sz="1600" dirty="0"/>
              <a:t>reg [</a:t>
            </a:r>
            <a:r>
              <a:rPr lang="en-US" altLang="zh-CN" sz="1600" dirty="0"/>
              <a:t>15</a:t>
            </a:r>
            <a:r>
              <a:rPr lang="zh-CN" altLang="en-US" sz="1600" dirty="0"/>
              <a:t>:0] x1</a:t>
            </a:r>
            <a:r>
              <a:rPr lang="en-US" altLang="zh-CN" sz="1600" dirty="0"/>
              <a:t>c</a:t>
            </a:r>
            <a:r>
              <a:rPr lang="zh-CN" altLang="en-US" sz="1600" dirty="0"/>
              <a:t>,x2</a:t>
            </a:r>
            <a:r>
              <a:rPr lang="en-US" altLang="zh-CN" sz="1600" dirty="0"/>
              <a:t>c</a:t>
            </a:r>
            <a:r>
              <a:rPr lang="zh-CN" altLang="en-US" sz="1600" dirty="0"/>
              <a:t>,x3</a:t>
            </a:r>
            <a:r>
              <a:rPr lang="en-US" altLang="zh-CN" sz="1600" dirty="0"/>
              <a:t>c</a:t>
            </a:r>
            <a:r>
              <a:rPr lang="zh-CN" altLang="en-US" sz="1600" dirty="0"/>
              <a:t>;</a:t>
            </a:r>
          </a:p>
          <a:p>
            <a:r>
              <a:rPr lang="zh-CN" altLang="en-US" sz="1600" dirty="0"/>
              <a:t>always@(posedge clk or negedge rstn)</a:t>
            </a:r>
          </a:p>
          <a:p>
            <a:r>
              <a:rPr lang="zh-CN" altLang="en-US" sz="1600" dirty="0"/>
              <a:t>if(~rstn) begin</a:t>
            </a:r>
          </a:p>
          <a:p>
            <a:r>
              <a:rPr lang="en-US" altLang="zh-CN" sz="1600" dirty="0"/>
              <a:t>  {</a:t>
            </a:r>
            <a:r>
              <a:rPr lang="zh-CN" altLang="en-US" sz="1600" dirty="0"/>
              <a:t>x3</a:t>
            </a:r>
            <a:r>
              <a:rPr lang="en-US" altLang="zh-CN" sz="1600" dirty="0"/>
              <a:t>c</a:t>
            </a:r>
            <a:r>
              <a:rPr lang="zh-CN" altLang="en-US" sz="1600" dirty="0"/>
              <a:t> </a:t>
            </a:r>
            <a:r>
              <a:rPr lang="en-US" altLang="zh-CN" sz="1600" dirty="0"/>
              <a:t>, x2c , </a:t>
            </a:r>
            <a:r>
              <a:rPr lang="zh-CN" altLang="en-US" sz="1600" dirty="0"/>
              <a:t>x1</a:t>
            </a:r>
            <a:r>
              <a:rPr lang="en-US" altLang="zh-CN" sz="1600" dirty="0"/>
              <a:t>c}</a:t>
            </a:r>
            <a:r>
              <a:rPr lang="zh-CN" altLang="en-US" sz="1600" dirty="0"/>
              <a:t> &lt;= </a:t>
            </a:r>
            <a:r>
              <a:rPr lang="en-US" altLang="zh-CN" sz="1600" dirty="0"/>
              <a:t>{3{16’</a:t>
            </a:r>
            <a:r>
              <a:rPr lang="zh-CN" altLang="en-US" sz="1600" dirty="0"/>
              <a:t>d0</a:t>
            </a:r>
            <a:r>
              <a:rPr lang="en-US" altLang="zh-CN" sz="1600" dirty="0"/>
              <a:t>}}</a:t>
            </a:r>
            <a:r>
              <a:rPr lang="zh-CN" altLang="en-US" sz="1600" dirty="0"/>
              <a:t>;</a:t>
            </a:r>
          </a:p>
          <a:p>
            <a:r>
              <a:rPr lang="zh-CN" altLang="en-US" sz="1600" dirty="0"/>
              <a:t>end else begin</a:t>
            </a:r>
            <a:endParaRPr lang="en-US" altLang="zh-CN" sz="1600" dirty="0"/>
          </a:p>
          <a:p>
            <a:r>
              <a:rPr lang="en-US" altLang="zh-CN" sz="1600" dirty="0"/>
              <a:t>  x1c &lt;= </a:t>
            </a:r>
            <a:r>
              <a:rPr lang="en-US" altLang="zh-CN" sz="1600" dirty="0" err="1"/>
              <a:t>x_in</a:t>
            </a:r>
            <a:r>
              <a:rPr lang="en-US" altLang="zh-CN" sz="1600" dirty="0"/>
              <a:t> * c3;</a:t>
            </a:r>
          </a:p>
          <a:p>
            <a:r>
              <a:rPr lang="en-US" altLang="zh-CN" sz="1600" dirty="0"/>
              <a:t>  x2c &lt;= </a:t>
            </a:r>
            <a:r>
              <a:rPr lang="en-US" altLang="zh-CN" sz="1600" dirty="0" err="1"/>
              <a:t>x_in</a:t>
            </a:r>
            <a:r>
              <a:rPr lang="en-US" altLang="zh-CN" sz="1600" dirty="0"/>
              <a:t> * c2 + x1c;</a:t>
            </a:r>
          </a:p>
          <a:p>
            <a:r>
              <a:rPr lang="en-US" altLang="zh-CN" sz="1600" dirty="0"/>
              <a:t>  x3c &lt;= </a:t>
            </a:r>
            <a:r>
              <a:rPr lang="en-US" altLang="zh-CN" sz="1600" dirty="0" err="1"/>
              <a:t>x_in</a:t>
            </a:r>
            <a:r>
              <a:rPr lang="en-US" altLang="zh-CN" sz="1600" dirty="0"/>
              <a:t> * c1 + x2c;</a:t>
            </a:r>
          </a:p>
          <a:p>
            <a:r>
              <a:rPr lang="zh-CN" altLang="en-US" sz="1600" dirty="0"/>
              <a:t>end</a:t>
            </a:r>
          </a:p>
          <a:p>
            <a:endParaRPr lang="zh-CN" altLang="en-US" sz="1600" dirty="0"/>
          </a:p>
          <a:p>
            <a:r>
              <a:rPr lang="zh-CN" altLang="en-US" sz="1600" dirty="0"/>
              <a:t>always@(posedge clk or negedge rstn)</a:t>
            </a:r>
          </a:p>
          <a:p>
            <a:r>
              <a:rPr lang="zh-CN" altLang="en-US" sz="1600" dirty="0"/>
              <a:t>if(~rstn) begin</a:t>
            </a:r>
          </a:p>
          <a:p>
            <a:r>
              <a:rPr lang="zh-CN" altLang="en-US" sz="1600" dirty="0"/>
              <a:t>  y_out &lt;= </a:t>
            </a:r>
            <a:r>
              <a:rPr lang="en-US" altLang="zh-CN" sz="1600" dirty="0"/>
              <a:t>16</a:t>
            </a:r>
            <a:r>
              <a:rPr lang="zh-CN" altLang="en-US" sz="1600" dirty="0"/>
              <a:t>'d0;</a:t>
            </a:r>
          </a:p>
          <a:p>
            <a:r>
              <a:rPr lang="zh-CN" altLang="en-US" sz="1600" dirty="0"/>
              <a:t>end else begin</a:t>
            </a:r>
          </a:p>
          <a:p>
            <a:r>
              <a:rPr lang="zh-CN" altLang="en-US" sz="1600" dirty="0"/>
              <a:t>  y_out &lt;= c0 * x_in + x3</a:t>
            </a:r>
            <a:r>
              <a:rPr lang="en-US" altLang="zh-CN" sz="1600" dirty="0"/>
              <a:t>c</a:t>
            </a:r>
            <a:r>
              <a:rPr lang="zh-CN" altLang="en-US" sz="1600" dirty="0"/>
              <a:t>;</a:t>
            </a:r>
          </a:p>
          <a:p>
            <a:r>
              <a:rPr lang="en-US" altLang="zh-CN" sz="1600" dirty="0"/>
              <a:t>e</a:t>
            </a:r>
            <a:r>
              <a:rPr lang="zh-CN" altLang="en-US" sz="1600" dirty="0"/>
              <a:t>nd</a:t>
            </a:r>
            <a:endParaRPr lang="en-US" altLang="zh-CN" sz="1600" dirty="0"/>
          </a:p>
          <a:p>
            <a:endParaRPr lang="zh-CN" altLang="en-US" sz="1600" dirty="0"/>
          </a:p>
          <a:p>
            <a:r>
              <a:rPr lang="zh-CN" altLang="en-US" sz="1600" dirty="0"/>
              <a:t>endmodule</a:t>
            </a: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A40A9E4D-392E-4B36-B260-C207A517F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958205"/>
          </a:xfrm>
        </p:spPr>
        <p:txBody>
          <a:bodyPr/>
          <a:lstStyle/>
          <a:p>
            <a:r>
              <a:rPr lang="en-US" altLang="zh-CN" dirty="0"/>
              <a:t>Misc. Verilog </a:t>
            </a:r>
            <a:r>
              <a:rPr lang="zh-CN" altLang="en-US" dirty="0"/>
              <a:t>实例：</a:t>
            </a:r>
            <a:r>
              <a:rPr lang="en-US" altLang="zh-CN" dirty="0"/>
              <a:t>FIR(</a:t>
            </a:r>
            <a:r>
              <a:rPr lang="en-US" altLang="zh-CN" dirty="0" err="1"/>
              <a:t>cont</a:t>
            </a:r>
            <a:r>
              <a:rPr lang="en-US" altLang="zh-CN" dirty="0"/>
              <a:t>)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0188DA8-A4CA-4382-A379-37A3FF5E40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040" y="1196752"/>
            <a:ext cx="4086795" cy="3410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6616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42FBACC-A887-4FCC-98E3-18A40098138E}"/>
              </a:ext>
            </a:extLst>
          </p:cNvPr>
          <p:cNvSpPr/>
          <p:nvPr/>
        </p:nvSpPr>
        <p:spPr>
          <a:xfrm>
            <a:off x="107504" y="1196752"/>
            <a:ext cx="4896544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/>
              <a:t>module fir_</a:t>
            </a:r>
            <a:r>
              <a:rPr lang="en-US" altLang="zh-CN" sz="1600" dirty="0" err="1"/>
              <a:t>d_pipelining</a:t>
            </a:r>
            <a:r>
              <a:rPr lang="zh-CN" altLang="en-US" sz="1600" dirty="0"/>
              <a:t>(input clk,rstn,</a:t>
            </a:r>
          </a:p>
          <a:p>
            <a:r>
              <a:rPr lang="zh-CN" altLang="en-US" sz="1600" dirty="0"/>
              <a:t>input [7:0] c0, c1, c2, c3, x_in,</a:t>
            </a:r>
          </a:p>
          <a:p>
            <a:r>
              <a:rPr lang="zh-CN" altLang="en-US" sz="1600" dirty="0"/>
              <a:t>output reg [15:0] y_out);</a:t>
            </a:r>
          </a:p>
          <a:p>
            <a:r>
              <a:rPr lang="zh-CN" altLang="en-US" sz="1600" dirty="0"/>
              <a:t>reg [</a:t>
            </a:r>
            <a:r>
              <a:rPr lang="en-US" altLang="zh-CN" sz="1600" dirty="0"/>
              <a:t>15</a:t>
            </a:r>
            <a:r>
              <a:rPr lang="zh-CN" altLang="en-US" sz="1600" dirty="0"/>
              <a:t>:0] </a:t>
            </a:r>
            <a:r>
              <a:rPr lang="en-US" altLang="zh-CN" sz="1600" dirty="0"/>
              <a:t>x0c,</a:t>
            </a:r>
            <a:r>
              <a:rPr lang="zh-CN" altLang="en-US" sz="1600" dirty="0"/>
              <a:t>x1</a:t>
            </a:r>
            <a:r>
              <a:rPr lang="en-US" altLang="zh-CN" sz="1600" dirty="0"/>
              <a:t>c</a:t>
            </a:r>
            <a:r>
              <a:rPr lang="zh-CN" altLang="en-US" sz="1600" dirty="0"/>
              <a:t>,x2</a:t>
            </a:r>
            <a:r>
              <a:rPr lang="en-US" altLang="zh-CN" sz="1600" dirty="0"/>
              <a:t>c</a:t>
            </a:r>
            <a:r>
              <a:rPr lang="zh-CN" altLang="en-US" sz="1600" dirty="0"/>
              <a:t>,x3</a:t>
            </a:r>
            <a:r>
              <a:rPr lang="en-US" altLang="zh-CN" sz="1600" dirty="0"/>
              <a:t>c</a:t>
            </a:r>
            <a:r>
              <a:rPr lang="zh-CN" altLang="en-US" sz="1600" dirty="0"/>
              <a:t>;</a:t>
            </a:r>
            <a:endParaRPr lang="en-US" altLang="zh-CN" sz="1600" dirty="0"/>
          </a:p>
          <a:p>
            <a:r>
              <a:rPr lang="zh-CN" altLang="en-US" sz="1600" dirty="0"/>
              <a:t>reg [</a:t>
            </a:r>
            <a:r>
              <a:rPr lang="en-US" altLang="zh-CN" sz="1600" dirty="0"/>
              <a:t>15</a:t>
            </a:r>
            <a:r>
              <a:rPr lang="zh-CN" altLang="en-US" sz="1600" dirty="0"/>
              <a:t>:0] x1</a:t>
            </a:r>
            <a:r>
              <a:rPr lang="en-US" altLang="zh-CN" sz="1600" dirty="0"/>
              <a:t>c1</a:t>
            </a:r>
            <a:r>
              <a:rPr lang="zh-CN" altLang="en-US" sz="1600" dirty="0"/>
              <a:t>,x2</a:t>
            </a:r>
            <a:r>
              <a:rPr lang="en-US" altLang="zh-CN" sz="1600" dirty="0"/>
              <a:t>c1</a:t>
            </a:r>
            <a:r>
              <a:rPr lang="zh-CN" altLang="en-US" sz="1600" dirty="0"/>
              <a:t>,x3</a:t>
            </a:r>
            <a:r>
              <a:rPr lang="en-US" altLang="zh-CN" sz="1600" dirty="0"/>
              <a:t>c1</a:t>
            </a:r>
            <a:r>
              <a:rPr lang="zh-CN" altLang="en-US" sz="1600" dirty="0"/>
              <a:t>;</a:t>
            </a:r>
          </a:p>
          <a:p>
            <a:r>
              <a:rPr lang="zh-CN" altLang="en-US" sz="1600" dirty="0"/>
              <a:t>always@(posedge clk or negedge rstn)</a:t>
            </a:r>
          </a:p>
          <a:p>
            <a:r>
              <a:rPr lang="zh-CN" altLang="en-US" sz="1600" dirty="0"/>
              <a:t>if(~rstn) begin</a:t>
            </a:r>
          </a:p>
          <a:p>
            <a:r>
              <a:rPr lang="en-US" altLang="zh-CN" sz="1600" dirty="0"/>
              <a:t> {</a:t>
            </a:r>
            <a:r>
              <a:rPr lang="zh-CN" altLang="en-US" sz="1600" dirty="0"/>
              <a:t>x3</a:t>
            </a:r>
            <a:r>
              <a:rPr lang="en-US" altLang="zh-CN" sz="1600" dirty="0"/>
              <a:t>c</a:t>
            </a:r>
            <a:r>
              <a:rPr lang="zh-CN" altLang="en-US" sz="1600" dirty="0"/>
              <a:t> </a:t>
            </a:r>
            <a:r>
              <a:rPr lang="en-US" altLang="zh-CN" sz="1600" dirty="0"/>
              <a:t>, x2c , </a:t>
            </a:r>
            <a:r>
              <a:rPr lang="zh-CN" altLang="en-US" sz="1600" dirty="0"/>
              <a:t>x1</a:t>
            </a:r>
            <a:r>
              <a:rPr lang="en-US" altLang="zh-CN" sz="1600" dirty="0"/>
              <a:t>c, x0c }</a:t>
            </a:r>
            <a:r>
              <a:rPr lang="zh-CN" altLang="en-US" sz="1600" dirty="0"/>
              <a:t> &lt;= </a:t>
            </a:r>
            <a:r>
              <a:rPr lang="en-US" altLang="zh-CN" sz="1600" dirty="0"/>
              <a:t>{4{16’</a:t>
            </a:r>
            <a:r>
              <a:rPr lang="zh-CN" altLang="en-US" sz="1600" dirty="0"/>
              <a:t>d0</a:t>
            </a:r>
            <a:r>
              <a:rPr lang="en-US" altLang="zh-CN" sz="1600" dirty="0"/>
              <a:t>}}</a:t>
            </a:r>
            <a:r>
              <a:rPr lang="zh-CN" altLang="en-US" sz="1600" dirty="0"/>
              <a:t>;</a:t>
            </a:r>
            <a:endParaRPr lang="en-US" altLang="zh-CN" sz="1600" dirty="0"/>
          </a:p>
          <a:p>
            <a:r>
              <a:rPr lang="en-US" altLang="zh-CN" sz="1600" dirty="0"/>
              <a:t> {</a:t>
            </a:r>
            <a:r>
              <a:rPr lang="zh-CN" altLang="en-US" sz="1600" dirty="0"/>
              <a:t>x3</a:t>
            </a:r>
            <a:r>
              <a:rPr lang="en-US" altLang="zh-CN" sz="1600" dirty="0"/>
              <a:t>c1,x2c1,</a:t>
            </a:r>
            <a:r>
              <a:rPr lang="zh-CN" altLang="en-US" sz="1600" dirty="0"/>
              <a:t>x1</a:t>
            </a:r>
            <a:r>
              <a:rPr lang="en-US" altLang="zh-CN" sz="1600" dirty="0"/>
              <a:t>c1}</a:t>
            </a:r>
            <a:r>
              <a:rPr lang="zh-CN" altLang="en-US" sz="1600" dirty="0"/>
              <a:t>       &lt;= </a:t>
            </a:r>
            <a:r>
              <a:rPr lang="en-US" altLang="zh-CN" sz="1600" dirty="0"/>
              <a:t>{3{16’</a:t>
            </a:r>
            <a:r>
              <a:rPr lang="zh-CN" altLang="en-US" sz="1600" dirty="0"/>
              <a:t>d0</a:t>
            </a:r>
            <a:r>
              <a:rPr lang="en-US" altLang="zh-CN" sz="1600" dirty="0"/>
              <a:t>}}</a:t>
            </a:r>
            <a:r>
              <a:rPr lang="zh-CN" altLang="en-US" sz="1600" dirty="0"/>
              <a:t>;</a:t>
            </a:r>
            <a:endParaRPr lang="en-US" altLang="zh-CN" sz="1600" dirty="0"/>
          </a:p>
          <a:p>
            <a:r>
              <a:rPr lang="zh-CN" altLang="en-US" sz="1600" dirty="0"/>
              <a:t> y_out &lt;= </a:t>
            </a:r>
            <a:r>
              <a:rPr lang="en-US" altLang="zh-CN" sz="1600" dirty="0"/>
              <a:t>16</a:t>
            </a:r>
            <a:r>
              <a:rPr lang="zh-CN" altLang="en-US" sz="1600" dirty="0"/>
              <a:t>'d0;</a:t>
            </a:r>
          </a:p>
          <a:p>
            <a:r>
              <a:rPr lang="zh-CN" altLang="en-US" sz="1600" dirty="0"/>
              <a:t>end else begin</a:t>
            </a:r>
            <a:endParaRPr lang="en-US" altLang="zh-CN" sz="1600" dirty="0"/>
          </a:p>
          <a:p>
            <a:r>
              <a:rPr lang="en-US" altLang="zh-CN" sz="1600" dirty="0"/>
              <a:t>  x0c &lt;=</a:t>
            </a:r>
            <a:r>
              <a:rPr lang="en-US" altLang="zh-CN" sz="1600" dirty="0" err="1"/>
              <a:t>x_in</a:t>
            </a:r>
            <a:r>
              <a:rPr lang="en-US" altLang="zh-CN" sz="1600" dirty="0"/>
              <a:t> * c0;  </a:t>
            </a:r>
          </a:p>
          <a:p>
            <a:r>
              <a:rPr lang="en-US" altLang="zh-CN" sz="1600" dirty="0"/>
              <a:t>  x1c &lt;=</a:t>
            </a:r>
            <a:r>
              <a:rPr lang="en-US" altLang="zh-CN" sz="1600" dirty="0" err="1"/>
              <a:t>x_in</a:t>
            </a:r>
            <a:r>
              <a:rPr lang="en-US" altLang="zh-CN" sz="1600" dirty="0"/>
              <a:t> * c1; </a:t>
            </a:r>
          </a:p>
          <a:p>
            <a:r>
              <a:rPr lang="en-US" altLang="zh-CN" sz="1600" dirty="0"/>
              <a:t>  x2c &lt;=</a:t>
            </a:r>
            <a:r>
              <a:rPr lang="en-US" altLang="zh-CN" sz="1600" dirty="0" err="1"/>
              <a:t>x_in</a:t>
            </a:r>
            <a:r>
              <a:rPr lang="en-US" altLang="zh-CN" sz="1600" dirty="0"/>
              <a:t> * c2;  </a:t>
            </a:r>
          </a:p>
          <a:p>
            <a:r>
              <a:rPr lang="en-US" altLang="zh-CN" sz="1600" dirty="0"/>
              <a:t>  x3c &lt;=</a:t>
            </a:r>
            <a:r>
              <a:rPr lang="en-US" altLang="zh-CN" sz="1600" dirty="0" err="1"/>
              <a:t>x_in</a:t>
            </a:r>
            <a:r>
              <a:rPr lang="en-US" altLang="zh-CN" sz="1600" dirty="0"/>
              <a:t> * c3;</a:t>
            </a:r>
          </a:p>
          <a:p>
            <a:r>
              <a:rPr lang="en-US" altLang="zh-CN" sz="1600" dirty="0"/>
              <a:t>  x3c1&lt;=x3c;  </a:t>
            </a:r>
          </a:p>
          <a:p>
            <a:r>
              <a:rPr lang="en-US" altLang="zh-CN" sz="1600" dirty="0"/>
              <a:t>  x2c1&lt;=x2c + x3c1; </a:t>
            </a:r>
          </a:p>
          <a:p>
            <a:r>
              <a:rPr lang="en-US" altLang="zh-CN" sz="1600" dirty="0"/>
              <a:t>  x1c1&lt;=x1c + x2c1;</a:t>
            </a:r>
          </a:p>
          <a:p>
            <a:r>
              <a:rPr lang="zh-CN" altLang="en-US" sz="1600" dirty="0"/>
              <a:t>  y_out&lt;=</a:t>
            </a:r>
            <a:r>
              <a:rPr lang="en-US" altLang="zh-CN" sz="1600" dirty="0"/>
              <a:t>x0c</a:t>
            </a:r>
            <a:r>
              <a:rPr lang="zh-CN" altLang="en-US" sz="1600" dirty="0"/>
              <a:t> + x</a:t>
            </a:r>
            <a:r>
              <a:rPr lang="en-US" altLang="zh-CN" sz="1600" dirty="0"/>
              <a:t>1c1</a:t>
            </a:r>
            <a:r>
              <a:rPr lang="zh-CN" altLang="en-US" sz="1600" dirty="0"/>
              <a:t>;</a:t>
            </a:r>
            <a:endParaRPr lang="en-US" altLang="zh-CN" sz="1600" dirty="0"/>
          </a:p>
          <a:p>
            <a:r>
              <a:rPr lang="zh-CN" altLang="en-US" sz="1600" dirty="0"/>
              <a:t>end</a:t>
            </a:r>
          </a:p>
          <a:p>
            <a:r>
              <a:rPr lang="zh-CN" altLang="en-US" sz="1600" dirty="0"/>
              <a:t>endmodule</a:t>
            </a: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A40A9E4D-392E-4B36-B260-C207A517F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958205"/>
          </a:xfrm>
        </p:spPr>
        <p:txBody>
          <a:bodyPr/>
          <a:lstStyle/>
          <a:p>
            <a:r>
              <a:rPr lang="en-US" altLang="zh-CN" dirty="0"/>
              <a:t>Misc. Verilog </a:t>
            </a:r>
            <a:r>
              <a:rPr lang="zh-CN" altLang="en-US" dirty="0"/>
              <a:t>实例：</a:t>
            </a:r>
            <a:r>
              <a:rPr lang="en-US" altLang="zh-CN" dirty="0"/>
              <a:t>FIR(</a:t>
            </a:r>
            <a:r>
              <a:rPr lang="en-US" altLang="zh-CN" dirty="0" err="1"/>
              <a:t>cont</a:t>
            </a:r>
            <a:r>
              <a:rPr lang="en-US" altLang="zh-CN" dirty="0"/>
              <a:t>)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DE5AAEC-FED0-42B8-AECD-E3AF71CEDD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4048" y="1340768"/>
            <a:ext cx="3886742" cy="345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6363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8B1046-2334-43E6-8813-32FD5D8DC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720080"/>
          </a:xfrm>
        </p:spPr>
        <p:txBody>
          <a:bodyPr/>
          <a:lstStyle/>
          <a:p>
            <a:r>
              <a:rPr lang="en-US" altLang="zh-CN" dirty="0"/>
              <a:t>Generic SRAM model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F9A0D2-C1C4-4E64-B9A2-FDDC020D4A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908720"/>
            <a:ext cx="6984776" cy="5616624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1600" dirty="0"/>
              <a:t>module </a:t>
            </a:r>
            <a:r>
              <a:rPr lang="en-US" altLang="zh-CN" sz="1600" dirty="0" err="1"/>
              <a:t>sram_model</a:t>
            </a:r>
            <a:r>
              <a:rPr lang="en-US" altLang="zh-CN" sz="1600" dirty="0"/>
              <a:t> #(parameter DW = 32, BW=4, AW = 8, DEPTH = 256)(</a:t>
            </a:r>
          </a:p>
          <a:p>
            <a:pPr marL="0" indent="0">
              <a:buNone/>
            </a:pPr>
            <a:r>
              <a:rPr lang="en-US" altLang="zh-CN" sz="1600" dirty="0"/>
              <a:t>input </a:t>
            </a:r>
            <a:r>
              <a:rPr lang="en-US" altLang="zh-CN" sz="1600" dirty="0" err="1"/>
              <a:t>clk</a:t>
            </a:r>
            <a:r>
              <a:rPr lang="en-US" altLang="zh-CN" sz="1600" dirty="0"/>
              <a:t>, </a:t>
            </a:r>
          </a:p>
          <a:p>
            <a:pPr marL="0" indent="0">
              <a:buNone/>
            </a:pPr>
            <a:r>
              <a:rPr lang="en-US" altLang="zh-CN" sz="1600" dirty="0"/>
              <a:t>Input </a:t>
            </a:r>
            <a:r>
              <a:rPr lang="en-US" altLang="zh-CN" sz="1600" dirty="0" err="1"/>
              <a:t>csn</a:t>
            </a:r>
            <a:r>
              <a:rPr lang="en-US" altLang="zh-CN" sz="1600" dirty="0"/>
              <a:t>,</a:t>
            </a:r>
          </a:p>
          <a:p>
            <a:pPr marL="0" indent="0">
              <a:buNone/>
            </a:pPr>
            <a:r>
              <a:rPr lang="en-US" altLang="zh-CN" sz="1600" dirty="0"/>
              <a:t>input [AW-1:0] </a:t>
            </a:r>
            <a:r>
              <a:rPr lang="en-US" altLang="zh-CN" sz="1600" dirty="0" err="1"/>
              <a:t>adr</a:t>
            </a:r>
            <a:r>
              <a:rPr lang="en-US" altLang="zh-CN" sz="1600" dirty="0"/>
              <a:t>,</a:t>
            </a:r>
          </a:p>
          <a:p>
            <a:pPr marL="0" indent="0">
              <a:buNone/>
            </a:pPr>
            <a:r>
              <a:rPr lang="en-US" altLang="zh-CN" sz="1600" dirty="0"/>
              <a:t>input [BW-1:0] wen,</a:t>
            </a:r>
          </a:p>
          <a:p>
            <a:pPr marL="0" indent="0">
              <a:buNone/>
            </a:pPr>
            <a:r>
              <a:rPr lang="en-US" altLang="zh-CN" sz="1600" dirty="0"/>
              <a:t>input [DW-1:0] din,</a:t>
            </a:r>
          </a:p>
          <a:p>
            <a:pPr marL="0" indent="0">
              <a:buNone/>
            </a:pPr>
            <a:r>
              <a:rPr lang="en-US" altLang="zh-CN" sz="1600" dirty="0"/>
              <a:t>output[DW-1:0] </a:t>
            </a:r>
            <a:r>
              <a:rPr lang="en-US" altLang="zh-CN" sz="1600" dirty="0" err="1"/>
              <a:t>dout</a:t>
            </a:r>
            <a:r>
              <a:rPr lang="en-US" altLang="zh-CN" sz="1600" dirty="0"/>
              <a:t>); // Generic single-port synchronous RAM model</a:t>
            </a:r>
          </a:p>
          <a:p>
            <a:pPr marL="0" indent="0">
              <a:buNone/>
            </a:pPr>
            <a:r>
              <a:rPr lang="en-US" altLang="zh-CN" sz="1600" dirty="0"/>
              <a:t>reg [DW-1:0] mem [DEPTH-1:0];	// RAM content</a:t>
            </a:r>
          </a:p>
          <a:p>
            <a:pPr marL="0" indent="0">
              <a:buNone/>
            </a:pPr>
            <a:r>
              <a:rPr lang="en-US" altLang="zh-CN" sz="1600" dirty="0"/>
              <a:t>reg [AW-1:0] </a:t>
            </a:r>
            <a:r>
              <a:rPr lang="en-US" altLang="zh-CN" sz="1600" dirty="0" err="1"/>
              <a:t>addr_reg</a:t>
            </a:r>
            <a:r>
              <a:rPr lang="en-US" altLang="zh-CN" sz="1600" dirty="0"/>
              <a:t>;	// RAM address register</a:t>
            </a:r>
          </a:p>
          <a:p>
            <a:pPr marL="0" indent="0">
              <a:buNone/>
            </a:pPr>
            <a:r>
              <a:rPr lang="en-US" altLang="zh-CN" sz="1600" dirty="0"/>
              <a:t>integer </a:t>
            </a:r>
            <a:r>
              <a:rPr lang="en-US" altLang="zh-CN" sz="1600" dirty="0" err="1"/>
              <a:t>i</a:t>
            </a:r>
            <a:r>
              <a:rPr lang="en-US" altLang="zh-CN" sz="1600" dirty="0"/>
              <a:t>;</a:t>
            </a:r>
          </a:p>
          <a:p>
            <a:pPr marL="0" indent="0">
              <a:buNone/>
            </a:pPr>
            <a:r>
              <a:rPr lang="en-US" altLang="zh-CN" sz="1600" dirty="0"/>
              <a:t>assign </a:t>
            </a:r>
            <a:r>
              <a:rPr lang="en-US" altLang="zh-CN" sz="1600" dirty="0" err="1"/>
              <a:t>dout</a:t>
            </a:r>
            <a:r>
              <a:rPr lang="en-US" altLang="zh-CN" sz="1600" dirty="0"/>
              <a:t> = mem[</a:t>
            </a:r>
            <a:r>
              <a:rPr lang="en-US" altLang="zh-CN" sz="1600" dirty="0" err="1"/>
              <a:t>addr_reg</a:t>
            </a:r>
            <a:r>
              <a:rPr lang="en-US" altLang="zh-CN" sz="1600" dirty="0"/>
              <a:t>];</a:t>
            </a:r>
          </a:p>
          <a:p>
            <a:pPr marL="0" indent="0">
              <a:buNone/>
            </a:pPr>
            <a:r>
              <a:rPr lang="en-US" altLang="zh-CN" sz="1600" dirty="0"/>
              <a:t>always @(</a:t>
            </a:r>
            <a:r>
              <a:rPr lang="en-US" altLang="zh-CN" sz="1600" dirty="0" err="1"/>
              <a:t>posedge</a:t>
            </a:r>
            <a:r>
              <a:rPr lang="en-US" altLang="zh-CN" sz="1600" dirty="0"/>
              <a:t> </a:t>
            </a:r>
            <a:r>
              <a:rPr lang="en-US" altLang="zh-CN" sz="1600" dirty="0" err="1"/>
              <a:t>clk</a:t>
            </a:r>
            <a:r>
              <a:rPr lang="en-US" altLang="zh-CN" sz="1600" dirty="0"/>
              <a:t>)</a:t>
            </a:r>
          </a:p>
          <a:p>
            <a:pPr marL="0" indent="0">
              <a:buNone/>
            </a:pPr>
            <a:r>
              <a:rPr lang="en-US" altLang="zh-CN" sz="1600" dirty="0"/>
              <a:t>if (~</a:t>
            </a:r>
            <a:r>
              <a:rPr lang="en-US" altLang="zh-CN" sz="1600" dirty="0" err="1"/>
              <a:t>csn</a:t>
            </a:r>
            <a:r>
              <a:rPr lang="en-US" altLang="zh-CN" sz="1600" dirty="0"/>
              <a:t>)	</a:t>
            </a:r>
            <a:r>
              <a:rPr lang="en-US" altLang="zh-CN" sz="1600" dirty="0" err="1"/>
              <a:t>addr_reg</a:t>
            </a:r>
            <a:r>
              <a:rPr lang="en-US" altLang="zh-CN" sz="1600" dirty="0"/>
              <a:t> &lt;= </a:t>
            </a:r>
            <a:r>
              <a:rPr lang="en-US" altLang="zh-CN" sz="1600" dirty="0" err="1"/>
              <a:t>adr</a:t>
            </a:r>
            <a:r>
              <a:rPr lang="en-US" altLang="zh-CN" sz="1600" dirty="0"/>
              <a:t>;</a:t>
            </a:r>
          </a:p>
          <a:p>
            <a:pPr marL="0" indent="0">
              <a:buNone/>
            </a:pPr>
            <a:r>
              <a:rPr lang="en-US" altLang="zh-CN" sz="1600" dirty="0"/>
              <a:t>always @(</a:t>
            </a:r>
            <a:r>
              <a:rPr lang="en-US" altLang="zh-CN" sz="1600" dirty="0" err="1"/>
              <a:t>posedge</a:t>
            </a:r>
            <a:r>
              <a:rPr lang="en-US" altLang="zh-CN" sz="1600" dirty="0"/>
              <a:t> </a:t>
            </a:r>
            <a:r>
              <a:rPr lang="en-US" altLang="zh-CN" sz="1600" dirty="0" err="1"/>
              <a:t>clk</a:t>
            </a:r>
            <a:r>
              <a:rPr lang="en-US" altLang="zh-CN" sz="1600" dirty="0"/>
              <a:t>)</a:t>
            </a:r>
          </a:p>
          <a:p>
            <a:pPr marL="0" indent="0">
              <a:buNone/>
            </a:pPr>
            <a:r>
              <a:rPr lang="en-US" altLang="zh-CN" sz="1600" dirty="0"/>
              <a:t>if (~</a:t>
            </a:r>
            <a:r>
              <a:rPr lang="en-US" altLang="zh-CN" sz="1600" dirty="0" err="1"/>
              <a:t>csn</a:t>
            </a:r>
            <a:r>
              <a:rPr lang="en-US" altLang="zh-CN" sz="1600" dirty="0"/>
              <a:t>)	begin</a:t>
            </a:r>
          </a:p>
          <a:p>
            <a:pPr marL="0" indent="0">
              <a:buNone/>
            </a:pPr>
            <a:r>
              <a:rPr lang="en-US" altLang="zh-CN" sz="1600" dirty="0"/>
              <a:t>  for (</a:t>
            </a:r>
            <a:r>
              <a:rPr lang="en-US" altLang="zh-CN" sz="1600" dirty="0" err="1"/>
              <a:t>i</a:t>
            </a:r>
            <a:r>
              <a:rPr lang="en-US" altLang="zh-CN" sz="1600" dirty="0"/>
              <a:t>=0;i&lt;</a:t>
            </a:r>
            <a:r>
              <a:rPr lang="en-US" altLang="zh-CN" sz="1600" dirty="0" err="1"/>
              <a:t>BW;i</a:t>
            </a:r>
            <a:r>
              <a:rPr lang="en-US" altLang="zh-CN" sz="1600" dirty="0"/>
              <a:t>=i+1)</a:t>
            </a:r>
          </a:p>
          <a:p>
            <a:pPr marL="0" indent="0">
              <a:buNone/>
            </a:pPr>
            <a:r>
              <a:rPr lang="en-US" altLang="zh-CN" sz="1600" dirty="0"/>
              <a:t>       if(~wen[</a:t>
            </a:r>
            <a:r>
              <a:rPr lang="en-US" altLang="zh-CN" sz="1600" dirty="0" err="1"/>
              <a:t>i</a:t>
            </a:r>
            <a:r>
              <a:rPr lang="en-US" altLang="zh-CN" sz="1600" dirty="0"/>
              <a:t>]) mem[</a:t>
            </a:r>
            <a:r>
              <a:rPr lang="en-US" altLang="zh-CN" sz="1600" dirty="0" err="1"/>
              <a:t>adr</a:t>
            </a:r>
            <a:r>
              <a:rPr lang="en-US" altLang="zh-CN" sz="1600" dirty="0"/>
              <a:t>][</a:t>
            </a:r>
            <a:r>
              <a:rPr lang="en-US" altLang="zh-CN" sz="1600" dirty="0" err="1"/>
              <a:t>i</a:t>
            </a:r>
            <a:r>
              <a:rPr lang="en-US" altLang="zh-CN" sz="1600" dirty="0"/>
              <a:t>*8+</a:t>
            </a:r>
            <a:r>
              <a:rPr lang="zh-CN" altLang="en-US" sz="1600" dirty="0"/>
              <a:t>：</a:t>
            </a:r>
            <a:r>
              <a:rPr lang="en-US" altLang="zh-CN" sz="1600" dirty="0"/>
              <a:t>8] &lt;=  din[</a:t>
            </a:r>
            <a:r>
              <a:rPr lang="en-US" altLang="zh-CN" sz="1600" dirty="0" err="1"/>
              <a:t>i</a:t>
            </a:r>
            <a:r>
              <a:rPr lang="en-US" altLang="zh-CN" sz="1600" dirty="0"/>
              <a:t>*8+</a:t>
            </a:r>
            <a:r>
              <a:rPr lang="zh-CN" altLang="en-US" sz="1600" dirty="0"/>
              <a:t>：</a:t>
            </a:r>
            <a:r>
              <a:rPr lang="en-US" altLang="zh-CN" sz="1600" dirty="0"/>
              <a:t>8];</a:t>
            </a:r>
          </a:p>
          <a:p>
            <a:pPr marL="0" indent="0">
              <a:buNone/>
            </a:pPr>
            <a:r>
              <a:rPr lang="en-US" altLang="zh-CN" sz="1600" dirty="0"/>
              <a:t>end</a:t>
            </a:r>
          </a:p>
          <a:p>
            <a:pPr marL="0" indent="0">
              <a:buNone/>
            </a:pPr>
            <a:r>
              <a:rPr lang="en-US" altLang="zh-CN" sz="1600" dirty="0" err="1"/>
              <a:t>endmodule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504052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8927</TotalTime>
  <Words>2503</Words>
  <Application>Microsoft Office PowerPoint</Application>
  <PresentationFormat>全屏显示(4:3)</PresentationFormat>
  <Paragraphs>245</Paragraphs>
  <Slides>26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9" baseType="lpstr">
      <vt:lpstr>CourierNewPS-BoldMT</vt:lpstr>
      <vt:lpstr>CourierNewPSMT</vt:lpstr>
      <vt:lpstr>TimesNewRomanPSMT</vt:lpstr>
      <vt:lpstr>等线</vt:lpstr>
      <vt:lpstr>仿宋_GB2312</vt:lpstr>
      <vt:lpstr>宋体</vt:lpstr>
      <vt:lpstr>Arial</vt:lpstr>
      <vt:lpstr>Calibri</vt:lpstr>
      <vt:lpstr>Cambria Math</vt:lpstr>
      <vt:lpstr>Times New Roman</vt:lpstr>
      <vt:lpstr>Verdana</vt:lpstr>
      <vt:lpstr>Wingdings</vt:lpstr>
      <vt:lpstr>Office 主题​​</vt:lpstr>
      <vt:lpstr>PowerPoint 演示文稿</vt:lpstr>
      <vt:lpstr>主要内容</vt:lpstr>
      <vt:lpstr>ALU之加法器</vt:lpstr>
      <vt:lpstr>ALU之加法器(cont)</vt:lpstr>
      <vt:lpstr>ALU之加法器(cont)</vt:lpstr>
      <vt:lpstr>ALU之加法器(cont)</vt:lpstr>
      <vt:lpstr>ALU之加法器(cont)</vt:lpstr>
      <vt:lpstr>ALU之乘法器(cont)</vt:lpstr>
      <vt:lpstr>ALU之乘法器</vt:lpstr>
      <vt:lpstr>ALU之乘法器(cont)</vt:lpstr>
      <vt:lpstr>ALU之除法器</vt:lpstr>
      <vt:lpstr>ALU之除法器(cont)</vt:lpstr>
      <vt:lpstr>ALU(Arithmetic and Logic Unit)</vt:lpstr>
      <vt:lpstr>Finite State Machine(FSM)</vt:lpstr>
      <vt:lpstr>FSM state encoding</vt:lpstr>
      <vt:lpstr>FSM Good Style: two always block</vt:lpstr>
      <vt:lpstr>FSM Style: one always block(avoid)</vt:lpstr>
      <vt:lpstr>FSM Style: one-hot coding（good）</vt:lpstr>
      <vt:lpstr>FSM Style: registered outputs(good)</vt:lpstr>
      <vt:lpstr>Misc. Verilog 实例：并行输入/输出</vt:lpstr>
      <vt:lpstr>Misc. Verilog 实例：串行输入/输出</vt:lpstr>
      <vt:lpstr>Misc. Verilog 实例：FIR</vt:lpstr>
      <vt:lpstr>Misc. Verilog 实例：FIR(cont)</vt:lpstr>
      <vt:lpstr>Misc. Verilog 实例：FIR(cont)</vt:lpstr>
      <vt:lpstr>Misc. Verilog 实例：FIR(cont)</vt:lpstr>
      <vt:lpstr>Generic SRAM model</vt:lpstr>
    </vt:vector>
  </TitlesOfParts>
  <Company>tj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national</dc:creator>
  <cp:lastModifiedBy>z</cp:lastModifiedBy>
  <cp:revision>839</cp:revision>
  <dcterms:created xsi:type="dcterms:W3CDTF">2007-07-19T09:42:33Z</dcterms:created>
  <dcterms:modified xsi:type="dcterms:W3CDTF">2022-04-28T09:56:57Z</dcterms:modified>
</cp:coreProperties>
</file>