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9"/>
  </p:notesMasterIdLst>
  <p:sldIdLst>
    <p:sldId id="277" r:id="rId2"/>
    <p:sldId id="488" r:id="rId3"/>
    <p:sldId id="624" r:id="rId4"/>
    <p:sldId id="605" r:id="rId5"/>
    <p:sldId id="603" r:id="rId6"/>
    <p:sldId id="604" r:id="rId7"/>
    <p:sldId id="543" r:id="rId8"/>
    <p:sldId id="606" r:id="rId9"/>
    <p:sldId id="584" r:id="rId10"/>
    <p:sldId id="607" r:id="rId11"/>
    <p:sldId id="608" r:id="rId12"/>
    <p:sldId id="609" r:id="rId13"/>
    <p:sldId id="610" r:id="rId14"/>
    <p:sldId id="611" r:id="rId15"/>
    <p:sldId id="612" r:id="rId16"/>
    <p:sldId id="613" r:id="rId17"/>
    <p:sldId id="614" r:id="rId18"/>
    <p:sldId id="615" r:id="rId19"/>
    <p:sldId id="616" r:id="rId20"/>
    <p:sldId id="617" r:id="rId21"/>
    <p:sldId id="618" r:id="rId22"/>
    <p:sldId id="619" r:id="rId23"/>
    <p:sldId id="620" r:id="rId24"/>
    <p:sldId id="601" r:id="rId25"/>
    <p:sldId id="621" r:id="rId26"/>
    <p:sldId id="622" r:id="rId27"/>
    <p:sldId id="623" r:id="rId2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CC99"/>
    <a:srgbClr val="993300"/>
    <a:srgbClr val="FF9900"/>
    <a:srgbClr val="FFFF66"/>
    <a:srgbClr val="66FF33"/>
    <a:srgbClr val="00FF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24" autoAdjust="0"/>
    <p:restoredTop sz="84288" autoAdjust="0"/>
  </p:normalViewPr>
  <p:slideViewPr>
    <p:cSldViewPr>
      <p:cViewPr varScale="1">
        <p:scale>
          <a:sx n="72" d="100"/>
          <a:sy n="72" d="100"/>
        </p:scale>
        <p:origin x="658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459011DF-2B26-47D2-8C9C-8B57223F28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F9D6D93F-7EA7-46A3-87FD-4B41DA0222A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B5331D0-518B-4FDB-AED6-F9D8AF80E62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FCED220D-8E45-4446-9B10-150193E4999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15718" name="Rectangle 6">
            <a:extLst>
              <a:ext uri="{FF2B5EF4-FFF2-40B4-BE49-F238E27FC236}">
                <a16:creationId xmlns:a16="http://schemas.microsoft.com/office/drawing/2014/main" id="{1A470E2F-32D9-4A4E-9927-F1ED017451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5719" name="Rectangle 7">
            <a:extLst>
              <a:ext uri="{FF2B5EF4-FFF2-40B4-BE49-F238E27FC236}">
                <a16:creationId xmlns:a16="http://schemas.microsoft.com/office/drawing/2014/main" id="{47EF8308-EC31-4A0A-A29E-A22EE3EBC4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5D76836-F611-4B03-A073-39BC50477C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826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8184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8849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635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0949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1350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020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6767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7018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748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0863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3163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0145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136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594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2258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37427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9792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4983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8230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81406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5557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13342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034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9605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073E0C-595E-4C53-9095-8208B065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B1E6C-A0FA-473D-881F-01B288FF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965E1-6CEF-4B23-BAC6-1B9B5A5E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E8921-E360-4F97-9C99-61A8741713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878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614CD-B239-45D8-A0A7-A12DEFF4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9DCE3F-9750-4FFD-A721-4D3E1657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F3DD8-E4BC-4FD3-8612-043EA5BA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42A9A-50D9-44A0-942F-830B13065C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91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16A9-C9F5-4902-A039-6290DA8C0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7336F3-15CE-4640-985D-FEF85705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2E73B-89F0-4624-8161-00493E663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5FD0E-A9F0-4EE9-A7BA-C1FC57D0F8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547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84298B5-1997-47D3-8707-43139F3C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9C13878-3A5B-4C6E-A392-24112FF2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318DBB8-F3A7-4DB1-B70A-9BB8BBE1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74120-868A-4421-8249-4D6E3ADF6E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6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B5DDD5D-68B2-4EE4-9D49-47ECEFAF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269F8334-9B83-4AFE-829B-1D1AB9DF9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8AC02CA-5B2C-4006-8CF2-9AFD2C5F3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73EEF-4FEF-4791-9BF5-33ED2E9237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7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57A7FE08-A47F-4728-BA15-939D7D16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91E6467E-C8D4-4B27-B76E-17877C35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18B86C8-75E7-42E3-9475-F5A931077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EDC7B-39ED-4E06-8261-D282CFB739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890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D63E48E-14B0-4254-85F2-1127F8EF8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CD097F6E-BBCD-4B75-8AA0-D308D588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96222CC-E15B-4156-B3B7-3118E27E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18EFD-3A09-45D9-93FD-660BCD5D13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5780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9874A74-7AD0-4E58-BCCC-249F369E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BB7CA2F-3DF2-49AD-9CFD-031F69E1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E4ADBA7-8C9B-46F8-8CA9-1C50501B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7728D-3AF0-4D0B-8BBC-0205917820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02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4F84FB5-1CCE-40FE-B3AB-DBF9BEF55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466C46B-A236-4A20-B24E-803F8A00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67AB6C4-84B8-47E3-A774-091F3480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70BCD-4D22-4981-9B1B-3248931CF6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926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A6063F-5BED-4D65-9A6C-76CBFDD5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F8E9E7-9530-4E53-9BAC-529EEACB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76F0A4-4CF5-4EDF-8761-F2A12331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737E1-E987-4AD5-B2EB-0DDC696930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8526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CDBBE8-3F87-4EAA-AD7E-2E493800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92921-454E-40E8-8306-30A3BA2B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4A951-BEE1-473C-A9B4-94A9FAAF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CB01F-0E82-40BF-8900-42E0D2BCC4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27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752F6EB8-5E53-465C-9AF4-2F9556260DF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3D3C6D25-02EA-4FD7-BBFE-0A079CC201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9B950-2279-426B-A75D-2205C4FDC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5F833-D392-45C0-81AD-6A85F2D1B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C5D78B-D30C-4403-B3CF-84D6D44D6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D04381-0D1C-45F5-A5D4-2780077062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>
            <a:extLst>
              <a:ext uri="{FF2B5EF4-FFF2-40B4-BE49-F238E27FC236}">
                <a16:creationId xmlns:a16="http://schemas.microsoft.com/office/drawing/2014/main" id="{11354116-69CD-41E5-87B9-1870544991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038725"/>
          </a:xfrm>
        </p:spPr>
        <p:txBody>
          <a:bodyPr/>
          <a:lstStyle/>
          <a:p>
            <a:pPr eaLnBrk="1" hangingPunct="1"/>
            <a:endParaRPr lang="en-US" altLang="zh-CN" sz="2400" b="1" dirty="0"/>
          </a:p>
          <a:p>
            <a:pPr eaLnBrk="1" hangingPunct="1"/>
            <a:endParaRPr lang="en-US" altLang="zh-CN" sz="2400" b="1" dirty="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异步数据采集</a:t>
            </a:r>
            <a:endParaRPr lang="en-US" altLang="zh-CN" sz="2800" dirty="0">
              <a:latin typeface="仿宋_GB2312" pitchFamily="49" charset="-122"/>
              <a:ea typeface="仿宋_GB2312" pitchFamily="49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之</a:t>
            </a:r>
            <a:endParaRPr lang="en-US" altLang="zh-CN" sz="2800" dirty="0">
              <a:latin typeface="仿宋_GB2312" pitchFamily="49" charset="-122"/>
              <a:ea typeface="仿宋_GB2312" pitchFamily="49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4800" b="1" dirty="0">
                <a:latin typeface="仿宋_GB2312" pitchFamily="49" charset="-122"/>
                <a:ea typeface="仿宋_GB2312" pitchFamily="49" charset="-122"/>
              </a:rPr>
              <a:t>Verilog</a:t>
            </a:r>
            <a:r>
              <a:rPr lang="zh-CN" altLang="en-US" sz="4800" b="1" dirty="0">
                <a:latin typeface="仿宋_GB2312" pitchFamily="49" charset="-122"/>
                <a:ea typeface="仿宋_GB2312" pitchFamily="49" charset="-122"/>
              </a:rPr>
              <a:t>设计实例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4800" b="1" dirty="0">
                <a:latin typeface="仿宋_GB2312" pitchFamily="49" charset="-122"/>
                <a:ea typeface="仿宋_GB2312" pitchFamily="49" charset="-122"/>
              </a:rPr>
              <a:t>         </a:t>
            </a:r>
            <a:endParaRPr lang="en-US" altLang="zh-CN" sz="4800" b="1" dirty="0">
              <a:latin typeface="仿宋_GB2312" pitchFamily="49" charset="-122"/>
              <a:ea typeface="仿宋_GB2312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4800" b="1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zh-CN" altLang="en-US" sz="3600" b="1" dirty="0"/>
              <a:t>主要内容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267538" y="641845"/>
            <a:ext cx="84809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4000" dirty="0"/>
              <a:t>Asynchronous FIFO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4000" dirty="0"/>
              <a:t>Clock Domain Crossing Design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4000" dirty="0"/>
              <a:t>信号去抖（</a:t>
            </a:r>
            <a:r>
              <a:rPr lang="en-US" altLang="zh-CN" sz="4000" dirty="0"/>
              <a:t>debounce</a:t>
            </a:r>
            <a:r>
              <a:rPr lang="zh-CN" altLang="en-US" sz="4000" dirty="0"/>
              <a:t>）</a:t>
            </a: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3285206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267538" y="641845"/>
            <a:ext cx="87129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 </a:t>
            </a:r>
            <a:r>
              <a:rPr lang="zh-CN" altLang="en-US" sz="2400" dirty="0"/>
              <a:t>简介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异步</a:t>
            </a:r>
            <a:r>
              <a:rPr lang="en-US" altLang="zh-CN" sz="2400" dirty="0"/>
              <a:t>FIFO</a:t>
            </a:r>
            <a:r>
              <a:rPr lang="zh-CN" altLang="en-US" sz="2400" dirty="0"/>
              <a:t>用于不同时钟域之间传递多比特数据。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数据在写时钟域存储到</a:t>
            </a:r>
            <a:r>
              <a:rPr lang="en-US" altLang="zh-CN" sz="2400" dirty="0"/>
              <a:t>FIFO</a:t>
            </a:r>
            <a:r>
              <a:rPr lang="zh-CN" altLang="en-US" sz="2400" dirty="0"/>
              <a:t>内部的存储器中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当</a:t>
            </a:r>
            <a:r>
              <a:rPr lang="en-US" altLang="zh-CN" sz="2400" dirty="0"/>
              <a:t>FIFO</a:t>
            </a:r>
            <a:r>
              <a:rPr lang="zh-CN" altLang="en-US" sz="2400" dirty="0"/>
              <a:t>不空时，数据在读时钟域从</a:t>
            </a:r>
            <a:r>
              <a:rPr lang="en-US" altLang="zh-CN" sz="2400" dirty="0"/>
              <a:t>FIFO</a:t>
            </a:r>
            <a:r>
              <a:rPr lang="zh-CN" altLang="en-US" sz="2400" dirty="0"/>
              <a:t>内部存储器中取出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37C639-BAE1-4B03-B8CB-0D80BAD42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9711"/>
            <a:ext cx="8313557" cy="493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1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71296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 FIFO</a:t>
            </a:r>
            <a:r>
              <a:rPr lang="zh-CN" altLang="en-US" sz="2400" dirty="0"/>
              <a:t>读写指针</a:t>
            </a:r>
            <a:endParaRPr lang="en-US" altLang="zh-CN" sz="2400" dirty="0"/>
          </a:p>
          <a:p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FIFO</a:t>
            </a:r>
            <a:r>
              <a:rPr lang="zh-CN" altLang="en-US" sz="2400" dirty="0"/>
              <a:t>的写指针</a:t>
            </a:r>
            <a:endParaRPr lang="en-US" altLang="zh-CN" sz="2400" dirty="0"/>
          </a:p>
          <a:p>
            <a:r>
              <a:rPr lang="en-US" altLang="zh-CN" sz="2400" dirty="0" err="1"/>
              <a:t>wclk</a:t>
            </a:r>
            <a:r>
              <a:rPr lang="en-US" altLang="zh-CN" sz="2400" dirty="0"/>
              <a:t> domain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 err="1"/>
              <a:t>waddr</a:t>
            </a:r>
            <a:r>
              <a:rPr lang="zh-CN" altLang="en-US" sz="2400" dirty="0"/>
              <a:t>：</a:t>
            </a:r>
            <a:r>
              <a:rPr lang="en-US" altLang="zh-CN" sz="2400" dirty="0"/>
              <a:t>FIFO</a:t>
            </a:r>
            <a:r>
              <a:rPr lang="zh-CN" altLang="en-US" sz="2400" dirty="0"/>
              <a:t>内部存储器中的地址，用于存储下一个写数据</a:t>
            </a:r>
            <a:endParaRPr lang="en-US" altLang="zh-CN" sz="2400" dirty="0"/>
          </a:p>
          <a:p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FIFO</a:t>
            </a:r>
            <a:r>
              <a:rPr lang="zh-CN" altLang="en-US" sz="2400" dirty="0"/>
              <a:t>的读指针</a:t>
            </a:r>
            <a:endParaRPr lang="en-US" altLang="zh-CN" sz="2400" dirty="0"/>
          </a:p>
          <a:p>
            <a:r>
              <a:rPr lang="en-US" altLang="zh-CN" sz="2400" dirty="0" err="1"/>
              <a:t>rclk</a:t>
            </a:r>
            <a:r>
              <a:rPr lang="en-US" altLang="zh-CN" sz="2400" dirty="0"/>
              <a:t> domain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 err="1"/>
              <a:t>raddr</a:t>
            </a:r>
            <a:r>
              <a:rPr lang="zh-CN" altLang="en-US" sz="2400" dirty="0"/>
              <a:t>：</a:t>
            </a:r>
            <a:r>
              <a:rPr lang="en-US" altLang="zh-CN" sz="2400" dirty="0"/>
              <a:t> FIFO</a:t>
            </a:r>
            <a:r>
              <a:rPr lang="zh-CN" altLang="en-US" sz="2400" dirty="0"/>
              <a:t>内部存储器中的地址，指向下一个待读取数据</a:t>
            </a:r>
            <a:endParaRPr lang="en-US" altLang="zh-CN" sz="2400" dirty="0"/>
          </a:p>
          <a:p>
            <a:r>
              <a:rPr lang="zh-CN" altLang="en-US" sz="2400" dirty="0"/>
              <a:t>（当</a:t>
            </a:r>
            <a:r>
              <a:rPr lang="en-US" altLang="zh-CN" sz="2400" dirty="0" err="1"/>
              <a:t>fifo</a:t>
            </a:r>
            <a:r>
              <a:rPr lang="en-US" altLang="zh-CN" sz="2400" dirty="0"/>
              <a:t> read</a:t>
            </a:r>
            <a:r>
              <a:rPr lang="zh-CN" altLang="en-US" sz="2400" dirty="0"/>
              <a:t>时，数据已经在端口准备好）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661772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FIFO </a:t>
            </a:r>
            <a:r>
              <a:rPr lang="zh-CN" altLang="en-US" sz="2400" dirty="0"/>
              <a:t>空满条件：</a:t>
            </a:r>
            <a:r>
              <a:rPr lang="zh-CN" altLang="en-US" sz="2400" b="1" i="1" dirty="0"/>
              <a:t>读指针和写指针相等时</a:t>
            </a:r>
            <a:endParaRPr lang="en-US" altLang="zh-CN" sz="2400" b="1" i="1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使用</a:t>
            </a:r>
            <a:r>
              <a:rPr lang="en-US" altLang="zh-CN" sz="2400" b="1" dirty="0">
                <a:solidFill>
                  <a:srgbClr val="FF0000"/>
                </a:solidFill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</a:rPr>
              <a:t>位宽度的读写指针，其中</a:t>
            </a:r>
            <a:r>
              <a:rPr lang="en-US" altLang="zh-CN" sz="2400" b="1" dirty="0">
                <a:solidFill>
                  <a:srgbClr val="FF0000"/>
                </a:solidFill>
              </a:rPr>
              <a:t>n-1</a:t>
            </a:r>
            <a:r>
              <a:rPr lang="zh-CN" altLang="en-US" sz="2400" b="1" dirty="0">
                <a:solidFill>
                  <a:srgbClr val="FF0000"/>
                </a:solidFill>
              </a:rPr>
              <a:t>位对应</a:t>
            </a:r>
            <a:r>
              <a:rPr lang="en-US" altLang="zh-CN" sz="2400" b="1" dirty="0">
                <a:solidFill>
                  <a:srgbClr val="FF0000"/>
                </a:solidFill>
              </a:rPr>
              <a:t>FIFO</a:t>
            </a:r>
            <a:r>
              <a:rPr lang="zh-CN" altLang="en-US" sz="2400" b="1" dirty="0">
                <a:solidFill>
                  <a:srgbClr val="FF0000"/>
                </a:solidFill>
              </a:rPr>
              <a:t>存储器地址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543C38-0966-474B-8B0A-9397AC4D6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49" y="1632507"/>
            <a:ext cx="741045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53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FIFO</a:t>
            </a:r>
            <a:r>
              <a:rPr lang="zh-CN" altLang="en-US" sz="2400" dirty="0"/>
              <a:t>读写指针的设计考虑</a:t>
            </a:r>
            <a:endParaRPr lang="en-US" altLang="zh-CN" sz="2400" dirty="0"/>
          </a:p>
          <a:p>
            <a:r>
              <a:rPr lang="zh-CN" altLang="en-US" sz="2400" dirty="0"/>
              <a:t>读写指针为多比特数据，需要不同时钟域之间传递。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1</a:t>
            </a:r>
            <a:r>
              <a:rPr lang="zh-CN" altLang="en-US" sz="2400" dirty="0"/>
              <a:t>）采用握手协议进行数据传递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需要保证在</a:t>
            </a:r>
            <a:r>
              <a:rPr lang="en-US" altLang="zh-CN" sz="2400" dirty="0"/>
              <a:t>Ack</a:t>
            </a:r>
            <a:r>
              <a:rPr lang="zh-CN" altLang="en-US" sz="2400" dirty="0"/>
              <a:t>阶段，指针数值保持稳定；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条件无法保证，从而可能导致</a:t>
            </a:r>
            <a:r>
              <a:rPr lang="en-US" altLang="zh-CN" sz="2400" b="1" dirty="0">
                <a:solidFill>
                  <a:srgbClr val="FF0000"/>
                </a:solidFill>
              </a:rPr>
              <a:t>FIFO</a:t>
            </a:r>
            <a:r>
              <a:rPr lang="zh-CN" altLang="en-US" sz="2400" b="1" dirty="0">
                <a:solidFill>
                  <a:srgbClr val="FF0000"/>
                </a:solidFill>
              </a:rPr>
              <a:t>出现</a:t>
            </a:r>
            <a:r>
              <a:rPr lang="en-US" altLang="zh-CN" sz="2400" b="1" dirty="0">
                <a:solidFill>
                  <a:srgbClr val="FF0000"/>
                </a:solidFill>
              </a:rPr>
              <a:t>underflow</a:t>
            </a:r>
            <a:r>
              <a:rPr lang="zh-CN" altLang="en-US" sz="2400" b="1" dirty="0">
                <a:solidFill>
                  <a:srgbClr val="FF0000"/>
                </a:solidFill>
              </a:rPr>
              <a:t>或者</a:t>
            </a:r>
            <a:r>
              <a:rPr lang="en-US" altLang="zh-CN" sz="2400" b="1" dirty="0">
                <a:solidFill>
                  <a:srgbClr val="FF0000"/>
                </a:solidFill>
              </a:rPr>
              <a:t>overflow</a:t>
            </a:r>
          </a:p>
          <a:p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）采用格雷码</a:t>
            </a:r>
            <a:endParaRPr lang="en-US" altLang="zh-CN" sz="2400" dirty="0"/>
          </a:p>
          <a:p>
            <a:r>
              <a:rPr lang="zh-CN" altLang="en-US" sz="2400" dirty="0"/>
              <a:t>在任意时刻，只有</a:t>
            </a:r>
            <a:r>
              <a:rPr lang="en-US" altLang="zh-CN" sz="2400" dirty="0"/>
              <a:t>1-bit</a:t>
            </a:r>
            <a:r>
              <a:rPr lang="zh-CN" altLang="en-US" sz="2400" dirty="0"/>
              <a:t>数据发生变化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47944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215516" y="620688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3 </a:t>
            </a:r>
            <a:r>
              <a:rPr lang="zh-CN" altLang="en-US" sz="2400" dirty="0"/>
              <a:t>格雷码计数器</a:t>
            </a:r>
            <a:endParaRPr lang="en-US" altLang="zh-CN" sz="2400" dirty="0"/>
          </a:p>
          <a:p>
            <a:r>
              <a:rPr lang="zh-CN" altLang="en-US" sz="2400" dirty="0"/>
              <a:t>相邻</a:t>
            </a:r>
            <a:r>
              <a:rPr lang="en-US" altLang="zh-CN" sz="2400" dirty="0"/>
              <a:t>word</a:t>
            </a:r>
            <a:r>
              <a:rPr lang="zh-CN" altLang="en-US" sz="2400" dirty="0"/>
              <a:t>之间只更改</a:t>
            </a:r>
            <a:r>
              <a:rPr lang="en-US" altLang="zh-CN" sz="2400" dirty="0"/>
              <a:t>1-bit</a:t>
            </a:r>
            <a:r>
              <a:rPr lang="zh-CN" altLang="en-US" sz="2400" dirty="0"/>
              <a:t>；深度对应</a:t>
            </a:r>
            <a:r>
              <a:rPr lang="en-US" altLang="zh-CN" sz="2400" dirty="0"/>
              <a:t>2</a:t>
            </a:r>
            <a:r>
              <a:rPr lang="zh-CN" altLang="en-US" sz="2400" dirty="0"/>
              <a:t>的幂次（</a:t>
            </a:r>
            <a:r>
              <a:rPr lang="en-US" altLang="zh-CN" sz="2400" dirty="0"/>
              <a:t>n-bit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n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F66258A-CB66-463E-ACA9-F0BC39678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33" y="1628800"/>
            <a:ext cx="7848872" cy="484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64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215516" y="620688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4 FIFO</a:t>
            </a:r>
            <a:r>
              <a:rPr lang="zh-CN" altLang="en-US" sz="2400" dirty="0"/>
              <a:t>框图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E02524C-492B-4E62-B2A4-4B715ECCE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37" y="1484784"/>
            <a:ext cx="8313557" cy="493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875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712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5 FIFO</a:t>
            </a:r>
            <a:r>
              <a:rPr lang="zh-CN" altLang="en-US" sz="2400" dirty="0"/>
              <a:t>空满</a:t>
            </a:r>
            <a:r>
              <a:rPr lang="en-US" altLang="zh-CN" sz="2400" dirty="0"/>
              <a:t>(empty &amp; full)</a:t>
            </a:r>
            <a:r>
              <a:rPr lang="zh-CN" altLang="en-US" sz="2400" dirty="0"/>
              <a:t>的处理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5.1 </a:t>
            </a:r>
            <a:r>
              <a:rPr lang="zh-CN" altLang="en-US" sz="2400" dirty="0"/>
              <a:t>产生</a:t>
            </a:r>
            <a:r>
              <a:rPr lang="en-US" altLang="zh-CN" sz="2400" dirty="0"/>
              <a:t>FIFO Empty</a:t>
            </a:r>
            <a:r>
              <a:rPr lang="zh-CN" altLang="en-US" sz="2400" dirty="0"/>
              <a:t>信号</a:t>
            </a:r>
            <a:endParaRPr lang="en-US" altLang="zh-CN" sz="2400" dirty="0"/>
          </a:p>
          <a:p>
            <a:r>
              <a:rPr lang="en-US" altLang="zh-CN" sz="2400" dirty="0"/>
              <a:t>1</a:t>
            </a:r>
            <a:r>
              <a:rPr lang="zh-CN" altLang="en-US" sz="2400" dirty="0"/>
              <a:t>）写指针同步到读时钟域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）读指针与写指针进行比较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）寄存器输出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b="1" dirty="0"/>
              <a:t>assign </a:t>
            </a:r>
            <a:r>
              <a:rPr lang="en-US" altLang="zh-CN" sz="2400" b="1" dirty="0" err="1"/>
              <a:t>rempty_val</a:t>
            </a:r>
            <a:r>
              <a:rPr lang="en-US" altLang="zh-CN" sz="2400" b="1" dirty="0"/>
              <a:t> = (</a:t>
            </a:r>
            <a:r>
              <a:rPr lang="en-US" altLang="zh-CN" sz="2400" b="1" dirty="0" err="1"/>
              <a:t>rgraynext</a:t>
            </a:r>
            <a:r>
              <a:rPr lang="en-US" altLang="zh-CN" sz="2400" b="1" dirty="0"/>
              <a:t> == rq2_wptr);</a:t>
            </a:r>
          </a:p>
          <a:p>
            <a:br>
              <a:rPr lang="en-US" altLang="zh-CN" sz="2400" b="1" dirty="0"/>
            </a:br>
            <a:r>
              <a:rPr lang="en-US" altLang="zh-CN" sz="2400" b="1" dirty="0"/>
              <a:t>always @(</a:t>
            </a:r>
            <a:r>
              <a:rPr lang="en-US" altLang="zh-CN" sz="2400" b="1" dirty="0" err="1"/>
              <a:t>posedge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rclk</a:t>
            </a:r>
            <a:r>
              <a:rPr lang="en-US" altLang="zh-CN" sz="2400" b="1" dirty="0"/>
              <a:t> or </a:t>
            </a:r>
            <a:r>
              <a:rPr lang="en-US" altLang="zh-CN" sz="2400" b="1" dirty="0" err="1"/>
              <a:t>negedge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rrst_n</a:t>
            </a:r>
            <a:r>
              <a:rPr lang="en-US" altLang="zh-CN" sz="2400" b="1" dirty="0"/>
              <a:t>)</a:t>
            </a:r>
            <a:br>
              <a:rPr lang="en-US" altLang="zh-CN" sz="2400" b="1" dirty="0"/>
            </a:br>
            <a:r>
              <a:rPr lang="en-US" altLang="zh-CN" sz="2400" b="1" dirty="0"/>
              <a:t>if (!</a:t>
            </a:r>
            <a:r>
              <a:rPr lang="en-US" altLang="zh-CN" sz="2400" b="1" dirty="0" err="1"/>
              <a:t>rrst_n</a:t>
            </a:r>
            <a:r>
              <a:rPr lang="en-US" altLang="zh-CN" sz="2400" b="1" dirty="0"/>
              <a:t>) </a:t>
            </a:r>
            <a:r>
              <a:rPr lang="en-US" altLang="zh-CN" sz="2400" b="1" dirty="0" err="1"/>
              <a:t>rempty</a:t>
            </a:r>
            <a:r>
              <a:rPr lang="en-US" altLang="zh-CN" sz="2400" b="1" dirty="0"/>
              <a:t> &lt;= 1'b1;</a:t>
            </a:r>
            <a:br>
              <a:rPr lang="en-US" altLang="zh-CN" sz="2400" b="1" dirty="0"/>
            </a:br>
            <a:r>
              <a:rPr lang="en-US" altLang="zh-CN" sz="2400" b="1" dirty="0"/>
              <a:t>else </a:t>
            </a:r>
            <a:r>
              <a:rPr lang="en-US" altLang="zh-CN" sz="2400" b="1" dirty="0" err="1"/>
              <a:t>rempty</a:t>
            </a:r>
            <a:r>
              <a:rPr lang="en-US" altLang="zh-CN" sz="2400" b="1" dirty="0"/>
              <a:t> &lt;= </a:t>
            </a:r>
            <a:r>
              <a:rPr lang="en-US" altLang="zh-CN" sz="2400" b="1" dirty="0" err="1"/>
              <a:t>rempty_val</a:t>
            </a:r>
            <a:r>
              <a:rPr lang="en-US" altLang="zh-CN" sz="2400" b="1" dirty="0"/>
              <a:t>;</a:t>
            </a:r>
            <a:r>
              <a:rPr lang="en-US" altLang="zh-CN" sz="2400" dirty="0"/>
              <a:t> </a:t>
            </a:r>
            <a:br>
              <a:rPr lang="en-US" altLang="zh-CN" sz="2400" dirty="0"/>
            </a:br>
            <a:endParaRPr lang="zh-CN" altLang="en-US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2927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7129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5 FIFO</a:t>
            </a:r>
            <a:r>
              <a:rPr lang="zh-CN" altLang="en-US" sz="2400" dirty="0"/>
              <a:t>空满</a:t>
            </a:r>
            <a:r>
              <a:rPr lang="en-US" altLang="zh-CN" sz="2400" dirty="0"/>
              <a:t>(empty &amp; full)</a:t>
            </a:r>
            <a:r>
              <a:rPr lang="zh-CN" altLang="en-US" sz="2400" dirty="0"/>
              <a:t>的处理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5.2 </a:t>
            </a:r>
            <a:r>
              <a:rPr lang="zh-CN" altLang="en-US" sz="2400" dirty="0"/>
              <a:t>产生</a:t>
            </a:r>
            <a:r>
              <a:rPr lang="en-US" altLang="zh-CN" sz="2400" dirty="0"/>
              <a:t>FIFO Full</a:t>
            </a:r>
            <a:r>
              <a:rPr lang="zh-CN" altLang="en-US" sz="2400" dirty="0"/>
              <a:t>信号</a:t>
            </a:r>
            <a:endParaRPr lang="en-US" altLang="zh-CN" sz="2400" dirty="0"/>
          </a:p>
          <a:p>
            <a:r>
              <a:rPr lang="en-US" altLang="zh-CN" sz="2400" dirty="0"/>
              <a:t>1</a:t>
            </a:r>
            <a:r>
              <a:rPr lang="zh-CN" altLang="en-US" sz="2400" dirty="0"/>
              <a:t>）读指针同步到读时钟域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）写指针与写指针进行比较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）寄存器输出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b="1" dirty="0"/>
              <a:t>assign </a:t>
            </a:r>
            <a:r>
              <a:rPr lang="en-US" altLang="zh-CN" b="1" dirty="0" err="1"/>
              <a:t>wfull_val</a:t>
            </a:r>
            <a:r>
              <a:rPr lang="en-US" altLang="zh-CN" b="1" dirty="0"/>
              <a:t> = ((</a:t>
            </a:r>
            <a:r>
              <a:rPr lang="en-US" altLang="zh-CN" b="1" dirty="0" err="1"/>
              <a:t>wgnext</a:t>
            </a:r>
            <a:r>
              <a:rPr lang="en-US" altLang="zh-CN" b="1" dirty="0"/>
              <a:t>[AW]      !=  wq2_rptr[AW]   ) &amp;&amp;</a:t>
            </a:r>
            <a:br>
              <a:rPr lang="en-US" altLang="zh-CN" b="1" dirty="0"/>
            </a:br>
            <a:r>
              <a:rPr lang="en-US" altLang="zh-CN" b="1" dirty="0"/>
              <a:t>                                 (</a:t>
            </a:r>
            <a:r>
              <a:rPr lang="en-US" altLang="zh-CN" b="1" dirty="0" err="1"/>
              <a:t>wgnext</a:t>
            </a:r>
            <a:r>
              <a:rPr lang="en-US" altLang="zh-CN" b="1" dirty="0"/>
              <a:t>[AW-1]   != wq2_rptr[AW-1]) &amp;&amp;</a:t>
            </a:r>
            <a:br>
              <a:rPr lang="en-US" altLang="zh-CN" b="1" dirty="0"/>
            </a:br>
            <a:r>
              <a:rPr lang="en-US" altLang="zh-CN" b="1" dirty="0"/>
              <a:t>                                 (</a:t>
            </a:r>
            <a:r>
              <a:rPr lang="en-US" altLang="zh-CN" b="1" dirty="0" err="1"/>
              <a:t>wgnext</a:t>
            </a:r>
            <a:r>
              <a:rPr lang="en-US" altLang="zh-CN" b="1" dirty="0"/>
              <a:t>[AW-2:0]==wq2_rptr[AW-2:0]));</a:t>
            </a:r>
            <a:br>
              <a:rPr lang="en-US" altLang="zh-CN" b="1" dirty="0"/>
            </a:br>
            <a:endParaRPr lang="en-US" altLang="zh-CN" b="1" dirty="0"/>
          </a:p>
          <a:p>
            <a:r>
              <a:rPr lang="en-US" altLang="zh-CN" b="1" dirty="0"/>
              <a:t>always @(</a:t>
            </a:r>
            <a:r>
              <a:rPr lang="en-US" altLang="zh-CN" b="1" dirty="0" err="1"/>
              <a:t>posedge</a:t>
            </a:r>
            <a:r>
              <a:rPr lang="en-US" altLang="zh-CN" b="1" dirty="0"/>
              <a:t> </a:t>
            </a:r>
            <a:r>
              <a:rPr lang="en-US" altLang="zh-CN" b="1" dirty="0" err="1"/>
              <a:t>wclk</a:t>
            </a:r>
            <a:r>
              <a:rPr lang="en-US" altLang="zh-CN" b="1" dirty="0"/>
              <a:t> or </a:t>
            </a:r>
            <a:r>
              <a:rPr lang="en-US" altLang="zh-CN" b="1" dirty="0" err="1"/>
              <a:t>negedge</a:t>
            </a:r>
            <a:r>
              <a:rPr lang="en-US" altLang="zh-CN" b="1" dirty="0"/>
              <a:t> </a:t>
            </a:r>
            <a:r>
              <a:rPr lang="en-US" altLang="zh-CN" b="1" dirty="0" err="1"/>
              <a:t>wrst_n</a:t>
            </a:r>
            <a:r>
              <a:rPr lang="en-US" altLang="zh-CN" b="1" dirty="0"/>
              <a:t>)</a:t>
            </a:r>
            <a:br>
              <a:rPr lang="en-US" altLang="zh-CN" b="1" dirty="0"/>
            </a:br>
            <a:r>
              <a:rPr lang="en-US" altLang="zh-CN" b="1" dirty="0"/>
              <a:t>if (!</a:t>
            </a:r>
            <a:r>
              <a:rPr lang="en-US" altLang="zh-CN" b="1" dirty="0" err="1"/>
              <a:t>wrst_n</a:t>
            </a:r>
            <a:r>
              <a:rPr lang="en-US" altLang="zh-CN" b="1" dirty="0"/>
              <a:t>) </a:t>
            </a:r>
            <a:r>
              <a:rPr lang="en-US" altLang="zh-CN" b="1" dirty="0" err="1"/>
              <a:t>wfull</a:t>
            </a:r>
            <a:r>
              <a:rPr lang="en-US" altLang="zh-CN" b="1" dirty="0"/>
              <a:t> &lt;= 1'b0;</a:t>
            </a:r>
            <a:br>
              <a:rPr lang="en-US" altLang="zh-CN" b="1" dirty="0"/>
            </a:br>
            <a:r>
              <a:rPr lang="en-US" altLang="zh-CN" b="1" dirty="0"/>
              <a:t>else </a:t>
            </a:r>
            <a:r>
              <a:rPr lang="en-US" altLang="zh-CN" b="1" dirty="0" err="1"/>
              <a:t>wfull</a:t>
            </a:r>
            <a:r>
              <a:rPr lang="en-US" altLang="zh-CN" b="1" dirty="0"/>
              <a:t> &lt;= </a:t>
            </a:r>
            <a:r>
              <a:rPr lang="en-US" altLang="zh-CN" b="1" dirty="0" err="1"/>
              <a:t>wfull_val</a:t>
            </a:r>
            <a:r>
              <a:rPr lang="en-US" altLang="zh-CN" b="1" dirty="0"/>
              <a:t>;</a:t>
            </a:r>
            <a:r>
              <a:rPr lang="en-US" altLang="zh-CN" sz="2400" dirty="0"/>
              <a:t> </a:t>
            </a:r>
            <a:br>
              <a:rPr lang="en-US" altLang="zh-CN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91751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24F6238-13B9-4CDE-B1E5-94914CE39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779" y="948555"/>
            <a:ext cx="6696075" cy="5286375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62A84F-ABD8-4CFE-A714-FB47A72BA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404664"/>
            <a:ext cx="4320480" cy="64533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格雷码及潜在错误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）读写指针都为</a:t>
            </a:r>
            <a:r>
              <a:rPr lang="en-US" altLang="zh-CN" dirty="0"/>
              <a:t>7</a:t>
            </a:r>
            <a:r>
              <a:rPr lang="zh-CN" altLang="en-US" dirty="0"/>
              <a:t>时，</a:t>
            </a:r>
            <a:r>
              <a:rPr lang="en-US" altLang="zh-CN" dirty="0"/>
              <a:t>FIFO empty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）写入新数据，</a:t>
            </a:r>
            <a:r>
              <a:rPr lang="en-US" altLang="zh-CN" dirty="0"/>
              <a:t>FIFO FULL</a:t>
            </a:r>
            <a:r>
              <a:rPr lang="zh-CN" altLang="en-US" dirty="0"/>
              <a:t>。（</a:t>
            </a:r>
            <a:r>
              <a:rPr lang="zh-CN" altLang="en-US" b="1" dirty="0">
                <a:solidFill>
                  <a:srgbClr val="FF0000"/>
                </a:solidFill>
              </a:rPr>
              <a:t>错误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）在指针等于</a:t>
            </a:r>
            <a:r>
              <a:rPr lang="en-US" altLang="zh-CN" dirty="0"/>
              <a:t>7</a:t>
            </a:r>
            <a:r>
              <a:rPr lang="zh-CN" altLang="en-US" dirty="0"/>
              <a:t>和</a:t>
            </a:r>
            <a:r>
              <a:rPr lang="en-US" altLang="zh-CN" dirty="0"/>
              <a:t>8</a:t>
            </a:r>
            <a:r>
              <a:rPr lang="zh-CN" altLang="en-US" dirty="0"/>
              <a:t>时，低</a:t>
            </a:r>
            <a:r>
              <a:rPr lang="en-US" altLang="zh-CN" dirty="0"/>
              <a:t>3</a:t>
            </a:r>
            <a:r>
              <a:rPr lang="zh-CN" altLang="en-US" dirty="0"/>
              <a:t>位相同，如直接用其访问</a:t>
            </a:r>
            <a:r>
              <a:rPr lang="en-US" altLang="zh-CN" dirty="0"/>
              <a:t>memory</a:t>
            </a:r>
            <a:r>
              <a:rPr lang="zh-CN" altLang="en-US" dirty="0"/>
              <a:t>，导致数据覆盖</a:t>
            </a:r>
          </a:p>
        </p:txBody>
      </p:sp>
    </p:spTree>
    <p:extLst>
      <p:ext uri="{BB962C8B-B14F-4D97-AF65-F5344CB8AC3E}">
        <p14:creationId xmlns:p14="http://schemas.microsoft.com/office/powerpoint/2010/main" val="3999454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71296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5 FIFO</a:t>
            </a:r>
            <a:r>
              <a:rPr lang="zh-CN" altLang="en-US" sz="2400" dirty="0"/>
              <a:t>空满</a:t>
            </a:r>
            <a:r>
              <a:rPr lang="en-US" altLang="zh-CN" sz="2400" dirty="0"/>
              <a:t>(empty &amp; full)</a:t>
            </a:r>
            <a:r>
              <a:rPr lang="zh-CN" altLang="en-US" sz="2400" dirty="0"/>
              <a:t>的处理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5.3 </a:t>
            </a:r>
            <a:r>
              <a:rPr lang="zh-CN" altLang="en-US" sz="2400" dirty="0"/>
              <a:t>不同的时钟速度</a:t>
            </a:r>
            <a:endParaRPr lang="en-US" altLang="zh-CN" sz="2400" dirty="0"/>
          </a:p>
          <a:p>
            <a:r>
              <a:rPr lang="zh-CN" altLang="en-US" sz="2400" dirty="0"/>
              <a:t>快时钟域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ym typeface="Wingdings" panose="05000000000000000000" pitchFamily="2" charset="2"/>
              </a:rPr>
              <a:t>慢时钟域，数据丢失</a:t>
            </a:r>
            <a:endParaRPr lang="en-US" altLang="zh-CN" sz="2400" dirty="0"/>
          </a:p>
          <a:p>
            <a:r>
              <a:rPr lang="en-US" altLang="zh-CN" sz="2400" dirty="0"/>
              <a:t>Q1</a:t>
            </a:r>
            <a:r>
              <a:rPr lang="zh-CN" altLang="en-US" sz="2400" dirty="0"/>
              <a:t>）同步过程中，更快的格雷码计数器增加了两次，但只采样一次，导致同步值中显示出现了多位更改，这是否会导致多位同步问题？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Q2</a:t>
            </a:r>
            <a:r>
              <a:rPr lang="zh-CN" altLang="en-US" sz="2400" dirty="0"/>
              <a:t>）如</a:t>
            </a:r>
            <a:r>
              <a:rPr lang="en-US" altLang="zh-CN" sz="2400" dirty="0"/>
              <a:t>Q1</a:t>
            </a:r>
            <a:r>
              <a:rPr lang="zh-CN" altLang="en-US" sz="2400" dirty="0"/>
              <a:t>所述，更快的格雷码计数器可能在一个与慢时钟周期内增加了两次（或多次），格雷码计数器从较快的时钟域中产生在检测到</a:t>
            </a:r>
            <a:r>
              <a:rPr lang="en-US" altLang="zh-CN" sz="2400" dirty="0"/>
              <a:t>full</a:t>
            </a:r>
            <a:r>
              <a:rPr lang="zh-CN" altLang="en-US" sz="2400" dirty="0"/>
              <a:t>之前，是否有可能会增加到</a:t>
            </a:r>
            <a:r>
              <a:rPr lang="en-US" altLang="zh-CN" sz="2400" dirty="0"/>
              <a:t>full</a:t>
            </a:r>
            <a:r>
              <a:rPr lang="zh-CN" altLang="en-US" sz="2400" dirty="0"/>
              <a:t>状态和</a:t>
            </a:r>
            <a:r>
              <a:rPr lang="en-US" altLang="zh-CN" sz="2400" dirty="0"/>
              <a:t>full+1</a:t>
            </a:r>
            <a:r>
              <a:rPr lang="zh-CN" altLang="en-US" sz="2400" dirty="0"/>
              <a:t>状态，从而导致</a:t>
            </a:r>
            <a:r>
              <a:rPr lang="en-US" altLang="zh-CN" sz="2400" dirty="0"/>
              <a:t>FIFO</a:t>
            </a:r>
            <a:r>
              <a:rPr lang="zh-CN" altLang="en-US" sz="2400" dirty="0"/>
              <a:t>溢出没有意识到</a:t>
            </a:r>
            <a:r>
              <a:rPr lang="en-US" altLang="zh-CN" sz="2400" dirty="0"/>
              <a:t>FIFO</a:t>
            </a:r>
            <a:r>
              <a:rPr lang="zh-CN" altLang="en-US" sz="2400" dirty="0"/>
              <a:t>已经满了</a:t>
            </a:r>
            <a:r>
              <a:rPr lang="en-US" altLang="zh-CN" sz="2400" dirty="0"/>
              <a:t>(</a:t>
            </a:r>
            <a:r>
              <a:rPr lang="zh-CN" altLang="en-US" sz="2400" dirty="0"/>
              <a:t>这个问题同样适用于</a:t>
            </a:r>
            <a:r>
              <a:rPr lang="en-US" altLang="zh-CN" sz="2400" dirty="0"/>
              <a:t>FIFO</a:t>
            </a:r>
            <a:r>
              <a:rPr lang="zh-CN" altLang="en-US" sz="2400" dirty="0"/>
              <a:t> </a:t>
            </a:r>
            <a:r>
              <a:rPr lang="en-US" altLang="zh-CN" sz="2400" dirty="0"/>
              <a:t>empty</a:t>
            </a:r>
            <a:r>
              <a:rPr lang="zh-CN" altLang="en-US" sz="2400" dirty="0"/>
              <a:t>）？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读慢写快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ym typeface="Wingdings" panose="05000000000000000000" pitchFamily="2" charset="2"/>
              </a:rPr>
              <a:t>写时钟域同步读指针（正确数值），与写指针比较，</a:t>
            </a:r>
            <a:r>
              <a:rPr lang="en-US" altLang="zh-CN" sz="2400" dirty="0"/>
              <a:t> </a:t>
            </a:r>
            <a:r>
              <a:rPr lang="zh-CN" altLang="en-US" sz="2400" dirty="0"/>
              <a:t>产生</a:t>
            </a:r>
            <a:r>
              <a:rPr lang="en-US" altLang="zh-CN" sz="2400" dirty="0"/>
              <a:t>full</a:t>
            </a:r>
            <a:r>
              <a:rPr lang="zh-CN" altLang="en-US" sz="2400" dirty="0"/>
              <a:t>信号；</a:t>
            </a:r>
            <a:br>
              <a:rPr lang="en-US" altLang="zh-CN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9095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Asynchronous FIFO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71296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5 FIFO</a:t>
            </a:r>
            <a:r>
              <a:rPr lang="zh-CN" altLang="en-US" sz="2400" dirty="0"/>
              <a:t>空满</a:t>
            </a:r>
            <a:r>
              <a:rPr lang="en-US" altLang="zh-CN" sz="2400" dirty="0"/>
              <a:t>(empty &amp; full)</a:t>
            </a:r>
            <a:r>
              <a:rPr lang="zh-CN" altLang="en-US" sz="2400" dirty="0"/>
              <a:t>的处理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5.4 </a:t>
            </a:r>
            <a:r>
              <a:rPr lang="zh-CN" altLang="en-US" sz="2400" dirty="0"/>
              <a:t>悲观的</a:t>
            </a:r>
            <a:r>
              <a:rPr lang="en-US" altLang="zh-CN" sz="2400" dirty="0"/>
              <a:t>full &amp; empty</a:t>
            </a:r>
            <a:r>
              <a:rPr lang="zh-CN" altLang="en-US" sz="2400" dirty="0"/>
              <a:t>信号</a:t>
            </a:r>
            <a:endParaRPr lang="en-US" altLang="zh-CN" sz="2400" dirty="0"/>
          </a:p>
          <a:p>
            <a:r>
              <a:rPr lang="en-US" altLang="zh-CN" sz="2400" dirty="0" err="1"/>
              <a:t>ful</a:t>
            </a:r>
            <a:r>
              <a:rPr lang="zh-CN" altLang="en-US" sz="2400" dirty="0"/>
              <a:t>信号产生是利用同步后的读指针和当前的写指针进行对比，</a:t>
            </a:r>
            <a:endParaRPr lang="en-US" altLang="zh-CN" sz="2400" dirty="0"/>
          </a:p>
          <a:p>
            <a:r>
              <a:rPr lang="en-US" altLang="zh-CN" sz="2400" dirty="0"/>
              <a:t>full</a:t>
            </a:r>
            <a:r>
              <a:rPr lang="zh-CN" altLang="en-US" sz="2400" dirty="0"/>
              <a:t>信号的产生可能是“</a:t>
            </a:r>
            <a:r>
              <a:rPr lang="zh-CN" altLang="en-US" sz="2400" b="1" i="1" dirty="0">
                <a:solidFill>
                  <a:srgbClr val="FF0000"/>
                </a:solidFill>
              </a:rPr>
              <a:t>准确</a:t>
            </a:r>
            <a:r>
              <a:rPr lang="zh-CN" altLang="en-US" sz="2400" dirty="0"/>
              <a:t>”</a:t>
            </a:r>
            <a:r>
              <a:rPr lang="zh-CN" altLang="en-US" sz="2400" b="1" i="1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的，但是</a:t>
            </a:r>
            <a:r>
              <a:rPr lang="en-US" altLang="zh-CN" sz="2400" dirty="0"/>
              <a:t>full</a:t>
            </a:r>
            <a:r>
              <a:rPr lang="zh-CN" altLang="en-US" sz="2400" dirty="0"/>
              <a:t>信号的消失会延后</a:t>
            </a:r>
            <a:r>
              <a:rPr lang="en-US" altLang="zh-CN" sz="2400" dirty="0"/>
              <a:t>2</a:t>
            </a:r>
            <a:r>
              <a:rPr lang="zh-CN" altLang="en-US" sz="2400" dirty="0"/>
              <a:t>个写时钟；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empty</a:t>
            </a:r>
            <a:r>
              <a:rPr lang="zh-CN" altLang="en-US" sz="2400" dirty="0"/>
              <a:t>信号的产生和消失过程与</a:t>
            </a:r>
            <a:r>
              <a:rPr lang="en-US" altLang="zh-CN" sz="2400" dirty="0"/>
              <a:t>full</a:t>
            </a:r>
            <a:r>
              <a:rPr lang="zh-CN" altLang="en-US" sz="2400" dirty="0"/>
              <a:t>类似；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注</a:t>
            </a:r>
            <a:r>
              <a:rPr lang="en-US" altLang="zh-CN" sz="2400" dirty="0"/>
              <a:t>1</a:t>
            </a:r>
            <a:r>
              <a:rPr lang="zh-CN" altLang="en-US" sz="2400" dirty="0"/>
              <a:t>：这种现象并不会导致问题，</a:t>
            </a:r>
            <a:r>
              <a:rPr lang="en-US" altLang="zh-CN" sz="2400" dirty="0"/>
              <a:t>FIFO</a:t>
            </a:r>
            <a:r>
              <a:rPr lang="zh-CN" altLang="en-US" sz="2400" dirty="0"/>
              <a:t>设计的要点在于保证</a:t>
            </a:r>
            <a:r>
              <a:rPr lang="en-US" altLang="zh-CN" sz="2400" dirty="0"/>
              <a:t>FIFO full</a:t>
            </a:r>
            <a:r>
              <a:rPr lang="zh-CN" altLang="en-US" sz="2400" dirty="0"/>
              <a:t>的时候不要写入数据；</a:t>
            </a:r>
            <a:r>
              <a:rPr lang="en-US" altLang="zh-CN" sz="2400" dirty="0"/>
              <a:t>FIFO empty</a:t>
            </a:r>
            <a:r>
              <a:rPr lang="zh-CN" altLang="en-US" sz="2400" dirty="0"/>
              <a:t>的时候不要读取数据；</a:t>
            </a:r>
            <a:endParaRPr lang="en-US" altLang="zh-CN" sz="2400" dirty="0"/>
          </a:p>
          <a:p>
            <a:r>
              <a:rPr lang="zh-CN" altLang="en-US" sz="2400" dirty="0"/>
              <a:t>注</a:t>
            </a:r>
            <a:r>
              <a:rPr lang="en-US" altLang="zh-CN" sz="2400" dirty="0"/>
              <a:t>2</a:t>
            </a:r>
            <a:r>
              <a:rPr lang="zh-CN" altLang="en-US" sz="2400" dirty="0"/>
              <a:t>：产生</a:t>
            </a:r>
            <a:r>
              <a:rPr lang="en-US" altLang="zh-CN" sz="2400" dirty="0"/>
              <a:t>full</a:t>
            </a:r>
            <a:r>
              <a:rPr lang="zh-CN" altLang="en-US" sz="2400" dirty="0"/>
              <a:t>（</a:t>
            </a:r>
            <a:r>
              <a:rPr lang="en-US" altLang="zh-CN" sz="2400" dirty="0"/>
              <a:t>empty</a:t>
            </a:r>
            <a:r>
              <a:rPr lang="zh-CN" altLang="en-US" sz="2400" dirty="0"/>
              <a:t>）时，如果指针在同步过程中也发生了改变，可能会导致</a:t>
            </a:r>
            <a:r>
              <a:rPr lang="en-US" altLang="zh-CN" sz="2400" dirty="0"/>
              <a:t>full</a:t>
            </a:r>
            <a:r>
              <a:rPr lang="zh-CN" altLang="en-US" sz="2400" dirty="0"/>
              <a:t> （</a:t>
            </a:r>
            <a:r>
              <a:rPr lang="en-US" altLang="zh-CN" sz="2400" dirty="0"/>
              <a:t>empty</a:t>
            </a:r>
            <a:r>
              <a:rPr lang="zh-CN" altLang="en-US" sz="2400" dirty="0"/>
              <a:t>）产生时刻并不精确，可能导致</a:t>
            </a:r>
            <a:r>
              <a:rPr lang="en-US" altLang="zh-CN" sz="2400" dirty="0"/>
              <a:t>full</a:t>
            </a:r>
            <a:r>
              <a:rPr lang="zh-CN" altLang="en-US" sz="2400" dirty="0"/>
              <a:t>信号提前为高；</a:t>
            </a:r>
            <a:endParaRPr lang="en-US" altLang="zh-CN" sz="2400" dirty="0"/>
          </a:p>
          <a:p>
            <a:br>
              <a:rPr lang="en-US" altLang="zh-CN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62711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5F35B4B-7FD2-4028-AD57-F5BCE4A6E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648" y="1916832"/>
            <a:ext cx="7400925" cy="48006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5689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 </a:t>
            </a:r>
            <a:r>
              <a:rPr lang="zh-CN" altLang="en-US" sz="2400" dirty="0"/>
              <a:t>同步器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1.1 </a:t>
            </a:r>
            <a:r>
              <a:rPr lang="zh-CN" altLang="en-US" sz="2400" dirty="0"/>
              <a:t>两级同步器</a:t>
            </a:r>
            <a:endParaRPr lang="en-US" altLang="zh-CN" sz="2400" dirty="0"/>
          </a:p>
          <a:p>
            <a:r>
              <a:rPr lang="zh-CN" altLang="en-US" sz="2400" dirty="0"/>
              <a:t>用于处理</a:t>
            </a:r>
            <a:r>
              <a:rPr lang="en-US" altLang="zh-CN" sz="2400" dirty="0"/>
              <a:t>Metastability</a:t>
            </a:r>
          </a:p>
          <a:p>
            <a:endParaRPr lang="en-US" altLang="zh-CN" sz="2400" dirty="0"/>
          </a:p>
          <a:p>
            <a:br>
              <a:rPr lang="en-US" altLang="zh-CN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42953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5689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 </a:t>
            </a:r>
            <a:r>
              <a:rPr lang="zh-CN" altLang="en-US" sz="2400" dirty="0"/>
              <a:t>同步器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1.2 </a:t>
            </a:r>
            <a:r>
              <a:rPr lang="zh-CN" altLang="en-US" sz="2400" dirty="0"/>
              <a:t>三级同步器</a:t>
            </a:r>
            <a:endParaRPr lang="en-US" altLang="zh-CN" sz="2400" dirty="0"/>
          </a:p>
          <a:p>
            <a:r>
              <a:rPr lang="zh-CN" altLang="en-US" sz="2400" dirty="0"/>
              <a:t>用于处理</a:t>
            </a:r>
            <a:r>
              <a:rPr lang="en-US" altLang="zh-CN" sz="2400" dirty="0"/>
              <a:t>Metastability</a:t>
            </a:r>
            <a:r>
              <a:rPr lang="zh-CN" altLang="en-US" sz="2400" dirty="0"/>
              <a:t>，高速同步时钟场合使用三级寄存器同步</a:t>
            </a:r>
            <a:endParaRPr lang="en-US" altLang="zh-CN" sz="2400" dirty="0"/>
          </a:p>
          <a:p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943A0B-2830-4A7C-AEAD-711138739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75" y="4005064"/>
            <a:ext cx="7647250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20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5689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 </a:t>
            </a:r>
            <a:r>
              <a:rPr lang="zh-CN" altLang="en-US" sz="2400" dirty="0"/>
              <a:t>同步器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1.2 </a:t>
            </a:r>
            <a:r>
              <a:rPr lang="zh-CN" altLang="en-US" sz="2400" dirty="0"/>
              <a:t>三级同步器</a:t>
            </a:r>
            <a:endParaRPr lang="en-US" altLang="zh-CN" sz="2400" dirty="0"/>
          </a:p>
          <a:p>
            <a:r>
              <a:rPr lang="zh-CN" altLang="en-US" sz="2400" dirty="0"/>
              <a:t>用于处理</a:t>
            </a:r>
            <a:r>
              <a:rPr lang="en-US" altLang="zh-CN" sz="2400" dirty="0"/>
              <a:t>Metastability</a:t>
            </a:r>
            <a:r>
              <a:rPr lang="zh-CN" altLang="en-US" sz="2400" dirty="0"/>
              <a:t>，高速同步时钟场合使用三级寄存器同步</a:t>
            </a:r>
            <a:endParaRPr lang="en-US" altLang="zh-CN" sz="2400" dirty="0"/>
          </a:p>
          <a:p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943A0B-2830-4A7C-AEAD-711138739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75" y="4005064"/>
            <a:ext cx="7647250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27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F603699-7BBD-4ABB-ACD8-D485F6C5E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338" y="2008463"/>
            <a:ext cx="7296150" cy="477202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2809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1.3 </a:t>
            </a:r>
            <a:r>
              <a:rPr lang="zh-CN" altLang="en-US" sz="2400" dirty="0"/>
              <a:t>输出寄存器</a:t>
            </a:r>
            <a:endParaRPr lang="en-US" altLang="zh-CN" sz="2400" dirty="0"/>
          </a:p>
          <a:p>
            <a:r>
              <a:rPr lang="zh-CN" altLang="en-US" sz="2400" dirty="0"/>
              <a:t>输出信号采用寄存器，消除输出信号毛刺，消除输出时延，降低亚稳态概率</a:t>
            </a:r>
            <a:br>
              <a:rPr lang="en-US" altLang="zh-CN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90580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2809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1.3 </a:t>
            </a:r>
            <a:r>
              <a:rPr lang="zh-CN" altLang="en-US" sz="2400" dirty="0"/>
              <a:t>输入同步器</a:t>
            </a:r>
            <a:endParaRPr lang="en-US" altLang="zh-CN" sz="2400" dirty="0"/>
          </a:p>
          <a:p>
            <a:r>
              <a:rPr lang="zh-CN" altLang="en-US" sz="2400" dirty="0"/>
              <a:t>输入信号采用同步器进行信号同步</a:t>
            </a:r>
            <a:endParaRPr lang="en-US" altLang="zh-CN" sz="2400" dirty="0"/>
          </a:p>
          <a:p>
            <a:r>
              <a:rPr lang="zh-CN" altLang="en-US" sz="2400" dirty="0"/>
              <a:t>下图为输入信号直接进行逻辑运算，之后再进行同步的错误方式。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76332E-809F-4115-A280-C9B164CEE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035166"/>
            <a:ext cx="73914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96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280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 </a:t>
            </a:r>
            <a:r>
              <a:rPr lang="zh-CN" altLang="en-US" sz="2400" dirty="0"/>
              <a:t>快时钟域信号同步到慢时钟域</a:t>
            </a:r>
            <a:endParaRPr lang="en-US" altLang="zh-CN" sz="2400" dirty="0"/>
          </a:p>
          <a:p>
            <a:r>
              <a:rPr lang="en-US" altLang="zh-CN" sz="2400" dirty="0"/>
              <a:t>2.1 </a:t>
            </a:r>
            <a:r>
              <a:rPr lang="zh-CN" altLang="en-US" sz="2400" dirty="0"/>
              <a:t>问题</a:t>
            </a:r>
            <a:r>
              <a:rPr lang="en-US" altLang="zh-CN" sz="2400" dirty="0"/>
              <a:t>1</a:t>
            </a:r>
            <a:r>
              <a:rPr lang="zh-CN" altLang="en-US" sz="2400" dirty="0"/>
              <a:t>：传递一个快时钟域的脉冲信号</a:t>
            </a:r>
            <a:endParaRPr lang="en-US" altLang="zh-CN" sz="2400" dirty="0"/>
          </a:p>
          <a:p>
            <a:r>
              <a:rPr lang="zh-CN" altLang="en-US" sz="2400" dirty="0"/>
              <a:t>慢时钟域可能会错失该信号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810591-3715-4D21-A2E7-02AEFCEBD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87" y="2019694"/>
            <a:ext cx="740092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829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280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 </a:t>
            </a:r>
            <a:r>
              <a:rPr lang="zh-CN" altLang="en-US" sz="2400" dirty="0"/>
              <a:t>快时钟域信号同步到慢时钟域</a:t>
            </a:r>
            <a:endParaRPr lang="en-US" altLang="zh-CN" sz="2400" dirty="0"/>
          </a:p>
          <a:p>
            <a:r>
              <a:rPr lang="en-US" altLang="zh-CN" sz="2400" dirty="0"/>
              <a:t>2.1 </a:t>
            </a:r>
            <a:r>
              <a:rPr lang="zh-CN" altLang="en-US" sz="2400" dirty="0"/>
              <a:t>问题</a:t>
            </a:r>
            <a:r>
              <a:rPr lang="en-US" altLang="zh-CN" sz="2400" dirty="0"/>
              <a:t>2</a:t>
            </a:r>
            <a:r>
              <a:rPr lang="zh-CN" altLang="en-US" sz="2400" dirty="0"/>
              <a:t>：传递一个快时钟域的电平信号，该信号长度小于等于慢时钟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C4DC98-4A0E-42BE-A3D9-571233AFC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81" y="2060848"/>
            <a:ext cx="73914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272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280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 </a:t>
            </a:r>
            <a:r>
              <a:rPr lang="zh-CN" altLang="en-US" sz="2400" dirty="0"/>
              <a:t>快时钟域信号同步到慢时钟域</a:t>
            </a:r>
            <a:endParaRPr lang="en-US" altLang="zh-CN" sz="2400" dirty="0"/>
          </a:p>
          <a:p>
            <a:r>
              <a:rPr lang="en-US" altLang="zh-CN" sz="2400" dirty="0"/>
              <a:t>2.2 </a:t>
            </a:r>
            <a:r>
              <a:rPr lang="zh-CN" altLang="en-US" sz="2400" dirty="0"/>
              <a:t>方案</a:t>
            </a:r>
            <a:r>
              <a:rPr lang="en-US" altLang="zh-CN" sz="2400" dirty="0"/>
              <a:t>1</a:t>
            </a:r>
            <a:r>
              <a:rPr lang="zh-CN" altLang="en-US" sz="2400" dirty="0"/>
              <a:t>：拉长信号到慢时钟的</a:t>
            </a:r>
            <a:r>
              <a:rPr lang="en-US" altLang="zh-CN" sz="2400" dirty="0"/>
              <a:t>1.5</a:t>
            </a:r>
            <a:r>
              <a:rPr lang="zh-CN" altLang="en-US" sz="2400" dirty="0"/>
              <a:t>倍以上</a:t>
            </a:r>
            <a:endParaRPr lang="en-US" altLang="zh-CN" sz="2400" dirty="0"/>
          </a:p>
          <a:p>
            <a:r>
              <a:rPr lang="zh-CN" altLang="en-US" sz="2400" dirty="0"/>
              <a:t>坏处：在复用模块时，需要注意该方法的限制条件。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D8A179-344F-413F-A34F-D7EC83780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45" y="2182661"/>
            <a:ext cx="7882142" cy="446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04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2809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2.2 </a:t>
            </a:r>
            <a:r>
              <a:rPr lang="zh-CN" altLang="en-US" sz="2400" dirty="0"/>
              <a:t>方案</a:t>
            </a:r>
            <a:r>
              <a:rPr lang="en-US" altLang="zh-CN" sz="2400" dirty="0"/>
              <a:t>2</a:t>
            </a:r>
            <a:r>
              <a:rPr lang="zh-CN" altLang="en-US" sz="2400" dirty="0"/>
              <a:t>：采用握手方式进行同步</a:t>
            </a:r>
            <a:endParaRPr lang="en-US" altLang="zh-CN" sz="2400" dirty="0"/>
          </a:p>
          <a:p>
            <a:r>
              <a:rPr lang="zh-CN" altLang="en-US" sz="2400" dirty="0"/>
              <a:t>坏处：同步时间较长。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96D7CA-7E33-47E9-A993-CF34D66A8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810" y="1813329"/>
            <a:ext cx="6940654" cy="49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4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Clock Domain Crossing Design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395536" y="801510"/>
            <a:ext cx="828092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2.2 </a:t>
            </a:r>
            <a:r>
              <a:rPr lang="zh-CN" altLang="en-US" sz="2400" dirty="0"/>
              <a:t>方案</a:t>
            </a:r>
            <a:r>
              <a:rPr lang="en-US" altLang="zh-CN" sz="2400" dirty="0"/>
              <a:t>3</a:t>
            </a:r>
            <a:r>
              <a:rPr lang="zh-CN" altLang="en-US" sz="2400" dirty="0"/>
              <a:t>：采用边缘检测的方式产生足够长度的电平信号</a:t>
            </a:r>
            <a:endParaRPr lang="en-US" altLang="zh-CN" sz="2400" dirty="0"/>
          </a:p>
          <a:p>
            <a:r>
              <a:rPr lang="zh-CN" altLang="en-US" sz="2000" dirty="0"/>
              <a:t>always@(posedge inck or negedge inrstn)</a:t>
            </a:r>
          </a:p>
          <a:p>
            <a:r>
              <a:rPr lang="zh-CN" altLang="en-US" sz="2000" dirty="0"/>
              <a:t>if(~inrstn)  inck_r&lt;=1'b0;</a:t>
            </a:r>
          </a:p>
          <a:p>
            <a:r>
              <a:rPr lang="zh-CN" altLang="en-US" sz="2000" dirty="0"/>
              <a:t>else            inck_r&lt;= inck_r ^ inp;</a:t>
            </a:r>
          </a:p>
          <a:p>
            <a:r>
              <a:rPr lang="zh-CN" altLang="en-US" sz="2000" dirty="0"/>
              <a:t>always@(posedge outck or negedge outrstn)</a:t>
            </a:r>
          </a:p>
          <a:p>
            <a:r>
              <a:rPr lang="zh-CN" altLang="en-US" sz="2000" dirty="0"/>
              <a:t>if(~outrstn)</a:t>
            </a:r>
          </a:p>
          <a:p>
            <a:r>
              <a:rPr lang="zh-CN" altLang="en-US" sz="2000" dirty="0"/>
              <a:t>  </a:t>
            </a:r>
            <a:r>
              <a:rPr lang="en-US" altLang="zh-CN" sz="2000" dirty="0"/>
              <a:t>{</a:t>
            </a:r>
            <a:r>
              <a:rPr lang="zh-CN" altLang="en-US" sz="2000" dirty="0"/>
              <a:t>outck_r3 </a:t>
            </a:r>
            <a:r>
              <a:rPr lang="en-US" altLang="zh-CN" sz="2000" dirty="0"/>
              <a:t>,</a:t>
            </a:r>
            <a:r>
              <a:rPr lang="zh-CN" altLang="en-US" sz="2000" dirty="0"/>
              <a:t> outck_r</a:t>
            </a:r>
            <a:r>
              <a:rPr lang="en-US" altLang="zh-CN" sz="2000" dirty="0"/>
              <a:t>2,</a:t>
            </a:r>
            <a:r>
              <a:rPr lang="zh-CN" altLang="en-US" sz="2000" dirty="0"/>
              <a:t>outck_r1</a:t>
            </a:r>
            <a:r>
              <a:rPr lang="en-US" altLang="zh-CN" sz="2000" dirty="0"/>
              <a:t>}</a:t>
            </a:r>
            <a:r>
              <a:rPr lang="zh-CN" altLang="en-US" sz="2000" dirty="0"/>
              <a:t>&lt;=</a:t>
            </a:r>
            <a:r>
              <a:rPr lang="en-US" altLang="zh-CN" sz="2000" dirty="0"/>
              <a:t>3</a:t>
            </a:r>
            <a:r>
              <a:rPr lang="zh-CN" altLang="en-US" sz="2000" dirty="0"/>
              <a:t>'b0; </a:t>
            </a:r>
            <a:endParaRPr lang="en-US" altLang="zh-CN" sz="2000" dirty="0"/>
          </a:p>
          <a:p>
            <a:r>
              <a:rPr lang="zh-CN" altLang="en-US" sz="2000" dirty="0"/>
              <a:t>else </a:t>
            </a:r>
            <a:r>
              <a:rPr lang="en-US" altLang="zh-CN" sz="2000" dirty="0"/>
              <a:t>{</a:t>
            </a:r>
            <a:r>
              <a:rPr lang="zh-CN" altLang="en-US" sz="2000" dirty="0"/>
              <a:t>outck_r3 </a:t>
            </a:r>
            <a:r>
              <a:rPr lang="en-US" altLang="zh-CN" sz="2000" dirty="0"/>
              <a:t>,</a:t>
            </a:r>
            <a:r>
              <a:rPr lang="zh-CN" altLang="en-US" sz="2000" dirty="0"/>
              <a:t> outck_r</a:t>
            </a:r>
            <a:r>
              <a:rPr lang="en-US" altLang="zh-CN" sz="2000" dirty="0"/>
              <a:t>2,</a:t>
            </a:r>
            <a:r>
              <a:rPr lang="zh-CN" altLang="en-US" sz="2000" dirty="0"/>
              <a:t>outck_r1</a:t>
            </a:r>
            <a:r>
              <a:rPr lang="en-US" altLang="zh-CN" sz="2000" dirty="0"/>
              <a:t>} </a:t>
            </a:r>
            <a:r>
              <a:rPr lang="zh-CN" altLang="en-US" sz="2000" dirty="0"/>
              <a:t>&lt;=</a:t>
            </a:r>
            <a:r>
              <a:rPr lang="en-US" altLang="zh-CN" sz="2000" dirty="0"/>
              <a:t>{</a:t>
            </a:r>
            <a:r>
              <a:rPr lang="zh-CN" altLang="en-US" sz="2000" dirty="0"/>
              <a:t>outck_r</a:t>
            </a:r>
            <a:r>
              <a:rPr lang="en-US" altLang="zh-CN" sz="2000" dirty="0"/>
              <a:t>2,</a:t>
            </a:r>
            <a:r>
              <a:rPr lang="zh-CN" altLang="en-US" sz="2000" dirty="0"/>
              <a:t>outck_r1 </a:t>
            </a:r>
            <a:r>
              <a:rPr lang="en-US" altLang="zh-CN" sz="2000" dirty="0"/>
              <a:t>,</a:t>
            </a:r>
            <a:r>
              <a:rPr lang="zh-CN" altLang="en-US" sz="2000" dirty="0"/>
              <a:t>inck_r</a:t>
            </a:r>
            <a:r>
              <a:rPr lang="en-US" altLang="zh-CN" sz="2000" dirty="0"/>
              <a:t>}</a:t>
            </a:r>
            <a:r>
              <a:rPr lang="zh-CN" altLang="en-US" sz="2000" dirty="0"/>
              <a:t>;</a:t>
            </a:r>
            <a:endParaRPr lang="en-US" altLang="zh-CN" sz="2000" dirty="0"/>
          </a:p>
          <a:p>
            <a:r>
              <a:rPr lang="zh-CN" altLang="en-US" sz="2000" dirty="0"/>
              <a:t>assign outp = outck_r2 ^ outck_r3;</a:t>
            </a:r>
            <a:endParaRPr lang="en-US" altLang="zh-CN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9AC029-DF3A-4484-A596-C5AF6262AA4E}"/>
              </a:ext>
            </a:extLst>
          </p:cNvPr>
          <p:cNvSpPr/>
          <p:nvPr/>
        </p:nvSpPr>
        <p:spPr>
          <a:xfrm>
            <a:off x="827584" y="1412776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C93837-5ED3-4B10-9567-F65618576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13" y="4029678"/>
            <a:ext cx="8246601" cy="249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21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03" y="11266"/>
            <a:ext cx="8229600" cy="897454"/>
          </a:xfrm>
        </p:spPr>
        <p:txBody>
          <a:bodyPr/>
          <a:lstStyle/>
          <a:p>
            <a:r>
              <a:rPr lang="zh-CN" altLang="en-US" dirty="0"/>
              <a:t>信号去抖（</a:t>
            </a:r>
            <a:r>
              <a:rPr lang="en-US" altLang="zh-CN" dirty="0"/>
              <a:t>debounce</a:t>
            </a:r>
            <a:r>
              <a:rPr lang="zh-CN" altLang="en-US" dirty="0"/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FE1196-912E-43A5-BC50-9D10976287FF}"/>
              </a:ext>
            </a:extLst>
          </p:cNvPr>
          <p:cNvSpPr/>
          <p:nvPr/>
        </p:nvSpPr>
        <p:spPr>
          <a:xfrm>
            <a:off x="194552" y="836712"/>
            <a:ext cx="8229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 </a:t>
            </a:r>
            <a:r>
              <a:rPr lang="zh-CN" altLang="en-US" sz="2400" dirty="0"/>
              <a:t>按键及其对应信号</a:t>
            </a:r>
            <a:endParaRPr lang="en-US" altLang="zh-CN" sz="2400" dirty="0"/>
          </a:p>
          <a:p>
            <a:endParaRPr lang="zh-CN" altLang="en-US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630552-C6F5-404F-8532-19DF9ED0D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003" y="1333500"/>
            <a:ext cx="5219700" cy="2095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7D49959-AD3C-438B-9D06-346448851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52" y="1441152"/>
            <a:ext cx="2238375" cy="31908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C9D661-F271-4C12-A2BD-616DFC112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023" y="4077072"/>
            <a:ext cx="644842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76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03" y="11266"/>
            <a:ext cx="8229600" cy="897454"/>
          </a:xfrm>
        </p:spPr>
        <p:txBody>
          <a:bodyPr/>
          <a:lstStyle/>
          <a:p>
            <a:r>
              <a:rPr lang="zh-CN" altLang="en-US" dirty="0"/>
              <a:t>信号去抖（</a:t>
            </a:r>
            <a:r>
              <a:rPr lang="en-US" altLang="zh-CN" dirty="0"/>
              <a:t>debounce</a:t>
            </a:r>
            <a:r>
              <a:rPr lang="zh-CN" altLang="en-US" dirty="0"/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FE1196-912E-43A5-BC50-9D10976287FF}"/>
              </a:ext>
            </a:extLst>
          </p:cNvPr>
          <p:cNvSpPr/>
          <p:nvPr/>
        </p:nvSpPr>
        <p:spPr>
          <a:xfrm>
            <a:off x="194552" y="836712"/>
            <a:ext cx="8229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 </a:t>
            </a:r>
            <a:r>
              <a:rPr lang="zh-CN" altLang="en-US" sz="2400" dirty="0"/>
              <a:t>去抖技术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2.1 RC </a:t>
            </a:r>
            <a:r>
              <a:rPr lang="en-US" altLang="zh-CN" sz="2400" dirty="0" err="1"/>
              <a:t>Debouncer</a:t>
            </a:r>
            <a:endParaRPr lang="en-US" altLang="zh-CN" sz="2400" dirty="0"/>
          </a:p>
          <a:p>
            <a:endParaRPr lang="zh-CN" altLang="en-US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5A63F0-0F87-4730-B045-56D5F89D2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2276872"/>
            <a:ext cx="3259236" cy="25922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88E8536-D8E2-48EF-A3B3-0E890B223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710" y="1340768"/>
            <a:ext cx="44767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80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03" y="11266"/>
            <a:ext cx="8229600" cy="897454"/>
          </a:xfrm>
        </p:spPr>
        <p:txBody>
          <a:bodyPr/>
          <a:lstStyle/>
          <a:p>
            <a:r>
              <a:rPr lang="zh-CN" altLang="en-US" dirty="0"/>
              <a:t>信号去抖（</a:t>
            </a:r>
            <a:r>
              <a:rPr lang="en-US" altLang="zh-CN" dirty="0"/>
              <a:t>debounce</a:t>
            </a:r>
            <a:r>
              <a:rPr lang="zh-CN" altLang="en-US" dirty="0"/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FE1196-912E-43A5-BC50-9D10976287FF}"/>
              </a:ext>
            </a:extLst>
          </p:cNvPr>
          <p:cNvSpPr/>
          <p:nvPr/>
        </p:nvSpPr>
        <p:spPr>
          <a:xfrm>
            <a:off x="131176" y="764704"/>
            <a:ext cx="8229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2.2 Verilog </a:t>
            </a:r>
            <a:r>
              <a:rPr lang="en-US" altLang="zh-CN" sz="2400" dirty="0" err="1"/>
              <a:t>Debouncer</a:t>
            </a:r>
            <a:endParaRPr lang="en-US" altLang="zh-CN" sz="2400" dirty="0"/>
          </a:p>
          <a:p>
            <a:r>
              <a:rPr lang="zh-CN" altLang="en-US" sz="2400" dirty="0"/>
              <a:t>原则：重复读取足够长时间，直到信号稳定；</a:t>
            </a:r>
            <a:endParaRPr lang="en-US" altLang="zh-CN" sz="2400" dirty="0"/>
          </a:p>
          <a:p>
            <a:r>
              <a:rPr lang="zh-CN" altLang="en-US" sz="2400" dirty="0"/>
              <a:t>实现：使用计数器来进行计时，消除噪声并验证开关状态</a:t>
            </a:r>
            <a:endParaRPr lang="en-US" altLang="zh-CN" sz="2400" dirty="0"/>
          </a:p>
          <a:p>
            <a:endParaRPr lang="zh-CN" altLang="en-US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32647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1FE1196-912E-43A5-BC50-9D10976287FF}"/>
              </a:ext>
            </a:extLst>
          </p:cNvPr>
          <p:cNvSpPr/>
          <p:nvPr/>
        </p:nvSpPr>
        <p:spPr>
          <a:xfrm>
            <a:off x="179512" y="197346"/>
            <a:ext cx="82296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wire </a:t>
            </a:r>
            <a:r>
              <a:rPr lang="en-US" altLang="zh-CN" sz="1600" dirty="0" err="1"/>
              <a:t>load_out</a:t>
            </a:r>
            <a:r>
              <a:rPr lang="en-US" altLang="zh-CN" sz="1600" dirty="0"/>
              <a:t> = deglitching &amp; ~(|</a:t>
            </a:r>
            <a:r>
              <a:rPr lang="en-US" altLang="zh-CN" sz="1600" dirty="0" err="1"/>
              <a:t>deglitch_cnt</a:t>
            </a:r>
            <a:r>
              <a:rPr lang="en-US" altLang="zh-CN" sz="1600" dirty="0"/>
              <a:t>); </a:t>
            </a:r>
          </a:p>
          <a:p>
            <a:r>
              <a:rPr lang="en-US" altLang="zh-CN" sz="1600" dirty="0"/>
              <a:t>wire glitch = (</a:t>
            </a:r>
            <a:r>
              <a:rPr lang="en-US" altLang="zh-CN" sz="1600" dirty="0" err="1"/>
              <a:t>d_dly</a:t>
            </a:r>
            <a:r>
              <a:rPr lang="en-US" altLang="zh-CN" sz="1600" dirty="0"/>
              <a:t> != d); // Glitch detection</a:t>
            </a:r>
          </a:p>
          <a:p>
            <a:r>
              <a:rPr lang="en-US" altLang="zh-CN" sz="1600" dirty="0"/>
              <a:t>always @(</a:t>
            </a:r>
            <a:r>
              <a:rPr lang="en-US" altLang="zh-CN" sz="1600" dirty="0" err="1"/>
              <a:t>negedge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rstn</a:t>
            </a:r>
            <a:r>
              <a:rPr lang="en-US" altLang="zh-CN" sz="1600" dirty="0"/>
              <a:t> or </a:t>
            </a:r>
            <a:r>
              <a:rPr lang="en-US" altLang="zh-CN" sz="1600" dirty="0" err="1"/>
              <a:t>posedge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clk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if (~</a:t>
            </a:r>
            <a:r>
              <a:rPr lang="en-US" altLang="zh-CN" sz="1600" dirty="0" err="1"/>
              <a:t>rstn</a:t>
            </a:r>
            <a:r>
              <a:rPr lang="en-US" altLang="zh-CN" sz="1600" dirty="0"/>
              <a:t>) begin</a:t>
            </a:r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d_dly</a:t>
            </a:r>
            <a:r>
              <a:rPr lang="en-US" altLang="zh-CN" sz="1600" dirty="0"/>
              <a:t> &lt;= 0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deglitch_cnt</a:t>
            </a:r>
            <a:r>
              <a:rPr lang="en-US" altLang="zh-CN" sz="1600" dirty="0"/>
              <a:t>&lt;= 0;</a:t>
            </a:r>
          </a:p>
          <a:p>
            <a:r>
              <a:rPr lang="en-US" altLang="zh-CN" sz="1600" dirty="0"/>
              <a:t>  deglitching &lt;= 1'b0;</a:t>
            </a:r>
          </a:p>
          <a:p>
            <a:r>
              <a:rPr lang="en-US" altLang="zh-CN" sz="1600" dirty="0"/>
              <a:t>end else begin</a:t>
            </a:r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d_dly</a:t>
            </a:r>
            <a:r>
              <a:rPr lang="en-US" altLang="zh-CN" sz="1600" dirty="0"/>
              <a:t> &lt;= d;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if(glitch)     deglitching &lt;= 1'b1;</a:t>
            </a:r>
          </a:p>
          <a:p>
            <a:r>
              <a:rPr lang="en-US" altLang="zh-CN" sz="1600" dirty="0"/>
              <a:t>  else if(deglitching &amp; </a:t>
            </a:r>
            <a:r>
              <a:rPr lang="en-US" altLang="zh-CN" sz="1600" dirty="0" err="1"/>
              <a:t>load_out</a:t>
            </a:r>
            <a:r>
              <a:rPr lang="en-US" altLang="zh-CN" sz="1600" dirty="0"/>
              <a:t>) deglitching&lt;= 1'b0;  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if (glitch)    </a:t>
            </a:r>
            <a:r>
              <a:rPr lang="en-US" altLang="zh-CN" sz="1600" dirty="0" err="1"/>
              <a:t>deglitch_cnt</a:t>
            </a:r>
            <a:r>
              <a:rPr lang="en-US" altLang="zh-CN" sz="1600" dirty="0"/>
              <a:t>&lt;= </a:t>
            </a:r>
            <a:r>
              <a:rPr lang="en-US" altLang="zh-CN" sz="1600" dirty="0" err="1"/>
              <a:t>cyc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else if(deglitching) begin</a:t>
            </a:r>
          </a:p>
          <a:p>
            <a:r>
              <a:rPr lang="en-US" altLang="zh-CN" sz="1600" dirty="0"/>
              <a:t>    if(|</a:t>
            </a:r>
            <a:r>
              <a:rPr lang="en-US" altLang="zh-CN" sz="1600" dirty="0" err="1"/>
              <a:t>deglitch_cnt</a:t>
            </a:r>
            <a:r>
              <a:rPr lang="en-US" altLang="zh-CN" sz="1600" dirty="0"/>
              <a:t> &amp; </a:t>
            </a:r>
            <a:r>
              <a:rPr lang="en-US" altLang="zh-CN" sz="1600" dirty="0" err="1"/>
              <a:t>t_in</a:t>
            </a:r>
            <a:r>
              <a:rPr lang="en-US" altLang="zh-CN" sz="1600" dirty="0"/>
              <a:t>)    </a:t>
            </a:r>
            <a:r>
              <a:rPr lang="en-US" altLang="zh-CN" sz="1600" dirty="0" err="1"/>
              <a:t>deglitch_cnt</a:t>
            </a:r>
            <a:r>
              <a:rPr lang="en-US" altLang="zh-CN" sz="1600" dirty="0"/>
              <a:t>&lt;= </a:t>
            </a:r>
            <a:r>
              <a:rPr lang="en-US" altLang="zh-CN" sz="1600" dirty="0" err="1"/>
              <a:t>deglitch_cnt</a:t>
            </a:r>
            <a:r>
              <a:rPr lang="en-US" altLang="zh-CN" sz="1600" dirty="0"/>
              <a:t> - 1;</a:t>
            </a:r>
          </a:p>
          <a:p>
            <a:r>
              <a:rPr lang="en-US" altLang="zh-CN" sz="1600" dirty="0"/>
              <a:t>  end</a:t>
            </a:r>
          </a:p>
          <a:p>
            <a:r>
              <a:rPr lang="en-US" altLang="zh-CN" sz="1600" dirty="0"/>
              <a:t>  else    </a:t>
            </a:r>
            <a:r>
              <a:rPr lang="en-US" altLang="zh-CN" sz="1600" dirty="0" err="1"/>
              <a:t>deglitch_cnt</a:t>
            </a:r>
            <a:r>
              <a:rPr lang="en-US" altLang="zh-CN" sz="1600" dirty="0"/>
              <a:t>&lt;= {TW{1'd0}};</a:t>
            </a:r>
          </a:p>
          <a:p>
            <a:r>
              <a:rPr lang="en-US" altLang="zh-CN" sz="1600" dirty="0"/>
              <a:t>end</a:t>
            </a:r>
          </a:p>
          <a:p>
            <a:endParaRPr lang="en-US" altLang="zh-CN" sz="1600" dirty="0"/>
          </a:p>
          <a:p>
            <a:r>
              <a:rPr lang="en-US" altLang="zh-CN" sz="1600" dirty="0"/>
              <a:t>always @(</a:t>
            </a:r>
            <a:r>
              <a:rPr lang="en-US" altLang="zh-CN" sz="1600" dirty="0" err="1"/>
              <a:t>negedge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rstn</a:t>
            </a:r>
            <a:r>
              <a:rPr lang="en-US" altLang="zh-CN" sz="1600" dirty="0"/>
              <a:t> or </a:t>
            </a:r>
            <a:r>
              <a:rPr lang="en-US" altLang="zh-CN" sz="1600" dirty="0" err="1"/>
              <a:t>posedge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clk</a:t>
            </a:r>
            <a:r>
              <a:rPr lang="en-US" altLang="zh-CN" sz="1600" dirty="0"/>
              <a:t>) </a:t>
            </a:r>
          </a:p>
          <a:p>
            <a:r>
              <a:rPr lang="en-US" altLang="zh-CN" sz="1600" dirty="0"/>
              <a:t>if (~</a:t>
            </a:r>
            <a:r>
              <a:rPr lang="en-US" altLang="zh-CN" sz="1600" dirty="0" err="1"/>
              <a:t>rstn</a:t>
            </a:r>
            <a:r>
              <a:rPr lang="en-US" altLang="zh-CN" sz="1600" dirty="0"/>
              <a:t>)  q &lt;= 0;</a:t>
            </a:r>
          </a:p>
          <a:p>
            <a:r>
              <a:rPr lang="en-US" altLang="zh-CN" sz="1600" dirty="0"/>
              <a:t>else begin</a:t>
            </a:r>
          </a:p>
          <a:p>
            <a:r>
              <a:rPr lang="en-US" altLang="zh-CN" sz="1600" dirty="0"/>
              <a:t>  if (</a:t>
            </a:r>
            <a:r>
              <a:rPr lang="en-US" altLang="zh-CN" sz="1600" dirty="0" err="1"/>
              <a:t>load_out</a:t>
            </a:r>
            <a:r>
              <a:rPr lang="en-US" altLang="zh-CN" sz="1600" dirty="0"/>
              <a:t>==1'b1 &amp;&amp; glitch==1'b0)</a:t>
            </a:r>
          </a:p>
          <a:p>
            <a:r>
              <a:rPr lang="en-US" altLang="zh-CN" sz="1600" dirty="0"/>
              <a:t>    q &lt;= d;</a:t>
            </a:r>
          </a:p>
          <a:p>
            <a:r>
              <a:rPr lang="en-US" altLang="zh-CN" sz="16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1852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8643</TotalTime>
  <Words>1470</Words>
  <Application>Microsoft Office PowerPoint</Application>
  <PresentationFormat>全屏显示(4:3)</PresentationFormat>
  <Paragraphs>211</Paragraphs>
  <Slides>27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仿宋_GB2312</vt:lpstr>
      <vt:lpstr>宋体</vt:lpstr>
      <vt:lpstr>Arial</vt:lpstr>
      <vt:lpstr>Calibri</vt:lpstr>
      <vt:lpstr>Verdana</vt:lpstr>
      <vt:lpstr>Wingdings</vt:lpstr>
      <vt:lpstr>Office 主题​​</vt:lpstr>
      <vt:lpstr>PowerPoint 演示文稿</vt:lpstr>
      <vt:lpstr>主要内容</vt:lpstr>
      <vt:lpstr>Asynchronous FIFO</vt:lpstr>
      <vt:lpstr>Asynchronous FIFO</vt:lpstr>
      <vt:lpstr>Asynchronous FIFO</vt:lpstr>
      <vt:lpstr>Asynchronous FIFO</vt:lpstr>
      <vt:lpstr>Asynchronous FIFO</vt:lpstr>
      <vt:lpstr>Asynchronous FIFO</vt:lpstr>
      <vt:lpstr>Asynchronous FIFO</vt:lpstr>
      <vt:lpstr>Asynchronous FIFO</vt:lpstr>
      <vt:lpstr>PowerPoint 演示文稿</vt:lpstr>
      <vt:lpstr>Asynchronous FIFO</vt:lpstr>
      <vt:lpstr>Asynchronous FIFO</vt:lpstr>
      <vt:lpstr>Clock Domain Crossing Design</vt:lpstr>
      <vt:lpstr>Clock Domain Crossing Design</vt:lpstr>
      <vt:lpstr>Clock Domain Crossing Design</vt:lpstr>
      <vt:lpstr>Clock Domain Crossing Design</vt:lpstr>
      <vt:lpstr>Clock Domain Crossing Design</vt:lpstr>
      <vt:lpstr>Clock Domain Crossing Design</vt:lpstr>
      <vt:lpstr>Clock Domain Crossing Design</vt:lpstr>
      <vt:lpstr>Clock Domain Crossing Design</vt:lpstr>
      <vt:lpstr>Clock Domain Crossing Design</vt:lpstr>
      <vt:lpstr>Clock Domain Crossing Design</vt:lpstr>
      <vt:lpstr>信号去抖（debounce）</vt:lpstr>
      <vt:lpstr>信号去抖（debounce）</vt:lpstr>
      <vt:lpstr>信号去抖（debounce）</vt:lpstr>
      <vt:lpstr>PowerPoint 演示文稿</vt:lpstr>
    </vt:vector>
  </TitlesOfParts>
  <Company>tj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national</dc:creator>
  <cp:lastModifiedBy>z</cp:lastModifiedBy>
  <cp:revision>745</cp:revision>
  <dcterms:created xsi:type="dcterms:W3CDTF">2007-07-19T09:42:33Z</dcterms:created>
  <dcterms:modified xsi:type="dcterms:W3CDTF">2021-05-27T10:44:02Z</dcterms:modified>
</cp:coreProperties>
</file>