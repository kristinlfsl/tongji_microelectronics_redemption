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9"/>
  </p:notesMasterIdLst>
  <p:sldIdLst>
    <p:sldId id="277" r:id="rId2"/>
    <p:sldId id="488" r:id="rId3"/>
    <p:sldId id="603" r:id="rId4"/>
    <p:sldId id="543" r:id="rId5"/>
    <p:sldId id="604" r:id="rId6"/>
    <p:sldId id="605" r:id="rId7"/>
    <p:sldId id="607" r:id="rId8"/>
    <p:sldId id="608" r:id="rId9"/>
    <p:sldId id="609" r:id="rId10"/>
    <p:sldId id="611" r:id="rId11"/>
    <p:sldId id="612" r:id="rId12"/>
    <p:sldId id="613" r:id="rId13"/>
    <p:sldId id="614" r:id="rId14"/>
    <p:sldId id="616" r:id="rId15"/>
    <p:sldId id="615" r:id="rId16"/>
    <p:sldId id="617" r:id="rId17"/>
    <p:sldId id="618" r:id="rId18"/>
    <p:sldId id="619" r:id="rId19"/>
    <p:sldId id="620" r:id="rId20"/>
    <p:sldId id="621" r:id="rId21"/>
    <p:sldId id="622" r:id="rId22"/>
    <p:sldId id="623" r:id="rId23"/>
    <p:sldId id="624" r:id="rId24"/>
    <p:sldId id="625" r:id="rId25"/>
    <p:sldId id="626" r:id="rId26"/>
    <p:sldId id="627" r:id="rId27"/>
    <p:sldId id="628" r:id="rId28"/>
    <p:sldId id="629" r:id="rId29"/>
    <p:sldId id="630" r:id="rId30"/>
    <p:sldId id="631" r:id="rId31"/>
    <p:sldId id="632" r:id="rId32"/>
    <p:sldId id="633" r:id="rId33"/>
    <p:sldId id="634" r:id="rId34"/>
    <p:sldId id="635" r:id="rId35"/>
    <p:sldId id="637" r:id="rId36"/>
    <p:sldId id="636" r:id="rId37"/>
    <p:sldId id="582" r:id="rId3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CC99"/>
    <a:srgbClr val="993300"/>
    <a:srgbClr val="FF9900"/>
    <a:srgbClr val="FFFF66"/>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24" autoAdjust="0"/>
    <p:restoredTop sz="84288" autoAdjust="0"/>
  </p:normalViewPr>
  <p:slideViewPr>
    <p:cSldViewPr>
      <p:cViewPr varScale="1">
        <p:scale>
          <a:sx n="79" d="100"/>
          <a:sy n="79" d="100"/>
        </p:scale>
        <p:origin x="605"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3350826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a:t>
            </a:fld>
            <a:endParaRPr lang="en-US" altLang="zh-CN"/>
          </a:p>
        </p:txBody>
      </p:sp>
    </p:spTree>
    <p:extLst>
      <p:ext uri="{BB962C8B-B14F-4D97-AF65-F5344CB8AC3E}">
        <p14:creationId xmlns:p14="http://schemas.microsoft.com/office/powerpoint/2010/main" val="2623898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1641350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5</a:t>
            </a:fld>
            <a:endParaRPr lang="en-US" altLang="zh-CN"/>
          </a:p>
        </p:txBody>
      </p:sp>
    </p:spTree>
    <p:extLst>
      <p:ext uri="{BB962C8B-B14F-4D97-AF65-F5344CB8AC3E}">
        <p14:creationId xmlns:p14="http://schemas.microsoft.com/office/powerpoint/2010/main" val="2021530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6</a:t>
            </a:fld>
            <a:endParaRPr lang="en-US" altLang="zh-CN"/>
          </a:p>
        </p:txBody>
      </p:sp>
    </p:spTree>
    <p:extLst>
      <p:ext uri="{BB962C8B-B14F-4D97-AF65-F5344CB8AC3E}">
        <p14:creationId xmlns:p14="http://schemas.microsoft.com/office/powerpoint/2010/main" val="3824304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7</a:t>
            </a:fld>
            <a:endParaRPr lang="en-US" altLang="zh-CN"/>
          </a:p>
        </p:txBody>
      </p:sp>
    </p:spTree>
    <p:extLst>
      <p:ext uri="{BB962C8B-B14F-4D97-AF65-F5344CB8AC3E}">
        <p14:creationId xmlns:p14="http://schemas.microsoft.com/office/powerpoint/2010/main" val="312562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8</a:t>
            </a:fld>
            <a:endParaRPr lang="en-US" altLang="zh-CN"/>
          </a:p>
        </p:txBody>
      </p:sp>
    </p:spTree>
    <p:extLst>
      <p:ext uri="{BB962C8B-B14F-4D97-AF65-F5344CB8AC3E}">
        <p14:creationId xmlns:p14="http://schemas.microsoft.com/office/powerpoint/2010/main" val="2758282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24944207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2273234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3782194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3404052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455806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14</a:t>
            </a:fld>
            <a:endParaRPr lang="en-US" altLang="zh-CN"/>
          </a:p>
        </p:txBody>
      </p:sp>
    </p:spTree>
    <p:extLst>
      <p:ext uri="{BB962C8B-B14F-4D97-AF65-F5344CB8AC3E}">
        <p14:creationId xmlns:p14="http://schemas.microsoft.com/office/powerpoint/2010/main" val="3596973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3826969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3935803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2526308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153225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1750999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238511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22</a:t>
            </a:fld>
            <a:endParaRPr lang="en-US" altLang="zh-CN"/>
          </a:p>
        </p:txBody>
      </p:sp>
    </p:spTree>
    <p:extLst>
      <p:ext uri="{BB962C8B-B14F-4D97-AF65-F5344CB8AC3E}">
        <p14:creationId xmlns:p14="http://schemas.microsoft.com/office/powerpoint/2010/main" val="2006311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27349812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1717185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3157106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3264468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27</a:t>
            </a:fld>
            <a:endParaRPr lang="en-US" altLang="zh-CN"/>
          </a:p>
        </p:txBody>
      </p:sp>
    </p:spTree>
    <p:extLst>
      <p:ext uri="{BB962C8B-B14F-4D97-AF65-F5344CB8AC3E}">
        <p14:creationId xmlns:p14="http://schemas.microsoft.com/office/powerpoint/2010/main" val="1742071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28</a:t>
            </a:fld>
            <a:endParaRPr lang="en-US" altLang="zh-CN"/>
          </a:p>
        </p:txBody>
      </p:sp>
    </p:spTree>
    <p:extLst>
      <p:ext uri="{BB962C8B-B14F-4D97-AF65-F5344CB8AC3E}">
        <p14:creationId xmlns:p14="http://schemas.microsoft.com/office/powerpoint/2010/main" val="3570987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29</a:t>
            </a:fld>
            <a:endParaRPr lang="en-US" altLang="zh-CN"/>
          </a:p>
        </p:txBody>
      </p:sp>
    </p:spTree>
    <p:extLst>
      <p:ext uri="{BB962C8B-B14F-4D97-AF65-F5344CB8AC3E}">
        <p14:creationId xmlns:p14="http://schemas.microsoft.com/office/powerpoint/2010/main" val="849187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30</a:t>
            </a:fld>
            <a:endParaRPr lang="en-US" altLang="zh-CN"/>
          </a:p>
        </p:txBody>
      </p:sp>
    </p:spTree>
    <p:extLst>
      <p:ext uri="{BB962C8B-B14F-4D97-AF65-F5344CB8AC3E}">
        <p14:creationId xmlns:p14="http://schemas.microsoft.com/office/powerpoint/2010/main" val="1369006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31</a:t>
            </a:fld>
            <a:endParaRPr lang="en-US" altLang="zh-CN"/>
          </a:p>
        </p:txBody>
      </p:sp>
    </p:spTree>
    <p:extLst>
      <p:ext uri="{BB962C8B-B14F-4D97-AF65-F5344CB8AC3E}">
        <p14:creationId xmlns:p14="http://schemas.microsoft.com/office/powerpoint/2010/main" val="18233369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32</a:t>
            </a:fld>
            <a:endParaRPr lang="en-US" altLang="zh-CN"/>
          </a:p>
        </p:txBody>
      </p:sp>
    </p:spTree>
    <p:extLst>
      <p:ext uri="{BB962C8B-B14F-4D97-AF65-F5344CB8AC3E}">
        <p14:creationId xmlns:p14="http://schemas.microsoft.com/office/powerpoint/2010/main" val="1197755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33</a:t>
            </a:fld>
            <a:endParaRPr lang="en-US" altLang="zh-CN"/>
          </a:p>
        </p:txBody>
      </p:sp>
    </p:spTree>
    <p:extLst>
      <p:ext uri="{BB962C8B-B14F-4D97-AF65-F5344CB8AC3E}">
        <p14:creationId xmlns:p14="http://schemas.microsoft.com/office/powerpoint/2010/main" val="3473379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34</a:t>
            </a:fld>
            <a:endParaRPr lang="en-US" altLang="zh-CN"/>
          </a:p>
        </p:txBody>
      </p:sp>
    </p:spTree>
    <p:extLst>
      <p:ext uri="{BB962C8B-B14F-4D97-AF65-F5344CB8AC3E}">
        <p14:creationId xmlns:p14="http://schemas.microsoft.com/office/powerpoint/2010/main" val="14851752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36</a:t>
            </a:fld>
            <a:endParaRPr lang="en-US" altLang="zh-CN"/>
          </a:p>
        </p:txBody>
      </p:sp>
    </p:spTree>
    <p:extLst>
      <p:ext uri="{BB962C8B-B14F-4D97-AF65-F5344CB8AC3E}">
        <p14:creationId xmlns:p14="http://schemas.microsoft.com/office/powerpoint/2010/main" val="4281549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37</a:t>
            </a:fld>
            <a:endParaRPr lang="en-US" altLang="zh-CN"/>
          </a:p>
        </p:txBody>
      </p:sp>
    </p:spTree>
    <p:extLst>
      <p:ext uri="{BB962C8B-B14F-4D97-AF65-F5344CB8AC3E}">
        <p14:creationId xmlns:p14="http://schemas.microsoft.com/office/powerpoint/2010/main" val="1617385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algn="ctr" eaLnBrk="1" hangingPunct="1">
              <a:buFont typeface="Wingdings" panose="05000000000000000000" pitchFamily="2" charset="2"/>
              <a:buNone/>
            </a:pPr>
            <a:r>
              <a:rPr lang="zh-CN" altLang="en-US" sz="4400" b="1" dirty="0">
                <a:latin typeface="仿宋_GB2312" pitchFamily="49" charset="-122"/>
                <a:ea typeface="仿宋_GB2312" pitchFamily="49" charset="-122"/>
              </a:rPr>
              <a:t>第八章 门级和晶体管级设计</a:t>
            </a: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algn="ctr" eaLnBrk="1" hangingPunct="1">
              <a:buFont typeface="Wingdings" panose="05000000000000000000" pitchFamily="2" charset="2"/>
              <a:buNone/>
            </a:pPr>
            <a:endParaRPr lang="en-US" altLang="zh-CN" sz="4400" b="1" dirty="0">
              <a:latin typeface="仿宋_GB2312" pitchFamily="49" charset="-122"/>
              <a:ea typeface="仿宋_GB2312" pitchFamily="49" charset="-122"/>
            </a:endParaRP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154984"/>
          </a:xfrm>
          <a:prstGeom prst="rect">
            <a:avLst/>
          </a:prstGeom>
        </p:spPr>
        <p:txBody>
          <a:bodyPr wrap="square">
            <a:spAutoFit/>
          </a:bodyPr>
          <a:lstStyle/>
          <a:p>
            <a:r>
              <a:rPr lang="en-US" altLang="zh-CN" sz="2400" dirty="0"/>
              <a:t>8.1.1</a:t>
            </a:r>
            <a:r>
              <a:rPr lang="zh-CN" altLang="en-US" sz="2400" dirty="0"/>
              <a:t>、作为开关的</a:t>
            </a:r>
            <a:r>
              <a:rPr lang="en-US" altLang="zh-CN" sz="2400" dirty="0"/>
              <a:t>MOSFET</a:t>
            </a:r>
          </a:p>
          <a:p>
            <a:r>
              <a:rPr lang="en-US" altLang="zh-CN" sz="2400" dirty="0"/>
              <a:t>MOSFET </a:t>
            </a:r>
            <a:r>
              <a:rPr lang="zh-CN" altLang="en-US" sz="2400" dirty="0"/>
              <a:t>的粗糙近似只是一个继电器。</a:t>
            </a:r>
            <a:endParaRPr lang="en-US" altLang="zh-CN" sz="2400" dirty="0"/>
          </a:p>
          <a:p>
            <a:r>
              <a:rPr lang="zh-CN" altLang="en-US" sz="2400" dirty="0"/>
              <a:t>它的接触操作是由施加到栅电极的电压控制的，从而形成或断开漏极和源极之间的电流通路。</a:t>
            </a:r>
            <a:endParaRPr lang="en-US" altLang="zh-CN" sz="2400" dirty="0"/>
          </a:p>
          <a:p>
            <a:endParaRPr lang="en-US" altLang="zh-CN" sz="2400" dirty="0"/>
          </a:p>
          <a:p>
            <a:r>
              <a:rPr lang="zh-CN" altLang="en-US" sz="2400" dirty="0"/>
              <a:t>当栅极电位和源极相同时，晶体管</a:t>
            </a:r>
            <a:r>
              <a:rPr lang="en-US" altLang="zh-CN" sz="2400" dirty="0"/>
              <a:t>“</a:t>
            </a:r>
            <a:r>
              <a:rPr lang="zh-CN" altLang="en-US" sz="2400" dirty="0"/>
              <a:t>截止</a:t>
            </a:r>
            <a:r>
              <a:rPr lang="en-US" altLang="zh-CN" sz="2400" dirty="0"/>
              <a:t>” </a:t>
            </a:r>
            <a:r>
              <a:rPr lang="en-US" altLang="zh-CN" sz="2400" dirty="0">
                <a:sym typeface="Wingdings" panose="05000000000000000000" pitchFamily="2" charset="2"/>
              </a:rPr>
              <a:t></a:t>
            </a:r>
            <a:r>
              <a:rPr lang="zh-CN" altLang="en-US" sz="2400" dirty="0">
                <a:sym typeface="Wingdings" panose="05000000000000000000" pitchFamily="2" charset="2"/>
              </a:rPr>
              <a:t>电导</a:t>
            </a:r>
            <a:r>
              <a:rPr lang="en-US" altLang="zh-CN" sz="2400" dirty="0">
                <a:sym typeface="Wingdings" panose="05000000000000000000" pitchFamily="2" charset="2"/>
              </a:rPr>
              <a:t>G</a:t>
            </a:r>
            <a:r>
              <a:rPr lang="en-US" altLang="zh-CN" sz="2400" baseline="-25000" dirty="0">
                <a:sym typeface="Wingdings" panose="05000000000000000000" pitchFamily="2" charset="2"/>
              </a:rPr>
              <a:t>off</a:t>
            </a:r>
            <a:r>
              <a:rPr lang="zh-CN" altLang="en-US" sz="2400" dirty="0">
                <a:sym typeface="Wingdings" panose="05000000000000000000" pitchFamily="2" charset="2"/>
              </a:rPr>
              <a:t>非常低；</a:t>
            </a:r>
            <a:endParaRPr lang="en-US" altLang="zh-CN" sz="2400" dirty="0"/>
          </a:p>
          <a:p>
            <a:endParaRPr lang="en-US" altLang="zh-CN" sz="2400" dirty="0"/>
          </a:p>
          <a:p>
            <a:r>
              <a:rPr lang="zh-CN" altLang="en-US" sz="2400" dirty="0"/>
              <a:t>当两个端点之间加上全部电源电压时，晶体管</a:t>
            </a:r>
            <a:r>
              <a:rPr lang="en-US" altLang="zh-CN" sz="2400" dirty="0"/>
              <a:t>“</a:t>
            </a:r>
            <a:r>
              <a:rPr lang="zh-CN" altLang="en-US" sz="2400" dirty="0"/>
              <a:t>导通</a:t>
            </a:r>
            <a:r>
              <a:rPr lang="en-US" altLang="zh-CN" sz="2400" dirty="0"/>
              <a:t>”</a:t>
            </a:r>
            <a:r>
              <a:rPr lang="zh-CN" altLang="en-US" sz="2400" dirty="0"/>
              <a:t>。</a:t>
            </a:r>
            <a:endParaRPr lang="en-US" altLang="zh-CN" sz="2400" dirty="0"/>
          </a:p>
          <a:p>
            <a:r>
              <a:rPr lang="zh-CN" altLang="en-US" sz="2400" dirty="0"/>
              <a:t>晶体管导通时的电导</a:t>
            </a:r>
            <a:r>
              <a:rPr lang="en-US" altLang="zh-CN" sz="2400" dirty="0"/>
              <a:t>G</a:t>
            </a:r>
            <a:r>
              <a:rPr lang="en-US" altLang="zh-CN" sz="2400" baseline="-25000" dirty="0"/>
              <a:t>on</a:t>
            </a:r>
            <a:r>
              <a:rPr lang="zh-CN" altLang="en-US" sz="2400" dirty="0"/>
              <a:t>不是无穷大，而是晶体管几何形状的函数（与</a:t>
            </a:r>
            <a:r>
              <a:rPr lang="en-US" altLang="zh-CN" sz="2400" dirty="0"/>
              <a:t>W/L</a:t>
            </a:r>
            <a:r>
              <a:rPr lang="zh-CN" altLang="en-US" sz="2400" dirty="0"/>
              <a:t>成正比例）；</a:t>
            </a:r>
            <a:r>
              <a:rPr lang="en-US" altLang="zh-CN" sz="2400" dirty="0"/>
              <a:t>p</a:t>
            </a:r>
            <a:r>
              <a:rPr lang="zh-CN" altLang="en-US" sz="2400" dirty="0"/>
              <a:t>沟道晶体管电导小于相同尺寸的</a:t>
            </a:r>
            <a:r>
              <a:rPr lang="en-US" altLang="zh-CN" sz="2400" dirty="0"/>
              <a:t>n</a:t>
            </a:r>
            <a:r>
              <a:rPr lang="zh-CN" altLang="en-US" sz="2400" dirty="0"/>
              <a:t>沟道器件（与空穴和电子不同的迁移率相关）；</a:t>
            </a:r>
            <a:endParaRPr lang="en-US" altLang="zh-CN" sz="2400" dirty="0"/>
          </a:p>
        </p:txBody>
      </p:sp>
      <p:pic>
        <p:nvPicPr>
          <p:cNvPr id="4" name="图片 3">
            <a:extLst>
              <a:ext uri="{FF2B5EF4-FFF2-40B4-BE49-F238E27FC236}">
                <a16:creationId xmlns:a16="http://schemas.microsoft.com/office/drawing/2014/main" id="{626D3103-FEAA-408F-A38C-D02E39633CC1}"/>
              </a:ext>
            </a:extLst>
          </p:cNvPr>
          <p:cNvPicPr>
            <a:picLocks noChangeAspect="1"/>
          </p:cNvPicPr>
          <p:nvPr/>
        </p:nvPicPr>
        <p:blipFill>
          <a:blip r:embed="rId3"/>
          <a:stretch>
            <a:fillRect/>
          </a:stretch>
        </p:blipFill>
        <p:spPr>
          <a:xfrm>
            <a:off x="468610" y="4956494"/>
            <a:ext cx="7991822" cy="1882284"/>
          </a:xfrm>
          <a:prstGeom prst="rect">
            <a:avLst/>
          </a:prstGeom>
        </p:spPr>
      </p:pic>
    </p:spTree>
    <p:extLst>
      <p:ext uri="{BB962C8B-B14F-4D97-AF65-F5344CB8AC3E}">
        <p14:creationId xmlns:p14="http://schemas.microsoft.com/office/powerpoint/2010/main" val="328520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pic>
        <p:nvPicPr>
          <p:cNvPr id="5" name="图片 4">
            <a:extLst>
              <a:ext uri="{FF2B5EF4-FFF2-40B4-BE49-F238E27FC236}">
                <a16:creationId xmlns:a16="http://schemas.microsoft.com/office/drawing/2014/main" id="{636AF932-14DF-497E-B96F-07CCD4165E7E}"/>
              </a:ext>
            </a:extLst>
          </p:cNvPr>
          <p:cNvPicPr>
            <a:picLocks noChangeAspect="1"/>
          </p:cNvPicPr>
          <p:nvPr/>
        </p:nvPicPr>
        <p:blipFill>
          <a:blip r:embed="rId3"/>
          <a:stretch>
            <a:fillRect/>
          </a:stretch>
        </p:blipFill>
        <p:spPr>
          <a:xfrm>
            <a:off x="438150" y="620688"/>
            <a:ext cx="8248650" cy="6291021"/>
          </a:xfrm>
          <a:prstGeom prst="rect">
            <a:avLst/>
          </a:prstGeom>
        </p:spPr>
      </p:pic>
    </p:spTree>
    <p:extLst>
      <p:ext uri="{BB962C8B-B14F-4D97-AF65-F5344CB8AC3E}">
        <p14:creationId xmlns:p14="http://schemas.microsoft.com/office/powerpoint/2010/main" val="29507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170099"/>
          </a:xfrm>
          <a:prstGeom prst="rect">
            <a:avLst/>
          </a:prstGeom>
        </p:spPr>
        <p:txBody>
          <a:bodyPr wrap="square">
            <a:spAutoFit/>
          </a:bodyPr>
          <a:lstStyle/>
          <a:p>
            <a:r>
              <a:rPr lang="en-US" altLang="zh-CN" sz="2400" dirty="0"/>
              <a:t>8.1.2 </a:t>
            </a:r>
            <a:r>
              <a:rPr lang="zh-CN" altLang="en-US" sz="2400" dirty="0"/>
              <a:t>反相器</a:t>
            </a:r>
            <a:endParaRPr lang="en-US" altLang="zh-CN" sz="2400" dirty="0"/>
          </a:p>
          <a:p>
            <a:r>
              <a:rPr lang="en-US" altLang="zh-CN" sz="2400" dirty="0"/>
              <a:t>CMOS</a:t>
            </a:r>
            <a:r>
              <a:rPr lang="zh-CN" altLang="en-US" sz="2400" dirty="0"/>
              <a:t>反相器由两个互补的</a:t>
            </a:r>
            <a:r>
              <a:rPr lang="en-US" altLang="zh-CN" sz="2400" dirty="0"/>
              <a:t>MOSFET</a:t>
            </a:r>
            <a:r>
              <a:rPr lang="zh-CN" altLang="en-US" sz="2400" dirty="0"/>
              <a:t>构成；</a:t>
            </a:r>
            <a:endParaRPr lang="en-US" altLang="zh-CN" sz="2400" dirty="0"/>
          </a:p>
          <a:p>
            <a:r>
              <a:rPr lang="zh-CN" altLang="en-US" sz="2400" dirty="0"/>
              <a:t>以节点</a:t>
            </a:r>
            <a:r>
              <a:rPr lang="en-US" altLang="zh-CN" sz="2400" dirty="0" err="1"/>
              <a:t>Vss</a:t>
            </a:r>
            <a:r>
              <a:rPr lang="zh-CN" altLang="en-US" sz="2400" dirty="0"/>
              <a:t>为参考，得到如下</a:t>
            </a:r>
            <a:r>
              <a:rPr lang="en-US" altLang="zh-CN" sz="2400" dirty="0"/>
              <a:t>p</a:t>
            </a:r>
            <a:r>
              <a:rPr lang="zh-CN" altLang="en-US" sz="2400" dirty="0"/>
              <a:t>、</a:t>
            </a:r>
            <a:r>
              <a:rPr lang="en-US" altLang="zh-CN" sz="2400" dirty="0"/>
              <a:t>n MOSFET</a:t>
            </a:r>
            <a:r>
              <a:rPr lang="zh-CN" altLang="en-US" sz="2400" dirty="0"/>
              <a:t>的电路方程：</a:t>
            </a:r>
            <a:endParaRPr lang="en-US" altLang="zh-CN" sz="2400" dirty="0"/>
          </a:p>
          <a:p>
            <a:r>
              <a:rPr lang="zh-CN" altLang="en-US" sz="2400" dirty="0"/>
              <a:t>（</a:t>
            </a:r>
            <a:r>
              <a:rPr lang="en-US" altLang="zh-CN" sz="2400" dirty="0"/>
              <a:t>1</a:t>
            </a:r>
            <a:r>
              <a:rPr lang="zh-CN" altLang="en-US" sz="2400" dirty="0"/>
              <a:t>）</a:t>
            </a:r>
            <a:r>
              <a:rPr lang="en-US" altLang="zh-CN" sz="2400" dirty="0" err="1"/>
              <a:t>U</a:t>
            </a:r>
            <a:r>
              <a:rPr lang="en-US" altLang="zh-CN" sz="2400" baseline="-25000" dirty="0" err="1"/>
              <a:t>gsn</a:t>
            </a:r>
            <a:r>
              <a:rPr lang="en-US" altLang="zh-CN" sz="2400" dirty="0"/>
              <a:t>= </a:t>
            </a:r>
            <a:r>
              <a:rPr lang="en-US" altLang="zh-CN" sz="2400" dirty="0" err="1"/>
              <a:t>U</a:t>
            </a:r>
            <a:r>
              <a:rPr lang="en-US" altLang="zh-CN" sz="2400" baseline="-25000" dirty="0" err="1"/>
              <a:t>inp</a:t>
            </a:r>
            <a:r>
              <a:rPr lang="en-US" altLang="zh-CN" sz="2400" dirty="0"/>
              <a:t>     </a:t>
            </a:r>
            <a:r>
              <a:rPr lang="en-US" altLang="zh-CN" sz="2400" dirty="0" err="1"/>
              <a:t>U</a:t>
            </a:r>
            <a:r>
              <a:rPr lang="en-US" altLang="zh-CN" sz="2400" baseline="-25000" dirty="0" err="1"/>
              <a:t>gsp</a:t>
            </a:r>
            <a:r>
              <a:rPr lang="en-US" altLang="zh-CN" sz="2400" dirty="0"/>
              <a:t>=</a:t>
            </a:r>
            <a:r>
              <a:rPr lang="en-US" altLang="zh-CN" sz="2400" dirty="0" err="1"/>
              <a:t>U</a:t>
            </a:r>
            <a:r>
              <a:rPr lang="en-US" altLang="zh-CN" sz="2400" baseline="-25000" dirty="0" err="1"/>
              <a:t>inp</a:t>
            </a:r>
            <a:r>
              <a:rPr lang="en-US" altLang="zh-CN" sz="2400" dirty="0"/>
              <a:t> – </a:t>
            </a:r>
            <a:r>
              <a:rPr lang="en-US" altLang="zh-CN" sz="2400" dirty="0" err="1"/>
              <a:t>U</a:t>
            </a:r>
            <a:r>
              <a:rPr lang="en-US" altLang="zh-CN" sz="2400" baseline="-25000" dirty="0" err="1"/>
              <a:t>dd</a:t>
            </a:r>
            <a:endParaRPr lang="en-US" altLang="zh-CN" sz="2400" baseline="-25000" dirty="0"/>
          </a:p>
          <a:p>
            <a:endParaRPr lang="en-US" altLang="zh-CN" sz="2400" baseline="-25000" dirty="0"/>
          </a:p>
          <a:p>
            <a:r>
              <a:rPr lang="zh-CN" altLang="en-US" sz="2400" dirty="0"/>
              <a:t>（</a:t>
            </a:r>
            <a:r>
              <a:rPr lang="en-US" altLang="zh-CN" sz="2400" dirty="0"/>
              <a:t>2</a:t>
            </a:r>
            <a:r>
              <a:rPr lang="zh-CN" altLang="en-US" sz="2400" dirty="0"/>
              <a:t>）</a:t>
            </a:r>
            <a:r>
              <a:rPr lang="en-US" altLang="zh-CN" sz="2400" dirty="0" err="1"/>
              <a:t>U</a:t>
            </a:r>
            <a:r>
              <a:rPr lang="en-US" altLang="zh-CN" sz="2400" baseline="-25000" dirty="0" err="1"/>
              <a:t>dsn</a:t>
            </a:r>
            <a:r>
              <a:rPr lang="en-US" altLang="zh-CN" sz="2400" dirty="0"/>
              <a:t>= </a:t>
            </a:r>
            <a:r>
              <a:rPr lang="en-US" altLang="zh-CN" sz="2400" dirty="0" err="1"/>
              <a:t>U</a:t>
            </a:r>
            <a:r>
              <a:rPr lang="en-US" altLang="zh-CN" sz="2400" baseline="-25000" dirty="0" err="1"/>
              <a:t>oup</a:t>
            </a:r>
            <a:r>
              <a:rPr lang="en-US" altLang="zh-CN" sz="2400" dirty="0"/>
              <a:t>    </a:t>
            </a:r>
            <a:r>
              <a:rPr lang="en-US" altLang="zh-CN" sz="2400" dirty="0" err="1"/>
              <a:t>U</a:t>
            </a:r>
            <a:r>
              <a:rPr lang="en-US" altLang="zh-CN" sz="2400" baseline="-25000" dirty="0" err="1"/>
              <a:t>dsp</a:t>
            </a:r>
            <a:r>
              <a:rPr lang="en-US" altLang="zh-CN" sz="2400" dirty="0"/>
              <a:t>= </a:t>
            </a:r>
            <a:r>
              <a:rPr lang="en-US" altLang="zh-CN" sz="2400" dirty="0" err="1"/>
              <a:t>U</a:t>
            </a:r>
            <a:r>
              <a:rPr lang="en-US" altLang="zh-CN" sz="2400" baseline="-25000" dirty="0" err="1"/>
              <a:t>oup</a:t>
            </a:r>
            <a:r>
              <a:rPr lang="en-US" altLang="zh-CN" sz="2400" dirty="0"/>
              <a:t> – </a:t>
            </a:r>
            <a:r>
              <a:rPr lang="en-US" altLang="zh-CN" sz="2400" dirty="0" err="1"/>
              <a:t>U</a:t>
            </a:r>
            <a:r>
              <a:rPr lang="en-US" altLang="zh-CN" sz="2400" baseline="-25000" dirty="0" err="1"/>
              <a:t>dd</a:t>
            </a:r>
            <a:endParaRPr lang="en-US" altLang="zh-CN" sz="2400" baseline="-25000" dirty="0"/>
          </a:p>
          <a:p>
            <a:endParaRPr lang="en-US" altLang="zh-CN" sz="2400" baseline="-25000" dirty="0"/>
          </a:p>
          <a:p>
            <a:r>
              <a:rPr lang="zh-CN" altLang="en-US" sz="2400" dirty="0"/>
              <a:t>（</a:t>
            </a:r>
            <a:r>
              <a:rPr lang="en-US" altLang="zh-CN" sz="2400" dirty="0"/>
              <a:t>3</a:t>
            </a:r>
            <a:r>
              <a:rPr lang="zh-CN" altLang="en-US" sz="2400" dirty="0"/>
              <a:t>）</a:t>
            </a:r>
            <a:r>
              <a:rPr lang="en-US" altLang="zh-CN" sz="2400" dirty="0" err="1"/>
              <a:t>I</a:t>
            </a:r>
            <a:r>
              <a:rPr lang="en-US" altLang="zh-CN" sz="2400" baseline="-25000" dirty="0" err="1"/>
              <a:t>oup</a:t>
            </a:r>
            <a:r>
              <a:rPr lang="en-US" altLang="zh-CN" sz="2400" dirty="0"/>
              <a:t> = -</a:t>
            </a:r>
            <a:r>
              <a:rPr lang="en-US" altLang="zh-CN" sz="2400" dirty="0" err="1"/>
              <a:t>I</a:t>
            </a:r>
            <a:r>
              <a:rPr lang="en-US" altLang="zh-CN" sz="2400" baseline="-25000" dirty="0" err="1"/>
              <a:t>dn</a:t>
            </a:r>
            <a:r>
              <a:rPr lang="en-US" altLang="zh-CN" sz="2400" dirty="0"/>
              <a:t> - </a:t>
            </a:r>
            <a:r>
              <a:rPr lang="en-US" altLang="zh-CN" sz="2400" dirty="0" err="1"/>
              <a:t>I</a:t>
            </a:r>
            <a:r>
              <a:rPr lang="en-US" altLang="zh-CN" sz="2400" baseline="-25000" dirty="0" err="1"/>
              <a:t>dp</a:t>
            </a:r>
            <a:endParaRPr lang="en-US" altLang="zh-CN" sz="2400" baseline="-25000" dirty="0"/>
          </a:p>
          <a:p>
            <a:endParaRPr lang="zh-CN" altLang="en-US" sz="2400" dirty="0"/>
          </a:p>
        </p:txBody>
      </p:sp>
      <p:pic>
        <p:nvPicPr>
          <p:cNvPr id="5" name="图片 4">
            <a:extLst>
              <a:ext uri="{FF2B5EF4-FFF2-40B4-BE49-F238E27FC236}">
                <a16:creationId xmlns:a16="http://schemas.microsoft.com/office/drawing/2014/main" id="{17CFF137-64E5-49FC-878A-26E0BE56F7F0}"/>
              </a:ext>
            </a:extLst>
          </p:cNvPr>
          <p:cNvPicPr>
            <a:picLocks noChangeAspect="1"/>
          </p:cNvPicPr>
          <p:nvPr/>
        </p:nvPicPr>
        <p:blipFill>
          <a:blip r:embed="rId3"/>
          <a:stretch>
            <a:fillRect/>
          </a:stretch>
        </p:blipFill>
        <p:spPr>
          <a:xfrm>
            <a:off x="646745" y="3659988"/>
            <a:ext cx="8210550" cy="2552700"/>
          </a:xfrm>
          <a:prstGeom prst="rect">
            <a:avLst/>
          </a:prstGeom>
        </p:spPr>
      </p:pic>
    </p:spTree>
    <p:extLst>
      <p:ext uri="{BB962C8B-B14F-4D97-AF65-F5344CB8AC3E}">
        <p14:creationId xmlns:p14="http://schemas.microsoft.com/office/powerpoint/2010/main" val="3922464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5139869"/>
          </a:xfrm>
          <a:prstGeom prst="rect">
            <a:avLst/>
          </a:prstGeom>
        </p:spPr>
        <p:txBody>
          <a:bodyPr wrap="square">
            <a:spAutoFit/>
          </a:bodyPr>
          <a:lstStyle/>
          <a:p>
            <a:r>
              <a:rPr lang="en-US" altLang="zh-CN" sz="2400" dirty="0"/>
              <a:t>1 </a:t>
            </a:r>
            <a:r>
              <a:rPr lang="zh-CN" altLang="en-US" sz="2400" dirty="0"/>
              <a:t>反相器的静态行为</a:t>
            </a:r>
            <a:endParaRPr lang="en-US" altLang="zh-CN" sz="2400" dirty="0"/>
          </a:p>
          <a:p>
            <a:r>
              <a:rPr lang="zh-CN" altLang="en-US" sz="2400" dirty="0"/>
              <a:t>限定在输出端没有连接阻性负载的情况；</a:t>
            </a:r>
            <a:endParaRPr lang="en-US" altLang="zh-CN" sz="2400" dirty="0"/>
          </a:p>
          <a:p>
            <a:r>
              <a:rPr lang="zh-CN" altLang="en-US" sz="2400" dirty="0"/>
              <a:t>静态行为意味不会有瞬态电流 </a:t>
            </a:r>
            <a:r>
              <a:rPr lang="en-US" altLang="zh-CN" sz="2400" dirty="0">
                <a:sym typeface="Wingdings" panose="05000000000000000000" pitchFamily="2" charset="2"/>
              </a:rPr>
              <a:t> </a:t>
            </a:r>
            <a:r>
              <a:rPr lang="en-US" altLang="zh-CN" sz="2400" dirty="0" err="1"/>
              <a:t>I</a:t>
            </a:r>
            <a:r>
              <a:rPr lang="en-US" altLang="zh-CN" sz="2400" baseline="-25000" dirty="0" err="1"/>
              <a:t>dn</a:t>
            </a:r>
            <a:r>
              <a:rPr lang="en-US" altLang="zh-CN" sz="2400" dirty="0"/>
              <a:t> = - </a:t>
            </a:r>
            <a:r>
              <a:rPr lang="en-US" altLang="zh-CN" sz="2400" dirty="0" err="1"/>
              <a:t>I</a:t>
            </a:r>
            <a:r>
              <a:rPr lang="en-US" altLang="zh-CN" sz="2400" baseline="-25000" dirty="0" err="1"/>
              <a:t>dp</a:t>
            </a:r>
            <a:endParaRPr lang="en-US" altLang="zh-CN" sz="2400" baseline="-25000" dirty="0"/>
          </a:p>
          <a:p>
            <a:endParaRPr lang="en-US" altLang="zh-CN" sz="2400" baseline="-25000" dirty="0"/>
          </a:p>
          <a:p>
            <a:pPr marL="342900" indent="-342900">
              <a:buFont typeface="Wingdings" panose="05000000000000000000" pitchFamily="2" charset="2"/>
              <a:buChar char="Ø"/>
            </a:pPr>
            <a:r>
              <a:rPr lang="zh-CN" altLang="en-US" sz="2400" dirty="0"/>
              <a:t>工作区间</a:t>
            </a:r>
            <a:r>
              <a:rPr lang="en-US" altLang="zh-CN" sz="2400" dirty="0"/>
              <a:t>A</a:t>
            </a:r>
            <a:r>
              <a:rPr lang="zh-CN" altLang="en-US" sz="2400" dirty="0"/>
              <a:t>： </a:t>
            </a:r>
            <a:r>
              <a:rPr lang="en-US" altLang="zh-CN" sz="2400" dirty="0"/>
              <a:t>0≤U</a:t>
            </a:r>
            <a:r>
              <a:rPr lang="en-US" altLang="zh-CN" sz="2400" baseline="-25000" dirty="0"/>
              <a:t>inp</a:t>
            </a:r>
            <a:r>
              <a:rPr lang="en-US" altLang="zh-CN" sz="2400" dirty="0"/>
              <a:t> ≤</a:t>
            </a:r>
            <a:r>
              <a:rPr lang="en-US" altLang="zh-CN" sz="2400" dirty="0" err="1"/>
              <a:t>U</a:t>
            </a:r>
            <a:r>
              <a:rPr lang="en-US" altLang="zh-CN" sz="2400" baseline="-25000" dirty="0" err="1"/>
              <a:t>thn</a:t>
            </a:r>
            <a:endParaRPr lang="en-US" altLang="zh-CN" sz="2400" baseline="-25000" dirty="0"/>
          </a:p>
          <a:p>
            <a:endParaRPr lang="en-US" altLang="zh-CN" sz="2400" dirty="0"/>
          </a:p>
          <a:p>
            <a:r>
              <a:rPr lang="en-US" altLang="zh-CN" sz="2400" dirty="0"/>
              <a:t>n-MOS"</a:t>
            </a:r>
            <a:r>
              <a:rPr lang="zh-CN" altLang="en-US" sz="2400" dirty="0"/>
              <a:t>截止</a:t>
            </a:r>
            <a:r>
              <a:rPr lang="en-US" altLang="zh-CN" sz="2400" dirty="0"/>
              <a:t>"</a:t>
            </a:r>
            <a:r>
              <a:rPr lang="zh-CN" altLang="en-US" sz="2400" dirty="0"/>
              <a:t>，</a:t>
            </a:r>
            <a:r>
              <a:rPr lang="zh-CN" altLang="en-US" sz="2400" dirty="0">
                <a:solidFill>
                  <a:srgbClr val="FF0000"/>
                </a:solidFill>
              </a:rPr>
              <a:t>没有电流从 </a:t>
            </a:r>
            <a:r>
              <a:rPr lang="en-US" altLang="zh-CN" sz="2400" dirty="0">
                <a:solidFill>
                  <a:srgbClr val="FF0000"/>
                </a:solidFill>
              </a:rPr>
              <a:t>VDD </a:t>
            </a:r>
            <a:r>
              <a:rPr lang="zh-CN" altLang="en-US" sz="2400" dirty="0">
                <a:solidFill>
                  <a:srgbClr val="FF0000"/>
                </a:solidFill>
              </a:rPr>
              <a:t>流向 </a:t>
            </a:r>
            <a:r>
              <a:rPr lang="en-US" altLang="zh-CN" sz="2400" dirty="0">
                <a:solidFill>
                  <a:srgbClr val="FF0000"/>
                </a:solidFill>
              </a:rPr>
              <a:t>VSS </a:t>
            </a:r>
            <a:r>
              <a:rPr lang="zh-CN" altLang="en-US" sz="2400" dirty="0"/>
              <a:t>。</a:t>
            </a:r>
            <a:endParaRPr lang="en-US" altLang="zh-CN" sz="2400" dirty="0"/>
          </a:p>
          <a:p>
            <a:r>
              <a:rPr lang="en-US" altLang="zh-CN" sz="2400" dirty="0"/>
              <a:t>P-MOS"</a:t>
            </a:r>
            <a:r>
              <a:rPr lang="zh-CN" altLang="en-US" sz="2400" dirty="0"/>
              <a:t>导通</a:t>
            </a:r>
            <a:r>
              <a:rPr lang="en-US" altLang="zh-CN" sz="2400" dirty="0"/>
              <a:t>"</a:t>
            </a:r>
            <a:r>
              <a:rPr lang="zh-CN" altLang="en-US" sz="2400" dirty="0"/>
              <a:t>，因此把反相器的</a:t>
            </a:r>
            <a:r>
              <a:rPr lang="zh-CN" altLang="en-US" sz="2400" dirty="0">
                <a:solidFill>
                  <a:srgbClr val="FF0000"/>
                </a:solidFill>
              </a:rPr>
              <a:t>输出端拉向电源电压 </a:t>
            </a:r>
            <a:r>
              <a:rPr lang="zh-CN" altLang="en-US" sz="2400" dirty="0"/>
              <a:t>。</a:t>
            </a:r>
            <a:endParaRPr lang="en-US" altLang="zh-CN" sz="2400" dirty="0"/>
          </a:p>
          <a:p>
            <a:r>
              <a:rPr lang="en-US" altLang="zh-CN" sz="2400" dirty="0" err="1"/>
              <a:t>Ugsp</a:t>
            </a:r>
            <a:r>
              <a:rPr lang="en-US" altLang="zh-CN" sz="2400" dirty="0"/>
              <a:t> ≈ -</a:t>
            </a:r>
            <a:r>
              <a:rPr lang="en-US" altLang="zh-CN" sz="2400" dirty="0" err="1"/>
              <a:t>Udd</a:t>
            </a:r>
            <a:r>
              <a:rPr lang="en-US" altLang="zh-CN" sz="2400" dirty="0"/>
              <a:t>, </a:t>
            </a:r>
            <a:r>
              <a:rPr lang="en-US" altLang="zh-CN" sz="2400" dirty="0" err="1"/>
              <a:t>Udsp</a:t>
            </a:r>
            <a:r>
              <a:rPr lang="en-US" altLang="zh-CN" sz="2400" dirty="0"/>
              <a:t>=0 </a:t>
            </a:r>
            <a:r>
              <a:rPr lang="zh-CN" altLang="en-US" sz="2400" dirty="0"/>
              <a:t>，</a:t>
            </a:r>
            <a:r>
              <a:rPr lang="en-US" altLang="zh-CN" sz="2400" dirty="0"/>
              <a:t>P-MOS</a:t>
            </a:r>
            <a:r>
              <a:rPr lang="zh-CN" altLang="en-US" sz="2400" dirty="0"/>
              <a:t>器件工作在线性区。晶体管的等效电导为 </a:t>
            </a:r>
            <a:r>
              <a:rPr lang="en-US" altLang="zh-CN" sz="2400" dirty="0"/>
              <a:t>:</a:t>
            </a:r>
          </a:p>
          <a:p>
            <a:endParaRPr lang="en-US" altLang="zh-CN" sz="2400" dirty="0"/>
          </a:p>
          <a:p>
            <a:r>
              <a:rPr lang="en-US" altLang="zh-CN" sz="2400" dirty="0"/>
              <a:t>                                             (8-5)</a:t>
            </a:r>
          </a:p>
          <a:p>
            <a:endParaRPr lang="en-US" altLang="zh-CN" sz="2400" dirty="0"/>
          </a:p>
          <a:p>
            <a:r>
              <a:rPr lang="zh-CN" altLang="en-US" sz="2400" dirty="0"/>
              <a:t>输出电压：</a:t>
            </a:r>
            <a:r>
              <a:rPr lang="en-US" altLang="zh-CN" sz="2400" dirty="0" err="1"/>
              <a:t>U</a:t>
            </a:r>
            <a:r>
              <a:rPr lang="en-US" altLang="zh-CN" sz="2400" baseline="-25000" dirty="0" err="1"/>
              <a:t>oup</a:t>
            </a:r>
            <a:r>
              <a:rPr lang="en-US" altLang="zh-CN" sz="2400" dirty="0"/>
              <a:t>=</a:t>
            </a:r>
            <a:r>
              <a:rPr lang="en-US" altLang="zh-CN" sz="2400" dirty="0" err="1"/>
              <a:t>U</a:t>
            </a:r>
            <a:r>
              <a:rPr lang="en-US" altLang="zh-CN" sz="2400" baseline="-25000" dirty="0" err="1"/>
              <a:t>dd</a:t>
            </a:r>
            <a:endParaRPr lang="zh-CN" altLang="en-US" sz="2400" baseline="-25000" dirty="0"/>
          </a:p>
        </p:txBody>
      </p:sp>
      <p:pic>
        <p:nvPicPr>
          <p:cNvPr id="7" name="图片 6">
            <a:extLst>
              <a:ext uri="{FF2B5EF4-FFF2-40B4-BE49-F238E27FC236}">
                <a16:creationId xmlns:a16="http://schemas.microsoft.com/office/drawing/2014/main" id="{E18BAD59-4495-42C9-8AA6-317211884C4E}"/>
              </a:ext>
            </a:extLst>
          </p:cNvPr>
          <p:cNvPicPr>
            <a:picLocks noChangeAspect="1"/>
          </p:cNvPicPr>
          <p:nvPr/>
        </p:nvPicPr>
        <p:blipFill>
          <a:blip r:embed="rId3"/>
          <a:stretch>
            <a:fillRect/>
          </a:stretch>
        </p:blipFill>
        <p:spPr>
          <a:xfrm>
            <a:off x="1951670" y="4458310"/>
            <a:ext cx="3097646" cy="842897"/>
          </a:xfrm>
          <a:prstGeom prst="rect">
            <a:avLst/>
          </a:prstGeom>
        </p:spPr>
      </p:pic>
    </p:spTree>
    <p:extLst>
      <p:ext uri="{BB962C8B-B14F-4D97-AF65-F5344CB8AC3E}">
        <p14:creationId xmlns:p14="http://schemas.microsoft.com/office/powerpoint/2010/main" val="1450454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524315"/>
          </a:xfrm>
          <a:prstGeom prst="rect">
            <a:avLst/>
          </a:prstGeom>
        </p:spPr>
        <p:txBody>
          <a:bodyPr wrap="square">
            <a:spAutoFit/>
          </a:bodyPr>
          <a:lstStyle/>
          <a:p>
            <a:pPr marL="342900" indent="-342900">
              <a:buFont typeface="Wingdings" panose="05000000000000000000" pitchFamily="2" charset="2"/>
              <a:buChar char="Ø"/>
            </a:pPr>
            <a:r>
              <a:rPr lang="zh-CN" altLang="en-US" sz="2400" dirty="0"/>
              <a:t>工作区间</a:t>
            </a:r>
            <a:r>
              <a:rPr lang="en-US" altLang="zh-CN" sz="2400" dirty="0"/>
              <a:t>B</a:t>
            </a:r>
            <a:r>
              <a:rPr lang="zh-CN" altLang="en-US" sz="2400" dirty="0"/>
              <a:t>： </a:t>
            </a:r>
            <a:r>
              <a:rPr lang="en-US" altLang="zh-CN" sz="2400" dirty="0" err="1"/>
              <a:t>U</a:t>
            </a:r>
            <a:r>
              <a:rPr lang="en-US" altLang="zh-CN" sz="2400" baseline="-25000" dirty="0" err="1"/>
              <a:t>thn</a:t>
            </a:r>
            <a:r>
              <a:rPr lang="en-US" altLang="zh-CN" sz="2400" baseline="-25000" dirty="0"/>
              <a:t> </a:t>
            </a:r>
            <a:r>
              <a:rPr lang="zh-CN" altLang="en-US" sz="2400" dirty="0"/>
              <a:t>＜ </a:t>
            </a:r>
            <a:r>
              <a:rPr lang="en-US" altLang="zh-CN" sz="2400" dirty="0" err="1"/>
              <a:t>U</a:t>
            </a:r>
            <a:r>
              <a:rPr lang="en-US" altLang="zh-CN" sz="2400" baseline="-25000" dirty="0" err="1"/>
              <a:t>inp</a:t>
            </a:r>
            <a:r>
              <a:rPr lang="en-US" altLang="zh-CN" sz="2400" dirty="0"/>
              <a:t> </a:t>
            </a:r>
            <a:r>
              <a:rPr lang="zh-CN" altLang="en-US" sz="2400" dirty="0"/>
              <a:t>＜ </a:t>
            </a:r>
            <a:r>
              <a:rPr lang="en-US" altLang="zh-CN" sz="2400" dirty="0" err="1"/>
              <a:t>U</a:t>
            </a:r>
            <a:r>
              <a:rPr lang="en-US" altLang="zh-CN" sz="2400" baseline="-25000" dirty="0" err="1"/>
              <a:t>inv</a:t>
            </a:r>
            <a:endParaRPr lang="en-US" altLang="zh-CN" sz="2400" baseline="-25000" dirty="0"/>
          </a:p>
          <a:p>
            <a:endParaRPr lang="en-US" altLang="zh-CN" sz="2400" dirty="0"/>
          </a:p>
          <a:p>
            <a:r>
              <a:rPr lang="en-US" altLang="zh-CN" sz="2400" dirty="0"/>
              <a:t>n-MOS</a:t>
            </a:r>
            <a:r>
              <a:rPr lang="zh-CN" altLang="en-US" sz="2400" dirty="0"/>
              <a:t>工作在饱和区（“导通”）</a:t>
            </a:r>
            <a:r>
              <a:rPr lang="en-US" altLang="zh-CN" sz="2400" dirty="0"/>
              <a:t>;</a:t>
            </a:r>
          </a:p>
          <a:p>
            <a:r>
              <a:rPr lang="en-US" altLang="zh-CN" sz="2400" dirty="0"/>
              <a:t>P-MOS</a:t>
            </a:r>
            <a:r>
              <a:rPr lang="zh-CN" altLang="en-US" sz="2400" dirty="0"/>
              <a:t>工作在线性区（“导通”）</a:t>
            </a:r>
            <a:r>
              <a:rPr lang="en-US" altLang="zh-CN" sz="2400" dirty="0"/>
              <a:t>;</a:t>
            </a:r>
          </a:p>
          <a:p>
            <a:r>
              <a:rPr lang="en-US" altLang="zh-CN" sz="2400" dirty="0"/>
              <a:t>                                            </a:t>
            </a:r>
          </a:p>
          <a:p>
            <a:r>
              <a:rPr lang="en-US" altLang="zh-CN" sz="2400" dirty="0"/>
              <a:t>                                                                    (8-6)</a:t>
            </a:r>
          </a:p>
          <a:p>
            <a:endParaRPr lang="en-US" altLang="zh-CN" sz="2400" dirty="0"/>
          </a:p>
          <a:p>
            <a:endParaRPr lang="en-US" altLang="zh-CN" sz="2400" dirty="0"/>
          </a:p>
          <a:p>
            <a:r>
              <a:rPr lang="en-US" altLang="zh-CN" sz="2400" dirty="0"/>
              <a:t>                                                                    (8-8)</a:t>
            </a:r>
          </a:p>
          <a:p>
            <a:endParaRPr lang="en-US" altLang="zh-CN" sz="2400" dirty="0"/>
          </a:p>
          <a:p>
            <a:endParaRPr lang="en-US" altLang="zh-CN" sz="2400" dirty="0"/>
          </a:p>
          <a:p>
            <a:r>
              <a:rPr lang="zh-CN" altLang="en-US" sz="2400" dirty="0"/>
              <a:t>输出电压：</a:t>
            </a:r>
            <a:r>
              <a:rPr lang="en-US" altLang="zh-CN" sz="2400" dirty="0" err="1"/>
              <a:t>U</a:t>
            </a:r>
            <a:r>
              <a:rPr lang="en-US" altLang="zh-CN" sz="2400" baseline="-25000" dirty="0" err="1"/>
              <a:t>oup</a:t>
            </a:r>
            <a:r>
              <a:rPr lang="zh-CN" altLang="en-US" sz="2400" dirty="0"/>
              <a:t> ＜ </a:t>
            </a:r>
            <a:r>
              <a:rPr lang="en-US" altLang="zh-CN" sz="2400" dirty="0" err="1"/>
              <a:t>U</a:t>
            </a:r>
            <a:r>
              <a:rPr lang="en-US" altLang="zh-CN" sz="2400" baseline="-25000" dirty="0" err="1"/>
              <a:t>dd</a:t>
            </a:r>
            <a:endParaRPr lang="zh-CN" altLang="en-US" sz="2400" baseline="-25000" dirty="0"/>
          </a:p>
        </p:txBody>
      </p:sp>
      <p:pic>
        <p:nvPicPr>
          <p:cNvPr id="4" name="图片 3">
            <a:extLst>
              <a:ext uri="{FF2B5EF4-FFF2-40B4-BE49-F238E27FC236}">
                <a16:creationId xmlns:a16="http://schemas.microsoft.com/office/drawing/2014/main" id="{FBBFB7A0-C5B1-4CBE-9014-AB50929EE9A3}"/>
              </a:ext>
            </a:extLst>
          </p:cNvPr>
          <p:cNvPicPr>
            <a:picLocks noChangeAspect="1"/>
          </p:cNvPicPr>
          <p:nvPr/>
        </p:nvPicPr>
        <p:blipFill>
          <a:blip r:embed="rId3"/>
          <a:stretch>
            <a:fillRect/>
          </a:stretch>
        </p:blipFill>
        <p:spPr>
          <a:xfrm>
            <a:off x="2481475" y="2420888"/>
            <a:ext cx="3052337" cy="1008112"/>
          </a:xfrm>
          <a:prstGeom prst="rect">
            <a:avLst/>
          </a:prstGeom>
        </p:spPr>
      </p:pic>
      <p:pic>
        <p:nvPicPr>
          <p:cNvPr id="6" name="图片 5">
            <a:extLst>
              <a:ext uri="{FF2B5EF4-FFF2-40B4-BE49-F238E27FC236}">
                <a16:creationId xmlns:a16="http://schemas.microsoft.com/office/drawing/2014/main" id="{0509B617-29B2-44A3-AC97-CBAD5188F37C}"/>
              </a:ext>
            </a:extLst>
          </p:cNvPr>
          <p:cNvPicPr>
            <a:picLocks noChangeAspect="1"/>
          </p:cNvPicPr>
          <p:nvPr/>
        </p:nvPicPr>
        <p:blipFill>
          <a:blip r:embed="rId4"/>
          <a:stretch>
            <a:fillRect/>
          </a:stretch>
        </p:blipFill>
        <p:spPr>
          <a:xfrm>
            <a:off x="457200" y="3369300"/>
            <a:ext cx="7300121" cy="1008112"/>
          </a:xfrm>
          <a:prstGeom prst="rect">
            <a:avLst/>
          </a:prstGeom>
        </p:spPr>
      </p:pic>
    </p:spTree>
    <p:extLst>
      <p:ext uri="{BB962C8B-B14F-4D97-AF65-F5344CB8AC3E}">
        <p14:creationId xmlns:p14="http://schemas.microsoft.com/office/powerpoint/2010/main" val="2752861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6001643"/>
          </a:xfrm>
          <a:prstGeom prst="rect">
            <a:avLst/>
          </a:prstGeom>
        </p:spPr>
        <p:txBody>
          <a:bodyPr wrap="square">
            <a:spAutoFit/>
          </a:bodyPr>
          <a:lstStyle/>
          <a:p>
            <a:pPr marL="342900" indent="-342900">
              <a:buFont typeface="Wingdings" panose="05000000000000000000" pitchFamily="2" charset="2"/>
              <a:buChar char="Ø"/>
            </a:pPr>
            <a:r>
              <a:rPr lang="zh-CN" altLang="en-US" sz="2400" dirty="0"/>
              <a:t>工作区间</a:t>
            </a:r>
            <a:r>
              <a:rPr lang="en-US" altLang="zh-CN" sz="2400" dirty="0"/>
              <a:t>C</a:t>
            </a:r>
            <a:r>
              <a:rPr lang="zh-CN" altLang="en-US" sz="2400" dirty="0"/>
              <a:t>（基本模型）： </a:t>
            </a:r>
            <a:r>
              <a:rPr lang="en-US" altLang="zh-CN" sz="2400" dirty="0" err="1"/>
              <a:t>U</a:t>
            </a:r>
            <a:r>
              <a:rPr lang="en-US" altLang="zh-CN" sz="2400" baseline="-25000" dirty="0" err="1"/>
              <a:t>inp</a:t>
            </a:r>
            <a:r>
              <a:rPr lang="en-US" altLang="zh-CN" sz="2400" dirty="0"/>
              <a:t> =</a:t>
            </a:r>
            <a:r>
              <a:rPr lang="zh-CN" altLang="en-US" sz="2400" dirty="0"/>
              <a:t> </a:t>
            </a:r>
            <a:r>
              <a:rPr lang="en-US" altLang="zh-CN" sz="2400" dirty="0" err="1"/>
              <a:t>U</a:t>
            </a:r>
            <a:r>
              <a:rPr lang="en-US" altLang="zh-CN" sz="2400" baseline="-25000" dirty="0" err="1"/>
              <a:t>inv</a:t>
            </a:r>
            <a:r>
              <a:rPr lang="en-US" altLang="zh-CN" sz="2400" dirty="0"/>
              <a:t> ≈ </a:t>
            </a:r>
            <a:r>
              <a:rPr lang="en-US" altLang="zh-CN" sz="2400" dirty="0" err="1"/>
              <a:t>Udd</a:t>
            </a:r>
            <a:r>
              <a:rPr lang="en-US" altLang="zh-CN" sz="2400" dirty="0"/>
              <a:t>/2(</a:t>
            </a:r>
            <a:r>
              <a:rPr lang="zh-CN" altLang="en-US" sz="2400" dirty="0"/>
              <a:t>逆变阈值</a:t>
            </a:r>
            <a:r>
              <a:rPr lang="en-US" altLang="zh-CN" sz="2400" dirty="0"/>
              <a:t>)</a:t>
            </a:r>
            <a:endParaRPr lang="en-US" altLang="zh-CN" sz="2400" baseline="-25000" dirty="0"/>
          </a:p>
          <a:p>
            <a:endParaRPr lang="en-US" altLang="zh-CN" sz="2400" dirty="0"/>
          </a:p>
          <a:p>
            <a:r>
              <a:rPr lang="en-US" altLang="zh-CN" sz="2400" dirty="0"/>
              <a:t>n-MOS</a:t>
            </a:r>
            <a:r>
              <a:rPr lang="zh-CN" altLang="en-US" sz="2400" dirty="0"/>
              <a:t>工作在饱和区（“导通”）</a:t>
            </a:r>
            <a:r>
              <a:rPr lang="en-US" altLang="zh-CN" sz="2400" dirty="0"/>
              <a:t>;</a:t>
            </a:r>
          </a:p>
          <a:p>
            <a:r>
              <a:rPr lang="en-US" altLang="zh-CN" sz="2400" dirty="0"/>
              <a:t>P-MOS</a:t>
            </a:r>
            <a:r>
              <a:rPr lang="zh-CN" altLang="en-US" sz="2400" dirty="0"/>
              <a:t>工作在饱和区（“导通”）</a:t>
            </a:r>
            <a:r>
              <a:rPr lang="en-US" altLang="zh-CN" sz="2400" dirty="0"/>
              <a:t>;</a:t>
            </a:r>
          </a:p>
          <a:p>
            <a:r>
              <a:rPr lang="en-US" altLang="zh-CN" sz="2400" dirty="0"/>
              <a:t>                                            </a:t>
            </a:r>
          </a:p>
          <a:p>
            <a:r>
              <a:rPr lang="en-US" altLang="zh-CN" sz="2400" dirty="0"/>
              <a:t>                                                                    (8-9)</a:t>
            </a:r>
          </a:p>
          <a:p>
            <a:endParaRPr lang="en-US" altLang="zh-CN" sz="2400" dirty="0"/>
          </a:p>
          <a:p>
            <a:endParaRPr lang="en-US" altLang="zh-CN" sz="2400" dirty="0"/>
          </a:p>
          <a:p>
            <a:r>
              <a:rPr lang="en-US" altLang="zh-CN" sz="2400" dirty="0"/>
              <a:t>                                                                    (8-8)</a:t>
            </a:r>
          </a:p>
          <a:p>
            <a:endParaRPr lang="en-US" altLang="zh-CN" sz="2400" dirty="0"/>
          </a:p>
          <a:p>
            <a:endParaRPr lang="en-US" altLang="zh-CN" sz="2400" dirty="0"/>
          </a:p>
          <a:p>
            <a:r>
              <a:rPr lang="zh-CN" altLang="en-US" sz="2400" dirty="0"/>
              <a:t>从公式（</a:t>
            </a:r>
            <a:r>
              <a:rPr lang="en-US" altLang="zh-CN" sz="2400" dirty="0"/>
              <a:t>8-8</a:t>
            </a:r>
            <a:r>
              <a:rPr lang="zh-CN" altLang="en-US" sz="2400" dirty="0"/>
              <a:t>）来看，输出电压不依赖于输入电压。</a:t>
            </a:r>
            <a:endParaRPr lang="en-US" altLang="zh-CN" sz="2400" dirty="0"/>
          </a:p>
          <a:p>
            <a:r>
              <a:rPr lang="zh-CN" altLang="en-US" sz="2400" dirty="0"/>
              <a:t>实际上，由于两者都在饱和区，其满足下面的条件：</a:t>
            </a:r>
            <a:endParaRPr lang="en-US" altLang="zh-CN" sz="2400" dirty="0"/>
          </a:p>
          <a:p>
            <a:r>
              <a:rPr lang="en-US" altLang="zh-CN" sz="2400" dirty="0" err="1"/>
              <a:t>U</a:t>
            </a:r>
            <a:r>
              <a:rPr lang="en-US" altLang="zh-CN" sz="2400" baseline="-25000" dirty="0" err="1"/>
              <a:t>thn</a:t>
            </a:r>
            <a:r>
              <a:rPr lang="en-US" altLang="zh-CN" sz="2400" dirty="0"/>
              <a:t> ≤</a:t>
            </a:r>
            <a:r>
              <a:rPr lang="en-US" altLang="zh-CN" sz="2400" dirty="0" err="1"/>
              <a:t>U</a:t>
            </a:r>
            <a:r>
              <a:rPr lang="en-US" altLang="zh-CN" sz="2400" baseline="-25000" dirty="0" err="1"/>
              <a:t>gsn</a:t>
            </a:r>
            <a:r>
              <a:rPr lang="en-US" altLang="zh-CN" sz="2400" dirty="0"/>
              <a:t> ≤</a:t>
            </a:r>
            <a:r>
              <a:rPr lang="en-US" altLang="zh-CN" sz="2400" dirty="0" err="1"/>
              <a:t>U</a:t>
            </a:r>
            <a:r>
              <a:rPr lang="en-US" altLang="zh-CN" sz="2400" baseline="-25000" dirty="0" err="1"/>
              <a:t>dsn</a:t>
            </a:r>
            <a:r>
              <a:rPr lang="en-US" altLang="zh-CN" sz="2400" dirty="0" err="1"/>
              <a:t>+U</a:t>
            </a:r>
            <a:r>
              <a:rPr lang="en-US" altLang="zh-CN" sz="2400" baseline="-25000" dirty="0" err="1"/>
              <a:t>thn</a:t>
            </a:r>
            <a:r>
              <a:rPr lang="zh-CN" altLang="en-US" sz="2400" dirty="0"/>
              <a:t>，</a:t>
            </a:r>
            <a:r>
              <a:rPr lang="en-US" altLang="zh-CN" sz="2400" dirty="0" err="1"/>
              <a:t>U</a:t>
            </a:r>
            <a:r>
              <a:rPr lang="en-US" altLang="zh-CN" sz="2400" baseline="-25000" dirty="0" err="1"/>
              <a:t>thp</a:t>
            </a:r>
            <a:r>
              <a:rPr lang="en-US" altLang="zh-CN" sz="2400" dirty="0"/>
              <a:t> ≥</a:t>
            </a:r>
            <a:r>
              <a:rPr lang="en-US" altLang="zh-CN" sz="2400" dirty="0" err="1"/>
              <a:t>U</a:t>
            </a:r>
            <a:r>
              <a:rPr lang="en-US" altLang="zh-CN" sz="2400" baseline="-25000" dirty="0" err="1"/>
              <a:t>gsp</a:t>
            </a:r>
            <a:r>
              <a:rPr lang="en-US" altLang="zh-CN" sz="2400" dirty="0"/>
              <a:t> ≥ </a:t>
            </a:r>
            <a:r>
              <a:rPr lang="en-US" altLang="zh-CN" sz="2400" dirty="0" err="1"/>
              <a:t>U</a:t>
            </a:r>
            <a:r>
              <a:rPr lang="en-US" altLang="zh-CN" sz="2400" baseline="-25000" dirty="0" err="1"/>
              <a:t>dsp</a:t>
            </a:r>
            <a:r>
              <a:rPr lang="en-US" altLang="zh-CN" sz="2400" dirty="0" err="1"/>
              <a:t>+U</a:t>
            </a:r>
            <a:r>
              <a:rPr lang="en-US" altLang="zh-CN" sz="2400" baseline="-25000" dirty="0" err="1"/>
              <a:t>thp</a:t>
            </a:r>
            <a:endParaRPr lang="en-US" altLang="zh-CN" sz="2400" baseline="-25000" dirty="0"/>
          </a:p>
          <a:p>
            <a:endParaRPr lang="en-US" altLang="zh-CN" sz="2400" dirty="0"/>
          </a:p>
          <a:p>
            <a:r>
              <a:rPr lang="zh-CN" altLang="en-US" sz="2400" dirty="0"/>
              <a:t>输出电压：</a:t>
            </a:r>
            <a:r>
              <a:rPr lang="en-US" altLang="zh-CN" sz="2400" dirty="0" err="1"/>
              <a:t>U</a:t>
            </a:r>
            <a:r>
              <a:rPr lang="en-US" altLang="zh-CN" sz="2400" baseline="-25000" dirty="0" err="1"/>
              <a:t>inp</a:t>
            </a:r>
            <a:r>
              <a:rPr lang="en-US" altLang="zh-CN" sz="2400" baseline="-25000" dirty="0"/>
              <a:t> </a:t>
            </a:r>
            <a:r>
              <a:rPr lang="en-US" altLang="zh-CN" sz="2400" dirty="0"/>
              <a:t>- </a:t>
            </a:r>
            <a:r>
              <a:rPr lang="en-US" altLang="zh-CN" sz="2400" dirty="0" err="1"/>
              <a:t>U</a:t>
            </a:r>
            <a:r>
              <a:rPr lang="en-US" altLang="zh-CN" sz="2400" baseline="-25000" dirty="0" err="1"/>
              <a:t>thn</a:t>
            </a:r>
            <a:r>
              <a:rPr lang="en-US" altLang="zh-CN" sz="2400" baseline="-25000" dirty="0"/>
              <a:t> </a:t>
            </a:r>
            <a:r>
              <a:rPr lang="zh-CN" altLang="en-US" sz="2400" dirty="0"/>
              <a:t>＜ </a:t>
            </a:r>
            <a:r>
              <a:rPr lang="en-US" altLang="zh-CN" sz="2400" dirty="0" err="1"/>
              <a:t>U</a:t>
            </a:r>
            <a:r>
              <a:rPr lang="en-US" altLang="zh-CN" sz="2400" baseline="-25000" dirty="0" err="1"/>
              <a:t>oup</a:t>
            </a:r>
            <a:r>
              <a:rPr lang="en-US" altLang="zh-CN" sz="2400" dirty="0"/>
              <a:t> </a:t>
            </a:r>
            <a:r>
              <a:rPr lang="zh-CN" altLang="en-US" sz="2400" dirty="0"/>
              <a:t>＜ </a:t>
            </a:r>
            <a:r>
              <a:rPr lang="en-US" altLang="zh-CN" sz="2400" dirty="0" err="1"/>
              <a:t>U</a:t>
            </a:r>
            <a:r>
              <a:rPr lang="en-US" altLang="zh-CN" sz="2400" baseline="-25000" dirty="0" err="1"/>
              <a:t>inp</a:t>
            </a:r>
            <a:r>
              <a:rPr lang="en-US" altLang="zh-CN" sz="2400" baseline="-25000" dirty="0"/>
              <a:t> </a:t>
            </a:r>
            <a:r>
              <a:rPr lang="en-US" altLang="zh-CN" sz="2400" dirty="0"/>
              <a:t>–</a:t>
            </a:r>
            <a:r>
              <a:rPr lang="zh-CN" altLang="en-US" sz="2400" dirty="0"/>
              <a:t> </a:t>
            </a:r>
            <a:r>
              <a:rPr lang="en-US" altLang="zh-CN" sz="2400" dirty="0" err="1"/>
              <a:t>U</a:t>
            </a:r>
            <a:r>
              <a:rPr lang="en-US" altLang="zh-CN" sz="2400" baseline="-25000" dirty="0" err="1"/>
              <a:t>thp</a:t>
            </a:r>
            <a:r>
              <a:rPr lang="en-US" altLang="zh-CN" sz="2400" baseline="-25000" dirty="0"/>
              <a:t> </a:t>
            </a:r>
            <a:r>
              <a:rPr lang="en-US" altLang="zh-CN" sz="2400" dirty="0"/>
              <a:t>(</a:t>
            </a:r>
            <a:r>
              <a:rPr lang="zh-CN" altLang="en-US" sz="2400" dirty="0"/>
              <a:t>输出电压范围</a:t>
            </a:r>
            <a:r>
              <a:rPr lang="en-US" altLang="zh-CN" sz="2400" dirty="0"/>
              <a:t>)</a:t>
            </a:r>
            <a:endParaRPr lang="zh-CN" altLang="en-US" sz="2400" dirty="0"/>
          </a:p>
        </p:txBody>
      </p:sp>
      <p:pic>
        <p:nvPicPr>
          <p:cNvPr id="5" name="图片 4">
            <a:extLst>
              <a:ext uri="{FF2B5EF4-FFF2-40B4-BE49-F238E27FC236}">
                <a16:creationId xmlns:a16="http://schemas.microsoft.com/office/drawing/2014/main" id="{513521E3-A2E7-4203-8945-CC350B40F250}"/>
              </a:ext>
            </a:extLst>
          </p:cNvPr>
          <p:cNvPicPr>
            <a:picLocks noChangeAspect="1"/>
          </p:cNvPicPr>
          <p:nvPr/>
        </p:nvPicPr>
        <p:blipFill>
          <a:blip r:embed="rId3"/>
          <a:stretch>
            <a:fillRect/>
          </a:stretch>
        </p:blipFill>
        <p:spPr>
          <a:xfrm>
            <a:off x="1644108" y="2480845"/>
            <a:ext cx="6193040" cy="876147"/>
          </a:xfrm>
          <a:prstGeom prst="rect">
            <a:avLst/>
          </a:prstGeom>
        </p:spPr>
      </p:pic>
      <p:pic>
        <p:nvPicPr>
          <p:cNvPr id="7" name="图片 6">
            <a:extLst>
              <a:ext uri="{FF2B5EF4-FFF2-40B4-BE49-F238E27FC236}">
                <a16:creationId xmlns:a16="http://schemas.microsoft.com/office/drawing/2014/main" id="{30B9E4E2-B8D9-491F-BFAC-A0D0953AAC97}"/>
              </a:ext>
            </a:extLst>
          </p:cNvPr>
          <p:cNvPicPr>
            <a:picLocks noChangeAspect="1"/>
          </p:cNvPicPr>
          <p:nvPr/>
        </p:nvPicPr>
        <p:blipFill>
          <a:blip r:embed="rId4"/>
          <a:stretch>
            <a:fillRect/>
          </a:stretch>
        </p:blipFill>
        <p:spPr>
          <a:xfrm>
            <a:off x="2483768" y="3324984"/>
            <a:ext cx="3600400" cy="1425378"/>
          </a:xfrm>
          <a:prstGeom prst="rect">
            <a:avLst/>
          </a:prstGeom>
        </p:spPr>
      </p:pic>
    </p:spTree>
    <p:extLst>
      <p:ext uri="{BB962C8B-B14F-4D97-AF65-F5344CB8AC3E}">
        <p14:creationId xmlns:p14="http://schemas.microsoft.com/office/powerpoint/2010/main" val="120640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524315"/>
          </a:xfrm>
          <a:prstGeom prst="rect">
            <a:avLst/>
          </a:prstGeom>
        </p:spPr>
        <p:txBody>
          <a:bodyPr wrap="square">
            <a:spAutoFit/>
          </a:bodyPr>
          <a:lstStyle/>
          <a:p>
            <a:pPr marL="342900" indent="-342900">
              <a:buFont typeface="Wingdings" panose="05000000000000000000" pitchFamily="2" charset="2"/>
              <a:buChar char="Ø"/>
            </a:pPr>
            <a:r>
              <a:rPr lang="zh-CN" altLang="en-US" sz="2400" dirty="0"/>
              <a:t>工作区间</a:t>
            </a:r>
            <a:r>
              <a:rPr lang="en-US" altLang="zh-CN" sz="2400" dirty="0"/>
              <a:t>D</a:t>
            </a:r>
            <a:r>
              <a:rPr lang="zh-CN" altLang="en-US" sz="2400" dirty="0"/>
              <a:t>： </a:t>
            </a:r>
            <a:r>
              <a:rPr lang="en-US" altLang="zh-CN" sz="2400" dirty="0" err="1"/>
              <a:t>U</a:t>
            </a:r>
            <a:r>
              <a:rPr lang="en-US" altLang="zh-CN" sz="2400" baseline="-25000" dirty="0" err="1"/>
              <a:t>inv</a:t>
            </a:r>
            <a:r>
              <a:rPr lang="en-US" altLang="zh-CN" sz="2400" baseline="-25000" dirty="0"/>
              <a:t> </a:t>
            </a:r>
            <a:r>
              <a:rPr lang="zh-CN" altLang="en-US" sz="2400" dirty="0"/>
              <a:t>＜ </a:t>
            </a:r>
            <a:r>
              <a:rPr lang="en-US" altLang="zh-CN" sz="2400" dirty="0" err="1"/>
              <a:t>U</a:t>
            </a:r>
            <a:r>
              <a:rPr lang="en-US" altLang="zh-CN" sz="2400" baseline="-25000" dirty="0" err="1"/>
              <a:t>inp</a:t>
            </a:r>
            <a:r>
              <a:rPr lang="en-US" altLang="zh-CN" sz="2400" dirty="0"/>
              <a:t> </a:t>
            </a:r>
            <a:r>
              <a:rPr lang="zh-CN" altLang="en-US" sz="2400" dirty="0"/>
              <a:t>＜ </a:t>
            </a:r>
            <a:r>
              <a:rPr lang="en-US" altLang="zh-CN" sz="2400" dirty="0" err="1"/>
              <a:t>U</a:t>
            </a:r>
            <a:r>
              <a:rPr lang="en-US" altLang="zh-CN" sz="2400" baseline="-25000" dirty="0" err="1"/>
              <a:t>dd</a:t>
            </a:r>
            <a:r>
              <a:rPr lang="en-US" altLang="zh-CN" sz="2400" baseline="-25000" dirty="0"/>
              <a:t> +</a:t>
            </a:r>
            <a:r>
              <a:rPr lang="en-US" altLang="zh-CN" sz="2400" dirty="0" err="1"/>
              <a:t>U</a:t>
            </a:r>
            <a:r>
              <a:rPr lang="en-US" altLang="zh-CN" sz="2400" baseline="-25000" dirty="0" err="1"/>
              <a:t>thp</a:t>
            </a:r>
            <a:endParaRPr lang="en-US" altLang="zh-CN" sz="2400" baseline="-25000" dirty="0"/>
          </a:p>
          <a:p>
            <a:endParaRPr lang="en-US" altLang="zh-CN" sz="2400" dirty="0"/>
          </a:p>
          <a:p>
            <a:r>
              <a:rPr lang="en-US" altLang="zh-CN" sz="2400" dirty="0"/>
              <a:t>n-MOS</a:t>
            </a:r>
            <a:r>
              <a:rPr lang="zh-CN" altLang="en-US" sz="2400" dirty="0"/>
              <a:t>工作在线性区（“导通”）</a:t>
            </a:r>
            <a:r>
              <a:rPr lang="en-US" altLang="zh-CN" sz="2400" dirty="0"/>
              <a:t>;</a:t>
            </a:r>
          </a:p>
          <a:p>
            <a:r>
              <a:rPr lang="en-US" altLang="zh-CN" sz="2400" dirty="0"/>
              <a:t>P-MOS</a:t>
            </a:r>
            <a:r>
              <a:rPr lang="zh-CN" altLang="en-US" sz="2400" dirty="0"/>
              <a:t>工作在饱和区（“导通”）</a:t>
            </a:r>
            <a:r>
              <a:rPr lang="en-US" altLang="zh-CN" sz="2400" dirty="0"/>
              <a:t>;</a:t>
            </a:r>
          </a:p>
          <a:p>
            <a:r>
              <a:rPr lang="en-US" altLang="zh-CN" sz="2400" dirty="0"/>
              <a:t>                                                             (8-19)</a:t>
            </a:r>
          </a:p>
          <a:p>
            <a:endParaRPr lang="en-US" altLang="zh-CN" sz="2400" dirty="0"/>
          </a:p>
          <a:p>
            <a:r>
              <a:rPr lang="en-US" altLang="zh-CN" sz="2400" dirty="0"/>
              <a:t>                                                             (8-20)</a:t>
            </a:r>
          </a:p>
          <a:p>
            <a:endParaRPr lang="en-US" altLang="zh-CN" sz="2400" dirty="0"/>
          </a:p>
          <a:p>
            <a:endParaRPr lang="en-US" altLang="zh-CN" sz="2400" dirty="0"/>
          </a:p>
          <a:p>
            <a:r>
              <a:rPr lang="en-US" altLang="zh-CN" sz="2400" dirty="0"/>
              <a:t>                                                             </a:t>
            </a:r>
            <a:r>
              <a:rPr lang="zh-CN" altLang="en-US" sz="2400" dirty="0"/>
              <a:t>（</a:t>
            </a:r>
            <a:r>
              <a:rPr lang="en-US" altLang="zh-CN" sz="2400" dirty="0"/>
              <a:t>8-21</a:t>
            </a:r>
            <a:r>
              <a:rPr lang="zh-CN" altLang="en-US" sz="2400" dirty="0"/>
              <a:t>）</a:t>
            </a:r>
            <a:endParaRPr lang="en-US" altLang="zh-CN" sz="2400" dirty="0"/>
          </a:p>
          <a:p>
            <a:endParaRPr lang="en-US" altLang="zh-CN" sz="2400" dirty="0"/>
          </a:p>
          <a:p>
            <a:r>
              <a:rPr lang="zh-CN" altLang="en-US" sz="2400" dirty="0"/>
              <a:t>随着</a:t>
            </a:r>
            <a:r>
              <a:rPr lang="en-US" altLang="zh-CN" sz="2400" dirty="0" err="1"/>
              <a:t>U</a:t>
            </a:r>
            <a:r>
              <a:rPr lang="en-US" altLang="zh-CN" sz="2400" baseline="-25000" dirty="0" err="1"/>
              <a:t>inp</a:t>
            </a:r>
            <a:r>
              <a:rPr lang="zh-CN" altLang="en-US" sz="2400" dirty="0"/>
              <a:t>逐渐增加，输出电压</a:t>
            </a:r>
            <a:r>
              <a:rPr lang="en-US" altLang="zh-CN" sz="2400" dirty="0" err="1"/>
              <a:t>U</a:t>
            </a:r>
            <a:r>
              <a:rPr lang="en-US" altLang="zh-CN" sz="2400" baseline="-25000" dirty="0" err="1"/>
              <a:t>oup</a:t>
            </a:r>
            <a:r>
              <a:rPr lang="zh-CN" altLang="en-US" sz="2400" dirty="0"/>
              <a:t>继续降低</a:t>
            </a:r>
          </a:p>
        </p:txBody>
      </p:sp>
      <p:pic>
        <p:nvPicPr>
          <p:cNvPr id="4" name="图片 3">
            <a:extLst>
              <a:ext uri="{FF2B5EF4-FFF2-40B4-BE49-F238E27FC236}">
                <a16:creationId xmlns:a16="http://schemas.microsoft.com/office/drawing/2014/main" id="{9B448746-24FB-44CE-874C-52BB604E0D84}"/>
              </a:ext>
            </a:extLst>
          </p:cNvPr>
          <p:cNvPicPr>
            <a:picLocks noChangeAspect="1"/>
          </p:cNvPicPr>
          <p:nvPr/>
        </p:nvPicPr>
        <p:blipFill>
          <a:blip r:embed="rId3"/>
          <a:stretch>
            <a:fillRect/>
          </a:stretch>
        </p:blipFill>
        <p:spPr>
          <a:xfrm>
            <a:off x="1619672" y="2348880"/>
            <a:ext cx="3362325" cy="600075"/>
          </a:xfrm>
          <a:prstGeom prst="rect">
            <a:avLst/>
          </a:prstGeom>
        </p:spPr>
      </p:pic>
      <p:pic>
        <p:nvPicPr>
          <p:cNvPr id="6" name="图片 5">
            <a:extLst>
              <a:ext uri="{FF2B5EF4-FFF2-40B4-BE49-F238E27FC236}">
                <a16:creationId xmlns:a16="http://schemas.microsoft.com/office/drawing/2014/main" id="{3929B5A2-FB2D-4BF7-8851-35F67EAFE52A}"/>
              </a:ext>
            </a:extLst>
          </p:cNvPr>
          <p:cNvPicPr>
            <a:picLocks noChangeAspect="1"/>
          </p:cNvPicPr>
          <p:nvPr/>
        </p:nvPicPr>
        <p:blipFill>
          <a:blip r:embed="rId4"/>
          <a:stretch>
            <a:fillRect/>
          </a:stretch>
        </p:blipFill>
        <p:spPr>
          <a:xfrm>
            <a:off x="1612978" y="3147221"/>
            <a:ext cx="2762250" cy="533400"/>
          </a:xfrm>
          <a:prstGeom prst="rect">
            <a:avLst/>
          </a:prstGeom>
        </p:spPr>
      </p:pic>
      <p:pic>
        <p:nvPicPr>
          <p:cNvPr id="8" name="图片 7">
            <a:extLst>
              <a:ext uri="{FF2B5EF4-FFF2-40B4-BE49-F238E27FC236}">
                <a16:creationId xmlns:a16="http://schemas.microsoft.com/office/drawing/2014/main" id="{7B5EFD94-6315-4A19-99EA-B76C89826267}"/>
              </a:ext>
            </a:extLst>
          </p:cNvPr>
          <p:cNvPicPr>
            <a:picLocks noChangeAspect="1"/>
          </p:cNvPicPr>
          <p:nvPr/>
        </p:nvPicPr>
        <p:blipFill>
          <a:blip r:embed="rId5"/>
          <a:stretch>
            <a:fillRect/>
          </a:stretch>
        </p:blipFill>
        <p:spPr>
          <a:xfrm>
            <a:off x="827584" y="3861443"/>
            <a:ext cx="5314950" cy="666750"/>
          </a:xfrm>
          <a:prstGeom prst="rect">
            <a:avLst/>
          </a:prstGeom>
        </p:spPr>
      </p:pic>
    </p:spTree>
    <p:extLst>
      <p:ext uri="{BB962C8B-B14F-4D97-AF65-F5344CB8AC3E}">
        <p14:creationId xmlns:p14="http://schemas.microsoft.com/office/powerpoint/2010/main" val="2058398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785652"/>
          </a:xfrm>
          <a:prstGeom prst="rect">
            <a:avLst/>
          </a:prstGeom>
        </p:spPr>
        <p:txBody>
          <a:bodyPr wrap="square">
            <a:spAutoFit/>
          </a:bodyPr>
          <a:lstStyle/>
          <a:p>
            <a:pPr marL="342900" indent="-342900">
              <a:buFont typeface="Wingdings" panose="05000000000000000000" pitchFamily="2" charset="2"/>
              <a:buChar char="Ø"/>
            </a:pPr>
            <a:r>
              <a:rPr lang="zh-CN" altLang="en-US" sz="2400" dirty="0"/>
              <a:t>工作区间</a:t>
            </a:r>
            <a:r>
              <a:rPr lang="en-US" altLang="zh-CN" sz="2400" dirty="0"/>
              <a:t>E</a:t>
            </a:r>
            <a:r>
              <a:rPr lang="zh-CN" altLang="en-US" sz="2400" dirty="0"/>
              <a:t>： </a:t>
            </a:r>
            <a:r>
              <a:rPr lang="en-US" altLang="zh-CN" sz="2400" dirty="0" err="1"/>
              <a:t>U</a:t>
            </a:r>
            <a:r>
              <a:rPr lang="en-US" altLang="zh-CN" sz="2400" baseline="-25000" dirty="0" err="1"/>
              <a:t>dd</a:t>
            </a:r>
            <a:r>
              <a:rPr lang="en-US" altLang="zh-CN" sz="2400" baseline="-25000" dirty="0"/>
              <a:t> +</a:t>
            </a:r>
            <a:r>
              <a:rPr lang="en-US" altLang="zh-CN" sz="2400" dirty="0" err="1"/>
              <a:t>U</a:t>
            </a:r>
            <a:r>
              <a:rPr lang="en-US" altLang="zh-CN" sz="2400" baseline="-25000" dirty="0" err="1"/>
              <a:t>thp</a:t>
            </a:r>
            <a:r>
              <a:rPr lang="en-US" altLang="zh-CN" sz="2400" baseline="-25000" dirty="0"/>
              <a:t> </a:t>
            </a:r>
            <a:r>
              <a:rPr lang="en-US" altLang="zh-CN" sz="2400" dirty="0"/>
              <a:t>≤</a:t>
            </a:r>
            <a:r>
              <a:rPr lang="zh-CN" altLang="en-US" sz="2400" dirty="0"/>
              <a:t> </a:t>
            </a:r>
            <a:r>
              <a:rPr lang="en-US" altLang="zh-CN" sz="2400" dirty="0" err="1"/>
              <a:t>U</a:t>
            </a:r>
            <a:r>
              <a:rPr lang="en-US" altLang="zh-CN" sz="2400" baseline="-25000" dirty="0" err="1"/>
              <a:t>inp</a:t>
            </a:r>
            <a:r>
              <a:rPr lang="en-US" altLang="zh-CN" sz="2400" dirty="0"/>
              <a:t> ≤</a:t>
            </a:r>
            <a:r>
              <a:rPr lang="zh-CN" altLang="en-US" sz="2400" dirty="0"/>
              <a:t> </a:t>
            </a:r>
            <a:r>
              <a:rPr lang="en-US" altLang="zh-CN" sz="2400" dirty="0" err="1"/>
              <a:t>U</a:t>
            </a:r>
            <a:r>
              <a:rPr lang="en-US" altLang="zh-CN" sz="2400" baseline="-25000" dirty="0" err="1"/>
              <a:t>dd</a:t>
            </a:r>
            <a:r>
              <a:rPr lang="en-US" altLang="zh-CN" sz="2400" baseline="-25000" dirty="0"/>
              <a:t> </a:t>
            </a:r>
          </a:p>
          <a:p>
            <a:endParaRPr lang="en-US" altLang="zh-CN" sz="2400" dirty="0"/>
          </a:p>
          <a:p>
            <a:r>
              <a:rPr lang="en-US" altLang="zh-CN" sz="2400" dirty="0"/>
              <a:t>n-MOS”</a:t>
            </a:r>
            <a:r>
              <a:rPr lang="zh-CN" altLang="en-US" sz="2400" dirty="0"/>
              <a:t>导通</a:t>
            </a:r>
            <a:r>
              <a:rPr lang="en-US" altLang="zh-CN" sz="2400" dirty="0"/>
              <a:t>”</a:t>
            </a:r>
            <a:r>
              <a:rPr lang="zh-CN" altLang="en-US" sz="2400" dirty="0"/>
              <a:t>，</a:t>
            </a:r>
            <a:r>
              <a:rPr lang="zh-CN" altLang="en-US" sz="2400" dirty="0">
                <a:solidFill>
                  <a:srgbClr val="FF0000"/>
                </a:solidFill>
              </a:rPr>
              <a:t>把反相器的输出端拉向地电平</a:t>
            </a:r>
            <a:r>
              <a:rPr lang="en-US" altLang="zh-CN" sz="2400" dirty="0"/>
              <a:t>;</a:t>
            </a:r>
          </a:p>
          <a:p>
            <a:r>
              <a:rPr lang="en-US" altLang="zh-CN" sz="2400" dirty="0"/>
              <a:t>P-MOS”</a:t>
            </a:r>
            <a:r>
              <a:rPr lang="zh-CN" altLang="en-US" sz="2400" dirty="0"/>
              <a:t>截止</a:t>
            </a:r>
            <a:r>
              <a:rPr lang="en-US" altLang="zh-CN" sz="2400" dirty="0"/>
              <a:t>”</a:t>
            </a:r>
            <a:r>
              <a:rPr lang="zh-CN" altLang="en-US" sz="2400" dirty="0"/>
              <a:t>，</a:t>
            </a:r>
            <a:r>
              <a:rPr lang="zh-CN" altLang="en-US" sz="2400" dirty="0">
                <a:solidFill>
                  <a:srgbClr val="FF0000"/>
                </a:solidFill>
              </a:rPr>
              <a:t>没有电流从 </a:t>
            </a:r>
            <a:r>
              <a:rPr lang="en-US" altLang="zh-CN" sz="2400" dirty="0">
                <a:solidFill>
                  <a:srgbClr val="FF0000"/>
                </a:solidFill>
              </a:rPr>
              <a:t>VDD </a:t>
            </a:r>
            <a:r>
              <a:rPr lang="zh-CN" altLang="en-US" sz="2400" dirty="0">
                <a:solidFill>
                  <a:srgbClr val="FF0000"/>
                </a:solidFill>
              </a:rPr>
              <a:t>流向 </a:t>
            </a:r>
            <a:r>
              <a:rPr lang="en-US" altLang="zh-CN" sz="2400" dirty="0">
                <a:solidFill>
                  <a:srgbClr val="FF0000"/>
                </a:solidFill>
              </a:rPr>
              <a:t>VSS </a:t>
            </a:r>
            <a:r>
              <a:rPr lang="en-US" altLang="zh-CN" sz="2400" dirty="0"/>
              <a:t>;</a:t>
            </a:r>
          </a:p>
          <a:p>
            <a:endParaRPr lang="en-US" altLang="zh-CN" sz="2400" dirty="0"/>
          </a:p>
          <a:p>
            <a:r>
              <a:rPr lang="en-US" altLang="zh-CN" sz="2400" dirty="0"/>
              <a:t>N-MOS</a:t>
            </a:r>
            <a:r>
              <a:rPr lang="zh-CN" altLang="en-US" sz="2400" dirty="0"/>
              <a:t>晶体管的等效电导为 </a:t>
            </a:r>
            <a:r>
              <a:rPr lang="en-US" altLang="zh-CN" sz="2400" dirty="0"/>
              <a:t>:</a:t>
            </a:r>
          </a:p>
          <a:p>
            <a:endParaRPr lang="en-US" altLang="zh-CN" sz="2400" dirty="0"/>
          </a:p>
          <a:p>
            <a:r>
              <a:rPr lang="en-US" altLang="zh-CN" sz="2400" dirty="0"/>
              <a:t>                                                     (8-22)</a:t>
            </a:r>
          </a:p>
          <a:p>
            <a:endParaRPr lang="en-US" altLang="zh-CN" sz="2400" dirty="0"/>
          </a:p>
          <a:p>
            <a:r>
              <a:rPr lang="zh-CN" altLang="en-US" sz="2400" dirty="0"/>
              <a:t>输出电压：</a:t>
            </a:r>
            <a:r>
              <a:rPr lang="en-US" altLang="zh-CN" sz="2400" dirty="0" err="1"/>
              <a:t>U</a:t>
            </a:r>
            <a:r>
              <a:rPr lang="en-US" altLang="zh-CN" sz="2400" baseline="-25000" dirty="0" err="1"/>
              <a:t>oup</a:t>
            </a:r>
            <a:r>
              <a:rPr lang="en-US" altLang="zh-CN" sz="2400" dirty="0"/>
              <a:t>=0</a:t>
            </a:r>
            <a:endParaRPr lang="zh-CN" altLang="en-US" sz="2400" baseline="-25000" dirty="0"/>
          </a:p>
        </p:txBody>
      </p:sp>
      <p:pic>
        <p:nvPicPr>
          <p:cNvPr id="5" name="图片 4">
            <a:extLst>
              <a:ext uri="{FF2B5EF4-FFF2-40B4-BE49-F238E27FC236}">
                <a16:creationId xmlns:a16="http://schemas.microsoft.com/office/drawing/2014/main" id="{28C9CDEB-C827-4F29-A266-E909A906FC46}"/>
              </a:ext>
            </a:extLst>
          </p:cNvPr>
          <p:cNvPicPr>
            <a:picLocks noChangeAspect="1"/>
          </p:cNvPicPr>
          <p:nvPr/>
        </p:nvPicPr>
        <p:blipFill>
          <a:blip r:embed="rId3"/>
          <a:stretch>
            <a:fillRect/>
          </a:stretch>
        </p:blipFill>
        <p:spPr>
          <a:xfrm>
            <a:off x="1738748" y="3152774"/>
            <a:ext cx="3529153" cy="708273"/>
          </a:xfrm>
          <a:prstGeom prst="rect">
            <a:avLst/>
          </a:prstGeom>
        </p:spPr>
      </p:pic>
    </p:spTree>
    <p:extLst>
      <p:ext uri="{BB962C8B-B14F-4D97-AF65-F5344CB8AC3E}">
        <p14:creationId xmlns:p14="http://schemas.microsoft.com/office/powerpoint/2010/main" val="3492227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3046988"/>
          </a:xfrm>
          <a:prstGeom prst="rect">
            <a:avLst/>
          </a:prstGeom>
        </p:spPr>
        <p:txBody>
          <a:bodyPr wrap="square">
            <a:spAutoFit/>
          </a:bodyPr>
          <a:lstStyle/>
          <a:p>
            <a:r>
              <a:rPr lang="en-US" altLang="zh-CN" sz="2400" dirty="0"/>
              <a:t>2 </a:t>
            </a:r>
            <a:r>
              <a:rPr lang="zh-CN" altLang="en-US" sz="2400" dirty="0"/>
              <a:t>反相器作为二进制鉴别器</a:t>
            </a:r>
            <a:endParaRPr lang="en-US" altLang="zh-CN" sz="2400" dirty="0"/>
          </a:p>
          <a:p>
            <a:r>
              <a:rPr lang="zh-CN" altLang="en-US" sz="2400" dirty="0"/>
              <a:t>下图</a:t>
            </a:r>
            <a:r>
              <a:rPr lang="en-US" altLang="zh-CN" sz="2400" dirty="0"/>
              <a:t>(c)</a:t>
            </a:r>
            <a:r>
              <a:rPr lang="zh-CN" altLang="en-US" sz="2400" dirty="0"/>
              <a:t>的反相器静态传输特性</a:t>
            </a:r>
            <a:r>
              <a:rPr lang="en-US" altLang="zh-CN" sz="2400" dirty="0" err="1"/>
              <a:t>U</a:t>
            </a:r>
            <a:r>
              <a:rPr lang="en-US" altLang="zh-CN" sz="2400" baseline="-25000" dirty="0" err="1"/>
              <a:t>oup</a:t>
            </a:r>
            <a:r>
              <a:rPr lang="en-US" altLang="zh-CN" sz="2400" dirty="0"/>
              <a:t>=F(</a:t>
            </a:r>
            <a:r>
              <a:rPr lang="en-US" altLang="zh-CN" sz="2400" dirty="0" err="1"/>
              <a:t>U</a:t>
            </a:r>
            <a:r>
              <a:rPr lang="en-US" altLang="zh-CN" sz="2400" baseline="-25000" dirty="0" err="1"/>
              <a:t>inp</a:t>
            </a:r>
            <a:r>
              <a:rPr lang="en-US" altLang="zh-CN" sz="2400" dirty="0"/>
              <a:t>)</a:t>
            </a:r>
            <a:r>
              <a:rPr lang="zh-CN" altLang="en-US" sz="2400" dirty="0"/>
              <a:t>，在工作区间</a:t>
            </a:r>
            <a:r>
              <a:rPr lang="en-US" altLang="zh-CN" sz="2400" dirty="0"/>
              <a:t>B</a:t>
            </a:r>
            <a:r>
              <a:rPr lang="zh-CN" altLang="en-US" sz="2400" dirty="0"/>
              <a:t>和</a:t>
            </a:r>
            <a:r>
              <a:rPr lang="en-US" altLang="zh-CN" sz="2400" dirty="0"/>
              <a:t>D</a:t>
            </a:r>
            <a:r>
              <a:rPr lang="zh-CN" altLang="en-US" sz="2400" dirty="0"/>
              <a:t>有两个点的增益为</a:t>
            </a:r>
            <a:r>
              <a:rPr lang="en-US" altLang="zh-CN" sz="2400" dirty="0"/>
              <a:t>1</a:t>
            </a:r>
            <a:r>
              <a:rPr lang="zh-CN" altLang="en-US" sz="2400" dirty="0"/>
              <a:t>；两点之间的电压变动都被放大，之外的电压变动会减弱。</a:t>
            </a:r>
            <a:endParaRPr lang="en-US" altLang="zh-CN" sz="2400" dirty="0"/>
          </a:p>
          <a:p>
            <a:r>
              <a:rPr lang="en-US" altLang="zh-CN" sz="2400" dirty="0"/>
              <a:t>0  ≤ </a:t>
            </a:r>
            <a:r>
              <a:rPr lang="en-US" altLang="zh-CN" sz="2400" dirty="0" err="1"/>
              <a:t>U</a:t>
            </a:r>
            <a:r>
              <a:rPr lang="en-US" altLang="zh-CN" sz="2400" baseline="-25000" dirty="0" err="1"/>
              <a:t>inp</a:t>
            </a:r>
            <a:r>
              <a:rPr lang="en-US" altLang="zh-CN" sz="2400" dirty="0"/>
              <a:t> ≤ </a:t>
            </a:r>
            <a:r>
              <a:rPr lang="en-US" altLang="zh-CN" sz="2400" dirty="0" err="1"/>
              <a:t>U</a:t>
            </a:r>
            <a:r>
              <a:rPr lang="en-US" altLang="zh-CN" sz="2400" baseline="-25000" dirty="0" err="1"/>
              <a:t>il</a:t>
            </a:r>
            <a:r>
              <a:rPr lang="en-US" altLang="zh-CN" sz="2400" dirty="0"/>
              <a:t> </a:t>
            </a:r>
            <a:r>
              <a:rPr lang="en-US" altLang="zh-CN" sz="2400" dirty="0">
                <a:sym typeface="Wingdings" panose="05000000000000000000" pitchFamily="2" charset="2"/>
              </a:rPr>
              <a:t> 0</a:t>
            </a:r>
          </a:p>
          <a:p>
            <a:r>
              <a:rPr lang="en-US" altLang="zh-CN" sz="2400" dirty="0" err="1"/>
              <a:t>U</a:t>
            </a:r>
            <a:r>
              <a:rPr lang="en-US" altLang="zh-CN" sz="2400" baseline="-25000" dirty="0" err="1"/>
              <a:t>il</a:t>
            </a:r>
            <a:r>
              <a:rPr lang="zh-CN" altLang="en-US" sz="2400" dirty="0"/>
              <a:t> ＜</a:t>
            </a:r>
            <a:r>
              <a:rPr lang="en-US" altLang="zh-CN" sz="2400" dirty="0"/>
              <a:t> </a:t>
            </a:r>
            <a:r>
              <a:rPr lang="en-US" altLang="zh-CN" sz="2400" dirty="0" err="1"/>
              <a:t>U</a:t>
            </a:r>
            <a:r>
              <a:rPr lang="en-US" altLang="zh-CN" sz="2400" baseline="-25000" dirty="0" err="1"/>
              <a:t>inp</a:t>
            </a:r>
            <a:r>
              <a:rPr lang="en-US" altLang="zh-CN" sz="2400" dirty="0"/>
              <a:t> </a:t>
            </a:r>
            <a:r>
              <a:rPr lang="zh-CN" altLang="en-US" sz="2400" dirty="0"/>
              <a:t>＜ </a:t>
            </a:r>
            <a:r>
              <a:rPr lang="en-US" altLang="zh-CN" sz="2400" dirty="0" err="1"/>
              <a:t>U</a:t>
            </a:r>
            <a:r>
              <a:rPr lang="en-US" altLang="zh-CN" sz="2400" baseline="-25000" dirty="0" err="1"/>
              <a:t>ih</a:t>
            </a:r>
            <a:r>
              <a:rPr lang="en-US" altLang="zh-CN" sz="2400" dirty="0"/>
              <a:t> </a:t>
            </a:r>
            <a:r>
              <a:rPr lang="en-US" altLang="zh-CN" sz="2400" dirty="0">
                <a:sym typeface="Wingdings" panose="05000000000000000000" pitchFamily="2" charset="2"/>
              </a:rPr>
              <a:t> X</a:t>
            </a:r>
            <a:endParaRPr lang="en-US" altLang="zh-CN" sz="2400" dirty="0"/>
          </a:p>
          <a:p>
            <a:r>
              <a:rPr lang="en-US" altLang="zh-CN" sz="2400" dirty="0" err="1"/>
              <a:t>U</a:t>
            </a:r>
            <a:r>
              <a:rPr lang="en-US" altLang="zh-CN" sz="2400" baseline="-25000" dirty="0" err="1"/>
              <a:t>ih</a:t>
            </a:r>
            <a:r>
              <a:rPr lang="en-US" altLang="zh-CN" sz="2400" dirty="0"/>
              <a:t> ≤ </a:t>
            </a:r>
            <a:r>
              <a:rPr lang="en-US" altLang="zh-CN" sz="2400" dirty="0" err="1"/>
              <a:t>U</a:t>
            </a:r>
            <a:r>
              <a:rPr lang="en-US" altLang="zh-CN" sz="2400" baseline="-25000" dirty="0" err="1"/>
              <a:t>inp</a:t>
            </a:r>
            <a:r>
              <a:rPr lang="en-US" altLang="zh-CN" sz="2400" dirty="0"/>
              <a:t> ≤ </a:t>
            </a:r>
            <a:r>
              <a:rPr lang="en-US" altLang="zh-CN" sz="2400" dirty="0" err="1"/>
              <a:t>U</a:t>
            </a:r>
            <a:r>
              <a:rPr lang="en-US" altLang="zh-CN" sz="2400" baseline="-25000" dirty="0" err="1"/>
              <a:t>dd</a:t>
            </a:r>
            <a:r>
              <a:rPr lang="en-US" altLang="zh-CN" sz="2400" dirty="0"/>
              <a:t> </a:t>
            </a:r>
            <a:r>
              <a:rPr lang="en-US" altLang="zh-CN" sz="2400" dirty="0">
                <a:sym typeface="Wingdings" panose="05000000000000000000" pitchFamily="2" charset="2"/>
              </a:rPr>
              <a:t> 1</a:t>
            </a:r>
          </a:p>
          <a:p>
            <a:endParaRPr lang="zh-CN" altLang="en-US" sz="2400" dirty="0"/>
          </a:p>
        </p:txBody>
      </p:sp>
      <p:pic>
        <p:nvPicPr>
          <p:cNvPr id="4" name="图片 3">
            <a:extLst>
              <a:ext uri="{FF2B5EF4-FFF2-40B4-BE49-F238E27FC236}">
                <a16:creationId xmlns:a16="http://schemas.microsoft.com/office/drawing/2014/main" id="{86D165C4-6FB0-4797-B67D-175907E0D8E3}"/>
              </a:ext>
            </a:extLst>
          </p:cNvPr>
          <p:cNvPicPr>
            <a:picLocks noChangeAspect="1"/>
          </p:cNvPicPr>
          <p:nvPr/>
        </p:nvPicPr>
        <p:blipFill>
          <a:blip r:embed="rId3"/>
          <a:stretch>
            <a:fillRect/>
          </a:stretch>
        </p:blipFill>
        <p:spPr>
          <a:xfrm>
            <a:off x="138112" y="3834452"/>
            <a:ext cx="8867775" cy="2943225"/>
          </a:xfrm>
          <a:prstGeom prst="rect">
            <a:avLst/>
          </a:prstGeom>
        </p:spPr>
      </p:pic>
    </p:spTree>
    <p:extLst>
      <p:ext uri="{BB962C8B-B14F-4D97-AF65-F5344CB8AC3E}">
        <p14:creationId xmlns:p14="http://schemas.microsoft.com/office/powerpoint/2010/main" val="3880995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8712968" cy="4401205"/>
          </a:xfrm>
          <a:prstGeom prst="rect">
            <a:avLst/>
          </a:prstGeom>
        </p:spPr>
        <p:txBody>
          <a:bodyPr wrap="square">
            <a:spAutoFit/>
          </a:bodyPr>
          <a:lstStyle/>
          <a:p>
            <a:r>
              <a:rPr lang="en-US" altLang="zh-CN" sz="2400" dirty="0"/>
              <a:t>3 </a:t>
            </a:r>
            <a:r>
              <a:rPr lang="zh-CN" altLang="en-US" sz="2400" dirty="0"/>
              <a:t>晶体管尺寸的影响</a:t>
            </a:r>
            <a:endParaRPr lang="en-US" altLang="zh-CN" sz="2400" dirty="0"/>
          </a:p>
          <a:p>
            <a:r>
              <a:rPr lang="en-US" altLang="zh-CN" sz="2400" dirty="0">
                <a:sym typeface="Wingdings" panose="05000000000000000000" pitchFamily="2" charset="2"/>
              </a:rPr>
              <a:t>CMOS</a:t>
            </a:r>
            <a:r>
              <a:rPr lang="zh-CN" altLang="en-US" sz="2400" dirty="0">
                <a:sym typeface="Wingdings" panose="05000000000000000000" pitchFamily="2" charset="2"/>
              </a:rPr>
              <a:t>反相器传输特性的确切轨迹取决于</a:t>
            </a:r>
            <a:r>
              <a:rPr lang="en-US" altLang="zh-CN" sz="2400" dirty="0">
                <a:sym typeface="Wingdings" panose="05000000000000000000" pitchFamily="2" charset="2"/>
              </a:rPr>
              <a:t>MOSFET</a:t>
            </a:r>
            <a:r>
              <a:rPr lang="zh-CN" altLang="en-US" sz="2400" dirty="0">
                <a:sym typeface="Wingdings" panose="05000000000000000000" pitchFamily="2" charset="2"/>
              </a:rPr>
              <a:t>的相对增益因子：</a:t>
            </a:r>
            <a:r>
              <a:rPr lang="el-GR" altLang="zh-CN" sz="2400" dirty="0">
                <a:sym typeface="Wingdings" panose="05000000000000000000" pitchFamily="2" charset="2"/>
              </a:rPr>
              <a:t>β</a:t>
            </a:r>
            <a:r>
              <a:rPr lang="en-US" altLang="zh-CN" sz="2400" baseline="-25000" dirty="0">
                <a:sym typeface="Wingdings" panose="05000000000000000000" pitchFamily="2" charset="2"/>
              </a:rPr>
              <a:t>n</a:t>
            </a:r>
            <a:r>
              <a:rPr lang="zh-CN" altLang="en-US" sz="2400" dirty="0">
                <a:sym typeface="Wingdings" panose="05000000000000000000" pitchFamily="2" charset="2"/>
              </a:rPr>
              <a:t>，</a:t>
            </a:r>
            <a:r>
              <a:rPr lang="el-GR" altLang="zh-CN" sz="2400" dirty="0">
                <a:sym typeface="Wingdings" panose="05000000000000000000" pitchFamily="2" charset="2"/>
              </a:rPr>
              <a:t>β</a:t>
            </a:r>
            <a:r>
              <a:rPr lang="en-US" altLang="zh-CN" sz="2400" baseline="-25000" dirty="0">
                <a:sym typeface="Wingdings" panose="05000000000000000000" pitchFamily="2" charset="2"/>
              </a:rPr>
              <a:t>p</a:t>
            </a:r>
          </a:p>
          <a:p>
            <a:endParaRPr lang="en-US" altLang="zh-CN" sz="2400" baseline="-25000" dirty="0">
              <a:sym typeface="Wingdings" panose="05000000000000000000" pitchFamily="2" charset="2"/>
            </a:endParaRPr>
          </a:p>
          <a:p>
            <a:r>
              <a:rPr lang="zh-CN" altLang="en-US" sz="2400" dirty="0"/>
              <a:t>定义</a:t>
            </a:r>
            <a:r>
              <a:rPr lang="en-US" altLang="zh-CN" sz="2400" dirty="0"/>
              <a:t>MOSFET</a:t>
            </a:r>
            <a:r>
              <a:rPr lang="zh-CN" altLang="en-US" sz="2400" dirty="0"/>
              <a:t>的尺寸使得</a:t>
            </a:r>
            <a:r>
              <a:rPr lang="en-US" altLang="zh-CN" sz="2400" dirty="0"/>
              <a:t>n/p MOSFET</a:t>
            </a:r>
            <a:r>
              <a:rPr lang="zh-CN" altLang="en-US" sz="2400" dirty="0"/>
              <a:t>具有相同的驱动能力，则反相器的翻转电压</a:t>
            </a:r>
            <a:r>
              <a:rPr lang="en-US" altLang="zh-CN" sz="2400" dirty="0" err="1"/>
              <a:t>U</a:t>
            </a:r>
            <a:r>
              <a:rPr lang="en-US" altLang="zh-CN" sz="2400" baseline="-25000" dirty="0" err="1"/>
              <a:t>inv</a:t>
            </a:r>
            <a:r>
              <a:rPr lang="en-US" altLang="zh-CN" sz="2400" dirty="0"/>
              <a:t>=</a:t>
            </a:r>
            <a:r>
              <a:rPr lang="en-US" altLang="zh-CN" sz="2400" dirty="0" err="1"/>
              <a:t>U</a:t>
            </a:r>
            <a:r>
              <a:rPr lang="en-US" altLang="zh-CN" sz="2400" baseline="-25000" dirty="0" err="1"/>
              <a:t>dd</a:t>
            </a:r>
            <a:r>
              <a:rPr lang="en-US" altLang="zh-CN" sz="2400" dirty="0"/>
              <a:t>/2</a:t>
            </a:r>
            <a:r>
              <a:rPr lang="zh-CN" altLang="en-US" sz="2400" dirty="0"/>
              <a:t>，这最大化了总体噪声容限；</a:t>
            </a:r>
            <a:endParaRPr lang="en-US" altLang="zh-CN" sz="2400" dirty="0"/>
          </a:p>
          <a:p>
            <a:endParaRPr lang="en-US" altLang="zh-CN" sz="2400" dirty="0"/>
          </a:p>
          <a:p>
            <a:r>
              <a:rPr lang="zh-CN" altLang="en-US" sz="2400" dirty="0"/>
              <a:t>当晶体管宽度满足下面公式时，逻辑门的性能最优；</a:t>
            </a:r>
            <a:endParaRPr lang="en-US" altLang="zh-CN" sz="2400" dirty="0"/>
          </a:p>
          <a:p>
            <a:endParaRPr lang="en-US" altLang="zh-CN" sz="2400" dirty="0"/>
          </a:p>
          <a:p>
            <a:r>
              <a:rPr lang="en-US" altLang="zh-CN" sz="2400" dirty="0"/>
              <a:t>                                                 </a:t>
            </a:r>
            <a:r>
              <a:rPr lang="zh-CN" altLang="en-US" sz="2400" dirty="0"/>
              <a:t>（</a:t>
            </a:r>
            <a:r>
              <a:rPr lang="en-US" altLang="zh-CN" sz="2400" dirty="0"/>
              <a:t>8-26</a:t>
            </a:r>
            <a:r>
              <a:rPr lang="zh-CN" altLang="en-US" sz="2400" dirty="0"/>
              <a:t>）</a:t>
            </a:r>
            <a:endParaRPr lang="en-US" altLang="zh-CN" sz="2400" dirty="0"/>
          </a:p>
          <a:p>
            <a:endParaRPr lang="en-US" altLang="zh-CN" sz="2400" dirty="0"/>
          </a:p>
          <a:p>
            <a:r>
              <a:rPr lang="en-US" altLang="zh-CN" sz="2400" dirty="0"/>
              <a:t>W</a:t>
            </a:r>
            <a:r>
              <a:rPr lang="en-US" altLang="zh-CN" sz="2400" baseline="-25000" dirty="0"/>
              <a:t>p</a:t>
            </a:r>
            <a:r>
              <a:rPr lang="en-US" altLang="zh-CN" sz="2400" dirty="0"/>
              <a:t>/</a:t>
            </a:r>
            <a:r>
              <a:rPr lang="en-US" altLang="zh-CN" sz="2400" dirty="0" err="1"/>
              <a:t>W</a:t>
            </a:r>
            <a:r>
              <a:rPr lang="en-US" altLang="zh-CN" sz="2400" baseline="-25000" dirty="0" err="1"/>
              <a:t>n</a:t>
            </a:r>
            <a:r>
              <a:rPr lang="zh-CN" altLang="en-US" sz="2400" dirty="0"/>
              <a:t>的比例范围在</a:t>
            </a:r>
            <a:r>
              <a:rPr lang="en-US" altLang="zh-CN" sz="2400" dirty="0"/>
              <a:t>1.2~1.7</a:t>
            </a:r>
            <a:r>
              <a:rPr lang="zh-CN" altLang="en-US" sz="2400" dirty="0"/>
              <a:t>；</a:t>
            </a:r>
          </a:p>
        </p:txBody>
      </p:sp>
      <p:pic>
        <p:nvPicPr>
          <p:cNvPr id="5" name="图片 4">
            <a:extLst>
              <a:ext uri="{FF2B5EF4-FFF2-40B4-BE49-F238E27FC236}">
                <a16:creationId xmlns:a16="http://schemas.microsoft.com/office/drawing/2014/main" id="{A6429471-376E-4BEF-A418-CA2CF3C07535}"/>
              </a:ext>
            </a:extLst>
          </p:cNvPr>
          <p:cNvPicPr>
            <a:picLocks noChangeAspect="1"/>
          </p:cNvPicPr>
          <p:nvPr/>
        </p:nvPicPr>
        <p:blipFill>
          <a:blip r:embed="rId3"/>
          <a:stretch>
            <a:fillRect/>
          </a:stretch>
        </p:blipFill>
        <p:spPr>
          <a:xfrm>
            <a:off x="3707904" y="3717032"/>
            <a:ext cx="1171575" cy="714375"/>
          </a:xfrm>
          <a:prstGeom prst="rect">
            <a:avLst/>
          </a:prstGeom>
        </p:spPr>
      </p:pic>
      <p:pic>
        <p:nvPicPr>
          <p:cNvPr id="6" name="图片 5">
            <a:extLst>
              <a:ext uri="{FF2B5EF4-FFF2-40B4-BE49-F238E27FC236}">
                <a16:creationId xmlns:a16="http://schemas.microsoft.com/office/drawing/2014/main" id="{BEE30E7D-E780-4EEF-A001-1F8B9F1566B4}"/>
              </a:ext>
            </a:extLst>
          </p:cNvPr>
          <p:cNvPicPr>
            <a:picLocks noChangeAspect="1"/>
          </p:cNvPicPr>
          <p:nvPr/>
        </p:nvPicPr>
        <p:blipFill>
          <a:blip r:embed="rId4"/>
          <a:stretch>
            <a:fillRect/>
          </a:stretch>
        </p:blipFill>
        <p:spPr>
          <a:xfrm>
            <a:off x="0" y="5428960"/>
            <a:ext cx="9144000" cy="1255059"/>
          </a:xfrm>
          <a:prstGeom prst="rect">
            <a:avLst/>
          </a:prstGeom>
        </p:spPr>
      </p:pic>
    </p:spTree>
    <p:extLst>
      <p:ext uri="{BB962C8B-B14F-4D97-AF65-F5344CB8AC3E}">
        <p14:creationId xmlns:p14="http://schemas.microsoft.com/office/powerpoint/2010/main" val="3852242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1938992"/>
          </a:xfrm>
          <a:prstGeom prst="rect">
            <a:avLst/>
          </a:prstGeom>
        </p:spPr>
        <p:txBody>
          <a:bodyPr wrap="square">
            <a:spAutoFit/>
          </a:bodyPr>
          <a:lstStyle/>
          <a:p>
            <a:r>
              <a:rPr lang="en-US" altLang="zh-CN" sz="2400" dirty="0"/>
              <a:t>4 </a:t>
            </a:r>
            <a:r>
              <a:rPr lang="zh-CN" altLang="en-US" sz="2400" dirty="0"/>
              <a:t>反相器的动态特性</a:t>
            </a:r>
            <a:endParaRPr lang="en-US" altLang="zh-CN" sz="2400" dirty="0"/>
          </a:p>
          <a:p>
            <a:r>
              <a:rPr lang="zh-CN" altLang="en-US" sz="2400" dirty="0">
                <a:sym typeface="Wingdings" panose="05000000000000000000" pitchFamily="2" charset="2"/>
              </a:rPr>
              <a:t>动态特性为反相器电路中电容充放电的过程；</a:t>
            </a:r>
            <a:endParaRPr lang="en-US" altLang="zh-CN" sz="2400" dirty="0">
              <a:sym typeface="Wingdings" panose="05000000000000000000" pitchFamily="2" charset="2"/>
            </a:endParaRPr>
          </a:p>
          <a:p>
            <a:r>
              <a:rPr lang="zh-CN" altLang="en-US" sz="2400" dirty="0">
                <a:sym typeface="Wingdings" panose="05000000000000000000" pitchFamily="2" charset="2"/>
              </a:rPr>
              <a:t>负载电容</a:t>
            </a:r>
            <a:r>
              <a:rPr lang="en-US" altLang="zh-CN" sz="2400" dirty="0">
                <a:sym typeface="Wingdings" panose="05000000000000000000" pitchFamily="2" charset="2"/>
              </a:rPr>
              <a:t>C</a:t>
            </a:r>
            <a:r>
              <a:rPr lang="en-US" altLang="zh-CN" sz="2400" baseline="-25000" dirty="0">
                <a:sym typeface="Wingdings" panose="05000000000000000000" pitchFamily="2" charset="2"/>
              </a:rPr>
              <a:t>l</a:t>
            </a:r>
            <a:r>
              <a:rPr lang="zh-CN" altLang="en-US" sz="2400" dirty="0">
                <a:sym typeface="Wingdings" panose="05000000000000000000" pitchFamily="2" charset="2"/>
              </a:rPr>
              <a:t>，输入</a:t>
            </a:r>
            <a:r>
              <a:rPr lang="en-US" altLang="zh-CN" sz="2400" dirty="0">
                <a:sym typeface="Wingdings" panose="05000000000000000000" pitchFamily="2" charset="2"/>
              </a:rPr>
              <a:t>-</a:t>
            </a:r>
            <a:r>
              <a:rPr lang="zh-CN" altLang="en-US" sz="2400" dirty="0">
                <a:sym typeface="Wingdings" panose="05000000000000000000" pitchFamily="2" charset="2"/>
              </a:rPr>
              <a:t>输出之间耦合电容（米勒电容）</a:t>
            </a:r>
            <a:r>
              <a:rPr lang="en-US" altLang="zh-CN" sz="2400" dirty="0">
                <a:sym typeface="Wingdings" panose="05000000000000000000" pitchFamily="2" charset="2"/>
              </a:rPr>
              <a:t>C</a:t>
            </a:r>
            <a:r>
              <a:rPr lang="en-US" altLang="zh-CN" sz="2400" baseline="-25000" dirty="0">
                <a:sym typeface="Wingdings" panose="05000000000000000000" pitchFamily="2" charset="2"/>
              </a:rPr>
              <a:t>m</a:t>
            </a:r>
          </a:p>
          <a:p>
            <a:r>
              <a:rPr lang="zh-CN" altLang="en-US" sz="2400" dirty="0">
                <a:sym typeface="Wingdings" panose="05000000000000000000" pitchFamily="2" charset="2"/>
              </a:rPr>
              <a:t>总负载</a:t>
            </a:r>
            <a:r>
              <a:rPr lang="en-US" altLang="zh-CN" sz="2400" dirty="0">
                <a:sym typeface="Wingdings" panose="05000000000000000000" pitchFamily="2" charset="2"/>
              </a:rPr>
              <a:t>C</a:t>
            </a:r>
            <a:r>
              <a:rPr lang="en-US" altLang="zh-CN" sz="2400" baseline="-25000" dirty="0">
                <a:sym typeface="Wingdings" panose="05000000000000000000" pitchFamily="2" charset="2"/>
              </a:rPr>
              <a:t>k</a:t>
            </a:r>
            <a:r>
              <a:rPr lang="en-US" altLang="zh-CN" sz="2400" dirty="0">
                <a:sym typeface="Wingdings" panose="05000000000000000000" pitchFamily="2" charset="2"/>
              </a:rPr>
              <a:t> = C</a:t>
            </a:r>
            <a:r>
              <a:rPr lang="en-US" altLang="zh-CN" sz="2400" baseline="-25000" dirty="0">
                <a:sym typeface="Wingdings" panose="05000000000000000000" pitchFamily="2" charset="2"/>
              </a:rPr>
              <a:t>l</a:t>
            </a:r>
            <a:r>
              <a:rPr lang="en-US" altLang="zh-CN" sz="2400" dirty="0">
                <a:sym typeface="Wingdings" panose="05000000000000000000" pitchFamily="2" charset="2"/>
              </a:rPr>
              <a:t> + 2C</a:t>
            </a:r>
            <a:r>
              <a:rPr lang="en-US" altLang="zh-CN" sz="2400" baseline="-25000" dirty="0">
                <a:sym typeface="Wingdings" panose="05000000000000000000" pitchFamily="2" charset="2"/>
              </a:rPr>
              <a:t>m</a:t>
            </a:r>
            <a:r>
              <a:rPr lang="zh-CN" altLang="en-US" sz="2400" dirty="0">
                <a:sym typeface="Wingdings" panose="05000000000000000000" pitchFamily="2" charset="2"/>
              </a:rPr>
              <a:t>；</a:t>
            </a:r>
            <a:endParaRPr lang="en-US" altLang="zh-CN" sz="2400" dirty="0"/>
          </a:p>
          <a:p>
            <a:endParaRPr lang="en-US" altLang="zh-CN" sz="2400" dirty="0"/>
          </a:p>
        </p:txBody>
      </p:sp>
      <p:pic>
        <p:nvPicPr>
          <p:cNvPr id="4" name="图片 3">
            <a:extLst>
              <a:ext uri="{FF2B5EF4-FFF2-40B4-BE49-F238E27FC236}">
                <a16:creationId xmlns:a16="http://schemas.microsoft.com/office/drawing/2014/main" id="{D5BE0F06-D372-4B21-B4F3-9088BE679A5C}"/>
              </a:ext>
            </a:extLst>
          </p:cNvPr>
          <p:cNvPicPr>
            <a:picLocks noChangeAspect="1"/>
          </p:cNvPicPr>
          <p:nvPr/>
        </p:nvPicPr>
        <p:blipFill>
          <a:blip r:embed="rId3"/>
          <a:stretch>
            <a:fillRect/>
          </a:stretch>
        </p:blipFill>
        <p:spPr>
          <a:xfrm>
            <a:off x="114300" y="2780928"/>
            <a:ext cx="8915400" cy="3057525"/>
          </a:xfrm>
          <a:prstGeom prst="rect">
            <a:avLst/>
          </a:prstGeom>
        </p:spPr>
      </p:pic>
      <p:sp>
        <p:nvSpPr>
          <p:cNvPr id="7" name="矩形 6">
            <a:extLst>
              <a:ext uri="{FF2B5EF4-FFF2-40B4-BE49-F238E27FC236}">
                <a16:creationId xmlns:a16="http://schemas.microsoft.com/office/drawing/2014/main" id="{69106931-74D7-4B93-9DC1-C3923592DBB4}"/>
              </a:ext>
            </a:extLst>
          </p:cNvPr>
          <p:cNvSpPr/>
          <p:nvPr/>
        </p:nvSpPr>
        <p:spPr>
          <a:xfrm>
            <a:off x="623933" y="6430233"/>
            <a:ext cx="7416824" cy="369332"/>
          </a:xfrm>
          <a:prstGeom prst="rect">
            <a:avLst/>
          </a:prstGeom>
        </p:spPr>
        <p:txBody>
          <a:bodyPr wrap="square">
            <a:spAutoFit/>
          </a:bodyPr>
          <a:lstStyle/>
          <a:p>
            <a:pPr algn="ctr" eaLnBrk="1" hangingPunct="1">
              <a:buFont typeface="Wingdings" panose="05000000000000000000" pitchFamily="2" charset="2"/>
              <a:buNone/>
            </a:pPr>
            <a:r>
              <a:rPr lang="zh-CN" altLang="en-US" dirty="0">
                <a:latin typeface="仿宋_GB2312" pitchFamily="49" charset="-122"/>
                <a:ea typeface="仿宋_GB2312" pitchFamily="49" charset="-122"/>
              </a:rPr>
              <a:t>参考书：</a:t>
            </a:r>
            <a:r>
              <a:rPr lang="en-US" altLang="zh-CN" dirty="0">
                <a:latin typeface="仿宋_GB2312" pitchFamily="49" charset="-122"/>
                <a:ea typeface="仿宋_GB2312" pitchFamily="49" charset="-122"/>
              </a:rPr>
              <a:t>《</a:t>
            </a:r>
            <a:r>
              <a:rPr lang="zh-CN" altLang="en-US" dirty="0">
                <a:latin typeface="仿宋_GB2312" pitchFamily="49" charset="-122"/>
                <a:ea typeface="仿宋_GB2312" pitchFamily="49" charset="-122"/>
              </a:rPr>
              <a:t>数字集成电路</a:t>
            </a:r>
            <a:r>
              <a:rPr lang="en-US" altLang="zh-CN" dirty="0">
                <a:latin typeface="仿宋_GB2312" pitchFamily="49" charset="-122"/>
                <a:ea typeface="仿宋_GB2312" pitchFamily="49" charset="-122"/>
              </a:rPr>
              <a:t>-</a:t>
            </a:r>
            <a:r>
              <a:rPr lang="zh-CN" altLang="en-US" dirty="0">
                <a:latin typeface="仿宋_GB2312" pitchFamily="49" charset="-122"/>
                <a:ea typeface="仿宋_GB2312" pitchFamily="49" charset="-122"/>
              </a:rPr>
              <a:t>电路、系统与设计</a:t>
            </a:r>
            <a:r>
              <a:rPr lang="en-US" altLang="zh-CN" dirty="0">
                <a:latin typeface="仿宋_GB2312" pitchFamily="49" charset="-122"/>
                <a:ea typeface="仿宋_GB2312" pitchFamily="49" charset="-122"/>
              </a:rPr>
              <a:t>》</a:t>
            </a:r>
            <a:endParaRPr lang="zh-CN" altLang="en-US" dirty="0">
              <a:latin typeface="仿宋_GB2312" pitchFamily="49" charset="-122"/>
              <a:ea typeface="仿宋_GB2312" pitchFamily="49" charset="-122"/>
            </a:endParaRPr>
          </a:p>
        </p:txBody>
      </p:sp>
    </p:spTree>
    <p:extLst>
      <p:ext uri="{BB962C8B-B14F-4D97-AF65-F5344CB8AC3E}">
        <p14:creationId xmlns:p14="http://schemas.microsoft.com/office/powerpoint/2010/main" val="1548582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2677656"/>
          </a:xfrm>
          <a:prstGeom prst="rect">
            <a:avLst/>
          </a:prstGeom>
        </p:spPr>
        <p:txBody>
          <a:bodyPr wrap="square">
            <a:spAutoFit/>
          </a:bodyPr>
          <a:lstStyle/>
          <a:p>
            <a:r>
              <a:rPr lang="en-US" altLang="zh-CN" sz="2400" dirty="0"/>
              <a:t>4 </a:t>
            </a:r>
            <a:r>
              <a:rPr lang="zh-CN" altLang="en-US" sz="2400" dirty="0"/>
              <a:t>反相器的动态特性</a:t>
            </a:r>
            <a:endParaRPr lang="en-US" altLang="zh-CN" sz="2400" dirty="0"/>
          </a:p>
          <a:p>
            <a:r>
              <a:rPr lang="zh-CN" altLang="en-US" sz="2400" dirty="0">
                <a:sym typeface="Wingdings" panose="05000000000000000000" pitchFamily="2" charset="2"/>
              </a:rPr>
              <a:t>精确的计算比较复杂，需要</a:t>
            </a:r>
            <a:r>
              <a:rPr lang="en-US" altLang="zh-CN" sz="2400" dirty="0">
                <a:sym typeface="Wingdings" panose="05000000000000000000" pitchFamily="2" charset="2"/>
              </a:rPr>
              <a:t>spice</a:t>
            </a:r>
            <a:r>
              <a:rPr lang="zh-CN" altLang="en-US" sz="2400" dirty="0">
                <a:sym typeface="Wingdings" panose="05000000000000000000" pitchFamily="2" charset="2"/>
              </a:rPr>
              <a:t>仿真；</a:t>
            </a:r>
            <a:endParaRPr lang="en-US" altLang="zh-CN" sz="2400" dirty="0">
              <a:sym typeface="Wingdings" panose="05000000000000000000" pitchFamily="2" charset="2"/>
            </a:endParaRPr>
          </a:p>
          <a:p>
            <a:r>
              <a:rPr lang="zh-CN" altLang="en-US" sz="2400" dirty="0">
                <a:sym typeface="Wingdings" panose="05000000000000000000" pitchFamily="2" charset="2"/>
              </a:rPr>
              <a:t>一阶近似假设：（注意：前提是</a:t>
            </a:r>
            <a:r>
              <a:rPr lang="en-US" altLang="zh-CN" sz="2400" dirty="0" err="1">
                <a:sym typeface="Wingdings" panose="05000000000000000000" pitchFamily="2" charset="2"/>
              </a:rPr>
              <a:t>U</a:t>
            </a:r>
            <a:r>
              <a:rPr lang="en-US" altLang="zh-CN" sz="2400" baseline="-25000" dirty="0" err="1">
                <a:sym typeface="Wingdings" panose="05000000000000000000" pitchFamily="2" charset="2"/>
              </a:rPr>
              <a:t>dd</a:t>
            </a:r>
            <a:r>
              <a:rPr lang="zh-CN" altLang="en-US" sz="2400" dirty="0">
                <a:sym typeface="Wingdings" panose="05000000000000000000" pitchFamily="2" charset="2"/>
              </a:rPr>
              <a:t>大于</a:t>
            </a:r>
            <a:r>
              <a:rPr lang="en-US" altLang="zh-CN" sz="2400" dirty="0" err="1">
                <a:sym typeface="Wingdings" panose="05000000000000000000" pitchFamily="2" charset="2"/>
              </a:rPr>
              <a:t>U</a:t>
            </a:r>
            <a:r>
              <a:rPr lang="en-US" altLang="zh-CN" sz="2400" baseline="-25000" dirty="0" err="1">
                <a:sym typeface="Wingdings" panose="05000000000000000000" pitchFamily="2" charset="2"/>
              </a:rPr>
              <a:t>th</a:t>
            </a:r>
            <a:r>
              <a:rPr lang="zh-CN" altLang="en-US" sz="2400" dirty="0">
                <a:sym typeface="Wingdings" panose="05000000000000000000" pitchFamily="2" charset="2"/>
              </a:rPr>
              <a:t>）</a:t>
            </a:r>
            <a:endParaRPr lang="en-US" altLang="zh-CN" sz="2400" dirty="0">
              <a:sym typeface="Wingdings" panose="05000000000000000000" pitchFamily="2" charset="2"/>
            </a:endParaRPr>
          </a:p>
          <a:p>
            <a:r>
              <a:rPr lang="zh-CN" altLang="en-US" sz="2400" dirty="0">
                <a:sym typeface="Wingdings" panose="05000000000000000000" pitchFamily="2" charset="2"/>
              </a:rPr>
              <a:t>输入电压翻转很陡峭：</a:t>
            </a:r>
            <a:r>
              <a:rPr lang="en-US" altLang="zh-CN" sz="2400" dirty="0">
                <a:sym typeface="Wingdings" panose="05000000000000000000" pitchFamily="2" charset="2"/>
              </a:rPr>
              <a:t>t</a:t>
            </a:r>
            <a:r>
              <a:rPr lang="en-US" altLang="zh-CN" sz="2400" baseline="-25000" dirty="0">
                <a:sym typeface="Wingdings" panose="05000000000000000000" pitchFamily="2" charset="2"/>
              </a:rPr>
              <a:t>ri </a:t>
            </a:r>
            <a:r>
              <a:rPr lang="en-US" altLang="zh-CN" sz="2400" baseline="-25000" dirty="0" err="1">
                <a:sym typeface="Wingdings" panose="05000000000000000000" pitchFamily="2" charset="2"/>
              </a:rPr>
              <a:t>inp</a:t>
            </a:r>
            <a:r>
              <a:rPr lang="en-US" altLang="zh-CN" sz="2400" dirty="0">
                <a:sym typeface="Wingdings" panose="05000000000000000000" pitchFamily="2" charset="2"/>
              </a:rPr>
              <a:t> = </a:t>
            </a:r>
            <a:r>
              <a:rPr lang="en-US" altLang="zh-CN" sz="2400" dirty="0" err="1">
                <a:sym typeface="Wingdings" panose="05000000000000000000" pitchFamily="2" charset="2"/>
              </a:rPr>
              <a:t>t</a:t>
            </a:r>
            <a:r>
              <a:rPr lang="en-US" altLang="zh-CN" sz="2400" baseline="-25000" dirty="0" err="1">
                <a:sym typeface="Wingdings" panose="05000000000000000000" pitchFamily="2" charset="2"/>
              </a:rPr>
              <a:t>fs</a:t>
            </a:r>
            <a:r>
              <a:rPr lang="en-US" altLang="zh-CN" sz="2400" baseline="-25000" dirty="0">
                <a:sym typeface="Wingdings" panose="05000000000000000000" pitchFamily="2" charset="2"/>
              </a:rPr>
              <a:t> </a:t>
            </a:r>
            <a:r>
              <a:rPr lang="en-US" altLang="zh-CN" sz="2400" baseline="-25000" dirty="0" err="1">
                <a:sym typeface="Wingdings" panose="05000000000000000000" pitchFamily="2" charset="2"/>
              </a:rPr>
              <a:t>inp</a:t>
            </a:r>
            <a:r>
              <a:rPr lang="en-US" altLang="zh-CN" sz="2400" dirty="0">
                <a:sym typeface="Wingdings" panose="05000000000000000000" pitchFamily="2" charset="2"/>
              </a:rPr>
              <a:t> = 0</a:t>
            </a:r>
          </a:p>
          <a:p>
            <a:r>
              <a:rPr lang="zh-CN" altLang="en-US" sz="2400" dirty="0"/>
              <a:t>输出上升和下降时间分布测量</a:t>
            </a:r>
            <a:r>
              <a:rPr lang="en-US" altLang="zh-CN" sz="2400" dirty="0"/>
              <a:t>0~U</a:t>
            </a:r>
            <a:r>
              <a:rPr lang="en-US" altLang="zh-CN" sz="2400" baseline="-25000" dirty="0"/>
              <a:t>dd</a:t>
            </a:r>
            <a:r>
              <a:rPr lang="en-US" altLang="zh-CN" sz="2400" dirty="0"/>
              <a:t>/2</a:t>
            </a:r>
            <a:r>
              <a:rPr lang="zh-CN" altLang="en-US" sz="2400" dirty="0"/>
              <a:t>，</a:t>
            </a:r>
            <a:r>
              <a:rPr lang="en-US" altLang="zh-CN" sz="2400" dirty="0" err="1"/>
              <a:t>U</a:t>
            </a:r>
            <a:r>
              <a:rPr lang="en-US" altLang="zh-CN" sz="2400" baseline="-25000" dirty="0" err="1"/>
              <a:t>dd</a:t>
            </a:r>
            <a:r>
              <a:rPr lang="en-US" altLang="zh-CN" sz="2400" dirty="0"/>
              <a:t>~ </a:t>
            </a:r>
            <a:r>
              <a:rPr lang="en-US" altLang="zh-CN" sz="2400" dirty="0" err="1"/>
              <a:t>U</a:t>
            </a:r>
            <a:r>
              <a:rPr lang="en-US" altLang="zh-CN" sz="2400" baseline="-25000" dirty="0" err="1"/>
              <a:t>dd</a:t>
            </a:r>
            <a:r>
              <a:rPr lang="en-US" altLang="zh-CN" sz="2400" dirty="0"/>
              <a:t>/2</a:t>
            </a:r>
          </a:p>
          <a:p>
            <a:r>
              <a:rPr lang="zh-CN" altLang="en-US" sz="2400" dirty="0"/>
              <a:t>运送电流的</a:t>
            </a:r>
            <a:r>
              <a:rPr lang="en-US" altLang="zh-CN" sz="2400" dirty="0"/>
              <a:t>MOSFET</a:t>
            </a:r>
            <a:r>
              <a:rPr lang="zh-CN" altLang="en-US" sz="2400" dirty="0"/>
              <a:t>工作在饱和区</a:t>
            </a:r>
            <a:endParaRPr lang="en-US" altLang="zh-CN" sz="2400" dirty="0"/>
          </a:p>
          <a:p>
            <a:r>
              <a:rPr lang="en-US" altLang="zh-CN" sz="2400" dirty="0" err="1"/>
              <a:t>p/n</a:t>
            </a:r>
            <a:r>
              <a:rPr lang="zh-CN" altLang="en-US" sz="2400" dirty="0"/>
              <a:t>器件始终流出</a:t>
            </a:r>
            <a:r>
              <a:rPr lang="en-US" altLang="zh-CN" sz="2400" dirty="0"/>
              <a:t>/</a:t>
            </a:r>
            <a:r>
              <a:rPr lang="zh-CN" altLang="en-US" sz="2400" dirty="0"/>
              <a:t>吸收固定电流</a:t>
            </a:r>
            <a:endParaRPr lang="en-US" altLang="zh-CN" sz="2400" dirty="0"/>
          </a:p>
        </p:txBody>
      </p:sp>
      <p:sp>
        <p:nvSpPr>
          <p:cNvPr id="7" name="矩形 6">
            <a:extLst>
              <a:ext uri="{FF2B5EF4-FFF2-40B4-BE49-F238E27FC236}">
                <a16:creationId xmlns:a16="http://schemas.microsoft.com/office/drawing/2014/main" id="{69106931-74D7-4B93-9DC1-C3923592DBB4}"/>
              </a:ext>
            </a:extLst>
          </p:cNvPr>
          <p:cNvSpPr/>
          <p:nvPr/>
        </p:nvSpPr>
        <p:spPr>
          <a:xfrm>
            <a:off x="623933" y="6430233"/>
            <a:ext cx="7416824" cy="369332"/>
          </a:xfrm>
          <a:prstGeom prst="rect">
            <a:avLst/>
          </a:prstGeom>
        </p:spPr>
        <p:txBody>
          <a:bodyPr wrap="square">
            <a:spAutoFit/>
          </a:bodyPr>
          <a:lstStyle/>
          <a:p>
            <a:pPr algn="ctr" eaLnBrk="1" hangingPunct="1">
              <a:buFont typeface="Wingdings" panose="05000000000000000000" pitchFamily="2" charset="2"/>
              <a:buNone/>
            </a:pPr>
            <a:r>
              <a:rPr lang="zh-CN" altLang="en-US" dirty="0">
                <a:latin typeface="仿宋_GB2312" pitchFamily="49" charset="-122"/>
                <a:ea typeface="仿宋_GB2312" pitchFamily="49" charset="-122"/>
              </a:rPr>
              <a:t>参考书：</a:t>
            </a:r>
            <a:r>
              <a:rPr lang="en-US" altLang="zh-CN" dirty="0">
                <a:latin typeface="仿宋_GB2312" pitchFamily="49" charset="-122"/>
                <a:ea typeface="仿宋_GB2312" pitchFamily="49" charset="-122"/>
              </a:rPr>
              <a:t>《</a:t>
            </a:r>
            <a:r>
              <a:rPr lang="zh-CN" altLang="en-US" dirty="0">
                <a:latin typeface="仿宋_GB2312" pitchFamily="49" charset="-122"/>
                <a:ea typeface="仿宋_GB2312" pitchFamily="49" charset="-122"/>
              </a:rPr>
              <a:t>数字集成电路</a:t>
            </a:r>
            <a:r>
              <a:rPr lang="en-US" altLang="zh-CN" dirty="0">
                <a:latin typeface="仿宋_GB2312" pitchFamily="49" charset="-122"/>
                <a:ea typeface="仿宋_GB2312" pitchFamily="49" charset="-122"/>
              </a:rPr>
              <a:t>-</a:t>
            </a:r>
            <a:r>
              <a:rPr lang="zh-CN" altLang="en-US" dirty="0">
                <a:latin typeface="仿宋_GB2312" pitchFamily="49" charset="-122"/>
                <a:ea typeface="仿宋_GB2312" pitchFamily="49" charset="-122"/>
              </a:rPr>
              <a:t>电路、系统与设计</a:t>
            </a:r>
            <a:r>
              <a:rPr lang="en-US" altLang="zh-CN" dirty="0">
                <a:latin typeface="仿宋_GB2312" pitchFamily="49" charset="-122"/>
                <a:ea typeface="仿宋_GB2312" pitchFamily="49" charset="-122"/>
              </a:rPr>
              <a:t>》</a:t>
            </a:r>
            <a:endParaRPr lang="zh-CN" altLang="en-US" dirty="0">
              <a:latin typeface="仿宋_GB2312" pitchFamily="49" charset="-122"/>
              <a:ea typeface="仿宋_GB2312" pitchFamily="49" charset="-122"/>
            </a:endParaRPr>
          </a:p>
        </p:txBody>
      </p:sp>
      <p:pic>
        <p:nvPicPr>
          <p:cNvPr id="5" name="图片 4">
            <a:extLst>
              <a:ext uri="{FF2B5EF4-FFF2-40B4-BE49-F238E27FC236}">
                <a16:creationId xmlns:a16="http://schemas.microsoft.com/office/drawing/2014/main" id="{845505BA-312A-4F2F-9D35-BC6AE5A536F9}"/>
              </a:ext>
            </a:extLst>
          </p:cNvPr>
          <p:cNvPicPr>
            <a:picLocks noChangeAspect="1"/>
          </p:cNvPicPr>
          <p:nvPr/>
        </p:nvPicPr>
        <p:blipFill>
          <a:blip r:embed="rId3"/>
          <a:stretch>
            <a:fillRect/>
          </a:stretch>
        </p:blipFill>
        <p:spPr>
          <a:xfrm>
            <a:off x="326062" y="3429000"/>
            <a:ext cx="3771900" cy="2838450"/>
          </a:xfrm>
          <a:prstGeom prst="rect">
            <a:avLst/>
          </a:prstGeom>
        </p:spPr>
      </p:pic>
      <p:pic>
        <p:nvPicPr>
          <p:cNvPr id="6" name="图片 5">
            <a:extLst>
              <a:ext uri="{FF2B5EF4-FFF2-40B4-BE49-F238E27FC236}">
                <a16:creationId xmlns:a16="http://schemas.microsoft.com/office/drawing/2014/main" id="{4DA40F8B-5127-4874-93FB-3686DD2B6719}"/>
              </a:ext>
            </a:extLst>
          </p:cNvPr>
          <p:cNvPicPr>
            <a:picLocks noChangeAspect="1"/>
          </p:cNvPicPr>
          <p:nvPr/>
        </p:nvPicPr>
        <p:blipFill>
          <a:blip r:embed="rId4"/>
          <a:stretch>
            <a:fillRect/>
          </a:stretch>
        </p:blipFill>
        <p:spPr>
          <a:xfrm>
            <a:off x="5292080" y="3354009"/>
            <a:ext cx="2495550" cy="1419225"/>
          </a:xfrm>
          <a:prstGeom prst="rect">
            <a:avLst/>
          </a:prstGeom>
        </p:spPr>
      </p:pic>
      <p:pic>
        <p:nvPicPr>
          <p:cNvPr id="11" name="图片 10">
            <a:extLst>
              <a:ext uri="{FF2B5EF4-FFF2-40B4-BE49-F238E27FC236}">
                <a16:creationId xmlns:a16="http://schemas.microsoft.com/office/drawing/2014/main" id="{A789DE66-82E5-46F3-BEA7-D27BF9FC8A3E}"/>
              </a:ext>
            </a:extLst>
          </p:cNvPr>
          <p:cNvPicPr>
            <a:picLocks noChangeAspect="1"/>
          </p:cNvPicPr>
          <p:nvPr/>
        </p:nvPicPr>
        <p:blipFill>
          <a:blip r:embed="rId5"/>
          <a:stretch>
            <a:fillRect/>
          </a:stretch>
        </p:blipFill>
        <p:spPr>
          <a:xfrm>
            <a:off x="5705298" y="5191554"/>
            <a:ext cx="2076450" cy="771525"/>
          </a:xfrm>
          <a:prstGeom prst="rect">
            <a:avLst/>
          </a:prstGeom>
        </p:spPr>
      </p:pic>
    </p:spTree>
    <p:extLst>
      <p:ext uri="{BB962C8B-B14F-4D97-AF65-F5344CB8AC3E}">
        <p14:creationId xmlns:p14="http://schemas.microsoft.com/office/powerpoint/2010/main" val="2219162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785652"/>
          </a:xfrm>
          <a:prstGeom prst="rect">
            <a:avLst/>
          </a:prstGeom>
        </p:spPr>
        <p:txBody>
          <a:bodyPr wrap="square">
            <a:spAutoFit/>
          </a:bodyPr>
          <a:lstStyle/>
          <a:p>
            <a:r>
              <a:rPr lang="en-US" altLang="zh-CN" sz="2400" dirty="0"/>
              <a:t>8.1.3 </a:t>
            </a:r>
            <a:r>
              <a:rPr lang="zh-CN" altLang="en-US" sz="2400" dirty="0"/>
              <a:t>简单的</a:t>
            </a:r>
            <a:r>
              <a:rPr lang="en-US" altLang="zh-CN" sz="2400" dirty="0"/>
              <a:t>CMOS</a:t>
            </a:r>
            <a:r>
              <a:rPr lang="zh-CN" altLang="en-US" sz="2400" dirty="0"/>
              <a:t>门电路</a:t>
            </a:r>
            <a:endParaRPr lang="en-US" altLang="zh-CN" sz="2400" dirty="0"/>
          </a:p>
          <a:p>
            <a:r>
              <a:rPr lang="en-US" altLang="zh-CN" sz="2400" dirty="0"/>
              <a:t>1</a:t>
            </a:r>
            <a:r>
              <a:rPr lang="zh-CN" altLang="en-US" sz="2400" dirty="0"/>
              <a:t>、与非门</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p:txBody>
      </p:sp>
      <p:pic>
        <p:nvPicPr>
          <p:cNvPr id="4" name="图片 3">
            <a:extLst>
              <a:ext uri="{FF2B5EF4-FFF2-40B4-BE49-F238E27FC236}">
                <a16:creationId xmlns:a16="http://schemas.microsoft.com/office/drawing/2014/main" id="{8303C77F-CBC9-4CC8-AE9B-70C0A2024212}"/>
              </a:ext>
            </a:extLst>
          </p:cNvPr>
          <p:cNvPicPr>
            <a:picLocks noChangeAspect="1"/>
          </p:cNvPicPr>
          <p:nvPr/>
        </p:nvPicPr>
        <p:blipFill>
          <a:blip r:embed="rId3"/>
          <a:stretch>
            <a:fillRect/>
          </a:stretch>
        </p:blipFill>
        <p:spPr>
          <a:xfrm>
            <a:off x="457200" y="1577074"/>
            <a:ext cx="1514475" cy="381000"/>
          </a:xfrm>
          <a:prstGeom prst="rect">
            <a:avLst/>
          </a:prstGeom>
        </p:spPr>
      </p:pic>
      <p:pic>
        <p:nvPicPr>
          <p:cNvPr id="9" name="图片 8">
            <a:extLst>
              <a:ext uri="{FF2B5EF4-FFF2-40B4-BE49-F238E27FC236}">
                <a16:creationId xmlns:a16="http://schemas.microsoft.com/office/drawing/2014/main" id="{54618F8E-2AFF-4108-B36F-14728F560F1A}"/>
              </a:ext>
            </a:extLst>
          </p:cNvPr>
          <p:cNvPicPr>
            <a:picLocks noChangeAspect="1"/>
          </p:cNvPicPr>
          <p:nvPr/>
        </p:nvPicPr>
        <p:blipFill>
          <a:blip r:embed="rId4"/>
          <a:stretch>
            <a:fillRect/>
          </a:stretch>
        </p:blipFill>
        <p:spPr>
          <a:xfrm>
            <a:off x="4059307" y="1331527"/>
            <a:ext cx="3981450" cy="2047875"/>
          </a:xfrm>
          <a:prstGeom prst="rect">
            <a:avLst/>
          </a:prstGeom>
        </p:spPr>
      </p:pic>
      <p:pic>
        <p:nvPicPr>
          <p:cNvPr id="6" name="图片 5">
            <a:extLst>
              <a:ext uri="{FF2B5EF4-FFF2-40B4-BE49-F238E27FC236}">
                <a16:creationId xmlns:a16="http://schemas.microsoft.com/office/drawing/2014/main" id="{6C3A991B-3303-4EB8-95D3-6F0FA8DCFF24}"/>
              </a:ext>
            </a:extLst>
          </p:cNvPr>
          <p:cNvPicPr>
            <a:picLocks noChangeAspect="1"/>
          </p:cNvPicPr>
          <p:nvPr/>
        </p:nvPicPr>
        <p:blipFill>
          <a:blip r:embed="rId5"/>
          <a:stretch>
            <a:fillRect/>
          </a:stretch>
        </p:blipFill>
        <p:spPr>
          <a:xfrm>
            <a:off x="755576" y="3685489"/>
            <a:ext cx="6419850" cy="2428875"/>
          </a:xfrm>
          <a:prstGeom prst="rect">
            <a:avLst/>
          </a:prstGeom>
        </p:spPr>
      </p:pic>
    </p:spTree>
    <p:extLst>
      <p:ext uri="{BB962C8B-B14F-4D97-AF65-F5344CB8AC3E}">
        <p14:creationId xmlns:p14="http://schemas.microsoft.com/office/powerpoint/2010/main" val="2783299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1938992"/>
          </a:xfrm>
          <a:prstGeom prst="rect">
            <a:avLst/>
          </a:prstGeom>
        </p:spPr>
        <p:txBody>
          <a:bodyPr wrap="square">
            <a:spAutoFit/>
          </a:bodyPr>
          <a:lstStyle/>
          <a:p>
            <a:r>
              <a:rPr lang="en-US" altLang="zh-CN" sz="2400" dirty="0"/>
              <a:t>8.1.3 </a:t>
            </a:r>
            <a:r>
              <a:rPr lang="zh-CN" altLang="en-US" sz="2400" dirty="0"/>
              <a:t>简单的</a:t>
            </a:r>
            <a:r>
              <a:rPr lang="en-US" altLang="zh-CN" sz="2400" dirty="0"/>
              <a:t>CMOS</a:t>
            </a:r>
            <a:r>
              <a:rPr lang="zh-CN" altLang="en-US" sz="2400" dirty="0"/>
              <a:t>门电路</a:t>
            </a:r>
            <a:endParaRPr lang="en-US" altLang="zh-CN" sz="2400" dirty="0"/>
          </a:p>
          <a:p>
            <a:endParaRPr lang="en-US" altLang="zh-CN" sz="2400" dirty="0"/>
          </a:p>
          <a:p>
            <a:r>
              <a:rPr lang="en-US" altLang="zh-CN" sz="2400" dirty="0"/>
              <a:t>2</a:t>
            </a:r>
            <a:r>
              <a:rPr lang="zh-CN" altLang="en-US" sz="2400" dirty="0"/>
              <a:t>、或非门</a:t>
            </a:r>
            <a:endParaRPr lang="en-US" altLang="zh-CN" sz="2400" dirty="0"/>
          </a:p>
          <a:p>
            <a:r>
              <a:rPr lang="en-US" altLang="zh-CN" sz="2400" dirty="0"/>
              <a:t>OUP=</a:t>
            </a:r>
          </a:p>
          <a:p>
            <a:endParaRPr lang="en-US" altLang="zh-CN" sz="2400" dirty="0"/>
          </a:p>
        </p:txBody>
      </p:sp>
      <p:pic>
        <p:nvPicPr>
          <p:cNvPr id="10" name="图片 9">
            <a:extLst>
              <a:ext uri="{FF2B5EF4-FFF2-40B4-BE49-F238E27FC236}">
                <a16:creationId xmlns:a16="http://schemas.microsoft.com/office/drawing/2014/main" id="{8163D395-18A6-4763-B8A5-2CAB5B595CBF}"/>
              </a:ext>
            </a:extLst>
          </p:cNvPr>
          <p:cNvPicPr>
            <a:picLocks noChangeAspect="1"/>
          </p:cNvPicPr>
          <p:nvPr/>
        </p:nvPicPr>
        <p:blipFill>
          <a:blip r:embed="rId3"/>
          <a:stretch>
            <a:fillRect/>
          </a:stretch>
        </p:blipFill>
        <p:spPr>
          <a:xfrm>
            <a:off x="5940152" y="476672"/>
            <a:ext cx="2314575" cy="2819400"/>
          </a:xfrm>
          <a:prstGeom prst="rect">
            <a:avLst/>
          </a:prstGeom>
        </p:spPr>
      </p:pic>
      <p:pic>
        <p:nvPicPr>
          <p:cNvPr id="12" name="图片 11">
            <a:extLst>
              <a:ext uri="{FF2B5EF4-FFF2-40B4-BE49-F238E27FC236}">
                <a16:creationId xmlns:a16="http://schemas.microsoft.com/office/drawing/2014/main" id="{4ECBA254-530E-4BB0-BDB9-FADF5FF42A9A}"/>
              </a:ext>
            </a:extLst>
          </p:cNvPr>
          <p:cNvPicPr>
            <a:picLocks noChangeAspect="1"/>
          </p:cNvPicPr>
          <p:nvPr/>
        </p:nvPicPr>
        <p:blipFill>
          <a:blip r:embed="rId4"/>
          <a:stretch>
            <a:fillRect/>
          </a:stretch>
        </p:blipFill>
        <p:spPr>
          <a:xfrm>
            <a:off x="437511" y="3296072"/>
            <a:ext cx="7105650" cy="3162300"/>
          </a:xfrm>
          <a:prstGeom prst="rect">
            <a:avLst/>
          </a:prstGeom>
        </p:spPr>
      </p:pic>
      <p:pic>
        <p:nvPicPr>
          <p:cNvPr id="14" name="图片 13">
            <a:extLst>
              <a:ext uri="{FF2B5EF4-FFF2-40B4-BE49-F238E27FC236}">
                <a16:creationId xmlns:a16="http://schemas.microsoft.com/office/drawing/2014/main" id="{8424795D-BE46-4BC6-8BF5-0CEB49A8D330}"/>
              </a:ext>
            </a:extLst>
          </p:cNvPr>
          <p:cNvPicPr>
            <a:picLocks noChangeAspect="1"/>
          </p:cNvPicPr>
          <p:nvPr/>
        </p:nvPicPr>
        <p:blipFill>
          <a:blip r:embed="rId5"/>
          <a:stretch>
            <a:fillRect/>
          </a:stretch>
        </p:blipFill>
        <p:spPr>
          <a:xfrm>
            <a:off x="1259632" y="1772816"/>
            <a:ext cx="1987390" cy="360040"/>
          </a:xfrm>
          <a:prstGeom prst="rect">
            <a:avLst/>
          </a:prstGeom>
        </p:spPr>
      </p:pic>
    </p:spTree>
    <p:extLst>
      <p:ext uri="{BB962C8B-B14F-4D97-AF65-F5344CB8AC3E}">
        <p14:creationId xmlns:p14="http://schemas.microsoft.com/office/powerpoint/2010/main" val="4248168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6001643"/>
          </a:xfrm>
          <a:prstGeom prst="rect">
            <a:avLst/>
          </a:prstGeom>
        </p:spPr>
        <p:txBody>
          <a:bodyPr wrap="square">
            <a:spAutoFit/>
          </a:bodyPr>
          <a:lstStyle/>
          <a:p>
            <a:r>
              <a:rPr lang="en-US" altLang="zh-CN" sz="2400" dirty="0"/>
              <a:t>8.1.3 </a:t>
            </a:r>
            <a:r>
              <a:rPr lang="zh-CN" altLang="en-US" sz="2400" dirty="0"/>
              <a:t>简单的</a:t>
            </a:r>
            <a:r>
              <a:rPr lang="en-US" altLang="zh-CN" sz="2400" dirty="0"/>
              <a:t>CMOS</a:t>
            </a:r>
            <a:r>
              <a:rPr lang="zh-CN" altLang="en-US" sz="2400" dirty="0"/>
              <a:t>门电路</a:t>
            </a:r>
            <a:endParaRPr lang="en-US" altLang="zh-CN" sz="2400" dirty="0"/>
          </a:p>
          <a:p>
            <a:endParaRPr lang="en-US" altLang="zh-CN" sz="2400" dirty="0"/>
          </a:p>
          <a:p>
            <a:r>
              <a:rPr lang="en-US" altLang="zh-CN" sz="2400" dirty="0"/>
              <a:t>3</a:t>
            </a:r>
            <a:r>
              <a:rPr lang="zh-CN" altLang="en-US" sz="2400" dirty="0"/>
              <a:t>、基本法则</a:t>
            </a:r>
            <a:endParaRPr lang="en-US" altLang="zh-CN" sz="2400" dirty="0"/>
          </a:p>
          <a:p>
            <a:pPr marL="342900" indent="-342900">
              <a:buFont typeface="Wingdings" panose="05000000000000000000" pitchFamily="2" charset="2"/>
              <a:buChar char="Ø"/>
            </a:pPr>
            <a:r>
              <a:rPr lang="zh-CN" altLang="en-US" sz="2400" dirty="0"/>
              <a:t>布尔方程中的每一个变量都对应一个</a:t>
            </a:r>
            <a:r>
              <a:rPr lang="en-US" altLang="zh-CN" sz="2400" dirty="0"/>
              <a:t>n</a:t>
            </a:r>
            <a:r>
              <a:rPr lang="zh-CN" altLang="en-US" sz="2400" dirty="0"/>
              <a:t>沟道和一个</a:t>
            </a:r>
            <a:r>
              <a:rPr lang="en-US" altLang="zh-CN" sz="2400" dirty="0"/>
              <a:t>p</a:t>
            </a:r>
            <a:r>
              <a:rPr lang="zh-CN" altLang="en-US" sz="2400" dirty="0"/>
              <a:t>沟道</a:t>
            </a:r>
            <a:r>
              <a:rPr lang="en-US" altLang="zh-CN" sz="2400" dirty="0"/>
              <a:t>MOSFET</a:t>
            </a:r>
            <a:r>
              <a:rPr lang="zh-CN" altLang="en-US" sz="2400" dirty="0"/>
              <a:t>，其栅极都连接到门电路的输入端；</a:t>
            </a:r>
            <a:endParaRPr lang="en-US" altLang="zh-CN" sz="2400" dirty="0"/>
          </a:p>
          <a:p>
            <a:pPr marL="342900" indent="-342900">
              <a:buFont typeface="Wingdings" panose="05000000000000000000" pitchFamily="2" charset="2"/>
              <a:buChar char="Ø"/>
            </a:pPr>
            <a:r>
              <a:rPr lang="zh-CN" altLang="en-US" sz="2400" dirty="0"/>
              <a:t>对于输入端逻辑值的任意一个组合，都存在着一条从输出端到 </a:t>
            </a:r>
            <a:r>
              <a:rPr lang="en-US" altLang="zh-CN" sz="2400" dirty="0"/>
              <a:t>VDD </a:t>
            </a:r>
            <a:r>
              <a:rPr lang="zh-CN" altLang="en-US" sz="2400" dirty="0"/>
              <a:t>或 </a:t>
            </a:r>
            <a:r>
              <a:rPr lang="en-US" altLang="zh-CN" sz="2400" dirty="0"/>
              <a:t>VSS </a:t>
            </a:r>
            <a:r>
              <a:rPr lang="zh-CN" altLang="en-US" sz="2400" dirty="0"/>
              <a:t>的导通路径。</a:t>
            </a:r>
          </a:p>
          <a:p>
            <a:pPr marL="342900" indent="-342900">
              <a:buFont typeface="Wingdings" panose="05000000000000000000" pitchFamily="2" charset="2"/>
              <a:buChar char="Ø"/>
            </a:pPr>
            <a:r>
              <a:rPr lang="zh-CN" altLang="en-US" sz="2400" dirty="0"/>
              <a:t>输出从来不会出于浮空状态。</a:t>
            </a:r>
          </a:p>
          <a:p>
            <a:pPr marL="342900" indent="-342900">
              <a:buFont typeface="Wingdings" panose="05000000000000000000" pitchFamily="2" charset="2"/>
              <a:buChar char="Ø"/>
            </a:pPr>
            <a:r>
              <a:rPr lang="zh-CN" altLang="en-US" sz="2400" dirty="0"/>
              <a:t>输出电压可以从一个电源电平跳变到相反的电平。</a:t>
            </a:r>
          </a:p>
          <a:p>
            <a:pPr marL="342900" indent="-342900">
              <a:buFont typeface="Wingdings" panose="05000000000000000000" pitchFamily="2" charset="2"/>
              <a:buChar char="Ø"/>
            </a:pPr>
            <a:r>
              <a:rPr lang="zh-CN" altLang="en-US" sz="2400" dirty="0"/>
              <a:t>没有输入向量能建立从</a:t>
            </a:r>
            <a:r>
              <a:rPr lang="en-US" altLang="zh-CN" sz="2400" dirty="0"/>
              <a:t>VDD </a:t>
            </a:r>
            <a:r>
              <a:rPr lang="zh-CN" altLang="en-US" sz="2400" dirty="0"/>
              <a:t>和 </a:t>
            </a:r>
            <a:r>
              <a:rPr lang="en-US" altLang="zh-CN" sz="2400" dirty="0"/>
              <a:t>VSS </a:t>
            </a:r>
            <a:r>
              <a:rPr lang="zh-CN" altLang="en-US" sz="2400" dirty="0"/>
              <a:t>的直接导通路径（</a:t>
            </a:r>
            <a:r>
              <a:rPr lang="en-US" altLang="zh-CN" sz="2400" dirty="0"/>
              <a:t>IDDQ</a:t>
            </a:r>
            <a:r>
              <a:rPr lang="zh-CN" altLang="en-US" sz="2400" dirty="0"/>
              <a:t>测试的原理）。</a:t>
            </a:r>
          </a:p>
          <a:p>
            <a:pPr marL="342900" indent="-342900">
              <a:buFont typeface="Wingdings" panose="05000000000000000000" pitchFamily="2" charset="2"/>
              <a:buChar char="Ø"/>
            </a:pPr>
            <a:r>
              <a:rPr lang="zh-CN" altLang="en-US" sz="2400" dirty="0"/>
              <a:t>除了漏电流，在稳定的状态下没有功耗。</a:t>
            </a:r>
          </a:p>
          <a:p>
            <a:endParaRPr lang="en-US" altLang="zh-CN" sz="2400" dirty="0"/>
          </a:p>
          <a:p>
            <a:r>
              <a:rPr lang="zh-CN" altLang="en-US" sz="2400" dirty="0"/>
              <a:t>定义</a:t>
            </a:r>
            <a:r>
              <a:rPr lang="en-US" altLang="zh-CN" sz="2400" dirty="0"/>
              <a:t>8-1</a:t>
            </a:r>
            <a:r>
              <a:rPr lang="zh-CN" altLang="en-US" sz="2400" dirty="0"/>
              <a:t>：</a:t>
            </a:r>
            <a:r>
              <a:rPr lang="zh-CN" altLang="en-US" sz="2400" dirty="0">
                <a:solidFill>
                  <a:srgbClr val="FF0000"/>
                </a:solidFill>
              </a:rPr>
              <a:t>完全互补的静态 </a:t>
            </a:r>
            <a:r>
              <a:rPr lang="en-US" altLang="zh-CN" sz="2400" dirty="0">
                <a:solidFill>
                  <a:srgbClr val="FF0000"/>
                </a:solidFill>
              </a:rPr>
              <a:t>CMOS </a:t>
            </a:r>
            <a:r>
              <a:rPr lang="zh-CN" altLang="en-US" sz="2400" dirty="0">
                <a:solidFill>
                  <a:srgbClr val="FF0000"/>
                </a:solidFill>
              </a:rPr>
              <a:t>意味着逻辑门是由一对 </a:t>
            </a:r>
            <a:r>
              <a:rPr lang="en-US" altLang="zh-CN" sz="2400" dirty="0">
                <a:solidFill>
                  <a:srgbClr val="FF0000"/>
                </a:solidFill>
              </a:rPr>
              <a:t>n </a:t>
            </a:r>
            <a:r>
              <a:rPr lang="zh-CN" altLang="en-US" sz="2400" dirty="0">
                <a:solidFill>
                  <a:srgbClr val="FF0000"/>
                </a:solidFill>
              </a:rPr>
              <a:t>沟道下拉网络和 </a:t>
            </a:r>
            <a:r>
              <a:rPr lang="en-US" altLang="zh-CN" sz="2400" dirty="0">
                <a:solidFill>
                  <a:srgbClr val="FF0000"/>
                </a:solidFill>
              </a:rPr>
              <a:t>p </a:t>
            </a:r>
            <a:r>
              <a:rPr lang="zh-CN" altLang="en-US" sz="2400" dirty="0">
                <a:solidFill>
                  <a:srgbClr val="FF0000"/>
                </a:solidFill>
              </a:rPr>
              <a:t>沟道上拉网络构成的， 对于可能施加在输入端的任何二进制向量，上拉和下拉网络以互斥的形式开启和关断 </a:t>
            </a:r>
            <a:endParaRPr lang="en-US" altLang="zh-CN" sz="2400" dirty="0">
              <a:solidFill>
                <a:srgbClr val="FF0000"/>
              </a:solidFill>
            </a:endParaRPr>
          </a:p>
        </p:txBody>
      </p:sp>
    </p:spTree>
    <p:extLst>
      <p:ext uri="{BB962C8B-B14F-4D97-AF65-F5344CB8AC3E}">
        <p14:creationId xmlns:p14="http://schemas.microsoft.com/office/powerpoint/2010/main" val="2467344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4524315"/>
          </a:xfrm>
          <a:prstGeom prst="rect">
            <a:avLst/>
          </a:prstGeom>
        </p:spPr>
        <p:txBody>
          <a:bodyPr wrap="square">
            <a:spAutoFit/>
          </a:bodyPr>
          <a:lstStyle/>
          <a:p>
            <a:r>
              <a:rPr lang="en-US" altLang="zh-CN" sz="2400" dirty="0"/>
              <a:t>8.1.3 </a:t>
            </a:r>
            <a:r>
              <a:rPr lang="zh-CN" altLang="en-US" sz="2400" dirty="0"/>
              <a:t>简单的</a:t>
            </a:r>
            <a:r>
              <a:rPr lang="en-US" altLang="zh-CN" sz="2400" dirty="0"/>
              <a:t>CMOS</a:t>
            </a:r>
            <a:r>
              <a:rPr lang="zh-CN" altLang="en-US" sz="2400" dirty="0"/>
              <a:t>门电路</a:t>
            </a:r>
            <a:endParaRPr lang="en-US" altLang="zh-CN" sz="2400" dirty="0"/>
          </a:p>
          <a:p>
            <a:endParaRPr lang="en-US" altLang="zh-CN" sz="2400" dirty="0"/>
          </a:p>
          <a:p>
            <a:r>
              <a:rPr lang="en-US" altLang="zh-CN" sz="2400" dirty="0"/>
              <a:t>3</a:t>
            </a:r>
            <a:r>
              <a:rPr lang="zh-CN" altLang="en-US" sz="2400" dirty="0"/>
              <a:t>、基本法则</a:t>
            </a:r>
            <a:endParaRPr lang="en-US" altLang="zh-CN" sz="2400" dirty="0"/>
          </a:p>
          <a:p>
            <a:r>
              <a:rPr lang="zh-CN" altLang="en-US" sz="2400" dirty="0"/>
              <a:t>定义</a:t>
            </a:r>
            <a:r>
              <a:rPr lang="en-US" altLang="zh-CN" sz="2400" dirty="0"/>
              <a:t>8-2</a:t>
            </a:r>
            <a:r>
              <a:rPr lang="zh-CN" altLang="en-US" sz="2400" dirty="0"/>
              <a:t>：</a:t>
            </a:r>
            <a:r>
              <a:rPr lang="zh-CN" altLang="en-US" sz="2400" dirty="0">
                <a:solidFill>
                  <a:srgbClr val="FF0000"/>
                </a:solidFill>
              </a:rPr>
              <a:t>如果一个</a:t>
            </a:r>
            <a:r>
              <a:rPr lang="en-US" altLang="zh-CN" sz="2400" dirty="0">
                <a:solidFill>
                  <a:srgbClr val="FF0000"/>
                </a:solidFill>
              </a:rPr>
              <a:t>(</a:t>
            </a:r>
            <a:r>
              <a:rPr lang="zh-CN" altLang="en-US" sz="2400" dirty="0">
                <a:solidFill>
                  <a:srgbClr val="FF0000"/>
                </a:solidFill>
              </a:rPr>
              <a:t>子</a:t>
            </a:r>
            <a:r>
              <a:rPr lang="en-US" altLang="zh-CN" sz="2400" dirty="0">
                <a:solidFill>
                  <a:srgbClr val="FF0000"/>
                </a:solidFill>
              </a:rPr>
              <a:t>)</a:t>
            </a:r>
            <a:r>
              <a:rPr lang="zh-CN" altLang="en-US" sz="2400" dirty="0">
                <a:solidFill>
                  <a:srgbClr val="FF0000"/>
                </a:solidFill>
              </a:rPr>
              <a:t>电路的晶体管的几何尺寸和电流驱动能力不影响它的逻辑功能</a:t>
            </a:r>
            <a:r>
              <a:rPr lang="en-US" altLang="zh-CN" sz="2400" dirty="0">
                <a:solidFill>
                  <a:srgbClr val="FF0000"/>
                </a:solidFill>
              </a:rPr>
              <a:t>(</a:t>
            </a:r>
            <a:r>
              <a:rPr lang="zh-CN" altLang="en-US" sz="2400" dirty="0">
                <a:solidFill>
                  <a:srgbClr val="FF0000"/>
                </a:solidFill>
              </a:rPr>
              <a:t>例如用真值表描述的</a:t>
            </a:r>
            <a:r>
              <a:rPr lang="en-US" altLang="zh-CN" sz="2400" dirty="0">
                <a:solidFill>
                  <a:srgbClr val="FF0000"/>
                </a:solidFill>
              </a:rPr>
              <a:t>)</a:t>
            </a:r>
            <a:r>
              <a:rPr lang="zh-CN" altLang="en-US" sz="2400" dirty="0">
                <a:solidFill>
                  <a:srgbClr val="FF0000"/>
                </a:solidFill>
              </a:rPr>
              <a:t>，那么这个</a:t>
            </a:r>
            <a:r>
              <a:rPr lang="en-US" altLang="zh-CN" sz="2400" dirty="0">
                <a:solidFill>
                  <a:srgbClr val="FF0000"/>
                </a:solidFill>
              </a:rPr>
              <a:t>(</a:t>
            </a:r>
            <a:r>
              <a:rPr lang="zh-CN" altLang="en-US" sz="2400" dirty="0">
                <a:solidFill>
                  <a:srgbClr val="FF0000"/>
                </a:solidFill>
              </a:rPr>
              <a:t>子</a:t>
            </a:r>
            <a:r>
              <a:rPr lang="en-US" altLang="zh-CN" sz="2400" dirty="0">
                <a:solidFill>
                  <a:srgbClr val="FF0000"/>
                </a:solidFill>
              </a:rPr>
              <a:t>)</a:t>
            </a:r>
            <a:r>
              <a:rPr lang="zh-CN" altLang="en-US" sz="2400" dirty="0">
                <a:solidFill>
                  <a:srgbClr val="FF0000"/>
                </a:solidFill>
              </a:rPr>
              <a:t>电路就是无比（</a:t>
            </a:r>
            <a:r>
              <a:rPr lang="en-US" altLang="zh-CN" sz="2400" dirty="0" err="1">
                <a:solidFill>
                  <a:srgbClr val="FF0000"/>
                </a:solidFill>
              </a:rPr>
              <a:t>ratioless</a:t>
            </a:r>
            <a:r>
              <a:rPr lang="zh-CN" altLang="en-US" sz="2400" dirty="0">
                <a:solidFill>
                  <a:srgbClr val="FF0000"/>
                </a:solidFill>
              </a:rPr>
              <a:t>）的。</a:t>
            </a:r>
          </a:p>
          <a:p>
            <a:endParaRPr lang="zh-CN" altLang="en-US" sz="2400" dirty="0">
              <a:solidFill>
                <a:srgbClr val="FF0000"/>
              </a:solidFill>
            </a:endParaRPr>
          </a:p>
          <a:p>
            <a:r>
              <a:rPr lang="zh-CN" altLang="en-US" sz="2400" dirty="0"/>
              <a:t>几何尺寸的改变和制造公差的影响只限于电学和时序参数，比如翻转阑值和延迟数据。</a:t>
            </a:r>
            <a:endParaRPr lang="en-US" altLang="zh-CN" sz="2400" dirty="0"/>
          </a:p>
          <a:p>
            <a:endParaRPr lang="zh-CN" altLang="en-US" sz="2400" dirty="0"/>
          </a:p>
          <a:p>
            <a:r>
              <a:rPr lang="zh-CN" altLang="en-US" sz="2400" dirty="0"/>
              <a:t>反义词有比 </a:t>
            </a:r>
            <a:r>
              <a:rPr lang="en-US" altLang="zh-CN" sz="2400" dirty="0"/>
              <a:t>(ratioed) </a:t>
            </a:r>
            <a:r>
              <a:rPr lang="zh-CN" altLang="en-US" sz="2400" dirty="0"/>
              <a:t>指的是</a:t>
            </a:r>
            <a:r>
              <a:rPr lang="en-US" altLang="zh-CN" sz="2400" dirty="0"/>
              <a:t>(</a:t>
            </a:r>
            <a:r>
              <a:rPr lang="zh-CN" altLang="en-US" sz="2400" dirty="0"/>
              <a:t>子</a:t>
            </a:r>
            <a:r>
              <a:rPr lang="en-US" altLang="zh-CN" sz="2400" dirty="0"/>
              <a:t>)</a:t>
            </a:r>
            <a:r>
              <a:rPr lang="zh-CN" altLang="en-US" sz="2400" dirty="0"/>
              <a:t>电路的逻辑行为由有关的晶体管尺寸决定。</a:t>
            </a:r>
          </a:p>
        </p:txBody>
      </p:sp>
    </p:spTree>
    <p:extLst>
      <p:ext uri="{BB962C8B-B14F-4D97-AF65-F5344CB8AC3E}">
        <p14:creationId xmlns:p14="http://schemas.microsoft.com/office/powerpoint/2010/main" val="2152996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8AF1940-A5D6-4367-9860-5A326FA10E25}"/>
              </a:ext>
            </a:extLst>
          </p:cNvPr>
          <p:cNvPicPr>
            <a:picLocks noChangeAspect="1"/>
          </p:cNvPicPr>
          <p:nvPr/>
        </p:nvPicPr>
        <p:blipFill>
          <a:blip r:embed="rId3"/>
          <a:stretch>
            <a:fillRect/>
          </a:stretch>
        </p:blipFill>
        <p:spPr>
          <a:xfrm>
            <a:off x="611560" y="1592796"/>
            <a:ext cx="8503984" cy="3672408"/>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785652"/>
          </a:xfrm>
          <a:prstGeom prst="rect">
            <a:avLst/>
          </a:prstGeom>
        </p:spPr>
        <p:txBody>
          <a:bodyPr wrap="square">
            <a:spAutoFit/>
          </a:bodyPr>
          <a:lstStyle/>
          <a:p>
            <a:r>
              <a:rPr lang="en-US" altLang="zh-CN" sz="2400" dirty="0"/>
              <a:t>8.1.4 </a:t>
            </a:r>
            <a:r>
              <a:rPr lang="zh-CN" altLang="en-US" sz="2400" dirty="0"/>
              <a:t>复合门</a:t>
            </a:r>
            <a:endParaRPr lang="en-US" altLang="zh-CN" sz="2400" dirty="0"/>
          </a:p>
          <a:p>
            <a:r>
              <a:rPr lang="en-US" altLang="zh-CN" sz="2400" dirty="0"/>
              <a:t>1</a:t>
            </a:r>
            <a:r>
              <a:rPr lang="zh-CN" altLang="en-US" sz="2400" dirty="0"/>
              <a:t>、</a:t>
            </a:r>
            <a:r>
              <a:rPr lang="en-US" altLang="zh-CN" sz="2400" dirty="0"/>
              <a:t>AOI</a:t>
            </a:r>
            <a:r>
              <a:rPr lang="zh-CN" altLang="en-US" sz="2400" dirty="0"/>
              <a:t>门（</a:t>
            </a:r>
            <a:r>
              <a:rPr lang="en-US" altLang="zh-CN" sz="2400" dirty="0"/>
              <a:t>And-Or-Invert</a:t>
            </a:r>
            <a:r>
              <a:rPr lang="zh-CN" altLang="en-US" sz="2400" dirty="0"/>
              <a:t>，与或非）</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p:txBody>
      </p:sp>
      <p:pic>
        <p:nvPicPr>
          <p:cNvPr id="5" name="图片 4">
            <a:extLst>
              <a:ext uri="{FF2B5EF4-FFF2-40B4-BE49-F238E27FC236}">
                <a16:creationId xmlns:a16="http://schemas.microsoft.com/office/drawing/2014/main" id="{2BB6A1C9-BB9C-4E13-97EA-149720A15ED4}"/>
              </a:ext>
            </a:extLst>
          </p:cNvPr>
          <p:cNvPicPr>
            <a:picLocks noChangeAspect="1"/>
          </p:cNvPicPr>
          <p:nvPr/>
        </p:nvPicPr>
        <p:blipFill>
          <a:blip r:embed="rId4"/>
          <a:stretch>
            <a:fillRect/>
          </a:stretch>
        </p:blipFill>
        <p:spPr>
          <a:xfrm>
            <a:off x="611560" y="1700997"/>
            <a:ext cx="2781300" cy="361950"/>
          </a:xfrm>
          <a:prstGeom prst="rect">
            <a:avLst/>
          </a:prstGeom>
        </p:spPr>
      </p:pic>
      <p:sp>
        <p:nvSpPr>
          <p:cNvPr id="8" name="矩形 7">
            <a:extLst>
              <a:ext uri="{FF2B5EF4-FFF2-40B4-BE49-F238E27FC236}">
                <a16:creationId xmlns:a16="http://schemas.microsoft.com/office/drawing/2014/main" id="{9CF6B5A5-E9F0-4EC3-B2E2-2C243FC5C5BA}"/>
              </a:ext>
            </a:extLst>
          </p:cNvPr>
          <p:cNvSpPr/>
          <p:nvPr/>
        </p:nvSpPr>
        <p:spPr>
          <a:xfrm>
            <a:off x="503548" y="5495236"/>
            <a:ext cx="8136904" cy="1200329"/>
          </a:xfrm>
          <a:prstGeom prst="rect">
            <a:avLst/>
          </a:prstGeom>
        </p:spPr>
        <p:txBody>
          <a:bodyPr wrap="square">
            <a:spAutoFit/>
          </a:bodyPr>
          <a:lstStyle/>
          <a:p>
            <a:r>
              <a:rPr lang="zh-CN" altLang="en-US" sz="2400" b="1" dirty="0"/>
              <a:t>定义 8-3 两个晶体管级网络是对偶的当且仅当它们的边有 一一对应关系， 一个网络中的端点到端点的链和另 一个网络中的所有端点到端点的链相交 </a:t>
            </a:r>
          </a:p>
        </p:txBody>
      </p:sp>
    </p:spTree>
    <p:extLst>
      <p:ext uri="{BB962C8B-B14F-4D97-AF65-F5344CB8AC3E}">
        <p14:creationId xmlns:p14="http://schemas.microsoft.com/office/powerpoint/2010/main" val="2697047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7109639"/>
          </a:xfrm>
          <a:prstGeom prst="rect">
            <a:avLst/>
          </a:prstGeom>
        </p:spPr>
        <p:txBody>
          <a:bodyPr wrap="square">
            <a:spAutoFit/>
          </a:bodyPr>
          <a:lstStyle/>
          <a:p>
            <a:r>
              <a:rPr lang="en-US" altLang="zh-CN" sz="2400" dirty="0"/>
              <a:t>8.1.4 </a:t>
            </a:r>
            <a:r>
              <a:rPr lang="zh-CN" altLang="en-US" sz="2400" dirty="0"/>
              <a:t>复合门</a:t>
            </a:r>
            <a:endParaRPr lang="en-US" altLang="zh-CN" sz="2400" dirty="0"/>
          </a:p>
          <a:p>
            <a:pPr marL="342900" indent="-342900">
              <a:buFont typeface="Wingdings" panose="05000000000000000000" pitchFamily="2" charset="2"/>
              <a:buChar char="Ø"/>
            </a:pPr>
            <a:r>
              <a:rPr lang="zh-CN" altLang="en-US" sz="2400" dirty="0"/>
              <a:t>复合门将两个或更多级的逻辑运算结合在一个单元里，增加了版图密度。</a:t>
            </a:r>
            <a:endParaRPr lang="en-US" altLang="zh-CN" sz="2400" dirty="0"/>
          </a:p>
          <a:p>
            <a:pPr marL="342900" indent="-342900">
              <a:buFont typeface="Wingdings" panose="05000000000000000000" pitchFamily="2" charset="2"/>
              <a:buChar char="Ø"/>
            </a:pPr>
            <a:r>
              <a:rPr lang="zh-CN" altLang="en-US" sz="2400" dirty="0"/>
              <a:t>更多的串联晶体管增大了输出节点</a:t>
            </a:r>
            <a:r>
              <a:rPr lang="en-US" altLang="zh-CN" sz="2400" dirty="0"/>
              <a:t>(</a:t>
            </a:r>
            <a:r>
              <a:rPr lang="zh-CN" altLang="en-US" sz="2400" dirty="0"/>
              <a:t>放电</a:t>
            </a:r>
            <a:r>
              <a:rPr lang="en-US" altLang="zh-CN" sz="2400" dirty="0"/>
              <a:t>)</a:t>
            </a:r>
            <a:r>
              <a:rPr lang="zh-CN" altLang="en-US" sz="2400" dirty="0"/>
              <a:t>充电的路径的电阻</a:t>
            </a:r>
            <a:r>
              <a:rPr lang="en-US" altLang="zh-CN" sz="2400" dirty="0"/>
              <a:t>;</a:t>
            </a:r>
          </a:p>
          <a:p>
            <a:pPr marL="342900" indent="-342900">
              <a:buFont typeface="Wingdings" panose="05000000000000000000" pitchFamily="2" charset="2"/>
              <a:buChar char="Ø"/>
            </a:pPr>
            <a:r>
              <a:rPr lang="zh-CN" altLang="en-US" sz="2400" dirty="0"/>
              <a:t>节点电容也会随着单元尺寸的增加而增大。</a:t>
            </a:r>
            <a:endParaRPr lang="en-US" altLang="zh-CN" sz="2400" dirty="0"/>
          </a:p>
          <a:p>
            <a:pPr marL="342900" indent="-342900">
              <a:buFont typeface="Wingdings" panose="05000000000000000000" pitchFamily="2" charset="2"/>
              <a:buChar char="Ø"/>
            </a:pPr>
            <a:r>
              <a:rPr lang="zh-CN" altLang="en-US" sz="2400" dirty="0"/>
              <a:t>下面的表格指出了在不超过规定串联晶体管数量（一般不超过</a:t>
            </a:r>
            <a:r>
              <a:rPr lang="en-US" altLang="zh-CN" sz="2400" dirty="0"/>
              <a:t>3</a:t>
            </a:r>
            <a:r>
              <a:rPr lang="zh-CN" altLang="en-US" sz="2400" dirty="0"/>
              <a:t>）的情况下，能够构建的逻辑门数量 </a:t>
            </a:r>
            <a:endParaRPr lang="en-US" altLang="zh-CN" sz="2400" dirty="0"/>
          </a:p>
          <a:p>
            <a:pPr marL="342900" indent="-342900">
              <a:buFont typeface="Wingdings" panose="05000000000000000000" pitchFamily="2" charset="2"/>
              <a:buChar char="Ø"/>
            </a:pPr>
            <a:r>
              <a:rPr lang="zh-CN" altLang="en-US" sz="2400" dirty="0"/>
              <a:t>复杂组合逻辑分解为更小的子函数</a:t>
            </a:r>
            <a:r>
              <a:rPr lang="en-US" altLang="zh-CN" sz="2400" dirty="0">
                <a:sym typeface="Wingdings" panose="05000000000000000000" pitchFamily="2" charset="2"/>
              </a:rPr>
              <a:t></a:t>
            </a:r>
            <a:r>
              <a:rPr lang="zh-CN" altLang="en-US" sz="2400" dirty="0"/>
              <a:t>简单逻辑门的级联。</a:t>
            </a:r>
            <a:endParaRPr lang="en-US" altLang="zh-CN" sz="2400" dirty="0"/>
          </a:p>
          <a:p>
            <a:pPr marL="342900" indent="-342900">
              <a:buFont typeface="Wingdings" panose="05000000000000000000" pitchFamily="2" charset="2"/>
              <a:buChar char="Ø"/>
            </a:pPr>
            <a:r>
              <a:rPr lang="zh-CN" altLang="en-US" sz="2400" dirty="0"/>
              <a:t>这也同样适用于有 </a:t>
            </a:r>
            <a:r>
              <a:rPr lang="en-US" altLang="zh-CN" sz="2400" dirty="0"/>
              <a:t>4 </a:t>
            </a:r>
            <a:r>
              <a:rPr lang="zh-CN" altLang="en-US" sz="2400" dirty="0"/>
              <a:t>个或更多输入的与非门和或非门。</a:t>
            </a:r>
            <a:endParaRPr lang="en-US" altLang="zh-CN" sz="2400" dirty="0"/>
          </a:p>
          <a:p>
            <a:pPr marL="342900" indent="-342900">
              <a:buFont typeface="Wingdings" panose="05000000000000000000" pitchFamily="2" charset="2"/>
              <a:buChar char="Ø"/>
            </a:pPr>
            <a:r>
              <a:rPr lang="zh-CN" altLang="en-US" sz="2400" dirty="0"/>
              <a:t>超高速电路的设计规则甚至规定不超过两个 </a:t>
            </a:r>
            <a:r>
              <a:rPr lang="en-US" altLang="zh-CN" sz="2400" dirty="0"/>
              <a:t>p </a:t>
            </a:r>
            <a:r>
              <a:rPr lang="zh-CN" altLang="en-US" sz="2400" dirty="0"/>
              <a:t>沟道 </a:t>
            </a:r>
            <a:r>
              <a:rPr lang="en-US" altLang="zh-CN" sz="2400" dirty="0"/>
              <a:t>MOSFET </a:t>
            </a:r>
            <a:r>
              <a:rPr lang="zh-CN" altLang="en-US" sz="2400" dirty="0"/>
              <a:t>串联在一起。</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p:txBody>
      </p:sp>
      <p:pic>
        <p:nvPicPr>
          <p:cNvPr id="4" name="图片 3">
            <a:extLst>
              <a:ext uri="{FF2B5EF4-FFF2-40B4-BE49-F238E27FC236}">
                <a16:creationId xmlns:a16="http://schemas.microsoft.com/office/drawing/2014/main" id="{CC0A6378-5BA7-40B0-B6D3-900A3599522B}"/>
              </a:ext>
            </a:extLst>
          </p:cNvPr>
          <p:cNvPicPr>
            <a:picLocks noChangeAspect="1"/>
          </p:cNvPicPr>
          <p:nvPr/>
        </p:nvPicPr>
        <p:blipFill>
          <a:blip r:embed="rId3"/>
          <a:stretch>
            <a:fillRect/>
          </a:stretch>
        </p:blipFill>
        <p:spPr>
          <a:xfrm>
            <a:off x="2695443" y="4653135"/>
            <a:ext cx="5764989" cy="2084911"/>
          </a:xfrm>
          <a:prstGeom prst="rect">
            <a:avLst/>
          </a:prstGeom>
        </p:spPr>
      </p:pic>
    </p:spTree>
    <p:extLst>
      <p:ext uri="{BB962C8B-B14F-4D97-AF65-F5344CB8AC3E}">
        <p14:creationId xmlns:p14="http://schemas.microsoft.com/office/powerpoint/2010/main" val="2802287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8.1 CMOS</a:t>
            </a:r>
            <a:r>
              <a:rPr lang="zh-CN" altLang="en-US" sz="3200" dirty="0"/>
              <a:t>逻辑门</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7109639"/>
          </a:xfrm>
          <a:prstGeom prst="rect">
            <a:avLst/>
          </a:prstGeom>
        </p:spPr>
        <p:txBody>
          <a:bodyPr wrap="square">
            <a:spAutoFit/>
          </a:bodyPr>
          <a:lstStyle/>
          <a:p>
            <a:r>
              <a:rPr lang="en-US" altLang="zh-CN" sz="2400" dirty="0"/>
              <a:t>8.1.5</a:t>
            </a:r>
            <a:r>
              <a:rPr lang="zh-CN" altLang="en-US" sz="2400" dirty="0"/>
              <a:t>有高阻抗能力的门电路</a:t>
            </a:r>
            <a:endParaRPr lang="en-US" altLang="zh-CN" sz="2400" dirty="0"/>
          </a:p>
          <a:p>
            <a:r>
              <a:rPr lang="en-US" altLang="zh-CN" sz="2400" dirty="0"/>
              <a:t>1</a:t>
            </a:r>
            <a:r>
              <a:rPr lang="zh-CN" altLang="en-US" sz="2400" dirty="0"/>
              <a:t>、传输门</a:t>
            </a:r>
            <a:endParaRPr lang="en-US" altLang="zh-CN" sz="2400" dirty="0"/>
          </a:p>
          <a:p>
            <a:r>
              <a:rPr lang="zh-CN" altLang="en-US" sz="2400" dirty="0"/>
              <a:t>一个传输门有两个数据端口，由一对互补的 </a:t>
            </a:r>
            <a:r>
              <a:rPr lang="en-US" altLang="zh-CN" sz="2400" dirty="0"/>
              <a:t>MOSFET</a:t>
            </a:r>
            <a:r>
              <a:rPr lang="zh-CN" altLang="en-US" sz="2400" dirty="0"/>
              <a:t>互</a:t>
            </a:r>
          </a:p>
          <a:p>
            <a:r>
              <a:rPr lang="zh-CN" altLang="en-US" sz="2400" dirty="0"/>
              <a:t>连。</a:t>
            </a:r>
            <a:endParaRPr lang="en-US" altLang="zh-CN" sz="2400" dirty="0"/>
          </a:p>
          <a:p>
            <a:r>
              <a:rPr lang="zh-CN" altLang="en-US" sz="2400" dirty="0"/>
              <a:t>有相反电压</a:t>
            </a:r>
            <a:r>
              <a:rPr lang="en-US" altLang="zh-CN" sz="2400" dirty="0"/>
              <a:t>0 ≤ </a:t>
            </a:r>
            <a:r>
              <a:rPr lang="en-US" altLang="zh-CN" sz="2400" dirty="0" err="1"/>
              <a:t>U</a:t>
            </a:r>
            <a:r>
              <a:rPr lang="en-US" altLang="zh-CN" sz="2400" baseline="-25000" dirty="0" err="1"/>
              <a:t>ena</a:t>
            </a:r>
            <a:r>
              <a:rPr lang="en-US" altLang="zh-CN" sz="2400" dirty="0"/>
              <a:t> ≤ </a:t>
            </a:r>
            <a:r>
              <a:rPr lang="en-US" altLang="zh-CN" sz="2400" dirty="0" err="1"/>
              <a:t>U</a:t>
            </a:r>
            <a:r>
              <a:rPr lang="en-US" altLang="zh-CN" sz="2400" baseline="-25000" dirty="0" err="1"/>
              <a:t>dd</a:t>
            </a:r>
            <a:r>
              <a:rPr lang="en-US" altLang="zh-CN" sz="2400" dirty="0"/>
              <a:t> </a:t>
            </a:r>
            <a:r>
              <a:rPr lang="zh-CN" altLang="en-US" sz="2400" dirty="0"/>
              <a:t>和 </a:t>
            </a:r>
            <a:r>
              <a:rPr lang="en-US" altLang="zh-CN" sz="2400" dirty="0" err="1"/>
              <a:t>U</a:t>
            </a:r>
            <a:r>
              <a:rPr lang="en-US" altLang="zh-CN" sz="2400" baseline="-25000" dirty="0" err="1"/>
              <a:t>dd</a:t>
            </a:r>
            <a:r>
              <a:rPr lang="en-US" altLang="zh-CN" sz="2400" dirty="0"/>
              <a:t> - </a:t>
            </a:r>
            <a:r>
              <a:rPr lang="en-US" altLang="zh-CN" sz="2400" dirty="0" err="1"/>
              <a:t>U</a:t>
            </a:r>
            <a:r>
              <a:rPr lang="en-US" altLang="zh-CN" sz="2400" baseline="-25000" dirty="0" err="1"/>
              <a:t>ena</a:t>
            </a:r>
            <a:r>
              <a:rPr lang="zh-CN" altLang="en-US" sz="2400" dirty="0"/>
              <a:t>的两个信号加到 </a:t>
            </a:r>
            <a:r>
              <a:rPr lang="en-US" altLang="zh-CN" sz="2400" dirty="0"/>
              <a:t>MOSFET </a:t>
            </a:r>
            <a:r>
              <a:rPr lang="zh-CN" altLang="en-US" sz="2400" dirty="0"/>
              <a:t>的栅电极，控制两个数据接口之间电路的导通。</a:t>
            </a:r>
            <a:endParaRPr lang="en-US" altLang="zh-CN" sz="2400" dirty="0"/>
          </a:p>
          <a:p>
            <a:endParaRPr lang="en-US" altLang="zh-CN" sz="2400" dirty="0"/>
          </a:p>
          <a:p>
            <a:r>
              <a:rPr lang="zh-CN" altLang="en-US" sz="2400" dirty="0"/>
              <a:t>传输门没有地和电源端口，因此它既不能放大电压，也不能恢复电平，这与到目前为止介绍的所有其他逻辑门不同。</a:t>
            </a:r>
            <a:endParaRPr lang="en-US" altLang="zh-CN" sz="2400" dirty="0"/>
          </a:p>
          <a:p>
            <a:endParaRPr lang="zh-CN" altLang="en-US" sz="2400" dirty="0"/>
          </a:p>
          <a:p>
            <a:r>
              <a:rPr lang="zh-CN" altLang="en-US" sz="2400" dirty="0"/>
              <a:t>由于这两个数据端口是完全可以互换的，因此就既没有输入端也没有输出端。</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p:txBody>
      </p:sp>
      <p:pic>
        <p:nvPicPr>
          <p:cNvPr id="5" name="图片 4">
            <a:extLst>
              <a:ext uri="{FF2B5EF4-FFF2-40B4-BE49-F238E27FC236}">
                <a16:creationId xmlns:a16="http://schemas.microsoft.com/office/drawing/2014/main" id="{59C94D94-8689-4443-A7A0-095F4A64D444}"/>
              </a:ext>
            </a:extLst>
          </p:cNvPr>
          <p:cNvPicPr>
            <a:picLocks noChangeAspect="1"/>
          </p:cNvPicPr>
          <p:nvPr/>
        </p:nvPicPr>
        <p:blipFill>
          <a:blip r:embed="rId3"/>
          <a:stretch>
            <a:fillRect/>
          </a:stretch>
        </p:blipFill>
        <p:spPr>
          <a:xfrm>
            <a:off x="2391890" y="4832848"/>
            <a:ext cx="5792291" cy="1908520"/>
          </a:xfrm>
          <a:prstGeom prst="rect">
            <a:avLst/>
          </a:prstGeom>
        </p:spPr>
      </p:pic>
    </p:spTree>
    <p:extLst>
      <p:ext uri="{BB962C8B-B14F-4D97-AF65-F5344CB8AC3E}">
        <p14:creationId xmlns:p14="http://schemas.microsoft.com/office/powerpoint/2010/main" val="4171471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61844-F733-41EB-A09F-64BB9880402B}"/>
              </a:ext>
            </a:extLst>
          </p:cNvPr>
          <p:cNvSpPr>
            <a:spLocks noGrp="1"/>
          </p:cNvSpPr>
          <p:nvPr>
            <p:ph type="title"/>
          </p:nvPr>
        </p:nvSpPr>
        <p:spPr/>
        <p:txBody>
          <a:bodyPr/>
          <a:lstStyle/>
          <a:p>
            <a:r>
              <a:rPr lang="en-US" altLang="zh-CN" dirty="0"/>
              <a:t>8.1 CMOS</a:t>
            </a:r>
            <a:r>
              <a:rPr lang="zh-CN" altLang="en-US" dirty="0"/>
              <a:t>逻辑门</a:t>
            </a:r>
          </a:p>
        </p:txBody>
      </p:sp>
      <p:pic>
        <p:nvPicPr>
          <p:cNvPr id="4" name="图片 3">
            <a:extLst>
              <a:ext uri="{FF2B5EF4-FFF2-40B4-BE49-F238E27FC236}">
                <a16:creationId xmlns:a16="http://schemas.microsoft.com/office/drawing/2014/main" id="{E94AD5EE-D1DC-4B66-8944-AE8A15428D12}"/>
              </a:ext>
            </a:extLst>
          </p:cNvPr>
          <p:cNvPicPr>
            <a:picLocks noChangeAspect="1"/>
          </p:cNvPicPr>
          <p:nvPr/>
        </p:nvPicPr>
        <p:blipFill>
          <a:blip r:embed="rId2"/>
          <a:stretch>
            <a:fillRect/>
          </a:stretch>
        </p:blipFill>
        <p:spPr>
          <a:xfrm>
            <a:off x="280987" y="1484784"/>
            <a:ext cx="8582025" cy="5248275"/>
          </a:xfrm>
          <a:prstGeom prst="rect">
            <a:avLst/>
          </a:prstGeom>
        </p:spPr>
      </p:pic>
    </p:spTree>
    <p:extLst>
      <p:ext uri="{BB962C8B-B14F-4D97-AF65-F5344CB8AC3E}">
        <p14:creationId xmlns:p14="http://schemas.microsoft.com/office/powerpoint/2010/main" val="1417491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5262979"/>
          </a:xfrm>
          <a:prstGeom prst="rect">
            <a:avLst/>
          </a:prstGeom>
        </p:spPr>
        <p:txBody>
          <a:bodyPr wrap="square">
            <a:spAutoFit/>
          </a:bodyPr>
          <a:lstStyle/>
          <a:p>
            <a:r>
              <a:rPr lang="zh-CN" altLang="en-US" sz="2400" dirty="0"/>
              <a:t>倘若电源电压一直保持有效，存储单元能够无限期地维持它的当前状态，那么就说它是静态的。 </a:t>
            </a:r>
            <a:endParaRPr lang="en-US" altLang="zh-CN" sz="2400" dirty="0"/>
          </a:p>
          <a:p>
            <a:r>
              <a:rPr lang="zh-CN" altLang="en-US" sz="2400" dirty="0"/>
              <a:t>静态存储电路需要有一个局部的反馈回路。 </a:t>
            </a:r>
            <a:endParaRPr lang="en-US" altLang="zh-CN" sz="2400" dirty="0"/>
          </a:p>
          <a:p>
            <a:r>
              <a:rPr lang="zh-CN" altLang="en-US" sz="2400" dirty="0"/>
              <a:t>动态存储器是以一个电容上存在或不存在电荷来反映当前的状态。</a:t>
            </a:r>
          </a:p>
          <a:p>
            <a:endParaRPr lang="en-US" altLang="zh-CN" sz="2400" dirty="0"/>
          </a:p>
          <a:p>
            <a:r>
              <a:rPr lang="en-US" altLang="zh-CN" sz="2400" dirty="0"/>
              <a:t>8.2.1</a:t>
            </a:r>
            <a:r>
              <a:rPr lang="zh-CN" altLang="en-US" sz="2400" dirty="0"/>
              <a:t>锁存器</a:t>
            </a:r>
            <a:endParaRPr lang="en-US" altLang="zh-CN" sz="2400" dirty="0"/>
          </a:p>
          <a:p>
            <a:endParaRPr lang="en-US" altLang="zh-CN" sz="2400" dirty="0"/>
          </a:p>
          <a:p>
            <a:r>
              <a:rPr lang="zh-CN" altLang="en-US" sz="2400" dirty="0"/>
              <a:t>将两个反相逻辑门连接起来形成 一个正的反馈回路，就得到了双稳态电路的行为，两个平衡稳定状态自然地对应着两个存储状态。</a:t>
            </a:r>
            <a:endParaRPr lang="en-US" altLang="zh-CN" sz="2400" dirty="0"/>
          </a:p>
          <a:p>
            <a:endParaRPr lang="en-US" altLang="zh-CN" sz="2400" dirty="0"/>
          </a:p>
          <a:p>
            <a:r>
              <a:rPr lang="zh-CN" altLang="en-US" sz="2400" dirty="0"/>
              <a:t>有某个机制能临时终止或优先于反馈，从而使当前的输入能够决定循环回路的所有电路节点的状态。</a:t>
            </a:r>
            <a:endParaRPr lang="en-US" altLang="zh-CN" sz="2400" dirty="0"/>
          </a:p>
        </p:txBody>
      </p:sp>
    </p:spTree>
    <p:extLst>
      <p:ext uri="{BB962C8B-B14F-4D97-AF65-F5344CB8AC3E}">
        <p14:creationId xmlns:p14="http://schemas.microsoft.com/office/powerpoint/2010/main" val="1174982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416320"/>
          </a:xfrm>
          <a:prstGeom prst="rect">
            <a:avLst/>
          </a:prstGeom>
        </p:spPr>
        <p:txBody>
          <a:bodyPr wrap="square">
            <a:spAutoFit/>
          </a:bodyPr>
          <a:lstStyle/>
          <a:p>
            <a:r>
              <a:rPr lang="en-US" altLang="zh-CN" sz="2400" dirty="0"/>
              <a:t>8.2.1</a:t>
            </a:r>
            <a:r>
              <a:rPr lang="zh-CN" altLang="en-US" sz="2400" dirty="0"/>
              <a:t>锁存器</a:t>
            </a:r>
            <a:endParaRPr lang="en-US" altLang="zh-CN" sz="2400" dirty="0"/>
          </a:p>
          <a:p>
            <a:endParaRPr lang="en-US" altLang="zh-CN" sz="2400" dirty="0"/>
          </a:p>
          <a:p>
            <a:pPr marL="342900" indent="-342900">
              <a:buFont typeface="Wingdings" panose="05000000000000000000" pitchFamily="2" charset="2"/>
              <a:buChar char="Ø"/>
            </a:pPr>
            <a:r>
              <a:rPr lang="zh-CN" altLang="en-US" sz="2400" dirty="0"/>
              <a:t>开关存储回路</a:t>
            </a:r>
          </a:p>
          <a:p>
            <a:r>
              <a:rPr lang="zh-CN" altLang="en-US" sz="2400" dirty="0"/>
              <a:t>在时钟的控制下中断反馈。</a:t>
            </a:r>
            <a:endParaRPr lang="en-US" altLang="zh-CN" sz="2400" dirty="0"/>
          </a:p>
          <a:p>
            <a:r>
              <a:rPr lang="zh-CN" altLang="en-US" sz="2400" dirty="0"/>
              <a:t>当 </a:t>
            </a:r>
            <a:r>
              <a:rPr lang="en-US" altLang="zh-CN" sz="2400" dirty="0"/>
              <a:t>CLK=1 </a:t>
            </a:r>
            <a:r>
              <a:rPr lang="zh-CN" altLang="en-US" sz="2400" dirty="0"/>
              <a:t>时，两个互补的传输门断开循环回路，允许数据端口 </a:t>
            </a:r>
            <a:r>
              <a:rPr lang="en-US" altLang="zh-CN" sz="2400" dirty="0"/>
              <a:t>D </a:t>
            </a:r>
            <a:r>
              <a:rPr lang="zh-CN" altLang="en-US" sz="2400" dirty="0"/>
              <a:t>的电压进入循环。</a:t>
            </a:r>
            <a:endParaRPr lang="en-US" altLang="zh-CN" sz="2400" dirty="0"/>
          </a:p>
          <a:p>
            <a:r>
              <a:rPr lang="zh-CN" altLang="en-US" sz="2400" dirty="0"/>
              <a:t>当 </a:t>
            </a:r>
            <a:r>
              <a:rPr lang="en-US" altLang="zh-CN" sz="2400" dirty="0"/>
              <a:t>CLK=O </a:t>
            </a:r>
            <a:r>
              <a:rPr lang="zh-CN" altLang="en-US" sz="2400" dirty="0"/>
              <a:t>时，反馈循环被闭合并把输入关在外面。 </a:t>
            </a:r>
            <a:endParaRPr lang="en-US" altLang="zh-CN" sz="2400" dirty="0"/>
          </a:p>
          <a:p>
            <a:r>
              <a:rPr lang="zh-CN" altLang="en-US" sz="2400" dirty="0"/>
              <a:t>下图就是一个 </a:t>
            </a:r>
            <a:r>
              <a:rPr lang="en-US" altLang="zh-CN" sz="2400" dirty="0"/>
              <a:t>(</a:t>
            </a:r>
            <a:r>
              <a:rPr lang="zh-CN" altLang="en-US" sz="2400" dirty="0"/>
              <a:t>电平敏感的</a:t>
            </a:r>
            <a:r>
              <a:rPr lang="en-US" altLang="zh-CN" sz="2400" dirty="0"/>
              <a:t>)</a:t>
            </a:r>
            <a:r>
              <a:rPr lang="zh-CN" altLang="en-US" sz="2400" dirty="0"/>
              <a:t>锁存器。</a:t>
            </a:r>
            <a:endParaRPr lang="en-US" altLang="zh-CN" sz="2400" dirty="0"/>
          </a:p>
          <a:p>
            <a:endParaRPr lang="en-US" altLang="zh-CN" sz="2400" dirty="0"/>
          </a:p>
        </p:txBody>
      </p:sp>
      <p:pic>
        <p:nvPicPr>
          <p:cNvPr id="4" name="图片 3">
            <a:extLst>
              <a:ext uri="{FF2B5EF4-FFF2-40B4-BE49-F238E27FC236}">
                <a16:creationId xmlns:a16="http://schemas.microsoft.com/office/drawing/2014/main" id="{5D8AF88E-57CF-4F5C-BCFD-49A556971A37}"/>
              </a:ext>
            </a:extLst>
          </p:cNvPr>
          <p:cNvPicPr>
            <a:picLocks noChangeAspect="1"/>
          </p:cNvPicPr>
          <p:nvPr/>
        </p:nvPicPr>
        <p:blipFill>
          <a:blip r:embed="rId3"/>
          <a:stretch>
            <a:fillRect/>
          </a:stretch>
        </p:blipFill>
        <p:spPr>
          <a:xfrm>
            <a:off x="3275856" y="3833685"/>
            <a:ext cx="5752062" cy="2722169"/>
          </a:xfrm>
          <a:prstGeom prst="rect">
            <a:avLst/>
          </a:prstGeom>
        </p:spPr>
      </p:pic>
    </p:spTree>
    <p:extLst>
      <p:ext uri="{BB962C8B-B14F-4D97-AF65-F5344CB8AC3E}">
        <p14:creationId xmlns:p14="http://schemas.microsoft.com/office/powerpoint/2010/main" val="685765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046988"/>
          </a:xfrm>
          <a:prstGeom prst="rect">
            <a:avLst/>
          </a:prstGeom>
        </p:spPr>
        <p:txBody>
          <a:bodyPr wrap="square">
            <a:spAutoFit/>
          </a:bodyPr>
          <a:lstStyle/>
          <a:p>
            <a:r>
              <a:rPr lang="en-US" altLang="zh-CN" sz="2400" dirty="0"/>
              <a:t>8.2.1</a:t>
            </a:r>
            <a:r>
              <a:rPr lang="zh-CN" altLang="en-US" sz="2400" dirty="0"/>
              <a:t>锁存器</a:t>
            </a:r>
            <a:endParaRPr lang="en-US" altLang="zh-CN" sz="2400" dirty="0"/>
          </a:p>
          <a:p>
            <a:endParaRPr lang="en-US" altLang="zh-CN" sz="2400" dirty="0"/>
          </a:p>
          <a:p>
            <a:pPr marL="342900" indent="-342900">
              <a:buFont typeface="Wingdings" panose="05000000000000000000" pitchFamily="2" charset="2"/>
              <a:buChar char="Ø"/>
            </a:pPr>
            <a:r>
              <a:rPr lang="zh-CN" altLang="en-US" sz="2400" dirty="0"/>
              <a:t>强制改变存储回路</a:t>
            </a:r>
          </a:p>
          <a:p>
            <a:r>
              <a:rPr lang="zh-CN" altLang="en-US" sz="2400" dirty="0"/>
              <a:t>通过去掉后向传输门，取而代之的是晶体管的尺寸被制定的使后向反相器非常弱，每当要存储 一个新的数据项时，它就很容易被前向路径的受控缓冲器重写。（有比逻辑）</a:t>
            </a:r>
            <a:endParaRPr lang="en-US" altLang="zh-CN" sz="2400" dirty="0"/>
          </a:p>
          <a:p>
            <a:r>
              <a:rPr lang="zh-CN" altLang="en-US" sz="2400" dirty="0"/>
              <a:t>很弱的后向反相器有时候也被称为细流反相器。</a:t>
            </a:r>
            <a:endParaRPr lang="en-US" altLang="zh-CN" sz="2400" dirty="0"/>
          </a:p>
          <a:p>
            <a:r>
              <a:rPr lang="zh-CN" altLang="en-US" sz="2400" dirty="0"/>
              <a:t>与开关法相比，强制改变法减少了晶体管的数量和时钟负载。</a:t>
            </a:r>
            <a:endParaRPr lang="en-US" altLang="zh-CN" sz="2400" dirty="0"/>
          </a:p>
        </p:txBody>
      </p:sp>
      <p:pic>
        <p:nvPicPr>
          <p:cNvPr id="5" name="图片 4">
            <a:extLst>
              <a:ext uri="{FF2B5EF4-FFF2-40B4-BE49-F238E27FC236}">
                <a16:creationId xmlns:a16="http://schemas.microsoft.com/office/drawing/2014/main" id="{D96B4C33-E9E5-4E83-968A-93EDFA56C456}"/>
              </a:ext>
            </a:extLst>
          </p:cNvPr>
          <p:cNvPicPr>
            <a:picLocks noChangeAspect="1"/>
          </p:cNvPicPr>
          <p:nvPr/>
        </p:nvPicPr>
        <p:blipFill>
          <a:blip r:embed="rId3"/>
          <a:stretch>
            <a:fillRect/>
          </a:stretch>
        </p:blipFill>
        <p:spPr>
          <a:xfrm>
            <a:off x="3059832" y="3782437"/>
            <a:ext cx="4533548" cy="2637908"/>
          </a:xfrm>
          <a:prstGeom prst="rect">
            <a:avLst/>
          </a:prstGeom>
        </p:spPr>
      </p:pic>
    </p:spTree>
    <p:extLst>
      <p:ext uri="{BB962C8B-B14F-4D97-AF65-F5344CB8AC3E}">
        <p14:creationId xmlns:p14="http://schemas.microsoft.com/office/powerpoint/2010/main" val="1046113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046988"/>
          </a:xfrm>
          <a:prstGeom prst="rect">
            <a:avLst/>
          </a:prstGeom>
        </p:spPr>
        <p:txBody>
          <a:bodyPr wrap="square">
            <a:spAutoFit/>
          </a:bodyPr>
          <a:lstStyle/>
          <a:p>
            <a:r>
              <a:rPr lang="en-US" altLang="zh-CN" sz="2400" dirty="0"/>
              <a:t>8.2.1</a:t>
            </a:r>
            <a:r>
              <a:rPr lang="zh-CN" altLang="en-US" sz="2400" dirty="0"/>
              <a:t>锁存器</a:t>
            </a:r>
            <a:endParaRPr lang="en-US" altLang="zh-CN" sz="2400" dirty="0"/>
          </a:p>
          <a:p>
            <a:pPr marL="342900" indent="-342900">
              <a:buFont typeface="Wingdings" panose="05000000000000000000" pitchFamily="2" charset="2"/>
              <a:buChar char="Ø"/>
            </a:pPr>
            <a:r>
              <a:rPr lang="zh-CN" altLang="en-US" sz="2400" dirty="0"/>
              <a:t>框型锁存器</a:t>
            </a:r>
          </a:p>
          <a:p>
            <a:r>
              <a:rPr lang="zh-CN" altLang="en-US" sz="2400" dirty="0"/>
              <a:t>工作方式也是通过强制改变两个交叉连接的反相器的存储回路来引进新数据。 </a:t>
            </a:r>
            <a:endParaRPr lang="en-US" altLang="zh-CN" sz="2400" dirty="0"/>
          </a:p>
          <a:p>
            <a:r>
              <a:rPr lang="zh-CN" altLang="en-US" sz="2400" dirty="0"/>
              <a:t>当 </a:t>
            </a:r>
            <a:r>
              <a:rPr lang="en-US" altLang="zh-CN" sz="2400" dirty="0"/>
              <a:t>CLK=1 </a:t>
            </a:r>
            <a:r>
              <a:rPr lang="zh-CN" altLang="en-US" sz="2400" dirty="0"/>
              <a:t>时，借助 </a:t>
            </a:r>
            <a:r>
              <a:rPr lang="en-US" altLang="zh-CN" sz="2400" dirty="0"/>
              <a:t>4</a:t>
            </a:r>
            <a:r>
              <a:rPr lang="zh-CN" altLang="en-US" sz="2400" dirty="0"/>
              <a:t>个 </a:t>
            </a:r>
            <a:r>
              <a:rPr lang="en-US" altLang="zh-CN" sz="2400" dirty="0"/>
              <a:t>n </a:t>
            </a:r>
            <a:r>
              <a:rPr lang="zh-CN" altLang="en-US" sz="2400" dirty="0"/>
              <a:t>沟道 </a:t>
            </a:r>
            <a:r>
              <a:rPr lang="en-US" altLang="zh-CN" sz="2400" dirty="0"/>
              <a:t>MOSFET </a:t>
            </a:r>
            <a:r>
              <a:rPr lang="zh-CN" altLang="en-US" sz="2400" dirty="0"/>
              <a:t>有选择地把回路的 一端或另一端下拉到地。这个电 路显然是有比的，然而只有 </a:t>
            </a:r>
            <a:r>
              <a:rPr lang="en-US" altLang="zh-CN" sz="2400" dirty="0"/>
              <a:t>n </a:t>
            </a:r>
            <a:r>
              <a:rPr lang="zh-CN" altLang="en-US" sz="2400" dirty="0"/>
              <a:t>均道网络而没有对应的 </a:t>
            </a:r>
            <a:r>
              <a:rPr lang="en-US" altLang="zh-CN" sz="2400" dirty="0"/>
              <a:t>p </a:t>
            </a:r>
            <a:r>
              <a:rPr lang="zh-CN" altLang="en-US" sz="2400" dirty="0"/>
              <a:t>沟道网络是通常的 </a:t>
            </a:r>
            <a:r>
              <a:rPr lang="en-US" altLang="zh-CN" sz="2400" dirty="0"/>
              <a:t>CMOS </a:t>
            </a:r>
            <a:r>
              <a:rPr lang="zh-CN" altLang="en-US" sz="2400" dirty="0"/>
              <a:t>电路风格的另一个显著区别。</a:t>
            </a:r>
            <a:endParaRPr lang="en-US" altLang="zh-CN" sz="2400" dirty="0"/>
          </a:p>
        </p:txBody>
      </p:sp>
      <p:pic>
        <p:nvPicPr>
          <p:cNvPr id="4" name="图片 3">
            <a:extLst>
              <a:ext uri="{FF2B5EF4-FFF2-40B4-BE49-F238E27FC236}">
                <a16:creationId xmlns:a16="http://schemas.microsoft.com/office/drawing/2014/main" id="{F27498A9-5F15-46DA-A40E-321E99ABB3DB}"/>
              </a:ext>
            </a:extLst>
          </p:cNvPr>
          <p:cNvPicPr>
            <a:picLocks noChangeAspect="1"/>
          </p:cNvPicPr>
          <p:nvPr/>
        </p:nvPicPr>
        <p:blipFill>
          <a:blip r:embed="rId3"/>
          <a:stretch>
            <a:fillRect/>
          </a:stretch>
        </p:blipFill>
        <p:spPr>
          <a:xfrm>
            <a:off x="5076056" y="3270076"/>
            <a:ext cx="3524250" cy="3543300"/>
          </a:xfrm>
          <a:prstGeom prst="rect">
            <a:avLst/>
          </a:prstGeom>
        </p:spPr>
      </p:pic>
    </p:spTree>
    <p:extLst>
      <p:ext uri="{BB962C8B-B14F-4D97-AF65-F5344CB8AC3E}">
        <p14:creationId xmlns:p14="http://schemas.microsoft.com/office/powerpoint/2010/main" val="653717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5262979"/>
          </a:xfrm>
          <a:prstGeom prst="rect">
            <a:avLst/>
          </a:prstGeom>
        </p:spPr>
        <p:txBody>
          <a:bodyPr wrap="square">
            <a:spAutoFit/>
          </a:bodyPr>
          <a:lstStyle/>
          <a:p>
            <a:r>
              <a:rPr lang="en-US" altLang="zh-CN" sz="2400" dirty="0"/>
              <a:t>8.2.1</a:t>
            </a:r>
            <a:r>
              <a:rPr lang="zh-CN" altLang="en-US" sz="2400" dirty="0"/>
              <a:t>锁存器</a:t>
            </a:r>
            <a:endParaRPr lang="en-US" altLang="zh-CN" sz="2400" dirty="0"/>
          </a:p>
          <a:p>
            <a:pPr marL="342900" indent="-342900">
              <a:buFont typeface="Wingdings" panose="05000000000000000000" pitchFamily="2" charset="2"/>
              <a:buChar char="Ø"/>
            </a:pPr>
            <a:r>
              <a:rPr lang="zh-CN" altLang="en-US" sz="2400" dirty="0"/>
              <a:t>周期性供电的存储回路</a:t>
            </a:r>
          </a:p>
          <a:p>
            <a:r>
              <a:rPr lang="zh-CN" altLang="en-US" sz="2400" dirty="0"/>
              <a:t>断开存储回路的电源来接收新的数据项，当锁存器要维持它的 状态时再之后再重新加电。</a:t>
            </a:r>
            <a:endParaRPr lang="en-US" altLang="zh-CN" sz="2400" dirty="0"/>
          </a:p>
          <a:p>
            <a:endParaRPr lang="en-US" altLang="zh-CN" sz="2400" dirty="0"/>
          </a:p>
          <a:p>
            <a:pPr marL="342900" indent="-342900">
              <a:buFont typeface="Wingdings" panose="05000000000000000000" pitchFamily="2" charset="2"/>
              <a:buChar char="Ø"/>
            </a:pPr>
            <a:r>
              <a:rPr lang="zh-CN" altLang="en-US" sz="2400" dirty="0"/>
              <a:t>输入门控的秋千</a:t>
            </a:r>
          </a:p>
          <a:p>
            <a:r>
              <a:rPr lang="zh-CN" altLang="en-US" sz="2400" dirty="0"/>
              <a:t>存储回路使用交叉连接成秋千结构的与非门。没有强制改变，在输入时钟  </a:t>
            </a:r>
            <a:r>
              <a:rPr lang="en-US" altLang="zh-CN" sz="2400" dirty="0"/>
              <a:t>CLK </a:t>
            </a:r>
            <a:r>
              <a:rPr lang="zh-CN" altLang="en-US" sz="2400" dirty="0"/>
              <a:t>的控制下，</a:t>
            </a:r>
            <a:r>
              <a:rPr lang="en-US" altLang="zh-CN" sz="2400" dirty="0"/>
              <a:t>3</a:t>
            </a:r>
            <a:r>
              <a:rPr lang="zh-CN" altLang="en-US" sz="2400" dirty="0"/>
              <a:t>个更多的逻辑门把秋千在存储状态和</a:t>
            </a:r>
            <a:r>
              <a:rPr lang="en-US" altLang="zh-CN" sz="2400" dirty="0"/>
              <a:t>"</a:t>
            </a:r>
            <a:r>
              <a:rPr lang="zh-CN" altLang="en-US" sz="2400" dirty="0"/>
              <a:t>置位</a:t>
            </a:r>
            <a:r>
              <a:rPr lang="en-US" altLang="zh-CN" sz="2400" dirty="0"/>
              <a:t>"</a:t>
            </a:r>
            <a:r>
              <a:rPr lang="zh-CN" altLang="en-US" sz="2400" dirty="0"/>
              <a:t>与</a:t>
            </a:r>
            <a:r>
              <a:rPr lang="en-US" altLang="zh-CN" sz="2400" dirty="0"/>
              <a:t>"</a:t>
            </a:r>
            <a:r>
              <a:rPr lang="zh-CN" altLang="en-US" sz="2400" dirty="0"/>
              <a:t>复位</a:t>
            </a:r>
            <a:r>
              <a:rPr lang="en-US" altLang="zh-CN" sz="2400" dirty="0"/>
              <a:t>"</a:t>
            </a:r>
            <a:r>
              <a:rPr lang="zh-CN" altLang="en-US" sz="2400" dirty="0"/>
              <a:t>状态之间来回翻转。</a:t>
            </a:r>
            <a:endParaRPr lang="en-US" altLang="zh-CN" sz="2400" dirty="0"/>
          </a:p>
          <a:p>
            <a:r>
              <a:rPr lang="zh-CN" altLang="en-US" sz="2400" dirty="0"/>
              <a:t>注：与之前介绍的设计相比，这个设计的缺点是更高的晶体管数量、更大的寄生电容和较差 的环路增益，以及更慢的速度。它曾经在没有传输门和钟控反相器的</a:t>
            </a:r>
            <a:r>
              <a:rPr lang="en-US" altLang="zh-CN" sz="2400" dirty="0"/>
              <a:t>TTL</a:t>
            </a:r>
            <a:r>
              <a:rPr lang="zh-CN" altLang="en-US" sz="2400" dirty="0"/>
              <a:t>电路里很流行。</a:t>
            </a:r>
          </a:p>
          <a:p>
            <a:endParaRPr lang="en-US" altLang="zh-CN" sz="2400" dirty="0"/>
          </a:p>
          <a:p>
            <a:endParaRPr lang="en-US" altLang="zh-CN" sz="2400" dirty="0"/>
          </a:p>
        </p:txBody>
      </p:sp>
    </p:spTree>
    <p:extLst>
      <p:ext uri="{BB962C8B-B14F-4D97-AF65-F5344CB8AC3E}">
        <p14:creationId xmlns:p14="http://schemas.microsoft.com/office/powerpoint/2010/main" val="145149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046988"/>
          </a:xfrm>
          <a:prstGeom prst="rect">
            <a:avLst/>
          </a:prstGeom>
        </p:spPr>
        <p:txBody>
          <a:bodyPr wrap="square">
            <a:spAutoFit/>
          </a:bodyPr>
          <a:lstStyle/>
          <a:p>
            <a:r>
              <a:rPr lang="en-US" altLang="zh-CN" sz="2400" dirty="0"/>
              <a:t>8.2.2</a:t>
            </a:r>
            <a:r>
              <a:rPr lang="zh-CN" altLang="en-US" sz="2400" dirty="0"/>
              <a:t>功能锁存器</a:t>
            </a:r>
            <a:endParaRPr lang="en-US" altLang="zh-CN" sz="2400" dirty="0"/>
          </a:p>
          <a:p>
            <a:r>
              <a:rPr lang="zh-CN" altLang="en-US" sz="2400" dirty="0"/>
              <a:t>图  </a:t>
            </a:r>
            <a:r>
              <a:rPr lang="en-US" altLang="zh-CN" sz="2400" dirty="0"/>
              <a:t>8-21a </a:t>
            </a:r>
            <a:r>
              <a:rPr lang="zh-CN" altLang="en-US" sz="2400" dirty="0"/>
              <a:t>有</a:t>
            </a:r>
            <a:r>
              <a:rPr lang="en-US" altLang="zh-CN" sz="2400" dirty="0"/>
              <a:t>3 </a:t>
            </a:r>
            <a:r>
              <a:rPr lang="zh-CN" altLang="en-US" sz="2400" dirty="0"/>
              <a:t>个逻辑门延时累加，将与非运算嵌入在锁存器里就去掉了两个反相器，连同它们的节点电容和交变电流，用在低功耗设计里。</a:t>
            </a:r>
            <a:endParaRPr lang="en-US" altLang="zh-CN" sz="2400" dirty="0"/>
          </a:p>
          <a:p>
            <a:r>
              <a:rPr lang="zh-CN" altLang="en-US" sz="2400" dirty="0"/>
              <a:t>将几个门延时压缩成一个虽然比单个更大的延时会有好处，单个延时要小于它们的和。</a:t>
            </a:r>
          </a:p>
          <a:p>
            <a:endParaRPr lang="en-US" altLang="zh-CN" sz="2400" dirty="0"/>
          </a:p>
          <a:p>
            <a:endParaRPr lang="en-US" altLang="zh-CN" sz="2400" dirty="0"/>
          </a:p>
        </p:txBody>
      </p:sp>
      <p:pic>
        <p:nvPicPr>
          <p:cNvPr id="4" name="图片 3">
            <a:extLst>
              <a:ext uri="{FF2B5EF4-FFF2-40B4-BE49-F238E27FC236}">
                <a16:creationId xmlns:a16="http://schemas.microsoft.com/office/drawing/2014/main" id="{7DC27004-5124-4AC3-9732-B5803DEE113E}"/>
              </a:ext>
            </a:extLst>
          </p:cNvPr>
          <p:cNvPicPr>
            <a:picLocks noChangeAspect="1"/>
          </p:cNvPicPr>
          <p:nvPr/>
        </p:nvPicPr>
        <p:blipFill>
          <a:blip r:embed="rId3"/>
          <a:stretch>
            <a:fillRect/>
          </a:stretch>
        </p:blipFill>
        <p:spPr>
          <a:xfrm>
            <a:off x="89056" y="3905684"/>
            <a:ext cx="9144000" cy="2897481"/>
          </a:xfrm>
          <a:prstGeom prst="rect">
            <a:avLst/>
          </a:prstGeom>
        </p:spPr>
      </p:pic>
    </p:spTree>
    <p:extLst>
      <p:ext uri="{BB962C8B-B14F-4D97-AF65-F5344CB8AC3E}">
        <p14:creationId xmlns:p14="http://schemas.microsoft.com/office/powerpoint/2010/main" val="5956401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416320"/>
          </a:xfrm>
          <a:prstGeom prst="rect">
            <a:avLst/>
          </a:prstGeom>
        </p:spPr>
        <p:txBody>
          <a:bodyPr wrap="square">
            <a:spAutoFit/>
          </a:bodyPr>
          <a:lstStyle/>
          <a:p>
            <a:r>
              <a:rPr lang="en-US" altLang="zh-CN" sz="2400" dirty="0"/>
              <a:t>8.2.3</a:t>
            </a:r>
            <a:r>
              <a:rPr lang="zh-CN" altLang="en-US" sz="2400" dirty="0"/>
              <a:t>单沿触发的触发器</a:t>
            </a:r>
            <a:endParaRPr lang="en-US" altLang="zh-CN" sz="2400" dirty="0"/>
          </a:p>
          <a:p>
            <a:r>
              <a:rPr lang="zh-CN" altLang="en-US" sz="2400" dirty="0"/>
              <a:t>大部分触发器是作为单边沿触发的双稳态运行的，可以从多种方式得到这个行为。</a:t>
            </a:r>
            <a:endParaRPr lang="en-US" altLang="zh-CN" sz="2400" dirty="0"/>
          </a:p>
          <a:p>
            <a:r>
              <a:rPr lang="zh-CN" altLang="en-US" sz="2400" dirty="0"/>
              <a:t>级联两个</a:t>
            </a:r>
            <a:r>
              <a:rPr lang="en-US" altLang="zh-CN" sz="2400" dirty="0"/>
              <a:t>(</a:t>
            </a:r>
            <a:r>
              <a:rPr lang="zh-CN" altLang="en-US" sz="2400" dirty="0"/>
              <a:t>电平敏感的</a:t>
            </a:r>
            <a:r>
              <a:rPr lang="en-US" altLang="zh-CN" sz="2400" dirty="0"/>
              <a:t>)</a:t>
            </a:r>
            <a:r>
              <a:rPr lang="zh-CN" altLang="en-US" sz="2400" dirty="0"/>
              <a:t>锁存器，用一个公共的时钟去驱动它们，使它们其中一个处在保持模式，而另一个处在传输模式，或者反过来。上游锁存器从输入端读人数据，称为主锁存器 ，而下游锁存器称为从锁存器 ，驱动输出，因此这种电路结构名字就叫主从触发器。</a:t>
            </a:r>
            <a:endParaRPr lang="en-US" altLang="zh-CN" sz="2400" dirty="0"/>
          </a:p>
          <a:p>
            <a:endParaRPr lang="en-US" altLang="zh-CN" sz="2400" dirty="0"/>
          </a:p>
        </p:txBody>
      </p:sp>
      <p:pic>
        <p:nvPicPr>
          <p:cNvPr id="5" name="图片 4">
            <a:extLst>
              <a:ext uri="{FF2B5EF4-FFF2-40B4-BE49-F238E27FC236}">
                <a16:creationId xmlns:a16="http://schemas.microsoft.com/office/drawing/2014/main" id="{5E57479D-80AC-45E4-9F7C-4DED96F2FA89}"/>
              </a:ext>
            </a:extLst>
          </p:cNvPr>
          <p:cNvPicPr>
            <a:picLocks noChangeAspect="1"/>
          </p:cNvPicPr>
          <p:nvPr/>
        </p:nvPicPr>
        <p:blipFill>
          <a:blip r:embed="rId3"/>
          <a:stretch>
            <a:fillRect/>
          </a:stretch>
        </p:blipFill>
        <p:spPr>
          <a:xfrm>
            <a:off x="755576" y="3933056"/>
            <a:ext cx="7056784" cy="2016224"/>
          </a:xfrm>
          <a:prstGeom prst="rect">
            <a:avLst/>
          </a:prstGeom>
        </p:spPr>
      </p:pic>
    </p:spTree>
    <p:extLst>
      <p:ext uri="{BB962C8B-B14F-4D97-AF65-F5344CB8AC3E}">
        <p14:creationId xmlns:p14="http://schemas.microsoft.com/office/powerpoint/2010/main" val="5756535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CEE1583-1DB5-4FF4-8EA8-3C33224DF3BA}"/>
              </a:ext>
            </a:extLst>
          </p:cNvPr>
          <p:cNvPicPr>
            <a:picLocks noChangeAspect="1"/>
          </p:cNvPicPr>
          <p:nvPr/>
        </p:nvPicPr>
        <p:blipFill>
          <a:blip r:embed="rId3"/>
          <a:stretch>
            <a:fillRect/>
          </a:stretch>
        </p:blipFill>
        <p:spPr>
          <a:xfrm>
            <a:off x="15658" y="385419"/>
            <a:ext cx="9144000" cy="3158664"/>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pic>
        <p:nvPicPr>
          <p:cNvPr id="7" name="图片 6">
            <a:extLst>
              <a:ext uri="{FF2B5EF4-FFF2-40B4-BE49-F238E27FC236}">
                <a16:creationId xmlns:a16="http://schemas.microsoft.com/office/drawing/2014/main" id="{9B1B4CB0-1BD5-4E61-BC63-EA08BED419ED}"/>
              </a:ext>
            </a:extLst>
          </p:cNvPr>
          <p:cNvPicPr>
            <a:picLocks noChangeAspect="1"/>
          </p:cNvPicPr>
          <p:nvPr/>
        </p:nvPicPr>
        <p:blipFill>
          <a:blip r:embed="rId4"/>
          <a:stretch>
            <a:fillRect/>
          </a:stretch>
        </p:blipFill>
        <p:spPr>
          <a:xfrm>
            <a:off x="179512" y="3573016"/>
            <a:ext cx="8640960" cy="3316551"/>
          </a:xfrm>
          <a:prstGeom prst="rect">
            <a:avLst/>
          </a:prstGeom>
        </p:spPr>
      </p:pic>
    </p:spTree>
    <p:extLst>
      <p:ext uri="{BB962C8B-B14F-4D97-AF65-F5344CB8AC3E}">
        <p14:creationId xmlns:p14="http://schemas.microsoft.com/office/powerpoint/2010/main" val="1338809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785652"/>
          </a:xfrm>
          <a:prstGeom prst="rect">
            <a:avLst/>
          </a:prstGeom>
        </p:spPr>
        <p:txBody>
          <a:bodyPr wrap="square">
            <a:spAutoFit/>
          </a:bodyPr>
          <a:lstStyle/>
          <a:p>
            <a:r>
              <a:rPr lang="en-US" altLang="zh-CN" sz="2400" dirty="0"/>
              <a:t>8.2.3</a:t>
            </a:r>
            <a:r>
              <a:rPr lang="zh-CN" altLang="en-US" sz="2400" dirty="0"/>
              <a:t>单沿触发的触发器</a:t>
            </a:r>
            <a:endParaRPr lang="en-US" altLang="zh-CN" sz="2400" dirty="0"/>
          </a:p>
          <a:p>
            <a:r>
              <a:rPr lang="zh-CN" altLang="en-US" sz="2400" dirty="0"/>
              <a:t>振荡的时钟和翻转的数据输入是造成触发器消耗的几乎所有的动态能量的原因，这个比例随数据的统计特征和电路细节而变化。</a:t>
            </a:r>
            <a:endParaRPr lang="en-US" altLang="zh-CN" sz="2400" dirty="0"/>
          </a:p>
          <a:p>
            <a:endParaRPr lang="en-US" altLang="zh-CN" sz="2400" dirty="0"/>
          </a:p>
          <a:p>
            <a:r>
              <a:rPr lang="zh-CN" altLang="en-US" sz="2400" dirty="0"/>
              <a:t>小结</a:t>
            </a:r>
            <a:r>
              <a:rPr lang="en-US" altLang="zh-CN" sz="2400" dirty="0"/>
              <a:t>8-6</a:t>
            </a:r>
            <a:r>
              <a:rPr lang="zh-CN" altLang="en-US" sz="2400" dirty="0"/>
              <a:t>：</a:t>
            </a:r>
            <a:r>
              <a:rPr lang="zh-CN" altLang="en-US" sz="2400" dirty="0">
                <a:solidFill>
                  <a:srgbClr val="C00000"/>
                </a:solidFill>
              </a:rPr>
              <a:t>当存储回路被强制进入一个新的状态而发生的暂时冲突 ，会增大上升时间和消耗的能量</a:t>
            </a:r>
            <a:r>
              <a:rPr lang="en-US" altLang="zh-CN" sz="2400" dirty="0">
                <a:solidFill>
                  <a:srgbClr val="C00000"/>
                </a:solidFill>
              </a:rPr>
              <a:t>. </a:t>
            </a:r>
            <a:r>
              <a:rPr lang="zh-CN" altLang="en-US" sz="2400" dirty="0">
                <a:solidFill>
                  <a:srgbClr val="C00000"/>
                </a:solidFill>
              </a:rPr>
              <a:t>也已经发现强制改写不利于低电压运行</a:t>
            </a:r>
            <a:r>
              <a:rPr lang="en-US" altLang="zh-CN" sz="2400" dirty="0">
                <a:solidFill>
                  <a:srgbClr val="C00000"/>
                </a:solidFill>
              </a:rPr>
              <a:t>(</a:t>
            </a:r>
            <a:r>
              <a:rPr lang="zh-CN" altLang="en-US" sz="2400" dirty="0">
                <a:solidFill>
                  <a:srgbClr val="C00000"/>
                </a:solidFill>
              </a:rPr>
              <a:t>低于大约 </a:t>
            </a:r>
            <a:r>
              <a:rPr lang="en-US" altLang="zh-CN" sz="2400" dirty="0">
                <a:solidFill>
                  <a:srgbClr val="C00000"/>
                </a:solidFill>
              </a:rPr>
              <a:t>2.5 V)</a:t>
            </a:r>
            <a:r>
              <a:rPr lang="zh-CN" altLang="en-US" sz="2400" dirty="0">
                <a:solidFill>
                  <a:srgbClr val="C00000"/>
                </a:solidFill>
              </a:rPr>
              <a:t>，并导致双稳态对边际触发和亚 稳态更加敏感 </a:t>
            </a:r>
            <a:r>
              <a:rPr lang="en-US" altLang="zh-CN" sz="2400" dirty="0">
                <a:solidFill>
                  <a:srgbClr val="C00000"/>
                </a:solidFill>
              </a:rPr>
              <a:t>.</a:t>
            </a:r>
          </a:p>
          <a:p>
            <a:endParaRPr lang="en-US" altLang="zh-CN" sz="2400" dirty="0"/>
          </a:p>
        </p:txBody>
      </p:sp>
    </p:spTree>
    <p:extLst>
      <p:ext uri="{BB962C8B-B14F-4D97-AF65-F5344CB8AC3E}">
        <p14:creationId xmlns:p14="http://schemas.microsoft.com/office/powerpoint/2010/main" val="1943898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5632311"/>
          </a:xfrm>
          <a:prstGeom prst="rect">
            <a:avLst/>
          </a:prstGeom>
        </p:spPr>
        <p:txBody>
          <a:bodyPr wrap="square">
            <a:spAutoFit/>
          </a:bodyPr>
          <a:lstStyle/>
          <a:p>
            <a:r>
              <a:rPr lang="en-US" altLang="zh-CN" sz="2400" dirty="0"/>
              <a:t>8.2.4 </a:t>
            </a:r>
            <a:r>
              <a:rPr lang="zh-CN" altLang="en-US" sz="2400" dirty="0"/>
              <a:t>所有触发器的根源</a:t>
            </a:r>
            <a:endParaRPr lang="en-US" altLang="zh-CN" sz="2400" dirty="0"/>
          </a:p>
          <a:p>
            <a:r>
              <a:rPr lang="zh-CN" altLang="en-US" sz="2400" dirty="0"/>
              <a:t>具有异步复位的 </a:t>
            </a:r>
            <a:r>
              <a:rPr lang="en-US" altLang="zh-CN" sz="2400" dirty="0"/>
              <a:t>D </a:t>
            </a:r>
            <a:r>
              <a:rPr lang="zh-CN" altLang="en-US" sz="2400" dirty="0"/>
              <a:t>型触发形成了基本的构建模块，根据它并借助几个额外的逻辑门就能够得到 任何其他种类的边沿触发的存储元件。比如：使能或 </a:t>
            </a:r>
            <a:r>
              <a:rPr lang="en-US" altLang="zh-CN" sz="2400" dirty="0"/>
              <a:t>E </a:t>
            </a:r>
            <a:r>
              <a:rPr lang="zh-CN" altLang="en-US" sz="2400" dirty="0"/>
              <a:t>型触发器、 </a:t>
            </a:r>
            <a:r>
              <a:rPr lang="en-US" altLang="zh-CN" sz="2400" dirty="0"/>
              <a:t>T </a:t>
            </a:r>
            <a:r>
              <a:rPr lang="zh-CN" altLang="en-US" sz="2400" dirty="0"/>
              <a:t>型触发器、扫描触发器和计数器片的 例子。</a:t>
            </a:r>
            <a:endParaRPr lang="en-US" altLang="zh-CN" sz="2400" dirty="0"/>
          </a:p>
          <a:p>
            <a:endParaRPr lang="zh-CN" altLang="en-US" sz="2400" dirty="0"/>
          </a:p>
          <a:p>
            <a:r>
              <a:rPr lang="zh-CN" altLang="en-US" sz="2400" dirty="0"/>
              <a:t>出于性能、版图密度和能量效率的目的，库元件总是在晶体管级设计和优化。例如，扫描触发器将输入的多路选择器混入主锁存器。这样做是为了将扫描测试对最终电路的计算速度的影响降到最小，因为 </a:t>
            </a:r>
            <a:r>
              <a:rPr lang="en-US" altLang="zh-CN" sz="2400" dirty="0"/>
              <a:t>D </a:t>
            </a:r>
            <a:r>
              <a:rPr lang="zh-CN" altLang="en-US" sz="2400" dirty="0"/>
              <a:t>到 </a:t>
            </a:r>
            <a:r>
              <a:rPr lang="en-US" altLang="zh-CN" sz="2400" dirty="0"/>
              <a:t>Q </a:t>
            </a:r>
            <a:r>
              <a:rPr lang="zh-CN" altLang="en-US" sz="2400" dirty="0"/>
              <a:t>的延时几乎是最长路径的一部分。</a:t>
            </a:r>
            <a:endParaRPr lang="en-US" altLang="zh-CN" sz="2400" dirty="0"/>
          </a:p>
          <a:p>
            <a:endParaRPr lang="zh-CN" altLang="en-US" sz="2400" dirty="0"/>
          </a:p>
          <a:p>
            <a:r>
              <a:rPr lang="zh-CN" altLang="en-US" sz="2400" dirty="0"/>
              <a:t>与之相反，在单元库里通常找不到 </a:t>
            </a:r>
            <a:r>
              <a:rPr lang="en-US" altLang="zh-CN" sz="2400" dirty="0"/>
              <a:t>E </a:t>
            </a:r>
            <a:r>
              <a:rPr lang="zh-CN" altLang="en-US" sz="2400" dirty="0"/>
              <a:t>和 </a:t>
            </a:r>
            <a:r>
              <a:rPr lang="en-US" altLang="zh-CN" sz="2400" dirty="0"/>
              <a:t>T </a:t>
            </a:r>
            <a:r>
              <a:rPr lang="zh-CN" altLang="en-US" sz="2400" dirty="0"/>
              <a:t>型触发器与计数器，而是用 </a:t>
            </a:r>
            <a:r>
              <a:rPr lang="en-US" altLang="zh-CN" sz="2400" dirty="0"/>
              <a:t>D </a:t>
            </a:r>
            <a:r>
              <a:rPr lang="zh-CN" altLang="en-US" sz="2400" dirty="0"/>
              <a:t>型触发器装配而成。随着综合技术的出现这不再用手动完成了。</a:t>
            </a:r>
          </a:p>
          <a:p>
            <a:endParaRPr lang="en-US" altLang="zh-CN" sz="2400" dirty="0"/>
          </a:p>
        </p:txBody>
      </p:sp>
    </p:spTree>
    <p:extLst>
      <p:ext uri="{BB962C8B-B14F-4D97-AF65-F5344CB8AC3E}">
        <p14:creationId xmlns:p14="http://schemas.microsoft.com/office/powerpoint/2010/main" val="2846343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1938992"/>
          </a:xfrm>
          <a:prstGeom prst="rect">
            <a:avLst/>
          </a:prstGeom>
        </p:spPr>
        <p:txBody>
          <a:bodyPr wrap="square">
            <a:spAutoFit/>
          </a:bodyPr>
          <a:lstStyle/>
          <a:p>
            <a:r>
              <a:rPr lang="en-US" altLang="zh-CN" sz="2400" dirty="0"/>
              <a:t>8.2.5</a:t>
            </a:r>
            <a:r>
              <a:rPr lang="zh-CN" altLang="en-US" sz="2400" dirty="0"/>
              <a:t>双边沿寄存器</a:t>
            </a:r>
            <a:endParaRPr lang="en-US" altLang="zh-CN" sz="2400" dirty="0"/>
          </a:p>
          <a:p>
            <a:r>
              <a:rPr lang="en-US" altLang="zh-CN" sz="2400" dirty="0"/>
              <a:t>DETFF </a:t>
            </a:r>
            <a:r>
              <a:rPr lang="zh-CN" altLang="en-US" sz="2400" dirty="0"/>
              <a:t>是作为比 </a:t>
            </a:r>
            <a:r>
              <a:rPr lang="en-US" altLang="zh-CN" sz="2400" dirty="0"/>
              <a:t>SETFF </a:t>
            </a:r>
            <a:r>
              <a:rPr lang="zh-CN" altLang="en-US" sz="2400" dirty="0"/>
              <a:t>能量效率更高的替代引人的。 </a:t>
            </a:r>
            <a:endParaRPr lang="en-US" altLang="zh-CN" sz="2400" dirty="0"/>
          </a:p>
          <a:p>
            <a:r>
              <a:rPr lang="zh-CN" altLang="en-US" sz="2400" dirty="0"/>
              <a:t>如图 </a:t>
            </a:r>
            <a:r>
              <a:rPr lang="en-US" altLang="zh-CN" sz="2400" dirty="0"/>
              <a:t>8-25 </a:t>
            </a:r>
            <a:r>
              <a:rPr lang="zh-CN" altLang="en-US" sz="2400" dirty="0"/>
              <a:t>所示，没有主和从锁存器。取而代之是两个锁存器连接到输入并交替接受和保持数据，一个钟控多路选择器为输出选择当前被保 持的数据。</a:t>
            </a:r>
          </a:p>
        </p:txBody>
      </p:sp>
      <p:pic>
        <p:nvPicPr>
          <p:cNvPr id="4" name="图片 3">
            <a:extLst>
              <a:ext uri="{FF2B5EF4-FFF2-40B4-BE49-F238E27FC236}">
                <a16:creationId xmlns:a16="http://schemas.microsoft.com/office/drawing/2014/main" id="{89D72E73-F8F3-493E-9802-AD5F95021A8B}"/>
              </a:ext>
            </a:extLst>
          </p:cNvPr>
          <p:cNvPicPr>
            <a:picLocks noChangeAspect="1"/>
          </p:cNvPicPr>
          <p:nvPr/>
        </p:nvPicPr>
        <p:blipFill>
          <a:blip r:embed="rId3"/>
          <a:stretch>
            <a:fillRect/>
          </a:stretch>
        </p:blipFill>
        <p:spPr>
          <a:xfrm>
            <a:off x="2771800" y="2751993"/>
            <a:ext cx="5832750" cy="3197287"/>
          </a:xfrm>
          <a:prstGeom prst="rect">
            <a:avLst/>
          </a:prstGeom>
        </p:spPr>
      </p:pic>
    </p:spTree>
    <p:extLst>
      <p:ext uri="{BB962C8B-B14F-4D97-AF65-F5344CB8AC3E}">
        <p14:creationId xmlns:p14="http://schemas.microsoft.com/office/powerpoint/2010/main" val="2256332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4524315"/>
          </a:xfrm>
          <a:prstGeom prst="rect">
            <a:avLst/>
          </a:prstGeom>
        </p:spPr>
        <p:txBody>
          <a:bodyPr wrap="square">
            <a:spAutoFit/>
          </a:bodyPr>
          <a:lstStyle/>
          <a:p>
            <a:r>
              <a:rPr lang="en-US" altLang="zh-CN" sz="2400" dirty="0"/>
              <a:t>8.3 CMOS</a:t>
            </a:r>
            <a:r>
              <a:rPr lang="zh-CN" altLang="en-US" sz="2400" dirty="0"/>
              <a:t>片上存储器</a:t>
            </a:r>
            <a:endParaRPr lang="en-US" altLang="zh-CN" sz="2400" dirty="0"/>
          </a:p>
          <a:p>
            <a:r>
              <a:rPr lang="en-US" altLang="zh-CN" sz="2400" dirty="0"/>
              <a:t>8.3.1 SRAM</a:t>
            </a:r>
          </a:p>
          <a:p>
            <a:r>
              <a:rPr lang="zh-CN" altLang="en-US" sz="2400" dirty="0"/>
              <a:t>出于经济的原因，在存储器设计里将每一位所占的裸片面积减到最小是非常重要的，因为基本的存储单元会被反复复制。</a:t>
            </a:r>
            <a:endParaRPr lang="en-US" altLang="zh-CN" sz="2400" dirty="0"/>
          </a:p>
          <a:p>
            <a:endParaRPr lang="en-US" altLang="zh-CN" sz="2400" dirty="0"/>
          </a:p>
          <a:p>
            <a:r>
              <a:rPr lang="en-US" altLang="zh-CN" sz="2400" dirty="0"/>
              <a:t>SRAM</a:t>
            </a:r>
            <a:r>
              <a:rPr lang="zh-CN" altLang="en-US" sz="2400" dirty="0"/>
              <a:t>的每个位是存储为两个稳定状态中的一个状态，这两个状态是由交叉耦合反相器构成的正反馈回路形成的（图 </a:t>
            </a:r>
            <a:r>
              <a:rPr lang="en-US" altLang="zh-CN" sz="2400" dirty="0"/>
              <a:t>8-27a </a:t>
            </a:r>
            <a:r>
              <a:rPr lang="zh-CN" altLang="en-US" sz="2400" dirty="0"/>
              <a:t>）。</a:t>
            </a:r>
            <a:endParaRPr lang="en-US" altLang="zh-CN" sz="2400" dirty="0"/>
          </a:p>
          <a:p>
            <a:endParaRPr lang="en-US" altLang="zh-CN" sz="2400" dirty="0"/>
          </a:p>
          <a:p>
            <a:r>
              <a:rPr lang="zh-CN" altLang="en-US" sz="2400" dirty="0"/>
              <a:t>图 </a:t>
            </a:r>
            <a:r>
              <a:rPr lang="en-US" altLang="zh-CN" sz="2400" dirty="0"/>
              <a:t>8-27b </a:t>
            </a:r>
            <a:r>
              <a:rPr lang="zh-CN" altLang="en-US" sz="2400" dirty="0"/>
              <a:t>显示了一个电路变体，用无源的上拉替代了</a:t>
            </a:r>
            <a:r>
              <a:rPr lang="en-US" altLang="zh-CN" sz="2400" dirty="0"/>
              <a:t>p</a:t>
            </a:r>
            <a:r>
              <a:rPr lang="zh-CN" altLang="en-US" sz="2400" dirty="0"/>
              <a:t>沟道 </a:t>
            </a:r>
            <a:r>
              <a:rPr lang="en-US" altLang="zh-CN" sz="2400" dirty="0"/>
              <a:t>MOSFET </a:t>
            </a:r>
            <a:r>
              <a:rPr lang="zh-CN" altLang="en-US" sz="2400" dirty="0"/>
              <a:t>，省了相当一大部分面积。缺点是静态功耗，由于较差的电流驱动能力导致读出速度更慢。</a:t>
            </a:r>
          </a:p>
        </p:txBody>
      </p:sp>
    </p:spTree>
    <p:extLst>
      <p:ext uri="{BB962C8B-B14F-4D97-AF65-F5344CB8AC3E}">
        <p14:creationId xmlns:p14="http://schemas.microsoft.com/office/powerpoint/2010/main" val="859682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D3D7947-294A-4971-958F-FF0F88334A19}"/>
              </a:ext>
            </a:extLst>
          </p:cNvPr>
          <p:cNvPicPr>
            <a:picLocks noChangeAspect="1"/>
          </p:cNvPicPr>
          <p:nvPr/>
        </p:nvPicPr>
        <p:blipFill>
          <a:blip r:embed="rId3"/>
          <a:stretch>
            <a:fillRect/>
          </a:stretch>
        </p:blipFill>
        <p:spPr>
          <a:xfrm>
            <a:off x="1545282" y="620687"/>
            <a:ext cx="7141518" cy="6177511"/>
          </a:xfrm>
          <a:prstGeom prst="rect">
            <a:avLst/>
          </a:prstGeom>
        </p:spPr>
      </p:pic>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8.2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461665"/>
          </a:xfrm>
          <a:prstGeom prst="rect">
            <a:avLst/>
          </a:prstGeom>
        </p:spPr>
        <p:txBody>
          <a:bodyPr wrap="square">
            <a:spAutoFit/>
          </a:bodyPr>
          <a:lstStyle/>
          <a:p>
            <a:r>
              <a:rPr lang="en-US" altLang="zh-CN" sz="2400" dirty="0"/>
              <a:t>8.3.1 SRAM</a:t>
            </a:r>
          </a:p>
        </p:txBody>
      </p:sp>
    </p:spTree>
    <p:extLst>
      <p:ext uri="{BB962C8B-B14F-4D97-AF65-F5344CB8AC3E}">
        <p14:creationId xmlns:p14="http://schemas.microsoft.com/office/powerpoint/2010/main" val="2506569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512D358-E01F-4A80-8A2E-53D123D1A879}"/>
              </a:ext>
            </a:extLst>
          </p:cNvPr>
          <p:cNvPicPr>
            <a:picLocks noChangeAspect="1"/>
          </p:cNvPicPr>
          <p:nvPr/>
        </p:nvPicPr>
        <p:blipFill>
          <a:blip r:embed="rId2"/>
          <a:stretch>
            <a:fillRect/>
          </a:stretch>
        </p:blipFill>
        <p:spPr>
          <a:xfrm>
            <a:off x="611560" y="332656"/>
            <a:ext cx="7603752" cy="6003485"/>
          </a:xfrm>
          <a:prstGeom prst="rect">
            <a:avLst/>
          </a:prstGeom>
        </p:spPr>
      </p:pic>
    </p:spTree>
    <p:extLst>
      <p:ext uri="{BB962C8B-B14F-4D97-AF65-F5344CB8AC3E}">
        <p14:creationId xmlns:p14="http://schemas.microsoft.com/office/powerpoint/2010/main" val="3376631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8.3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316732" y="676353"/>
            <a:ext cx="8712968" cy="3416320"/>
          </a:xfrm>
          <a:prstGeom prst="rect">
            <a:avLst/>
          </a:prstGeom>
        </p:spPr>
        <p:txBody>
          <a:bodyPr wrap="square">
            <a:spAutoFit/>
          </a:bodyPr>
          <a:lstStyle/>
          <a:p>
            <a:r>
              <a:rPr lang="en-US" altLang="zh-CN" sz="2400" dirty="0"/>
              <a:t>8.3 CMOS</a:t>
            </a:r>
            <a:r>
              <a:rPr lang="zh-CN" altLang="en-US" sz="2400" dirty="0"/>
              <a:t>片上存储器</a:t>
            </a:r>
            <a:endParaRPr lang="en-US" altLang="zh-CN" sz="2400" dirty="0"/>
          </a:p>
          <a:p>
            <a:r>
              <a:rPr lang="en-US" altLang="zh-CN" sz="2400" dirty="0"/>
              <a:t>8.3.2 DRAM</a:t>
            </a:r>
          </a:p>
          <a:p>
            <a:r>
              <a:rPr lang="en-US" altLang="zh-CN" sz="2400" dirty="0"/>
              <a:t>DRAM </a:t>
            </a:r>
            <a:r>
              <a:rPr lang="zh-CN" altLang="en-US" sz="2400" dirty="0"/>
              <a:t>的总体结构是个二维存储单元阵列，和 </a:t>
            </a:r>
            <a:r>
              <a:rPr lang="en-US" altLang="zh-CN" sz="2400" dirty="0"/>
              <a:t>SRAM </a:t>
            </a:r>
            <a:r>
              <a:rPr lang="zh-CN" altLang="en-US" sz="2400" dirty="0"/>
              <a:t>非常相同。主要的区别在于每个信息位是用存储单元里的一个极小的 电容上存在或不存在电荷来表示的，参见图</a:t>
            </a:r>
            <a:r>
              <a:rPr lang="en-US" altLang="zh-CN" sz="2400" dirty="0"/>
              <a:t>8-27c</a:t>
            </a:r>
            <a:r>
              <a:rPr lang="zh-CN" altLang="en-US" sz="2400" dirty="0"/>
              <a:t>。</a:t>
            </a:r>
            <a:endParaRPr lang="en-US" altLang="zh-CN" sz="2400" dirty="0"/>
          </a:p>
          <a:p>
            <a:r>
              <a:rPr lang="zh-CN" altLang="en-US" sz="2400" dirty="0"/>
              <a:t>虽然利用电荷存储原 理来存储信息是最经济的，但是这个微小的电荷面临着各种漏电流效应的影响 ，需要周期性地刷新以防止随时间而消失。</a:t>
            </a:r>
            <a:endParaRPr lang="en-US" altLang="zh-CN" sz="2400" dirty="0"/>
          </a:p>
          <a:p>
            <a:endParaRPr lang="zh-CN" altLang="en-US" sz="2400" dirty="0"/>
          </a:p>
        </p:txBody>
      </p:sp>
    </p:spTree>
    <p:extLst>
      <p:ext uri="{BB962C8B-B14F-4D97-AF65-F5344CB8AC3E}">
        <p14:creationId xmlns:p14="http://schemas.microsoft.com/office/powerpoint/2010/main" val="1223236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576064"/>
          </a:xfrm>
        </p:spPr>
        <p:txBody>
          <a:bodyPr/>
          <a:lstStyle/>
          <a:p>
            <a:r>
              <a:rPr lang="en-US" altLang="zh-CN" sz="3200" dirty="0"/>
              <a:t>8.3 CMOS</a:t>
            </a:r>
            <a:r>
              <a:rPr lang="zh-CN" altLang="en-US" sz="3200" dirty="0"/>
              <a:t>双稳态</a:t>
            </a:r>
          </a:p>
        </p:txBody>
      </p:sp>
      <p:sp>
        <p:nvSpPr>
          <p:cNvPr id="3" name="矩形 2">
            <a:extLst>
              <a:ext uri="{FF2B5EF4-FFF2-40B4-BE49-F238E27FC236}">
                <a16:creationId xmlns:a16="http://schemas.microsoft.com/office/drawing/2014/main" id="{EF62B4A8-DB90-43DC-9872-202DF9DDB5B0}"/>
              </a:ext>
            </a:extLst>
          </p:cNvPr>
          <p:cNvSpPr/>
          <p:nvPr/>
        </p:nvSpPr>
        <p:spPr>
          <a:xfrm>
            <a:off x="251520" y="615772"/>
            <a:ext cx="8784976" cy="5632311"/>
          </a:xfrm>
          <a:prstGeom prst="rect">
            <a:avLst/>
          </a:prstGeom>
        </p:spPr>
        <p:txBody>
          <a:bodyPr wrap="square">
            <a:spAutoFit/>
          </a:bodyPr>
          <a:lstStyle/>
          <a:p>
            <a:r>
              <a:rPr lang="en-US" altLang="zh-CN" sz="2400" dirty="0"/>
              <a:t>8.3.3 </a:t>
            </a:r>
            <a:r>
              <a:rPr lang="zh-CN" altLang="en-US" sz="2400" dirty="0"/>
              <a:t>其他的区别和共同点</a:t>
            </a:r>
          </a:p>
          <a:p>
            <a:endParaRPr lang="zh-CN" altLang="en-US" sz="2400" dirty="0"/>
          </a:p>
          <a:p>
            <a:pPr marL="342900" indent="-342900">
              <a:buFont typeface="Wingdings" panose="05000000000000000000" pitchFamily="2" charset="2"/>
              <a:buChar char="Ø"/>
            </a:pPr>
            <a:r>
              <a:rPr lang="zh-CN" altLang="en-US" sz="2400" dirty="0"/>
              <a:t>存储密度。</a:t>
            </a:r>
            <a:r>
              <a:rPr lang="en-US" altLang="zh-CN" sz="2400" dirty="0"/>
              <a:t>DRAM </a:t>
            </a:r>
            <a:r>
              <a:rPr lang="zh-CN" altLang="en-US" sz="2400" dirty="0"/>
              <a:t>将</a:t>
            </a:r>
            <a:r>
              <a:rPr lang="en-US" altLang="zh-CN" sz="2400" dirty="0"/>
              <a:t>1</a:t>
            </a:r>
            <a:r>
              <a:rPr lang="zh-CN" altLang="en-US" sz="2400" dirty="0"/>
              <a:t>位存储电路的复杂度降到了最低，而  </a:t>
            </a:r>
            <a:r>
              <a:rPr lang="en-US" altLang="zh-CN" sz="2400" dirty="0"/>
              <a:t>SRAM </a:t>
            </a:r>
            <a:r>
              <a:rPr lang="zh-CN" altLang="en-US" sz="2400" dirty="0"/>
              <a:t>远远落在后面。 </a:t>
            </a:r>
            <a:r>
              <a:rPr lang="en-US" altLang="zh-CN" sz="2400" dirty="0"/>
              <a:t>RAM</a:t>
            </a:r>
            <a:r>
              <a:rPr lang="zh-CN" altLang="en-US" sz="2400" dirty="0"/>
              <a:t>存储阵列是由邻接的块状版图组合得到的，版图密度超过了锁存器与触发器。</a:t>
            </a:r>
            <a:endParaRPr lang="en-US" altLang="zh-CN" sz="2400" dirty="0"/>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zh-CN" altLang="en-US" sz="2400" dirty="0"/>
              <a:t>电路</a:t>
            </a:r>
            <a:r>
              <a:rPr lang="zh-CN" altLang="en-US" sz="2400"/>
              <a:t>开销。在</a:t>
            </a:r>
            <a:r>
              <a:rPr lang="zh-CN" altLang="en-US" sz="2400" dirty="0"/>
              <a:t>半导体存储器中存储单元彻底的简化是以大量的辅助外围电路为代价的，这些辅助电路用于地址译码、预充电、读出加速、内部排序、 </a:t>
            </a:r>
            <a:r>
              <a:rPr lang="en-US" altLang="zh-CN" sz="2400" dirty="0"/>
              <a:t>IO</a:t>
            </a:r>
            <a:r>
              <a:rPr lang="zh-CN" altLang="en-US" sz="2400" dirty="0"/>
              <a:t>接口等。</a:t>
            </a:r>
            <a:endParaRPr lang="en-US" altLang="zh-CN" sz="2400" dirty="0"/>
          </a:p>
          <a:p>
            <a:endParaRPr lang="zh-CN" altLang="en-US" sz="2400" dirty="0"/>
          </a:p>
          <a:p>
            <a:pPr marL="342900" indent="-342900">
              <a:buFont typeface="Wingdings" panose="05000000000000000000" pitchFamily="2" charset="2"/>
              <a:buChar char="Ø"/>
            </a:pPr>
            <a:r>
              <a:rPr lang="zh-CN" altLang="en-US" sz="2400" dirty="0"/>
              <a:t>存储器定时。 同步 </a:t>
            </a:r>
            <a:r>
              <a:rPr lang="en-US" altLang="zh-CN" sz="2400" dirty="0"/>
              <a:t>RAM </a:t>
            </a:r>
            <a:r>
              <a:rPr lang="zh-CN" altLang="en-US" sz="2400" dirty="0"/>
              <a:t>有时钟输入端，必须由周期信号驱动。写操作要根据时钟沿定时</a:t>
            </a:r>
            <a:r>
              <a:rPr lang="en-US" altLang="zh-CN" sz="2400" dirty="0"/>
              <a:t>,</a:t>
            </a:r>
            <a:r>
              <a:rPr lang="zh-CN" altLang="en-US" sz="2400" dirty="0"/>
              <a:t>一个额外的写输入作为使能，时序图类似触发器的时序。</a:t>
            </a:r>
            <a:endParaRPr lang="en-US" altLang="zh-CN" sz="2400" dirty="0"/>
          </a:p>
          <a:p>
            <a:endParaRPr lang="zh-CN" altLang="en-US" sz="2400" dirty="0"/>
          </a:p>
          <a:p>
            <a:pPr marL="342900" indent="-342900">
              <a:buFont typeface="Wingdings" panose="05000000000000000000" pitchFamily="2" charset="2"/>
              <a:buChar char="Ø"/>
            </a:pPr>
            <a:r>
              <a:rPr lang="zh-CN" altLang="en-US" sz="2400" dirty="0"/>
              <a:t>异步 </a:t>
            </a:r>
            <a:r>
              <a:rPr lang="en-US" altLang="zh-CN" sz="2400" dirty="0"/>
              <a:t>RAM </a:t>
            </a:r>
            <a:r>
              <a:rPr lang="zh-CN" altLang="en-US" sz="2400" dirty="0"/>
              <a:t>没有时钟输入 。</a:t>
            </a:r>
          </a:p>
        </p:txBody>
      </p:sp>
    </p:spTree>
    <p:extLst>
      <p:ext uri="{BB962C8B-B14F-4D97-AF65-F5344CB8AC3E}">
        <p14:creationId xmlns:p14="http://schemas.microsoft.com/office/powerpoint/2010/main" val="91726125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8785</TotalTime>
  <Words>2932</Words>
  <Application>Microsoft Office PowerPoint</Application>
  <PresentationFormat>全屏显示(4:3)</PresentationFormat>
  <Paragraphs>324</Paragraphs>
  <Slides>37</Slides>
  <Notes>34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仿宋_GB2312</vt:lpstr>
      <vt:lpstr>宋体</vt:lpstr>
      <vt:lpstr>Arial</vt:lpstr>
      <vt:lpstr>Calibri</vt:lpstr>
      <vt:lpstr>Verdana</vt:lpstr>
      <vt:lpstr>Wingdings</vt:lpstr>
      <vt:lpstr>Office 主题​​</vt:lpstr>
      <vt:lpstr>PowerPoint 演示文稿</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8.1 CMOS逻辑门</vt:lpstr>
      <vt:lpstr>8.2 CMOS双稳态</vt:lpstr>
      <vt:lpstr>8.2 CMOS双稳态</vt:lpstr>
      <vt:lpstr>8.2 CMOS双稳态</vt:lpstr>
      <vt:lpstr>8.2 CMOS双稳态</vt:lpstr>
      <vt:lpstr>8.2 CMOS双稳态</vt:lpstr>
      <vt:lpstr>8.2 CMOS双稳态</vt:lpstr>
      <vt:lpstr>8.2 CMOS双稳态</vt:lpstr>
      <vt:lpstr>8.2 CMOS双稳态</vt:lpstr>
      <vt:lpstr>8.2 CMOS双稳态</vt:lpstr>
      <vt:lpstr>8.2 CMOS双稳态</vt:lpstr>
      <vt:lpstr>8.2 CMOS双稳态</vt:lpstr>
      <vt:lpstr>8.2 CMOS双稳态</vt:lpstr>
      <vt:lpstr>8.2 CMOS双稳态</vt:lpstr>
      <vt:lpstr>PowerPoint 演示文稿</vt:lpstr>
      <vt:lpstr>8.3 CMOS双稳态</vt:lpstr>
      <vt:lpstr>8.3 CMOS双稳态</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782</cp:revision>
  <dcterms:created xsi:type="dcterms:W3CDTF">2007-07-19T09:42:33Z</dcterms:created>
  <dcterms:modified xsi:type="dcterms:W3CDTF">2021-06-03T10:49:24Z</dcterms:modified>
</cp:coreProperties>
</file>