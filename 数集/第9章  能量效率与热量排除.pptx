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9"/>
  </p:notesMasterIdLst>
  <p:sldIdLst>
    <p:sldId id="277" r:id="rId2"/>
    <p:sldId id="488" r:id="rId3"/>
    <p:sldId id="638" r:id="rId4"/>
    <p:sldId id="639" r:id="rId5"/>
    <p:sldId id="640" r:id="rId6"/>
    <p:sldId id="641" r:id="rId7"/>
    <p:sldId id="642" r:id="rId8"/>
    <p:sldId id="643" r:id="rId9"/>
    <p:sldId id="644" r:id="rId10"/>
    <p:sldId id="645" r:id="rId11"/>
    <p:sldId id="646" r:id="rId12"/>
    <p:sldId id="648" r:id="rId13"/>
    <p:sldId id="647" r:id="rId14"/>
    <p:sldId id="649" r:id="rId15"/>
    <p:sldId id="650" r:id="rId16"/>
    <p:sldId id="651" r:id="rId17"/>
    <p:sldId id="652" r:id="rId18"/>
    <p:sldId id="653" r:id="rId19"/>
    <p:sldId id="654" r:id="rId20"/>
    <p:sldId id="655" r:id="rId21"/>
    <p:sldId id="656" r:id="rId22"/>
    <p:sldId id="657" r:id="rId23"/>
    <p:sldId id="658" r:id="rId24"/>
    <p:sldId id="659" r:id="rId25"/>
    <p:sldId id="660" r:id="rId26"/>
    <p:sldId id="661" r:id="rId27"/>
    <p:sldId id="662" r:id="rId2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CC99"/>
    <a:srgbClr val="993300"/>
    <a:srgbClr val="FF9900"/>
    <a:srgbClr val="FFFF66"/>
    <a:srgbClr val="66FF33"/>
    <a:srgbClr val="00FF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24" autoAdjust="0"/>
    <p:restoredTop sz="84288" autoAdjust="0"/>
  </p:normalViewPr>
  <p:slideViewPr>
    <p:cSldViewPr>
      <p:cViewPr varScale="1">
        <p:scale>
          <a:sx n="79" d="100"/>
          <a:sy n="79" d="100"/>
        </p:scale>
        <p:origin x="307"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59011DF-2B26-47D2-8C9C-8B57223F28F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5" name="Rectangle 3">
            <a:extLst>
              <a:ext uri="{FF2B5EF4-FFF2-40B4-BE49-F238E27FC236}">
                <a16:creationId xmlns:a16="http://schemas.microsoft.com/office/drawing/2014/main" id="{F9D6D93F-7EA7-46A3-87FD-4B41DA0222A8}"/>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CB5331D0-518B-4FDB-AED6-F9D8AF80E62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5717" name="Rectangle 5">
            <a:extLst>
              <a:ext uri="{FF2B5EF4-FFF2-40B4-BE49-F238E27FC236}">
                <a16:creationId xmlns:a16="http://schemas.microsoft.com/office/drawing/2014/main" id="{FCED220D-8E45-4446-9B10-150193E4999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5718" name="Rectangle 6">
            <a:extLst>
              <a:ext uri="{FF2B5EF4-FFF2-40B4-BE49-F238E27FC236}">
                <a16:creationId xmlns:a16="http://schemas.microsoft.com/office/drawing/2014/main" id="{1A470E2F-32D9-4A4E-9927-F1ED0174511C}"/>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9" name="Rectangle 7">
            <a:extLst>
              <a:ext uri="{FF2B5EF4-FFF2-40B4-BE49-F238E27FC236}">
                <a16:creationId xmlns:a16="http://schemas.microsoft.com/office/drawing/2014/main" id="{47EF8308-EC31-4A0A-A29E-A22EE3EBC4A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E5D76836-F611-4B03-A073-39BC50477C7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a:t>
            </a:fld>
            <a:endParaRPr lang="en-US" altLang="zh-CN"/>
          </a:p>
        </p:txBody>
      </p:sp>
    </p:spTree>
    <p:extLst>
      <p:ext uri="{BB962C8B-B14F-4D97-AF65-F5344CB8AC3E}">
        <p14:creationId xmlns:p14="http://schemas.microsoft.com/office/powerpoint/2010/main" val="3350826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a:t>
            </a:fld>
            <a:endParaRPr lang="en-US" altLang="zh-CN"/>
          </a:p>
        </p:txBody>
      </p:sp>
    </p:spTree>
    <p:extLst>
      <p:ext uri="{BB962C8B-B14F-4D97-AF65-F5344CB8AC3E}">
        <p14:creationId xmlns:p14="http://schemas.microsoft.com/office/powerpoint/2010/main" val="2252293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a:t>
            </a:fld>
            <a:endParaRPr lang="en-US" altLang="zh-CN"/>
          </a:p>
        </p:txBody>
      </p:sp>
    </p:spTree>
    <p:extLst>
      <p:ext uri="{BB962C8B-B14F-4D97-AF65-F5344CB8AC3E}">
        <p14:creationId xmlns:p14="http://schemas.microsoft.com/office/powerpoint/2010/main" val="2535377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5</a:t>
            </a:fld>
            <a:endParaRPr lang="en-US" altLang="zh-CN"/>
          </a:p>
        </p:txBody>
      </p:sp>
    </p:spTree>
    <p:extLst>
      <p:ext uri="{BB962C8B-B14F-4D97-AF65-F5344CB8AC3E}">
        <p14:creationId xmlns:p14="http://schemas.microsoft.com/office/powerpoint/2010/main" val="1838209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6</a:t>
            </a:fld>
            <a:endParaRPr lang="en-US" altLang="zh-CN"/>
          </a:p>
        </p:txBody>
      </p:sp>
    </p:spTree>
    <p:extLst>
      <p:ext uri="{BB962C8B-B14F-4D97-AF65-F5344CB8AC3E}">
        <p14:creationId xmlns:p14="http://schemas.microsoft.com/office/powerpoint/2010/main" val="6422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7</a:t>
            </a:fld>
            <a:endParaRPr lang="en-US" altLang="zh-CN"/>
          </a:p>
        </p:txBody>
      </p:sp>
    </p:spTree>
    <p:extLst>
      <p:ext uri="{BB962C8B-B14F-4D97-AF65-F5344CB8AC3E}">
        <p14:creationId xmlns:p14="http://schemas.microsoft.com/office/powerpoint/2010/main" val="2610506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8</a:t>
            </a:fld>
            <a:endParaRPr lang="en-US" altLang="zh-CN"/>
          </a:p>
        </p:txBody>
      </p:sp>
    </p:spTree>
    <p:extLst>
      <p:ext uri="{BB962C8B-B14F-4D97-AF65-F5344CB8AC3E}">
        <p14:creationId xmlns:p14="http://schemas.microsoft.com/office/powerpoint/2010/main" val="4089549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9</a:t>
            </a:fld>
            <a:endParaRPr lang="en-US" altLang="zh-CN"/>
          </a:p>
        </p:txBody>
      </p:sp>
    </p:spTree>
    <p:extLst>
      <p:ext uri="{BB962C8B-B14F-4D97-AF65-F5344CB8AC3E}">
        <p14:creationId xmlns:p14="http://schemas.microsoft.com/office/powerpoint/2010/main" val="2045301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10</a:t>
            </a:fld>
            <a:endParaRPr lang="en-US" altLang="zh-CN"/>
          </a:p>
        </p:txBody>
      </p:sp>
    </p:spTree>
    <p:extLst>
      <p:ext uri="{BB962C8B-B14F-4D97-AF65-F5344CB8AC3E}">
        <p14:creationId xmlns:p14="http://schemas.microsoft.com/office/powerpoint/2010/main" val="3728365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11</a:t>
            </a:fld>
            <a:endParaRPr lang="en-US" altLang="zh-CN"/>
          </a:p>
        </p:txBody>
      </p:sp>
    </p:spTree>
    <p:extLst>
      <p:ext uri="{BB962C8B-B14F-4D97-AF65-F5344CB8AC3E}">
        <p14:creationId xmlns:p14="http://schemas.microsoft.com/office/powerpoint/2010/main" val="41630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12</a:t>
            </a:fld>
            <a:endParaRPr lang="en-US" altLang="zh-CN"/>
          </a:p>
        </p:txBody>
      </p:sp>
    </p:spTree>
    <p:extLst>
      <p:ext uri="{BB962C8B-B14F-4D97-AF65-F5344CB8AC3E}">
        <p14:creationId xmlns:p14="http://schemas.microsoft.com/office/powerpoint/2010/main" val="2453423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13</a:t>
            </a:fld>
            <a:endParaRPr lang="en-US" altLang="zh-CN"/>
          </a:p>
        </p:txBody>
      </p:sp>
    </p:spTree>
    <p:extLst>
      <p:ext uri="{BB962C8B-B14F-4D97-AF65-F5344CB8AC3E}">
        <p14:creationId xmlns:p14="http://schemas.microsoft.com/office/powerpoint/2010/main" val="91393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14</a:t>
            </a:fld>
            <a:endParaRPr lang="en-US" altLang="zh-CN"/>
          </a:p>
        </p:txBody>
      </p:sp>
    </p:spTree>
    <p:extLst>
      <p:ext uri="{BB962C8B-B14F-4D97-AF65-F5344CB8AC3E}">
        <p14:creationId xmlns:p14="http://schemas.microsoft.com/office/powerpoint/2010/main" val="3696500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15</a:t>
            </a:fld>
            <a:endParaRPr lang="en-US" altLang="zh-CN"/>
          </a:p>
        </p:txBody>
      </p:sp>
    </p:spTree>
    <p:extLst>
      <p:ext uri="{BB962C8B-B14F-4D97-AF65-F5344CB8AC3E}">
        <p14:creationId xmlns:p14="http://schemas.microsoft.com/office/powerpoint/2010/main" val="2766745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16</a:t>
            </a:fld>
            <a:endParaRPr lang="en-US" altLang="zh-CN"/>
          </a:p>
        </p:txBody>
      </p:sp>
    </p:spTree>
    <p:extLst>
      <p:ext uri="{BB962C8B-B14F-4D97-AF65-F5344CB8AC3E}">
        <p14:creationId xmlns:p14="http://schemas.microsoft.com/office/powerpoint/2010/main" val="1788024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17</a:t>
            </a:fld>
            <a:endParaRPr lang="en-US" altLang="zh-CN"/>
          </a:p>
        </p:txBody>
      </p:sp>
    </p:spTree>
    <p:extLst>
      <p:ext uri="{BB962C8B-B14F-4D97-AF65-F5344CB8AC3E}">
        <p14:creationId xmlns:p14="http://schemas.microsoft.com/office/powerpoint/2010/main" val="1176630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18</a:t>
            </a:fld>
            <a:endParaRPr lang="en-US" altLang="zh-CN"/>
          </a:p>
        </p:txBody>
      </p:sp>
    </p:spTree>
    <p:extLst>
      <p:ext uri="{BB962C8B-B14F-4D97-AF65-F5344CB8AC3E}">
        <p14:creationId xmlns:p14="http://schemas.microsoft.com/office/powerpoint/2010/main" val="1090857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19</a:t>
            </a:fld>
            <a:endParaRPr lang="en-US" altLang="zh-CN"/>
          </a:p>
        </p:txBody>
      </p:sp>
    </p:spTree>
    <p:extLst>
      <p:ext uri="{BB962C8B-B14F-4D97-AF65-F5344CB8AC3E}">
        <p14:creationId xmlns:p14="http://schemas.microsoft.com/office/powerpoint/2010/main" val="30763857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20</a:t>
            </a:fld>
            <a:endParaRPr lang="en-US" altLang="zh-CN"/>
          </a:p>
        </p:txBody>
      </p:sp>
    </p:spTree>
    <p:extLst>
      <p:ext uri="{BB962C8B-B14F-4D97-AF65-F5344CB8AC3E}">
        <p14:creationId xmlns:p14="http://schemas.microsoft.com/office/powerpoint/2010/main" val="198164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21</a:t>
            </a:fld>
            <a:endParaRPr lang="en-US" altLang="zh-CN"/>
          </a:p>
        </p:txBody>
      </p:sp>
    </p:spTree>
    <p:extLst>
      <p:ext uri="{BB962C8B-B14F-4D97-AF65-F5344CB8AC3E}">
        <p14:creationId xmlns:p14="http://schemas.microsoft.com/office/powerpoint/2010/main" val="149785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22</a:t>
            </a:fld>
            <a:endParaRPr lang="en-US" altLang="zh-CN"/>
          </a:p>
        </p:txBody>
      </p:sp>
    </p:spTree>
    <p:extLst>
      <p:ext uri="{BB962C8B-B14F-4D97-AF65-F5344CB8AC3E}">
        <p14:creationId xmlns:p14="http://schemas.microsoft.com/office/powerpoint/2010/main" val="8806949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23</a:t>
            </a:fld>
            <a:endParaRPr lang="en-US" altLang="zh-CN"/>
          </a:p>
        </p:txBody>
      </p:sp>
    </p:spTree>
    <p:extLst>
      <p:ext uri="{BB962C8B-B14F-4D97-AF65-F5344CB8AC3E}">
        <p14:creationId xmlns:p14="http://schemas.microsoft.com/office/powerpoint/2010/main" val="41022272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24</a:t>
            </a:fld>
            <a:endParaRPr lang="en-US" altLang="zh-CN"/>
          </a:p>
        </p:txBody>
      </p:sp>
    </p:spTree>
    <p:extLst>
      <p:ext uri="{BB962C8B-B14F-4D97-AF65-F5344CB8AC3E}">
        <p14:creationId xmlns:p14="http://schemas.microsoft.com/office/powerpoint/2010/main" val="16550164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25</a:t>
            </a:fld>
            <a:endParaRPr lang="en-US" altLang="zh-CN"/>
          </a:p>
        </p:txBody>
      </p:sp>
    </p:spTree>
    <p:extLst>
      <p:ext uri="{BB962C8B-B14F-4D97-AF65-F5344CB8AC3E}">
        <p14:creationId xmlns:p14="http://schemas.microsoft.com/office/powerpoint/2010/main" val="21585748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26</a:t>
            </a:fld>
            <a:endParaRPr lang="en-US" altLang="zh-CN"/>
          </a:p>
        </p:txBody>
      </p:sp>
    </p:spTree>
    <p:extLst>
      <p:ext uri="{BB962C8B-B14F-4D97-AF65-F5344CB8AC3E}">
        <p14:creationId xmlns:p14="http://schemas.microsoft.com/office/powerpoint/2010/main" val="892996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27</a:t>
            </a:fld>
            <a:endParaRPr lang="en-US" altLang="zh-CN"/>
          </a:p>
        </p:txBody>
      </p:sp>
    </p:spTree>
    <p:extLst>
      <p:ext uri="{BB962C8B-B14F-4D97-AF65-F5344CB8AC3E}">
        <p14:creationId xmlns:p14="http://schemas.microsoft.com/office/powerpoint/2010/main" val="2834591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0D073E0C-595E-4C53-9095-8208B06586E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B2B1E6C-A0FA-473D-881F-01B288FF954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E10965E1-6CEF-4B23-BAC6-1B9B5A5ED488}"/>
              </a:ext>
            </a:extLst>
          </p:cNvPr>
          <p:cNvSpPr>
            <a:spLocks noGrp="1"/>
          </p:cNvSpPr>
          <p:nvPr>
            <p:ph type="sldNum" sz="quarter" idx="12"/>
          </p:nvPr>
        </p:nvSpPr>
        <p:spPr/>
        <p:txBody>
          <a:bodyPr/>
          <a:lstStyle>
            <a:lvl1pPr>
              <a:defRPr/>
            </a:lvl1pPr>
          </a:lstStyle>
          <a:p>
            <a:pPr>
              <a:defRPr/>
            </a:pPr>
            <a:fld id="{40EE8921-E360-4F97-9C99-61A8741713BD}" type="slidenum">
              <a:rPr lang="en-US" altLang="zh-CN"/>
              <a:pPr>
                <a:defRPr/>
              </a:pPr>
              <a:t>‹#›</a:t>
            </a:fld>
            <a:endParaRPr lang="en-US" altLang="zh-CN"/>
          </a:p>
        </p:txBody>
      </p:sp>
    </p:spTree>
    <p:extLst>
      <p:ext uri="{BB962C8B-B14F-4D97-AF65-F5344CB8AC3E}">
        <p14:creationId xmlns:p14="http://schemas.microsoft.com/office/powerpoint/2010/main" val="4028780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9F614CD-B239-45D8-A0A7-A12DEFF4499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39DCE3F-9750-4FFD-A721-4D3E16578A3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FAF3DD8-E4BC-4FD3-8612-043EA5BA4E54}"/>
              </a:ext>
            </a:extLst>
          </p:cNvPr>
          <p:cNvSpPr>
            <a:spLocks noGrp="1"/>
          </p:cNvSpPr>
          <p:nvPr>
            <p:ph type="sldNum" sz="quarter" idx="12"/>
          </p:nvPr>
        </p:nvSpPr>
        <p:spPr/>
        <p:txBody>
          <a:bodyPr/>
          <a:lstStyle>
            <a:lvl1pPr>
              <a:defRPr/>
            </a:lvl1pPr>
          </a:lstStyle>
          <a:p>
            <a:pPr>
              <a:defRPr/>
            </a:pPr>
            <a:fld id="{57D42A9A-50D9-44A0-942F-830B13065C54}" type="slidenum">
              <a:rPr lang="en-US" altLang="zh-CN"/>
              <a:pPr>
                <a:defRPr/>
              </a:pPr>
              <a:t>‹#›</a:t>
            </a:fld>
            <a:endParaRPr lang="en-US" altLang="zh-CN"/>
          </a:p>
        </p:txBody>
      </p:sp>
    </p:spTree>
    <p:extLst>
      <p:ext uri="{BB962C8B-B14F-4D97-AF65-F5344CB8AC3E}">
        <p14:creationId xmlns:p14="http://schemas.microsoft.com/office/powerpoint/2010/main" val="156491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37316A9-C9F5-4902-A039-6290DA8C091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B7336F3-15CE-4640-985D-FEF85705525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3B2E73B-89F0-4624-8161-00493E6633E0}"/>
              </a:ext>
            </a:extLst>
          </p:cNvPr>
          <p:cNvSpPr>
            <a:spLocks noGrp="1"/>
          </p:cNvSpPr>
          <p:nvPr>
            <p:ph type="sldNum" sz="quarter" idx="12"/>
          </p:nvPr>
        </p:nvSpPr>
        <p:spPr/>
        <p:txBody>
          <a:bodyPr/>
          <a:lstStyle>
            <a:lvl1pPr>
              <a:defRPr/>
            </a:lvl1pPr>
          </a:lstStyle>
          <a:p>
            <a:pPr>
              <a:defRPr/>
            </a:pPr>
            <a:fld id="{5815FD0E-A9F0-4EE9-A7BA-C1FC57D0F8C7}" type="slidenum">
              <a:rPr lang="en-US" altLang="zh-CN"/>
              <a:pPr>
                <a:defRPr/>
              </a:pPr>
              <a:t>‹#›</a:t>
            </a:fld>
            <a:endParaRPr lang="en-US" altLang="zh-CN"/>
          </a:p>
        </p:txBody>
      </p:sp>
    </p:spTree>
    <p:extLst>
      <p:ext uri="{BB962C8B-B14F-4D97-AF65-F5344CB8AC3E}">
        <p14:creationId xmlns:p14="http://schemas.microsoft.com/office/powerpoint/2010/main" val="344547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684298B5-1997-47D3-8707-43139F3C6235}"/>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69C13878-3A5B-4C6E-A392-24112FF256E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E318DBB8-F3A7-4DB1-B70A-9BB8BBE1602E}"/>
              </a:ext>
            </a:extLst>
          </p:cNvPr>
          <p:cNvSpPr>
            <a:spLocks noGrp="1"/>
          </p:cNvSpPr>
          <p:nvPr>
            <p:ph type="sldNum" sz="quarter" idx="12"/>
          </p:nvPr>
        </p:nvSpPr>
        <p:spPr/>
        <p:txBody>
          <a:bodyPr/>
          <a:lstStyle>
            <a:lvl1pPr>
              <a:defRPr/>
            </a:lvl1pPr>
          </a:lstStyle>
          <a:p>
            <a:pPr>
              <a:defRPr/>
            </a:pPr>
            <a:fld id="{AA174120-868A-4421-8249-4D6E3ADF6E6C}" type="slidenum">
              <a:rPr lang="en-US" altLang="zh-CN"/>
              <a:pPr>
                <a:defRPr/>
              </a:pPr>
              <a:t>‹#›</a:t>
            </a:fld>
            <a:endParaRPr lang="en-US" altLang="zh-CN"/>
          </a:p>
        </p:txBody>
      </p:sp>
    </p:spTree>
    <p:extLst>
      <p:ext uri="{BB962C8B-B14F-4D97-AF65-F5344CB8AC3E}">
        <p14:creationId xmlns:p14="http://schemas.microsoft.com/office/powerpoint/2010/main" val="293306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B5DDD5D-68B2-4EE4-9D49-47ECEFAF308F}"/>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269F8334-9B83-4AFE-829B-1D1AB9DF91DF}"/>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98AC02CA-5B2C-4006-8CF2-9AFD2C5F3CAA}"/>
              </a:ext>
            </a:extLst>
          </p:cNvPr>
          <p:cNvSpPr>
            <a:spLocks noGrp="1"/>
          </p:cNvSpPr>
          <p:nvPr>
            <p:ph type="sldNum" sz="quarter" idx="12"/>
          </p:nvPr>
        </p:nvSpPr>
        <p:spPr/>
        <p:txBody>
          <a:bodyPr/>
          <a:lstStyle>
            <a:lvl1pPr>
              <a:defRPr/>
            </a:lvl1pPr>
          </a:lstStyle>
          <a:p>
            <a:pPr>
              <a:defRPr/>
            </a:pPr>
            <a:fld id="{3EF73EEF-4FEF-4791-9BF5-33ED2E9237A8}" type="slidenum">
              <a:rPr lang="en-US" altLang="zh-CN"/>
              <a:pPr>
                <a:defRPr/>
              </a:pPr>
              <a:t>‹#›</a:t>
            </a:fld>
            <a:endParaRPr lang="en-US" altLang="zh-CN"/>
          </a:p>
        </p:txBody>
      </p:sp>
    </p:spTree>
    <p:extLst>
      <p:ext uri="{BB962C8B-B14F-4D97-AF65-F5344CB8AC3E}">
        <p14:creationId xmlns:p14="http://schemas.microsoft.com/office/powerpoint/2010/main" val="355217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57A7FE08-A47F-4728-BA15-939D7D164626}"/>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91E6467E-C8D4-4B27-B76E-17877C3562F4}"/>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D18B86C8-75E7-42E3-9475-F5A931077006}"/>
              </a:ext>
            </a:extLst>
          </p:cNvPr>
          <p:cNvSpPr>
            <a:spLocks noGrp="1"/>
          </p:cNvSpPr>
          <p:nvPr>
            <p:ph type="sldNum" sz="quarter" idx="12"/>
          </p:nvPr>
        </p:nvSpPr>
        <p:spPr/>
        <p:txBody>
          <a:bodyPr/>
          <a:lstStyle>
            <a:lvl1pPr>
              <a:defRPr/>
            </a:lvl1pPr>
          </a:lstStyle>
          <a:p>
            <a:pPr>
              <a:defRPr/>
            </a:pPr>
            <a:fld id="{754EDC7B-39ED-4E06-8261-D282CFB739B0}" type="slidenum">
              <a:rPr lang="en-US" altLang="zh-CN"/>
              <a:pPr>
                <a:defRPr/>
              </a:pPr>
              <a:t>‹#›</a:t>
            </a:fld>
            <a:endParaRPr lang="en-US" altLang="zh-CN"/>
          </a:p>
        </p:txBody>
      </p:sp>
    </p:spTree>
    <p:extLst>
      <p:ext uri="{BB962C8B-B14F-4D97-AF65-F5344CB8AC3E}">
        <p14:creationId xmlns:p14="http://schemas.microsoft.com/office/powerpoint/2010/main" val="417890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D63E48E-14B0-4254-85F2-1127F8EF8389}"/>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CD097F6E-BBCD-4B75-8AA0-D308D5882B20}"/>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496222CC-E15B-4156-B3B7-3118E27E1294}"/>
              </a:ext>
            </a:extLst>
          </p:cNvPr>
          <p:cNvSpPr>
            <a:spLocks noGrp="1"/>
          </p:cNvSpPr>
          <p:nvPr>
            <p:ph type="sldNum" sz="quarter" idx="12"/>
          </p:nvPr>
        </p:nvSpPr>
        <p:spPr/>
        <p:txBody>
          <a:bodyPr/>
          <a:lstStyle>
            <a:lvl1pPr>
              <a:defRPr/>
            </a:lvl1pPr>
          </a:lstStyle>
          <a:p>
            <a:pPr>
              <a:defRPr/>
            </a:pPr>
            <a:fld id="{6BB18EFD-3A09-45D9-93FD-660BCD5D131C}" type="slidenum">
              <a:rPr lang="en-US" altLang="zh-CN"/>
              <a:pPr>
                <a:defRPr/>
              </a:pPr>
              <a:t>‹#›</a:t>
            </a:fld>
            <a:endParaRPr lang="en-US" altLang="zh-CN"/>
          </a:p>
        </p:txBody>
      </p:sp>
    </p:spTree>
    <p:extLst>
      <p:ext uri="{BB962C8B-B14F-4D97-AF65-F5344CB8AC3E}">
        <p14:creationId xmlns:p14="http://schemas.microsoft.com/office/powerpoint/2010/main" val="7857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9874A74-7AD0-4E58-BCCC-249F369E6B1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CBB7CA2F-3DF2-49AD-9CFD-031F69E11E4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E4ADBA7-8C9B-46F8-8CA9-1C50501B040C}"/>
              </a:ext>
            </a:extLst>
          </p:cNvPr>
          <p:cNvSpPr>
            <a:spLocks noGrp="1"/>
          </p:cNvSpPr>
          <p:nvPr>
            <p:ph type="sldNum" sz="quarter" idx="12"/>
          </p:nvPr>
        </p:nvSpPr>
        <p:spPr/>
        <p:txBody>
          <a:bodyPr/>
          <a:lstStyle>
            <a:lvl1pPr>
              <a:defRPr/>
            </a:lvl1pPr>
          </a:lstStyle>
          <a:p>
            <a:pPr>
              <a:defRPr/>
            </a:pPr>
            <a:fld id="{BEC7728D-3AF0-4D0B-8BBC-020591782043}" type="slidenum">
              <a:rPr lang="en-US" altLang="zh-CN"/>
              <a:pPr>
                <a:defRPr/>
              </a:pPr>
              <a:t>‹#›</a:t>
            </a:fld>
            <a:endParaRPr lang="en-US" altLang="zh-CN"/>
          </a:p>
        </p:txBody>
      </p:sp>
    </p:spTree>
    <p:extLst>
      <p:ext uri="{BB962C8B-B14F-4D97-AF65-F5344CB8AC3E}">
        <p14:creationId xmlns:p14="http://schemas.microsoft.com/office/powerpoint/2010/main" val="287102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4F84FB5-1CCE-40FE-B3AB-DBF9BEF55DA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466C46B-A236-4A20-B24E-803F8A00558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A67AB6C4-84B8-47E3-A774-091F34804831}"/>
              </a:ext>
            </a:extLst>
          </p:cNvPr>
          <p:cNvSpPr>
            <a:spLocks noGrp="1"/>
          </p:cNvSpPr>
          <p:nvPr>
            <p:ph type="sldNum" sz="quarter" idx="12"/>
          </p:nvPr>
        </p:nvSpPr>
        <p:spPr/>
        <p:txBody>
          <a:bodyPr/>
          <a:lstStyle>
            <a:lvl1pPr>
              <a:defRPr/>
            </a:lvl1pPr>
          </a:lstStyle>
          <a:p>
            <a:pPr>
              <a:defRPr/>
            </a:pPr>
            <a:fld id="{0ED70BCD-4D22-4981-9B1B-3248931CF6F1}" type="slidenum">
              <a:rPr lang="en-US" altLang="zh-CN"/>
              <a:pPr>
                <a:defRPr/>
              </a:pPr>
              <a:t>‹#›</a:t>
            </a:fld>
            <a:endParaRPr lang="en-US" altLang="zh-CN"/>
          </a:p>
        </p:txBody>
      </p:sp>
    </p:spTree>
    <p:extLst>
      <p:ext uri="{BB962C8B-B14F-4D97-AF65-F5344CB8AC3E}">
        <p14:creationId xmlns:p14="http://schemas.microsoft.com/office/powerpoint/2010/main" val="399926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A6063F-5BED-4D65-9A6C-76CBFDD5FAD8}"/>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5F8E9E7-9530-4E53-9BAC-529EEACBF12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7676F0A4-4CF5-4EDF-8761-F2A1233150CD}"/>
              </a:ext>
            </a:extLst>
          </p:cNvPr>
          <p:cNvSpPr>
            <a:spLocks noGrp="1"/>
          </p:cNvSpPr>
          <p:nvPr>
            <p:ph type="sldNum" sz="quarter" idx="12"/>
          </p:nvPr>
        </p:nvSpPr>
        <p:spPr/>
        <p:txBody>
          <a:bodyPr/>
          <a:lstStyle>
            <a:lvl1pPr>
              <a:defRPr/>
            </a:lvl1pPr>
          </a:lstStyle>
          <a:p>
            <a:pPr>
              <a:defRPr/>
            </a:pPr>
            <a:fld id="{0B4737E1-E987-4AD5-B2EB-0DDC696930E3}" type="slidenum">
              <a:rPr lang="en-US" altLang="zh-CN"/>
              <a:pPr>
                <a:defRPr/>
              </a:pPr>
              <a:t>‹#›</a:t>
            </a:fld>
            <a:endParaRPr lang="en-US" altLang="zh-CN"/>
          </a:p>
        </p:txBody>
      </p:sp>
    </p:spTree>
    <p:extLst>
      <p:ext uri="{BB962C8B-B14F-4D97-AF65-F5344CB8AC3E}">
        <p14:creationId xmlns:p14="http://schemas.microsoft.com/office/powerpoint/2010/main" val="170852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CDBBE8-3F87-4EAA-AD7E-2E49380052A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DC92921-454E-40E8-8306-30A3BA2B98E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C44A951-BEE1-473C-A9B4-94A9FAAFA067}"/>
              </a:ext>
            </a:extLst>
          </p:cNvPr>
          <p:cNvSpPr>
            <a:spLocks noGrp="1"/>
          </p:cNvSpPr>
          <p:nvPr>
            <p:ph type="sldNum" sz="quarter" idx="12"/>
          </p:nvPr>
        </p:nvSpPr>
        <p:spPr/>
        <p:txBody>
          <a:bodyPr/>
          <a:lstStyle>
            <a:lvl1pPr>
              <a:defRPr/>
            </a:lvl1pPr>
          </a:lstStyle>
          <a:p>
            <a:pPr>
              <a:defRPr/>
            </a:pPr>
            <a:fld id="{A11CB01F-0E82-40BF-8900-42E0D2BCC473}" type="slidenum">
              <a:rPr lang="en-US" altLang="zh-CN"/>
              <a:pPr>
                <a:defRPr/>
              </a:pPr>
              <a:t>‹#›</a:t>
            </a:fld>
            <a:endParaRPr lang="en-US" altLang="zh-CN"/>
          </a:p>
        </p:txBody>
      </p:sp>
    </p:spTree>
    <p:extLst>
      <p:ext uri="{BB962C8B-B14F-4D97-AF65-F5344CB8AC3E}">
        <p14:creationId xmlns:p14="http://schemas.microsoft.com/office/powerpoint/2010/main" val="651276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52F6EB8-5E53-465C-9AF4-2F9556260DF8}"/>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3D3C6D25-02EA-4FD7-BBFE-0A079CC201C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329B950-2279-426B-A75D-2205C4FDCAF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anose="02010600030101010101" pitchFamily="2" charset="-122"/>
              </a:defRPr>
            </a:lvl1pPr>
          </a:lstStyle>
          <a:p>
            <a:pPr>
              <a:defRPr/>
            </a:pPr>
            <a:endParaRPr lang="en-US" altLang="zh-CN"/>
          </a:p>
        </p:txBody>
      </p:sp>
      <p:sp>
        <p:nvSpPr>
          <p:cNvPr id="5" name="页脚占位符 4">
            <a:extLst>
              <a:ext uri="{FF2B5EF4-FFF2-40B4-BE49-F238E27FC236}">
                <a16:creationId xmlns:a16="http://schemas.microsoft.com/office/drawing/2014/main" id="{9F55F833-D392-45C0-81AD-6A85F2D1B1F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anose="02010600030101010101" pitchFamily="2" charset="-122"/>
              </a:defRPr>
            </a:lvl1pPr>
          </a:lstStyle>
          <a:p>
            <a:pPr>
              <a:defRPr/>
            </a:pPr>
            <a:endParaRPr lang="en-US" altLang="zh-CN"/>
          </a:p>
        </p:txBody>
      </p:sp>
      <p:sp>
        <p:nvSpPr>
          <p:cNvPr id="6" name="灯片编号占位符 5">
            <a:extLst>
              <a:ext uri="{FF2B5EF4-FFF2-40B4-BE49-F238E27FC236}">
                <a16:creationId xmlns:a16="http://schemas.microsoft.com/office/drawing/2014/main" id="{A8C5D78B-D30C-4403-B3CF-84D6D44D646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D04381-0D1C-45F5-A5D4-27800770629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11354116-69CD-41E5-87B9-187054499177}"/>
              </a:ext>
            </a:extLst>
          </p:cNvPr>
          <p:cNvSpPr>
            <a:spLocks noGrp="1" noChangeArrowheads="1"/>
          </p:cNvSpPr>
          <p:nvPr>
            <p:ph idx="1"/>
          </p:nvPr>
        </p:nvSpPr>
        <p:spPr>
          <a:xfrm>
            <a:off x="457200" y="990600"/>
            <a:ext cx="8229600" cy="5038725"/>
          </a:xfrm>
        </p:spPr>
        <p:txBody>
          <a:bodyPr/>
          <a:lstStyle/>
          <a:p>
            <a:pPr eaLnBrk="1" hangingPunct="1"/>
            <a:endParaRPr lang="en-US" altLang="zh-CN" sz="2400" b="1" dirty="0"/>
          </a:p>
          <a:p>
            <a:pPr eaLnBrk="1" hangingPunct="1"/>
            <a:endParaRPr lang="en-US" altLang="zh-CN" sz="2400" b="1" dirty="0"/>
          </a:p>
          <a:p>
            <a:pPr algn="ctr" eaLnBrk="1" hangingPunct="1">
              <a:buFont typeface="Wingdings" panose="05000000000000000000" pitchFamily="2" charset="2"/>
              <a:buNone/>
            </a:pPr>
            <a:r>
              <a:rPr lang="zh-CN" altLang="en-US" sz="4400" b="1" dirty="0">
                <a:latin typeface="仿宋_GB2312" pitchFamily="49" charset="-122"/>
                <a:ea typeface="仿宋_GB2312" pitchFamily="49" charset="-122"/>
              </a:rPr>
              <a:t>第九章 能量效率与热量排除</a:t>
            </a:r>
            <a:endParaRPr lang="en-US" altLang="zh-CN" sz="4400" b="1" dirty="0">
              <a:latin typeface="仿宋_GB2312" pitchFamily="49" charset="-122"/>
              <a:ea typeface="仿宋_GB2312" pitchFamily="49" charset="-122"/>
            </a:endParaRPr>
          </a:p>
          <a:p>
            <a:pPr algn="ctr" eaLnBrk="1" hangingPunct="1">
              <a:buFont typeface="Wingdings" panose="05000000000000000000" pitchFamily="2" charset="2"/>
              <a:buNone/>
            </a:pPr>
            <a:endParaRPr lang="en-US" altLang="zh-CN" sz="4400" b="1" dirty="0">
              <a:latin typeface="仿宋_GB2312" pitchFamily="49" charset="-122"/>
              <a:ea typeface="仿宋_GB2312" pitchFamily="49" charset="-122"/>
            </a:endParaRPr>
          </a:p>
          <a:p>
            <a:pPr algn="ctr" eaLnBrk="1" hangingPunct="1">
              <a:buFont typeface="Wingdings" panose="05000000000000000000" pitchFamily="2" charset="2"/>
              <a:buNone/>
            </a:pPr>
            <a:endParaRPr lang="en-US" altLang="zh-CN" sz="4400" b="1" dirty="0">
              <a:latin typeface="仿宋_GB2312" pitchFamily="49" charset="-122"/>
              <a:ea typeface="仿宋_GB2312" pitchFamily="49" charset="-122"/>
            </a:endParaRPr>
          </a:p>
          <a:p>
            <a:pPr algn="ctr" eaLnBrk="1" hangingPunct="1">
              <a:buFont typeface="Wingdings" panose="05000000000000000000" pitchFamily="2" charset="2"/>
              <a:buNone/>
            </a:pPr>
            <a:endParaRPr lang="en-US" altLang="zh-CN" sz="4400" b="1" dirty="0">
              <a:latin typeface="仿宋_GB2312" pitchFamily="49" charset="-122"/>
              <a:ea typeface="仿宋_GB2312" pitchFamily="49" charset="-122"/>
            </a:endParaRPr>
          </a:p>
          <a:p>
            <a:pPr eaLnBrk="1" hangingPunct="1">
              <a:buFont typeface="Wingdings" panose="05000000000000000000" pitchFamily="2" charset="2"/>
              <a:buNone/>
            </a:pPr>
            <a:r>
              <a:rPr lang="zh-CN" altLang="en-US" sz="4800" b="1" dirty="0">
                <a:latin typeface="仿宋_GB2312" pitchFamily="49" charset="-122"/>
                <a:ea typeface="仿宋_GB2312" pitchFamily="49" charset="-122"/>
              </a:rPr>
              <a:t>         </a:t>
            </a:r>
            <a:endParaRPr lang="en-US" altLang="zh-CN" sz="4800" b="1" dirty="0">
              <a:latin typeface="仿宋_GB2312" pitchFamily="49" charset="-122"/>
              <a:ea typeface="仿宋_GB2312" pitchFamily="49" charset="-122"/>
            </a:endParaRPr>
          </a:p>
          <a:p>
            <a:pPr eaLnBrk="1" hangingPunct="1">
              <a:buFont typeface="Wingdings" panose="05000000000000000000" pitchFamily="2" charset="2"/>
              <a:buNone/>
            </a:pPr>
            <a:endParaRPr lang="en-US" altLang="zh-CN" sz="4800" b="1" dirty="0">
              <a:latin typeface="仿宋_GB2312" pitchFamily="49" charset="-122"/>
              <a:ea typeface="仿宋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sp>
        <p:nvSpPr>
          <p:cNvPr id="3" name="矩形 2">
            <a:extLst>
              <a:ext uri="{FF2B5EF4-FFF2-40B4-BE49-F238E27FC236}">
                <a16:creationId xmlns:a16="http://schemas.microsoft.com/office/drawing/2014/main" id="{EF62B4A8-DB90-43DC-9872-202DF9DDB5B0}"/>
              </a:ext>
            </a:extLst>
          </p:cNvPr>
          <p:cNvSpPr/>
          <p:nvPr/>
        </p:nvSpPr>
        <p:spPr>
          <a:xfrm>
            <a:off x="323528" y="620688"/>
            <a:ext cx="8712968" cy="1569660"/>
          </a:xfrm>
          <a:prstGeom prst="rect">
            <a:avLst/>
          </a:prstGeom>
        </p:spPr>
        <p:txBody>
          <a:bodyPr wrap="square">
            <a:spAutoFit/>
          </a:bodyPr>
          <a:lstStyle/>
          <a:p>
            <a:r>
              <a:rPr lang="zh-CN" altLang="en-US" sz="2400" dirty="0"/>
              <a:t>电池驱动的电路问题是从何处得到能量，把热量排出是高性能电路的一个主要问题；</a:t>
            </a:r>
            <a:endParaRPr lang="en-US" altLang="zh-CN" sz="2400" dirty="0"/>
          </a:p>
          <a:p>
            <a:r>
              <a:rPr lang="zh-CN" altLang="en-US" sz="2400" dirty="0"/>
              <a:t>电路的效率可定义为每个计算操作消耗的能量，或处理每个数据项所消耗的能量</a:t>
            </a:r>
            <a:r>
              <a:rPr lang="en-US" altLang="zh-CN" sz="2400" dirty="0"/>
              <a:t>: P = </a:t>
            </a:r>
            <a:r>
              <a:rPr lang="en-US" altLang="zh-CN" sz="2400" dirty="0" err="1"/>
              <a:t>f</a:t>
            </a:r>
            <a:r>
              <a:rPr lang="en-US" altLang="zh-CN" sz="2400" baseline="-25000" dirty="0" err="1"/>
              <a:t>cp</a:t>
            </a:r>
            <a:r>
              <a:rPr lang="en-US" altLang="zh-CN" sz="2400" dirty="0" err="1"/>
              <a:t>E</a:t>
            </a:r>
            <a:r>
              <a:rPr lang="en-US" altLang="zh-CN" sz="2400" baseline="-25000" dirty="0" err="1"/>
              <a:t>cp</a:t>
            </a:r>
            <a:r>
              <a:rPr lang="en-US" altLang="zh-CN" sz="2400" dirty="0"/>
              <a:t> 	</a:t>
            </a:r>
            <a:r>
              <a:rPr lang="en-US" altLang="zh-CN" sz="2400" dirty="0" err="1"/>
              <a:t>E</a:t>
            </a:r>
            <a:r>
              <a:rPr lang="en-US" altLang="zh-CN" sz="2400" baseline="-25000" dirty="0" err="1"/>
              <a:t>cp</a:t>
            </a:r>
            <a:r>
              <a:rPr lang="en-US" altLang="zh-CN" sz="2400" dirty="0"/>
              <a:t> = </a:t>
            </a:r>
            <a:r>
              <a:rPr lang="en-US" altLang="zh-CN" sz="2400" dirty="0" err="1"/>
              <a:t>PT</a:t>
            </a:r>
            <a:r>
              <a:rPr lang="en-US" altLang="zh-CN" sz="2400" baseline="-25000" dirty="0" err="1"/>
              <a:t>cp</a:t>
            </a:r>
            <a:endParaRPr lang="en-US" altLang="zh-CN" sz="2400" dirty="0"/>
          </a:p>
        </p:txBody>
      </p:sp>
      <p:pic>
        <p:nvPicPr>
          <p:cNvPr id="5" name="图片 4">
            <a:extLst>
              <a:ext uri="{FF2B5EF4-FFF2-40B4-BE49-F238E27FC236}">
                <a16:creationId xmlns:a16="http://schemas.microsoft.com/office/drawing/2014/main" id="{DF0FA0BD-9723-424A-8A0C-4E5087738F14}"/>
              </a:ext>
            </a:extLst>
          </p:cNvPr>
          <p:cNvPicPr>
            <a:picLocks noChangeAspect="1"/>
          </p:cNvPicPr>
          <p:nvPr/>
        </p:nvPicPr>
        <p:blipFill>
          <a:blip r:embed="rId3"/>
          <a:stretch>
            <a:fillRect/>
          </a:stretch>
        </p:blipFill>
        <p:spPr>
          <a:xfrm>
            <a:off x="456595" y="2436068"/>
            <a:ext cx="7886700" cy="4305300"/>
          </a:xfrm>
          <a:prstGeom prst="rect">
            <a:avLst/>
          </a:prstGeom>
        </p:spPr>
      </p:pic>
    </p:spTree>
    <p:extLst>
      <p:ext uri="{BB962C8B-B14F-4D97-AF65-F5344CB8AC3E}">
        <p14:creationId xmlns:p14="http://schemas.microsoft.com/office/powerpoint/2010/main" val="3285206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sp>
        <p:nvSpPr>
          <p:cNvPr id="3" name="矩形 2">
            <a:extLst>
              <a:ext uri="{FF2B5EF4-FFF2-40B4-BE49-F238E27FC236}">
                <a16:creationId xmlns:a16="http://schemas.microsoft.com/office/drawing/2014/main" id="{EF62B4A8-DB90-43DC-9872-202DF9DDB5B0}"/>
              </a:ext>
            </a:extLst>
          </p:cNvPr>
          <p:cNvSpPr/>
          <p:nvPr/>
        </p:nvSpPr>
        <p:spPr>
          <a:xfrm>
            <a:off x="323528" y="620688"/>
            <a:ext cx="8712968" cy="3416320"/>
          </a:xfrm>
          <a:prstGeom prst="rect">
            <a:avLst/>
          </a:prstGeom>
        </p:spPr>
        <p:txBody>
          <a:bodyPr wrap="square">
            <a:spAutoFit/>
          </a:bodyPr>
          <a:lstStyle/>
          <a:p>
            <a:r>
              <a:rPr lang="en-US" altLang="zh-CN" sz="2400" dirty="0"/>
              <a:t>9.1.1</a:t>
            </a:r>
            <a:r>
              <a:rPr lang="zh-CN" altLang="en-US" sz="2400" dirty="0"/>
              <a:t>电容负载的充电和放电</a:t>
            </a:r>
            <a:endParaRPr lang="en-US" altLang="zh-CN" sz="2400" dirty="0"/>
          </a:p>
          <a:p>
            <a:r>
              <a:rPr lang="en-US" altLang="zh-CN" sz="2400" dirty="0"/>
              <a:t>1.  </a:t>
            </a:r>
            <a:r>
              <a:rPr lang="zh-CN" altLang="en-US" sz="2400" dirty="0"/>
              <a:t>单一节点情况</a:t>
            </a:r>
          </a:p>
          <a:p>
            <a:r>
              <a:rPr lang="zh-CN" altLang="en-US" sz="2400" dirty="0"/>
              <a:t>考虑电路节点 </a:t>
            </a:r>
            <a:r>
              <a:rPr lang="en-US" altLang="zh-CN" sz="2400" dirty="0"/>
              <a:t>k</a:t>
            </a:r>
            <a:r>
              <a:rPr lang="zh-CN" altLang="en-US" sz="2400" dirty="0"/>
              <a:t>的逻辑状态从</a:t>
            </a:r>
            <a:r>
              <a:rPr lang="en-US" altLang="zh-CN" sz="2400" dirty="0"/>
              <a:t>1</a:t>
            </a:r>
            <a:r>
              <a:rPr lang="zh-CN" altLang="en-US" sz="2400" dirty="0"/>
              <a:t>变化到</a:t>
            </a:r>
            <a:r>
              <a:rPr lang="en-US" altLang="zh-CN" sz="2400" dirty="0"/>
              <a:t>0</a:t>
            </a:r>
            <a:r>
              <a:rPr lang="zh-CN" altLang="en-US" sz="2400" dirty="0"/>
              <a:t>时消耗的能量 </a:t>
            </a:r>
            <a:r>
              <a:rPr lang="en-US" altLang="zh-CN" sz="2400" dirty="0" err="1"/>
              <a:t>E</a:t>
            </a:r>
            <a:r>
              <a:rPr lang="en-US" altLang="zh-CN" sz="2400" baseline="-25000" dirty="0" err="1"/>
              <a:t>fa</a:t>
            </a:r>
            <a:r>
              <a:rPr lang="en-US" altLang="zh-CN" sz="2400" dirty="0"/>
              <a:t> </a:t>
            </a:r>
            <a:r>
              <a:rPr lang="zh-CN" altLang="en-US" sz="2400" dirty="0"/>
              <a:t>。</a:t>
            </a:r>
            <a:endParaRPr lang="en-US" altLang="zh-CN" sz="2400" dirty="0"/>
          </a:p>
          <a:p>
            <a:r>
              <a:rPr lang="zh-CN" altLang="en-US" sz="2400" dirty="0"/>
              <a:t>标准</a:t>
            </a:r>
            <a:r>
              <a:rPr lang="en-US" altLang="zh-CN" sz="2400" dirty="0"/>
              <a:t>CMOS</a:t>
            </a:r>
            <a:r>
              <a:rPr lang="zh-CN" altLang="en-US" sz="2400" dirty="0"/>
              <a:t>逻辑电路的输出电压在 </a:t>
            </a:r>
            <a:r>
              <a:rPr lang="en-US" altLang="zh-CN" sz="2400" dirty="0"/>
              <a:t>VDD</a:t>
            </a:r>
            <a:r>
              <a:rPr lang="zh-CN" altLang="en-US" sz="2400" dirty="0"/>
              <a:t>和</a:t>
            </a:r>
            <a:r>
              <a:rPr lang="en-US" altLang="zh-CN" sz="2400" dirty="0"/>
              <a:t>VSS</a:t>
            </a:r>
            <a:r>
              <a:rPr lang="zh-CN" altLang="en-US" sz="2400" dirty="0"/>
              <a:t>之间来回摆动；电容</a:t>
            </a:r>
            <a:r>
              <a:rPr lang="en-US" altLang="zh-CN" sz="2400" dirty="0"/>
              <a:t>C</a:t>
            </a:r>
            <a:r>
              <a:rPr lang="en-US" altLang="zh-CN" sz="2400" baseline="-25000" dirty="0"/>
              <a:t>k</a:t>
            </a:r>
            <a:r>
              <a:rPr lang="zh-CN" altLang="en-US" sz="2400" dirty="0"/>
              <a:t>充电到</a:t>
            </a:r>
            <a:r>
              <a:rPr lang="en-US" altLang="zh-CN" sz="2400" dirty="0" err="1"/>
              <a:t>U</a:t>
            </a:r>
            <a:r>
              <a:rPr lang="en-US" altLang="zh-CN" sz="2400" baseline="-25000" dirty="0" err="1"/>
              <a:t>dd</a:t>
            </a:r>
            <a:r>
              <a:rPr lang="zh-CN" altLang="en-US" sz="2400" dirty="0"/>
              <a:t>时，其能量</a:t>
            </a:r>
            <a:r>
              <a:rPr lang="en-US" altLang="zh-CN" sz="2400" dirty="0"/>
              <a:t>E</a:t>
            </a:r>
            <a:r>
              <a:rPr lang="en-US" altLang="zh-CN" sz="2400" baseline="-25000" dirty="0"/>
              <a:t>ck</a:t>
            </a:r>
            <a:r>
              <a:rPr lang="en-US" altLang="zh-CN" sz="2400" dirty="0"/>
              <a:t>=C</a:t>
            </a:r>
            <a:r>
              <a:rPr lang="en-US" altLang="zh-CN" sz="2400" baseline="-25000" dirty="0"/>
              <a:t>k</a:t>
            </a:r>
            <a:r>
              <a:rPr lang="en-US" altLang="zh-CN" sz="2400" dirty="0"/>
              <a:t>U</a:t>
            </a:r>
            <a:r>
              <a:rPr lang="en-US" altLang="zh-CN" sz="2400" baseline="30000" dirty="0"/>
              <a:t>2</a:t>
            </a:r>
            <a:r>
              <a:rPr lang="en-US" altLang="zh-CN" sz="2400" baseline="-25000" dirty="0"/>
              <a:t>dd</a:t>
            </a:r>
            <a:r>
              <a:rPr lang="en-US" altLang="zh-CN" sz="2400" dirty="0"/>
              <a:t>/2</a:t>
            </a:r>
            <a:r>
              <a:rPr lang="zh-CN" altLang="en-US" sz="2400" dirty="0"/>
              <a:t>；</a:t>
            </a:r>
            <a:endParaRPr lang="en-US" altLang="zh-CN" sz="2400" dirty="0"/>
          </a:p>
          <a:p>
            <a:r>
              <a:rPr lang="zh-CN" altLang="en-US" sz="2400" dirty="0"/>
              <a:t>电容</a:t>
            </a:r>
            <a:r>
              <a:rPr lang="en-US" altLang="zh-CN" sz="2400" dirty="0"/>
              <a:t>C</a:t>
            </a:r>
            <a:r>
              <a:rPr lang="en-US" altLang="zh-CN" sz="2400" baseline="-25000" dirty="0"/>
              <a:t>k</a:t>
            </a:r>
            <a:r>
              <a:rPr lang="zh-CN" altLang="en-US" sz="2400" dirty="0"/>
              <a:t>放电过程，在</a:t>
            </a:r>
            <a:r>
              <a:rPr lang="en-US" altLang="zh-CN" sz="2400" dirty="0"/>
              <a:t>n-MOSFET</a:t>
            </a:r>
            <a:r>
              <a:rPr lang="zh-CN" altLang="en-US" sz="2400" dirty="0"/>
              <a:t>中将电能</a:t>
            </a:r>
            <a:r>
              <a:rPr lang="en-US" altLang="zh-CN" sz="2400" dirty="0"/>
              <a:t>E</a:t>
            </a:r>
            <a:r>
              <a:rPr lang="en-US" altLang="zh-CN" sz="2400" baseline="-25000" dirty="0"/>
              <a:t>ck</a:t>
            </a:r>
            <a:r>
              <a:rPr lang="zh-CN" altLang="en-US" sz="2400" dirty="0"/>
              <a:t>转换为热能</a:t>
            </a:r>
            <a:endParaRPr lang="en-US" altLang="zh-CN" sz="2400" dirty="0"/>
          </a:p>
          <a:p>
            <a:r>
              <a:rPr lang="en-US" altLang="zh-CN" sz="2400" dirty="0" err="1"/>
              <a:t>E</a:t>
            </a:r>
            <a:r>
              <a:rPr lang="en-US" altLang="zh-CN" sz="2400" baseline="-25000" dirty="0" err="1"/>
              <a:t>ch</a:t>
            </a:r>
            <a:r>
              <a:rPr lang="en-US" altLang="zh-CN" sz="2400" baseline="-25000" dirty="0"/>
              <a:t> </a:t>
            </a:r>
            <a:r>
              <a:rPr lang="en-US" altLang="zh-CN" sz="2400" baseline="-25000" dirty="0" err="1"/>
              <a:t>cyc</a:t>
            </a:r>
            <a:r>
              <a:rPr lang="en-US" altLang="zh-CN" sz="2400" baseline="-25000" dirty="0"/>
              <a:t> k</a:t>
            </a:r>
            <a:r>
              <a:rPr lang="en-US" altLang="zh-CN" sz="2400" dirty="0"/>
              <a:t>=E</a:t>
            </a:r>
            <a:r>
              <a:rPr lang="en-US" altLang="zh-CN" sz="2400" baseline="-25000" dirty="0"/>
              <a:t>ri</a:t>
            </a:r>
            <a:r>
              <a:rPr lang="en-US" altLang="zh-CN" sz="2400" dirty="0"/>
              <a:t> + </a:t>
            </a:r>
            <a:r>
              <a:rPr lang="en-US" altLang="zh-CN" sz="2400" dirty="0" err="1"/>
              <a:t>E</a:t>
            </a:r>
            <a:r>
              <a:rPr lang="en-US" altLang="zh-CN" sz="2400" baseline="-25000" dirty="0" err="1"/>
              <a:t>fa</a:t>
            </a:r>
            <a:r>
              <a:rPr lang="en-US" altLang="zh-CN" sz="2400" dirty="0"/>
              <a:t> = C</a:t>
            </a:r>
            <a:r>
              <a:rPr lang="en-US" altLang="zh-CN" sz="2400" baseline="-25000" dirty="0"/>
              <a:t>k</a:t>
            </a:r>
            <a:r>
              <a:rPr lang="en-US" altLang="zh-CN" sz="2400" dirty="0"/>
              <a:t>U</a:t>
            </a:r>
            <a:r>
              <a:rPr lang="en-US" altLang="zh-CN" sz="2400" baseline="30000" dirty="0"/>
              <a:t>2</a:t>
            </a:r>
            <a:r>
              <a:rPr lang="en-US" altLang="zh-CN" sz="2400" baseline="-25000" dirty="0"/>
              <a:t>dd</a:t>
            </a:r>
          </a:p>
          <a:p>
            <a:endParaRPr lang="en-US" altLang="zh-CN" sz="2400" dirty="0"/>
          </a:p>
          <a:p>
            <a:r>
              <a:rPr lang="en-US" altLang="zh-CN" sz="2400" dirty="0"/>
              <a:t>EDA</a:t>
            </a:r>
            <a:r>
              <a:rPr lang="zh-CN" altLang="en-US" sz="2400" dirty="0"/>
              <a:t>工具中将节点</a:t>
            </a:r>
            <a:r>
              <a:rPr lang="en-US" altLang="zh-CN" sz="2400" dirty="0"/>
              <a:t>K</a:t>
            </a:r>
            <a:r>
              <a:rPr lang="zh-CN" altLang="en-US" sz="2400" dirty="0"/>
              <a:t>的总电容近似为</a:t>
            </a:r>
            <a:r>
              <a:rPr lang="en-US" altLang="zh-CN" sz="2400" dirty="0"/>
              <a:t>C</a:t>
            </a:r>
            <a:r>
              <a:rPr lang="en-US" altLang="zh-CN" sz="2400" baseline="-25000" dirty="0"/>
              <a:t>k</a:t>
            </a:r>
            <a:r>
              <a:rPr lang="en-US" altLang="zh-CN" sz="2400" dirty="0"/>
              <a:t>=</a:t>
            </a:r>
            <a:r>
              <a:rPr lang="en-US" altLang="zh-CN" sz="2400" dirty="0" err="1"/>
              <a:t>C</a:t>
            </a:r>
            <a:r>
              <a:rPr lang="en-US" altLang="zh-CN" sz="2400" baseline="-25000" dirty="0" err="1"/>
              <a:t>gate</a:t>
            </a:r>
            <a:r>
              <a:rPr lang="en-US" altLang="zh-CN" sz="2400" baseline="-25000" dirty="0"/>
              <a:t> k</a:t>
            </a:r>
            <a:r>
              <a:rPr lang="en-US" altLang="zh-CN" sz="2400" dirty="0"/>
              <a:t> + </a:t>
            </a:r>
            <a:r>
              <a:rPr lang="en-US" altLang="zh-CN" sz="2400" dirty="0" err="1"/>
              <a:t>C</a:t>
            </a:r>
            <a:r>
              <a:rPr lang="en-US" altLang="zh-CN" sz="2400" baseline="-25000" dirty="0" err="1"/>
              <a:t>wire</a:t>
            </a:r>
            <a:r>
              <a:rPr lang="en-US" altLang="zh-CN" sz="2400" baseline="-25000" dirty="0"/>
              <a:t> k</a:t>
            </a:r>
          </a:p>
        </p:txBody>
      </p:sp>
      <p:pic>
        <p:nvPicPr>
          <p:cNvPr id="4" name="图片 3">
            <a:extLst>
              <a:ext uri="{FF2B5EF4-FFF2-40B4-BE49-F238E27FC236}">
                <a16:creationId xmlns:a16="http://schemas.microsoft.com/office/drawing/2014/main" id="{35FF394E-645F-42AE-AFC7-132F8F1791FB}"/>
              </a:ext>
            </a:extLst>
          </p:cNvPr>
          <p:cNvPicPr>
            <a:picLocks noChangeAspect="1"/>
          </p:cNvPicPr>
          <p:nvPr/>
        </p:nvPicPr>
        <p:blipFill>
          <a:blip r:embed="rId3"/>
          <a:stretch>
            <a:fillRect/>
          </a:stretch>
        </p:blipFill>
        <p:spPr>
          <a:xfrm>
            <a:off x="323528" y="4149080"/>
            <a:ext cx="7477125" cy="2343150"/>
          </a:xfrm>
          <a:prstGeom prst="rect">
            <a:avLst/>
          </a:prstGeom>
        </p:spPr>
      </p:pic>
    </p:spTree>
    <p:extLst>
      <p:ext uri="{BB962C8B-B14F-4D97-AF65-F5344CB8AC3E}">
        <p14:creationId xmlns:p14="http://schemas.microsoft.com/office/powerpoint/2010/main" val="2495594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sp>
        <p:nvSpPr>
          <p:cNvPr id="3" name="矩形 2">
            <a:extLst>
              <a:ext uri="{FF2B5EF4-FFF2-40B4-BE49-F238E27FC236}">
                <a16:creationId xmlns:a16="http://schemas.microsoft.com/office/drawing/2014/main" id="{EF62B4A8-DB90-43DC-9872-202DF9DDB5B0}"/>
              </a:ext>
            </a:extLst>
          </p:cNvPr>
          <p:cNvSpPr/>
          <p:nvPr/>
        </p:nvSpPr>
        <p:spPr>
          <a:xfrm>
            <a:off x="323528" y="620688"/>
            <a:ext cx="8712968" cy="6001643"/>
          </a:xfrm>
          <a:prstGeom prst="rect">
            <a:avLst/>
          </a:prstGeom>
        </p:spPr>
        <p:txBody>
          <a:bodyPr wrap="square">
            <a:spAutoFit/>
          </a:bodyPr>
          <a:lstStyle/>
          <a:p>
            <a:r>
              <a:rPr lang="en-US" altLang="zh-CN" sz="2400" dirty="0"/>
              <a:t>9.1.1</a:t>
            </a:r>
            <a:r>
              <a:rPr lang="zh-CN" altLang="en-US" sz="2400" dirty="0"/>
              <a:t>电容负载的充电和放电</a:t>
            </a:r>
            <a:endParaRPr lang="en-US" altLang="zh-CN" sz="2400" dirty="0"/>
          </a:p>
          <a:p>
            <a:r>
              <a:rPr lang="en-US" altLang="zh-CN" sz="2400" dirty="0"/>
              <a:t>2.  </a:t>
            </a:r>
            <a:r>
              <a:rPr lang="zh-CN" altLang="en-US" sz="2400" dirty="0"/>
              <a:t>电路所有节点集合</a:t>
            </a:r>
          </a:p>
          <a:p>
            <a:pPr marL="342900" indent="-342900">
              <a:buFont typeface="Wingdings" panose="05000000000000000000" pitchFamily="2" charset="2"/>
              <a:buChar char="Ø"/>
            </a:pPr>
            <a:r>
              <a:rPr lang="zh-CN" altLang="en-US" sz="2400" dirty="0"/>
              <a:t>一个节点的活动性 </a:t>
            </a:r>
            <a:r>
              <a:rPr lang="en-US" altLang="zh-CN" sz="2400" dirty="0" err="1"/>
              <a:t>a</a:t>
            </a:r>
            <a:r>
              <a:rPr lang="en-US" altLang="zh-CN" sz="2400" baseline="-25000" dirty="0" err="1"/>
              <a:t>k</a:t>
            </a:r>
            <a:r>
              <a:rPr lang="en-US" altLang="zh-CN" sz="2400" dirty="0"/>
              <a:t> </a:t>
            </a:r>
            <a:r>
              <a:rPr lang="zh-CN" altLang="en-US" sz="2400" dirty="0"/>
              <a:t>指节点 </a:t>
            </a:r>
            <a:r>
              <a:rPr lang="en-US" altLang="zh-CN" sz="2400" dirty="0"/>
              <a:t>k</a:t>
            </a:r>
            <a:r>
              <a:rPr lang="zh-CN" altLang="en-US" sz="2400" dirty="0"/>
              <a:t>在多个计算周期内平均得到的每个计算周期从一个逻辑状态翻转到相反状态的次数；</a:t>
            </a:r>
            <a:endParaRPr lang="en-US" altLang="zh-CN" sz="2400" dirty="0"/>
          </a:p>
          <a:p>
            <a:pPr marL="342900" indent="-342900">
              <a:buFont typeface="Wingdings" panose="05000000000000000000" pitchFamily="2" charset="2"/>
              <a:buChar char="Ø"/>
            </a:pPr>
            <a:r>
              <a:rPr lang="zh-CN" altLang="en-US" sz="2400" dirty="0"/>
              <a:t>节点</a:t>
            </a:r>
            <a:r>
              <a:rPr lang="en-US" altLang="zh-CN" sz="2400" dirty="0"/>
              <a:t>k</a:t>
            </a:r>
            <a:r>
              <a:rPr lang="zh-CN" altLang="en-US" sz="2400" dirty="0"/>
              <a:t>每个计算周期所消耗的平均能量为</a:t>
            </a:r>
            <a:r>
              <a:rPr lang="en-US" altLang="zh-CN" sz="2400" dirty="0"/>
              <a:t>: </a:t>
            </a:r>
            <a:r>
              <a:rPr lang="en-US" altLang="zh-CN" sz="2400" dirty="0" err="1"/>
              <a:t>E</a:t>
            </a:r>
            <a:r>
              <a:rPr lang="en-US" altLang="zh-CN" sz="2400" baseline="-25000" dirty="0" err="1"/>
              <a:t>ch</a:t>
            </a:r>
            <a:r>
              <a:rPr lang="en-US" altLang="zh-CN" sz="2400" baseline="-25000" dirty="0"/>
              <a:t> k</a:t>
            </a:r>
            <a:r>
              <a:rPr lang="en-US" altLang="zh-CN" sz="2400" dirty="0"/>
              <a:t>= a</a:t>
            </a:r>
            <a:r>
              <a:rPr lang="en-US" altLang="zh-CN" sz="2400" baseline="-25000" dirty="0"/>
              <a:t>k</a:t>
            </a:r>
            <a:r>
              <a:rPr lang="en-US" altLang="zh-CN" sz="2400" dirty="0"/>
              <a:t>C</a:t>
            </a:r>
            <a:r>
              <a:rPr lang="en-US" altLang="zh-CN" sz="2400" baseline="-25000" dirty="0"/>
              <a:t>k</a:t>
            </a:r>
            <a:r>
              <a:rPr lang="en-US" altLang="zh-CN" sz="2400" dirty="0"/>
              <a:t>U</a:t>
            </a:r>
            <a:r>
              <a:rPr lang="en-US" altLang="zh-CN" sz="2400" baseline="30000" dirty="0"/>
              <a:t>2</a:t>
            </a:r>
            <a:r>
              <a:rPr lang="en-US" altLang="zh-CN" sz="2400" baseline="-25000" dirty="0"/>
              <a:t>dd</a:t>
            </a:r>
            <a:r>
              <a:rPr lang="en-US" altLang="zh-CN" sz="2400" dirty="0"/>
              <a:t>/2  </a:t>
            </a:r>
          </a:p>
          <a:p>
            <a:pPr marL="342900" indent="-342900">
              <a:buFont typeface="Wingdings" panose="05000000000000000000" pitchFamily="2" charset="2"/>
              <a:buChar char="Ø"/>
            </a:pPr>
            <a:r>
              <a:rPr lang="zh-CN" altLang="en-US" sz="2400" dirty="0"/>
              <a:t>整个数字电路所有节点充放电消耗的能量：</a:t>
            </a:r>
            <a:endParaRPr lang="en-US" altLang="zh-CN" sz="2400" dirty="0"/>
          </a:p>
          <a:p>
            <a:r>
              <a:rPr lang="en-US" altLang="zh-CN" sz="2400" dirty="0" err="1"/>
              <a:t>E</a:t>
            </a:r>
            <a:r>
              <a:rPr lang="en-US" altLang="zh-CN" sz="2400" baseline="-25000" dirty="0" err="1"/>
              <a:t>ch</a:t>
            </a:r>
            <a:r>
              <a:rPr lang="en-US" altLang="zh-CN" sz="2400" dirty="0"/>
              <a:t>= ∑ </a:t>
            </a:r>
            <a:r>
              <a:rPr lang="en-US" altLang="zh-CN" sz="2400" dirty="0" err="1"/>
              <a:t>E</a:t>
            </a:r>
            <a:r>
              <a:rPr lang="en-US" altLang="zh-CN" sz="2400" baseline="-25000" dirty="0" err="1"/>
              <a:t>ch</a:t>
            </a:r>
            <a:r>
              <a:rPr lang="en-US" altLang="zh-CN" sz="2400" baseline="-25000" dirty="0"/>
              <a:t> k</a:t>
            </a:r>
            <a:r>
              <a:rPr lang="en-US" altLang="zh-CN" sz="2400" dirty="0"/>
              <a:t>= U</a:t>
            </a:r>
            <a:r>
              <a:rPr lang="en-US" altLang="zh-CN" sz="2400" baseline="30000" dirty="0"/>
              <a:t>2</a:t>
            </a:r>
            <a:r>
              <a:rPr lang="en-US" altLang="zh-CN" sz="2400" baseline="-25000" dirty="0"/>
              <a:t>dd</a:t>
            </a:r>
            <a:r>
              <a:rPr lang="en-US" altLang="zh-CN" sz="2400" dirty="0"/>
              <a:t>∑ </a:t>
            </a:r>
            <a:r>
              <a:rPr lang="en-US" altLang="zh-CN" sz="2400" dirty="0" err="1"/>
              <a:t>a</a:t>
            </a:r>
            <a:r>
              <a:rPr lang="en-US" altLang="zh-CN" sz="2400" baseline="-25000" dirty="0" err="1"/>
              <a:t>k</a:t>
            </a:r>
            <a:r>
              <a:rPr lang="en-US" altLang="zh-CN" sz="2400" dirty="0" err="1"/>
              <a:t>C</a:t>
            </a:r>
            <a:r>
              <a:rPr lang="en-US" altLang="zh-CN" sz="2400" baseline="-25000" dirty="0" err="1"/>
              <a:t>k</a:t>
            </a:r>
            <a:r>
              <a:rPr lang="en-US" altLang="zh-CN" sz="2400" dirty="0"/>
              <a:t>/2</a:t>
            </a:r>
            <a:endParaRPr lang="en-US" altLang="zh-CN" sz="2400" baseline="-25000" dirty="0"/>
          </a:p>
          <a:p>
            <a:endParaRPr lang="en-US" altLang="zh-CN" sz="2400" dirty="0"/>
          </a:p>
          <a:p>
            <a:r>
              <a:rPr lang="zh-CN" altLang="en-US" sz="2400" dirty="0">
                <a:solidFill>
                  <a:srgbClr val="FF0000"/>
                </a:solidFill>
              </a:rPr>
              <a:t>注</a:t>
            </a:r>
            <a:r>
              <a:rPr lang="en-US" altLang="zh-CN" sz="2400" dirty="0">
                <a:solidFill>
                  <a:srgbClr val="FF0000"/>
                </a:solidFill>
              </a:rPr>
              <a:t>1</a:t>
            </a:r>
            <a:r>
              <a:rPr lang="zh-CN" altLang="en-US" sz="2400" dirty="0">
                <a:solidFill>
                  <a:srgbClr val="FF0000"/>
                </a:solidFill>
              </a:rPr>
              <a:t>：节点活动性分布非常不平均。</a:t>
            </a:r>
            <a:r>
              <a:rPr lang="zh-CN" altLang="en-US" sz="2400" dirty="0"/>
              <a:t>电路的许多触发器输出以  </a:t>
            </a:r>
            <a:r>
              <a:rPr lang="en-US" altLang="zh-CN" sz="2400" dirty="0" err="1"/>
              <a:t>a</a:t>
            </a:r>
            <a:r>
              <a:rPr lang="en-US" altLang="zh-CN" sz="2400" baseline="-25000" dirty="0" err="1"/>
              <a:t>k</a:t>
            </a:r>
            <a:r>
              <a:rPr lang="en-US" altLang="zh-CN" sz="2400" dirty="0"/>
              <a:t> ≈1/2</a:t>
            </a:r>
            <a:r>
              <a:rPr lang="zh-CN" altLang="en-US" sz="2400" dirty="0"/>
              <a:t>翻转，而其他节点表现出极其低的活动性。</a:t>
            </a:r>
            <a:endParaRPr lang="en-US" altLang="zh-CN" sz="2400" dirty="0"/>
          </a:p>
          <a:p>
            <a:r>
              <a:rPr lang="zh-CN" altLang="en-US" sz="2400" dirty="0">
                <a:solidFill>
                  <a:srgbClr val="FF0000"/>
                </a:solidFill>
              </a:rPr>
              <a:t>注</a:t>
            </a:r>
            <a:r>
              <a:rPr lang="en-US" altLang="zh-CN" sz="2400" dirty="0">
                <a:solidFill>
                  <a:srgbClr val="FF0000"/>
                </a:solidFill>
              </a:rPr>
              <a:t>2</a:t>
            </a:r>
            <a:r>
              <a:rPr lang="zh-CN" altLang="en-US" sz="2400" dirty="0">
                <a:solidFill>
                  <a:srgbClr val="FF0000"/>
                </a:solidFill>
              </a:rPr>
              <a:t>：上述公式是在以下的假设条件下得到的。</a:t>
            </a:r>
          </a:p>
          <a:p>
            <a:pPr marL="342900" indent="-342900">
              <a:buFont typeface="Wingdings" panose="05000000000000000000" pitchFamily="2" charset="2"/>
              <a:buChar char="Ø"/>
            </a:pPr>
            <a:r>
              <a:rPr lang="zh-CN" altLang="en-US" sz="2400" dirty="0"/>
              <a:t>所有节点的电容值 </a:t>
            </a:r>
            <a:r>
              <a:rPr lang="en-US" altLang="zh-CN" sz="2400" dirty="0"/>
              <a:t>C</a:t>
            </a:r>
            <a:r>
              <a:rPr lang="en-US" altLang="zh-CN" sz="2400" baseline="-25000" dirty="0"/>
              <a:t>k</a:t>
            </a:r>
            <a:r>
              <a:rPr lang="en-US" altLang="zh-CN" sz="2400" dirty="0"/>
              <a:t> </a:t>
            </a:r>
            <a:r>
              <a:rPr lang="zh-CN" altLang="en-US" sz="2400" dirty="0"/>
              <a:t>是固定的。</a:t>
            </a:r>
          </a:p>
          <a:p>
            <a:pPr marL="342900" indent="-342900">
              <a:buFont typeface="Wingdings" panose="05000000000000000000" pitchFamily="2" charset="2"/>
              <a:buChar char="Ø"/>
            </a:pPr>
            <a:r>
              <a:rPr lang="zh-CN" altLang="en-US" sz="2400" dirty="0"/>
              <a:t>开关器件 </a:t>
            </a:r>
            <a:r>
              <a:rPr lang="en-US" altLang="zh-CN" sz="2400" dirty="0"/>
              <a:t>(MOSFET)  </a:t>
            </a:r>
            <a:r>
              <a:rPr lang="zh-CN" altLang="en-US" sz="2400" dirty="0"/>
              <a:t>导通时表现为电阻性。</a:t>
            </a:r>
          </a:p>
          <a:p>
            <a:pPr marL="342900" indent="-342900">
              <a:buFont typeface="Wingdings" panose="05000000000000000000" pitchFamily="2" charset="2"/>
              <a:buChar char="Ø"/>
            </a:pPr>
            <a:r>
              <a:rPr lang="zh-CN" altLang="en-US" sz="2400" dirty="0"/>
              <a:t>电源电压的</a:t>
            </a:r>
            <a:r>
              <a:rPr lang="en-US" altLang="zh-CN" sz="2400" dirty="0" err="1"/>
              <a:t>U</a:t>
            </a:r>
            <a:r>
              <a:rPr lang="en-US" altLang="zh-CN" sz="2400" baseline="-25000" dirty="0" err="1"/>
              <a:t>dd</a:t>
            </a:r>
            <a:r>
              <a:rPr lang="zh-CN" altLang="en-US" sz="2400" dirty="0"/>
              <a:t>是常量并且贯穿整个电路 。</a:t>
            </a:r>
          </a:p>
          <a:p>
            <a:pPr marL="342900" indent="-342900">
              <a:buFont typeface="Wingdings" panose="05000000000000000000" pitchFamily="2" charset="2"/>
              <a:buChar char="Ø"/>
            </a:pPr>
            <a:r>
              <a:rPr lang="zh-CN" altLang="en-US" sz="2400" dirty="0"/>
              <a:t>节点总是完全充电和放电</a:t>
            </a:r>
            <a:r>
              <a:rPr lang="en-US" altLang="zh-CN" sz="2400" dirty="0"/>
              <a:t>(</a:t>
            </a:r>
            <a:r>
              <a:rPr lang="zh-CN" altLang="en-US" sz="2400" dirty="0"/>
              <a:t>轨到轨全幅摆动</a:t>
            </a:r>
            <a:r>
              <a:rPr lang="en-US" altLang="zh-CN" sz="2400" dirty="0"/>
              <a:t>)</a:t>
            </a:r>
            <a:r>
              <a:rPr lang="zh-CN" altLang="en-US" sz="2400" dirty="0"/>
              <a:t>。</a:t>
            </a:r>
          </a:p>
          <a:p>
            <a:pPr marL="342900" indent="-342900">
              <a:buFont typeface="Wingdings" panose="05000000000000000000" pitchFamily="2" charset="2"/>
              <a:buChar char="Ø"/>
            </a:pPr>
            <a:r>
              <a:rPr lang="zh-CN" altLang="en-US" sz="2400" dirty="0"/>
              <a:t>所有的活动性数值都参考相同的计算周期和时钟信号</a:t>
            </a:r>
            <a:endParaRPr lang="en-US" altLang="zh-CN" sz="2400" dirty="0"/>
          </a:p>
        </p:txBody>
      </p:sp>
    </p:spTree>
    <p:extLst>
      <p:ext uri="{BB962C8B-B14F-4D97-AF65-F5344CB8AC3E}">
        <p14:creationId xmlns:p14="http://schemas.microsoft.com/office/powerpoint/2010/main" val="1469540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sp>
        <p:nvSpPr>
          <p:cNvPr id="3" name="矩形 2">
            <a:extLst>
              <a:ext uri="{FF2B5EF4-FFF2-40B4-BE49-F238E27FC236}">
                <a16:creationId xmlns:a16="http://schemas.microsoft.com/office/drawing/2014/main" id="{EF62B4A8-DB90-43DC-9872-202DF9DDB5B0}"/>
              </a:ext>
            </a:extLst>
          </p:cNvPr>
          <p:cNvSpPr/>
          <p:nvPr/>
        </p:nvSpPr>
        <p:spPr>
          <a:xfrm>
            <a:off x="323528" y="620688"/>
            <a:ext cx="8712968" cy="3785652"/>
          </a:xfrm>
          <a:prstGeom prst="rect">
            <a:avLst/>
          </a:prstGeom>
        </p:spPr>
        <p:txBody>
          <a:bodyPr wrap="square">
            <a:spAutoFit/>
          </a:bodyPr>
          <a:lstStyle/>
          <a:p>
            <a:r>
              <a:rPr lang="en-US" altLang="zh-CN" sz="2400" dirty="0"/>
              <a:t>9.1.2</a:t>
            </a:r>
            <a:r>
              <a:rPr lang="zh-CN" altLang="en-US" sz="2400" dirty="0"/>
              <a:t>交变电流（短路电流）</a:t>
            </a:r>
            <a:endParaRPr lang="en-US" altLang="zh-CN" sz="2400" dirty="0"/>
          </a:p>
          <a:p>
            <a:r>
              <a:rPr lang="zh-CN" altLang="en-US" sz="2400" dirty="0"/>
              <a:t>当输入电压满足</a:t>
            </a:r>
            <a:r>
              <a:rPr lang="en-US" altLang="zh-CN" sz="2400" dirty="0" err="1"/>
              <a:t>U</a:t>
            </a:r>
            <a:r>
              <a:rPr lang="en-US" altLang="zh-CN" sz="2400" baseline="-25000" dirty="0" err="1"/>
              <a:t>thn</a:t>
            </a:r>
            <a:r>
              <a:rPr lang="en-US" altLang="zh-CN" sz="2400" dirty="0"/>
              <a:t>&lt;</a:t>
            </a:r>
            <a:r>
              <a:rPr lang="en-US" altLang="zh-CN" sz="2400" dirty="0" err="1"/>
              <a:t>U</a:t>
            </a:r>
            <a:r>
              <a:rPr lang="en-US" altLang="zh-CN" sz="2400" baseline="-25000" dirty="0" err="1"/>
              <a:t>inp</a:t>
            </a:r>
            <a:r>
              <a:rPr lang="en-US" altLang="zh-CN" sz="2400" dirty="0"/>
              <a:t>&lt;</a:t>
            </a:r>
            <a:r>
              <a:rPr lang="en-US" altLang="zh-CN" sz="2400" dirty="0" err="1"/>
              <a:t>U</a:t>
            </a:r>
            <a:r>
              <a:rPr lang="en-US" altLang="zh-CN" sz="2400" baseline="-25000" dirty="0" err="1"/>
              <a:t>dd</a:t>
            </a:r>
            <a:r>
              <a:rPr lang="en-US" altLang="zh-CN" sz="2400" dirty="0" err="1"/>
              <a:t>+U</a:t>
            </a:r>
            <a:r>
              <a:rPr lang="en-US" altLang="zh-CN" sz="2400" baseline="-25000" dirty="0" err="1"/>
              <a:t>thp</a:t>
            </a:r>
            <a:r>
              <a:rPr lang="en-US" altLang="zh-CN" sz="2400" dirty="0"/>
              <a:t>,</a:t>
            </a:r>
            <a:r>
              <a:rPr lang="zh-CN" altLang="en-US" sz="2400" dirty="0"/>
              <a:t> </a:t>
            </a:r>
            <a:r>
              <a:rPr lang="en-US" altLang="zh-CN" sz="2400" dirty="0"/>
              <a:t>CMOS</a:t>
            </a:r>
            <a:r>
              <a:rPr lang="zh-CN" altLang="en-US" sz="2400" dirty="0"/>
              <a:t>反相器的</a:t>
            </a:r>
            <a:r>
              <a:rPr lang="en-US" altLang="zh-CN" sz="2400" dirty="0"/>
              <a:t>n</a:t>
            </a:r>
            <a:r>
              <a:rPr lang="zh-CN" altLang="en-US" sz="2400" dirty="0"/>
              <a:t>沟道和</a:t>
            </a:r>
            <a:r>
              <a:rPr lang="en-US" altLang="zh-CN" sz="2400" dirty="0"/>
              <a:t>p</a:t>
            </a:r>
            <a:r>
              <a:rPr lang="zh-CN" altLang="en-US" sz="2400" dirty="0"/>
              <a:t>沟道晶体管都部分导通，电荷能直接从</a:t>
            </a:r>
            <a:r>
              <a:rPr lang="en-US" altLang="zh-CN" sz="2400" dirty="0"/>
              <a:t>VDD</a:t>
            </a:r>
            <a:r>
              <a:rPr lang="zh-CN" altLang="en-US" sz="2400" dirty="0"/>
              <a:t>流到</a:t>
            </a:r>
            <a:r>
              <a:rPr lang="en-US" altLang="zh-CN" sz="2400" dirty="0"/>
              <a:t>VSS</a:t>
            </a:r>
            <a:r>
              <a:rPr lang="zh-CN" altLang="en-US" sz="2400" dirty="0"/>
              <a:t>。</a:t>
            </a:r>
            <a:endParaRPr lang="en-US" altLang="zh-CN" sz="2400" dirty="0"/>
          </a:p>
          <a:p>
            <a:r>
              <a:rPr lang="zh-CN" altLang="en-US" sz="2400" dirty="0"/>
              <a:t>近似公式</a:t>
            </a:r>
            <a:r>
              <a:rPr lang="en-US" altLang="zh-CN" sz="2400" dirty="0"/>
              <a:t>1</a:t>
            </a:r>
            <a:r>
              <a:rPr lang="zh-CN" altLang="en-US" sz="2400" dirty="0"/>
              <a:t>：</a:t>
            </a:r>
            <a:r>
              <a:rPr lang="en-US" altLang="zh-CN" sz="2400" dirty="0" err="1"/>
              <a:t>E</a:t>
            </a:r>
            <a:r>
              <a:rPr lang="en-US" altLang="zh-CN" sz="2400" baseline="-25000" dirty="0" err="1"/>
              <a:t>cr</a:t>
            </a:r>
            <a:r>
              <a:rPr lang="en-US" altLang="zh-CN" sz="2400" baseline="-25000" dirty="0"/>
              <a:t> </a:t>
            </a:r>
            <a:r>
              <a:rPr lang="en-US" altLang="zh-CN" sz="2400" baseline="-25000" dirty="0" err="1"/>
              <a:t>cyc</a:t>
            </a:r>
            <a:r>
              <a:rPr lang="en-US" altLang="zh-CN" sz="2400" baseline="-25000" dirty="0"/>
              <a:t> k</a:t>
            </a:r>
            <a:r>
              <a:rPr lang="en-US" altLang="zh-CN" sz="2400" dirty="0"/>
              <a:t>=</a:t>
            </a:r>
            <a:r>
              <a:rPr lang="el-GR" altLang="zh-CN" sz="2400" dirty="0"/>
              <a:t>β</a:t>
            </a:r>
            <a:r>
              <a:rPr lang="en-US" altLang="zh-CN" sz="2400" dirty="0"/>
              <a:t>(U</a:t>
            </a:r>
            <a:r>
              <a:rPr lang="en-US" altLang="zh-CN" sz="2400" baseline="-25000" dirty="0"/>
              <a:t>dd</a:t>
            </a:r>
            <a:r>
              <a:rPr lang="en-US" altLang="zh-CN" sz="2400" dirty="0"/>
              <a:t>-2U</a:t>
            </a:r>
            <a:r>
              <a:rPr lang="en-US" altLang="zh-CN" sz="2400" baseline="-25000" dirty="0"/>
              <a:t>th</a:t>
            </a:r>
            <a:r>
              <a:rPr lang="en-US" altLang="zh-CN" sz="2400" dirty="0"/>
              <a:t>)</a:t>
            </a:r>
            <a:r>
              <a:rPr lang="en-US" altLang="zh-CN" sz="2400" baseline="30000" dirty="0"/>
              <a:t>3 </a:t>
            </a:r>
            <a:r>
              <a:rPr lang="en-US" altLang="zh-CN" sz="2400" dirty="0" err="1"/>
              <a:t>t</a:t>
            </a:r>
            <a:r>
              <a:rPr lang="en-US" altLang="zh-CN" sz="2400" baseline="-25000" dirty="0" err="1"/>
              <a:t>ra</a:t>
            </a:r>
            <a:r>
              <a:rPr lang="en-US" altLang="zh-CN" sz="2400" baseline="-25000" dirty="0"/>
              <a:t> k</a:t>
            </a:r>
            <a:r>
              <a:rPr lang="en-US" altLang="zh-CN" sz="2400" dirty="0"/>
              <a:t>/12</a:t>
            </a:r>
          </a:p>
          <a:p>
            <a:r>
              <a:rPr lang="en-US" altLang="zh-CN" sz="2400" dirty="0"/>
              <a:t>W/L(</a:t>
            </a:r>
            <a:r>
              <a:rPr lang="el-GR" altLang="zh-CN" sz="2400" dirty="0"/>
              <a:t>β</a:t>
            </a:r>
            <a:r>
              <a:rPr lang="en-US" altLang="zh-CN" sz="2400" dirty="0"/>
              <a:t>)</a:t>
            </a:r>
            <a:r>
              <a:rPr lang="zh-CN" altLang="en-US" sz="2400" dirty="0"/>
              <a:t>越大，</a:t>
            </a:r>
            <a:r>
              <a:rPr lang="en-US" altLang="zh-CN" sz="2400" dirty="0" err="1"/>
              <a:t>t</a:t>
            </a:r>
            <a:r>
              <a:rPr lang="en-US" altLang="zh-CN" sz="2400" baseline="-25000" dirty="0" err="1"/>
              <a:t>ra</a:t>
            </a:r>
            <a:r>
              <a:rPr lang="en-US" altLang="zh-CN" sz="2400" baseline="-25000" dirty="0"/>
              <a:t> k</a:t>
            </a:r>
            <a:r>
              <a:rPr lang="zh-CN" altLang="en-US" sz="2400" dirty="0"/>
              <a:t>越小；</a:t>
            </a:r>
            <a:endParaRPr lang="en-US" altLang="zh-CN" sz="2400" dirty="0"/>
          </a:p>
          <a:p>
            <a:endParaRPr lang="en-US" altLang="zh-CN" sz="2400" dirty="0"/>
          </a:p>
          <a:p>
            <a:r>
              <a:rPr lang="zh-CN" altLang="en-US" sz="2400" dirty="0"/>
              <a:t>一般化的指导方针，电路必须设计成</a:t>
            </a:r>
            <a:r>
              <a:rPr lang="en-US" altLang="zh-CN" sz="2400" dirty="0"/>
              <a:t>:</a:t>
            </a:r>
          </a:p>
          <a:p>
            <a:pPr marL="342900" indent="-342900">
              <a:buFont typeface="Wingdings" panose="05000000000000000000" pitchFamily="2" charset="2"/>
              <a:buChar char="Ø"/>
            </a:pPr>
            <a:r>
              <a:rPr lang="zh-CN" altLang="en-US" sz="2400" dirty="0"/>
              <a:t>信号上升和下降时间大致相等</a:t>
            </a:r>
            <a:endParaRPr lang="en-US" altLang="zh-CN" sz="2400" dirty="0"/>
          </a:p>
          <a:p>
            <a:pPr marL="342900" indent="-342900">
              <a:buFont typeface="Wingdings" panose="05000000000000000000" pitchFamily="2" charset="2"/>
              <a:buChar char="Ø"/>
            </a:pPr>
            <a:r>
              <a:rPr lang="zh-CN" altLang="en-US" sz="2400" dirty="0"/>
              <a:t>它们的传播延迟与所使用的库单元典型电路相当</a:t>
            </a:r>
            <a:endParaRPr lang="en-US" altLang="zh-CN" sz="2400" dirty="0"/>
          </a:p>
          <a:p>
            <a:endParaRPr lang="en-US" altLang="zh-CN" sz="2400" dirty="0"/>
          </a:p>
        </p:txBody>
      </p:sp>
      <p:pic>
        <p:nvPicPr>
          <p:cNvPr id="4" name="图片 3">
            <a:extLst>
              <a:ext uri="{FF2B5EF4-FFF2-40B4-BE49-F238E27FC236}">
                <a16:creationId xmlns:a16="http://schemas.microsoft.com/office/drawing/2014/main" id="{32AAA17D-0C0E-4A0D-9607-EBA9AF05EDD9}"/>
              </a:ext>
            </a:extLst>
          </p:cNvPr>
          <p:cNvPicPr>
            <a:picLocks noChangeAspect="1"/>
          </p:cNvPicPr>
          <p:nvPr/>
        </p:nvPicPr>
        <p:blipFill>
          <a:blip r:embed="rId3"/>
          <a:stretch>
            <a:fillRect/>
          </a:stretch>
        </p:blipFill>
        <p:spPr>
          <a:xfrm>
            <a:off x="323528" y="4293096"/>
            <a:ext cx="7477125" cy="2343150"/>
          </a:xfrm>
          <a:prstGeom prst="rect">
            <a:avLst/>
          </a:prstGeom>
        </p:spPr>
      </p:pic>
    </p:spTree>
    <p:extLst>
      <p:ext uri="{BB962C8B-B14F-4D97-AF65-F5344CB8AC3E}">
        <p14:creationId xmlns:p14="http://schemas.microsoft.com/office/powerpoint/2010/main" val="1586638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sp>
        <p:nvSpPr>
          <p:cNvPr id="3" name="矩形 2">
            <a:extLst>
              <a:ext uri="{FF2B5EF4-FFF2-40B4-BE49-F238E27FC236}">
                <a16:creationId xmlns:a16="http://schemas.microsoft.com/office/drawing/2014/main" id="{EF62B4A8-DB90-43DC-9872-202DF9DDB5B0}"/>
              </a:ext>
            </a:extLst>
          </p:cNvPr>
          <p:cNvSpPr/>
          <p:nvPr/>
        </p:nvSpPr>
        <p:spPr>
          <a:xfrm>
            <a:off x="323528" y="620688"/>
            <a:ext cx="8712968" cy="6001643"/>
          </a:xfrm>
          <a:prstGeom prst="rect">
            <a:avLst/>
          </a:prstGeom>
        </p:spPr>
        <p:txBody>
          <a:bodyPr wrap="square">
            <a:spAutoFit/>
          </a:bodyPr>
          <a:lstStyle/>
          <a:p>
            <a:r>
              <a:rPr lang="en-US" altLang="zh-CN" sz="2400" dirty="0"/>
              <a:t>9.1.3</a:t>
            </a:r>
            <a:r>
              <a:rPr lang="zh-CN" altLang="en-US" sz="2400" dirty="0"/>
              <a:t>阻性负载</a:t>
            </a:r>
          </a:p>
          <a:p>
            <a:r>
              <a:rPr lang="zh-CN" altLang="en-US" sz="2400" dirty="0"/>
              <a:t>静态电流是由从</a:t>
            </a:r>
            <a:r>
              <a:rPr lang="en-US" altLang="zh-CN" sz="2400" dirty="0"/>
              <a:t>VDD</a:t>
            </a:r>
            <a:r>
              <a:rPr lang="zh-CN" altLang="en-US" sz="2400" dirty="0"/>
              <a:t>到</a:t>
            </a:r>
            <a:r>
              <a:rPr lang="en-US" altLang="zh-CN" sz="2400" dirty="0"/>
              <a:t>VSS</a:t>
            </a:r>
            <a:r>
              <a:rPr lang="zh-CN" altLang="en-US" sz="2400" dirty="0"/>
              <a:t>的直流路径产生的，理论上</a:t>
            </a:r>
            <a:r>
              <a:rPr lang="en-US" altLang="zh-CN" sz="2400" dirty="0"/>
              <a:t>CMOS </a:t>
            </a:r>
            <a:r>
              <a:rPr lang="zh-CN" altLang="en-US" sz="2400" dirty="0"/>
              <a:t>逻辑的双晶体管 </a:t>
            </a:r>
            <a:r>
              <a:rPr lang="en-US" altLang="zh-CN" sz="2400" dirty="0"/>
              <a:t>(PMOS </a:t>
            </a:r>
            <a:r>
              <a:rPr lang="zh-CN" altLang="en-US" sz="2400" dirty="0"/>
              <a:t>、</a:t>
            </a:r>
            <a:r>
              <a:rPr lang="en-US" altLang="zh-CN" sz="2400" dirty="0"/>
              <a:t>NMOS) </a:t>
            </a:r>
            <a:r>
              <a:rPr lang="zh-CN" altLang="en-US" sz="2400" dirty="0"/>
              <a:t>不存在这样的电流通路，有众所周知的例外情况包括</a:t>
            </a:r>
            <a:r>
              <a:rPr lang="en-US" altLang="zh-CN" sz="2400" dirty="0"/>
              <a:t>:</a:t>
            </a:r>
          </a:p>
          <a:p>
            <a:pPr marL="342900" indent="-342900">
              <a:buFont typeface="Wingdings" panose="05000000000000000000" pitchFamily="2" charset="2"/>
              <a:buChar char="Ø"/>
            </a:pPr>
            <a:r>
              <a:rPr lang="zh-CN" altLang="en-US" sz="2400" dirty="0"/>
              <a:t>伪</a:t>
            </a:r>
            <a:r>
              <a:rPr lang="en-US" altLang="zh-CN" sz="2400" dirty="0"/>
              <a:t>NMOS/PMOS</a:t>
            </a:r>
            <a:r>
              <a:rPr lang="zh-CN" altLang="en-US" sz="2400" dirty="0"/>
              <a:t>子电路</a:t>
            </a:r>
            <a:r>
              <a:rPr lang="en-US" altLang="zh-CN" sz="2400" dirty="0"/>
              <a:t>(RAM </a:t>
            </a:r>
            <a:r>
              <a:rPr lang="zh-CN" altLang="en-US" sz="2400" dirty="0"/>
              <a:t>、</a:t>
            </a:r>
            <a:r>
              <a:rPr lang="en-US" altLang="zh-CN" sz="2400" dirty="0"/>
              <a:t>ROM </a:t>
            </a:r>
            <a:r>
              <a:rPr lang="zh-CN" altLang="en-US" sz="2400" dirty="0"/>
              <a:t>和 </a:t>
            </a:r>
            <a:r>
              <a:rPr lang="en-US" altLang="zh-CN" sz="2400" dirty="0"/>
              <a:t>PLA </a:t>
            </a:r>
            <a:r>
              <a:rPr lang="zh-CN" altLang="en-US" sz="2400" dirty="0"/>
              <a:t>中</a:t>
            </a:r>
            <a:r>
              <a:rPr lang="en-US" altLang="zh-CN" sz="2400" dirty="0"/>
              <a:t>)</a:t>
            </a:r>
          </a:p>
          <a:p>
            <a:pPr marL="342900" indent="-342900">
              <a:buFont typeface="Wingdings" panose="05000000000000000000" pitchFamily="2" charset="2"/>
              <a:buChar char="Ø"/>
            </a:pPr>
            <a:r>
              <a:rPr lang="zh-CN" altLang="en-US" sz="2400" dirty="0"/>
              <a:t>放大器</a:t>
            </a:r>
            <a:r>
              <a:rPr lang="en-US" altLang="zh-CN" sz="2400" dirty="0"/>
              <a:t>(</a:t>
            </a:r>
            <a:r>
              <a:rPr lang="zh-CN" altLang="en-US" sz="2400" dirty="0"/>
              <a:t>包括存储器的读出放大器和再生放大器</a:t>
            </a:r>
            <a:r>
              <a:rPr lang="en-US" altLang="zh-CN" sz="2400" dirty="0"/>
              <a:t>)</a:t>
            </a:r>
          </a:p>
          <a:p>
            <a:pPr marL="342900" indent="-342900">
              <a:buFont typeface="Wingdings" panose="05000000000000000000" pitchFamily="2" charset="2"/>
              <a:buChar char="Ø"/>
            </a:pPr>
            <a:r>
              <a:rPr lang="zh-CN" altLang="en-US" sz="2400" dirty="0"/>
              <a:t>电流源和电流镜</a:t>
            </a:r>
          </a:p>
          <a:p>
            <a:pPr marL="342900" indent="-342900">
              <a:buFont typeface="Wingdings" panose="05000000000000000000" pitchFamily="2" charset="2"/>
              <a:buChar char="Ø"/>
            </a:pPr>
            <a:r>
              <a:rPr lang="zh-CN" altLang="en-US" sz="2400" dirty="0"/>
              <a:t>分压电路、电压转换器和电压整流器</a:t>
            </a:r>
          </a:p>
          <a:p>
            <a:pPr marL="342900" indent="-342900">
              <a:buFont typeface="Wingdings" panose="05000000000000000000" pitchFamily="2" charset="2"/>
              <a:buChar char="Ø"/>
            </a:pPr>
            <a:r>
              <a:rPr lang="zh-CN" altLang="en-US" sz="2400" dirty="0"/>
              <a:t>振荡器、时钟产生和调整子电路、收发器</a:t>
            </a:r>
          </a:p>
          <a:p>
            <a:pPr marL="342900" indent="-342900">
              <a:buFont typeface="Wingdings" panose="05000000000000000000" pitchFamily="2" charset="2"/>
              <a:buChar char="Ø"/>
            </a:pPr>
            <a:r>
              <a:rPr lang="zh-CN" altLang="en-US" sz="2400" dirty="0"/>
              <a:t>连续反馈环路</a:t>
            </a:r>
            <a:r>
              <a:rPr lang="en-US" altLang="zh-CN" sz="2400" dirty="0"/>
              <a:t>(</a:t>
            </a:r>
            <a:r>
              <a:rPr lang="zh-CN" altLang="en-US" sz="2400" dirty="0"/>
              <a:t>比如</a:t>
            </a:r>
            <a:r>
              <a:rPr lang="en-US" altLang="zh-CN" sz="2400" dirty="0"/>
              <a:t>PLL </a:t>
            </a:r>
            <a:r>
              <a:rPr lang="zh-CN" altLang="en-US" sz="2400" dirty="0"/>
              <a:t>、</a:t>
            </a:r>
            <a:r>
              <a:rPr lang="en-US" altLang="zh-CN" sz="2400" dirty="0"/>
              <a:t>DLL   </a:t>
            </a:r>
            <a:r>
              <a:rPr lang="zh-CN" altLang="en-US" sz="2400" dirty="0"/>
              <a:t>和其他整流器</a:t>
            </a:r>
            <a:r>
              <a:rPr lang="en-US" altLang="zh-CN" sz="2400" dirty="0"/>
              <a:t>)</a:t>
            </a:r>
          </a:p>
          <a:p>
            <a:pPr marL="342900" indent="-342900">
              <a:buFont typeface="Wingdings" panose="05000000000000000000" pitchFamily="2" charset="2"/>
              <a:buChar char="Ø"/>
            </a:pPr>
            <a:r>
              <a:rPr lang="zh-CN" altLang="en-US" sz="2400" dirty="0"/>
              <a:t>低摆幅电流逻辑</a:t>
            </a:r>
            <a:r>
              <a:rPr lang="en-US" altLang="zh-CN" sz="2400" dirty="0"/>
              <a:t>(</a:t>
            </a:r>
            <a:r>
              <a:rPr lang="zh-CN" altLang="en-US" sz="2400" dirty="0"/>
              <a:t>有时可见在盯预分频器和前端电路中</a:t>
            </a:r>
            <a:r>
              <a:rPr lang="en-US" altLang="zh-CN" sz="2400" dirty="0"/>
              <a:t>)</a:t>
            </a:r>
          </a:p>
          <a:p>
            <a:pPr marL="342900" indent="-342900">
              <a:buFont typeface="Wingdings" panose="05000000000000000000" pitchFamily="2" charset="2"/>
              <a:buChar char="Ø"/>
            </a:pPr>
            <a:r>
              <a:rPr lang="en-US" altLang="zh-CN" sz="2400" dirty="0"/>
              <a:t>LVDS </a:t>
            </a:r>
            <a:r>
              <a:rPr lang="zh-CN" altLang="en-US" sz="2400" dirty="0"/>
              <a:t>接收器</a:t>
            </a:r>
            <a:r>
              <a:rPr lang="en-US" altLang="zh-CN" sz="2400" dirty="0"/>
              <a:t>/</a:t>
            </a:r>
            <a:r>
              <a:rPr lang="zh-CN" altLang="en-US" sz="2400" dirty="0"/>
              <a:t>发送器以及其他电流模式的</a:t>
            </a:r>
            <a:r>
              <a:rPr lang="en-US" altLang="zh-CN" sz="2400" dirty="0"/>
              <a:t>I10 </a:t>
            </a:r>
            <a:r>
              <a:rPr lang="zh-CN" altLang="en-US" sz="2400" dirty="0"/>
              <a:t>子电路</a:t>
            </a:r>
          </a:p>
          <a:p>
            <a:pPr marL="342900" indent="-342900">
              <a:buFont typeface="Wingdings" panose="05000000000000000000" pitchFamily="2" charset="2"/>
              <a:buChar char="Ø"/>
            </a:pPr>
            <a:r>
              <a:rPr lang="zh-CN" altLang="en-US" sz="2400" dirty="0"/>
              <a:t>终端电阻</a:t>
            </a:r>
            <a:r>
              <a:rPr lang="en-US" altLang="zh-CN" sz="2400" dirty="0"/>
              <a:t>(</a:t>
            </a:r>
            <a:r>
              <a:rPr lang="zh-CN" altLang="en-US" sz="2400" dirty="0"/>
              <a:t>片上或者片外</a:t>
            </a:r>
            <a:r>
              <a:rPr lang="en-US" altLang="zh-CN" sz="2400" dirty="0"/>
              <a:t>)</a:t>
            </a:r>
          </a:p>
          <a:p>
            <a:pPr marL="342900" indent="-342900">
              <a:buFont typeface="Wingdings" panose="05000000000000000000" pitchFamily="2" charset="2"/>
              <a:buChar char="Ø"/>
            </a:pPr>
            <a:r>
              <a:rPr lang="zh-CN" altLang="en-US" sz="2400" dirty="0"/>
              <a:t>片上阻性负载</a:t>
            </a:r>
            <a:r>
              <a:rPr lang="en-US" altLang="zh-CN" sz="2400" dirty="0"/>
              <a:t>(</a:t>
            </a:r>
            <a:r>
              <a:rPr lang="zh-CN" altLang="en-US" sz="2400" dirty="0"/>
              <a:t>比如无源上拉</a:t>
            </a:r>
            <a:r>
              <a:rPr lang="en-US" altLang="zh-CN" sz="2400" dirty="0"/>
              <a:t>/</a:t>
            </a:r>
            <a:r>
              <a:rPr lang="zh-CN" altLang="en-US" sz="2400" dirty="0"/>
              <a:t>下拉</a:t>
            </a:r>
            <a:r>
              <a:rPr lang="en-US" altLang="zh-CN" sz="2400" dirty="0"/>
              <a:t>)</a:t>
            </a:r>
          </a:p>
          <a:p>
            <a:pPr marL="342900" indent="-342900">
              <a:buFont typeface="Wingdings" panose="05000000000000000000" pitchFamily="2" charset="2"/>
              <a:buChar char="Ø"/>
            </a:pPr>
            <a:r>
              <a:rPr lang="zh-CN" altLang="en-US" sz="2400" dirty="0"/>
              <a:t>片外负载</a:t>
            </a:r>
            <a:r>
              <a:rPr lang="en-US" altLang="zh-CN" sz="2400" dirty="0"/>
              <a:t>(TTL </a:t>
            </a:r>
            <a:r>
              <a:rPr lang="zh-CN" altLang="en-US" sz="2400" dirty="0"/>
              <a:t>、双极管、</a:t>
            </a:r>
            <a:r>
              <a:rPr lang="en-US" altLang="zh-CN" sz="2400" dirty="0"/>
              <a:t>LED </a:t>
            </a:r>
            <a:r>
              <a:rPr lang="zh-CN" altLang="en-US" sz="2400" dirty="0"/>
              <a:t>、继电器等</a:t>
            </a:r>
            <a:r>
              <a:rPr lang="en-US" altLang="zh-CN" sz="2400" dirty="0"/>
              <a:t>)</a:t>
            </a:r>
            <a:r>
              <a:rPr lang="zh-CN" altLang="en-US" sz="2400" dirty="0"/>
              <a:t>，以及可能的</a:t>
            </a:r>
          </a:p>
          <a:p>
            <a:pPr marL="342900" indent="-342900">
              <a:buFont typeface="Wingdings" panose="05000000000000000000" pitchFamily="2" charset="2"/>
              <a:buChar char="Ø"/>
            </a:pPr>
            <a:r>
              <a:rPr lang="en-US" altLang="zh-CN" sz="2400" dirty="0"/>
              <a:t>ESD </a:t>
            </a:r>
            <a:r>
              <a:rPr lang="zh-CN" altLang="en-US" sz="2400" dirty="0"/>
              <a:t>保护结构</a:t>
            </a:r>
            <a:endParaRPr lang="en-US" altLang="zh-CN" sz="2400" dirty="0"/>
          </a:p>
        </p:txBody>
      </p:sp>
    </p:spTree>
    <p:extLst>
      <p:ext uri="{BB962C8B-B14F-4D97-AF65-F5344CB8AC3E}">
        <p14:creationId xmlns:p14="http://schemas.microsoft.com/office/powerpoint/2010/main" val="1423685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sp>
        <p:nvSpPr>
          <p:cNvPr id="3" name="矩形 2">
            <a:extLst>
              <a:ext uri="{FF2B5EF4-FFF2-40B4-BE49-F238E27FC236}">
                <a16:creationId xmlns:a16="http://schemas.microsoft.com/office/drawing/2014/main" id="{EF62B4A8-DB90-43DC-9872-202DF9DDB5B0}"/>
              </a:ext>
            </a:extLst>
          </p:cNvPr>
          <p:cNvSpPr/>
          <p:nvPr/>
        </p:nvSpPr>
        <p:spPr>
          <a:xfrm>
            <a:off x="323528" y="620688"/>
            <a:ext cx="8712968" cy="6370975"/>
          </a:xfrm>
          <a:prstGeom prst="rect">
            <a:avLst/>
          </a:prstGeom>
        </p:spPr>
        <p:txBody>
          <a:bodyPr wrap="square">
            <a:spAutoFit/>
          </a:bodyPr>
          <a:lstStyle/>
          <a:p>
            <a:r>
              <a:rPr lang="en-US" altLang="zh-CN" sz="2400" dirty="0"/>
              <a:t>9.1.3</a:t>
            </a:r>
            <a:r>
              <a:rPr lang="zh-CN" altLang="en-US" sz="2400" dirty="0"/>
              <a:t>阻性负载</a:t>
            </a:r>
          </a:p>
          <a:p>
            <a:r>
              <a:rPr lang="zh-CN" altLang="en-US" sz="2400" dirty="0"/>
              <a:t>单纯</a:t>
            </a:r>
            <a:r>
              <a:rPr lang="en-US" altLang="zh-CN" sz="2400" dirty="0"/>
              <a:t>CMOS </a:t>
            </a:r>
            <a:r>
              <a:rPr lang="zh-CN" altLang="en-US" sz="2400" dirty="0"/>
              <a:t>逻辑电路没有从</a:t>
            </a:r>
            <a:r>
              <a:rPr lang="en-US" altLang="zh-CN" sz="2400" dirty="0"/>
              <a:t>VDD</a:t>
            </a:r>
            <a:r>
              <a:rPr lang="zh-CN" altLang="en-US" sz="2400" dirty="0"/>
              <a:t>到 </a:t>
            </a:r>
            <a:r>
              <a:rPr lang="en-US" altLang="zh-CN" sz="2400" dirty="0"/>
              <a:t>VSS </a:t>
            </a:r>
            <a:r>
              <a:rPr lang="zh-CN" altLang="en-US" sz="2400" dirty="0"/>
              <a:t>的直接路径，然而存在着大量的例外，其对应能量：</a:t>
            </a:r>
            <a:r>
              <a:rPr lang="en-US" altLang="zh-CN" sz="2400" dirty="0" err="1"/>
              <a:t>E</a:t>
            </a:r>
            <a:r>
              <a:rPr lang="en-US" altLang="zh-CN" sz="2400" baseline="-25000" dirty="0" err="1"/>
              <a:t>rrk</a:t>
            </a:r>
            <a:r>
              <a:rPr lang="en-US" altLang="zh-CN" sz="2400" dirty="0"/>
              <a:t>=</a:t>
            </a:r>
            <a:r>
              <a:rPr lang="en-US" altLang="zh-CN" sz="2400" dirty="0" err="1"/>
              <a:t>P</a:t>
            </a:r>
            <a:r>
              <a:rPr lang="en-US" altLang="zh-CN" sz="2400" baseline="-25000" dirty="0" err="1"/>
              <a:t>rrk</a:t>
            </a:r>
            <a:r>
              <a:rPr lang="en-US" altLang="zh-CN" sz="2400" dirty="0" err="1"/>
              <a:t>T</a:t>
            </a:r>
            <a:r>
              <a:rPr lang="en-US" altLang="zh-CN" sz="2400" baseline="-25000" dirty="0" err="1"/>
              <a:t>cp</a:t>
            </a:r>
            <a:r>
              <a:rPr lang="en-US" altLang="zh-CN" sz="2400" dirty="0"/>
              <a:t>= </a:t>
            </a:r>
            <a:r>
              <a:rPr lang="el-GR" altLang="zh-CN" sz="2400" dirty="0"/>
              <a:t>δ</a:t>
            </a:r>
            <a:r>
              <a:rPr lang="en-US" altLang="zh-CN" sz="2400" baseline="-25000" dirty="0"/>
              <a:t>k</a:t>
            </a:r>
            <a:r>
              <a:rPr lang="en-US" altLang="zh-CN" sz="2400" dirty="0"/>
              <a:t>T</a:t>
            </a:r>
            <a:r>
              <a:rPr lang="en-US" altLang="zh-CN" sz="2400" baseline="-25000" dirty="0"/>
              <a:t>cp</a:t>
            </a:r>
            <a:r>
              <a:rPr lang="en-US" altLang="zh-CN" sz="2400" dirty="0"/>
              <a:t>U</a:t>
            </a:r>
            <a:r>
              <a:rPr lang="en-US" altLang="zh-CN" sz="2400" baseline="30000" dirty="0"/>
              <a:t>2</a:t>
            </a:r>
            <a:r>
              <a:rPr lang="en-US" altLang="zh-CN" sz="2400" baseline="-25000" dirty="0"/>
              <a:t>dd</a:t>
            </a:r>
            <a:r>
              <a:rPr lang="en-US" altLang="zh-CN" sz="2400" dirty="0"/>
              <a:t>/</a:t>
            </a:r>
            <a:r>
              <a:rPr lang="en-US" altLang="zh-CN" sz="2400" dirty="0" err="1"/>
              <a:t>R</a:t>
            </a:r>
            <a:r>
              <a:rPr lang="en-US" altLang="zh-CN" sz="2400" baseline="-25000" dirty="0" err="1"/>
              <a:t>k</a:t>
            </a:r>
            <a:r>
              <a:rPr lang="zh-CN" altLang="en-US" sz="2400" dirty="0"/>
              <a:t>，其中</a:t>
            </a:r>
            <a:r>
              <a:rPr lang="en-US" altLang="zh-CN" sz="2400" dirty="0" err="1"/>
              <a:t>R</a:t>
            </a:r>
            <a:r>
              <a:rPr lang="en-US" altLang="zh-CN" sz="2400" baseline="-25000" dirty="0" err="1"/>
              <a:t>k</a:t>
            </a:r>
            <a:r>
              <a:rPr lang="zh-CN" altLang="en-US" sz="2400" dirty="0"/>
              <a:t>为负载电阻，</a:t>
            </a:r>
            <a:r>
              <a:rPr lang="el-GR" altLang="zh-CN" sz="2400" dirty="0"/>
              <a:t>δ</a:t>
            </a:r>
            <a:r>
              <a:rPr lang="en-US" altLang="zh-CN" sz="2400" baseline="-25000" dirty="0"/>
              <a:t>k</a:t>
            </a:r>
            <a:r>
              <a:rPr lang="zh-CN" altLang="en-US" sz="2400" dirty="0"/>
              <a:t>是占空系数，即电路存在导通电流的时间平均比例</a:t>
            </a:r>
            <a:endParaRPr lang="en-US" altLang="zh-CN" sz="2400" dirty="0"/>
          </a:p>
          <a:p>
            <a:pPr marL="342900" indent="-342900">
              <a:buFont typeface="Wingdings" panose="05000000000000000000" pitchFamily="2" charset="2"/>
              <a:buChar char="Ø"/>
            </a:pPr>
            <a:r>
              <a:rPr lang="zh-CN" altLang="en-US" sz="2400" dirty="0"/>
              <a:t>伪</a:t>
            </a:r>
            <a:r>
              <a:rPr lang="en-US" altLang="zh-CN" sz="2400" dirty="0"/>
              <a:t>NMOS/PMOS</a:t>
            </a:r>
            <a:r>
              <a:rPr lang="zh-CN" altLang="en-US" sz="2400" dirty="0"/>
              <a:t>子电路</a:t>
            </a:r>
            <a:r>
              <a:rPr lang="en-US" altLang="zh-CN" sz="2400" dirty="0"/>
              <a:t>(RAM </a:t>
            </a:r>
            <a:r>
              <a:rPr lang="zh-CN" altLang="en-US" sz="2400" dirty="0"/>
              <a:t>、</a:t>
            </a:r>
            <a:r>
              <a:rPr lang="en-US" altLang="zh-CN" sz="2400" dirty="0"/>
              <a:t>ROM </a:t>
            </a:r>
            <a:r>
              <a:rPr lang="zh-CN" altLang="en-US" sz="2400" dirty="0"/>
              <a:t>和 </a:t>
            </a:r>
            <a:r>
              <a:rPr lang="en-US" altLang="zh-CN" sz="2400" dirty="0"/>
              <a:t>PLA </a:t>
            </a:r>
            <a:r>
              <a:rPr lang="zh-CN" altLang="en-US" sz="2400" dirty="0"/>
              <a:t>中</a:t>
            </a:r>
            <a:r>
              <a:rPr lang="en-US" altLang="zh-CN" sz="2400" dirty="0"/>
              <a:t>)</a:t>
            </a:r>
          </a:p>
          <a:p>
            <a:pPr marL="342900" indent="-342900">
              <a:buFont typeface="Wingdings" panose="05000000000000000000" pitchFamily="2" charset="2"/>
              <a:buChar char="Ø"/>
            </a:pPr>
            <a:r>
              <a:rPr lang="zh-CN" altLang="en-US" sz="2400" dirty="0"/>
              <a:t>放大器</a:t>
            </a:r>
            <a:r>
              <a:rPr lang="en-US" altLang="zh-CN" sz="2400" dirty="0"/>
              <a:t>(</a:t>
            </a:r>
            <a:r>
              <a:rPr lang="zh-CN" altLang="en-US" sz="2400" dirty="0"/>
              <a:t>包括存储器的读出放大器和再生放大器</a:t>
            </a:r>
            <a:r>
              <a:rPr lang="en-US" altLang="zh-CN" sz="2400" dirty="0"/>
              <a:t>)</a:t>
            </a:r>
          </a:p>
          <a:p>
            <a:pPr marL="342900" indent="-342900">
              <a:buFont typeface="Wingdings" panose="05000000000000000000" pitchFamily="2" charset="2"/>
              <a:buChar char="Ø"/>
            </a:pPr>
            <a:r>
              <a:rPr lang="zh-CN" altLang="en-US" sz="2400" dirty="0"/>
              <a:t>电流源和电流镜</a:t>
            </a:r>
          </a:p>
          <a:p>
            <a:pPr marL="342900" indent="-342900">
              <a:buFont typeface="Wingdings" panose="05000000000000000000" pitchFamily="2" charset="2"/>
              <a:buChar char="Ø"/>
            </a:pPr>
            <a:r>
              <a:rPr lang="zh-CN" altLang="en-US" sz="2400" dirty="0"/>
              <a:t>分压电路、电压转换器和电压整流器</a:t>
            </a:r>
          </a:p>
          <a:p>
            <a:pPr marL="342900" indent="-342900">
              <a:buFont typeface="Wingdings" panose="05000000000000000000" pitchFamily="2" charset="2"/>
              <a:buChar char="Ø"/>
            </a:pPr>
            <a:r>
              <a:rPr lang="zh-CN" altLang="en-US" sz="2400" dirty="0"/>
              <a:t>振荡器、时钟产生和调整子电路、收发器</a:t>
            </a:r>
          </a:p>
          <a:p>
            <a:pPr marL="342900" indent="-342900">
              <a:buFont typeface="Wingdings" panose="05000000000000000000" pitchFamily="2" charset="2"/>
              <a:buChar char="Ø"/>
            </a:pPr>
            <a:r>
              <a:rPr lang="zh-CN" altLang="en-US" sz="2400" dirty="0"/>
              <a:t>连续反馈环路</a:t>
            </a:r>
            <a:r>
              <a:rPr lang="en-US" altLang="zh-CN" sz="2400" dirty="0"/>
              <a:t>(</a:t>
            </a:r>
            <a:r>
              <a:rPr lang="zh-CN" altLang="en-US" sz="2400" dirty="0"/>
              <a:t>比如</a:t>
            </a:r>
            <a:r>
              <a:rPr lang="en-US" altLang="zh-CN" sz="2400" dirty="0"/>
              <a:t>PLL </a:t>
            </a:r>
            <a:r>
              <a:rPr lang="zh-CN" altLang="en-US" sz="2400" dirty="0"/>
              <a:t>、</a:t>
            </a:r>
            <a:r>
              <a:rPr lang="en-US" altLang="zh-CN" sz="2400" dirty="0"/>
              <a:t>DLL   </a:t>
            </a:r>
            <a:r>
              <a:rPr lang="zh-CN" altLang="en-US" sz="2400" dirty="0"/>
              <a:t>和其他整流器</a:t>
            </a:r>
            <a:r>
              <a:rPr lang="en-US" altLang="zh-CN" sz="2400" dirty="0"/>
              <a:t>)</a:t>
            </a:r>
          </a:p>
          <a:p>
            <a:pPr marL="342900" indent="-342900">
              <a:buFont typeface="Wingdings" panose="05000000000000000000" pitchFamily="2" charset="2"/>
              <a:buChar char="Ø"/>
            </a:pPr>
            <a:r>
              <a:rPr lang="zh-CN" altLang="en-US" sz="2400" dirty="0"/>
              <a:t>低摆幅电流逻辑</a:t>
            </a:r>
            <a:r>
              <a:rPr lang="en-US" altLang="zh-CN" sz="2400" dirty="0"/>
              <a:t>(</a:t>
            </a:r>
            <a:r>
              <a:rPr lang="zh-CN" altLang="en-US" sz="2400" dirty="0"/>
              <a:t>有时可见在盯预分频器和前端电路中</a:t>
            </a:r>
            <a:r>
              <a:rPr lang="en-US" altLang="zh-CN" sz="2400" dirty="0"/>
              <a:t>)</a:t>
            </a:r>
          </a:p>
          <a:p>
            <a:pPr marL="342900" indent="-342900">
              <a:buFont typeface="Wingdings" panose="05000000000000000000" pitchFamily="2" charset="2"/>
              <a:buChar char="Ø"/>
            </a:pPr>
            <a:r>
              <a:rPr lang="en-US" altLang="zh-CN" sz="2400" dirty="0"/>
              <a:t>LVDS </a:t>
            </a:r>
            <a:r>
              <a:rPr lang="zh-CN" altLang="en-US" sz="2400" dirty="0"/>
              <a:t>接收器</a:t>
            </a:r>
            <a:r>
              <a:rPr lang="en-US" altLang="zh-CN" sz="2400" dirty="0"/>
              <a:t>/</a:t>
            </a:r>
            <a:r>
              <a:rPr lang="zh-CN" altLang="en-US" sz="2400" dirty="0"/>
              <a:t>发送器以及其他电流模式的</a:t>
            </a:r>
            <a:r>
              <a:rPr lang="en-US" altLang="zh-CN" sz="2400" dirty="0"/>
              <a:t>I10 </a:t>
            </a:r>
            <a:r>
              <a:rPr lang="zh-CN" altLang="en-US" sz="2400" dirty="0"/>
              <a:t>子电路</a:t>
            </a:r>
          </a:p>
          <a:p>
            <a:pPr marL="342900" indent="-342900">
              <a:buFont typeface="Wingdings" panose="05000000000000000000" pitchFamily="2" charset="2"/>
              <a:buChar char="Ø"/>
            </a:pPr>
            <a:r>
              <a:rPr lang="zh-CN" altLang="en-US" sz="2400" dirty="0"/>
              <a:t>终端电阻</a:t>
            </a:r>
            <a:r>
              <a:rPr lang="en-US" altLang="zh-CN" sz="2400" dirty="0"/>
              <a:t>(</a:t>
            </a:r>
            <a:r>
              <a:rPr lang="zh-CN" altLang="en-US" sz="2400" dirty="0"/>
              <a:t>片上或者片外</a:t>
            </a:r>
            <a:r>
              <a:rPr lang="en-US" altLang="zh-CN" sz="2400" dirty="0"/>
              <a:t>)</a:t>
            </a:r>
          </a:p>
          <a:p>
            <a:pPr marL="342900" indent="-342900">
              <a:buFont typeface="Wingdings" panose="05000000000000000000" pitchFamily="2" charset="2"/>
              <a:buChar char="Ø"/>
            </a:pPr>
            <a:r>
              <a:rPr lang="zh-CN" altLang="en-US" sz="2400" dirty="0"/>
              <a:t>片上阻性负载</a:t>
            </a:r>
            <a:r>
              <a:rPr lang="en-US" altLang="zh-CN" sz="2400" dirty="0"/>
              <a:t>(</a:t>
            </a:r>
            <a:r>
              <a:rPr lang="zh-CN" altLang="en-US" sz="2400" dirty="0"/>
              <a:t>比如无源上拉</a:t>
            </a:r>
            <a:r>
              <a:rPr lang="en-US" altLang="zh-CN" sz="2400" dirty="0"/>
              <a:t>/</a:t>
            </a:r>
            <a:r>
              <a:rPr lang="zh-CN" altLang="en-US" sz="2400" dirty="0"/>
              <a:t>下拉</a:t>
            </a:r>
            <a:r>
              <a:rPr lang="en-US" altLang="zh-CN" sz="2400" dirty="0"/>
              <a:t>)</a:t>
            </a:r>
          </a:p>
          <a:p>
            <a:pPr marL="342900" indent="-342900">
              <a:buFont typeface="Wingdings" panose="05000000000000000000" pitchFamily="2" charset="2"/>
              <a:buChar char="Ø"/>
            </a:pPr>
            <a:r>
              <a:rPr lang="zh-CN" altLang="en-US" sz="2400" dirty="0"/>
              <a:t>片外负载</a:t>
            </a:r>
            <a:r>
              <a:rPr lang="en-US" altLang="zh-CN" sz="2400" dirty="0"/>
              <a:t>(TTL </a:t>
            </a:r>
            <a:r>
              <a:rPr lang="zh-CN" altLang="en-US" sz="2400" dirty="0"/>
              <a:t>、双极管、</a:t>
            </a:r>
            <a:r>
              <a:rPr lang="en-US" altLang="zh-CN" sz="2400" dirty="0"/>
              <a:t>LED </a:t>
            </a:r>
            <a:r>
              <a:rPr lang="zh-CN" altLang="en-US" sz="2400" dirty="0"/>
              <a:t>、继电器等</a:t>
            </a:r>
            <a:r>
              <a:rPr lang="en-US" altLang="zh-CN" sz="2400" dirty="0"/>
              <a:t>)</a:t>
            </a:r>
            <a:r>
              <a:rPr lang="zh-CN" altLang="en-US" sz="2400" dirty="0"/>
              <a:t>，以及可能的</a:t>
            </a:r>
          </a:p>
          <a:p>
            <a:pPr marL="342900" indent="-342900">
              <a:buFont typeface="Wingdings" panose="05000000000000000000" pitchFamily="2" charset="2"/>
              <a:buChar char="Ø"/>
            </a:pPr>
            <a:r>
              <a:rPr lang="en-US" altLang="zh-CN" sz="2400" dirty="0"/>
              <a:t>ESD </a:t>
            </a:r>
            <a:r>
              <a:rPr lang="zh-CN" altLang="en-US" sz="2400" dirty="0"/>
              <a:t>保护结构</a:t>
            </a:r>
            <a:endParaRPr lang="en-US" altLang="zh-CN" sz="2400" dirty="0"/>
          </a:p>
        </p:txBody>
      </p:sp>
    </p:spTree>
    <p:extLst>
      <p:ext uri="{BB962C8B-B14F-4D97-AF65-F5344CB8AC3E}">
        <p14:creationId xmlns:p14="http://schemas.microsoft.com/office/powerpoint/2010/main" val="3900666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sp>
        <p:nvSpPr>
          <p:cNvPr id="3" name="矩形 2">
            <a:extLst>
              <a:ext uri="{FF2B5EF4-FFF2-40B4-BE49-F238E27FC236}">
                <a16:creationId xmlns:a16="http://schemas.microsoft.com/office/drawing/2014/main" id="{EF62B4A8-DB90-43DC-9872-202DF9DDB5B0}"/>
              </a:ext>
            </a:extLst>
          </p:cNvPr>
          <p:cNvSpPr/>
          <p:nvPr/>
        </p:nvSpPr>
        <p:spPr>
          <a:xfrm>
            <a:off x="323528" y="620688"/>
            <a:ext cx="8712968" cy="2308324"/>
          </a:xfrm>
          <a:prstGeom prst="rect">
            <a:avLst/>
          </a:prstGeom>
        </p:spPr>
        <p:txBody>
          <a:bodyPr wrap="square">
            <a:spAutoFit/>
          </a:bodyPr>
          <a:lstStyle/>
          <a:p>
            <a:r>
              <a:rPr lang="en-US" altLang="zh-CN" sz="2400" dirty="0"/>
              <a:t>9.1.4 </a:t>
            </a:r>
            <a:r>
              <a:rPr lang="zh-CN" altLang="en-US" sz="2400" dirty="0"/>
              <a:t>漏电流</a:t>
            </a:r>
          </a:p>
          <a:p>
            <a:r>
              <a:rPr lang="en-US" altLang="zh-CN" sz="2400" dirty="0"/>
              <a:t>4 </a:t>
            </a:r>
            <a:r>
              <a:rPr lang="zh-CN" altLang="en-US" sz="2400" dirty="0"/>
              <a:t>种通常现象对 </a:t>
            </a:r>
            <a:r>
              <a:rPr lang="en-US" altLang="zh-CN" sz="2400" dirty="0"/>
              <a:t>bulk CMOS </a:t>
            </a:r>
            <a:r>
              <a:rPr lang="zh-CN" altLang="en-US" sz="2400" dirty="0"/>
              <a:t>工艺的漏电流有贡献：</a:t>
            </a:r>
          </a:p>
          <a:p>
            <a:pPr marL="342900" indent="-342900">
              <a:buFont typeface="Wingdings" panose="05000000000000000000" pitchFamily="2" charset="2"/>
              <a:buChar char="Ø"/>
            </a:pPr>
            <a:r>
              <a:rPr lang="en-US" altLang="zh-CN" sz="2400" dirty="0"/>
              <a:t>MOSFET </a:t>
            </a:r>
            <a:r>
              <a:rPr lang="zh-CN" altLang="en-US" sz="2400" dirty="0"/>
              <a:t>沟道关闭时的亚阔值导通电流，</a:t>
            </a:r>
            <a:r>
              <a:rPr lang="en-US" altLang="zh-CN" sz="2400" dirty="0"/>
              <a:t>I</a:t>
            </a:r>
            <a:r>
              <a:rPr lang="en-US" altLang="zh-CN" sz="2400" baseline="-25000" dirty="0"/>
              <a:t>ds off</a:t>
            </a:r>
            <a:endParaRPr lang="zh-CN" altLang="en-US" sz="2400" baseline="-25000" dirty="0"/>
          </a:p>
          <a:p>
            <a:pPr marL="342900" indent="-342900">
              <a:buFont typeface="Wingdings" panose="05000000000000000000" pitchFamily="2" charset="2"/>
              <a:buChar char="Ø"/>
            </a:pPr>
            <a:r>
              <a:rPr lang="zh-CN" altLang="en-US" sz="2400" dirty="0"/>
              <a:t>反偏的漏衬底和源衬底</a:t>
            </a:r>
            <a:r>
              <a:rPr lang="en-US" altLang="zh-CN" sz="2400" dirty="0" err="1"/>
              <a:t>pn</a:t>
            </a:r>
            <a:r>
              <a:rPr lang="zh-CN" altLang="en-US" sz="2400" dirty="0"/>
              <a:t>结的漏电流，</a:t>
            </a:r>
            <a:r>
              <a:rPr lang="en-US" altLang="zh-CN" sz="2400" dirty="0" err="1"/>
              <a:t>I</a:t>
            </a:r>
            <a:r>
              <a:rPr lang="en-US" altLang="zh-CN" sz="2400" baseline="-25000" dirty="0" err="1"/>
              <a:t>db</a:t>
            </a:r>
            <a:r>
              <a:rPr lang="en-US" altLang="zh-CN" sz="2400" baseline="-25000" dirty="0"/>
              <a:t> rev</a:t>
            </a:r>
          </a:p>
          <a:p>
            <a:pPr marL="342900" indent="-342900">
              <a:buFont typeface="Wingdings" panose="05000000000000000000" pitchFamily="2" charset="2"/>
              <a:buChar char="Ø"/>
            </a:pPr>
            <a:r>
              <a:rPr lang="zh-CN" altLang="en-US" sz="2400" dirty="0"/>
              <a:t>反偏的阱</a:t>
            </a:r>
            <a:r>
              <a:rPr lang="en-US" altLang="zh-CN" sz="2400" dirty="0"/>
              <a:t>-</a:t>
            </a:r>
            <a:r>
              <a:rPr lang="zh-CN" altLang="en-US" sz="2400" dirty="0"/>
              <a:t>阱或阱</a:t>
            </a:r>
            <a:r>
              <a:rPr lang="en-US" altLang="zh-CN" sz="2400" dirty="0"/>
              <a:t>-</a:t>
            </a:r>
            <a:r>
              <a:rPr lang="zh-CN" altLang="en-US" sz="2400" dirty="0"/>
              <a:t>衬底</a:t>
            </a:r>
            <a:r>
              <a:rPr lang="en-US" altLang="zh-CN" sz="2400" dirty="0" err="1"/>
              <a:t>pn</a:t>
            </a:r>
            <a:r>
              <a:rPr lang="zh-CN" altLang="en-US" sz="2400" dirty="0"/>
              <a:t>结漏电流，</a:t>
            </a:r>
            <a:r>
              <a:rPr lang="en-US" altLang="zh-CN" sz="2400" dirty="0"/>
              <a:t> </a:t>
            </a:r>
            <a:r>
              <a:rPr lang="en-US" altLang="zh-CN" sz="2400" dirty="0" err="1"/>
              <a:t>I</a:t>
            </a:r>
            <a:r>
              <a:rPr lang="en-US" altLang="zh-CN" sz="2400" baseline="-25000" dirty="0" err="1"/>
              <a:t>bb</a:t>
            </a:r>
            <a:r>
              <a:rPr lang="en-US" altLang="zh-CN" sz="2400" baseline="-25000" dirty="0"/>
              <a:t> rev</a:t>
            </a:r>
            <a:endParaRPr lang="zh-CN" altLang="en-US" sz="2400" dirty="0"/>
          </a:p>
          <a:p>
            <a:pPr marL="342900" indent="-342900">
              <a:buFont typeface="Wingdings" panose="05000000000000000000" pitchFamily="2" charset="2"/>
              <a:buChar char="Ø"/>
            </a:pPr>
            <a:r>
              <a:rPr lang="zh-CN" altLang="en-US" sz="2400" dirty="0"/>
              <a:t>通过栅极介质的电子隧穿，也称为栅漏电流</a:t>
            </a:r>
            <a:r>
              <a:rPr lang="en-US" altLang="zh-CN" sz="2400" dirty="0"/>
              <a:t>I</a:t>
            </a:r>
            <a:r>
              <a:rPr lang="en-US" altLang="zh-CN" sz="2400" baseline="-25000" dirty="0"/>
              <a:t>g tun</a:t>
            </a:r>
            <a:endParaRPr lang="zh-CN" altLang="en-US" sz="2400" baseline="-25000" dirty="0"/>
          </a:p>
        </p:txBody>
      </p:sp>
      <p:pic>
        <p:nvPicPr>
          <p:cNvPr id="6" name="图片 5">
            <a:extLst>
              <a:ext uri="{FF2B5EF4-FFF2-40B4-BE49-F238E27FC236}">
                <a16:creationId xmlns:a16="http://schemas.microsoft.com/office/drawing/2014/main" id="{23D44E79-A16B-47CE-A86A-F9891F8E5A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06" y="2929012"/>
            <a:ext cx="9144000" cy="4037516"/>
          </a:xfrm>
          <a:prstGeom prst="rect">
            <a:avLst/>
          </a:prstGeom>
        </p:spPr>
      </p:pic>
    </p:spTree>
    <p:extLst>
      <p:ext uri="{BB962C8B-B14F-4D97-AF65-F5344CB8AC3E}">
        <p14:creationId xmlns:p14="http://schemas.microsoft.com/office/powerpoint/2010/main" val="344314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sp>
        <p:nvSpPr>
          <p:cNvPr id="3" name="矩形 2">
            <a:extLst>
              <a:ext uri="{FF2B5EF4-FFF2-40B4-BE49-F238E27FC236}">
                <a16:creationId xmlns:a16="http://schemas.microsoft.com/office/drawing/2014/main" id="{EF62B4A8-DB90-43DC-9872-202DF9DDB5B0}"/>
              </a:ext>
            </a:extLst>
          </p:cNvPr>
          <p:cNvSpPr/>
          <p:nvPr/>
        </p:nvSpPr>
        <p:spPr>
          <a:xfrm>
            <a:off x="323528" y="732760"/>
            <a:ext cx="8712968" cy="3416320"/>
          </a:xfrm>
          <a:prstGeom prst="rect">
            <a:avLst/>
          </a:prstGeom>
        </p:spPr>
        <p:txBody>
          <a:bodyPr wrap="square">
            <a:spAutoFit/>
          </a:bodyPr>
          <a:lstStyle/>
          <a:p>
            <a:r>
              <a:rPr lang="en-US" altLang="zh-CN" sz="2400" dirty="0"/>
              <a:t>9.1.4 </a:t>
            </a:r>
            <a:r>
              <a:rPr lang="zh-CN" altLang="en-US" sz="2400" dirty="0"/>
              <a:t>漏电流</a:t>
            </a:r>
          </a:p>
          <a:p>
            <a:r>
              <a:rPr lang="zh-CN" altLang="en-US" sz="2400" dirty="0">
                <a:solidFill>
                  <a:srgbClr val="FF0000"/>
                </a:solidFill>
              </a:rPr>
              <a:t>总的漏电流</a:t>
            </a:r>
            <a:r>
              <a:rPr lang="zh-CN" altLang="en-US" sz="2400" dirty="0"/>
              <a:t>：</a:t>
            </a:r>
            <a:r>
              <a:rPr lang="en-US" altLang="zh-CN" sz="2400" dirty="0"/>
              <a:t>I</a:t>
            </a:r>
            <a:r>
              <a:rPr lang="en-US" altLang="zh-CN" sz="2400" baseline="-25000" dirty="0"/>
              <a:t>lk</a:t>
            </a:r>
            <a:r>
              <a:rPr lang="en-US" altLang="zh-CN" sz="2400" dirty="0"/>
              <a:t>= ∑ (I</a:t>
            </a:r>
            <a:r>
              <a:rPr lang="en-US" altLang="zh-CN" sz="2400" baseline="-25000" dirty="0"/>
              <a:t>ds off</a:t>
            </a:r>
            <a:r>
              <a:rPr lang="en-US" altLang="zh-CN" sz="2400" dirty="0"/>
              <a:t> + </a:t>
            </a:r>
            <a:r>
              <a:rPr lang="en-US" altLang="zh-CN" sz="2400" dirty="0" err="1"/>
              <a:t>I</a:t>
            </a:r>
            <a:r>
              <a:rPr lang="en-US" altLang="zh-CN" sz="2400" baseline="-25000" dirty="0" err="1"/>
              <a:t>db</a:t>
            </a:r>
            <a:r>
              <a:rPr lang="en-US" altLang="zh-CN" sz="2400" baseline="-25000" dirty="0"/>
              <a:t> rev </a:t>
            </a:r>
            <a:r>
              <a:rPr lang="en-US" altLang="zh-CN" sz="2400" dirty="0"/>
              <a:t>+ </a:t>
            </a:r>
            <a:r>
              <a:rPr lang="en-US" altLang="zh-CN" sz="2400" dirty="0" err="1"/>
              <a:t>I</a:t>
            </a:r>
            <a:r>
              <a:rPr lang="en-US" altLang="zh-CN" sz="2400" baseline="-25000" dirty="0" err="1"/>
              <a:t>bb</a:t>
            </a:r>
            <a:r>
              <a:rPr lang="en-US" altLang="zh-CN" sz="2400" baseline="-25000" dirty="0"/>
              <a:t> rev </a:t>
            </a:r>
            <a:r>
              <a:rPr lang="en-US" altLang="zh-CN" sz="2400" dirty="0"/>
              <a:t>+ I</a:t>
            </a:r>
            <a:r>
              <a:rPr lang="en-US" altLang="zh-CN" sz="2400" baseline="-25000" dirty="0"/>
              <a:t>g tun</a:t>
            </a:r>
            <a:r>
              <a:rPr lang="en-US" altLang="zh-CN" sz="2400" dirty="0"/>
              <a:t>)</a:t>
            </a:r>
            <a:endParaRPr lang="zh-CN" altLang="en-US" sz="2400" dirty="0"/>
          </a:p>
          <a:p>
            <a:r>
              <a:rPr lang="en-US" altLang="zh-CN" sz="2400" dirty="0"/>
              <a:t>E</a:t>
            </a:r>
            <a:r>
              <a:rPr lang="en-US" altLang="zh-CN" sz="2400" baseline="-25000" dirty="0"/>
              <a:t>lk</a:t>
            </a:r>
            <a:r>
              <a:rPr lang="en-US" altLang="zh-CN" sz="2400" dirty="0"/>
              <a:t>=</a:t>
            </a:r>
            <a:r>
              <a:rPr lang="en-US" altLang="zh-CN" sz="2400" dirty="0" err="1"/>
              <a:t>P</a:t>
            </a:r>
            <a:r>
              <a:rPr lang="en-US" altLang="zh-CN" sz="2400" baseline="-25000" dirty="0" err="1"/>
              <a:t>lk</a:t>
            </a:r>
            <a:r>
              <a:rPr lang="en-US" altLang="zh-CN" sz="2400" dirty="0" err="1"/>
              <a:t>T</a:t>
            </a:r>
            <a:r>
              <a:rPr lang="en-US" altLang="zh-CN" sz="2400" baseline="-25000" dirty="0" err="1"/>
              <a:t>cp</a:t>
            </a:r>
            <a:r>
              <a:rPr lang="en-US" altLang="zh-CN" sz="2400" dirty="0"/>
              <a:t>=</a:t>
            </a:r>
            <a:r>
              <a:rPr lang="en-US" altLang="zh-CN" sz="2400" dirty="0" err="1"/>
              <a:t>U</a:t>
            </a:r>
            <a:r>
              <a:rPr lang="en-US" altLang="zh-CN" sz="2400" baseline="-25000" dirty="0" err="1"/>
              <a:t>dd</a:t>
            </a:r>
            <a:r>
              <a:rPr lang="en-US" altLang="zh-CN" sz="2400" dirty="0" err="1"/>
              <a:t>I</a:t>
            </a:r>
            <a:r>
              <a:rPr lang="en-US" altLang="zh-CN" sz="2400" baseline="-25000" dirty="0" err="1"/>
              <a:t>lk</a:t>
            </a:r>
            <a:r>
              <a:rPr lang="en-US" altLang="zh-CN" sz="2400" dirty="0" err="1"/>
              <a:t>T</a:t>
            </a:r>
            <a:r>
              <a:rPr lang="en-US" altLang="zh-CN" sz="2400" baseline="-25000" dirty="0" err="1"/>
              <a:t>cp</a:t>
            </a:r>
            <a:r>
              <a:rPr lang="en-US" altLang="zh-CN" sz="2400" dirty="0"/>
              <a:t>&lt;&lt; </a:t>
            </a:r>
            <a:r>
              <a:rPr lang="en-US" altLang="zh-CN" sz="2400" dirty="0" err="1"/>
              <a:t>E</a:t>
            </a:r>
            <a:r>
              <a:rPr lang="en-US" altLang="zh-CN" sz="2400" baseline="-25000" dirty="0" err="1"/>
              <a:t>ch</a:t>
            </a:r>
            <a:r>
              <a:rPr lang="en-US" altLang="zh-CN" sz="2400" dirty="0" err="1"/>
              <a:t>+E</a:t>
            </a:r>
            <a:r>
              <a:rPr lang="en-US" altLang="zh-CN" sz="2400" baseline="-25000" dirty="0" err="1"/>
              <a:t>cr</a:t>
            </a:r>
            <a:r>
              <a:rPr lang="en-US" altLang="zh-CN" sz="2400" dirty="0" err="1"/>
              <a:t>+E</a:t>
            </a:r>
            <a:r>
              <a:rPr lang="en-US" altLang="zh-CN" sz="2400" baseline="-25000" dirty="0" err="1"/>
              <a:t>rr</a:t>
            </a:r>
            <a:endParaRPr lang="en-US" altLang="zh-CN" sz="2400" baseline="-25000" dirty="0"/>
          </a:p>
          <a:p>
            <a:pPr marL="342900" indent="-342900">
              <a:buFont typeface="Wingdings" panose="05000000000000000000" pitchFamily="2" charset="2"/>
              <a:buChar char="Ø"/>
            </a:pPr>
            <a:r>
              <a:rPr lang="en-US" altLang="zh-CN" sz="2400" dirty="0"/>
              <a:t>DRAM</a:t>
            </a:r>
            <a:r>
              <a:rPr lang="zh-CN" altLang="en-US" sz="2400" dirty="0"/>
              <a:t>和其他必须要保持电荷的电路里漏电流是个关键问题</a:t>
            </a:r>
          </a:p>
          <a:p>
            <a:pPr marL="342900" indent="-342900">
              <a:buFont typeface="Wingdings" panose="05000000000000000000" pitchFamily="2" charset="2"/>
              <a:buChar char="Ø"/>
            </a:pPr>
            <a:r>
              <a:rPr lang="zh-CN" altLang="en-US" sz="2400" dirty="0"/>
              <a:t>很小的漏电流累加为很大的待机电流</a:t>
            </a:r>
            <a:r>
              <a:rPr lang="en-US" altLang="zh-CN" sz="2400" dirty="0"/>
              <a:t>(</a:t>
            </a:r>
            <a:r>
              <a:rPr lang="zh-CN" altLang="en-US" sz="2400" dirty="0"/>
              <a:t>消耗电池并产生热量，而且也影响</a:t>
            </a:r>
            <a:r>
              <a:rPr lang="en-US" altLang="zh-CN" sz="2400" dirty="0" err="1"/>
              <a:t>Iddq</a:t>
            </a:r>
            <a:r>
              <a:rPr lang="zh-CN" altLang="en-US" sz="2400" dirty="0"/>
              <a:t>测试</a:t>
            </a:r>
            <a:r>
              <a:rPr lang="en-US" altLang="zh-CN" sz="2400" dirty="0"/>
              <a:t>)</a:t>
            </a:r>
          </a:p>
          <a:p>
            <a:pPr marL="342900" indent="-342900">
              <a:buFont typeface="Wingdings" panose="05000000000000000000" pitchFamily="2" charset="2"/>
              <a:buChar char="Ø"/>
            </a:pPr>
            <a:r>
              <a:rPr lang="zh-CN" altLang="en-US" sz="2400" dirty="0"/>
              <a:t>亚阈值电流和阈值电压是指数关系，而为了从更低的电源电压得到更好的性能，</a:t>
            </a:r>
            <a:r>
              <a:rPr lang="en-US" altLang="zh-CN" sz="2400" dirty="0" err="1"/>
              <a:t>U</a:t>
            </a:r>
            <a:r>
              <a:rPr lang="en-US" altLang="zh-CN" sz="2400" baseline="-25000" dirty="0" err="1"/>
              <a:t>th</a:t>
            </a:r>
            <a:r>
              <a:rPr lang="en-US" altLang="zh-CN" sz="2400" dirty="0"/>
              <a:t>=</a:t>
            </a:r>
            <a:r>
              <a:rPr lang="en-US" altLang="zh-CN" sz="2400" dirty="0" err="1"/>
              <a:t>U</a:t>
            </a:r>
            <a:r>
              <a:rPr lang="en-US" altLang="zh-CN" sz="2400" baseline="-25000" dirty="0" err="1"/>
              <a:t>thn</a:t>
            </a:r>
            <a:r>
              <a:rPr lang="en-US" altLang="zh-CN" sz="2400" dirty="0"/>
              <a:t>=-</a:t>
            </a:r>
            <a:r>
              <a:rPr lang="en-US" altLang="zh-CN" sz="2400" dirty="0" err="1"/>
              <a:t>U</a:t>
            </a:r>
            <a:r>
              <a:rPr lang="en-US" altLang="zh-CN" sz="2400" baseline="-25000" dirty="0" err="1"/>
              <a:t>thp</a:t>
            </a:r>
            <a:r>
              <a:rPr lang="en-US" altLang="zh-CN" sz="2400" dirty="0"/>
              <a:t> </a:t>
            </a:r>
            <a:r>
              <a:rPr lang="zh-CN" altLang="en-US" sz="2400" dirty="0"/>
              <a:t>持续降低；</a:t>
            </a:r>
          </a:p>
          <a:p>
            <a:pPr marL="342900" indent="-342900">
              <a:buFont typeface="Wingdings" panose="05000000000000000000" pitchFamily="2" charset="2"/>
              <a:buChar char="Ø"/>
            </a:pPr>
            <a:r>
              <a:rPr lang="zh-CN" altLang="en-US" sz="2400" dirty="0"/>
              <a:t>亚阈值电流</a:t>
            </a:r>
            <a:r>
              <a:rPr lang="en-US" altLang="zh-CN" sz="2400" dirty="0"/>
              <a:t>I</a:t>
            </a:r>
            <a:r>
              <a:rPr lang="en-US" altLang="zh-CN" sz="2400" baseline="-25000" dirty="0"/>
              <a:t>ds off</a:t>
            </a:r>
            <a:r>
              <a:rPr lang="en-US" altLang="zh-CN" sz="2400" dirty="0"/>
              <a:t> </a:t>
            </a:r>
            <a:r>
              <a:rPr lang="zh-CN" altLang="en-US" sz="2400" dirty="0"/>
              <a:t>随着芯片工作温度升高而显著增大</a:t>
            </a:r>
            <a:endParaRPr lang="en-US" altLang="zh-CN" sz="2400" dirty="0"/>
          </a:p>
        </p:txBody>
      </p:sp>
      <p:pic>
        <p:nvPicPr>
          <p:cNvPr id="4" name="图片 3">
            <a:extLst>
              <a:ext uri="{FF2B5EF4-FFF2-40B4-BE49-F238E27FC236}">
                <a16:creationId xmlns:a16="http://schemas.microsoft.com/office/drawing/2014/main" id="{A1688A7B-EC42-4598-A401-D85A7CFE7F01}"/>
              </a:ext>
            </a:extLst>
          </p:cNvPr>
          <p:cNvPicPr>
            <a:picLocks noChangeAspect="1"/>
          </p:cNvPicPr>
          <p:nvPr/>
        </p:nvPicPr>
        <p:blipFill>
          <a:blip r:embed="rId3"/>
          <a:stretch>
            <a:fillRect/>
          </a:stretch>
        </p:blipFill>
        <p:spPr>
          <a:xfrm>
            <a:off x="117666" y="4213051"/>
            <a:ext cx="7953375" cy="2600325"/>
          </a:xfrm>
          <a:prstGeom prst="rect">
            <a:avLst/>
          </a:prstGeom>
        </p:spPr>
      </p:pic>
    </p:spTree>
    <p:extLst>
      <p:ext uri="{BB962C8B-B14F-4D97-AF65-F5344CB8AC3E}">
        <p14:creationId xmlns:p14="http://schemas.microsoft.com/office/powerpoint/2010/main" val="2698362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sp>
        <p:nvSpPr>
          <p:cNvPr id="3" name="矩形 2">
            <a:extLst>
              <a:ext uri="{FF2B5EF4-FFF2-40B4-BE49-F238E27FC236}">
                <a16:creationId xmlns:a16="http://schemas.microsoft.com/office/drawing/2014/main" id="{EF62B4A8-DB90-43DC-9872-202DF9DDB5B0}"/>
              </a:ext>
            </a:extLst>
          </p:cNvPr>
          <p:cNvSpPr/>
          <p:nvPr/>
        </p:nvSpPr>
        <p:spPr>
          <a:xfrm>
            <a:off x="323528" y="732760"/>
            <a:ext cx="8712968" cy="4154984"/>
          </a:xfrm>
          <a:prstGeom prst="rect">
            <a:avLst/>
          </a:prstGeom>
        </p:spPr>
        <p:txBody>
          <a:bodyPr wrap="square">
            <a:spAutoFit/>
          </a:bodyPr>
          <a:lstStyle/>
          <a:p>
            <a:r>
              <a:rPr lang="en-US" altLang="zh-CN" sz="2400" dirty="0"/>
              <a:t>9.1.5</a:t>
            </a:r>
            <a:r>
              <a:rPr lang="zh-CN" altLang="en-US" sz="2400" dirty="0"/>
              <a:t>总能量消耗</a:t>
            </a:r>
          </a:p>
          <a:p>
            <a:r>
              <a:rPr lang="zh-CN" altLang="en-US" sz="2400" dirty="0">
                <a:solidFill>
                  <a:srgbClr val="FF0000"/>
                </a:solidFill>
              </a:rPr>
              <a:t>一个计算周期内总能量消耗</a:t>
            </a:r>
            <a:r>
              <a:rPr lang="zh-CN" altLang="en-US" sz="2400" dirty="0"/>
              <a:t>：</a:t>
            </a:r>
            <a:r>
              <a:rPr lang="en-US" altLang="zh-CN" sz="2400" dirty="0" err="1"/>
              <a:t>E</a:t>
            </a:r>
            <a:r>
              <a:rPr lang="en-US" altLang="zh-CN" sz="2400" baseline="-25000" dirty="0" err="1"/>
              <a:t>cp</a:t>
            </a:r>
            <a:r>
              <a:rPr lang="en-US" altLang="zh-CN" sz="2400" dirty="0"/>
              <a:t>= ∑ (</a:t>
            </a:r>
            <a:r>
              <a:rPr lang="en-US" altLang="zh-CN" sz="2400" dirty="0" err="1"/>
              <a:t>E</a:t>
            </a:r>
            <a:r>
              <a:rPr lang="en-US" altLang="zh-CN" sz="2400" baseline="-25000" dirty="0" err="1"/>
              <a:t>ch</a:t>
            </a:r>
            <a:r>
              <a:rPr lang="en-US" altLang="zh-CN" sz="2400" baseline="-25000" dirty="0"/>
              <a:t> </a:t>
            </a:r>
            <a:r>
              <a:rPr lang="en-US" altLang="zh-CN" sz="2400" baseline="-25000" dirty="0" err="1"/>
              <a:t>k</a:t>
            </a:r>
            <a:r>
              <a:rPr lang="en-US" altLang="zh-CN" sz="2400" dirty="0" err="1"/>
              <a:t>+E</a:t>
            </a:r>
            <a:r>
              <a:rPr lang="en-US" altLang="zh-CN" sz="2400" baseline="-25000" dirty="0" err="1"/>
              <a:t>cr</a:t>
            </a:r>
            <a:r>
              <a:rPr lang="en-US" altLang="zh-CN" sz="2400" baseline="-25000" dirty="0"/>
              <a:t> </a:t>
            </a:r>
            <a:r>
              <a:rPr lang="en-US" altLang="zh-CN" sz="2400" baseline="-25000" dirty="0" err="1"/>
              <a:t>k</a:t>
            </a:r>
            <a:r>
              <a:rPr lang="en-US" altLang="zh-CN" sz="2400" dirty="0" err="1"/>
              <a:t>+E</a:t>
            </a:r>
            <a:r>
              <a:rPr lang="en-US" altLang="zh-CN" sz="2400" baseline="-25000" dirty="0" err="1"/>
              <a:t>rr</a:t>
            </a:r>
            <a:r>
              <a:rPr lang="en-US" altLang="zh-CN" sz="2400" baseline="-25000" dirty="0"/>
              <a:t> k</a:t>
            </a:r>
            <a:r>
              <a:rPr lang="en-US" altLang="zh-CN" sz="2400" dirty="0"/>
              <a:t>)</a:t>
            </a:r>
            <a:r>
              <a:rPr lang="en-US" altLang="zh-CN" sz="2400" baseline="-25000" dirty="0"/>
              <a:t> </a:t>
            </a:r>
            <a:r>
              <a:rPr lang="en-US" altLang="zh-CN" sz="2400" dirty="0"/>
              <a:t>+E</a:t>
            </a:r>
            <a:r>
              <a:rPr lang="en-US" altLang="zh-CN" sz="2400" baseline="-25000" dirty="0"/>
              <a:t>lk</a:t>
            </a:r>
            <a:endParaRPr lang="en-US" altLang="zh-CN" sz="2400" dirty="0"/>
          </a:p>
          <a:p>
            <a:endParaRPr lang="en-US" altLang="zh-CN" sz="2400" dirty="0"/>
          </a:p>
          <a:p>
            <a:r>
              <a:rPr lang="zh-CN" altLang="en-US" sz="2400" dirty="0"/>
              <a:t>近似公式：</a:t>
            </a:r>
            <a:endParaRPr lang="en-US" altLang="zh-CN" sz="2400" dirty="0"/>
          </a:p>
          <a:p>
            <a:endParaRPr lang="en-US" altLang="zh-CN" sz="2400" dirty="0"/>
          </a:p>
          <a:p>
            <a:pPr marL="342900" indent="-342900">
              <a:buFont typeface="Wingdings" panose="05000000000000000000" pitchFamily="2" charset="2"/>
              <a:buChar char="Ø"/>
            </a:pPr>
            <a:r>
              <a:rPr lang="zh-CN" altLang="en-US" sz="2400" dirty="0"/>
              <a:t>影响全摆幅 </a:t>
            </a:r>
            <a:r>
              <a:rPr lang="en-US" altLang="zh-CN" sz="2400" dirty="0"/>
              <a:t>CMOS</a:t>
            </a:r>
            <a:r>
              <a:rPr lang="zh-CN" altLang="en-US" sz="2400" dirty="0"/>
              <a:t>电路能量效率的最重要的因素是电源电压</a:t>
            </a:r>
          </a:p>
          <a:p>
            <a:pPr marL="342900" indent="-342900">
              <a:buFont typeface="Wingdings" panose="05000000000000000000" pitchFamily="2" charset="2"/>
              <a:buChar char="Ø"/>
            </a:pPr>
            <a:r>
              <a:rPr lang="zh-CN" altLang="en-US" sz="2400" dirty="0"/>
              <a:t>其他影响 </a:t>
            </a:r>
            <a:r>
              <a:rPr lang="en-US" altLang="zh-CN" sz="2400" dirty="0"/>
              <a:t>CMOS </a:t>
            </a:r>
            <a:r>
              <a:rPr lang="zh-CN" altLang="en-US" sz="2400" dirty="0"/>
              <a:t>电路能量效率的因素包括无用的节点翻转、过大尺寸的晶体管或驱动能力，以及额外的负载，包括电阻和电容</a:t>
            </a:r>
            <a:endParaRPr lang="en-US" altLang="zh-CN" sz="2400" dirty="0"/>
          </a:p>
          <a:p>
            <a:pPr marL="342900" indent="-342900">
              <a:buFont typeface="Wingdings" panose="05000000000000000000" pitchFamily="2" charset="2"/>
              <a:buChar char="Ø"/>
            </a:pPr>
            <a:r>
              <a:rPr lang="zh-CN" altLang="en-US" sz="2400" dirty="0"/>
              <a:t>对于那些在很短的突发时间内工作而突发之间不完全关闭的电子装置，静态电流是其能量消耗的最大负担</a:t>
            </a:r>
            <a:endParaRPr lang="en-US" altLang="zh-CN" sz="2400" dirty="0"/>
          </a:p>
        </p:txBody>
      </p:sp>
      <p:pic>
        <p:nvPicPr>
          <p:cNvPr id="6" name="图片 5">
            <a:extLst>
              <a:ext uri="{FF2B5EF4-FFF2-40B4-BE49-F238E27FC236}">
                <a16:creationId xmlns:a16="http://schemas.microsoft.com/office/drawing/2014/main" id="{E11B6423-7C47-435B-8254-56ECE033AC51}"/>
              </a:ext>
            </a:extLst>
          </p:cNvPr>
          <p:cNvPicPr>
            <a:picLocks noChangeAspect="1"/>
          </p:cNvPicPr>
          <p:nvPr/>
        </p:nvPicPr>
        <p:blipFill>
          <a:blip r:embed="rId3"/>
          <a:stretch>
            <a:fillRect/>
          </a:stretch>
        </p:blipFill>
        <p:spPr>
          <a:xfrm>
            <a:off x="1835696" y="1739480"/>
            <a:ext cx="6213236" cy="753416"/>
          </a:xfrm>
          <a:prstGeom prst="rect">
            <a:avLst/>
          </a:prstGeom>
        </p:spPr>
      </p:pic>
    </p:spTree>
    <p:extLst>
      <p:ext uri="{BB962C8B-B14F-4D97-AF65-F5344CB8AC3E}">
        <p14:creationId xmlns:p14="http://schemas.microsoft.com/office/powerpoint/2010/main" val="2876406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sp>
        <p:nvSpPr>
          <p:cNvPr id="3" name="矩形 2">
            <a:extLst>
              <a:ext uri="{FF2B5EF4-FFF2-40B4-BE49-F238E27FC236}">
                <a16:creationId xmlns:a16="http://schemas.microsoft.com/office/drawing/2014/main" id="{EF62B4A8-DB90-43DC-9872-202DF9DDB5B0}"/>
              </a:ext>
            </a:extLst>
          </p:cNvPr>
          <p:cNvSpPr/>
          <p:nvPr/>
        </p:nvSpPr>
        <p:spPr>
          <a:xfrm>
            <a:off x="323528" y="732760"/>
            <a:ext cx="8712968" cy="5632311"/>
          </a:xfrm>
          <a:prstGeom prst="rect">
            <a:avLst/>
          </a:prstGeom>
        </p:spPr>
        <p:txBody>
          <a:bodyPr wrap="square">
            <a:spAutoFit/>
          </a:bodyPr>
          <a:lstStyle/>
          <a:p>
            <a:r>
              <a:rPr lang="en-US" altLang="zh-CN" sz="2400" dirty="0"/>
              <a:t>9.1.6 </a:t>
            </a:r>
            <a:r>
              <a:rPr lang="zh-CN" altLang="en-US" sz="2400" dirty="0"/>
              <a:t>电压缩放</a:t>
            </a:r>
          </a:p>
          <a:p>
            <a:pPr marL="342900" indent="-342900">
              <a:buFont typeface="Wingdings" panose="05000000000000000000" pitchFamily="2" charset="2"/>
              <a:buChar char="Ø"/>
            </a:pPr>
            <a:r>
              <a:rPr lang="zh-CN" altLang="en-US" sz="2400" dirty="0"/>
              <a:t> </a:t>
            </a:r>
            <a:r>
              <a:rPr lang="en-US" altLang="zh-CN" sz="2400" dirty="0"/>
              <a:t>MOSFET</a:t>
            </a:r>
            <a:r>
              <a:rPr lang="zh-CN" altLang="en-US" sz="2400" dirty="0"/>
              <a:t>内部电场更强</a:t>
            </a:r>
            <a:r>
              <a:rPr lang="en-US" altLang="zh-CN" sz="2400" dirty="0">
                <a:sym typeface="Wingdings" panose="05000000000000000000" pitchFamily="2" charset="2"/>
              </a:rPr>
              <a:t></a:t>
            </a:r>
            <a:r>
              <a:rPr lang="zh-CN" altLang="en-US" sz="2400" dirty="0"/>
              <a:t>更大的运行频率，从</a:t>
            </a:r>
            <a:r>
              <a:rPr lang="en-US" altLang="zh-CN" sz="2400" dirty="0"/>
              <a:t>350nm</a:t>
            </a:r>
            <a:r>
              <a:rPr lang="zh-CN" altLang="en-US" sz="2400" dirty="0"/>
              <a:t>工艺开始，更薄的栅氧化层要求降低电源电压来防止绝缘层击穿</a:t>
            </a:r>
            <a:r>
              <a:rPr lang="en-US" altLang="zh-CN" sz="2400" dirty="0">
                <a:sym typeface="Wingdings" panose="05000000000000000000" pitchFamily="2" charset="2"/>
              </a:rPr>
              <a:t></a:t>
            </a:r>
            <a:r>
              <a:rPr lang="zh-CN" altLang="en-US" sz="2400" dirty="0"/>
              <a:t>采用恒定电场缩放</a:t>
            </a:r>
          </a:p>
          <a:p>
            <a:pPr marL="342900" indent="-342900">
              <a:buFont typeface="Wingdings" panose="05000000000000000000" pitchFamily="2" charset="2"/>
              <a:buChar char="Ø"/>
            </a:pPr>
            <a:r>
              <a:rPr lang="zh-CN" altLang="en-US" sz="2400" dirty="0"/>
              <a:t>深亚微米电路中出现的速度饱和现象</a:t>
            </a:r>
            <a:r>
              <a:rPr lang="en-US" altLang="zh-CN" sz="2400" dirty="0" err="1"/>
              <a:t>t</a:t>
            </a:r>
            <a:r>
              <a:rPr lang="en-US" altLang="zh-CN" sz="2400" baseline="-25000" dirty="0" err="1"/>
              <a:t>pd</a:t>
            </a:r>
            <a:r>
              <a:rPr lang="en-US" altLang="zh-CN" sz="2400" dirty="0" err="1"/>
              <a:t>∝C</a:t>
            </a:r>
            <a:r>
              <a:rPr lang="en-US" altLang="zh-CN" sz="2400" baseline="-25000" dirty="0" err="1"/>
              <a:t>k</a:t>
            </a:r>
            <a:r>
              <a:rPr lang="en-US" altLang="zh-CN" sz="2400" dirty="0" err="1"/>
              <a:t>U</a:t>
            </a:r>
            <a:r>
              <a:rPr lang="en-US" altLang="zh-CN" sz="2400" baseline="-25000" dirty="0" err="1"/>
              <a:t>dd</a:t>
            </a:r>
            <a:r>
              <a:rPr lang="en-US" altLang="zh-CN" sz="2400" dirty="0"/>
              <a:t>/(</a:t>
            </a:r>
            <a:r>
              <a:rPr lang="en-US" altLang="zh-CN" sz="2400" dirty="0" err="1"/>
              <a:t>U</a:t>
            </a:r>
            <a:r>
              <a:rPr lang="en-US" altLang="zh-CN" sz="2400" baseline="-25000" dirty="0" err="1"/>
              <a:t>dd</a:t>
            </a:r>
            <a:r>
              <a:rPr lang="en-US" altLang="zh-CN" sz="2400" dirty="0" err="1"/>
              <a:t>-U</a:t>
            </a:r>
            <a:r>
              <a:rPr lang="en-US" altLang="zh-CN" sz="2400" baseline="-25000" dirty="0" err="1"/>
              <a:t>th</a:t>
            </a:r>
            <a:r>
              <a:rPr lang="en-US" altLang="zh-CN" sz="2400" dirty="0"/>
              <a:t>)</a:t>
            </a:r>
            <a:r>
              <a:rPr lang="en-US" altLang="zh-CN" sz="2400" baseline="30000" dirty="0"/>
              <a:t>2</a:t>
            </a:r>
            <a:r>
              <a:rPr lang="en-US" altLang="zh-CN" sz="2400" dirty="0"/>
              <a:t>,</a:t>
            </a:r>
            <a:r>
              <a:rPr lang="zh-CN" altLang="en-US" sz="2400" dirty="0"/>
              <a:t> 同时漏极电流</a:t>
            </a:r>
            <a:r>
              <a:rPr lang="en-US" altLang="zh-CN" sz="2400" dirty="0"/>
              <a:t>∝(</a:t>
            </a:r>
            <a:r>
              <a:rPr lang="en-US" altLang="zh-CN" sz="2400" dirty="0" err="1"/>
              <a:t>U</a:t>
            </a:r>
            <a:r>
              <a:rPr lang="en-US" altLang="zh-CN" sz="2400" baseline="-25000" dirty="0" err="1"/>
              <a:t>dd</a:t>
            </a:r>
            <a:r>
              <a:rPr lang="en-US" altLang="zh-CN" sz="2400" dirty="0" err="1"/>
              <a:t>-U</a:t>
            </a:r>
            <a:r>
              <a:rPr lang="en-US" altLang="zh-CN" sz="2400" baseline="-25000" dirty="0" err="1"/>
              <a:t>th</a:t>
            </a:r>
            <a:r>
              <a:rPr lang="en-US" altLang="zh-CN" sz="2400" dirty="0"/>
              <a:t>),</a:t>
            </a:r>
            <a:r>
              <a:rPr lang="zh-CN" altLang="en-US" sz="2400" dirty="0"/>
              <a:t> 理想的方式是让电源电压和阈值电压成比例缩放，从而维持一定的驱动电流和开关速度</a:t>
            </a:r>
            <a:endParaRPr lang="en-US" altLang="zh-CN" sz="2400" dirty="0"/>
          </a:p>
          <a:p>
            <a:pPr marL="342900" indent="-342900">
              <a:buFont typeface="Wingdings" panose="05000000000000000000" pitchFamily="2" charset="2"/>
              <a:buChar char="Ø"/>
            </a:pPr>
            <a:r>
              <a:rPr lang="zh-CN" altLang="en-US" sz="2400" dirty="0"/>
              <a:t>亚阈值电流与阈值电压成指数关系，当阈值电压低于某个数值时，</a:t>
            </a:r>
            <a:r>
              <a:rPr lang="en-US" altLang="zh-CN" sz="2400" dirty="0"/>
              <a:t>"</a:t>
            </a:r>
            <a:r>
              <a:rPr lang="zh-CN" altLang="en-US" sz="2400" dirty="0"/>
              <a:t>关闭</a:t>
            </a:r>
            <a:r>
              <a:rPr lang="en-US" altLang="zh-CN" sz="2400" dirty="0"/>
              <a:t>"</a:t>
            </a:r>
            <a:r>
              <a:rPr lang="zh-CN" altLang="en-US" sz="2400" dirty="0"/>
              <a:t>状态电流则突然剧增</a:t>
            </a:r>
            <a:endParaRPr lang="en-US" altLang="zh-CN" sz="2400" dirty="0"/>
          </a:p>
          <a:p>
            <a:pPr marL="342900" indent="-342900">
              <a:buFont typeface="Wingdings" panose="05000000000000000000" pitchFamily="2" charset="2"/>
              <a:buChar char="Ø"/>
            </a:pPr>
            <a:r>
              <a:rPr lang="zh-CN" altLang="en-US" sz="2400" dirty="0"/>
              <a:t>对于较高阈值电压的器件，当电源电压缩放至低于</a:t>
            </a:r>
            <a:r>
              <a:rPr lang="en-US" altLang="zh-CN" sz="2400" dirty="0"/>
              <a:t>3U</a:t>
            </a:r>
            <a:r>
              <a:rPr lang="en-US" altLang="zh-CN" sz="2400" baseline="-25000" dirty="0"/>
              <a:t>th</a:t>
            </a:r>
            <a:r>
              <a:rPr lang="zh-CN" altLang="en-US" sz="2400" dirty="0"/>
              <a:t>时，开关速度很快降低</a:t>
            </a:r>
            <a:endParaRPr lang="en-US" altLang="zh-CN" sz="2400" dirty="0"/>
          </a:p>
          <a:p>
            <a:pPr marL="342900" indent="-342900">
              <a:buFont typeface="Wingdings" panose="05000000000000000000" pitchFamily="2" charset="2"/>
              <a:buChar char="Ø"/>
            </a:pPr>
            <a:r>
              <a:rPr lang="zh-CN" altLang="en-US" sz="2400" dirty="0"/>
              <a:t>随着阈值电压降低及不确定的片上差异，亚阈值导通已经成为</a:t>
            </a:r>
            <a:r>
              <a:rPr lang="en-US" altLang="zh-CN" sz="2400" dirty="0"/>
              <a:t>CMOS</a:t>
            </a:r>
            <a:r>
              <a:rPr lang="zh-CN" altLang="en-US" sz="2400" dirty="0"/>
              <a:t>电路的主要问题。目前的措施是制造工艺为电路设计者提供了两个或更多不同阈值电压的</a:t>
            </a:r>
            <a:r>
              <a:rPr lang="en-US" altLang="zh-CN" sz="2400" dirty="0"/>
              <a:t>MOSFET</a:t>
            </a:r>
            <a:r>
              <a:rPr lang="zh-CN" altLang="en-US" sz="2400" dirty="0"/>
              <a:t>在不同需求下达到最优化应用</a:t>
            </a:r>
          </a:p>
        </p:txBody>
      </p:sp>
    </p:spTree>
    <p:extLst>
      <p:ext uri="{BB962C8B-B14F-4D97-AF65-F5344CB8AC3E}">
        <p14:creationId xmlns:p14="http://schemas.microsoft.com/office/powerpoint/2010/main" val="1439231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9.1 CMOS</a:t>
            </a:r>
            <a:r>
              <a:rPr lang="zh-CN" altLang="en-US" sz="3200" dirty="0"/>
              <a:t>电路中能量消耗在何处</a:t>
            </a:r>
          </a:p>
        </p:txBody>
      </p:sp>
      <p:pic>
        <p:nvPicPr>
          <p:cNvPr id="4" name="图片 3">
            <a:extLst>
              <a:ext uri="{FF2B5EF4-FFF2-40B4-BE49-F238E27FC236}">
                <a16:creationId xmlns:a16="http://schemas.microsoft.com/office/drawing/2014/main" id="{E8775ADE-1A5D-4FF2-AE15-2E3FDBA8B50E}"/>
              </a:ext>
            </a:extLst>
          </p:cNvPr>
          <p:cNvPicPr>
            <a:picLocks noChangeAspect="1"/>
          </p:cNvPicPr>
          <p:nvPr/>
        </p:nvPicPr>
        <p:blipFill>
          <a:blip r:embed="rId3"/>
          <a:stretch>
            <a:fillRect/>
          </a:stretch>
        </p:blipFill>
        <p:spPr>
          <a:xfrm>
            <a:off x="0" y="548680"/>
            <a:ext cx="9144000" cy="3768485"/>
          </a:xfrm>
          <a:prstGeom prst="rect">
            <a:avLst/>
          </a:prstGeom>
        </p:spPr>
      </p:pic>
      <p:pic>
        <p:nvPicPr>
          <p:cNvPr id="5" name="图片 4">
            <a:extLst>
              <a:ext uri="{FF2B5EF4-FFF2-40B4-BE49-F238E27FC236}">
                <a16:creationId xmlns:a16="http://schemas.microsoft.com/office/drawing/2014/main" id="{780AF10B-9FD4-4807-819B-7998732F82C2}"/>
              </a:ext>
            </a:extLst>
          </p:cNvPr>
          <p:cNvPicPr>
            <a:picLocks noChangeAspect="1"/>
          </p:cNvPicPr>
          <p:nvPr/>
        </p:nvPicPr>
        <p:blipFill>
          <a:blip r:embed="rId4"/>
          <a:stretch>
            <a:fillRect/>
          </a:stretch>
        </p:blipFill>
        <p:spPr>
          <a:xfrm>
            <a:off x="409758" y="4495800"/>
            <a:ext cx="8029575" cy="2362200"/>
          </a:xfrm>
          <a:prstGeom prst="rect">
            <a:avLst/>
          </a:prstGeom>
        </p:spPr>
      </p:pic>
    </p:spTree>
    <p:extLst>
      <p:ext uri="{BB962C8B-B14F-4D97-AF65-F5344CB8AC3E}">
        <p14:creationId xmlns:p14="http://schemas.microsoft.com/office/powerpoint/2010/main" val="5237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323528" y="732760"/>
            <a:ext cx="8712968" cy="5262979"/>
          </a:xfrm>
          <a:prstGeom prst="rect">
            <a:avLst/>
          </a:prstGeom>
        </p:spPr>
        <p:txBody>
          <a:bodyPr wrap="square">
            <a:spAutoFit/>
          </a:bodyPr>
          <a:lstStyle/>
          <a:p>
            <a:r>
              <a:rPr lang="en-US" altLang="zh-CN" sz="2400" dirty="0"/>
              <a:t>9.2.1</a:t>
            </a:r>
            <a:r>
              <a:rPr lang="zh-CN" altLang="en-US" sz="2400" dirty="0"/>
              <a:t>一般准则</a:t>
            </a:r>
            <a:endParaRPr lang="en-US" altLang="zh-CN" sz="2400" dirty="0"/>
          </a:p>
          <a:p>
            <a:r>
              <a:rPr lang="en-US" altLang="zh-CN" sz="2400" dirty="0"/>
              <a:t>1 </a:t>
            </a:r>
            <a:r>
              <a:rPr lang="zh-CN" altLang="en-US" sz="2400" dirty="0"/>
              <a:t>功率预算</a:t>
            </a:r>
          </a:p>
          <a:p>
            <a:r>
              <a:rPr lang="zh-CN" altLang="en-US" sz="2400" dirty="0"/>
              <a:t>找出能量消耗对应的应用场景和对象，考虑不同的工作模式及其相关的频率，清楚地标出每个消耗来源并找出在哪个地方降低能耗的代价最大。</a:t>
            </a:r>
          </a:p>
          <a:p>
            <a:r>
              <a:rPr lang="zh-CN" altLang="en-US" sz="2400" dirty="0"/>
              <a:t>例子</a:t>
            </a:r>
          </a:p>
          <a:p>
            <a:r>
              <a:rPr lang="zh-CN" altLang="en-US" sz="2400" dirty="0"/>
              <a:t>设计手机基带处理器 </a:t>
            </a:r>
            <a:r>
              <a:rPr lang="en-US" altLang="zh-CN" sz="2400" dirty="0"/>
              <a:t>IC</a:t>
            </a:r>
            <a:r>
              <a:rPr lang="zh-CN" altLang="en-US" sz="2400" dirty="0"/>
              <a:t>：</a:t>
            </a:r>
          </a:p>
          <a:p>
            <a:pPr marL="342900" indent="-342900">
              <a:buFont typeface="Wingdings" panose="05000000000000000000" pitchFamily="2" charset="2"/>
              <a:buChar char="Ø"/>
            </a:pPr>
            <a:r>
              <a:rPr lang="zh-CN" altLang="en-US" sz="2400" dirty="0"/>
              <a:t>硬件子系统</a:t>
            </a:r>
            <a:r>
              <a:rPr lang="en-US" altLang="zh-CN" sz="2400" dirty="0"/>
              <a:t>:</a:t>
            </a:r>
            <a:r>
              <a:rPr lang="zh-CN" altLang="en-US" sz="2400" dirty="0"/>
              <a:t>射频、中频、基带处理、 </a:t>
            </a:r>
            <a:r>
              <a:rPr lang="en-US" altLang="zh-CN" sz="2400" dirty="0"/>
              <a:t>A/D </a:t>
            </a:r>
            <a:r>
              <a:rPr lang="zh-CN" altLang="en-US" sz="2400" dirty="0"/>
              <a:t>和 </a:t>
            </a:r>
            <a:r>
              <a:rPr lang="en-US" altLang="zh-CN" sz="2400" dirty="0"/>
              <a:t>D/A </a:t>
            </a:r>
            <a:r>
              <a:rPr lang="zh-CN" altLang="en-US" sz="2400" dirty="0"/>
              <a:t>转换、语音部件、显示、背光。</a:t>
            </a:r>
          </a:p>
          <a:p>
            <a:pPr marL="342900" indent="-342900">
              <a:buFont typeface="Wingdings" panose="05000000000000000000" pitchFamily="2" charset="2"/>
              <a:buChar char="Ø"/>
            </a:pPr>
            <a:r>
              <a:rPr lang="zh-CN" altLang="en-US" sz="2400" dirty="0"/>
              <a:t>基带计算</a:t>
            </a:r>
            <a:r>
              <a:rPr lang="en-US" altLang="zh-CN" sz="2400" dirty="0"/>
              <a:t>:</a:t>
            </a:r>
            <a:r>
              <a:rPr lang="zh-CN" altLang="en-US" sz="2400" dirty="0"/>
              <a:t>语音处理、加</a:t>
            </a:r>
            <a:r>
              <a:rPr lang="en-US" altLang="zh-CN" sz="2400" dirty="0"/>
              <a:t>/</a:t>
            </a:r>
            <a:r>
              <a:rPr lang="zh-CN" altLang="en-US" sz="2400" dirty="0"/>
              <a:t>解密、信道编解码、天线耦合。</a:t>
            </a:r>
          </a:p>
          <a:p>
            <a:pPr marL="342900" indent="-342900">
              <a:buFont typeface="Wingdings" panose="05000000000000000000" pitchFamily="2" charset="2"/>
              <a:buChar char="Ø"/>
            </a:pPr>
            <a:r>
              <a:rPr lang="zh-CN" altLang="en-US" sz="2400" dirty="0"/>
              <a:t>运行模式</a:t>
            </a:r>
            <a:r>
              <a:rPr lang="en-US" altLang="zh-CN" sz="2400" dirty="0"/>
              <a:t>:</a:t>
            </a:r>
            <a:r>
              <a:rPr lang="zh-CN" altLang="en-US" sz="2400" dirty="0"/>
              <a:t>通话与传输、接受与接听、待机</a:t>
            </a:r>
            <a:r>
              <a:rPr lang="en-US" altLang="zh-CN" sz="2400" dirty="0"/>
              <a:t>=</a:t>
            </a:r>
            <a:r>
              <a:rPr lang="zh-CN" altLang="en-US" sz="2400" dirty="0"/>
              <a:t>定时与基站通信、关机 </a:t>
            </a:r>
            <a:r>
              <a:rPr lang="en-US" altLang="zh-CN" sz="2400" dirty="0"/>
              <a:t>=</a:t>
            </a:r>
            <a:r>
              <a:rPr lang="zh-CN" altLang="en-US" sz="2400" dirty="0"/>
              <a:t>定时器继续工作。</a:t>
            </a:r>
          </a:p>
          <a:p>
            <a:pPr marL="342900" indent="-342900">
              <a:buFont typeface="Wingdings" panose="05000000000000000000" pitchFamily="2" charset="2"/>
              <a:buChar char="Ø"/>
            </a:pPr>
            <a:r>
              <a:rPr lang="zh-CN" altLang="en-US" sz="2400" dirty="0"/>
              <a:t>子电路</a:t>
            </a:r>
            <a:r>
              <a:rPr lang="en-US" altLang="zh-CN" sz="2400" dirty="0"/>
              <a:t>:</a:t>
            </a:r>
            <a:r>
              <a:rPr lang="zh-CN" altLang="en-US" sz="2400" dirty="0"/>
              <a:t>片上</a:t>
            </a:r>
            <a:r>
              <a:rPr lang="en-US" altLang="zh-CN" sz="2400" dirty="0"/>
              <a:t>RAM</a:t>
            </a:r>
            <a:r>
              <a:rPr lang="zh-CN" altLang="en-US" sz="2400" dirty="0"/>
              <a:t>、数据通路、控制器、时钟产生和分配、输出驱动器、时钟和电源域、随机逻辑、双稳态电路、互连</a:t>
            </a:r>
          </a:p>
        </p:txBody>
      </p:sp>
    </p:spTree>
    <p:extLst>
      <p:ext uri="{BB962C8B-B14F-4D97-AF65-F5344CB8AC3E}">
        <p14:creationId xmlns:p14="http://schemas.microsoft.com/office/powerpoint/2010/main" val="1498004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323528" y="732760"/>
            <a:ext cx="8712968" cy="4524315"/>
          </a:xfrm>
          <a:prstGeom prst="rect">
            <a:avLst/>
          </a:prstGeom>
        </p:spPr>
        <p:txBody>
          <a:bodyPr wrap="square">
            <a:spAutoFit/>
          </a:bodyPr>
          <a:lstStyle/>
          <a:p>
            <a:r>
              <a:rPr lang="en-US" altLang="zh-CN" sz="2400" dirty="0"/>
              <a:t>9.2.1</a:t>
            </a:r>
            <a:r>
              <a:rPr lang="zh-CN" altLang="en-US" sz="2400" dirty="0"/>
              <a:t>一般准则</a:t>
            </a:r>
            <a:endParaRPr lang="en-US" altLang="zh-CN" sz="2400" dirty="0"/>
          </a:p>
          <a:p>
            <a:r>
              <a:rPr lang="en-US" altLang="zh-CN" sz="2400" dirty="0"/>
              <a:t>2 </a:t>
            </a:r>
            <a:r>
              <a:rPr lang="zh-CN" altLang="en-US" sz="2400" dirty="0"/>
              <a:t>工艺和电源电压选择</a:t>
            </a:r>
          </a:p>
          <a:p>
            <a:pPr marL="342900" indent="-342900">
              <a:buFont typeface="Wingdings" panose="05000000000000000000" pitchFamily="2" charset="2"/>
              <a:buChar char="Ø"/>
            </a:pPr>
            <a:r>
              <a:rPr lang="zh-CN" altLang="en-US" sz="2400" dirty="0"/>
              <a:t>新工艺</a:t>
            </a:r>
            <a:r>
              <a:rPr lang="en-US" altLang="zh-CN" sz="2400" dirty="0">
                <a:sym typeface="Wingdings" panose="05000000000000000000" pitchFamily="2" charset="2"/>
              </a:rPr>
              <a:t></a:t>
            </a:r>
            <a:r>
              <a:rPr lang="zh-CN" altLang="en-US" sz="2400" dirty="0"/>
              <a:t>工作在更低的电源电压</a:t>
            </a:r>
            <a:endParaRPr lang="en-US" altLang="zh-CN" sz="2400" dirty="0"/>
          </a:p>
          <a:p>
            <a:pPr marL="342900" indent="-342900">
              <a:buFont typeface="Wingdings" panose="05000000000000000000" pitchFamily="2" charset="2"/>
              <a:buChar char="Ø"/>
            </a:pPr>
            <a:endParaRPr lang="zh-CN" altLang="en-US" sz="2400" dirty="0"/>
          </a:p>
          <a:p>
            <a:pPr marL="342900" indent="-342900">
              <a:buFont typeface="Wingdings" panose="05000000000000000000" pitchFamily="2" charset="2"/>
              <a:buChar char="Ø"/>
            </a:pPr>
            <a:r>
              <a:rPr lang="zh-CN" altLang="en-US" sz="2400" dirty="0"/>
              <a:t>根据应用目标和其他条件进行选择：</a:t>
            </a:r>
            <a:endParaRPr lang="en-US" altLang="zh-CN" sz="2400" dirty="0"/>
          </a:p>
          <a:p>
            <a:pPr marL="342900" indent="-342900">
              <a:buFont typeface="Wingdings" panose="05000000000000000000" pitchFamily="2" charset="2"/>
              <a:buChar char="ü"/>
            </a:pPr>
            <a:r>
              <a:rPr lang="zh-CN" altLang="en-US" sz="2400" dirty="0"/>
              <a:t>高速设计</a:t>
            </a:r>
            <a:r>
              <a:rPr lang="en-US" altLang="zh-CN" sz="2400" dirty="0"/>
              <a:t>:</a:t>
            </a:r>
            <a:r>
              <a:rPr lang="zh-CN" altLang="en-US" sz="2400" dirty="0"/>
              <a:t>足够的驱动能力 </a:t>
            </a:r>
            <a:r>
              <a:rPr lang="en-US" altLang="zh-CN" sz="2400" dirty="0"/>
              <a:t>4U</a:t>
            </a:r>
            <a:r>
              <a:rPr lang="en-US" altLang="zh-CN" sz="2400" baseline="-25000" dirty="0"/>
              <a:t>th</a:t>
            </a:r>
            <a:r>
              <a:rPr lang="en-US" altLang="zh-CN" sz="2400" dirty="0"/>
              <a:t>&lt;&lt;</a:t>
            </a:r>
            <a:r>
              <a:rPr lang="en-US" altLang="zh-CN" sz="2400" dirty="0" err="1"/>
              <a:t>U</a:t>
            </a:r>
            <a:r>
              <a:rPr lang="en-US" altLang="zh-CN" sz="2400" baseline="-25000" dirty="0" err="1"/>
              <a:t>dd</a:t>
            </a:r>
            <a:endParaRPr lang="zh-CN" altLang="en-US" sz="2400" dirty="0"/>
          </a:p>
          <a:p>
            <a:pPr marL="342900" indent="-342900">
              <a:buFont typeface="Wingdings" panose="05000000000000000000" pitchFamily="2" charset="2"/>
              <a:buChar char="ü"/>
            </a:pPr>
            <a:r>
              <a:rPr lang="zh-CN" altLang="en-US" sz="2400" dirty="0"/>
              <a:t>低功耗设计</a:t>
            </a:r>
            <a:r>
              <a:rPr lang="en-US" altLang="zh-CN" sz="2400" dirty="0"/>
              <a:t>: </a:t>
            </a:r>
            <a:r>
              <a:rPr lang="zh-CN" altLang="en-US" sz="2400" dirty="0"/>
              <a:t>工作电压不高于速度要求的最大电压值</a:t>
            </a:r>
          </a:p>
          <a:p>
            <a:pPr marL="342900" indent="-342900">
              <a:buFont typeface="Wingdings" panose="05000000000000000000" pitchFamily="2" charset="2"/>
              <a:buChar char="ü"/>
            </a:pPr>
            <a:r>
              <a:rPr lang="zh-CN" altLang="en-US" sz="2400" dirty="0"/>
              <a:t>低互动性设计</a:t>
            </a:r>
            <a:r>
              <a:rPr lang="en-US" altLang="zh-CN" sz="2400" dirty="0"/>
              <a:t>:</a:t>
            </a:r>
            <a:r>
              <a:rPr lang="zh-CN" altLang="en-US" sz="2400" dirty="0"/>
              <a:t>使用高阈值电压将静态电流的损失降到最小</a:t>
            </a:r>
            <a:r>
              <a:rPr lang="en-US" altLang="zh-CN" sz="2400" dirty="0"/>
              <a:t>;</a:t>
            </a:r>
            <a:r>
              <a:rPr lang="zh-CN" altLang="en-US" sz="2400" dirty="0"/>
              <a:t>让沟道长度比最小值稍大一点能够进一步减少漏电流。</a:t>
            </a:r>
            <a:endParaRPr lang="en-US" altLang="zh-CN" sz="2400" dirty="0"/>
          </a:p>
          <a:p>
            <a:pPr marL="342900" indent="-342900">
              <a:buFont typeface="Wingdings" panose="05000000000000000000" pitchFamily="2" charset="2"/>
              <a:buChar char="ü"/>
            </a:pPr>
            <a:endParaRPr lang="zh-CN" altLang="en-US" sz="2400" dirty="0"/>
          </a:p>
          <a:p>
            <a:pPr marL="342900" indent="-342900">
              <a:buFont typeface="Wingdings" panose="05000000000000000000" pitchFamily="2" charset="2"/>
              <a:buChar char="Ø"/>
            </a:pPr>
            <a:r>
              <a:rPr lang="zh-CN" altLang="en-US" sz="2400" dirty="0"/>
              <a:t>用最可能低的电源电压，通过更快的结构和更好的算法</a:t>
            </a:r>
            <a:r>
              <a:rPr lang="en-US" altLang="zh-CN" sz="2400" dirty="0"/>
              <a:t>/</a:t>
            </a:r>
            <a:r>
              <a:rPr lang="zh-CN" altLang="en-US" sz="2400" dirty="0"/>
              <a:t>逻辑设计来补偿吞吐率的损失。</a:t>
            </a:r>
          </a:p>
        </p:txBody>
      </p:sp>
    </p:spTree>
    <p:extLst>
      <p:ext uri="{BB962C8B-B14F-4D97-AF65-F5344CB8AC3E}">
        <p14:creationId xmlns:p14="http://schemas.microsoft.com/office/powerpoint/2010/main" val="1342179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323528" y="732760"/>
            <a:ext cx="8712968" cy="1938992"/>
          </a:xfrm>
          <a:prstGeom prst="rect">
            <a:avLst/>
          </a:prstGeom>
        </p:spPr>
        <p:txBody>
          <a:bodyPr wrap="square">
            <a:spAutoFit/>
          </a:bodyPr>
          <a:lstStyle/>
          <a:p>
            <a:r>
              <a:rPr lang="en-US" altLang="zh-CN" sz="2400" dirty="0"/>
              <a:t>9.2.1</a:t>
            </a:r>
            <a:r>
              <a:rPr lang="zh-CN" altLang="en-US" sz="2400" dirty="0"/>
              <a:t>一般准则</a:t>
            </a:r>
            <a:endParaRPr lang="en-US" altLang="zh-CN" sz="2400" dirty="0"/>
          </a:p>
          <a:p>
            <a:r>
              <a:rPr lang="en-US" altLang="zh-CN" sz="2400" dirty="0"/>
              <a:t>2 </a:t>
            </a:r>
            <a:r>
              <a:rPr lang="zh-CN" altLang="en-US" sz="2400" dirty="0"/>
              <a:t>工艺和电源电压选择</a:t>
            </a:r>
          </a:p>
          <a:p>
            <a:pPr marL="342900" indent="-342900">
              <a:buFont typeface="Wingdings" panose="05000000000000000000" pitchFamily="2" charset="2"/>
              <a:buChar char="Ø"/>
            </a:pPr>
            <a:r>
              <a:rPr lang="zh-CN" altLang="en-US" sz="2400" dirty="0"/>
              <a:t>如果计算负载随着时间显著变化，选择动态电压和频率缩放</a:t>
            </a:r>
            <a:endParaRPr lang="en-US" altLang="zh-CN" sz="2400" dirty="0"/>
          </a:p>
          <a:p>
            <a:r>
              <a:rPr lang="zh-CN" altLang="en-US" sz="2400" dirty="0"/>
              <a:t>以当前的速度要求为函数调整电源电压和时钟频率</a:t>
            </a:r>
          </a:p>
          <a:p>
            <a:endParaRPr lang="zh-CN" altLang="en-US" sz="2400" dirty="0"/>
          </a:p>
        </p:txBody>
      </p:sp>
      <p:pic>
        <p:nvPicPr>
          <p:cNvPr id="4" name="图片 3">
            <a:extLst>
              <a:ext uri="{FF2B5EF4-FFF2-40B4-BE49-F238E27FC236}">
                <a16:creationId xmlns:a16="http://schemas.microsoft.com/office/drawing/2014/main" id="{4BA618D6-1C4C-46C5-BAEC-425A53E2128D}"/>
              </a:ext>
            </a:extLst>
          </p:cNvPr>
          <p:cNvPicPr>
            <a:picLocks noChangeAspect="1"/>
          </p:cNvPicPr>
          <p:nvPr/>
        </p:nvPicPr>
        <p:blipFill>
          <a:blip r:embed="rId3"/>
          <a:stretch>
            <a:fillRect/>
          </a:stretch>
        </p:blipFill>
        <p:spPr>
          <a:xfrm>
            <a:off x="457200" y="2996952"/>
            <a:ext cx="7648575" cy="2543175"/>
          </a:xfrm>
          <a:prstGeom prst="rect">
            <a:avLst/>
          </a:prstGeom>
        </p:spPr>
      </p:pic>
    </p:spTree>
    <p:extLst>
      <p:ext uri="{BB962C8B-B14F-4D97-AF65-F5344CB8AC3E}">
        <p14:creationId xmlns:p14="http://schemas.microsoft.com/office/powerpoint/2010/main" val="2482968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323528" y="732760"/>
            <a:ext cx="8712968" cy="5632311"/>
          </a:xfrm>
          <a:prstGeom prst="rect">
            <a:avLst/>
          </a:prstGeom>
        </p:spPr>
        <p:txBody>
          <a:bodyPr wrap="square">
            <a:spAutoFit/>
          </a:bodyPr>
          <a:lstStyle/>
          <a:p>
            <a:r>
              <a:rPr lang="en-US" altLang="zh-CN" sz="2400" dirty="0"/>
              <a:t>9.2.2</a:t>
            </a:r>
            <a:r>
              <a:rPr lang="zh-CN" altLang="en-US" sz="2400" dirty="0"/>
              <a:t>如何降低动态功耗</a:t>
            </a:r>
            <a:endParaRPr lang="en-US" altLang="zh-CN" sz="2400" dirty="0"/>
          </a:p>
          <a:p>
            <a:r>
              <a:rPr lang="en-US" altLang="zh-CN" sz="2400" dirty="0"/>
              <a:t>1 </a:t>
            </a:r>
            <a:r>
              <a:rPr lang="zh-CN" altLang="en-US" sz="2400" dirty="0"/>
              <a:t>在算法和架构级降低节点活动性</a:t>
            </a:r>
          </a:p>
          <a:p>
            <a:pPr marL="342900" indent="-342900">
              <a:buFont typeface="Wingdings" panose="05000000000000000000" pitchFamily="2" charset="2"/>
              <a:buChar char="Ø"/>
            </a:pPr>
            <a:r>
              <a:rPr lang="zh-CN" altLang="en-US" sz="2400" dirty="0"/>
              <a:t>把数据处理所需要的总计算能力降到最小</a:t>
            </a:r>
            <a:endParaRPr lang="en-US" altLang="zh-CN" sz="2400" dirty="0"/>
          </a:p>
          <a:p>
            <a:pPr marL="342900" indent="-342900">
              <a:buFont typeface="Wingdings" panose="05000000000000000000" pitchFamily="2" charset="2"/>
              <a:buChar char="Ø"/>
            </a:pPr>
            <a:r>
              <a:rPr lang="zh-CN" altLang="en-US" sz="2400" dirty="0"/>
              <a:t>平衡软件可编程的灵活性与硬件架构更少的节点活动性</a:t>
            </a:r>
            <a:endParaRPr lang="en-US" altLang="zh-CN" sz="2400" dirty="0"/>
          </a:p>
          <a:p>
            <a:pPr marL="342900" indent="-342900">
              <a:buFont typeface="Wingdings" panose="05000000000000000000" pitchFamily="2" charset="2"/>
              <a:buChar char="Ø"/>
            </a:pPr>
            <a:r>
              <a:rPr lang="zh-CN" altLang="en-US" sz="2400" dirty="0"/>
              <a:t>删除或简化所有不直接有助于数据处理的行为</a:t>
            </a:r>
            <a:r>
              <a:rPr lang="en-US" altLang="zh-CN" sz="2400" dirty="0"/>
              <a:t>(</a:t>
            </a:r>
            <a:r>
              <a:rPr lang="zh-CN" altLang="en-US" sz="2400" dirty="0"/>
              <a:t>例如控制流程、多种运行模式、指令取出和译码、地址计算、缓存、多路器、分支预测、预测执行、并行测试等</a:t>
            </a:r>
            <a:r>
              <a:rPr lang="en-US" altLang="zh-CN" sz="2400" dirty="0"/>
              <a:t>)</a:t>
            </a:r>
            <a:r>
              <a:rPr lang="zh-CN" altLang="en-US" sz="2400" dirty="0"/>
              <a:t>。</a:t>
            </a:r>
          </a:p>
          <a:p>
            <a:pPr marL="342900" indent="-342900">
              <a:buFont typeface="Wingdings" panose="05000000000000000000" pitchFamily="2" charset="2"/>
              <a:buChar char="Ø"/>
            </a:pPr>
            <a:r>
              <a:rPr lang="zh-CN" altLang="en-US" sz="2400" dirty="0"/>
              <a:t>优化所有的字宽和有关的存储容量</a:t>
            </a:r>
            <a:r>
              <a:rPr lang="en-US" altLang="zh-CN" sz="2400" dirty="0"/>
              <a:t>(</a:t>
            </a:r>
            <a:r>
              <a:rPr lang="zh-CN" altLang="en-US" sz="2400" dirty="0"/>
              <a:t>数据宽度、系数、滤波器级数、寻址能力、</a:t>
            </a:r>
            <a:r>
              <a:rPr lang="en-US" altLang="zh-CN" sz="2400" dirty="0"/>
              <a:t>ALU </a:t>
            </a:r>
            <a:r>
              <a:rPr lang="zh-CN" altLang="en-US" sz="2400" dirty="0"/>
              <a:t>、 寄存器组、各种总线等</a:t>
            </a:r>
            <a:r>
              <a:rPr lang="en-US" altLang="zh-CN" sz="2400" dirty="0"/>
              <a:t>)</a:t>
            </a:r>
          </a:p>
          <a:p>
            <a:pPr marL="342900" indent="-342900">
              <a:buFont typeface="Wingdings" panose="05000000000000000000" pitchFamily="2" charset="2"/>
              <a:buChar char="Ø"/>
            </a:pPr>
            <a:r>
              <a:rPr lang="zh-CN" altLang="en-US" sz="2400" dirty="0"/>
              <a:t>尽可能避免与片外的通信， 把数据交换放在本地进行</a:t>
            </a:r>
          </a:p>
          <a:p>
            <a:pPr marL="342900" indent="-342900">
              <a:buFont typeface="Wingdings" panose="05000000000000000000" pitchFamily="2" charset="2"/>
              <a:buChar char="Ø"/>
            </a:pPr>
            <a:r>
              <a:rPr lang="zh-CN" altLang="en-US" sz="2400" dirty="0"/>
              <a:t>暂时关闭长时间处于非活动状态子电路的时钟或电源</a:t>
            </a:r>
            <a:endParaRPr lang="en-US" altLang="zh-CN" sz="2400" dirty="0"/>
          </a:p>
          <a:p>
            <a:pPr marL="342900" indent="-342900">
              <a:buFont typeface="Wingdings" panose="05000000000000000000" pitchFamily="2" charset="2"/>
              <a:buChar char="Ø"/>
            </a:pPr>
            <a:r>
              <a:rPr lang="zh-CN" altLang="en-US" sz="2400" dirty="0"/>
              <a:t>远离有刷新周期的</a:t>
            </a:r>
            <a:r>
              <a:rPr lang="en-US" altLang="zh-CN" sz="2400" dirty="0"/>
              <a:t>DRAM</a:t>
            </a:r>
            <a:endParaRPr lang="zh-CN" altLang="en-US" sz="2400" dirty="0"/>
          </a:p>
          <a:p>
            <a:pPr marL="342900" indent="-342900">
              <a:buFont typeface="Wingdings" panose="05000000000000000000" pitchFamily="2" charset="2"/>
              <a:buChar char="Ø"/>
            </a:pPr>
            <a:r>
              <a:rPr lang="zh-CN" altLang="en-US" sz="2400" dirty="0"/>
              <a:t>评估把大容量存储器分成多个小块的影响</a:t>
            </a:r>
            <a:endParaRPr lang="en-US" altLang="zh-CN" sz="2400" dirty="0"/>
          </a:p>
          <a:p>
            <a:pPr marL="342900" indent="-342900">
              <a:buFont typeface="Wingdings" panose="05000000000000000000" pitchFamily="2" charset="2"/>
              <a:buChar char="Ø"/>
            </a:pPr>
            <a:r>
              <a:rPr lang="zh-CN" altLang="en-US" sz="2400" dirty="0"/>
              <a:t>检查使用不同的数据编码表示的数据进行算术操作是否有助于降低总的节点活动性</a:t>
            </a:r>
          </a:p>
        </p:txBody>
      </p:sp>
    </p:spTree>
    <p:extLst>
      <p:ext uri="{BB962C8B-B14F-4D97-AF65-F5344CB8AC3E}">
        <p14:creationId xmlns:p14="http://schemas.microsoft.com/office/powerpoint/2010/main" val="2472745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323528" y="732760"/>
            <a:ext cx="8712968" cy="4524315"/>
          </a:xfrm>
          <a:prstGeom prst="rect">
            <a:avLst/>
          </a:prstGeom>
        </p:spPr>
        <p:txBody>
          <a:bodyPr wrap="square">
            <a:spAutoFit/>
          </a:bodyPr>
          <a:lstStyle/>
          <a:p>
            <a:r>
              <a:rPr lang="en-US" altLang="zh-CN" sz="2400" dirty="0"/>
              <a:t>9.2.2</a:t>
            </a:r>
            <a:r>
              <a:rPr lang="zh-CN" altLang="en-US" sz="2400" dirty="0"/>
              <a:t>如何降低动态功耗</a:t>
            </a:r>
            <a:endParaRPr lang="en-US" altLang="zh-CN" sz="2400" dirty="0"/>
          </a:p>
          <a:p>
            <a:r>
              <a:rPr lang="en-US" altLang="zh-CN" sz="2400" dirty="0"/>
              <a:t>2 </a:t>
            </a:r>
            <a:r>
              <a:rPr lang="zh-CN" altLang="en-US" sz="2400" dirty="0"/>
              <a:t>能量高效的时钟方案</a:t>
            </a:r>
          </a:p>
          <a:p>
            <a:pPr marL="342900" indent="-342900">
              <a:buFont typeface="Wingdings" panose="05000000000000000000" pitchFamily="2" charset="2"/>
              <a:buChar char="Ø"/>
            </a:pPr>
            <a:r>
              <a:rPr lang="zh-CN" altLang="en-US" sz="2400" dirty="0"/>
              <a:t>为寄存器采用带使能的门控时钟。</a:t>
            </a:r>
          </a:p>
          <a:p>
            <a:pPr marL="342900" indent="-342900">
              <a:buFont typeface="Wingdings" panose="05000000000000000000" pitchFamily="2" charset="2"/>
              <a:buChar char="Ø"/>
            </a:pPr>
            <a:r>
              <a:rPr lang="zh-CN" altLang="en-US" sz="2400" dirty="0"/>
              <a:t>使用多个时钟频率</a:t>
            </a:r>
            <a:r>
              <a:rPr lang="en-US" altLang="zh-CN" sz="2400" dirty="0"/>
              <a:t>(</a:t>
            </a:r>
            <a:r>
              <a:rPr lang="zh-CN" altLang="en-US" sz="2400" dirty="0"/>
              <a:t>从公共的主时钟得到所有不同的频率</a:t>
            </a:r>
            <a:r>
              <a:rPr lang="en-US" altLang="zh-CN" sz="2400" dirty="0"/>
              <a:t>)</a:t>
            </a:r>
            <a:endParaRPr lang="zh-CN" altLang="en-US" sz="2400" dirty="0"/>
          </a:p>
          <a:p>
            <a:pPr marL="342900" indent="-342900">
              <a:buFont typeface="Wingdings" panose="05000000000000000000" pitchFamily="2" charset="2"/>
              <a:buChar char="Ø"/>
            </a:pPr>
            <a:r>
              <a:rPr lang="zh-CN" altLang="en-US" sz="2400" dirty="0"/>
              <a:t>异步预分频或时钟分频</a:t>
            </a:r>
          </a:p>
          <a:p>
            <a:pPr marL="342900" indent="-342900">
              <a:buFont typeface="Wingdings" panose="05000000000000000000" pitchFamily="2" charset="2"/>
              <a:buChar char="Ø"/>
            </a:pPr>
            <a:r>
              <a:rPr lang="zh-CN" altLang="en-US" sz="2400" dirty="0"/>
              <a:t>注意使用单边沿触发方案的毛刺密集的电路，其功耗会随着时钟的占空比而轻微变化。</a:t>
            </a:r>
          </a:p>
          <a:p>
            <a:pPr marL="342900" indent="-342900">
              <a:buFont typeface="Wingdings" panose="05000000000000000000" pitchFamily="2" charset="2"/>
              <a:buChar char="Ø"/>
            </a:pPr>
            <a:r>
              <a:rPr lang="zh-CN" altLang="en-US" sz="2400" dirty="0"/>
              <a:t>在条件允许的情况下考虑有选择的使用脉冲时钟锁存器代替主</a:t>
            </a:r>
            <a:r>
              <a:rPr lang="en-US" altLang="zh-CN" sz="2400" dirty="0"/>
              <a:t>-</a:t>
            </a:r>
            <a:r>
              <a:rPr lang="zh-CN" altLang="en-US" sz="2400" dirty="0"/>
              <a:t>从触发器。</a:t>
            </a:r>
          </a:p>
          <a:p>
            <a:pPr marL="342900" indent="-342900">
              <a:buFont typeface="Wingdings" panose="05000000000000000000" pitchFamily="2" charset="2"/>
              <a:buChar char="Ø"/>
            </a:pPr>
            <a:r>
              <a:rPr lang="zh-CN" altLang="en-US" sz="2400" dirty="0"/>
              <a:t>很低电压驱动电路，副作用是很长的斜坡</a:t>
            </a:r>
          </a:p>
          <a:p>
            <a:pPr marL="342900" indent="-342900">
              <a:buFont typeface="Wingdings" panose="05000000000000000000" pitchFamily="2" charset="2"/>
              <a:buChar char="Ø"/>
            </a:pPr>
            <a:r>
              <a:rPr lang="zh-CN" altLang="en-US" sz="2400" dirty="0"/>
              <a:t>如果总的能量大部分是消耗在时钟上，双边沿触发的单相时钟是个选择。</a:t>
            </a:r>
          </a:p>
        </p:txBody>
      </p:sp>
    </p:spTree>
    <p:extLst>
      <p:ext uri="{BB962C8B-B14F-4D97-AF65-F5344CB8AC3E}">
        <p14:creationId xmlns:p14="http://schemas.microsoft.com/office/powerpoint/2010/main" val="1759468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323528" y="732760"/>
            <a:ext cx="8712968" cy="4154984"/>
          </a:xfrm>
          <a:prstGeom prst="rect">
            <a:avLst/>
          </a:prstGeom>
        </p:spPr>
        <p:txBody>
          <a:bodyPr wrap="square">
            <a:spAutoFit/>
          </a:bodyPr>
          <a:lstStyle/>
          <a:p>
            <a:r>
              <a:rPr lang="en-US" altLang="zh-CN" sz="2400" dirty="0"/>
              <a:t>9.2.2</a:t>
            </a:r>
            <a:r>
              <a:rPr lang="zh-CN" altLang="en-US" sz="2400" dirty="0"/>
              <a:t>如何降低动态功耗</a:t>
            </a:r>
            <a:endParaRPr lang="en-US" altLang="zh-CN" sz="2400" dirty="0"/>
          </a:p>
          <a:p>
            <a:r>
              <a:rPr lang="en-US" altLang="zh-CN" sz="2400" dirty="0"/>
              <a:t>3 </a:t>
            </a:r>
            <a:r>
              <a:rPr lang="zh-CN" altLang="en-US" sz="2400" dirty="0"/>
              <a:t>在寄存器传输级和逻辑层次降低节点活动性</a:t>
            </a:r>
          </a:p>
          <a:p>
            <a:pPr marL="342900" indent="-342900">
              <a:buFont typeface="Wingdings" panose="05000000000000000000" pitchFamily="2" charset="2"/>
              <a:buChar char="Ø"/>
            </a:pPr>
            <a:r>
              <a:rPr lang="zh-CN" altLang="en-US" sz="2400" dirty="0"/>
              <a:t>不要把沿着显著不同延时的路径传播的数据输入到很深层次的组合电路中</a:t>
            </a:r>
            <a:r>
              <a:rPr lang="en-US" altLang="zh-CN" sz="2400" dirty="0">
                <a:sym typeface="Wingdings" panose="05000000000000000000" pitchFamily="2" charset="2"/>
              </a:rPr>
              <a:t></a:t>
            </a:r>
            <a:r>
              <a:rPr lang="zh-CN" altLang="en-US" sz="2400" dirty="0"/>
              <a:t>增加许多毛刺</a:t>
            </a:r>
            <a:endParaRPr lang="en-US" altLang="zh-CN" sz="2400" dirty="0"/>
          </a:p>
          <a:p>
            <a:pPr marL="342900" indent="-342900">
              <a:buFont typeface="Wingdings" panose="05000000000000000000" pitchFamily="2" charset="2"/>
              <a:buChar char="Ø"/>
            </a:pPr>
            <a:r>
              <a:rPr lang="zh-CN" altLang="en-US" sz="2400" dirty="0"/>
              <a:t>对很宽的、负载重的、有高度活动性的总线采用合适的总线 编码，在</a:t>
            </a:r>
            <a:r>
              <a:rPr lang="en-US" altLang="zh-CN" sz="2400" dirty="0"/>
              <a:t>I/O</a:t>
            </a:r>
            <a:r>
              <a:rPr lang="zh-CN" altLang="en-US" sz="2400" dirty="0"/>
              <a:t>上更有好处。</a:t>
            </a:r>
            <a:endParaRPr lang="en-US" altLang="zh-CN" sz="2400" dirty="0"/>
          </a:p>
          <a:p>
            <a:pPr marL="342900" indent="-342900">
              <a:buFont typeface="Wingdings" panose="05000000000000000000" pitchFamily="2" charset="2"/>
              <a:buChar char="Ø"/>
            </a:pPr>
            <a:r>
              <a:rPr lang="zh-CN" altLang="en-US" sz="2400" dirty="0"/>
              <a:t>选择合适的数据和状态编码方案，总体思路是把相似的码字分配到交替最频繁的状态或数据子集。</a:t>
            </a:r>
          </a:p>
          <a:p>
            <a:pPr marL="342900" indent="-342900">
              <a:buFont typeface="Wingdings" panose="05000000000000000000" pitchFamily="2" charset="2"/>
              <a:buChar char="Ø"/>
            </a:pPr>
            <a:r>
              <a:rPr lang="zh-CN" altLang="en-US" sz="2400" dirty="0"/>
              <a:t>如果绝对需要一个宽的数据通路，但是在整个计算运行期间不是都充分使用的，可以尝试暂时停止对结果没有贡献的那些部分。</a:t>
            </a:r>
          </a:p>
        </p:txBody>
      </p:sp>
    </p:spTree>
    <p:extLst>
      <p:ext uri="{BB962C8B-B14F-4D97-AF65-F5344CB8AC3E}">
        <p14:creationId xmlns:p14="http://schemas.microsoft.com/office/powerpoint/2010/main" val="2935863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67544" y="0"/>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107504" y="548680"/>
            <a:ext cx="8928992" cy="6063198"/>
          </a:xfrm>
          <a:prstGeom prst="rect">
            <a:avLst/>
          </a:prstGeom>
        </p:spPr>
        <p:txBody>
          <a:bodyPr wrap="square">
            <a:spAutoFit/>
          </a:bodyPr>
          <a:lstStyle/>
          <a:p>
            <a:r>
              <a:rPr lang="en-US" altLang="zh-CN" sz="2400" dirty="0"/>
              <a:t>9.2.2</a:t>
            </a:r>
            <a:r>
              <a:rPr lang="zh-CN" altLang="en-US" sz="2400" dirty="0"/>
              <a:t>如何降低动态功耗</a:t>
            </a:r>
            <a:endParaRPr lang="en-US" altLang="zh-CN" sz="2400" dirty="0"/>
          </a:p>
          <a:p>
            <a:r>
              <a:rPr lang="en-US" altLang="zh-CN" sz="2400" dirty="0"/>
              <a:t>4</a:t>
            </a:r>
            <a:r>
              <a:rPr lang="zh-CN" altLang="en-US" sz="2400" dirty="0"/>
              <a:t>在电学和物理层次降低寄生效应</a:t>
            </a:r>
          </a:p>
          <a:p>
            <a:pPr marL="342900" indent="-342900">
              <a:buFont typeface="Wingdings" panose="05000000000000000000" pitchFamily="2" charset="2"/>
              <a:buChar char="Ø"/>
            </a:pPr>
            <a:r>
              <a:rPr lang="zh-CN" altLang="en-US" sz="2000" dirty="0"/>
              <a:t>不要让高活动性的信号输出到片外以避免过大的电容负载</a:t>
            </a:r>
          </a:p>
          <a:p>
            <a:pPr marL="342900" indent="-342900">
              <a:buFont typeface="Wingdings" panose="05000000000000000000" pitchFamily="2" charset="2"/>
              <a:buChar char="Ø"/>
            </a:pPr>
            <a:r>
              <a:rPr lang="zh-CN" altLang="en-US" sz="2000" dirty="0"/>
              <a:t>避免总线系统有电阻负载、静态上拉 </a:t>
            </a:r>
            <a:r>
              <a:rPr lang="en-US" altLang="zh-CN" sz="2000" dirty="0"/>
              <a:t>/</a:t>
            </a:r>
            <a:r>
              <a:rPr lang="zh-CN" altLang="en-US" sz="2000" dirty="0"/>
              <a:t>下拉器件、</a:t>
            </a:r>
            <a:r>
              <a:rPr lang="en-US" altLang="zh-CN" sz="2000" dirty="0"/>
              <a:t>I/O PAD</a:t>
            </a:r>
            <a:r>
              <a:rPr lang="zh-CN" altLang="en-US" sz="2000" dirty="0"/>
              <a:t>、片外负载、</a:t>
            </a:r>
            <a:r>
              <a:rPr lang="en-US" altLang="zh-CN" sz="2000" dirty="0"/>
              <a:t>RAM</a:t>
            </a:r>
            <a:r>
              <a:rPr lang="zh-CN" altLang="en-US" sz="2000" dirty="0"/>
              <a:t>、</a:t>
            </a:r>
            <a:r>
              <a:rPr lang="en-US" altLang="zh-CN" sz="2000" dirty="0"/>
              <a:t>ROM</a:t>
            </a:r>
            <a:r>
              <a:rPr lang="zh-CN" altLang="en-US" sz="2000" dirty="0"/>
              <a:t>、</a:t>
            </a:r>
            <a:r>
              <a:rPr lang="en-US" altLang="zh-CN" sz="2000" dirty="0"/>
              <a:t>PLA</a:t>
            </a:r>
            <a:r>
              <a:rPr lang="zh-CN" altLang="en-US" sz="2000" dirty="0"/>
              <a:t>、</a:t>
            </a:r>
            <a:r>
              <a:rPr lang="en-US" altLang="zh-CN" sz="2000" dirty="0"/>
              <a:t>PLL</a:t>
            </a:r>
            <a:r>
              <a:rPr lang="zh-CN" altLang="en-US" sz="2000" dirty="0"/>
              <a:t>、放大器、电压转换器等</a:t>
            </a:r>
          </a:p>
          <a:p>
            <a:pPr marL="342900" indent="-342900">
              <a:buFont typeface="Wingdings" panose="05000000000000000000" pitchFamily="2" charset="2"/>
              <a:buChar char="Ø"/>
            </a:pPr>
            <a:r>
              <a:rPr lang="zh-CN" altLang="en-US" sz="2000" dirty="0"/>
              <a:t>避免大量使用过大输出的单元</a:t>
            </a:r>
          </a:p>
          <a:p>
            <a:pPr marL="342900" indent="-342900">
              <a:buFont typeface="Wingdings" panose="05000000000000000000" pitchFamily="2" charset="2"/>
              <a:buChar char="Ø"/>
            </a:pPr>
            <a:r>
              <a:rPr lang="zh-CN" altLang="en-US" sz="2000" dirty="0"/>
              <a:t>在需要很多缓冲器的场合，主要是输出焊盘和时钟驱动器，使用先断后合的驱动器保证较小的交变电流。</a:t>
            </a:r>
          </a:p>
          <a:p>
            <a:pPr marL="342900" indent="-342900">
              <a:buFont typeface="Wingdings" panose="05000000000000000000" pitchFamily="2" charset="2"/>
              <a:buChar char="Ø"/>
            </a:pPr>
            <a:r>
              <a:rPr lang="zh-CN" altLang="en-US" sz="2000" dirty="0"/>
              <a:t>尽量减小 </a:t>
            </a:r>
            <a:r>
              <a:rPr lang="en-US" altLang="zh-CN" sz="2000" dirty="0"/>
              <a:t>MOSFET </a:t>
            </a:r>
            <a:r>
              <a:rPr lang="zh-CN" altLang="en-US" sz="2000" dirty="0"/>
              <a:t>的尺寸</a:t>
            </a:r>
          </a:p>
          <a:p>
            <a:pPr marL="342900" indent="-342900">
              <a:buFont typeface="Wingdings" panose="05000000000000000000" pitchFamily="2" charset="2"/>
              <a:buChar char="Ø"/>
            </a:pPr>
            <a:r>
              <a:rPr lang="zh-CN" altLang="en-US" sz="2000" dirty="0"/>
              <a:t>传输门逻辑结合电平恢复逻辑</a:t>
            </a:r>
            <a:r>
              <a:rPr lang="en-US" altLang="zh-CN" sz="2000" dirty="0">
                <a:sym typeface="Wingdings" panose="05000000000000000000" pitchFamily="2" charset="2"/>
              </a:rPr>
              <a:t></a:t>
            </a:r>
            <a:r>
              <a:rPr lang="zh-CN" altLang="en-US" sz="2000" dirty="0">
                <a:sym typeface="Wingdings" panose="05000000000000000000" pitchFamily="2" charset="2"/>
              </a:rPr>
              <a:t>平衡</a:t>
            </a:r>
            <a:r>
              <a:rPr lang="zh-CN" altLang="en-US" sz="2000" dirty="0"/>
              <a:t>性能与能量效率</a:t>
            </a:r>
            <a:endParaRPr lang="en-US" altLang="zh-CN" sz="2000" dirty="0"/>
          </a:p>
          <a:p>
            <a:pPr marL="342900" indent="-342900">
              <a:buFont typeface="Wingdings" panose="05000000000000000000" pitchFamily="2" charset="2"/>
              <a:buChar char="Ø"/>
            </a:pPr>
            <a:r>
              <a:rPr lang="zh-CN" altLang="en-US" sz="2000" dirty="0"/>
              <a:t>使用高能效的库单元</a:t>
            </a:r>
          </a:p>
          <a:p>
            <a:pPr marL="342900" indent="-342900">
              <a:buFont typeface="Wingdings" panose="05000000000000000000" pitchFamily="2" charset="2"/>
              <a:buChar char="Ø"/>
            </a:pPr>
            <a:r>
              <a:rPr lang="zh-CN" altLang="en-US" sz="2000" dirty="0"/>
              <a:t>当时钟网络可以选择半电压摆幅时，普通的</a:t>
            </a:r>
            <a:r>
              <a:rPr lang="en-US" altLang="zh-CN" sz="2000" dirty="0"/>
              <a:t>CMOS </a:t>
            </a:r>
            <a:r>
              <a:rPr lang="zh-CN" altLang="en-US" sz="2000" dirty="0"/>
              <a:t>输入端要驱动到 </a:t>
            </a:r>
            <a:r>
              <a:rPr lang="en-US" altLang="zh-CN" sz="2000" dirty="0"/>
              <a:t>VDD </a:t>
            </a:r>
            <a:r>
              <a:rPr lang="zh-CN" altLang="en-US" sz="2000" dirty="0"/>
              <a:t>或 </a:t>
            </a:r>
            <a:r>
              <a:rPr lang="en-US" altLang="zh-CN" sz="2000" dirty="0"/>
              <a:t>VSS</a:t>
            </a:r>
            <a:r>
              <a:rPr lang="zh-CN" altLang="en-US" sz="2000" dirty="0"/>
              <a:t>以避开稳定状态的交变电流。</a:t>
            </a:r>
          </a:p>
          <a:p>
            <a:pPr marL="342900" indent="-342900">
              <a:buFont typeface="Wingdings" panose="05000000000000000000" pitchFamily="2" charset="2"/>
              <a:buChar char="Ø"/>
            </a:pPr>
            <a:r>
              <a:rPr lang="zh-CN" altLang="en-US" sz="2000" dirty="0"/>
              <a:t>通过更好的电路和版图设计来减少电容</a:t>
            </a:r>
          </a:p>
          <a:p>
            <a:pPr marL="342900" indent="-342900">
              <a:buFont typeface="Wingdings" panose="05000000000000000000" pitchFamily="2" charset="2"/>
              <a:buChar char="Ø"/>
            </a:pPr>
            <a:r>
              <a:rPr lang="zh-CN" altLang="en-US" sz="2000" dirty="0"/>
              <a:t>让相邻的金属层相互正交布线来最大化任何两个平行信号线的垂直距离</a:t>
            </a:r>
            <a:endParaRPr lang="en-US" altLang="zh-CN" sz="2000" dirty="0"/>
          </a:p>
          <a:p>
            <a:pPr marL="342900" indent="-342900">
              <a:buFont typeface="Wingdings" panose="05000000000000000000" pitchFamily="2" charset="2"/>
              <a:buChar char="Ø"/>
            </a:pPr>
            <a:r>
              <a:rPr lang="zh-CN" altLang="en-US" sz="2000" dirty="0"/>
              <a:t>在很长的总线中混乱安排每个位有助于降低位间的最大耦合电容。如果己知 一些位表现出相关性，把强相关的位放在一起布线，而把强不相关的位放在相对的位置。</a:t>
            </a:r>
          </a:p>
          <a:p>
            <a:pPr marL="342900" indent="-342900">
              <a:buFont typeface="Wingdings" panose="05000000000000000000" pitchFamily="2" charset="2"/>
              <a:buChar char="Ø"/>
            </a:pPr>
            <a:r>
              <a:rPr lang="zh-CN" altLang="en-US" sz="2000" dirty="0"/>
              <a:t>对数据通路电路考虑用版图替代基于单元的综合</a:t>
            </a:r>
            <a:endParaRPr lang="zh-CN" altLang="en-US" sz="2400" dirty="0"/>
          </a:p>
        </p:txBody>
      </p:sp>
    </p:spTree>
    <p:extLst>
      <p:ext uri="{BB962C8B-B14F-4D97-AF65-F5344CB8AC3E}">
        <p14:creationId xmlns:p14="http://schemas.microsoft.com/office/powerpoint/2010/main" val="3505052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67544" y="0"/>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107504" y="548680"/>
            <a:ext cx="8928992" cy="2308324"/>
          </a:xfrm>
          <a:prstGeom prst="rect">
            <a:avLst/>
          </a:prstGeom>
        </p:spPr>
        <p:txBody>
          <a:bodyPr wrap="square">
            <a:spAutoFit/>
          </a:bodyPr>
          <a:lstStyle/>
          <a:p>
            <a:r>
              <a:rPr lang="en-US" altLang="zh-CN" sz="2400" dirty="0"/>
              <a:t>9.2.3</a:t>
            </a:r>
            <a:r>
              <a:rPr lang="zh-CN" altLang="en-US" sz="2400" dirty="0"/>
              <a:t>如何降低漏电流</a:t>
            </a:r>
            <a:endParaRPr lang="en-US" altLang="zh-CN" sz="2400" dirty="0"/>
          </a:p>
          <a:p>
            <a:pPr marL="342900" indent="-342900">
              <a:buFont typeface="Wingdings" panose="05000000000000000000" pitchFamily="2" charset="2"/>
              <a:buChar char="Ø"/>
            </a:pPr>
            <a:r>
              <a:rPr lang="zh-CN" altLang="en-US" sz="2000" dirty="0"/>
              <a:t>用低漏电的单元构建快速架构</a:t>
            </a:r>
            <a:r>
              <a:rPr lang="en-US" altLang="zh-CN" sz="2000" dirty="0"/>
              <a:t>,</a:t>
            </a:r>
            <a:r>
              <a:rPr lang="zh-CN" altLang="en-US" sz="2000" dirty="0"/>
              <a:t>使用尽可能少的低阈值电压</a:t>
            </a:r>
            <a:endParaRPr lang="en-US" altLang="zh-CN" sz="2000" dirty="0"/>
          </a:p>
          <a:p>
            <a:pPr marL="342900" indent="-342900">
              <a:buFont typeface="Wingdings" panose="05000000000000000000" pitchFamily="2" charset="2"/>
              <a:buChar char="Ø"/>
            </a:pPr>
            <a:r>
              <a:rPr lang="zh-CN" altLang="en-US" sz="2000" dirty="0"/>
              <a:t>可变阈值 </a:t>
            </a:r>
            <a:r>
              <a:rPr lang="en-US" altLang="zh-CN" sz="2000" dirty="0"/>
              <a:t>CMOS (VTCMOS)</a:t>
            </a:r>
          </a:p>
          <a:p>
            <a:r>
              <a:rPr lang="zh-CN" altLang="en-US" sz="2000" dirty="0"/>
              <a:t>根据当前工作模式利用体效应实时调整有效阈值电压</a:t>
            </a:r>
            <a:r>
              <a:rPr lang="en-US" altLang="zh-CN" sz="2000" dirty="0" err="1"/>
              <a:t>U</a:t>
            </a:r>
            <a:r>
              <a:rPr lang="en-US" altLang="zh-CN" sz="2000" baseline="-25000" dirty="0" err="1"/>
              <a:t>th</a:t>
            </a:r>
            <a:r>
              <a:rPr lang="en-US" altLang="zh-CN" sz="2000" dirty="0"/>
              <a:t>(</a:t>
            </a:r>
            <a:r>
              <a:rPr lang="en-US" altLang="zh-CN" sz="2000" dirty="0" err="1"/>
              <a:t>U</a:t>
            </a:r>
            <a:r>
              <a:rPr lang="en-US" altLang="zh-CN" sz="2000" baseline="-25000" dirty="0" err="1"/>
              <a:t>bs</a:t>
            </a:r>
            <a:r>
              <a:rPr lang="en-US" altLang="zh-CN" sz="2000" dirty="0"/>
              <a:t>)(DBB</a:t>
            </a:r>
            <a:r>
              <a:rPr lang="zh-CN" altLang="en-US" sz="2000" dirty="0"/>
              <a:t>：动态背偏置</a:t>
            </a:r>
            <a:r>
              <a:rPr lang="en-US" altLang="zh-CN" sz="2000" dirty="0"/>
              <a:t>) </a:t>
            </a:r>
            <a:r>
              <a:rPr lang="zh-CN" altLang="en-US" sz="2000" dirty="0"/>
              <a:t>。</a:t>
            </a:r>
            <a:endParaRPr lang="en-US" altLang="zh-CN" sz="2000" dirty="0"/>
          </a:p>
          <a:p>
            <a:r>
              <a:rPr lang="en-US" altLang="zh-CN" sz="2000" dirty="0"/>
              <a:t>DBB</a:t>
            </a:r>
            <a:r>
              <a:rPr lang="zh-CN" altLang="en-US" sz="2000" dirty="0"/>
              <a:t>的好处是可以设计自调节稳定回路去补偿阈值电压的制造偏差，在如今的低电压情况下阈值电压的制造偏差尤其关键</a:t>
            </a:r>
            <a:endParaRPr lang="zh-CN" altLang="en-US" sz="2400" dirty="0"/>
          </a:p>
        </p:txBody>
      </p:sp>
      <p:pic>
        <p:nvPicPr>
          <p:cNvPr id="4" name="图片 3">
            <a:extLst>
              <a:ext uri="{FF2B5EF4-FFF2-40B4-BE49-F238E27FC236}">
                <a16:creationId xmlns:a16="http://schemas.microsoft.com/office/drawing/2014/main" id="{6BF30929-0780-4142-B12C-30F9BDCF75DE}"/>
              </a:ext>
            </a:extLst>
          </p:cNvPr>
          <p:cNvPicPr>
            <a:picLocks noChangeAspect="1"/>
          </p:cNvPicPr>
          <p:nvPr/>
        </p:nvPicPr>
        <p:blipFill>
          <a:blip r:embed="rId3"/>
          <a:stretch>
            <a:fillRect/>
          </a:stretch>
        </p:blipFill>
        <p:spPr>
          <a:xfrm>
            <a:off x="462992" y="3068960"/>
            <a:ext cx="7486650" cy="3381375"/>
          </a:xfrm>
          <a:prstGeom prst="rect">
            <a:avLst/>
          </a:prstGeom>
        </p:spPr>
      </p:pic>
    </p:spTree>
    <p:extLst>
      <p:ext uri="{BB962C8B-B14F-4D97-AF65-F5344CB8AC3E}">
        <p14:creationId xmlns:p14="http://schemas.microsoft.com/office/powerpoint/2010/main" val="2695275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67544" y="0"/>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107504" y="548680"/>
            <a:ext cx="8928992" cy="2923877"/>
          </a:xfrm>
          <a:prstGeom prst="rect">
            <a:avLst/>
          </a:prstGeom>
        </p:spPr>
        <p:txBody>
          <a:bodyPr wrap="square">
            <a:spAutoFit/>
          </a:bodyPr>
          <a:lstStyle/>
          <a:p>
            <a:r>
              <a:rPr lang="en-US" altLang="zh-CN" sz="2400" dirty="0"/>
              <a:t>9.2.3</a:t>
            </a:r>
            <a:r>
              <a:rPr lang="zh-CN" altLang="en-US" sz="2400" dirty="0"/>
              <a:t>如何降低漏电流</a:t>
            </a:r>
            <a:endParaRPr lang="en-US" altLang="zh-CN" sz="2400" dirty="0"/>
          </a:p>
          <a:p>
            <a:pPr marL="342900" indent="-342900">
              <a:buFont typeface="Wingdings" panose="05000000000000000000" pitchFamily="2" charset="2"/>
              <a:buChar char="Ø"/>
            </a:pPr>
            <a:r>
              <a:rPr lang="zh-CN" altLang="en-US" sz="2000" dirty="0"/>
              <a:t>多阈值 </a:t>
            </a:r>
            <a:r>
              <a:rPr lang="en-US" altLang="zh-CN" sz="2000" dirty="0"/>
              <a:t>CMOS (MTCMOS)</a:t>
            </a:r>
          </a:p>
          <a:p>
            <a:r>
              <a:rPr lang="zh-CN" altLang="en-US" sz="2000" dirty="0"/>
              <a:t>使用不同阈值电压的 </a:t>
            </a:r>
            <a:r>
              <a:rPr lang="en-US" altLang="zh-CN" sz="2000" dirty="0"/>
              <a:t>MOSFET</a:t>
            </a:r>
            <a:r>
              <a:rPr lang="zh-CN" altLang="en-US" sz="2000" dirty="0"/>
              <a:t>，</a:t>
            </a:r>
            <a:r>
              <a:rPr lang="en-US" altLang="zh-CN" sz="2000" dirty="0" err="1"/>
              <a:t>U</a:t>
            </a:r>
            <a:r>
              <a:rPr lang="en-US" altLang="zh-CN" sz="2000" baseline="-25000" dirty="0" err="1"/>
              <a:t>th</a:t>
            </a:r>
            <a:r>
              <a:rPr lang="en-US" altLang="zh-CN" sz="2000" baseline="-25000" dirty="0"/>
              <a:t> logic</a:t>
            </a:r>
            <a:r>
              <a:rPr lang="en-US" altLang="zh-CN" sz="2000" dirty="0"/>
              <a:t> &lt; </a:t>
            </a:r>
            <a:r>
              <a:rPr lang="en-US" altLang="zh-CN" sz="2000" dirty="0" err="1"/>
              <a:t>U</a:t>
            </a:r>
            <a:r>
              <a:rPr lang="en-US" altLang="zh-CN" sz="2000" baseline="-25000" dirty="0" err="1"/>
              <a:t>th</a:t>
            </a:r>
            <a:r>
              <a:rPr lang="en-US" altLang="zh-CN" sz="2000" baseline="-25000" dirty="0"/>
              <a:t> sleep</a:t>
            </a:r>
            <a:r>
              <a:rPr lang="zh-CN" altLang="en-US" sz="2000" dirty="0"/>
              <a:t>低阈值晶体管用于所有速度关键的子电路。额外的高阈值睡眠晶体管与子电路串联用于在待机状态切断漏电流路径。多阈值可通过不同方式得到：</a:t>
            </a:r>
            <a:endParaRPr lang="en-US" altLang="zh-CN" sz="2000" dirty="0"/>
          </a:p>
          <a:p>
            <a:pPr marL="342900" indent="-342900">
              <a:buFont typeface="Wingdings" panose="05000000000000000000" pitchFamily="2" charset="2"/>
              <a:buChar char="Ø"/>
            </a:pPr>
            <a:r>
              <a:rPr lang="zh-CN" altLang="en-US" sz="2000" dirty="0"/>
              <a:t>真正的双阈值制造工艺，自然得到 </a:t>
            </a:r>
            <a:r>
              <a:rPr lang="en-US" altLang="zh-CN" sz="2000" dirty="0" err="1"/>
              <a:t>U</a:t>
            </a:r>
            <a:r>
              <a:rPr lang="en-US" altLang="zh-CN" sz="2000" baseline="-25000" dirty="0" err="1"/>
              <a:t>th</a:t>
            </a:r>
            <a:r>
              <a:rPr lang="en-US" altLang="zh-CN" sz="2000" baseline="-25000" dirty="0"/>
              <a:t> logic</a:t>
            </a:r>
            <a:r>
              <a:rPr lang="en-US" altLang="zh-CN" sz="2000" dirty="0"/>
              <a:t> &lt; </a:t>
            </a:r>
            <a:r>
              <a:rPr lang="en-US" altLang="zh-CN" sz="2000" dirty="0" err="1"/>
              <a:t>U</a:t>
            </a:r>
            <a:r>
              <a:rPr lang="en-US" altLang="zh-CN" sz="2000" baseline="-25000" dirty="0" err="1"/>
              <a:t>th</a:t>
            </a:r>
            <a:r>
              <a:rPr lang="en-US" altLang="zh-CN" sz="2000" baseline="-25000" dirty="0"/>
              <a:t> sleep </a:t>
            </a:r>
            <a:endParaRPr lang="zh-CN" altLang="en-US" sz="2000" dirty="0"/>
          </a:p>
          <a:p>
            <a:pPr marL="342900" indent="-342900">
              <a:buFont typeface="Wingdings" panose="05000000000000000000" pitchFamily="2" charset="2"/>
              <a:buChar char="Ø"/>
            </a:pPr>
            <a:r>
              <a:rPr lang="zh-CN" altLang="en-US" sz="2000" dirty="0"/>
              <a:t>睡眠晶体管背偏一个固定电压</a:t>
            </a:r>
            <a:r>
              <a:rPr lang="en-US" altLang="zh-CN" sz="2000" dirty="0" err="1"/>
              <a:t>U</a:t>
            </a:r>
            <a:r>
              <a:rPr lang="en-US" altLang="zh-CN" sz="2000" baseline="-25000" dirty="0" err="1"/>
              <a:t>bs</a:t>
            </a:r>
            <a:r>
              <a:rPr lang="en-US" altLang="zh-CN" sz="2000" baseline="-25000" dirty="0"/>
              <a:t> sleep</a:t>
            </a:r>
            <a:r>
              <a:rPr lang="en-US" altLang="zh-CN" sz="2000" dirty="0"/>
              <a:t>&lt;0 </a:t>
            </a:r>
            <a:endParaRPr lang="zh-CN" altLang="en-US" sz="2000" dirty="0"/>
          </a:p>
          <a:p>
            <a:pPr marL="342900" indent="-342900">
              <a:buFont typeface="Wingdings" panose="05000000000000000000" pitchFamily="2" charset="2"/>
              <a:buChar char="Ø"/>
            </a:pPr>
            <a:r>
              <a:rPr lang="zh-CN" altLang="en-US" sz="2000" dirty="0"/>
              <a:t>利用特殊的制造工艺和预充电浮栅</a:t>
            </a:r>
          </a:p>
          <a:p>
            <a:endParaRPr lang="zh-CN" altLang="en-US" sz="2000" dirty="0"/>
          </a:p>
        </p:txBody>
      </p:sp>
      <p:pic>
        <p:nvPicPr>
          <p:cNvPr id="5" name="图片 4">
            <a:extLst>
              <a:ext uri="{FF2B5EF4-FFF2-40B4-BE49-F238E27FC236}">
                <a16:creationId xmlns:a16="http://schemas.microsoft.com/office/drawing/2014/main" id="{549F63A6-EAFA-44B5-B8C5-129A330738D3}"/>
              </a:ext>
            </a:extLst>
          </p:cNvPr>
          <p:cNvPicPr>
            <a:picLocks noChangeAspect="1"/>
          </p:cNvPicPr>
          <p:nvPr/>
        </p:nvPicPr>
        <p:blipFill>
          <a:blip r:embed="rId3"/>
          <a:stretch>
            <a:fillRect/>
          </a:stretch>
        </p:blipFill>
        <p:spPr>
          <a:xfrm>
            <a:off x="882997" y="3140968"/>
            <a:ext cx="7172325" cy="3771900"/>
          </a:xfrm>
          <a:prstGeom prst="rect">
            <a:avLst/>
          </a:prstGeom>
        </p:spPr>
      </p:pic>
    </p:spTree>
    <p:extLst>
      <p:ext uri="{BB962C8B-B14F-4D97-AF65-F5344CB8AC3E}">
        <p14:creationId xmlns:p14="http://schemas.microsoft.com/office/powerpoint/2010/main" val="1431568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67544" y="0"/>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107504" y="548680"/>
            <a:ext cx="8928992" cy="1692771"/>
          </a:xfrm>
          <a:prstGeom prst="rect">
            <a:avLst/>
          </a:prstGeom>
        </p:spPr>
        <p:txBody>
          <a:bodyPr wrap="square">
            <a:spAutoFit/>
          </a:bodyPr>
          <a:lstStyle/>
          <a:p>
            <a:r>
              <a:rPr lang="en-US" altLang="zh-CN" sz="2400" dirty="0"/>
              <a:t>9.2.3</a:t>
            </a:r>
            <a:r>
              <a:rPr lang="zh-CN" altLang="en-US" sz="2400" dirty="0"/>
              <a:t>如何降低漏电流</a:t>
            </a:r>
            <a:endParaRPr lang="en-US" altLang="zh-CN" sz="2400" dirty="0"/>
          </a:p>
          <a:p>
            <a:pPr marL="342900" indent="-342900">
              <a:buFont typeface="Wingdings" panose="05000000000000000000" pitchFamily="2" charset="2"/>
              <a:buChar char="Ø"/>
            </a:pPr>
            <a:r>
              <a:rPr lang="zh-CN" altLang="en-US" sz="2000" dirty="0"/>
              <a:t>强截止 </a:t>
            </a:r>
            <a:r>
              <a:rPr lang="en-US" altLang="zh-CN" sz="2000" dirty="0"/>
              <a:t>CMOS (SCCMOS)</a:t>
            </a:r>
          </a:p>
          <a:p>
            <a:r>
              <a:rPr lang="zh-CN" altLang="en-US" sz="2000" dirty="0"/>
              <a:t>电路结构与</a:t>
            </a:r>
            <a:r>
              <a:rPr lang="en-US" altLang="zh-CN" sz="2000" dirty="0"/>
              <a:t>MTCMOS </a:t>
            </a:r>
            <a:r>
              <a:rPr lang="zh-CN" altLang="en-US" sz="2000" dirty="0"/>
              <a:t>相同，只是全部使用低阈值</a:t>
            </a:r>
            <a:r>
              <a:rPr lang="en-US" altLang="zh-CN" sz="2000" dirty="0"/>
              <a:t>MOSFET</a:t>
            </a:r>
            <a:r>
              <a:rPr lang="zh-CN" altLang="en-US" sz="2000" dirty="0"/>
              <a:t>。待机模式下通过睡眠晶体管负的栅电压</a:t>
            </a:r>
            <a:r>
              <a:rPr lang="en-US" altLang="zh-CN" sz="2000" dirty="0" err="1"/>
              <a:t>U</a:t>
            </a:r>
            <a:r>
              <a:rPr lang="en-US" altLang="zh-CN" sz="2000" baseline="-25000" dirty="0" err="1"/>
              <a:t>gs</a:t>
            </a:r>
            <a:r>
              <a:rPr lang="en-US" altLang="zh-CN" sz="2000" baseline="-25000" dirty="0"/>
              <a:t> sleep</a:t>
            </a:r>
            <a:r>
              <a:rPr lang="en-US" altLang="zh-CN" sz="2000" dirty="0"/>
              <a:t>&lt;0</a:t>
            </a:r>
            <a:r>
              <a:rPr lang="zh-CN" altLang="en-US" sz="2000" dirty="0"/>
              <a:t>使其进入强截止区域，漏电流减少到低于</a:t>
            </a:r>
            <a:r>
              <a:rPr lang="en-US" altLang="zh-CN" sz="2000" dirty="0"/>
              <a:t>I</a:t>
            </a:r>
            <a:r>
              <a:rPr lang="en-US" altLang="zh-CN" sz="2000" baseline="-25000" dirty="0"/>
              <a:t>lk</a:t>
            </a:r>
            <a:r>
              <a:rPr lang="en-US" altLang="zh-CN" sz="2000" dirty="0"/>
              <a:t>=I</a:t>
            </a:r>
            <a:r>
              <a:rPr lang="en-US" altLang="zh-CN" sz="2000" baseline="-25000" dirty="0"/>
              <a:t>d</a:t>
            </a:r>
            <a:r>
              <a:rPr lang="en-US" altLang="zh-CN" sz="2000" dirty="0"/>
              <a:t>(</a:t>
            </a:r>
            <a:r>
              <a:rPr lang="en-US" altLang="zh-CN" sz="2000" dirty="0" err="1"/>
              <a:t>U</a:t>
            </a:r>
            <a:r>
              <a:rPr lang="en-US" altLang="zh-CN" sz="2000" baseline="-25000" dirty="0" err="1"/>
              <a:t>gs</a:t>
            </a:r>
            <a:r>
              <a:rPr lang="en-US" altLang="zh-CN" sz="2000" baseline="-25000" dirty="0"/>
              <a:t> off</a:t>
            </a:r>
            <a:r>
              <a:rPr lang="en-US" altLang="zh-CN" sz="2000" dirty="0"/>
              <a:t> =0)</a:t>
            </a:r>
            <a:endParaRPr lang="zh-CN" altLang="en-US" sz="2000" dirty="0"/>
          </a:p>
        </p:txBody>
      </p:sp>
      <p:pic>
        <p:nvPicPr>
          <p:cNvPr id="5" name="图片 4">
            <a:extLst>
              <a:ext uri="{FF2B5EF4-FFF2-40B4-BE49-F238E27FC236}">
                <a16:creationId xmlns:a16="http://schemas.microsoft.com/office/drawing/2014/main" id="{549F63A6-EAFA-44B5-B8C5-129A330738D3}"/>
              </a:ext>
            </a:extLst>
          </p:cNvPr>
          <p:cNvPicPr>
            <a:picLocks noChangeAspect="1"/>
          </p:cNvPicPr>
          <p:nvPr/>
        </p:nvPicPr>
        <p:blipFill>
          <a:blip r:embed="rId3"/>
          <a:stretch>
            <a:fillRect/>
          </a:stretch>
        </p:blipFill>
        <p:spPr>
          <a:xfrm>
            <a:off x="611560" y="2780928"/>
            <a:ext cx="7172325" cy="3771900"/>
          </a:xfrm>
          <a:prstGeom prst="rect">
            <a:avLst/>
          </a:prstGeom>
        </p:spPr>
      </p:pic>
    </p:spTree>
    <p:extLst>
      <p:ext uri="{BB962C8B-B14F-4D97-AF65-F5344CB8AC3E}">
        <p14:creationId xmlns:p14="http://schemas.microsoft.com/office/powerpoint/2010/main" val="2274209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67544" y="0"/>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107504" y="548680"/>
            <a:ext cx="8928992" cy="4770537"/>
          </a:xfrm>
          <a:prstGeom prst="rect">
            <a:avLst/>
          </a:prstGeom>
        </p:spPr>
        <p:txBody>
          <a:bodyPr wrap="square">
            <a:spAutoFit/>
          </a:bodyPr>
          <a:lstStyle/>
          <a:p>
            <a:r>
              <a:rPr lang="en-US" altLang="zh-CN" sz="2400" dirty="0"/>
              <a:t>9.2.3</a:t>
            </a:r>
            <a:r>
              <a:rPr lang="zh-CN" altLang="en-US" sz="2400" dirty="0"/>
              <a:t>如何降低漏电流</a:t>
            </a:r>
            <a:endParaRPr lang="en-US" altLang="zh-CN" sz="2400" dirty="0"/>
          </a:p>
          <a:p>
            <a:pPr marL="342900" indent="-342900">
              <a:buFont typeface="Wingdings" panose="05000000000000000000" pitchFamily="2" charset="2"/>
              <a:buChar char="Ø"/>
            </a:pPr>
            <a:r>
              <a:rPr lang="zh-CN" altLang="en-US" sz="2000" dirty="0"/>
              <a:t>强截止 </a:t>
            </a:r>
            <a:r>
              <a:rPr lang="en-US" altLang="zh-CN" sz="2000" dirty="0"/>
              <a:t>CMOS (SCCMOS)</a:t>
            </a:r>
          </a:p>
          <a:p>
            <a:r>
              <a:rPr lang="zh-CN" altLang="en-US" sz="2000" dirty="0"/>
              <a:t>双稳态电路在睡眠模式关闭电源电压时都失去了它们的状态信息，目前己知有 </a:t>
            </a:r>
            <a:r>
              <a:rPr lang="en-US" altLang="zh-CN" sz="2000" dirty="0"/>
              <a:t>5 </a:t>
            </a:r>
            <a:r>
              <a:rPr lang="zh-CN" altLang="en-US" sz="2000" dirty="0"/>
              <a:t>个应对方案：</a:t>
            </a:r>
          </a:p>
          <a:p>
            <a:pPr marL="342900" indent="-342900">
              <a:buFont typeface="Arial" panose="020B0604020202020204" pitchFamily="34" charset="0"/>
              <a:buChar char="•"/>
            </a:pPr>
            <a:r>
              <a:rPr lang="zh-CN" altLang="en-US" sz="2000" dirty="0"/>
              <a:t>用高阈值</a:t>
            </a:r>
            <a:r>
              <a:rPr lang="en-US" altLang="zh-CN" sz="2000" dirty="0"/>
              <a:t>MOSFET</a:t>
            </a:r>
            <a:r>
              <a:rPr lang="zh-CN" altLang="en-US" sz="2000" dirty="0"/>
              <a:t>实现重要的寄存器并接受它们的慢速度。</a:t>
            </a:r>
            <a:endParaRPr lang="en-US" altLang="zh-CN" sz="2000" dirty="0"/>
          </a:p>
          <a:p>
            <a:pPr marL="342900" indent="-342900">
              <a:buFont typeface="Wingdings" panose="05000000000000000000" pitchFamily="2" charset="2"/>
              <a:buChar char="Ø"/>
            </a:pPr>
            <a:endParaRPr lang="zh-CN" altLang="en-US" sz="2000" dirty="0"/>
          </a:p>
          <a:p>
            <a:pPr marL="342900" indent="-342900">
              <a:buFont typeface="Arial" panose="020B0604020202020204" pitchFamily="34" charset="0"/>
              <a:buChar char="•"/>
            </a:pPr>
            <a:r>
              <a:rPr lang="zh-CN" altLang="en-US" sz="2000" dirty="0"/>
              <a:t>避免让重要寄存器进入睡眠模式并接受它们的漏电流。</a:t>
            </a:r>
            <a:endParaRPr lang="en-US" altLang="zh-CN" sz="2000" dirty="0"/>
          </a:p>
          <a:p>
            <a:pPr marL="342900" indent="-342900">
              <a:buFont typeface="Wingdings" panose="05000000000000000000" pitchFamily="2" charset="2"/>
              <a:buChar char="Ø"/>
            </a:pPr>
            <a:endParaRPr lang="zh-CN" altLang="en-US" sz="2000" dirty="0"/>
          </a:p>
          <a:p>
            <a:pPr marL="342900" indent="-342900">
              <a:buFont typeface="Arial" panose="020B0604020202020204" pitchFamily="34" charset="0"/>
              <a:buChar char="•"/>
            </a:pPr>
            <a:r>
              <a:rPr lang="zh-CN" altLang="en-US" sz="2000" dirty="0"/>
              <a:t>在待机状态临时把它们的状态存储在别的地方</a:t>
            </a:r>
            <a:r>
              <a:rPr lang="en-US" altLang="zh-CN" sz="2000" dirty="0"/>
              <a:t>(</a:t>
            </a:r>
            <a:r>
              <a:rPr lang="zh-CN" altLang="en-US" sz="2000" dirty="0"/>
              <a:t>如闪存 、硬盘</a:t>
            </a:r>
            <a:r>
              <a:rPr lang="en-US" altLang="zh-CN" sz="2000" dirty="0"/>
              <a:t>)</a:t>
            </a:r>
            <a:r>
              <a:rPr lang="zh-CN" altLang="en-US" sz="2000" dirty="0"/>
              <a:t>。</a:t>
            </a:r>
            <a:endParaRPr lang="en-US" altLang="zh-CN" sz="2000" dirty="0"/>
          </a:p>
          <a:p>
            <a:pPr marL="342900" indent="-342900">
              <a:buFont typeface="Wingdings" panose="05000000000000000000" pitchFamily="2" charset="2"/>
              <a:buChar char="Ø"/>
            </a:pPr>
            <a:endParaRPr lang="zh-CN" altLang="en-US" sz="2000" dirty="0"/>
          </a:p>
          <a:p>
            <a:pPr marL="342900" indent="-342900">
              <a:buFont typeface="Arial" panose="020B0604020202020204" pitchFamily="34" charset="0"/>
              <a:buChar char="•"/>
            </a:pPr>
            <a:r>
              <a:rPr lang="zh-CN" altLang="en-US" sz="2000" dirty="0"/>
              <a:t>为每个双稳态电路增加辅助的低漏电双稳态单元，类似 </a:t>
            </a:r>
            <a:r>
              <a:rPr lang="en-US" altLang="zh-CN" sz="2000" dirty="0"/>
              <a:t>SRAM  </a:t>
            </a:r>
            <a:r>
              <a:rPr lang="zh-CN" altLang="en-US" sz="2000" dirty="0"/>
              <a:t>单元结构，通常称为气球单元， 它在主双稳态进入睡眠时负责保持其状态 </a:t>
            </a:r>
            <a:endParaRPr lang="en-US" altLang="zh-CN" sz="2000" dirty="0"/>
          </a:p>
          <a:p>
            <a:pPr marL="342900" indent="-342900">
              <a:buFont typeface="Wingdings" panose="05000000000000000000" pitchFamily="2" charset="2"/>
              <a:buChar char="Ø"/>
            </a:pPr>
            <a:endParaRPr lang="en-US" altLang="zh-CN" sz="2000" dirty="0"/>
          </a:p>
          <a:p>
            <a:pPr marL="342900" indent="-342900">
              <a:buFont typeface="Arial" panose="020B0604020202020204" pitchFamily="34" charset="0"/>
              <a:buChar char="•"/>
            </a:pPr>
            <a:r>
              <a:rPr lang="zh-CN" altLang="en-US" sz="2000" dirty="0"/>
              <a:t>使用特殊设计的低漏电锁存器和触发器。</a:t>
            </a:r>
          </a:p>
          <a:p>
            <a:endParaRPr lang="zh-CN" altLang="en-US" sz="2000" dirty="0"/>
          </a:p>
        </p:txBody>
      </p:sp>
    </p:spTree>
    <p:extLst>
      <p:ext uri="{BB962C8B-B14F-4D97-AF65-F5344CB8AC3E}">
        <p14:creationId xmlns:p14="http://schemas.microsoft.com/office/powerpoint/2010/main" val="353183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67544" y="0"/>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107504" y="548680"/>
            <a:ext cx="8928992" cy="5693866"/>
          </a:xfrm>
          <a:prstGeom prst="rect">
            <a:avLst/>
          </a:prstGeom>
        </p:spPr>
        <p:txBody>
          <a:bodyPr wrap="square">
            <a:spAutoFit/>
          </a:bodyPr>
          <a:lstStyle/>
          <a:p>
            <a:r>
              <a:rPr lang="en-US" altLang="zh-CN" sz="2400" dirty="0"/>
              <a:t>9.2.3</a:t>
            </a:r>
            <a:r>
              <a:rPr lang="zh-CN" altLang="en-US" sz="2400" dirty="0"/>
              <a:t>如何降低漏电流</a:t>
            </a:r>
            <a:endParaRPr lang="en-US" altLang="zh-CN" sz="2400" dirty="0"/>
          </a:p>
          <a:p>
            <a:pPr marL="342900" indent="-342900">
              <a:buFont typeface="Wingdings" panose="05000000000000000000" pitchFamily="2" charset="2"/>
              <a:buChar char="Ø"/>
            </a:pPr>
            <a:r>
              <a:rPr lang="zh-CN" altLang="en-US" sz="2000" dirty="0"/>
              <a:t>强截止 </a:t>
            </a:r>
            <a:r>
              <a:rPr lang="en-US" altLang="zh-CN" sz="2000" dirty="0"/>
              <a:t>CMOS (SCCMOS)</a:t>
            </a:r>
          </a:p>
          <a:p>
            <a:r>
              <a:rPr lang="zh-CN" altLang="en-US" sz="2000" dirty="0"/>
              <a:t>双稳态电路在睡眠模式关闭电源电压时都失去了它们的状态信息，目前己知有 </a:t>
            </a:r>
            <a:r>
              <a:rPr lang="en-US" altLang="zh-CN" sz="2000" dirty="0"/>
              <a:t>5 </a:t>
            </a:r>
            <a:r>
              <a:rPr lang="zh-CN" altLang="en-US" sz="2000" dirty="0"/>
              <a:t>个应对方案：</a:t>
            </a:r>
          </a:p>
          <a:p>
            <a:pPr marL="342900" indent="-342900">
              <a:buFont typeface="Arial" panose="020B0604020202020204" pitchFamily="34" charset="0"/>
              <a:buChar char="•"/>
            </a:pPr>
            <a:r>
              <a:rPr lang="zh-CN" altLang="en-US" sz="2000" dirty="0"/>
              <a:t>用高阈值</a:t>
            </a:r>
            <a:r>
              <a:rPr lang="en-US" altLang="zh-CN" sz="2000" dirty="0"/>
              <a:t>MOSFET</a:t>
            </a:r>
            <a:r>
              <a:rPr lang="zh-CN" altLang="en-US" sz="2000" dirty="0"/>
              <a:t>实现重要的寄存器并接受它们的慢速度。</a:t>
            </a:r>
            <a:endParaRPr lang="en-US" altLang="zh-CN" sz="2000" dirty="0"/>
          </a:p>
          <a:p>
            <a:pPr marL="342900" indent="-342900">
              <a:buFont typeface="Wingdings" panose="05000000000000000000" pitchFamily="2" charset="2"/>
              <a:buChar char="Ø"/>
            </a:pPr>
            <a:endParaRPr lang="zh-CN" altLang="en-US" sz="2000" dirty="0"/>
          </a:p>
          <a:p>
            <a:pPr marL="342900" indent="-342900">
              <a:buFont typeface="Arial" panose="020B0604020202020204" pitchFamily="34" charset="0"/>
              <a:buChar char="•"/>
            </a:pPr>
            <a:r>
              <a:rPr lang="zh-CN" altLang="en-US" sz="2000" dirty="0"/>
              <a:t>避免让重要寄存器进入睡眠模式并接受它们的漏电流。</a:t>
            </a:r>
            <a:endParaRPr lang="en-US" altLang="zh-CN" sz="2000" dirty="0"/>
          </a:p>
          <a:p>
            <a:pPr marL="342900" indent="-342900">
              <a:buFont typeface="Wingdings" panose="05000000000000000000" pitchFamily="2" charset="2"/>
              <a:buChar char="Ø"/>
            </a:pPr>
            <a:endParaRPr lang="zh-CN" altLang="en-US" sz="2000" dirty="0"/>
          </a:p>
          <a:p>
            <a:pPr marL="342900" indent="-342900">
              <a:buFont typeface="Arial" panose="020B0604020202020204" pitchFamily="34" charset="0"/>
              <a:buChar char="•"/>
            </a:pPr>
            <a:r>
              <a:rPr lang="zh-CN" altLang="en-US" sz="2000" dirty="0"/>
              <a:t>在待机状态临时把它们的状态存储在别的地方</a:t>
            </a:r>
            <a:r>
              <a:rPr lang="en-US" altLang="zh-CN" sz="2000" dirty="0"/>
              <a:t>(</a:t>
            </a:r>
            <a:r>
              <a:rPr lang="zh-CN" altLang="en-US" sz="2000" dirty="0"/>
              <a:t>如闪存 、硬盘</a:t>
            </a:r>
            <a:r>
              <a:rPr lang="en-US" altLang="zh-CN" sz="2000" dirty="0"/>
              <a:t>)</a:t>
            </a:r>
            <a:r>
              <a:rPr lang="zh-CN" altLang="en-US" sz="2000" dirty="0"/>
              <a:t>。</a:t>
            </a:r>
            <a:endParaRPr lang="en-US" altLang="zh-CN" sz="2000" dirty="0"/>
          </a:p>
          <a:p>
            <a:pPr marL="342900" indent="-342900">
              <a:buFont typeface="Wingdings" panose="05000000000000000000" pitchFamily="2" charset="2"/>
              <a:buChar char="Ø"/>
            </a:pPr>
            <a:endParaRPr lang="zh-CN" altLang="en-US" sz="2000" dirty="0"/>
          </a:p>
          <a:p>
            <a:pPr marL="342900" indent="-342900">
              <a:buFont typeface="Arial" panose="020B0604020202020204" pitchFamily="34" charset="0"/>
              <a:buChar char="•"/>
            </a:pPr>
            <a:r>
              <a:rPr lang="zh-CN" altLang="en-US" sz="2000" dirty="0"/>
              <a:t>为每个双稳态电路增加辅助的低漏电双稳态单元，类似 </a:t>
            </a:r>
            <a:r>
              <a:rPr lang="en-US" altLang="zh-CN" sz="2000" dirty="0"/>
              <a:t>SRAM  </a:t>
            </a:r>
            <a:r>
              <a:rPr lang="zh-CN" altLang="en-US" sz="2000" dirty="0"/>
              <a:t>单元结构，通常称为气球单元， 它在主双稳态进入睡眠时负责保持其状态 </a:t>
            </a:r>
            <a:endParaRPr lang="en-US" altLang="zh-CN" sz="2000" dirty="0"/>
          </a:p>
          <a:p>
            <a:pPr marL="342900" indent="-342900">
              <a:buFont typeface="Wingdings" panose="05000000000000000000" pitchFamily="2" charset="2"/>
              <a:buChar char="Ø"/>
            </a:pPr>
            <a:endParaRPr lang="en-US" altLang="zh-CN" sz="2000" dirty="0"/>
          </a:p>
          <a:p>
            <a:pPr marL="342900" indent="-342900">
              <a:buFont typeface="Arial" panose="020B0604020202020204" pitchFamily="34" charset="0"/>
              <a:buChar char="•"/>
            </a:pPr>
            <a:r>
              <a:rPr lang="zh-CN" altLang="en-US" sz="2000" dirty="0"/>
              <a:t>使用特殊设计的低漏电锁存器和触发器。</a:t>
            </a:r>
            <a:endParaRPr lang="en-US" altLang="zh-CN" sz="2000" dirty="0"/>
          </a:p>
          <a:p>
            <a:pPr marL="342900" indent="-342900">
              <a:buFont typeface="Arial" panose="020B0604020202020204" pitchFamily="34" charset="0"/>
              <a:buChar char="•"/>
            </a:pPr>
            <a:endParaRPr lang="en-US" altLang="zh-CN" sz="2000" dirty="0"/>
          </a:p>
          <a:p>
            <a:endParaRPr lang="en-US" altLang="zh-CN" sz="2000" dirty="0"/>
          </a:p>
          <a:p>
            <a:endParaRPr lang="zh-CN" altLang="en-US" sz="2000" dirty="0"/>
          </a:p>
          <a:p>
            <a:endParaRPr lang="zh-CN" altLang="en-US" sz="2000" dirty="0"/>
          </a:p>
        </p:txBody>
      </p:sp>
    </p:spTree>
    <p:extLst>
      <p:ext uri="{BB962C8B-B14F-4D97-AF65-F5344CB8AC3E}">
        <p14:creationId xmlns:p14="http://schemas.microsoft.com/office/powerpoint/2010/main" val="1904182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67544" y="0"/>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107504" y="548680"/>
            <a:ext cx="8928992" cy="2000548"/>
          </a:xfrm>
          <a:prstGeom prst="rect">
            <a:avLst/>
          </a:prstGeom>
        </p:spPr>
        <p:txBody>
          <a:bodyPr wrap="square">
            <a:spAutoFit/>
          </a:bodyPr>
          <a:lstStyle/>
          <a:p>
            <a:r>
              <a:rPr lang="en-US" altLang="zh-CN" sz="2400" dirty="0"/>
              <a:t>9.2.3</a:t>
            </a:r>
            <a:r>
              <a:rPr lang="zh-CN" altLang="en-US" sz="2400" dirty="0"/>
              <a:t>如何降低漏电流</a:t>
            </a:r>
            <a:endParaRPr lang="en-US" altLang="zh-CN" sz="2400" dirty="0"/>
          </a:p>
          <a:p>
            <a:pPr marL="342900" indent="-342900">
              <a:buFont typeface="Wingdings" panose="05000000000000000000" pitchFamily="2" charset="2"/>
              <a:buChar char="Ø"/>
            </a:pPr>
            <a:r>
              <a:rPr lang="en-US" altLang="zh-CN" sz="2000" dirty="0"/>
              <a:t>3S</a:t>
            </a:r>
            <a:r>
              <a:rPr lang="zh-CN" altLang="en-US" sz="2000" dirty="0"/>
              <a:t>逻辑</a:t>
            </a:r>
            <a:endParaRPr lang="en-US" altLang="zh-CN" sz="2000" dirty="0"/>
          </a:p>
          <a:p>
            <a:r>
              <a:rPr lang="zh-CN" altLang="en-US" sz="2000" dirty="0"/>
              <a:t>其他强截止电路的工作类似，区别在于有一对额外的高阈值 </a:t>
            </a:r>
            <a:r>
              <a:rPr lang="en-US" altLang="zh-CN" sz="2000" dirty="0"/>
              <a:t>MOSFET</a:t>
            </a:r>
            <a:r>
              <a:rPr lang="zh-CN" altLang="en-US" sz="2000" dirty="0"/>
              <a:t>与睡眠晶体管并联。这些旁路晶体管保证了反相器在待机状态也能工作，虽然 此时电流驱动能力较低。使用这种专利技术的反相器被称为 </a:t>
            </a:r>
            <a:r>
              <a:rPr lang="en-US" altLang="zh-CN" sz="2000" dirty="0"/>
              <a:t>3S </a:t>
            </a:r>
            <a:r>
              <a:rPr lang="zh-CN" altLang="en-US" sz="2000" dirty="0"/>
              <a:t>逻辑，意思是智能串联开关；</a:t>
            </a:r>
          </a:p>
        </p:txBody>
      </p:sp>
      <p:pic>
        <p:nvPicPr>
          <p:cNvPr id="4" name="图片 3">
            <a:extLst>
              <a:ext uri="{FF2B5EF4-FFF2-40B4-BE49-F238E27FC236}">
                <a16:creationId xmlns:a16="http://schemas.microsoft.com/office/drawing/2014/main" id="{E390BD59-1ECA-48CD-9866-A20BD5FBA593}"/>
              </a:ext>
            </a:extLst>
          </p:cNvPr>
          <p:cNvPicPr>
            <a:picLocks noChangeAspect="1"/>
          </p:cNvPicPr>
          <p:nvPr/>
        </p:nvPicPr>
        <p:blipFill>
          <a:blip r:embed="rId3"/>
          <a:stretch>
            <a:fillRect/>
          </a:stretch>
        </p:blipFill>
        <p:spPr>
          <a:xfrm>
            <a:off x="2051720" y="2204864"/>
            <a:ext cx="4648200" cy="4362450"/>
          </a:xfrm>
          <a:prstGeom prst="rect">
            <a:avLst/>
          </a:prstGeom>
        </p:spPr>
      </p:pic>
    </p:spTree>
    <p:extLst>
      <p:ext uri="{BB962C8B-B14F-4D97-AF65-F5344CB8AC3E}">
        <p14:creationId xmlns:p14="http://schemas.microsoft.com/office/powerpoint/2010/main" val="771385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67544" y="0"/>
            <a:ext cx="8003232" cy="576064"/>
          </a:xfrm>
        </p:spPr>
        <p:txBody>
          <a:bodyPr/>
          <a:lstStyle/>
          <a:p>
            <a:r>
              <a:rPr lang="en-US" altLang="zh-CN" sz="3200" dirty="0"/>
              <a:t>9.2</a:t>
            </a:r>
            <a:r>
              <a:rPr lang="zh-CN" altLang="en-US" sz="3200" dirty="0"/>
              <a:t>如何提高能量效率</a:t>
            </a:r>
          </a:p>
        </p:txBody>
      </p:sp>
      <p:sp>
        <p:nvSpPr>
          <p:cNvPr id="3" name="矩形 2">
            <a:extLst>
              <a:ext uri="{FF2B5EF4-FFF2-40B4-BE49-F238E27FC236}">
                <a16:creationId xmlns:a16="http://schemas.microsoft.com/office/drawing/2014/main" id="{EF62B4A8-DB90-43DC-9872-202DF9DDB5B0}"/>
              </a:ext>
            </a:extLst>
          </p:cNvPr>
          <p:cNvSpPr/>
          <p:nvPr/>
        </p:nvSpPr>
        <p:spPr>
          <a:xfrm>
            <a:off x="107504" y="548680"/>
            <a:ext cx="8928992" cy="1384995"/>
          </a:xfrm>
          <a:prstGeom prst="rect">
            <a:avLst/>
          </a:prstGeom>
        </p:spPr>
        <p:txBody>
          <a:bodyPr wrap="square">
            <a:spAutoFit/>
          </a:bodyPr>
          <a:lstStyle/>
          <a:p>
            <a:r>
              <a:rPr lang="en-US" altLang="zh-CN" sz="2400" dirty="0"/>
              <a:t>9.2.3</a:t>
            </a:r>
            <a:r>
              <a:rPr lang="zh-CN" altLang="en-US" sz="2400" dirty="0"/>
              <a:t>如何降低漏电流</a:t>
            </a:r>
            <a:endParaRPr lang="en-US" altLang="zh-CN" sz="2400" dirty="0"/>
          </a:p>
          <a:p>
            <a:pPr marL="342900" indent="-342900">
              <a:buFont typeface="Wingdings" panose="05000000000000000000" pitchFamily="2" charset="2"/>
              <a:buChar char="Ø"/>
            </a:pPr>
            <a:r>
              <a:rPr lang="zh-CN" altLang="en-US" sz="2000" dirty="0"/>
              <a:t>虚拟电源</a:t>
            </a:r>
            <a:r>
              <a:rPr lang="en-US" altLang="zh-CN" sz="2000" dirty="0"/>
              <a:t>/</a:t>
            </a:r>
            <a:r>
              <a:rPr lang="zh-CN" altLang="en-US" sz="2000" dirty="0"/>
              <a:t>地幅度钳位 </a:t>
            </a:r>
            <a:r>
              <a:rPr lang="en-US" altLang="zh-CN" sz="2000" dirty="0"/>
              <a:t>&amp;&amp; </a:t>
            </a:r>
            <a:r>
              <a:rPr lang="zh-CN" altLang="en-US" sz="2000" dirty="0"/>
              <a:t>自反偏</a:t>
            </a:r>
            <a:endParaRPr lang="en-US" altLang="zh-CN" sz="2000" dirty="0"/>
          </a:p>
          <a:p>
            <a:r>
              <a:rPr lang="zh-CN" altLang="en-US" sz="2000" dirty="0"/>
              <a:t>结合了动态背偏与截止晶体管技术，通过两个二极管与睡眠晶体管并联，在睡眠模式下电路仍然保持上电状态。</a:t>
            </a:r>
          </a:p>
        </p:txBody>
      </p:sp>
      <p:pic>
        <p:nvPicPr>
          <p:cNvPr id="5" name="图片 4">
            <a:extLst>
              <a:ext uri="{FF2B5EF4-FFF2-40B4-BE49-F238E27FC236}">
                <a16:creationId xmlns:a16="http://schemas.microsoft.com/office/drawing/2014/main" id="{89EE72D7-93B7-44AC-B039-8B167BCFA0B6}"/>
              </a:ext>
            </a:extLst>
          </p:cNvPr>
          <p:cNvPicPr>
            <a:picLocks noChangeAspect="1"/>
          </p:cNvPicPr>
          <p:nvPr/>
        </p:nvPicPr>
        <p:blipFill>
          <a:blip r:embed="rId3"/>
          <a:stretch>
            <a:fillRect/>
          </a:stretch>
        </p:blipFill>
        <p:spPr>
          <a:xfrm>
            <a:off x="2201456" y="1844824"/>
            <a:ext cx="6816768" cy="4879900"/>
          </a:xfrm>
          <a:prstGeom prst="rect">
            <a:avLst/>
          </a:prstGeom>
        </p:spPr>
      </p:pic>
    </p:spTree>
    <p:extLst>
      <p:ext uri="{BB962C8B-B14F-4D97-AF65-F5344CB8AC3E}">
        <p14:creationId xmlns:p14="http://schemas.microsoft.com/office/powerpoint/2010/main" val="1629127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67544" y="0"/>
            <a:ext cx="8003232" cy="576064"/>
          </a:xfrm>
        </p:spPr>
        <p:txBody>
          <a:bodyPr/>
          <a:lstStyle/>
          <a:p>
            <a:r>
              <a:rPr lang="en-US" altLang="zh-CN" sz="3200" dirty="0"/>
              <a:t>9.3</a:t>
            </a:r>
            <a:r>
              <a:rPr lang="zh-CN" altLang="en-US" sz="3200" dirty="0"/>
              <a:t>热传导与热量排除</a:t>
            </a:r>
          </a:p>
        </p:txBody>
      </p:sp>
      <p:sp>
        <p:nvSpPr>
          <p:cNvPr id="3" name="矩形 2">
            <a:extLst>
              <a:ext uri="{FF2B5EF4-FFF2-40B4-BE49-F238E27FC236}">
                <a16:creationId xmlns:a16="http://schemas.microsoft.com/office/drawing/2014/main" id="{EF62B4A8-DB90-43DC-9872-202DF9DDB5B0}"/>
              </a:ext>
            </a:extLst>
          </p:cNvPr>
          <p:cNvSpPr/>
          <p:nvPr/>
        </p:nvSpPr>
        <p:spPr>
          <a:xfrm>
            <a:off x="107504" y="548680"/>
            <a:ext cx="8928992" cy="3785652"/>
          </a:xfrm>
          <a:prstGeom prst="rect">
            <a:avLst/>
          </a:prstGeom>
        </p:spPr>
        <p:txBody>
          <a:bodyPr wrap="square">
            <a:spAutoFit/>
          </a:bodyPr>
          <a:lstStyle/>
          <a:p>
            <a:pPr marL="342900" indent="-342900">
              <a:buFont typeface="Wingdings" panose="05000000000000000000" pitchFamily="2" charset="2"/>
              <a:buChar char="Ø"/>
            </a:pPr>
            <a:r>
              <a:rPr lang="en-US" altLang="zh-CN" sz="2400" dirty="0"/>
              <a:t>P</a:t>
            </a:r>
            <a:r>
              <a:rPr lang="zh-CN" altLang="en-US" sz="2400" dirty="0"/>
              <a:t>代表芯片散发的热流，也称为热量设计功耗</a:t>
            </a:r>
            <a:r>
              <a:rPr lang="en-US" altLang="zh-CN" sz="2400" dirty="0"/>
              <a:t>(Thermal Design Power</a:t>
            </a:r>
            <a:r>
              <a:rPr lang="zh-CN" altLang="en-US" sz="2400" dirty="0"/>
              <a:t>，</a:t>
            </a:r>
            <a:r>
              <a:rPr lang="en-US" altLang="zh-CN" sz="2400" dirty="0"/>
              <a:t>TDP)</a:t>
            </a:r>
            <a:r>
              <a:rPr lang="zh-CN" altLang="en-US" sz="2400" dirty="0"/>
              <a:t>，关注芯片能忍受的最大持续功耗</a:t>
            </a:r>
          </a:p>
          <a:p>
            <a:pPr marL="342900" indent="-342900">
              <a:buFont typeface="Wingdings" panose="05000000000000000000" pitchFamily="2" charset="2"/>
              <a:buChar char="Ø"/>
            </a:pPr>
            <a:r>
              <a:rPr lang="zh-CN" altLang="en-US" sz="2400" dirty="0"/>
              <a:t>出于电路寿命与可靠性的目的，</a:t>
            </a:r>
            <a:r>
              <a:rPr lang="en-US" altLang="zh-CN" sz="2400" dirty="0"/>
              <a:t> VLSI </a:t>
            </a:r>
            <a:r>
              <a:rPr lang="zh-CN" altLang="en-US" sz="2400" dirty="0"/>
              <a:t>芯片结点温度</a:t>
            </a:r>
            <a:r>
              <a:rPr lang="en-US" altLang="zh-CN" sz="2400" dirty="0" err="1"/>
              <a:t>θ</a:t>
            </a:r>
            <a:r>
              <a:rPr lang="en-US" altLang="zh-CN" sz="2400" baseline="-25000" dirty="0" err="1"/>
              <a:t>i</a:t>
            </a:r>
            <a:r>
              <a:rPr lang="zh-CN" altLang="en-US" sz="2400" dirty="0"/>
              <a:t>一定不能超过</a:t>
            </a:r>
            <a:r>
              <a:rPr lang="en-US" altLang="zh-CN" sz="2400" dirty="0"/>
              <a:t>85-125 ℃</a:t>
            </a:r>
            <a:r>
              <a:rPr lang="zh-CN" altLang="en-US" sz="2400" dirty="0"/>
              <a:t>范围内。</a:t>
            </a:r>
            <a:r>
              <a:rPr lang="en-US" altLang="zh-CN" sz="2400" dirty="0"/>
              <a:t>CMOS </a:t>
            </a:r>
            <a:r>
              <a:rPr lang="zh-CN" altLang="en-US" sz="2400" dirty="0"/>
              <a:t>电路的运行速度随温度升高而降低，而漏电流则随之成倍增加；</a:t>
            </a:r>
          </a:p>
          <a:p>
            <a:pPr marL="342900" indent="-342900">
              <a:buFont typeface="Wingdings" panose="05000000000000000000" pitchFamily="2" charset="2"/>
              <a:buChar char="Ø"/>
            </a:pPr>
            <a:r>
              <a:rPr lang="zh-CN" altLang="en-US" sz="2400" dirty="0"/>
              <a:t>在</a:t>
            </a:r>
            <a:r>
              <a:rPr lang="en-US" altLang="zh-CN" sz="2400" dirty="0" err="1"/>
              <a:t>θ</a:t>
            </a:r>
            <a:r>
              <a:rPr lang="en-US" altLang="zh-CN" sz="2400" baseline="-25000" dirty="0" err="1"/>
              <a:t>j</a:t>
            </a:r>
            <a:r>
              <a:rPr lang="zh-CN" altLang="en-US" sz="2400" dirty="0"/>
              <a:t>固定的情况下，热量设计功耗 </a:t>
            </a:r>
            <a:r>
              <a:rPr lang="en-US" altLang="zh-CN" sz="2400" dirty="0"/>
              <a:t>P</a:t>
            </a:r>
            <a:r>
              <a:rPr lang="zh-CN" altLang="en-US" sz="2400" dirty="0"/>
              <a:t>的上限由总热阻 </a:t>
            </a:r>
            <a:r>
              <a:rPr lang="en-US" altLang="zh-CN" sz="2400" dirty="0" err="1"/>
              <a:t>R</a:t>
            </a:r>
            <a:r>
              <a:rPr lang="en-US" altLang="zh-CN" sz="2400" baseline="-25000" dirty="0" err="1"/>
              <a:t>θ</a:t>
            </a:r>
            <a:r>
              <a:rPr lang="en-US" altLang="zh-CN" sz="2400" baseline="-25000" dirty="0"/>
              <a:t> ja</a:t>
            </a:r>
            <a:r>
              <a:rPr lang="zh-CN" altLang="en-US" sz="2400" dirty="0"/>
              <a:t>与最高环境温度</a:t>
            </a:r>
            <a:r>
              <a:rPr lang="en-US" altLang="zh-CN" sz="2400" dirty="0" err="1"/>
              <a:t>θ</a:t>
            </a:r>
            <a:r>
              <a:rPr lang="en-US" altLang="zh-CN" sz="2400" baseline="-25000" dirty="0" err="1"/>
              <a:t>a</a:t>
            </a:r>
            <a:r>
              <a:rPr lang="en-US" altLang="zh-CN" sz="2400" dirty="0"/>
              <a:t> </a:t>
            </a:r>
            <a:r>
              <a:rPr lang="zh-CN" altLang="en-US" sz="2400" dirty="0"/>
              <a:t>决定。如果给定</a:t>
            </a:r>
            <a:r>
              <a:rPr lang="en-US" altLang="zh-CN" sz="2400" dirty="0"/>
              <a:t>P</a:t>
            </a:r>
            <a:r>
              <a:rPr lang="zh-CN" altLang="en-US" sz="2400" dirty="0"/>
              <a:t>，设计者必须提供一条满足下面公式的热传导路径</a:t>
            </a:r>
            <a:r>
              <a:rPr lang="en-US" altLang="zh-CN" sz="2400" dirty="0"/>
              <a:t>:</a:t>
            </a:r>
            <a:r>
              <a:rPr lang="en-US" altLang="zh-CN" sz="2400" dirty="0" err="1"/>
              <a:t>R</a:t>
            </a:r>
            <a:r>
              <a:rPr lang="en-US" altLang="zh-CN" sz="2400" baseline="-25000" dirty="0" err="1"/>
              <a:t>θ</a:t>
            </a:r>
            <a:r>
              <a:rPr lang="en-US" altLang="zh-CN" sz="2400" baseline="-25000" dirty="0"/>
              <a:t> </a:t>
            </a:r>
            <a:r>
              <a:rPr lang="en-US" altLang="zh-CN" sz="2400" baseline="-25000" dirty="0" err="1"/>
              <a:t>jc</a:t>
            </a:r>
            <a:r>
              <a:rPr lang="en-US" altLang="zh-CN" sz="2400" dirty="0"/>
              <a:t>+ </a:t>
            </a:r>
            <a:r>
              <a:rPr lang="en-US" altLang="zh-CN" sz="2400" dirty="0" err="1"/>
              <a:t>R</a:t>
            </a:r>
            <a:r>
              <a:rPr lang="en-US" altLang="zh-CN" sz="2400" baseline="-25000" dirty="0" err="1"/>
              <a:t>θ</a:t>
            </a:r>
            <a:r>
              <a:rPr lang="en-US" altLang="zh-CN" sz="2400" baseline="-25000" dirty="0"/>
              <a:t> ca </a:t>
            </a:r>
            <a:r>
              <a:rPr lang="en-US" altLang="zh-CN" sz="2400" dirty="0"/>
              <a:t>= </a:t>
            </a:r>
            <a:r>
              <a:rPr lang="en-US" altLang="zh-CN" sz="2400" dirty="0" err="1"/>
              <a:t>R</a:t>
            </a:r>
            <a:r>
              <a:rPr lang="en-US" altLang="zh-CN" sz="2400" baseline="-25000" dirty="0" err="1"/>
              <a:t>θ</a:t>
            </a:r>
            <a:r>
              <a:rPr lang="en-US" altLang="zh-CN" sz="2400" baseline="-25000" dirty="0"/>
              <a:t> ja </a:t>
            </a:r>
            <a:r>
              <a:rPr lang="en-US" altLang="zh-CN" sz="2400" dirty="0"/>
              <a:t>≤ </a:t>
            </a:r>
            <a:r>
              <a:rPr lang="zh-CN" altLang="en-US" sz="2400" dirty="0"/>
              <a:t>（</a:t>
            </a:r>
            <a:r>
              <a:rPr lang="en-US" altLang="zh-CN" sz="2400" dirty="0"/>
              <a:t> </a:t>
            </a:r>
            <a:r>
              <a:rPr lang="en-US" altLang="zh-CN" sz="2400" dirty="0" err="1"/>
              <a:t>θ</a:t>
            </a:r>
            <a:r>
              <a:rPr lang="en-US" altLang="zh-CN" sz="2400" baseline="-25000" dirty="0" err="1"/>
              <a:t>i</a:t>
            </a:r>
            <a:r>
              <a:rPr lang="en-US" altLang="zh-CN" sz="2400" baseline="-25000" dirty="0"/>
              <a:t> </a:t>
            </a:r>
            <a:r>
              <a:rPr lang="en-US" altLang="zh-CN" sz="2400" dirty="0"/>
              <a:t>- </a:t>
            </a:r>
            <a:r>
              <a:rPr lang="en-US" altLang="zh-CN" sz="2400" dirty="0" err="1"/>
              <a:t>θ</a:t>
            </a:r>
            <a:r>
              <a:rPr lang="en-US" altLang="zh-CN" sz="2400" baseline="-25000" dirty="0" err="1"/>
              <a:t>a</a:t>
            </a:r>
            <a:r>
              <a:rPr lang="en-US" altLang="zh-CN" sz="2400" baseline="-25000" dirty="0"/>
              <a:t> </a:t>
            </a:r>
            <a:r>
              <a:rPr lang="zh-CN" altLang="en-US" sz="2400" dirty="0"/>
              <a:t>）</a:t>
            </a:r>
            <a:r>
              <a:rPr lang="en-US" altLang="zh-CN" sz="2400" dirty="0"/>
              <a:t>/P</a:t>
            </a:r>
          </a:p>
          <a:p>
            <a:pPr marL="342900" indent="-342900">
              <a:buFont typeface="Wingdings" panose="05000000000000000000" pitchFamily="2" charset="2"/>
              <a:buChar char="Ø"/>
            </a:pPr>
            <a:r>
              <a:rPr lang="zh-CN" altLang="en-US" sz="2400" dirty="0"/>
              <a:t>热从高温区域向低温区域流动。参与热量传输的方式有传导、 对流和辐射。</a:t>
            </a:r>
          </a:p>
        </p:txBody>
      </p:sp>
      <p:pic>
        <p:nvPicPr>
          <p:cNvPr id="4" name="图片 3">
            <a:extLst>
              <a:ext uri="{FF2B5EF4-FFF2-40B4-BE49-F238E27FC236}">
                <a16:creationId xmlns:a16="http://schemas.microsoft.com/office/drawing/2014/main" id="{EF3001AD-70A4-4F93-9CDD-4C061CC0DFF5}"/>
              </a:ext>
            </a:extLst>
          </p:cNvPr>
          <p:cNvPicPr>
            <a:picLocks noChangeAspect="1"/>
          </p:cNvPicPr>
          <p:nvPr/>
        </p:nvPicPr>
        <p:blipFill>
          <a:blip r:embed="rId3"/>
          <a:stretch>
            <a:fillRect/>
          </a:stretch>
        </p:blipFill>
        <p:spPr>
          <a:xfrm>
            <a:off x="1835696" y="4437112"/>
            <a:ext cx="6076950" cy="2076450"/>
          </a:xfrm>
          <a:prstGeom prst="rect">
            <a:avLst/>
          </a:prstGeom>
        </p:spPr>
      </p:pic>
    </p:spTree>
    <p:extLst>
      <p:ext uri="{BB962C8B-B14F-4D97-AF65-F5344CB8AC3E}">
        <p14:creationId xmlns:p14="http://schemas.microsoft.com/office/powerpoint/2010/main" val="61580414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9983</TotalTime>
  <Words>3116</Words>
  <Application>Microsoft Office PowerPoint</Application>
  <PresentationFormat>全屏显示(4:3)</PresentationFormat>
  <Paragraphs>259</Paragraphs>
  <Slides>27</Slides>
  <Notes>26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仿宋_GB2312</vt:lpstr>
      <vt:lpstr>宋体</vt:lpstr>
      <vt:lpstr>Arial</vt:lpstr>
      <vt:lpstr>Calibri</vt:lpstr>
      <vt:lpstr>Verdana</vt:lpstr>
      <vt:lpstr>Wingdings</vt:lpstr>
      <vt:lpstr>Office 主题​​</vt:lpstr>
      <vt:lpstr>PowerPoint 演示文稿</vt:lpstr>
      <vt:lpstr>9.1 CMOS电路中能量消耗在何处</vt:lpstr>
      <vt:lpstr>9.1 CMOS电路中能量消耗在何处</vt:lpstr>
      <vt:lpstr>9.1 CMOS电路中能量消耗在何处</vt:lpstr>
      <vt:lpstr>9.1 CMOS电路中能量消耗在何处</vt:lpstr>
      <vt:lpstr>9.1 CMOS电路中能量消耗在何处</vt:lpstr>
      <vt:lpstr>9.1 CMOS电路中能量消耗在何处</vt:lpstr>
      <vt:lpstr>9.1 CMOS电路中能量消耗在何处</vt:lpstr>
      <vt:lpstr>9.1 CMOS电路中能量消耗在何处</vt:lpstr>
      <vt:lpstr>9.1 CMOS电路中能量消耗在何处</vt:lpstr>
      <vt:lpstr>9.1 CMOS电路中能量消耗在何处</vt:lpstr>
      <vt:lpstr>9.1 CMOS电路中能量消耗在何处</vt:lpstr>
      <vt:lpstr>9.2如何提高能量效率</vt:lpstr>
      <vt:lpstr>9.2如何提高能量效率</vt:lpstr>
      <vt:lpstr>9.2如何提高能量效率</vt:lpstr>
      <vt:lpstr>9.2如何提高能量效率</vt:lpstr>
      <vt:lpstr>9.2如何提高能量效率</vt:lpstr>
      <vt:lpstr>9.2如何提高能量效率</vt:lpstr>
      <vt:lpstr>9.2如何提高能量效率</vt:lpstr>
      <vt:lpstr>9.2如何提高能量效率</vt:lpstr>
      <vt:lpstr>9.2如何提高能量效率</vt:lpstr>
      <vt:lpstr>9.2如何提高能量效率</vt:lpstr>
      <vt:lpstr>9.2如何提高能量效率</vt:lpstr>
      <vt:lpstr>9.2如何提高能量效率</vt:lpstr>
      <vt:lpstr>9.2如何提高能量效率</vt:lpstr>
      <vt:lpstr>9.2如何提高能量效率</vt:lpstr>
      <vt:lpstr>9.3热传导与热量排除</vt:lpstr>
    </vt:vector>
  </TitlesOfParts>
  <Company>tj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national</dc:creator>
  <cp:lastModifiedBy>z</cp:lastModifiedBy>
  <cp:revision>840</cp:revision>
  <dcterms:created xsi:type="dcterms:W3CDTF">2007-07-19T09:42:33Z</dcterms:created>
  <dcterms:modified xsi:type="dcterms:W3CDTF">2021-06-10T10:40:47Z</dcterms:modified>
</cp:coreProperties>
</file>