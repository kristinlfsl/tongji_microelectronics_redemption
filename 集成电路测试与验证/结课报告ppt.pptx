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Lst>
  <p:notesMasterIdLst>
    <p:notesMasterId r:id="rId20"/>
  </p:notesMasterIdLst>
  <p:handoutMasterIdLst>
    <p:handoutMasterId r:id="rId21"/>
  </p:handoutMasterIdLst>
  <p:sldIdLst>
    <p:sldId id="1232" r:id="rId2"/>
    <p:sldId id="1255" r:id="rId3"/>
    <p:sldId id="1257" r:id="rId4"/>
    <p:sldId id="1258" r:id="rId5"/>
    <p:sldId id="1259" r:id="rId6"/>
    <p:sldId id="1260" r:id="rId7"/>
    <p:sldId id="1261" r:id="rId8"/>
    <p:sldId id="1262" r:id="rId9"/>
    <p:sldId id="1263" r:id="rId10"/>
    <p:sldId id="1264" r:id="rId11"/>
    <p:sldId id="1265" r:id="rId12"/>
    <p:sldId id="1266" r:id="rId13"/>
    <p:sldId id="1267" r:id="rId14"/>
    <p:sldId id="1268" r:id="rId15"/>
    <p:sldId id="1269" r:id="rId16"/>
    <p:sldId id="1270" r:id="rId17"/>
    <p:sldId id="1271" r:id="rId18"/>
    <p:sldId id="1272" r:id="rId1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arry" initials="L" lastIdx="1" clrIdx="0">
    <p:extLst>
      <p:ext uri="{19B8F6BF-5375-455C-9EA6-DF929625EA0E}">
        <p15:presenceInfo xmlns:p15="http://schemas.microsoft.com/office/powerpoint/2012/main" userId="Larry"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895" autoAdjust="0"/>
    <p:restoredTop sz="90114" autoAdjust="0"/>
  </p:normalViewPr>
  <p:slideViewPr>
    <p:cSldViewPr snapToGrid="0">
      <p:cViewPr varScale="1">
        <p:scale>
          <a:sx n="73" d="100"/>
          <a:sy n="73" d="100"/>
        </p:scale>
        <p:origin x="542" y="67"/>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273CF0A4-E610-495A-919B-CA480C71DED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A700D9AB-51EC-4401-AC4D-6157E0C7595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A8BE80A-4039-40DC-A2BA-410E82E5F961}" type="datetimeFigureOut">
              <a:rPr lang="zh-CN" altLang="en-US" smtClean="0"/>
              <a:t>2024/12/29</a:t>
            </a:fld>
            <a:endParaRPr lang="zh-CN" altLang="en-US"/>
          </a:p>
        </p:txBody>
      </p:sp>
      <p:sp>
        <p:nvSpPr>
          <p:cNvPr id="4" name="页脚占位符 3">
            <a:extLst>
              <a:ext uri="{FF2B5EF4-FFF2-40B4-BE49-F238E27FC236}">
                <a16:creationId xmlns:a16="http://schemas.microsoft.com/office/drawing/2014/main" id="{C022726D-C38F-45D2-9673-CCF05BC1E45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AF10E6D5-A087-490B-BC7C-33021FE63DE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A38A59E-43ED-4AA1-B0F5-93878C5DD5EC}" type="slidenum">
              <a:rPr lang="zh-CN" altLang="en-US" smtClean="0"/>
              <a:t>‹#›</a:t>
            </a:fld>
            <a:endParaRPr lang="zh-CN" altLang="en-US"/>
          </a:p>
        </p:txBody>
      </p:sp>
    </p:spTree>
    <p:extLst>
      <p:ext uri="{BB962C8B-B14F-4D97-AF65-F5344CB8AC3E}">
        <p14:creationId xmlns:p14="http://schemas.microsoft.com/office/powerpoint/2010/main" val="409381615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F4E512-F0DE-40DA-A281-500184A3244D}" type="datetimeFigureOut">
              <a:rPr lang="zh-CN" altLang="en-US" smtClean="0"/>
              <a:t>2024/12/29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490452-1689-4497-A9A0-B842EEA687A2}" type="slidenum">
              <a:rPr lang="zh-CN" altLang="en-US" smtClean="0"/>
              <a:t>‹#›</a:t>
            </a:fld>
            <a:endParaRPr lang="zh-CN" altLang="en-US"/>
          </a:p>
        </p:txBody>
      </p:sp>
    </p:spTree>
    <p:extLst>
      <p:ext uri="{BB962C8B-B14F-4D97-AF65-F5344CB8AC3E}">
        <p14:creationId xmlns:p14="http://schemas.microsoft.com/office/powerpoint/2010/main" val="2462755240"/>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4490452-1689-4497-A9A0-B842EEA687A2}" type="slidenum">
              <a:rPr lang="zh-CN" altLang="en-US" smtClean="0"/>
              <a:t>16</a:t>
            </a:fld>
            <a:endParaRPr lang="zh-CN" altLang="en-US"/>
          </a:p>
        </p:txBody>
      </p:sp>
    </p:spTree>
    <p:extLst>
      <p:ext uri="{BB962C8B-B14F-4D97-AF65-F5344CB8AC3E}">
        <p14:creationId xmlns:p14="http://schemas.microsoft.com/office/powerpoint/2010/main" val="21269019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7E115B22-8194-4FC8-9614-86C592EEABA0}" type="slidenum">
              <a:rPr lang="en-US" altLang="zh-CN"/>
              <a:pPr>
                <a:defRPr/>
              </a:pPr>
              <a:t>‹#›</a:t>
            </a:fld>
            <a:endParaRPr lang="en-US" altLang="zh-CN"/>
          </a:p>
        </p:txBody>
      </p:sp>
    </p:spTree>
    <p:extLst>
      <p:ext uri="{BB962C8B-B14F-4D97-AF65-F5344CB8AC3E}">
        <p14:creationId xmlns:p14="http://schemas.microsoft.com/office/powerpoint/2010/main" val="41464608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DB5F2CA6-A39B-48F7-84D1-AF91BD07D67D}" type="slidenum">
              <a:rPr lang="en-US" altLang="zh-CN"/>
              <a:pPr>
                <a:defRPr/>
              </a:pPr>
              <a:t>‹#›</a:t>
            </a:fld>
            <a:endParaRPr lang="en-US" altLang="zh-CN"/>
          </a:p>
        </p:txBody>
      </p:sp>
    </p:spTree>
    <p:extLst>
      <p:ext uri="{BB962C8B-B14F-4D97-AF65-F5344CB8AC3E}">
        <p14:creationId xmlns:p14="http://schemas.microsoft.com/office/powerpoint/2010/main" val="1418223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4AC41597-7941-4461-A03D-7D307C3317F5}" type="slidenum">
              <a:rPr lang="en-US" altLang="zh-CN"/>
              <a:pPr>
                <a:defRPr/>
              </a:pPr>
              <a:t>‹#›</a:t>
            </a:fld>
            <a:endParaRPr lang="en-US" altLang="zh-CN"/>
          </a:p>
        </p:txBody>
      </p:sp>
    </p:spTree>
    <p:extLst>
      <p:ext uri="{BB962C8B-B14F-4D97-AF65-F5344CB8AC3E}">
        <p14:creationId xmlns:p14="http://schemas.microsoft.com/office/powerpoint/2010/main" val="19673305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9144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6E7E5104-8735-46A8-9820-8BD5C44B645E}" type="slidenum">
              <a:rPr lang="en-US" altLang="zh-CN"/>
              <a:pPr>
                <a:defRPr/>
              </a:pPr>
              <a:t>‹#›</a:t>
            </a:fld>
            <a:endParaRPr lang="en-US" altLang="zh-CN"/>
          </a:p>
        </p:txBody>
      </p:sp>
    </p:spTree>
    <p:extLst>
      <p:ext uri="{BB962C8B-B14F-4D97-AF65-F5344CB8AC3E}">
        <p14:creationId xmlns:p14="http://schemas.microsoft.com/office/powerpoint/2010/main" val="10990389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C8BB04D0-EC69-4E34-9026-1132273F6FE6}" type="slidenum">
              <a:rPr lang="en-US" altLang="zh-CN"/>
              <a:pPr>
                <a:defRPr/>
              </a:pPr>
              <a:t>‹#›</a:t>
            </a:fld>
            <a:endParaRPr lang="en-US" altLang="zh-CN"/>
          </a:p>
        </p:txBody>
      </p:sp>
    </p:spTree>
    <p:extLst>
      <p:ext uri="{BB962C8B-B14F-4D97-AF65-F5344CB8AC3E}">
        <p14:creationId xmlns:p14="http://schemas.microsoft.com/office/powerpoint/2010/main" val="29597739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7F34D7FE-E00D-4DCA-A0A7-A306174DC0C2}" type="slidenum">
              <a:rPr lang="en-US" altLang="zh-CN"/>
              <a:pPr>
                <a:defRPr/>
              </a:pPr>
              <a:t>‹#›</a:t>
            </a:fld>
            <a:endParaRPr lang="en-US" altLang="zh-CN"/>
          </a:p>
        </p:txBody>
      </p:sp>
    </p:spTree>
    <p:extLst>
      <p:ext uri="{BB962C8B-B14F-4D97-AF65-F5344CB8AC3E}">
        <p14:creationId xmlns:p14="http://schemas.microsoft.com/office/powerpoint/2010/main" val="8738344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DFE46EFE-F103-4F45-8883-0DE6C66B1B8E}" type="slidenum">
              <a:rPr lang="en-US" altLang="zh-CN"/>
              <a:pPr>
                <a:defRPr/>
              </a:pPr>
              <a:t>‹#›</a:t>
            </a:fld>
            <a:endParaRPr lang="en-US" altLang="zh-CN"/>
          </a:p>
        </p:txBody>
      </p:sp>
    </p:spTree>
    <p:extLst>
      <p:ext uri="{BB962C8B-B14F-4D97-AF65-F5344CB8AC3E}">
        <p14:creationId xmlns:p14="http://schemas.microsoft.com/office/powerpoint/2010/main" val="14685836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0675AF18-52E2-4048-A908-642605843CBF}" type="slidenum">
              <a:rPr lang="en-US" altLang="zh-CN"/>
              <a:pPr>
                <a:defRPr/>
              </a:pPr>
              <a:t>‹#›</a:t>
            </a:fld>
            <a:endParaRPr lang="en-US" altLang="zh-CN"/>
          </a:p>
        </p:txBody>
      </p:sp>
    </p:spTree>
    <p:extLst>
      <p:ext uri="{BB962C8B-B14F-4D97-AF65-F5344CB8AC3E}">
        <p14:creationId xmlns:p14="http://schemas.microsoft.com/office/powerpoint/2010/main" val="28511566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472A61F9-4BE0-4887-A67C-4D288CA56997}" type="slidenum">
              <a:rPr lang="en-US" altLang="zh-CN"/>
              <a:pPr>
                <a:defRPr/>
              </a:pPr>
              <a:t>‹#›</a:t>
            </a:fld>
            <a:endParaRPr lang="en-US" altLang="zh-CN"/>
          </a:p>
        </p:txBody>
      </p:sp>
    </p:spTree>
    <p:extLst>
      <p:ext uri="{BB962C8B-B14F-4D97-AF65-F5344CB8AC3E}">
        <p14:creationId xmlns:p14="http://schemas.microsoft.com/office/powerpoint/2010/main" val="7027319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437B2B09-852B-4EAA-A08A-0953A9F63347}" type="slidenum">
              <a:rPr lang="en-US" altLang="zh-CN"/>
              <a:pPr>
                <a:defRPr/>
              </a:pPr>
              <a:t>‹#›</a:t>
            </a:fld>
            <a:endParaRPr lang="en-US" altLang="zh-CN"/>
          </a:p>
        </p:txBody>
      </p:sp>
    </p:spTree>
    <p:extLst>
      <p:ext uri="{BB962C8B-B14F-4D97-AF65-F5344CB8AC3E}">
        <p14:creationId xmlns:p14="http://schemas.microsoft.com/office/powerpoint/2010/main" val="13547755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686800" y="609600"/>
            <a:ext cx="25908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914400" y="609600"/>
            <a:ext cx="75692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561CDC42-DFEF-458F-BD1B-2EFAEEF68015}" type="slidenum">
              <a:rPr lang="en-US" altLang="zh-CN"/>
              <a:pPr>
                <a:defRPr/>
              </a:pPr>
              <a:t>‹#›</a:t>
            </a:fld>
            <a:endParaRPr lang="en-US" altLang="zh-CN"/>
          </a:p>
        </p:txBody>
      </p:sp>
    </p:spTree>
    <p:extLst>
      <p:ext uri="{BB962C8B-B14F-4D97-AF65-F5344CB8AC3E}">
        <p14:creationId xmlns:p14="http://schemas.microsoft.com/office/powerpoint/2010/main" val="25000598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914400" y="609600"/>
            <a:ext cx="103632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914400" y="1981200"/>
            <a:ext cx="10363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p:cNvSpPr>
            <a:spLocks noGrp="1" noChangeArrowheads="1"/>
          </p:cNvSpPr>
          <p:nvPr>
            <p:ph type="dt" sz="half" idx="2"/>
          </p:nvPr>
        </p:nvSpPr>
        <p:spPr bwMode="auto">
          <a:xfrm>
            <a:off x="914400" y="6248400"/>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pPr>
              <a:defRPr/>
            </a:pPr>
            <a:endParaRPr lang="en-US" altLang="zh-CN"/>
          </a:p>
        </p:txBody>
      </p:sp>
      <p:sp>
        <p:nvSpPr>
          <p:cNvPr id="1029" name="Rectangle 5"/>
          <p:cNvSpPr>
            <a:spLocks noGrp="1" noChangeArrowheads="1"/>
          </p:cNvSpPr>
          <p:nvPr>
            <p:ph type="ftr" sz="quarter" idx="3"/>
          </p:nvPr>
        </p:nvSpPr>
        <p:spPr bwMode="auto">
          <a:xfrm>
            <a:off x="4165600" y="6248400"/>
            <a:ext cx="3860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pPr>
              <a:defRPr/>
            </a:pPr>
            <a:endParaRPr lang="en-US" altLang="zh-CN"/>
          </a:p>
        </p:txBody>
      </p:sp>
      <p:sp>
        <p:nvSpPr>
          <p:cNvPr id="1030" name="Rectangle 6"/>
          <p:cNvSpPr>
            <a:spLocks noGrp="1" noChangeArrowheads="1"/>
          </p:cNvSpPr>
          <p:nvPr>
            <p:ph type="sldNum" sz="quarter" idx="4"/>
          </p:nvPr>
        </p:nvSpPr>
        <p:spPr bwMode="auto">
          <a:xfrm>
            <a:off x="8737600" y="6248400"/>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pPr>
              <a:defRPr/>
            </a:pPr>
            <a:fld id="{FF534AEE-0681-4001-91D8-DF8F111160F4}" type="slidenum">
              <a:rPr lang="en-US" altLang="zh-CN"/>
              <a:pPr>
                <a:defRPr/>
              </a:pPr>
              <a:t>‹#›</a:t>
            </a:fld>
            <a:endParaRPr lang="en-US" altLang="zh-CN"/>
          </a:p>
        </p:txBody>
      </p:sp>
      <p:pic>
        <p:nvPicPr>
          <p:cNvPr id="7" name="Picture 2">
            <a:extLst>
              <a:ext uri="{FF2B5EF4-FFF2-40B4-BE49-F238E27FC236}">
                <a16:creationId xmlns:a16="http://schemas.microsoft.com/office/drawing/2014/main" id="{D90EEA7F-39F9-4B97-AF58-835331598C9A}"/>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10762268" y="5786"/>
            <a:ext cx="1183064" cy="11830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9806544"/>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Lst>
  <p:hf hdr="0" ftr="0" dt="0"/>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ctr"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ctr"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ctr"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ctr"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9.wmf"/></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8BD095E2-5873-46A8-B8F7-078AF9511F47}"/>
              </a:ext>
            </a:extLst>
          </p:cNvPr>
          <p:cNvSpPr/>
          <p:nvPr/>
        </p:nvSpPr>
        <p:spPr>
          <a:xfrm>
            <a:off x="3695355" y="2454857"/>
            <a:ext cx="4801314" cy="646331"/>
          </a:xfrm>
          <a:prstGeom prst="rect">
            <a:avLst/>
          </a:prstGeom>
          <a:noFill/>
        </p:spPr>
        <p:txBody>
          <a:bodyPr wrap="none" lIns="91440" tIns="45720" rIns="91440" bIns="45720">
            <a:spAutoFit/>
          </a:bodyPr>
          <a:lstStyle/>
          <a:p>
            <a:pPr algn="ctr"/>
            <a:r>
              <a:rPr lang="zh-CN" altLang="en-US" sz="3600" dirty="0">
                <a:ln w="0"/>
                <a:effectLst>
                  <a:outerShdw blurRad="38100" dist="19050" dir="2700000" algn="tl" rotWithShape="0">
                    <a:schemeClr val="dk1">
                      <a:alpha val="40000"/>
                    </a:schemeClr>
                  </a:outerShdw>
                </a:effectLst>
              </a:rPr>
              <a:t>区间法构造最优扫描链</a:t>
            </a:r>
            <a:endParaRPr lang="en-US" altLang="zh-CN" sz="3600" dirty="0">
              <a:ln w="0"/>
              <a:effectLst>
                <a:outerShdw blurRad="38100" dist="19050" dir="2700000" algn="tl" rotWithShape="0">
                  <a:schemeClr val="dk1">
                    <a:alpha val="40000"/>
                  </a:schemeClr>
                </a:outerShdw>
              </a:effectLst>
            </a:endParaRPr>
          </a:p>
        </p:txBody>
      </p:sp>
      <p:sp>
        <p:nvSpPr>
          <p:cNvPr id="5" name="矩形 4">
            <a:extLst>
              <a:ext uri="{FF2B5EF4-FFF2-40B4-BE49-F238E27FC236}">
                <a16:creationId xmlns:a16="http://schemas.microsoft.com/office/drawing/2014/main" id="{E8DA0312-2E5E-4D35-B163-BF59B81B426E}"/>
              </a:ext>
            </a:extLst>
          </p:cNvPr>
          <p:cNvSpPr/>
          <p:nvPr/>
        </p:nvSpPr>
        <p:spPr>
          <a:xfrm>
            <a:off x="4836681" y="4266469"/>
            <a:ext cx="1261884" cy="954107"/>
          </a:xfrm>
          <a:prstGeom prst="rect">
            <a:avLst/>
          </a:prstGeom>
          <a:noFill/>
        </p:spPr>
        <p:txBody>
          <a:bodyPr wrap="none" lIns="91440" tIns="45720" rIns="91440" bIns="45720">
            <a:spAutoFit/>
          </a:bodyPr>
          <a:lstStyle/>
          <a:p>
            <a:r>
              <a:rPr lang="zh-CN" altLang="en-US" sz="2800" b="0" cap="none" spc="0" dirty="0">
                <a:ln w="0"/>
                <a:solidFill>
                  <a:schemeClr val="tx1"/>
                </a:solidFill>
                <a:effectLst>
                  <a:outerShdw blurRad="38100" dist="19050" dir="2700000" algn="tl" rotWithShape="0">
                    <a:schemeClr val="dk1">
                      <a:alpha val="40000"/>
                    </a:schemeClr>
                  </a:outerShdw>
                </a:effectLst>
              </a:rPr>
              <a:t>姓名：</a:t>
            </a:r>
            <a:endParaRPr lang="en-US" altLang="zh-CN" sz="2800" b="0" cap="none" spc="0" dirty="0">
              <a:ln w="0"/>
              <a:solidFill>
                <a:schemeClr val="tx1"/>
              </a:solidFill>
              <a:effectLst>
                <a:outerShdw blurRad="38100" dist="19050" dir="2700000" algn="tl" rotWithShape="0">
                  <a:schemeClr val="dk1">
                    <a:alpha val="40000"/>
                  </a:schemeClr>
                </a:outerShdw>
              </a:effectLst>
            </a:endParaRPr>
          </a:p>
          <a:p>
            <a:r>
              <a:rPr lang="zh-CN" altLang="en-US" sz="2800" dirty="0">
                <a:ln w="0"/>
                <a:effectLst>
                  <a:outerShdw blurRad="38100" dist="19050" dir="2700000" algn="tl" rotWithShape="0">
                    <a:schemeClr val="dk1">
                      <a:alpha val="40000"/>
                    </a:schemeClr>
                  </a:outerShdw>
                </a:effectLst>
              </a:rPr>
              <a:t>学</a:t>
            </a:r>
            <a:r>
              <a:rPr lang="zh-CN" altLang="en-US" sz="2800">
                <a:ln w="0"/>
                <a:effectLst>
                  <a:outerShdw blurRad="38100" dist="19050" dir="2700000" algn="tl" rotWithShape="0">
                    <a:schemeClr val="dk1">
                      <a:alpha val="40000"/>
                    </a:schemeClr>
                  </a:outerShdw>
                </a:effectLst>
              </a:rPr>
              <a:t>号：</a:t>
            </a:r>
            <a:endParaRPr lang="en-US" altLang="zh-CN" sz="2800" dirty="0">
              <a:ln w="0"/>
              <a:effectLst>
                <a:outerShdw blurRad="38100" dist="19050" dir="2700000" algn="tl" rotWithShape="0">
                  <a:schemeClr val="dk1">
                    <a:alpha val="40000"/>
                  </a:schemeClr>
                </a:outerShdw>
              </a:effectLst>
            </a:endParaRPr>
          </a:p>
        </p:txBody>
      </p:sp>
      <p:sp>
        <p:nvSpPr>
          <p:cNvPr id="9" name="灯片编号占位符 8">
            <a:extLst>
              <a:ext uri="{FF2B5EF4-FFF2-40B4-BE49-F238E27FC236}">
                <a16:creationId xmlns:a16="http://schemas.microsoft.com/office/drawing/2014/main" id="{3D31EF5B-60C8-4BAE-BF23-75CAA65BBB11}"/>
              </a:ext>
            </a:extLst>
          </p:cNvPr>
          <p:cNvSpPr>
            <a:spLocks noGrp="1"/>
          </p:cNvSpPr>
          <p:nvPr>
            <p:ph type="sldNum" sz="quarter" idx="12"/>
          </p:nvPr>
        </p:nvSpPr>
        <p:spPr/>
        <p:txBody>
          <a:bodyPr/>
          <a:lstStyle/>
          <a:p>
            <a:pPr>
              <a:defRPr/>
            </a:pPr>
            <a:fld id="{7E115B22-8194-4FC8-9614-86C592EEABA0}" type="slidenum">
              <a:rPr lang="en-US" altLang="zh-CN" smtClean="0"/>
              <a:pPr>
                <a:defRPr/>
              </a:pPr>
              <a:t>1</a:t>
            </a:fld>
            <a:endParaRPr lang="en-US" altLang="zh-CN"/>
          </a:p>
        </p:txBody>
      </p:sp>
    </p:spTree>
    <p:extLst>
      <p:ext uri="{BB962C8B-B14F-4D97-AF65-F5344CB8AC3E}">
        <p14:creationId xmlns:p14="http://schemas.microsoft.com/office/powerpoint/2010/main" val="759894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5E5C88-6781-C388-714F-9B662879FD2E}"/>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7EE54FC3-8E90-B6E7-9E07-E2B02CB0E161}"/>
              </a:ext>
            </a:extLst>
          </p:cNvPr>
          <p:cNvSpPr>
            <a:spLocks noGrp="1"/>
          </p:cNvSpPr>
          <p:nvPr>
            <p:ph type="sldNum" sz="quarter" idx="12"/>
          </p:nvPr>
        </p:nvSpPr>
        <p:spPr/>
        <p:txBody>
          <a:bodyPr/>
          <a:lstStyle/>
          <a:p>
            <a:pPr>
              <a:defRPr/>
            </a:pPr>
            <a:fld id="{DB5F2CA6-A39B-48F7-84D1-AF91BD07D67D}" type="slidenum">
              <a:rPr lang="en-US" altLang="zh-CN" smtClean="0"/>
              <a:pPr>
                <a:defRPr/>
              </a:pPr>
              <a:t>2</a:t>
            </a:fld>
            <a:endParaRPr lang="en-US" altLang="zh-CN"/>
          </a:p>
        </p:txBody>
      </p:sp>
      <p:sp>
        <p:nvSpPr>
          <p:cNvPr id="2" name="矩形 1">
            <a:extLst>
              <a:ext uri="{FF2B5EF4-FFF2-40B4-BE49-F238E27FC236}">
                <a16:creationId xmlns:a16="http://schemas.microsoft.com/office/drawing/2014/main" id="{062F7EDD-6D83-A838-89BD-5B8C60CBC8B0}"/>
              </a:ext>
            </a:extLst>
          </p:cNvPr>
          <p:cNvSpPr/>
          <p:nvPr/>
        </p:nvSpPr>
        <p:spPr>
          <a:xfrm>
            <a:off x="228648" y="497404"/>
            <a:ext cx="1854995" cy="584775"/>
          </a:xfrm>
          <a:prstGeom prst="rect">
            <a:avLst/>
          </a:prstGeom>
          <a:noFill/>
        </p:spPr>
        <p:txBody>
          <a:bodyPr wrap="none" lIns="91440" tIns="45720" rIns="91440" bIns="45720">
            <a:spAutoFit/>
          </a:bodyPr>
          <a:lstStyle/>
          <a:p>
            <a:pPr algn="ctr"/>
            <a:r>
              <a:rPr lang="zh-CN" altLang="en-US" sz="3200" b="0" cap="none" spc="0" dirty="0">
                <a:ln w="0"/>
                <a:solidFill>
                  <a:schemeClr val="accent2"/>
                </a:solidFill>
                <a:effectLst>
                  <a:outerShdw blurRad="38100" dist="19050" dir="2700000" algn="tl" rotWithShape="0">
                    <a:schemeClr val="dk1">
                      <a:alpha val="40000"/>
                    </a:schemeClr>
                  </a:outerShdw>
                </a:effectLst>
              </a:rPr>
              <a:t>扫描设计</a:t>
            </a:r>
          </a:p>
        </p:txBody>
      </p:sp>
      <p:sp>
        <p:nvSpPr>
          <p:cNvPr id="3" name="文本框 2">
            <a:extLst>
              <a:ext uri="{FF2B5EF4-FFF2-40B4-BE49-F238E27FC236}">
                <a16:creationId xmlns:a16="http://schemas.microsoft.com/office/drawing/2014/main" id="{31E18E52-4C0C-7E28-380E-CFCF6764E7C4}"/>
              </a:ext>
            </a:extLst>
          </p:cNvPr>
          <p:cNvSpPr txBox="1"/>
          <p:nvPr/>
        </p:nvSpPr>
        <p:spPr>
          <a:xfrm>
            <a:off x="430924" y="1156138"/>
            <a:ext cx="11014842" cy="4801314"/>
          </a:xfrm>
          <a:prstGeom prst="rect">
            <a:avLst/>
          </a:prstGeom>
          <a:noFill/>
        </p:spPr>
        <p:txBody>
          <a:bodyPr wrap="square" rtlCol="0">
            <a:spAutoFit/>
          </a:bodyPr>
          <a:lstStyle/>
          <a:p>
            <a:pPr algn="just"/>
            <a:r>
              <a:rPr lang="en-US" altLang="zh-CN" dirty="0"/>
              <a:t>    </a:t>
            </a:r>
            <a:r>
              <a:rPr lang="zh-CN" altLang="en-US" dirty="0"/>
              <a:t>全扫描设计可以分为</a:t>
            </a:r>
            <a:r>
              <a:rPr lang="zh-CN" altLang="en-US" dirty="0">
                <a:solidFill>
                  <a:srgbClr val="FF0000"/>
                </a:solidFill>
              </a:rPr>
              <a:t>单时钟扫描</a:t>
            </a:r>
            <a:r>
              <a:rPr lang="zh-CN" altLang="en-US" dirty="0"/>
              <a:t>和电平敏感扫描</a:t>
            </a:r>
            <a:endParaRPr lang="en-US" altLang="zh-CN" dirty="0"/>
          </a:p>
          <a:p>
            <a:pPr algn="just"/>
            <a:r>
              <a:rPr lang="en-US" altLang="zh-CN" dirty="0"/>
              <a:t>    </a:t>
            </a:r>
            <a:r>
              <a:rPr lang="zh-CN" altLang="en-US" dirty="0"/>
              <a:t>单时钟扫描的核心思想是使用单时钟扫描触发器（</a:t>
            </a:r>
            <a:r>
              <a:rPr lang="en-US" altLang="zh-CN" dirty="0"/>
              <a:t>SFF</a:t>
            </a:r>
            <a:r>
              <a:rPr lang="zh-CN" altLang="en-US" dirty="0"/>
              <a:t>）替换电路中的</a:t>
            </a:r>
            <a:r>
              <a:rPr lang="en-US" altLang="zh-CN" dirty="0"/>
              <a:t>D</a:t>
            </a:r>
            <a:r>
              <a:rPr lang="zh-CN" altLang="en-US" dirty="0"/>
              <a:t>触发器</a:t>
            </a:r>
            <a:endParaRPr lang="en-US" altLang="zh-CN" dirty="0"/>
          </a:p>
          <a:p>
            <a:pPr algn="just"/>
            <a:endParaRPr lang="en-US" altLang="zh-CN" dirty="0"/>
          </a:p>
          <a:p>
            <a:pPr algn="just"/>
            <a:endParaRPr lang="en-US" altLang="zh-CN" dirty="0"/>
          </a:p>
          <a:p>
            <a:pPr algn="just"/>
            <a:endParaRPr lang="en-US" altLang="zh-CN" dirty="0"/>
          </a:p>
          <a:p>
            <a:pPr algn="just"/>
            <a:endParaRPr lang="en-US" altLang="zh-CN" dirty="0"/>
          </a:p>
          <a:p>
            <a:pPr algn="just"/>
            <a:endParaRPr lang="en-US" altLang="zh-CN" dirty="0"/>
          </a:p>
          <a:p>
            <a:pPr algn="just"/>
            <a:endParaRPr lang="en-US" altLang="zh-CN" dirty="0"/>
          </a:p>
          <a:p>
            <a:pPr algn="just"/>
            <a:endParaRPr lang="en-US" altLang="zh-CN" dirty="0"/>
          </a:p>
          <a:p>
            <a:pPr algn="just"/>
            <a:endParaRPr lang="en-US" altLang="zh-CN" dirty="0"/>
          </a:p>
          <a:p>
            <a:pPr algn="just"/>
            <a:endParaRPr lang="en-US" altLang="zh-CN" dirty="0"/>
          </a:p>
          <a:p>
            <a:pPr algn="just"/>
            <a:endParaRPr lang="en-US" altLang="zh-CN" dirty="0"/>
          </a:p>
          <a:p>
            <a:pPr algn="just"/>
            <a:endParaRPr lang="en-US" altLang="zh-CN" dirty="0"/>
          </a:p>
          <a:p>
            <a:pPr algn="just"/>
            <a:endParaRPr lang="en-US" altLang="zh-CN" dirty="0"/>
          </a:p>
          <a:p>
            <a:pPr algn="just"/>
            <a:r>
              <a:rPr lang="zh-CN" altLang="en-US" dirty="0"/>
              <a:t>在电路设计完成功能验证后，</a:t>
            </a:r>
            <a:r>
              <a:rPr lang="en-US" altLang="zh-CN" dirty="0"/>
              <a:t>D</a:t>
            </a:r>
            <a:r>
              <a:rPr lang="zh-CN" altLang="en-US" dirty="0"/>
              <a:t>触发器就被替换成扫描触发器（</a:t>
            </a:r>
            <a:r>
              <a:rPr lang="en-US" altLang="zh-CN" dirty="0"/>
              <a:t>SFF</a:t>
            </a:r>
            <a:r>
              <a:rPr lang="zh-CN" altLang="en-US" dirty="0"/>
              <a:t>）。该触发器在</a:t>
            </a:r>
            <a:r>
              <a:rPr lang="en-US" altLang="zh-CN" dirty="0"/>
              <a:t>D</a:t>
            </a:r>
            <a:r>
              <a:rPr lang="zh-CN" altLang="en-US" dirty="0"/>
              <a:t>触发器中加入了一个多路选择器和两个新信号，即扫描数据</a:t>
            </a:r>
            <a:r>
              <a:rPr lang="en-US" altLang="zh-CN" dirty="0"/>
              <a:t>SD</a:t>
            </a:r>
            <a:r>
              <a:rPr lang="zh-CN" altLang="en-US" dirty="0"/>
              <a:t>和测试控制</a:t>
            </a:r>
            <a:r>
              <a:rPr lang="en-US" altLang="zh-CN" dirty="0"/>
              <a:t>TC</a:t>
            </a:r>
            <a:r>
              <a:rPr lang="zh-CN" altLang="en-US" dirty="0"/>
              <a:t>。</a:t>
            </a:r>
            <a:endParaRPr lang="en-US" altLang="zh-CN" dirty="0"/>
          </a:p>
          <a:p>
            <a:pPr algn="just"/>
            <a:r>
              <a:rPr lang="zh-CN" altLang="en-US" dirty="0">
                <a:solidFill>
                  <a:srgbClr val="FF0000"/>
                </a:solidFill>
              </a:rPr>
              <a:t>当</a:t>
            </a:r>
            <a:r>
              <a:rPr lang="en-US" altLang="zh-CN" dirty="0">
                <a:solidFill>
                  <a:srgbClr val="FF0000"/>
                </a:solidFill>
              </a:rPr>
              <a:t>TC</a:t>
            </a:r>
            <a:r>
              <a:rPr lang="zh-CN" altLang="en-US" dirty="0">
                <a:solidFill>
                  <a:srgbClr val="FF0000"/>
                </a:solidFill>
              </a:rPr>
              <a:t>为</a:t>
            </a:r>
            <a:r>
              <a:rPr lang="en-US" altLang="zh-CN" dirty="0">
                <a:solidFill>
                  <a:srgbClr val="FF0000"/>
                </a:solidFill>
              </a:rPr>
              <a:t>1</a:t>
            </a:r>
            <a:r>
              <a:rPr lang="zh-CN" altLang="en-US" dirty="0">
                <a:solidFill>
                  <a:srgbClr val="FF0000"/>
                </a:solidFill>
              </a:rPr>
              <a:t>时，将原始数据输入</a:t>
            </a:r>
            <a:r>
              <a:rPr lang="en-US" altLang="zh-CN" dirty="0">
                <a:solidFill>
                  <a:srgbClr val="FF0000"/>
                </a:solidFill>
              </a:rPr>
              <a:t>D</a:t>
            </a:r>
            <a:r>
              <a:rPr lang="zh-CN" altLang="en-US" dirty="0">
                <a:solidFill>
                  <a:srgbClr val="FF0000"/>
                </a:solidFill>
              </a:rPr>
              <a:t>保存在触发器中（即正常工作状态），当</a:t>
            </a:r>
            <a:r>
              <a:rPr lang="en-US" altLang="zh-CN" dirty="0">
                <a:solidFill>
                  <a:srgbClr val="FF0000"/>
                </a:solidFill>
              </a:rPr>
              <a:t>TC</a:t>
            </a:r>
            <a:r>
              <a:rPr lang="zh-CN" altLang="en-US" dirty="0">
                <a:solidFill>
                  <a:srgbClr val="FF0000"/>
                </a:solidFill>
              </a:rPr>
              <a:t>为</a:t>
            </a:r>
            <a:r>
              <a:rPr lang="en-US" altLang="zh-CN" dirty="0">
                <a:solidFill>
                  <a:srgbClr val="FF0000"/>
                </a:solidFill>
              </a:rPr>
              <a:t>0</a:t>
            </a:r>
            <a:r>
              <a:rPr lang="zh-CN" altLang="en-US" dirty="0">
                <a:solidFill>
                  <a:srgbClr val="FF0000"/>
                </a:solidFill>
              </a:rPr>
              <a:t>时保存</a:t>
            </a:r>
            <a:r>
              <a:rPr lang="en-US" altLang="zh-CN" dirty="0">
                <a:solidFill>
                  <a:srgbClr val="FF0000"/>
                </a:solidFill>
              </a:rPr>
              <a:t>SD</a:t>
            </a:r>
            <a:endParaRPr lang="zh-CN" altLang="en-US" dirty="0">
              <a:solidFill>
                <a:srgbClr val="FF0000"/>
              </a:solidFill>
            </a:endParaRPr>
          </a:p>
        </p:txBody>
      </p:sp>
      <p:pic>
        <p:nvPicPr>
          <p:cNvPr id="6" name="图片 5">
            <a:extLst>
              <a:ext uri="{FF2B5EF4-FFF2-40B4-BE49-F238E27FC236}">
                <a16:creationId xmlns:a16="http://schemas.microsoft.com/office/drawing/2014/main" id="{E129082A-E80C-15ED-2F35-6A242B477CCB}"/>
              </a:ext>
            </a:extLst>
          </p:cNvPr>
          <p:cNvPicPr>
            <a:picLocks noChangeAspect="1"/>
          </p:cNvPicPr>
          <p:nvPr/>
        </p:nvPicPr>
        <p:blipFill>
          <a:blip r:embed="rId2"/>
          <a:stretch>
            <a:fillRect/>
          </a:stretch>
        </p:blipFill>
        <p:spPr>
          <a:xfrm>
            <a:off x="650387" y="2274032"/>
            <a:ext cx="5267539" cy="2539706"/>
          </a:xfrm>
          <a:prstGeom prst="rect">
            <a:avLst/>
          </a:prstGeom>
        </p:spPr>
      </p:pic>
      <p:pic>
        <p:nvPicPr>
          <p:cNvPr id="8" name="图片 7">
            <a:extLst>
              <a:ext uri="{FF2B5EF4-FFF2-40B4-BE49-F238E27FC236}">
                <a16:creationId xmlns:a16="http://schemas.microsoft.com/office/drawing/2014/main" id="{44F5B71F-B1DD-5C58-1DA4-C26F9BEBF8CD}"/>
              </a:ext>
            </a:extLst>
          </p:cNvPr>
          <p:cNvPicPr>
            <a:picLocks noChangeAspect="1"/>
          </p:cNvPicPr>
          <p:nvPr/>
        </p:nvPicPr>
        <p:blipFill>
          <a:blip r:embed="rId3"/>
          <a:stretch>
            <a:fillRect/>
          </a:stretch>
        </p:blipFill>
        <p:spPr>
          <a:xfrm>
            <a:off x="6095999" y="2274032"/>
            <a:ext cx="5988031" cy="2445113"/>
          </a:xfrm>
          <a:prstGeom prst="rect">
            <a:avLst/>
          </a:prstGeom>
        </p:spPr>
      </p:pic>
    </p:spTree>
    <p:extLst>
      <p:ext uri="{BB962C8B-B14F-4D97-AF65-F5344CB8AC3E}">
        <p14:creationId xmlns:p14="http://schemas.microsoft.com/office/powerpoint/2010/main" val="23953015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C63C7E-5E70-EF78-F48A-164AAE804B81}"/>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7686A119-9552-05A8-7C04-0190E87B643F}"/>
              </a:ext>
            </a:extLst>
          </p:cNvPr>
          <p:cNvSpPr>
            <a:spLocks noGrp="1"/>
          </p:cNvSpPr>
          <p:nvPr>
            <p:ph type="sldNum" sz="quarter" idx="12"/>
          </p:nvPr>
        </p:nvSpPr>
        <p:spPr/>
        <p:txBody>
          <a:bodyPr/>
          <a:lstStyle/>
          <a:p>
            <a:pPr>
              <a:defRPr/>
            </a:pPr>
            <a:fld id="{DB5F2CA6-A39B-48F7-84D1-AF91BD07D67D}" type="slidenum">
              <a:rPr lang="en-US" altLang="zh-CN" smtClean="0"/>
              <a:pPr>
                <a:defRPr/>
              </a:pPr>
              <a:t>3</a:t>
            </a:fld>
            <a:endParaRPr lang="en-US" altLang="zh-CN"/>
          </a:p>
        </p:txBody>
      </p:sp>
      <p:pic>
        <p:nvPicPr>
          <p:cNvPr id="3" name="图片 2">
            <a:extLst>
              <a:ext uri="{FF2B5EF4-FFF2-40B4-BE49-F238E27FC236}">
                <a16:creationId xmlns:a16="http://schemas.microsoft.com/office/drawing/2014/main" id="{E1BDBB06-3A90-E288-FAA0-A30B979CEB4E}"/>
              </a:ext>
            </a:extLst>
          </p:cNvPr>
          <p:cNvPicPr>
            <a:picLocks noChangeAspect="1"/>
          </p:cNvPicPr>
          <p:nvPr/>
        </p:nvPicPr>
        <p:blipFill>
          <a:blip r:embed="rId2"/>
          <a:stretch>
            <a:fillRect/>
          </a:stretch>
        </p:blipFill>
        <p:spPr>
          <a:xfrm>
            <a:off x="3700128" y="959314"/>
            <a:ext cx="4791744" cy="2953162"/>
          </a:xfrm>
          <a:prstGeom prst="rect">
            <a:avLst/>
          </a:prstGeom>
        </p:spPr>
      </p:pic>
      <p:sp>
        <p:nvSpPr>
          <p:cNvPr id="5" name="文本框 4">
            <a:extLst>
              <a:ext uri="{FF2B5EF4-FFF2-40B4-BE49-F238E27FC236}">
                <a16:creationId xmlns:a16="http://schemas.microsoft.com/office/drawing/2014/main" id="{758A9B45-8AB9-63C6-AD81-33A574AB0719}"/>
              </a:ext>
            </a:extLst>
          </p:cNvPr>
          <p:cNvSpPr txBox="1"/>
          <p:nvPr/>
        </p:nvSpPr>
        <p:spPr>
          <a:xfrm>
            <a:off x="557048" y="3912476"/>
            <a:ext cx="10951780" cy="1701748"/>
          </a:xfrm>
          <a:prstGeom prst="rect">
            <a:avLst/>
          </a:prstGeom>
          <a:noFill/>
        </p:spPr>
        <p:txBody>
          <a:bodyPr wrap="square" rtlCol="0">
            <a:spAutoFit/>
          </a:bodyPr>
          <a:lstStyle/>
          <a:p>
            <a:pPr>
              <a:lnSpc>
                <a:spcPct val="150000"/>
              </a:lnSpc>
            </a:pPr>
            <a:r>
              <a:rPr lang="zh-CN" altLang="en-US" dirty="0"/>
              <a:t>         无论哪种方案都可以用上图表示，图中虚线是为扫描设计所增加的线。</a:t>
            </a:r>
            <a:endParaRPr lang="en-US" altLang="zh-CN" dirty="0"/>
          </a:p>
          <a:p>
            <a:pPr>
              <a:lnSpc>
                <a:spcPct val="150000"/>
              </a:lnSpc>
            </a:pPr>
            <a:r>
              <a:rPr lang="zh-CN" altLang="en-US" dirty="0"/>
              <a:t>        一个扫描触发器</a:t>
            </a:r>
            <a:r>
              <a:rPr lang="en-US" altLang="zh-CN" dirty="0"/>
              <a:t>(SFF)</a:t>
            </a:r>
            <a:r>
              <a:rPr lang="zh-CN" altLang="en-US" dirty="0"/>
              <a:t>的</a:t>
            </a:r>
            <a:r>
              <a:rPr lang="en-US" altLang="zh-CN" dirty="0"/>
              <a:t>SD</a:t>
            </a:r>
            <a:r>
              <a:rPr lang="zh-CN" altLang="en-US" dirty="0"/>
              <a:t>输入通过另一个新的原始输入</a:t>
            </a:r>
            <a:r>
              <a:rPr lang="en-US" altLang="zh-CN" dirty="0"/>
              <a:t>SCANIN</a:t>
            </a:r>
            <a:r>
              <a:rPr lang="zh-CN" altLang="en-US" dirty="0"/>
              <a:t>提供。通过把一个</a:t>
            </a:r>
            <a:r>
              <a:rPr lang="en-US" altLang="zh-CN" dirty="0"/>
              <a:t>SFF</a:t>
            </a:r>
            <a:r>
              <a:rPr lang="zh-CN" altLang="en-US" dirty="0"/>
              <a:t>的</a:t>
            </a:r>
            <a:r>
              <a:rPr lang="en-US" altLang="zh-CN" dirty="0"/>
              <a:t>Q</a:t>
            </a:r>
            <a:r>
              <a:rPr lang="zh-CN" altLang="en-US" dirty="0"/>
              <a:t>输出连接到下一个</a:t>
            </a:r>
            <a:r>
              <a:rPr lang="en-US" altLang="zh-CN" dirty="0"/>
              <a:t>SFF</a:t>
            </a:r>
            <a:r>
              <a:rPr lang="zh-CN" altLang="en-US" dirty="0"/>
              <a:t>的</a:t>
            </a:r>
            <a:r>
              <a:rPr lang="en-US" altLang="zh-CN" dirty="0"/>
              <a:t>SD</a:t>
            </a:r>
            <a:r>
              <a:rPr lang="zh-CN" altLang="en-US" dirty="0"/>
              <a:t>输入把所有扫描触发器连接成一条链。在链中最后一个</a:t>
            </a:r>
            <a:r>
              <a:rPr lang="en-US" altLang="zh-CN" dirty="0"/>
              <a:t>SFF</a:t>
            </a:r>
            <a:r>
              <a:rPr lang="zh-CN" altLang="en-US" dirty="0"/>
              <a:t>的</a:t>
            </a:r>
            <a:r>
              <a:rPr lang="en-US" altLang="zh-CN" dirty="0"/>
              <a:t>Q</a:t>
            </a:r>
            <a:r>
              <a:rPr lang="zh-CN" altLang="en-US" dirty="0"/>
              <a:t>输出是一个新的原始输出</a:t>
            </a:r>
            <a:r>
              <a:rPr lang="en-US" altLang="zh-CN" dirty="0"/>
              <a:t>SCANOUT</a:t>
            </a:r>
            <a:r>
              <a:rPr lang="zh-CN" altLang="en-US" dirty="0"/>
              <a:t>。</a:t>
            </a:r>
          </a:p>
        </p:txBody>
      </p:sp>
    </p:spTree>
    <p:extLst>
      <p:ext uri="{BB962C8B-B14F-4D97-AF65-F5344CB8AC3E}">
        <p14:creationId xmlns:p14="http://schemas.microsoft.com/office/powerpoint/2010/main" val="27782746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43540FF1-4F07-13C4-47A1-9952393C09F5}"/>
              </a:ext>
            </a:extLst>
          </p:cNvPr>
          <p:cNvSpPr>
            <a:spLocks noGrp="1"/>
          </p:cNvSpPr>
          <p:nvPr>
            <p:ph type="sldNum" sz="quarter" idx="12"/>
          </p:nvPr>
        </p:nvSpPr>
        <p:spPr/>
        <p:txBody>
          <a:bodyPr/>
          <a:lstStyle/>
          <a:p>
            <a:pPr>
              <a:defRPr/>
            </a:pPr>
            <a:fld id="{DB5F2CA6-A39B-48F7-84D1-AF91BD07D67D}" type="slidenum">
              <a:rPr lang="en-US" altLang="zh-CN" smtClean="0"/>
              <a:pPr>
                <a:defRPr/>
              </a:pPr>
              <a:t>4</a:t>
            </a:fld>
            <a:endParaRPr lang="en-US" altLang="zh-CN"/>
          </a:p>
        </p:txBody>
      </p:sp>
      <p:pic>
        <p:nvPicPr>
          <p:cNvPr id="5" name="图片 4">
            <a:extLst>
              <a:ext uri="{FF2B5EF4-FFF2-40B4-BE49-F238E27FC236}">
                <a16:creationId xmlns:a16="http://schemas.microsoft.com/office/drawing/2014/main" id="{BAA3C0F4-1B59-445D-E5B6-C6E91095B1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67172" y="1629593"/>
            <a:ext cx="8057656" cy="3995352"/>
          </a:xfrm>
          <a:prstGeom prst="rect">
            <a:avLst/>
          </a:prstGeom>
        </p:spPr>
      </p:pic>
      <p:sp>
        <p:nvSpPr>
          <p:cNvPr id="6" name="矩形 5">
            <a:extLst>
              <a:ext uri="{FF2B5EF4-FFF2-40B4-BE49-F238E27FC236}">
                <a16:creationId xmlns:a16="http://schemas.microsoft.com/office/drawing/2014/main" id="{5D5CD60B-4302-1A41-BDAC-4D66C9E435C2}"/>
              </a:ext>
            </a:extLst>
          </p:cNvPr>
          <p:cNvSpPr/>
          <p:nvPr/>
        </p:nvSpPr>
        <p:spPr>
          <a:xfrm>
            <a:off x="249117" y="609600"/>
            <a:ext cx="4435830" cy="584775"/>
          </a:xfrm>
          <a:prstGeom prst="rect">
            <a:avLst/>
          </a:prstGeom>
          <a:noFill/>
        </p:spPr>
        <p:txBody>
          <a:bodyPr wrap="none" lIns="91440" tIns="45720" rIns="91440" bIns="45720">
            <a:spAutoFit/>
          </a:bodyPr>
          <a:lstStyle/>
          <a:p>
            <a:pPr algn="ctr"/>
            <a:r>
              <a:rPr lang="zh-CN" altLang="en-US" sz="3200" b="0" cap="none" spc="0" dirty="0">
                <a:ln w="0"/>
                <a:solidFill>
                  <a:schemeClr val="accent2"/>
                </a:solidFill>
                <a:effectLst>
                  <a:outerShdw blurRad="38100" dist="19050" dir="2700000" algn="tl" rotWithShape="0">
                    <a:schemeClr val="dk1">
                      <a:alpha val="40000"/>
                    </a:schemeClr>
                  </a:outerShdw>
                </a:effectLst>
              </a:rPr>
              <a:t>加入扫描设计后的对比</a:t>
            </a:r>
          </a:p>
        </p:txBody>
      </p:sp>
    </p:spTree>
    <p:extLst>
      <p:ext uri="{BB962C8B-B14F-4D97-AF65-F5344CB8AC3E}">
        <p14:creationId xmlns:p14="http://schemas.microsoft.com/office/powerpoint/2010/main" val="37625072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DF9AE5-C109-3401-F74F-5642FE4A8BC2}"/>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675742CA-34C7-B160-D971-B9B177B05437}"/>
              </a:ext>
            </a:extLst>
          </p:cNvPr>
          <p:cNvSpPr>
            <a:spLocks noGrp="1"/>
          </p:cNvSpPr>
          <p:nvPr>
            <p:ph type="sldNum" sz="quarter" idx="12"/>
          </p:nvPr>
        </p:nvSpPr>
        <p:spPr/>
        <p:txBody>
          <a:bodyPr/>
          <a:lstStyle/>
          <a:p>
            <a:pPr>
              <a:defRPr/>
            </a:pPr>
            <a:fld id="{DB5F2CA6-A39B-48F7-84D1-AF91BD07D67D}" type="slidenum">
              <a:rPr lang="en-US" altLang="zh-CN" smtClean="0"/>
              <a:pPr>
                <a:defRPr/>
              </a:pPr>
              <a:t>5</a:t>
            </a:fld>
            <a:endParaRPr lang="en-US" altLang="zh-CN"/>
          </a:p>
        </p:txBody>
      </p:sp>
      <p:sp>
        <p:nvSpPr>
          <p:cNvPr id="2" name="文本框 1">
            <a:extLst>
              <a:ext uri="{FF2B5EF4-FFF2-40B4-BE49-F238E27FC236}">
                <a16:creationId xmlns:a16="http://schemas.microsoft.com/office/drawing/2014/main" id="{A0A50AAC-555C-5CD3-0DC3-265B3ED4D8B1}"/>
              </a:ext>
            </a:extLst>
          </p:cNvPr>
          <p:cNvSpPr txBox="1"/>
          <p:nvPr/>
        </p:nvSpPr>
        <p:spPr>
          <a:xfrm>
            <a:off x="526473" y="914400"/>
            <a:ext cx="10751127" cy="5632311"/>
          </a:xfrm>
          <a:prstGeom prst="rect">
            <a:avLst/>
          </a:prstGeom>
          <a:noFill/>
        </p:spPr>
        <p:txBody>
          <a:bodyPr wrap="square" rtlCol="0">
            <a:spAutoFit/>
          </a:bodyPr>
          <a:lstStyle/>
          <a:p>
            <a:pPr algn="just"/>
            <a:r>
              <a:rPr lang="en-US" altLang="zh-CN" sz="1800" dirty="0">
                <a:effectLst/>
                <a:ea typeface="宋体" panose="02010600030101010101" pitchFamily="2" charset="-122"/>
                <a:cs typeface="Times New Roman" panose="02020603050405020304" pitchFamily="18" charset="0"/>
              </a:rPr>
              <a:t>        </a:t>
            </a:r>
            <a:r>
              <a:rPr lang="zh-CN" altLang="zh-CN" sz="1800" dirty="0">
                <a:effectLst/>
                <a:ea typeface="宋体" panose="02010600030101010101" pitchFamily="2" charset="-122"/>
                <a:cs typeface="Times New Roman" panose="02020603050405020304" pitchFamily="18" charset="0"/>
              </a:rPr>
              <a:t>在全扫描测试中，测试应用时间为</a:t>
            </a:r>
            <a:r>
              <a:rPr lang="en-US" altLang="zh-CN" sz="1800" dirty="0">
                <a:effectLst/>
                <a:ea typeface="宋体" panose="02010600030101010101" pitchFamily="2" charset="-122"/>
                <a:cs typeface="Times New Roman" panose="02020603050405020304" pitchFamily="18" charset="0"/>
              </a:rPr>
              <a:t>T=</a:t>
            </a:r>
            <a:r>
              <a:rPr lang="en-US" altLang="zh-CN" sz="1800" dirty="0" err="1">
                <a:effectLst/>
                <a:ea typeface="宋体" panose="02010600030101010101" pitchFamily="2" charset="-122"/>
                <a:cs typeface="Times New Roman" panose="02020603050405020304" pitchFamily="18" charset="0"/>
              </a:rPr>
              <a:t>N</a:t>
            </a:r>
            <a:r>
              <a:rPr lang="en-US" altLang="zh-CN" sz="1800" baseline="-25000" dirty="0" err="1">
                <a:effectLst/>
                <a:ea typeface="宋体" panose="02010600030101010101" pitchFamily="2" charset="-122"/>
                <a:cs typeface="Times New Roman" panose="02020603050405020304" pitchFamily="18" charset="0"/>
              </a:rPr>
              <a:t>f</a:t>
            </a:r>
            <a:r>
              <a:rPr lang="en-US" altLang="zh-CN" sz="1800" dirty="0" err="1">
                <a:effectLst/>
                <a:ea typeface="宋体" panose="02010600030101010101" pitchFamily="2" charset="-122"/>
                <a:cs typeface="Times New Roman" panose="02020603050405020304" pitchFamily="18" charset="0"/>
              </a:rPr>
              <a:t>+C</a:t>
            </a:r>
            <a:r>
              <a:rPr lang="en-US" altLang="zh-CN" sz="1800" baseline="-25000" dirty="0" err="1">
                <a:effectLst/>
                <a:ea typeface="宋体" panose="02010600030101010101" pitchFamily="2" charset="-122"/>
                <a:cs typeface="Times New Roman" panose="02020603050405020304" pitchFamily="18" charset="0"/>
              </a:rPr>
              <a:t>s</a:t>
            </a:r>
            <a:r>
              <a:rPr lang="en-US" altLang="zh-CN" sz="1800" dirty="0">
                <a:effectLst/>
                <a:ea typeface="宋体" panose="02010600030101010101" pitchFamily="2" charset="-122"/>
                <a:cs typeface="Times New Roman" panose="02020603050405020304" pitchFamily="18" charset="0"/>
              </a:rPr>
              <a:t>+(N</a:t>
            </a:r>
            <a:r>
              <a:rPr lang="en-US" altLang="zh-CN" sz="1800" baseline="-25000" dirty="0">
                <a:effectLst/>
                <a:ea typeface="宋体" panose="02010600030101010101" pitchFamily="2" charset="-122"/>
                <a:cs typeface="Times New Roman" panose="02020603050405020304" pitchFamily="18" charset="0"/>
              </a:rPr>
              <a:t>f</a:t>
            </a:r>
            <a:r>
              <a:rPr lang="en-US" altLang="zh-CN" sz="1800" dirty="0">
                <a:effectLst/>
                <a:ea typeface="宋体" panose="02010600030101010101" pitchFamily="2" charset="-122"/>
                <a:cs typeface="Times New Roman" panose="02020603050405020304" pitchFamily="18" charset="0"/>
              </a:rPr>
              <a:t>+1)</a:t>
            </a:r>
            <a:r>
              <a:rPr lang="en-US" altLang="zh-CN" sz="1800" dirty="0" err="1">
                <a:effectLst/>
                <a:ea typeface="宋体" panose="02010600030101010101" pitchFamily="2" charset="-122"/>
                <a:cs typeface="Times New Roman" panose="02020603050405020304" pitchFamily="18" charset="0"/>
              </a:rPr>
              <a:t>N</a:t>
            </a:r>
            <a:r>
              <a:rPr lang="en-US" altLang="zh-CN" sz="1800" baseline="-25000" dirty="0" err="1">
                <a:effectLst/>
                <a:ea typeface="宋体" panose="02010600030101010101" pitchFamily="2" charset="-122"/>
                <a:cs typeface="Times New Roman" panose="02020603050405020304" pitchFamily="18" charset="0"/>
              </a:rPr>
              <a:t>t</a:t>
            </a:r>
            <a:r>
              <a:rPr lang="en-US" altLang="zh-CN" sz="1800" dirty="0" err="1">
                <a:effectLst/>
                <a:ea typeface="宋体" panose="02010600030101010101" pitchFamily="2" charset="-122"/>
                <a:cs typeface="Times New Roman" panose="02020603050405020304" pitchFamily="18" charset="0"/>
              </a:rPr>
              <a:t>C</a:t>
            </a:r>
            <a:r>
              <a:rPr lang="en-US" altLang="zh-CN" sz="1800" baseline="-25000" dirty="0" err="1">
                <a:effectLst/>
                <a:ea typeface="宋体" panose="02010600030101010101" pitchFamily="2" charset="-122"/>
                <a:cs typeface="Times New Roman" panose="02020603050405020304" pitchFamily="18" charset="0"/>
              </a:rPr>
              <a:t>t</a:t>
            </a:r>
            <a:r>
              <a:rPr lang="zh-CN" altLang="zh-CN" sz="1800" dirty="0">
                <a:effectLst/>
                <a:ea typeface="宋体" panose="02010600030101010101" pitchFamily="2" charset="-122"/>
                <a:cs typeface="Times New Roman" panose="02020603050405020304" pitchFamily="18" charset="0"/>
              </a:rPr>
              <a:t>，其中</a:t>
            </a:r>
            <a:r>
              <a:rPr lang="en-US" altLang="zh-CN" sz="1800" dirty="0" err="1">
                <a:effectLst/>
                <a:ea typeface="宋体" panose="02010600030101010101" pitchFamily="2" charset="-122"/>
                <a:cs typeface="Times New Roman" panose="02020603050405020304" pitchFamily="18" charset="0"/>
              </a:rPr>
              <a:t>N</a:t>
            </a:r>
            <a:r>
              <a:rPr lang="en-US" altLang="zh-CN" sz="1800" baseline="-25000" dirty="0" err="1">
                <a:effectLst/>
                <a:ea typeface="宋体" panose="02010600030101010101" pitchFamily="2" charset="-122"/>
                <a:cs typeface="Times New Roman" panose="02020603050405020304" pitchFamily="18" charset="0"/>
              </a:rPr>
              <a:t>f</a:t>
            </a:r>
            <a:r>
              <a:rPr lang="zh-CN" altLang="zh-CN" sz="1800" dirty="0">
                <a:effectLst/>
                <a:ea typeface="宋体" panose="02010600030101010101" pitchFamily="2" charset="-122"/>
                <a:cs typeface="Times New Roman" panose="02020603050405020304" pitchFamily="18" charset="0"/>
              </a:rPr>
              <a:t>为测试向量数，</a:t>
            </a:r>
            <a:r>
              <a:rPr lang="en-US" altLang="zh-CN" sz="1800" dirty="0" err="1">
                <a:effectLst/>
                <a:ea typeface="宋体" panose="02010600030101010101" pitchFamily="2" charset="-122"/>
                <a:cs typeface="Times New Roman" panose="02020603050405020304" pitchFamily="18" charset="0"/>
              </a:rPr>
              <a:t>N</a:t>
            </a:r>
            <a:r>
              <a:rPr lang="en-US" altLang="zh-CN" sz="1800" baseline="-25000" dirty="0" err="1">
                <a:effectLst/>
                <a:ea typeface="宋体" panose="02010600030101010101" pitchFamily="2" charset="-122"/>
                <a:cs typeface="Times New Roman" panose="02020603050405020304" pitchFamily="18" charset="0"/>
              </a:rPr>
              <a:t>t</a:t>
            </a:r>
            <a:r>
              <a:rPr lang="zh-CN" altLang="zh-CN" sz="1800" dirty="0">
                <a:effectLst/>
                <a:ea typeface="宋体" panose="02010600030101010101" pitchFamily="2" charset="-122"/>
                <a:cs typeface="Times New Roman" panose="02020603050405020304" pitchFamily="18" charset="0"/>
              </a:rPr>
              <a:t>为串行地移入测试向量的同时移出上一次测试的测试结果的测试时钟数，</a:t>
            </a:r>
            <a:r>
              <a:rPr lang="en-US" altLang="zh-CN" sz="1800" dirty="0">
                <a:effectLst/>
                <a:ea typeface="宋体" panose="02010600030101010101" pitchFamily="2" charset="-122"/>
                <a:cs typeface="Times New Roman" panose="02020603050405020304" pitchFamily="18" charset="0"/>
              </a:rPr>
              <a:t>C</a:t>
            </a:r>
            <a:r>
              <a:rPr lang="en-US" altLang="zh-CN" sz="1800" baseline="-25000" dirty="0">
                <a:effectLst/>
                <a:ea typeface="宋体" panose="02010600030101010101" pitchFamily="2" charset="-122"/>
                <a:cs typeface="Times New Roman" panose="02020603050405020304" pitchFamily="18" charset="0"/>
              </a:rPr>
              <a:t>s</a:t>
            </a:r>
            <a:r>
              <a:rPr lang="zh-CN" altLang="zh-CN" sz="1800" dirty="0">
                <a:effectLst/>
                <a:ea typeface="宋体" panose="02010600030101010101" pitchFamily="2" charset="-122"/>
                <a:cs typeface="Times New Roman" panose="02020603050405020304" pitchFamily="18" charset="0"/>
              </a:rPr>
              <a:t>、</a:t>
            </a:r>
            <a:r>
              <a:rPr lang="en-US" altLang="zh-CN" sz="1800" dirty="0">
                <a:effectLst/>
                <a:ea typeface="宋体" panose="02010600030101010101" pitchFamily="2" charset="-122"/>
                <a:cs typeface="Times New Roman" panose="02020603050405020304" pitchFamily="18" charset="0"/>
              </a:rPr>
              <a:t>C</a:t>
            </a:r>
            <a:r>
              <a:rPr lang="en-US" altLang="zh-CN" sz="1800" baseline="-25000" dirty="0">
                <a:effectLst/>
                <a:ea typeface="宋体" panose="02010600030101010101" pitchFamily="2" charset="-122"/>
                <a:cs typeface="Times New Roman" panose="02020603050405020304" pitchFamily="18" charset="0"/>
              </a:rPr>
              <a:t>t</a:t>
            </a:r>
            <a:r>
              <a:rPr lang="zh-CN" altLang="zh-CN" sz="1800" dirty="0">
                <a:effectLst/>
                <a:ea typeface="宋体" panose="02010600030101010101" pitchFamily="2" charset="-122"/>
                <a:cs typeface="Times New Roman" panose="02020603050405020304" pitchFamily="18" charset="0"/>
              </a:rPr>
              <a:t>分别为系统时钟周期和测试时钟周期，</a:t>
            </a:r>
            <a:r>
              <a:rPr lang="en-US" altLang="zh-CN" sz="1800" dirty="0">
                <a:effectLst/>
                <a:ea typeface="宋体" panose="02010600030101010101" pitchFamily="2" charset="-122"/>
                <a:cs typeface="Times New Roman" panose="02020603050405020304" pitchFamily="18" charset="0"/>
              </a:rPr>
              <a:t>N</a:t>
            </a:r>
            <a:r>
              <a:rPr lang="en-US" altLang="zh-CN" sz="1800" baseline="-25000" dirty="0">
                <a:effectLst/>
                <a:ea typeface="宋体" panose="02010600030101010101" pitchFamily="2" charset="-122"/>
                <a:cs typeface="Times New Roman" panose="02020603050405020304" pitchFamily="18" charset="0"/>
              </a:rPr>
              <a:t>f</a:t>
            </a:r>
            <a:r>
              <a:rPr lang="en-US" altLang="zh-CN" sz="1800" dirty="0">
                <a:effectLst/>
                <a:ea typeface="宋体" panose="02010600030101010101" pitchFamily="2" charset="-122"/>
                <a:cs typeface="Times New Roman" panose="02020603050405020304" pitchFamily="18" charset="0"/>
              </a:rPr>
              <a:t>+1</a:t>
            </a:r>
            <a:r>
              <a:rPr lang="zh-CN" altLang="zh-CN" sz="1800" dirty="0">
                <a:effectLst/>
                <a:ea typeface="宋体" panose="02010600030101010101" pitchFamily="2" charset="-122"/>
                <a:cs typeface="Times New Roman" panose="02020603050405020304" pitchFamily="18" charset="0"/>
              </a:rPr>
              <a:t>表示仍需</a:t>
            </a:r>
            <a:r>
              <a:rPr lang="en-US" altLang="zh-CN" sz="1800" dirty="0" err="1">
                <a:effectLst/>
                <a:ea typeface="宋体" panose="02010600030101010101" pitchFamily="2" charset="-122"/>
                <a:cs typeface="Times New Roman" panose="02020603050405020304" pitchFamily="18" charset="0"/>
              </a:rPr>
              <a:t>N</a:t>
            </a:r>
            <a:r>
              <a:rPr lang="en-US" altLang="zh-CN" sz="1800" baseline="-25000" dirty="0" err="1">
                <a:effectLst/>
                <a:ea typeface="宋体" panose="02010600030101010101" pitchFamily="2" charset="-122"/>
                <a:cs typeface="Times New Roman" panose="02020603050405020304" pitchFamily="18" charset="0"/>
              </a:rPr>
              <a:t>t</a:t>
            </a:r>
            <a:r>
              <a:rPr lang="zh-CN" altLang="zh-CN" sz="1800" dirty="0">
                <a:effectLst/>
                <a:ea typeface="宋体" panose="02010600030101010101" pitchFamily="2" charset="-122"/>
                <a:cs typeface="Times New Roman" panose="02020603050405020304" pitchFamily="18" charset="0"/>
              </a:rPr>
              <a:t>个时钟移出最后一次测试的结果，在本文中我们不区分测试时钟和系统时钟，因此令</a:t>
            </a:r>
            <a:r>
              <a:rPr lang="en-US" altLang="zh-CN" sz="1800" dirty="0">
                <a:effectLst/>
                <a:ea typeface="宋体" panose="02010600030101010101" pitchFamily="2" charset="-122"/>
                <a:cs typeface="Times New Roman" panose="02020603050405020304" pitchFamily="18" charset="0"/>
              </a:rPr>
              <a:t>C</a:t>
            </a:r>
            <a:r>
              <a:rPr lang="en-US" altLang="zh-CN" sz="1800" baseline="-25000" dirty="0">
                <a:effectLst/>
                <a:ea typeface="宋体" panose="02010600030101010101" pitchFamily="2" charset="-122"/>
                <a:cs typeface="Times New Roman" panose="02020603050405020304" pitchFamily="18" charset="0"/>
              </a:rPr>
              <a:t>s</a:t>
            </a:r>
            <a:r>
              <a:rPr lang="en-US" altLang="zh-CN" sz="1800" dirty="0">
                <a:effectLst/>
                <a:ea typeface="宋体" panose="02010600030101010101" pitchFamily="2" charset="-122"/>
                <a:cs typeface="Times New Roman" panose="02020603050405020304" pitchFamily="18" charset="0"/>
              </a:rPr>
              <a:t>=C</a:t>
            </a:r>
            <a:r>
              <a:rPr lang="en-US" altLang="zh-CN" sz="1800" baseline="-25000" dirty="0">
                <a:effectLst/>
                <a:ea typeface="宋体" panose="02010600030101010101" pitchFamily="2" charset="-122"/>
                <a:cs typeface="Times New Roman" panose="02020603050405020304" pitchFamily="18" charset="0"/>
              </a:rPr>
              <a:t>t</a:t>
            </a:r>
            <a:r>
              <a:rPr lang="en-US" altLang="zh-CN" sz="1800" dirty="0">
                <a:effectLst/>
                <a:ea typeface="宋体" panose="02010600030101010101" pitchFamily="2" charset="-122"/>
                <a:cs typeface="Times New Roman" panose="02020603050405020304" pitchFamily="18" charset="0"/>
              </a:rPr>
              <a:t>=1</a:t>
            </a:r>
            <a:r>
              <a:rPr lang="zh-CN" altLang="zh-CN" sz="1800" dirty="0">
                <a:effectLst/>
                <a:ea typeface="宋体" panose="02010600030101010101" pitchFamily="2" charset="-122"/>
                <a:cs typeface="Times New Roman" panose="02020603050405020304" pitchFamily="18" charset="0"/>
              </a:rPr>
              <a:t>，则</a:t>
            </a:r>
            <a:r>
              <a:rPr lang="en-US" altLang="zh-CN" sz="1800" dirty="0">
                <a:solidFill>
                  <a:srgbClr val="FF0000"/>
                </a:solidFill>
                <a:effectLst/>
                <a:ea typeface="宋体" panose="02010600030101010101" pitchFamily="2" charset="-122"/>
                <a:cs typeface="Times New Roman" panose="02020603050405020304" pitchFamily="18" charset="0"/>
              </a:rPr>
              <a:t>T=</a:t>
            </a:r>
            <a:r>
              <a:rPr lang="en-US" altLang="zh-CN" sz="1800" dirty="0" err="1">
                <a:solidFill>
                  <a:srgbClr val="FF0000"/>
                </a:solidFill>
                <a:effectLst/>
                <a:ea typeface="宋体" panose="02010600030101010101" pitchFamily="2" charset="-122"/>
                <a:cs typeface="Times New Roman" panose="02020603050405020304" pitchFamily="18" charset="0"/>
              </a:rPr>
              <a:t>N</a:t>
            </a:r>
            <a:r>
              <a:rPr lang="en-US" altLang="zh-CN" sz="1800" baseline="-25000" dirty="0" err="1">
                <a:solidFill>
                  <a:srgbClr val="FF0000"/>
                </a:solidFill>
                <a:effectLst/>
                <a:ea typeface="宋体" panose="02010600030101010101" pitchFamily="2" charset="-122"/>
                <a:cs typeface="Times New Roman" panose="02020603050405020304" pitchFamily="18" charset="0"/>
              </a:rPr>
              <a:t>f</a:t>
            </a:r>
            <a:r>
              <a:rPr lang="en-US" altLang="zh-CN" sz="1800" dirty="0">
                <a:solidFill>
                  <a:srgbClr val="FF0000"/>
                </a:solidFill>
                <a:effectLst/>
                <a:ea typeface="宋体" panose="02010600030101010101" pitchFamily="2" charset="-122"/>
                <a:cs typeface="Times New Roman" panose="02020603050405020304" pitchFamily="18" charset="0"/>
              </a:rPr>
              <a:t>+(N</a:t>
            </a:r>
            <a:r>
              <a:rPr lang="en-US" altLang="zh-CN" sz="1800" baseline="-25000" dirty="0">
                <a:solidFill>
                  <a:srgbClr val="FF0000"/>
                </a:solidFill>
                <a:effectLst/>
                <a:ea typeface="宋体" panose="02010600030101010101" pitchFamily="2" charset="-122"/>
                <a:cs typeface="Times New Roman" panose="02020603050405020304" pitchFamily="18" charset="0"/>
              </a:rPr>
              <a:t>f</a:t>
            </a:r>
            <a:r>
              <a:rPr lang="en-US" altLang="zh-CN" sz="1800" dirty="0">
                <a:solidFill>
                  <a:srgbClr val="FF0000"/>
                </a:solidFill>
                <a:effectLst/>
                <a:ea typeface="宋体" panose="02010600030101010101" pitchFamily="2" charset="-122"/>
                <a:cs typeface="Times New Roman" panose="02020603050405020304" pitchFamily="18" charset="0"/>
              </a:rPr>
              <a:t>+1)</a:t>
            </a:r>
            <a:r>
              <a:rPr lang="en-US" altLang="zh-CN" sz="1800" dirty="0" err="1">
                <a:solidFill>
                  <a:srgbClr val="FF0000"/>
                </a:solidFill>
                <a:effectLst/>
                <a:ea typeface="宋体" panose="02010600030101010101" pitchFamily="2" charset="-122"/>
                <a:cs typeface="Times New Roman" panose="02020603050405020304" pitchFamily="18" charset="0"/>
              </a:rPr>
              <a:t>N</a:t>
            </a:r>
            <a:r>
              <a:rPr lang="en-US" altLang="zh-CN" sz="1800" baseline="-25000" dirty="0" err="1">
                <a:solidFill>
                  <a:srgbClr val="FF0000"/>
                </a:solidFill>
                <a:effectLst/>
                <a:ea typeface="宋体" panose="02010600030101010101" pitchFamily="2" charset="-122"/>
                <a:cs typeface="Times New Roman" panose="02020603050405020304" pitchFamily="18" charset="0"/>
              </a:rPr>
              <a:t>t</a:t>
            </a:r>
            <a:r>
              <a:rPr lang="zh-CN" altLang="zh-CN" sz="1800" dirty="0">
                <a:effectLst/>
                <a:ea typeface="宋体" panose="02010600030101010101" pitchFamily="2" charset="-122"/>
                <a:cs typeface="Times New Roman" panose="02020603050405020304" pitchFamily="18" charset="0"/>
              </a:rPr>
              <a:t>，由这个式子可知，可以通过减少</a:t>
            </a:r>
            <a:r>
              <a:rPr lang="en-US" altLang="zh-CN" sz="1800" dirty="0" err="1">
                <a:effectLst/>
                <a:ea typeface="宋体" panose="02010600030101010101" pitchFamily="2" charset="-122"/>
                <a:cs typeface="Times New Roman" panose="02020603050405020304" pitchFamily="18" charset="0"/>
              </a:rPr>
              <a:t>N</a:t>
            </a:r>
            <a:r>
              <a:rPr lang="en-US" altLang="zh-CN" sz="1800" baseline="-25000" dirty="0" err="1">
                <a:effectLst/>
                <a:ea typeface="宋体" panose="02010600030101010101" pitchFamily="2" charset="-122"/>
                <a:cs typeface="Times New Roman" panose="02020603050405020304" pitchFamily="18" charset="0"/>
              </a:rPr>
              <a:t>t</a:t>
            </a:r>
            <a:r>
              <a:rPr lang="zh-CN" altLang="zh-CN" sz="1800" dirty="0">
                <a:effectLst/>
                <a:ea typeface="宋体" panose="02010600030101010101" pitchFamily="2" charset="-122"/>
                <a:cs typeface="Times New Roman" panose="02020603050405020304" pitchFamily="18" charset="0"/>
              </a:rPr>
              <a:t>来减少测试时间，交迭测试就是将时序电路的整体测试分成了若干测试部分来减少测试时间，最终的测试时间</a:t>
            </a:r>
            <a:r>
              <a:rPr lang="en-US" altLang="zh-CN" sz="1800" dirty="0">
                <a:effectLst/>
                <a:ea typeface="宋体" panose="02010600030101010101" pitchFamily="2" charset="-122"/>
                <a:cs typeface="Times New Roman" panose="02020603050405020304" pitchFamily="18" charset="0"/>
              </a:rPr>
              <a:t>T</a:t>
            </a:r>
            <a:r>
              <a:rPr lang="zh-CN" altLang="zh-CN" sz="1800" dirty="0">
                <a:effectLst/>
                <a:ea typeface="宋体" panose="02010600030101010101" pitchFamily="2" charset="-122"/>
                <a:cs typeface="Times New Roman" panose="02020603050405020304" pitchFamily="18" charset="0"/>
              </a:rPr>
              <a:t>为各部分测试的总和</a:t>
            </a:r>
            <a:r>
              <a:rPr lang="zh-CN" altLang="en-US" sz="1800" dirty="0">
                <a:effectLst/>
                <a:ea typeface="宋体" panose="02010600030101010101" pitchFamily="2" charset="-122"/>
                <a:cs typeface="Times New Roman" panose="02020603050405020304" pitchFamily="18" charset="0"/>
              </a:rPr>
              <a:t>。</a:t>
            </a:r>
            <a:endParaRPr lang="en-US" altLang="zh-CN" sz="1800" dirty="0">
              <a:effectLst/>
              <a:ea typeface="宋体" panose="02010600030101010101" pitchFamily="2" charset="-122"/>
              <a:cs typeface="Times New Roman" panose="02020603050405020304" pitchFamily="18" charset="0"/>
            </a:endParaRPr>
          </a:p>
          <a:p>
            <a:endParaRPr lang="en-US" altLang="zh-CN" dirty="0">
              <a:ea typeface="宋体" panose="02010600030101010101" pitchFamily="2" charset="-122"/>
              <a:cs typeface="Times New Roman" panose="02020603050405020304" pitchFamily="18" charset="0"/>
            </a:endParaRPr>
          </a:p>
          <a:p>
            <a:endParaRPr lang="en-US" altLang="zh-CN" sz="1800" dirty="0">
              <a:effectLst/>
              <a:ea typeface="宋体" panose="02010600030101010101" pitchFamily="2" charset="-122"/>
              <a:cs typeface="Times New Roman" panose="02020603050405020304" pitchFamily="18" charset="0"/>
            </a:endParaRPr>
          </a:p>
          <a:p>
            <a:endParaRPr lang="en-US" altLang="zh-CN" sz="1800" dirty="0">
              <a:effectLst/>
              <a:ea typeface="宋体" panose="02010600030101010101" pitchFamily="2" charset="-122"/>
              <a:cs typeface="Times New Roman" panose="02020603050405020304" pitchFamily="18" charset="0"/>
            </a:endParaRPr>
          </a:p>
          <a:p>
            <a:endParaRPr lang="en-US" altLang="zh-CN" dirty="0">
              <a:ea typeface="宋体" panose="02010600030101010101" pitchFamily="2" charset="-122"/>
              <a:cs typeface="Times New Roman" panose="02020603050405020304" pitchFamily="18" charset="0"/>
            </a:endParaRPr>
          </a:p>
          <a:p>
            <a:endParaRPr lang="en-US" altLang="zh-CN" dirty="0">
              <a:ea typeface="宋体" panose="02010600030101010101" pitchFamily="2" charset="-122"/>
              <a:cs typeface="Times New Roman" panose="02020603050405020304" pitchFamily="18" charset="0"/>
            </a:endParaRPr>
          </a:p>
          <a:p>
            <a:endParaRPr lang="en-US" altLang="zh-CN" dirty="0">
              <a:ea typeface="宋体" panose="02010600030101010101" pitchFamily="2" charset="-122"/>
              <a:cs typeface="Times New Roman" panose="02020603050405020304" pitchFamily="18" charset="0"/>
            </a:endParaRPr>
          </a:p>
          <a:p>
            <a:endParaRPr lang="en-US" altLang="zh-CN" dirty="0">
              <a:ea typeface="宋体" panose="02010600030101010101" pitchFamily="2" charset="-122"/>
              <a:cs typeface="Times New Roman" panose="02020603050405020304" pitchFamily="18" charset="0"/>
            </a:endParaRPr>
          </a:p>
          <a:p>
            <a:endParaRPr lang="en-US" altLang="zh-CN" dirty="0">
              <a:ea typeface="宋体" panose="02010600030101010101" pitchFamily="2" charset="-122"/>
              <a:cs typeface="Times New Roman" panose="02020603050405020304" pitchFamily="18" charset="0"/>
            </a:endParaRPr>
          </a:p>
          <a:p>
            <a:endParaRPr lang="en-US" altLang="zh-CN" dirty="0">
              <a:ea typeface="宋体" panose="02010600030101010101" pitchFamily="2" charset="-122"/>
              <a:cs typeface="Times New Roman" panose="02020603050405020304" pitchFamily="18" charset="0"/>
            </a:endParaRPr>
          </a:p>
          <a:p>
            <a:endParaRPr lang="en-US" altLang="zh-CN" dirty="0">
              <a:ea typeface="宋体" panose="02010600030101010101" pitchFamily="2" charset="-122"/>
              <a:cs typeface="Times New Roman" panose="02020603050405020304" pitchFamily="18" charset="0"/>
            </a:endParaRPr>
          </a:p>
          <a:p>
            <a:endParaRPr lang="en-US" altLang="zh-CN" dirty="0">
              <a:ea typeface="宋体" panose="02010600030101010101" pitchFamily="2" charset="-122"/>
              <a:cs typeface="Times New Roman" panose="02020603050405020304" pitchFamily="18" charset="0"/>
            </a:endParaRPr>
          </a:p>
          <a:p>
            <a:pPr algn="just"/>
            <a:r>
              <a:rPr lang="en-US" altLang="zh-CN" sz="1800" dirty="0">
                <a:effectLst/>
                <a:ea typeface="宋体" panose="02010600030101010101" pitchFamily="2" charset="-122"/>
                <a:cs typeface="Times New Roman" panose="02020603050405020304" pitchFamily="18" charset="0"/>
              </a:rPr>
              <a:t>         </a:t>
            </a:r>
            <a:r>
              <a:rPr lang="zh-CN" altLang="zh-CN" sz="1800" dirty="0">
                <a:effectLst/>
                <a:ea typeface="宋体" panose="02010600030101010101" pitchFamily="2" charset="-122"/>
                <a:cs typeface="Times New Roman" panose="02020603050405020304" pitchFamily="18" charset="0"/>
              </a:rPr>
              <a:t>电路中的组合逻辑可以分为几个仅通过寄存器（由一个或多个触发器构成）相链接的</a:t>
            </a:r>
            <a:r>
              <a:rPr lang="zh-CN" altLang="zh-CN" sz="1800" dirty="0">
                <a:solidFill>
                  <a:srgbClr val="FF0000"/>
                </a:solidFill>
                <a:effectLst/>
                <a:ea typeface="宋体" panose="02010600030101010101" pitchFamily="2" charset="-122"/>
                <a:cs typeface="Times New Roman" panose="02020603050405020304" pitchFamily="18" charset="0"/>
              </a:rPr>
              <a:t>内核</a:t>
            </a:r>
            <a:r>
              <a:rPr lang="zh-CN" altLang="zh-CN" sz="1800" dirty="0">
                <a:effectLst/>
                <a:ea typeface="宋体" panose="02010600030101010101" pitchFamily="2" charset="-122"/>
                <a:cs typeface="Times New Roman" panose="02020603050405020304" pitchFamily="18" charset="0"/>
              </a:rPr>
              <a:t>，电路中的一个扫描寄存器只能给一个内核提供测试向量或者接收一个内核的测试结果，每个内核可以独立测试。如图给出一个电路的例子，</a:t>
            </a:r>
            <a:r>
              <a:rPr lang="en-US" altLang="zh-CN" sz="1800" dirty="0">
                <a:effectLst/>
                <a:ea typeface="宋体" panose="02010600030101010101" pitchFamily="2" charset="-122"/>
                <a:cs typeface="Times New Roman" panose="02020603050405020304" pitchFamily="18" charset="0"/>
              </a:rPr>
              <a:t>K1</a:t>
            </a:r>
            <a:r>
              <a:rPr lang="zh-CN" altLang="zh-CN" sz="1800" dirty="0">
                <a:effectLst/>
                <a:ea typeface="宋体" panose="02010600030101010101" pitchFamily="2" charset="-122"/>
                <a:cs typeface="Times New Roman" panose="02020603050405020304" pitchFamily="18" charset="0"/>
              </a:rPr>
              <a:t>、</a:t>
            </a:r>
            <a:r>
              <a:rPr lang="en-US" altLang="zh-CN" sz="1800" dirty="0">
                <a:effectLst/>
                <a:ea typeface="宋体" panose="02010600030101010101" pitchFamily="2" charset="-122"/>
                <a:cs typeface="Times New Roman" panose="02020603050405020304" pitchFamily="18" charset="0"/>
              </a:rPr>
              <a:t>K2</a:t>
            </a:r>
            <a:r>
              <a:rPr lang="zh-CN" altLang="zh-CN" sz="1800" dirty="0">
                <a:effectLst/>
                <a:ea typeface="宋体" panose="02010600030101010101" pitchFamily="2" charset="-122"/>
                <a:cs typeface="Times New Roman" panose="02020603050405020304" pitchFamily="18" charset="0"/>
              </a:rPr>
              <a:t>、</a:t>
            </a:r>
            <a:r>
              <a:rPr lang="en-US" altLang="zh-CN" sz="1800" dirty="0">
                <a:effectLst/>
                <a:ea typeface="宋体" panose="02010600030101010101" pitchFamily="2" charset="-122"/>
                <a:cs typeface="Times New Roman" panose="02020603050405020304" pitchFamily="18" charset="0"/>
              </a:rPr>
              <a:t>K3</a:t>
            </a:r>
            <a:r>
              <a:rPr lang="zh-CN" altLang="zh-CN" sz="1800" dirty="0">
                <a:effectLst/>
                <a:ea typeface="宋体" panose="02010600030101010101" pitchFamily="2" charset="-122"/>
                <a:cs typeface="Times New Roman" panose="02020603050405020304" pitchFamily="18" charset="0"/>
              </a:rPr>
              <a:t>为内核，测试长度分别为</a:t>
            </a:r>
            <a:r>
              <a:rPr lang="en-US" altLang="zh-CN" sz="1800" dirty="0">
                <a:effectLst/>
                <a:ea typeface="宋体" panose="02010600030101010101" pitchFamily="2" charset="-122"/>
                <a:cs typeface="Times New Roman" panose="02020603050405020304" pitchFamily="18" charset="0"/>
              </a:rPr>
              <a:t>40</a:t>
            </a:r>
            <a:r>
              <a:rPr lang="zh-CN" altLang="zh-CN" sz="1800" dirty="0">
                <a:effectLst/>
                <a:ea typeface="宋体" panose="02010600030101010101" pitchFamily="2" charset="-122"/>
                <a:cs typeface="Times New Roman" panose="02020603050405020304" pitchFamily="18" charset="0"/>
              </a:rPr>
              <a:t>、</a:t>
            </a:r>
            <a:r>
              <a:rPr lang="en-US" altLang="zh-CN" sz="1800" dirty="0">
                <a:effectLst/>
                <a:ea typeface="宋体" panose="02010600030101010101" pitchFamily="2" charset="-122"/>
                <a:cs typeface="Times New Roman" panose="02020603050405020304" pitchFamily="18" charset="0"/>
              </a:rPr>
              <a:t>100</a:t>
            </a:r>
            <a:r>
              <a:rPr lang="zh-CN" altLang="zh-CN" sz="1800" dirty="0">
                <a:effectLst/>
                <a:ea typeface="宋体" panose="02010600030101010101" pitchFamily="2" charset="-122"/>
                <a:cs typeface="Times New Roman" panose="02020603050405020304" pitchFamily="18" charset="0"/>
              </a:rPr>
              <a:t>和</a:t>
            </a:r>
            <a:r>
              <a:rPr lang="en-US" altLang="zh-CN" sz="1800" dirty="0">
                <a:effectLst/>
                <a:ea typeface="宋体" panose="02010600030101010101" pitchFamily="2" charset="-122"/>
                <a:cs typeface="Times New Roman" panose="02020603050405020304" pitchFamily="18" charset="0"/>
              </a:rPr>
              <a:t>200</a:t>
            </a:r>
            <a:r>
              <a:rPr lang="zh-CN" altLang="zh-CN" sz="1800" dirty="0">
                <a:effectLst/>
                <a:ea typeface="宋体" panose="02010600030101010101" pitchFamily="2" charset="-122"/>
                <a:cs typeface="Times New Roman" panose="02020603050405020304" pitchFamily="18" charset="0"/>
              </a:rPr>
              <a:t>，</a:t>
            </a:r>
            <a:r>
              <a:rPr lang="en-US" altLang="zh-CN" sz="1800" dirty="0">
                <a:effectLst/>
                <a:ea typeface="宋体" panose="02010600030101010101" pitchFamily="2" charset="-122"/>
                <a:cs typeface="Times New Roman" panose="02020603050405020304" pitchFamily="18" charset="0"/>
              </a:rPr>
              <a:t>ffs</a:t>
            </a:r>
            <a:r>
              <a:rPr lang="zh-CN" altLang="zh-CN" sz="1800" dirty="0">
                <a:effectLst/>
                <a:ea typeface="宋体" panose="02010600030101010101" pitchFamily="2" charset="-122"/>
                <a:cs typeface="Times New Roman" panose="02020603050405020304" pitchFamily="18" charset="0"/>
              </a:rPr>
              <a:t>表示触发器，</a:t>
            </a:r>
            <a:r>
              <a:rPr lang="en-US" altLang="zh-CN" sz="1800" dirty="0">
                <a:effectLst/>
                <a:ea typeface="宋体" panose="02010600030101010101" pitchFamily="2" charset="-122"/>
                <a:cs typeface="Times New Roman" panose="02020603050405020304" pitchFamily="18" charset="0"/>
              </a:rPr>
              <a:t>R1</a:t>
            </a:r>
            <a:r>
              <a:rPr lang="zh-CN" altLang="zh-CN" sz="1800" dirty="0">
                <a:effectLst/>
                <a:ea typeface="宋体" panose="02010600030101010101" pitchFamily="2" charset="-122"/>
                <a:cs typeface="Times New Roman" panose="02020603050405020304" pitchFamily="18" charset="0"/>
              </a:rPr>
              <a:t>，</a:t>
            </a:r>
            <a:r>
              <a:rPr lang="en-US" altLang="zh-CN" sz="1800" dirty="0">
                <a:effectLst/>
                <a:ea typeface="宋体" panose="02010600030101010101" pitchFamily="2" charset="-122"/>
                <a:cs typeface="Times New Roman" panose="02020603050405020304" pitchFamily="18" charset="0"/>
              </a:rPr>
              <a:t>R2</a:t>
            </a:r>
            <a:r>
              <a:rPr lang="zh-CN" altLang="zh-CN" sz="1800" dirty="0">
                <a:effectLst/>
                <a:ea typeface="宋体" panose="02010600030101010101" pitchFamily="2" charset="-122"/>
                <a:cs typeface="Times New Roman" panose="02020603050405020304" pitchFamily="18" charset="0"/>
              </a:rPr>
              <a:t>，</a:t>
            </a:r>
            <a:r>
              <a:rPr lang="en-US" altLang="zh-CN" sz="1800" dirty="0">
                <a:effectLst/>
                <a:ea typeface="宋体" panose="02010600030101010101" pitchFamily="2" charset="-122"/>
                <a:cs typeface="Times New Roman" panose="02020603050405020304" pitchFamily="18" charset="0"/>
              </a:rPr>
              <a:t>…</a:t>
            </a:r>
            <a:r>
              <a:rPr lang="zh-CN" altLang="zh-CN" sz="1800" dirty="0">
                <a:effectLst/>
                <a:ea typeface="宋体" panose="02010600030101010101" pitchFamily="2" charset="-122"/>
                <a:cs typeface="Times New Roman" panose="02020603050405020304" pitchFamily="18" charset="0"/>
              </a:rPr>
              <a:t>，</a:t>
            </a:r>
            <a:r>
              <a:rPr lang="en-US" altLang="zh-CN" sz="1800" dirty="0">
                <a:effectLst/>
                <a:ea typeface="宋体" panose="02010600030101010101" pitchFamily="2" charset="-122"/>
                <a:cs typeface="Times New Roman" panose="02020603050405020304" pitchFamily="18" charset="0"/>
              </a:rPr>
              <a:t>R6</a:t>
            </a:r>
            <a:r>
              <a:rPr lang="zh-CN" altLang="zh-CN" sz="1800" dirty="0">
                <a:effectLst/>
                <a:ea typeface="宋体" panose="02010600030101010101" pitchFamily="2" charset="-122"/>
                <a:cs typeface="Times New Roman" panose="02020603050405020304" pitchFamily="18" charset="0"/>
              </a:rPr>
              <a:t>为寄存器，这六个寄存器连成一条扫描链。</a:t>
            </a:r>
            <a:endParaRPr lang="zh-CN" altLang="en-US" dirty="0"/>
          </a:p>
        </p:txBody>
      </p:sp>
      <p:grpSp>
        <p:nvGrpSpPr>
          <p:cNvPr id="6" name="组合 5">
            <a:extLst>
              <a:ext uri="{FF2B5EF4-FFF2-40B4-BE49-F238E27FC236}">
                <a16:creationId xmlns:a16="http://schemas.microsoft.com/office/drawing/2014/main" id="{048C7616-79FA-D124-AEF5-8BA06D5273C9}"/>
              </a:ext>
            </a:extLst>
          </p:cNvPr>
          <p:cNvGrpSpPr/>
          <p:nvPr/>
        </p:nvGrpSpPr>
        <p:grpSpPr>
          <a:xfrm>
            <a:off x="3248340" y="2368230"/>
            <a:ext cx="5653279" cy="2750309"/>
            <a:chOff x="3269360" y="2389250"/>
            <a:chExt cx="5653279" cy="2750309"/>
          </a:xfrm>
        </p:grpSpPr>
        <p:pic>
          <p:nvPicPr>
            <p:cNvPr id="5" name="图片 4">
              <a:extLst>
                <a:ext uri="{FF2B5EF4-FFF2-40B4-BE49-F238E27FC236}">
                  <a16:creationId xmlns:a16="http://schemas.microsoft.com/office/drawing/2014/main" id="{2B0AE5C3-F956-9F79-FEDE-7CDBA7A9A2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69360" y="2389250"/>
              <a:ext cx="5653279" cy="2750309"/>
            </a:xfrm>
            <a:prstGeom prst="rect">
              <a:avLst/>
            </a:prstGeom>
          </p:spPr>
        </p:pic>
        <p:sp>
          <p:nvSpPr>
            <p:cNvPr id="3" name="矩形 2">
              <a:extLst>
                <a:ext uri="{FF2B5EF4-FFF2-40B4-BE49-F238E27FC236}">
                  <a16:creationId xmlns:a16="http://schemas.microsoft.com/office/drawing/2014/main" id="{123D0CF1-1986-64C4-BAB3-FCDE3C6E5ACB}"/>
                </a:ext>
              </a:extLst>
            </p:cNvPr>
            <p:cNvSpPr/>
            <p:nvPr/>
          </p:nvSpPr>
          <p:spPr bwMode="auto">
            <a:xfrm>
              <a:off x="4348480" y="3368040"/>
              <a:ext cx="99059" cy="14478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dirty="0">
                <a:ln>
                  <a:noFill/>
                </a:ln>
                <a:solidFill>
                  <a:schemeClr val="tx1"/>
                </a:solidFill>
                <a:effectLst/>
                <a:latin typeface="Times New Roman" pitchFamily="18" charset="0"/>
                <a:ea typeface="宋体" pitchFamily="2" charset="-122"/>
              </a:endParaRPr>
            </a:p>
          </p:txBody>
        </p:sp>
      </p:grpSp>
    </p:spTree>
    <p:extLst>
      <p:ext uri="{BB962C8B-B14F-4D97-AF65-F5344CB8AC3E}">
        <p14:creationId xmlns:p14="http://schemas.microsoft.com/office/powerpoint/2010/main" val="39121320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CE3A9A-ED18-DE22-8821-0872053703BE}"/>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BD9B4B84-B138-7AE5-F4E0-62EDB65046E0}"/>
              </a:ext>
            </a:extLst>
          </p:cNvPr>
          <p:cNvSpPr>
            <a:spLocks noGrp="1"/>
          </p:cNvSpPr>
          <p:nvPr>
            <p:ph type="sldNum" sz="quarter" idx="12"/>
          </p:nvPr>
        </p:nvSpPr>
        <p:spPr/>
        <p:txBody>
          <a:bodyPr/>
          <a:lstStyle/>
          <a:p>
            <a:pPr>
              <a:defRPr/>
            </a:pPr>
            <a:fld id="{DB5F2CA6-A39B-48F7-84D1-AF91BD07D67D}" type="slidenum">
              <a:rPr lang="en-US" altLang="zh-CN" smtClean="0"/>
              <a:pPr>
                <a:defRPr/>
              </a:pPr>
              <a:t>6</a:t>
            </a:fld>
            <a:endParaRPr lang="en-US" altLang="zh-CN"/>
          </a:p>
        </p:txBody>
      </p:sp>
      <p:sp>
        <p:nvSpPr>
          <p:cNvPr id="2" name="矩形 1">
            <a:extLst>
              <a:ext uri="{FF2B5EF4-FFF2-40B4-BE49-F238E27FC236}">
                <a16:creationId xmlns:a16="http://schemas.microsoft.com/office/drawing/2014/main" id="{1E3CD2D5-74B1-E354-F90E-2D3646C48335}"/>
              </a:ext>
            </a:extLst>
          </p:cNvPr>
          <p:cNvSpPr/>
          <p:nvPr/>
        </p:nvSpPr>
        <p:spPr>
          <a:xfrm>
            <a:off x="388883" y="3992351"/>
            <a:ext cx="1826141" cy="584775"/>
          </a:xfrm>
          <a:prstGeom prst="rect">
            <a:avLst/>
          </a:prstGeom>
          <a:noFill/>
        </p:spPr>
        <p:txBody>
          <a:bodyPr wrap="none" lIns="91440" tIns="45720" rIns="91440" bIns="45720">
            <a:spAutoFit/>
          </a:bodyPr>
          <a:lstStyle/>
          <a:p>
            <a:pPr algn="ctr"/>
            <a:r>
              <a:rPr lang="zh-CN" altLang="en-US" sz="3200" b="0" cap="none" spc="0" dirty="0">
                <a:ln w="0"/>
                <a:solidFill>
                  <a:schemeClr val="accent2"/>
                </a:solidFill>
                <a:effectLst>
                  <a:outerShdw blurRad="38100" dist="19050" dir="2700000" algn="tl" rotWithShape="0">
                    <a:schemeClr val="dk1">
                      <a:alpha val="40000"/>
                    </a:schemeClr>
                  </a:outerShdw>
                </a:effectLst>
              </a:rPr>
              <a:t>交迭测试</a:t>
            </a:r>
          </a:p>
        </p:txBody>
      </p:sp>
      <p:sp>
        <p:nvSpPr>
          <p:cNvPr id="5" name="文本框 4">
            <a:extLst>
              <a:ext uri="{FF2B5EF4-FFF2-40B4-BE49-F238E27FC236}">
                <a16:creationId xmlns:a16="http://schemas.microsoft.com/office/drawing/2014/main" id="{1AA205EF-2A4A-6842-0C3B-8598942FA9AC}"/>
              </a:ext>
            </a:extLst>
          </p:cNvPr>
          <p:cNvSpPr txBox="1"/>
          <p:nvPr/>
        </p:nvSpPr>
        <p:spPr>
          <a:xfrm>
            <a:off x="388883" y="3153104"/>
            <a:ext cx="10888717" cy="3640740"/>
          </a:xfrm>
          <a:prstGeom prst="rect">
            <a:avLst/>
          </a:prstGeom>
          <a:noFill/>
        </p:spPr>
        <p:txBody>
          <a:bodyPr wrap="square" rtlCol="0">
            <a:spAutoFit/>
          </a:bodyPr>
          <a:lstStyle/>
          <a:p>
            <a:r>
              <a:rPr lang="en-US" altLang="zh-CN" dirty="0"/>
              <a:t>        </a:t>
            </a:r>
            <a:r>
              <a:rPr lang="zh-CN" altLang="en-US" dirty="0"/>
              <a:t>使用传统的扫描测试方法</a:t>
            </a:r>
            <a:r>
              <a:rPr lang="zh-CN" altLang="zh-CN" sz="1800" dirty="0">
                <a:effectLst/>
                <a:ea typeface="宋体" panose="02010600030101010101" pitchFamily="2" charset="-122"/>
                <a:cs typeface="Times New Roman" panose="02020603050405020304" pitchFamily="18" charset="0"/>
              </a:rPr>
              <a:t>是将三个内核的测试向量合并成一个长度为</a:t>
            </a:r>
            <a:r>
              <a:rPr lang="en-US" altLang="zh-CN" sz="1800" dirty="0">
                <a:effectLst/>
                <a:ea typeface="宋体" panose="02010600030101010101" pitchFamily="2" charset="-122"/>
                <a:cs typeface="Times New Roman" panose="02020603050405020304" pitchFamily="18" charset="0"/>
              </a:rPr>
              <a:t>200</a:t>
            </a:r>
            <a:r>
              <a:rPr lang="zh-CN" altLang="zh-CN" sz="1800" dirty="0">
                <a:effectLst/>
                <a:ea typeface="宋体" panose="02010600030101010101" pitchFamily="2" charset="-122"/>
                <a:cs typeface="Times New Roman" panose="02020603050405020304" pitchFamily="18" charset="0"/>
              </a:rPr>
              <a:t>的测试矢量集，按上述公式计算，这种方法需要花费</a:t>
            </a:r>
            <a:r>
              <a:rPr lang="en-US" altLang="zh-CN" sz="1800" dirty="0">
                <a:effectLst/>
                <a:ea typeface="宋体" panose="02010600030101010101" pitchFamily="2" charset="-122"/>
                <a:cs typeface="Times New Roman" panose="02020603050405020304" pitchFamily="18" charset="0"/>
              </a:rPr>
              <a:t>200</a:t>
            </a:r>
            <a:r>
              <a:rPr lang="zh-CN" altLang="zh-CN" sz="1800" dirty="0">
                <a:effectLst/>
                <a:ea typeface="宋体" panose="02010600030101010101" pitchFamily="2" charset="-122"/>
                <a:cs typeface="Times New Roman" panose="02020603050405020304" pitchFamily="18" charset="0"/>
              </a:rPr>
              <a:t>（</a:t>
            </a:r>
            <a:r>
              <a:rPr lang="en-US" altLang="zh-CN" sz="1800" dirty="0">
                <a:effectLst/>
                <a:ea typeface="宋体" panose="02010600030101010101" pitchFamily="2" charset="-122"/>
                <a:cs typeface="Times New Roman" panose="02020603050405020304" pitchFamily="18" charset="0"/>
              </a:rPr>
              <a:t>30+1</a:t>
            </a:r>
            <a:r>
              <a:rPr lang="zh-CN" altLang="zh-CN" sz="1800" dirty="0">
                <a:effectLst/>
                <a:ea typeface="宋体" panose="02010600030101010101" pitchFamily="2" charset="-122"/>
                <a:cs typeface="Times New Roman" panose="02020603050405020304" pitchFamily="18" charset="0"/>
              </a:rPr>
              <a:t>）</a:t>
            </a:r>
            <a:r>
              <a:rPr lang="en-US" altLang="zh-CN" sz="1800" dirty="0">
                <a:effectLst/>
                <a:ea typeface="宋体" panose="02010600030101010101" pitchFamily="2" charset="-122"/>
                <a:cs typeface="Times New Roman" panose="02020603050405020304" pitchFamily="18" charset="0"/>
              </a:rPr>
              <a:t>+30=6230</a:t>
            </a:r>
            <a:r>
              <a:rPr lang="zh-CN" altLang="zh-CN" sz="1800" dirty="0">
                <a:effectLst/>
                <a:ea typeface="宋体" panose="02010600030101010101" pitchFamily="2" charset="-122"/>
                <a:cs typeface="Times New Roman" panose="02020603050405020304" pitchFamily="18" charset="0"/>
              </a:rPr>
              <a:t>个时钟周期。</a:t>
            </a:r>
            <a:r>
              <a:rPr lang="zh-CN" altLang="zh-CN" sz="1800" dirty="0">
                <a:solidFill>
                  <a:srgbClr val="FF0000"/>
                </a:solidFill>
                <a:effectLst/>
                <a:ea typeface="宋体" panose="02010600030101010101" pitchFamily="2" charset="-122"/>
                <a:cs typeface="Times New Roman" panose="02020603050405020304" pitchFamily="18" charset="0"/>
              </a:rPr>
              <a:t>这种测试方法的特点是，测试时间与扫描链中寄存器的位置无关。</a:t>
            </a:r>
            <a:endParaRPr lang="en-US" altLang="zh-CN" sz="1800" dirty="0">
              <a:solidFill>
                <a:srgbClr val="FF0000"/>
              </a:solidFill>
              <a:effectLst/>
              <a:ea typeface="宋体" panose="02010600030101010101" pitchFamily="2" charset="-122"/>
              <a:cs typeface="Times New Roman" panose="02020603050405020304" pitchFamily="18" charset="0"/>
            </a:endParaRPr>
          </a:p>
          <a:p>
            <a:endParaRPr lang="en-US" altLang="zh-CN" dirty="0">
              <a:solidFill>
                <a:srgbClr val="FF0000"/>
              </a:solidFill>
              <a:ea typeface="宋体" panose="02010600030101010101" pitchFamily="2" charset="-122"/>
              <a:cs typeface="Times New Roman" panose="02020603050405020304" pitchFamily="18" charset="0"/>
            </a:endParaRPr>
          </a:p>
          <a:p>
            <a:endParaRPr lang="en-US" altLang="zh-CN" sz="1800" dirty="0">
              <a:solidFill>
                <a:srgbClr val="FF0000"/>
              </a:solidFill>
              <a:effectLst/>
              <a:ea typeface="宋体" panose="02010600030101010101" pitchFamily="2" charset="-122"/>
              <a:cs typeface="Times New Roman" panose="02020603050405020304" pitchFamily="18" charset="0"/>
            </a:endParaRPr>
          </a:p>
          <a:p>
            <a:r>
              <a:rPr lang="en-US" altLang="zh-CN" dirty="0">
                <a:solidFill>
                  <a:srgbClr val="FF0000"/>
                </a:solidFill>
                <a:ea typeface="宋体" panose="02010600030101010101" pitchFamily="2" charset="-122"/>
                <a:cs typeface="Times New Roman" panose="02020603050405020304" pitchFamily="18" charset="0"/>
              </a:rPr>
              <a:t>        </a:t>
            </a:r>
            <a:r>
              <a:rPr lang="zh-CN" altLang="en-US" dirty="0">
                <a:ea typeface="宋体" panose="02010600030101010101" pitchFamily="2" charset="-122"/>
                <a:cs typeface="Times New Roman" panose="02020603050405020304" pitchFamily="18" charset="0"/>
              </a:rPr>
              <a:t>在交迭测试中，</a:t>
            </a:r>
            <a:r>
              <a:rPr lang="zh-CN" altLang="zh-CN" sz="1800" dirty="0">
                <a:effectLst/>
                <a:ea typeface="宋体" panose="02010600030101010101" pitchFamily="2" charset="-122"/>
                <a:cs typeface="Times New Roman" panose="02020603050405020304" pitchFamily="18" charset="0"/>
              </a:rPr>
              <a:t>把电路测试分块进行，每一部分都施加一定的测试向量，直到内核的测试矢量集完全耗尽。</a:t>
            </a:r>
            <a:endParaRPr lang="en-US" altLang="zh-CN" sz="1800" dirty="0">
              <a:effectLst/>
              <a:ea typeface="宋体" panose="02010600030101010101" pitchFamily="2" charset="-122"/>
              <a:cs typeface="Times New Roman" panose="02020603050405020304" pitchFamily="18" charset="0"/>
            </a:endParaRPr>
          </a:p>
          <a:p>
            <a:pPr marL="285750" indent="-285750">
              <a:lnSpc>
                <a:spcPct val="150000"/>
              </a:lnSpc>
              <a:buFont typeface="Arial" panose="020B0604020202020204" pitchFamily="34" charset="0"/>
              <a:buChar char="•"/>
            </a:pPr>
            <a:r>
              <a:rPr lang="zh-CN" altLang="en-US" dirty="0">
                <a:ea typeface="宋体" panose="02010600030101010101" pitchFamily="2" charset="-122"/>
                <a:cs typeface="Times New Roman" panose="02020603050405020304" pitchFamily="18" charset="0"/>
              </a:rPr>
              <a:t>驱动器：</a:t>
            </a:r>
            <a:r>
              <a:rPr lang="zh-CN" altLang="zh-CN" sz="1800" dirty="0">
                <a:effectLst/>
                <a:ea typeface="宋体" panose="02010600030101010101" pitchFamily="2" charset="-122"/>
                <a:cs typeface="Times New Roman" panose="02020603050405020304" pitchFamily="18" charset="0"/>
              </a:rPr>
              <a:t>施加测试向量至某一被测内核的寄存器</a:t>
            </a:r>
            <a:endParaRPr lang="en-US" altLang="zh-CN" dirty="0">
              <a:ea typeface="宋体" panose="02010600030101010101" pitchFamily="2" charset="-122"/>
              <a:cs typeface="Times New Roman" panose="02020603050405020304" pitchFamily="18" charset="0"/>
            </a:endParaRPr>
          </a:p>
          <a:p>
            <a:pPr marL="285750" indent="-285750">
              <a:lnSpc>
                <a:spcPct val="150000"/>
              </a:lnSpc>
              <a:buFont typeface="Arial" panose="020B0604020202020204" pitchFamily="34" charset="0"/>
              <a:buChar char="•"/>
            </a:pPr>
            <a:r>
              <a:rPr lang="zh-CN" altLang="en-US" sz="1800" dirty="0">
                <a:effectLst/>
                <a:ea typeface="宋体" panose="02010600030101010101" pitchFamily="2" charset="-122"/>
                <a:cs typeface="Times New Roman" panose="02020603050405020304" pitchFamily="18" charset="0"/>
              </a:rPr>
              <a:t>接收器：</a:t>
            </a:r>
            <a:r>
              <a:rPr lang="zh-CN" altLang="zh-CN" sz="1800" dirty="0">
                <a:effectLst/>
                <a:ea typeface="宋体" panose="02010600030101010101" pitchFamily="2" charset="-122"/>
                <a:cs typeface="Times New Roman" panose="02020603050405020304" pitchFamily="18" charset="0"/>
              </a:rPr>
              <a:t>接收</a:t>
            </a:r>
            <a:r>
              <a:rPr lang="zh-CN" altLang="en-US" sz="1800" dirty="0">
                <a:effectLst/>
                <a:ea typeface="宋体" panose="02010600030101010101" pitchFamily="2" charset="-122"/>
                <a:cs typeface="Times New Roman" panose="02020603050405020304" pitchFamily="18" charset="0"/>
              </a:rPr>
              <a:t>一个</a:t>
            </a:r>
            <a:r>
              <a:rPr lang="zh-CN" altLang="zh-CN" sz="1800" dirty="0">
                <a:effectLst/>
                <a:ea typeface="宋体" panose="02010600030101010101" pitchFamily="2" charset="-122"/>
                <a:cs typeface="Times New Roman" panose="02020603050405020304" pitchFamily="18" charset="0"/>
              </a:rPr>
              <a:t>内核测试结果的寄存器</a:t>
            </a:r>
            <a:endParaRPr lang="en-US" altLang="zh-CN" sz="1800" dirty="0">
              <a:effectLst/>
              <a:ea typeface="宋体" panose="02010600030101010101" pitchFamily="2" charset="-122"/>
              <a:cs typeface="Times New Roman" panose="02020603050405020304" pitchFamily="18" charset="0"/>
            </a:endParaRPr>
          </a:p>
          <a:p>
            <a:pPr marL="285750" indent="-285750">
              <a:lnSpc>
                <a:spcPct val="150000"/>
              </a:lnSpc>
              <a:buFont typeface="Arial" panose="020B0604020202020204" pitchFamily="34" charset="0"/>
              <a:buChar char="•"/>
            </a:pPr>
            <a:r>
              <a:rPr lang="zh-CN" altLang="en-US" dirty="0">
                <a:ea typeface="宋体" panose="02010600030101010101" pitchFamily="2" charset="-122"/>
                <a:cs typeface="Times New Roman" panose="02020603050405020304" pitchFamily="18" charset="0"/>
              </a:rPr>
              <a:t>驱动</a:t>
            </a:r>
            <a:r>
              <a:rPr lang="en-US" altLang="zh-CN" dirty="0">
                <a:ea typeface="宋体" panose="02010600030101010101" pitchFamily="2" charset="-122"/>
                <a:cs typeface="Times New Roman" panose="02020603050405020304" pitchFamily="18" charset="0"/>
              </a:rPr>
              <a:t>-</a:t>
            </a:r>
            <a:r>
              <a:rPr lang="zh-CN" altLang="en-US" dirty="0">
                <a:ea typeface="宋体" panose="02010600030101010101" pitchFamily="2" charset="-122"/>
                <a:cs typeface="Times New Roman" panose="02020603050405020304" pitchFamily="18" charset="0"/>
              </a:rPr>
              <a:t>接收器：</a:t>
            </a:r>
            <a:r>
              <a:rPr lang="zh-CN" altLang="zh-CN" sz="1800" dirty="0">
                <a:effectLst/>
                <a:ea typeface="宋体" panose="02010600030101010101" pitchFamily="2" charset="-122"/>
                <a:cs typeface="Times New Roman" panose="02020603050405020304" pitchFamily="18" charset="0"/>
              </a:rPr>
              <a:t>又作驱动器又作接收器的寄存器</a:t>
            </a:r>
            <a:endParaRPr lang="en-US" altLang="zh-CN" sz="1800" dirty="0">
              <a:effectLst/>
              <a:ea typeface="宋体" panose="02010600030101010101" pitchFamily="2" charset="-122"/>
              <a:cs typeface="Times New Roman" panose="02020603050405020304" pitchFamily="18" charset="0"/>
            </a:endParaRPr>
          </a:p>
          <a:p>
            <a:pPr marL="285750" indent="-285750">
              <a:lnSpc>
                <a:spcPct val="150000"/>
              </a:lnSpc>
              <a:buFont typeface="Arial" panose="020B0604020202020204" pitchFamily="34" charset="0"/>
              <a:buChar char="•"/>
            </a:pPr>
            <a:r>
              <a:rPr lang="zh-CN" altLang="en-US" sz="1800" dirty="0">
                <a:effectLst/>
                <a:ea typeface="宋体" panose="02010600030101010101" pitchFamily="2" charset="-122"/>
                <a:cs typeface="Times New Roman" panose="02020603050405020304" pitchFamily="18" charset="0"/>
              </a:rPr>
              <a:t>链周期（</a:t>
            </a:r>
            <a:r>
              <a:rPr lang="en-US" altLang="zh-CN" sz="1800" dirty="0">
                <a:effectLst/>
                <a:ea typeface="宋体" panose="02010600030101010101" pitchFamily="2" charset="-122"/>
                <a:cs typeface="Times New Roman" panose="02020603050405020304" pitchFamily="18" charset="0"/>
              </a:rPr>
              <a:t>MCC</a:t>
            </a:r>
            <a:r>
              <a:rPr lang="zh-CN" altLang="en-US" sz="1800" dirty="0">
                <a:effectLst/>
                <a:ea typeface="宋体" panose="02010600030101010101" pitchFamily="2" charset="-122"/>
                <a:cs typeface="Times New Roman" panose="02020603050405020304" pitchFamily="18" charset="0"/>
              </a:rPr>
              <a:t>）：</a:t>
            </a:r>
            <a:r>
              <a:rPr lang="zh-CN" altLang="zh-CN" sz="1800" dirty="0">
                <a:effectLst/>
                <a:ea typeface="宋体" panose="02010600030101010101" pitchFamily="2" charset="-122"/>
                <a:cs typeface="Times New Roman" panose="02020603050405020304" pitchFamily="18" charset="0"/>
              </a:rPr>
              <a:t>针对特定的测试部分，完成一个向量的测试所需最少的时钟数</a:t>
            </a:r>
            <a:endParaRPr lang="en-US" altLang="zh-CN" sz="1800" dirty="0">
              <a:effectLst/>
              <a:ea typeface="宋体" panose="02010600030101010101" pitchFamily="2" charset="-122"/>
              <a:cs typeface="Times New Roman" panose="02020603050405020304" pitchFamily="18" charset="0"/>
            </a:endParaRPr>
          </a:p>
        </p:txBody>
      </p:sp>
      <p:pic>
        <p:nvPicPr>
          <p:cNvPr id="6" name="图片 5">
            <a:extLst>
              <a:ext uri="{FF2B5EF4-FFF2-40B4-BE49-F238E27FC236}">
                <a16:creationId xmlns:a16="http://schemas.microsoft.com/office/drawing/2014/main" id="{A5FE1E40-67F7-BB94-B875-D97DF8A402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58547" y="230302"/>
            <a:ext cx="5653279" cy="2750309"/>
          </a:xfrm>
          <a:prstGeom prst="rect">
            <a:avLst/>
          </a:prstGeom>
        </p:spPr>
      </p:pic>
      <p:sp>
        <p:nvSpPr>
          <p:cNvPr id="7" name="矩形 6">
            <a:extLst>
              <a:ext uri="{FF2B5EF4-FFF2-40B4-BE49-F238E27FC236}">
                <a16:creationId xmlns:a16="http://schemas.microsoft.com/office/drawing/2014/main" id="{2CA3C4C4-A67E-B9D3-5B87-20BF7BCEEB86}"/>
              </a:ext>
            </a:extLst>
          </p:cNvPr>
          <p:cNvSpPr/>
          <p:nvPr/>
        </p:nvSpPr>
        <p:spPr bwMode="auto">
          <a:xfrm>
            <a:off x="4537667" y="1209092"/>
            <a:ext cx="99059" cy="14478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dirty="0">
              <a:ln>
                <a:noFill/>
              </a:ln>
              <a:solidFill>
                <a:schemeClr val="tx1"/>
              </a:solidFill>
              <a:effectLst/>
              <a:latin typeface="Times New Roman" pitchFamily="18" charset="0"/>
              <a:ea typeface="宋体" pitchFamily="2" charset="-122"/>
            </a:endParaRPr>
          </a:p>
        </p:txBody>
      </p:sp>
    </p:spTree>
    <p:extLst>
      <p:ext uri="{BB962C8B-B14F-4D97-AF65-F5344CB8AC3E}">
        <p14:creationId xmlns:p14="http://schemas.microsoft.com/office/powerpoint/2010/main" val="4861687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44611-7D81-4966-3C1E-9F193E987DF5}"/>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B830951-60D6-868E-215F-A3D1927668D3}"/>
              </a:ext>
            </a:extLst>
          </p:cNvPr>
          <p:cNvSpPr>
            <a:spLocks noGrp="1"/>
          </p:cNvSpPr>
          <p:nvPr>
            <p:ph type="sldNum" sz="quarter" idx="12"/>
          </p:nvPr>
        </p:nvSpPr>
        <p:spPr/>
        <p:txBody>
          <a:bodyPr/>
          <a:lstStyle/>
          <a:p>
            <a:pPr>
              <a:defRPr/>
            </a:pPr>
            <a:fld id="{DB5F2CA6-A39B-48F7-84D1-AF91BD07D67D}" type="slidenum">
              <a:rPr lang="en-US" altLang="zh-CN" smtClean="0"/>
              <a:pPr>
                <a:defRPr/>
              </a:pPr>
              <a:t>7</a:t>
            </a:fld>
            <a:endParaRPr lang="en-US" altLang="zh-CN"/>
          </a:p>
        </p:txBody>
      </p:sp>
      <p:sp>
        <p:nvSpPr>
          <p:cNvPr id="6" name="文本框 5">
            <a:extLst>
              <a:ext uri="{FF2B5EF4-FFF2-40B4-BE49-F238E27FC236}">
                <a16:creationId xmlns:a16="http://schemas.microsoft.com/office/drawing/2014/main" id="{5EEF0B73-C6A3-75B6-EC64-3029469A9ED9}"/>
              </a:ext>
            </a:extLst>
          </p:cNvPr>
          <p:cNvSpPr txBox="1"/>
          <p:nvPr/>
        </p:nvSpPr>
        <p:spPr>
          <a:xfrm>
            <a:off x="761998" y="3720910"/>
            <a:ext cx="10668000" cy="2532745"/>
          </a:xfrm>
          <a:prstGeom prst="rect">
            <a:avLst/>
          </a:prstGeom>
          <a:noFill/>
        </p:spPr>
        <p:txBody>
          <a:bodyPr wrap="square" rtlCol="0">
            <a:spAutoFit/>
          </a:bodyPr>
          <a:lstStyle/>
          <a:p>
            <a:pPr algn="just">
              <a:lnSpc>
                <a:spcPct val="150000"/>
              </a:lnSpc>
            </a:pPr>
            <a:r>
              <a:rPr lang="en-US" altLang="zh-CN" sz="1800" dirty="0">
                <a:effectLst/>
                <a:ea typeface="宋体" panose="02010600030101010101" pitchFamily="2" charset="-122"/>
                <a:cs typeface="Times New Roman" panose="02020603050405020304" pitchFamily="18" charset="0"/>
              </a:rPr>
              <a:t>      </a:t>
            </a:r>
            <a:r>
              <a:rPr lang="zh-CN" altLang="zh-CN" sz="1800" dirty="0">
                <a:effectLst/>
                <a:ea typeface="宋体" panose="02010600030101010101" pitchFamily="2" charset="-122"/>
                <a:cs typeface="Times New Roman" panose="02020603050405020304" pitchFamily="18" charset="0"/>
              </a:rPr>
              <a:t>整个测试过程可以分为</a:t>
            </a:r>
            <a:r>
              <a:rPr lang="en-US" altLang="zh-CN" sz="1800" dirty="0">
                <a:effectLst/>
                <a:ea typeface="宋体" panose="02010600030101010101" pitchFamily="2" charset="-122"/>
                <a:cs typeface="Times New Roman" panose="02020603050405020304" pitchFamily="18" charset="0"/>
              </a:rPr>
              <a:t>3</a:t>
            </a:r>
            <a:r>
              <a:rPr lang="zh-CN" altLang="zh-CN" sz="1800" dirty="0">
                <a:effectLst/>
                <a:ea typeface="宋体" panose="02010600030101010101" pitchFamily="2" charset="-122"/>
                <a:cs typeface="Times New Roman" panose="02020603050405020304" pitchFamily="18" charset="0"/>
              </a:rPr>
              <a:t>部分，分别用</a:t>
            </a:r>
            <a:r>
              <a:rPr lang="en-US" altLang="zh-CN" sz="1800" dirty="0">
                <a:effectLst/>
                <a:ea typeface="宋体" panose="02010600030101010101" pitchFamily="2" charset="-122"/>
                <a:cs typeface="Times New Roman" panose="02020603050405020304" pitchFamily="18" charset="0"/>
              </a:rPr>
              <a:t>TS1</a:t>
            </a:r>
            <a:r>
              <a:rPr lang="zh-CN" altLang="zh-CN" sz="1800" dirty="0">
                <a:effectLst/>
                <a:ea typeface="宋体" panose="02010600030101010101" pitchFamily="2" charset="-122"/>
                <a:cs typeface="Times New Roman" panose="02020603050405020304" pitchFamily="18" charset="0"/>
              </a:rPr>
              <a:t>、</a:t>
            </a:r>
            <a:r>
              <a:rPr lang="en-US" altLang="zh-CN" sz="1800" dirty="0">
                <a:effectLst/>
                <a:ea typeface="宋体" panose="02010600030101010101" pitchFamily="2" charset="-122"/>
                <a:cs typeface="Times New Roman" panose="02020603050405020304" pitchFamily="18" charset="0"/>
              </a:rPr>
              <a:t>TS2</a:t>
            </a:r>
            <a:r>
              <a:rPr lang="zh-CN" altLang="zh-CN" sz="1800" dirty="0">
                <a:effectLst/>
                <a:ea typeface="宋体" panose="02010600030101010101" pitchFamily="2" charset="-122"/>
                <a:cs typeface="Times New Roman" panose="02020603050405020304" pitchFamily="18" charset="0"/>
              </a:rPr>
              <a:t>、</a:t>
            </a:r>
            <a:r>
              <a:rPr lang="en-US" altLang="zh-CN" sz="1800" dirty="0">
                <a:effectLst/>
                <a:ea typeface="宋体" panose="02010600030101010101" pitchFamily="2" charset="-122"/>
                <a:cs typeface="Times New Roman" panose="02020603050405020304" pitchFamily="18" charset="0"/>
              </a:rPr>
              <a:t>TS3</a:t>
            </a:r>
            <a:r>
              <a:rPr lang="zh-CN" altLang="zh-CN" sz="1800" dirty="0">
                <a:effectLst/>
                <a:ea typeface="宋体" panose="02010600030101010101" pitchFamily="2" charset="-122"/>
                <a:cs typeface="Times New Roman" panose="02020603050405020304" pitchFamily="18" charset="0"/>
              </a:rPr>
              <a:t>表示。对</a:t>
            </a:r>
            <a:r>
              <a:rPr lang="en-US" altLang="zh-CN" sz="1800" dirty="0">
                <a:effectLst/>
                <a:ea typeface="宋体" panose="02010600030101010101" pitchFamily="2" charset="-122"/>
                <a:cs typeface="Times New Roman" panose="02020603050405020304" pitchFamily="18" charset="0"/>
              </a:rPr>
              <a:t>TS1</a:t>
            </a:r>
            <a:r>
              <a:rPr lang="zh-CN" altLang="zh-CN" sz="1800" dirty="0">
                <a:effectLst/>
                <a:ea typeface="宋体" panose="02010600030101010101" pitchFamily="2" charset="-122"/>
                <a:cs typeface="Times New Roman" panose="02020603050405020304" pitchFamily="18" charset="0"/>
              </a:rPr>
              <a:t>，</a:t>
            </a:r>
            <a:r>
              <a:rPr lang="en-US" altLang="zh-CN" sz="1800" dirty="0">
                <a:effectLst/>
                <a:ea typeface="宋体" panose="02010600030101010101" pitchFamily="2" charset="-122"/>
                <a:cs typeface="Times New Roman" panose="02020603050405020304" pitchFamily="18" charset="0"/>
              </a:rPr>
              <a:t>40</a:t>
            </a:r>
            <a:r>
              <a:rPr lang="zh-CN" altLang="zh-CN" sz="1800" dirty="0">
                <a:effectLst/>
                <a:ea typeface="宋体" panose="02010600030101010101" pitchFamily="2" charset="-122"/>
                <a:cs typeface="Times New Roman" panose="02020603050405020304" pitchFamily="18" charset="0"/>
              </a:rPr>
              <a:t>个向量同时施加到</a:t>
            </a:r>
            <a:r>
              <a:rPr lang="en-US" altLang="zh-CN" sz="1800" dirty="0">
                <a:effectLst/>
                <a:ea typeface="宋体" panose="02010600030101010101" pitchFamily="2" charset="-122"/>
                <a:cs typeface="Times New Roman" panose="02020603050405020304" pitchFamily="18" charset="0"/>
              </a:rPr>
              <a:t>K1</a:t>
            </a:r>
            <a:r>
              <a:rPr lang="zh-CN" altLang="zh-CN" sz="1800" dirty="0">
                <a:effectLst/>
                <a:ea typeface="宋体" panose="02010600030101010101" pitchFamily="2" charset="-122"/>
                <a:cs typeface="Times New Roman" panose="02020603050405020304" pitchFamily="18" charset="0"/>
              </a:rPr>
              <a:t>、</a:t>
            </a:r>
            <a:r>
              <a:rPr lang="en-US" altLang="zh-CN" sz="1800" dirty="0">
                <a:effectLst/>
                <a:ea typeface="宋体" panose="02010600030101010101" pitchFamily="2" charset="-122"/>
                <a:cs typeface="Times New Roman" panose="02020603050405020304" pitchFamily="18" charset="0"/>
              </a:rPr>
              <a:t>K2</a:t>
            </a:r>
            <a:r>
              <a:rPr lang="zh-CN" altLang="zh-CN" sz="1800" dirty="0">
                <a:effectLst/>
                <a:ea typeface="宋体" panose="02010600030101010101" pitchFamily="2" charset="-122"/>
                <a:cs typeface="Times New Roman" panose="02020603050405020304" pitchFamily="18" charset="0"/>
              </a:rPr>
              <a:t>、</a:t>
            </a:r>
            <a:r>
              <a:rPr lang="en-US" altLang="zh-CN" sz="1800" dirty="0">
                <a:effectLst/>
                <a:ea typeface="宋体" panose="02010600030101010101" pitchFamily="2" charset="-122"/>
                <a:cs typeface="Times New Roman" panose="02020603050405020304" pitchFamily="18" charset="0"/>
              </a:rPr>
              <a:t>K3</a:t>
            </a:r>
            <a:r>
              <a:rPr lang="zh-CN" altLang="zh-CN" sz="1800" dirty="0">
                <a:effectLst/>
                <a:ea typeface="宋体" panose="02010600030101010101" pitchFamily="2" charset="-122"/>
                <a:cs typeface="Times New Roman" panose="02020603050405020304" pitchFamily="18" charset="0"/>
              </a:rPr>
              <a:t>，</a:t>
            </a:r>
            <a:r>
              <a:rPr lang="en-US" altLang="zh-CN" sz="1800" dirty="0">
                <a:effectLst/>
                <a:ea typeface="宋体" panose="02010600030101010101" pitchFamily="2" charset="-122"/>
                <a:cs typeface="Times New Roman" panose="02020603050405020304" pitchFamily="18" charset="0"/>
              </a:rPr>
              <a:t>R1</a:t>
            </a:r>
            <a:r>
              <a:rPr lang="zh-CN" altLang="zh-CN" sz="1800" dirty="0">
                <a:effectLst/>
                <a:ea typeface="宋体" panose="02010600030101010101" pitchFamily="2" charset="-122"/>
                <a:cs typeface="Times New Roman" panose="02020603050405020304" pitchFamily="18" charset="0"/>
              </a:rPr>
              <a:t>、</a:t>
            </a:r>
            <a:r>
              <a:rPr lang="en-US" altLang="zh-CN" sz="1800" dirty="0">
                <a:effectLst/>
                <a:ea typeface="宋体" panose="02010600030101010101" pitchFamily="2" charset="-122"/>
                <a:cs typeface="Times New Roman" panose="02020603050405020304" pitchFamily="18" charset="0"/>
              </a:rPr>
              <a:t>R2</a:t>
            </a:r>
            <a:r>
              <a:rPr lang="zh-CN" altLang="zh-CN" sz="1800" dirty="0">
                <a:effectLst/>
                <a:ea typeface="宋体" panose="02010600030101010101" pitchFamily="2" charset="-122"/>
                <a:cs typeface="Times New Roman" panose="02020603050405020304" pitchFamily="18" charset="0"/>
              </a:rPr>
              <a:t>作为驱动器，</a:t>
            </a:r>
            <a:r>
              <a:rPr lang="en-US" altLang="zh-CN" sz="1800" dirty="0">
                <a:effectLst/>
                <a:ea typeface="宋体" panose="02010600030101010101" pitchFamily="2" charset="-122"/>
                <a:cs typeface="Times New Roman" panose="02020603050405020304" pitchFamily="18" charset="0"/>
              </a:rPr>
              <a:t>R6</a:t>
            </a:r>
            <a:r>
              <a:rPr lang="zh-CN" altLang="zh-CN" sz="1800" dirty="0">
                <a:effectLst/>
                <a:ea typeface="宋体" panose="02010600030101010101" pitchFamily="2" charset="-122"/>
                <a:cs typeface="Times New Roman" panose="02020603050405020304" pitchFamily="18" charset="0"/>
              </a:rPr>
              <a:t>作为接收器，</a:t>
            </a:r>
            <a:r>
              <a:rPr lang="en-US" altLang="zh-CN" sz="1800" dirty="0">
                <a:effectLst/>
                <a:ea typeface="宋体" panose="02010600030101010101" pitchFamily="2" charset="-122"/>
                <a:cs typeface="Times New Roman" panose="02020603050405020304" pitchFamily="18" charset="0"/>
              </a:rPr>
              <a:t>R3</a:t>
            </a:r>
            <a:r>
              <a:rPr lang="zh-CN" altLang="zh-CN" sz="1800" dirty="0">
                <a:effectLst/>
                <a:ea typeface="宋体" panose="02010600030101010101" pitchFamily="2" charset="-122"/>
                <a:cs typeface="Times New Roman" panose="02020603050405020304" pitchFamily="18" charset="0"/>
              </a:rPr>
              <a:t>、</a:t>
            </a:r>
            <a:r>
              <a:rPr lang="en-US" altLang="zh-CN" sz="1800" dirty="0">
                <a:effectLst/>
                <a:ea typeface="宋体" panose="02010600030101010101" pitchFamily="2" charset="-122"/>
                <a:cs typeface="Times New Roman" panose="02020603050405020304" pitchFamily="18" charset="0"/>
              </a:rPr>
              <a:t>R4</a:t>
            </a:r>
            <a:r>
              <a:rPr lang="zh-CN" altLang="zh-CN" sz="1800" dirty="0">
                <a:effectLst/>
                <a:ea typeface="宋体" panose="02010600030101010101" pitchFamily="2" charset="-122"/>
                <a:cs typeface="Times New Roman" panose="02020603050405020304" pitchFamily="18" charset="0"/>
              </a:rPr>
              <a:t>、</a:t>
            </a:r>
            <a:r>
              <a:rPr lang="en-US" altLang="zh-CN" sz="1800" dirty="0">
                <a:effectLst/>
                <a:ea typeface="宋体" panose="02010600030101010101" pitchFamily="2" charset="-122"/>
                <a:cs typeface="Times New Roman" panose="02020603050405020304" pitchFamily="18" charset="0"/>
              </a:rPr>
              <a:t>R5</a:t>
            </a:r>
            <a:r>
              <a:rPr lang="zh-CN" altLang="zh-CN" sz="1800" dirty="0">
                <a:effectLst/>
                <a:ea typeface="宋体" panose="02010600030101010101" pitchFamily="2" charset="-122"/>
                <a:cs typeface="Times New Roman" panose="02020603050405020304" pitchFamily="18" charset="0"/>
              </a:rPr>
              <a:t>为驱动</a:t>
            </a:r>
            <a:r>
              <a:rPr lang="en-US" altLang="zh-CN" sz="1800" dirty="0">
                <a:effectLst/>
                <a:ea typeface="宋体" panose="02010600030101010101" pitchFamily="2" charset="-122"/>
                <a:cs typeface="Times New Roman" panose="02020603050405020304" pitchFamily="18" charset="0"/>
              </a:rPr>
              <a:t>-</a:t>
            </a:r>
            <a:r>
              <a:rPr lang="zh-CN" altLang="zh-CN" sz="1800" dirty="0">
                <a:effectLst/>
                <a:ea typeface="宋体" panose="02010600030101010101" pitchFamily="2" charset="-122"/>
                <a:cs typeface="Times New Roman" panose="02020603050405020304" pitchFamily="18" charset="0"/>
              </a:rPr>
              <a:t>接收器。在</a:t>
            </a:r>
            <a:r>
              <a:rPr lang="en-US" altLang="zh-CN" sz="1800" dirty="0">
                <a:effectLst/>
                <a:ea typeface="宋体" panose="02010600030101010101" pitchFamily="2" charset="-122"/>
                <a:cs typeface="Times New Roman" panose="02020603050405020304" pitchFamily="18" charset="0"/>
              </a:rPr>
              <a:t>TS1</a:t>
            </a:r>
            <a:r>
              <a:rPr lang="zh-CN" altLang="zh-CN" sz="1800" dirty="0">
                <a:effectLst/>
                <a:ea typeface="宋体" panose="02010600030101010101" pitchFamily="2" charset="-122"/>
                <a:cs typeface="Times New Roman" panose="02020603050405020304" pitchFamily="18" charset="0"/>
              </a:rPr>
              <a:t>测试过程中，</a:t>
            </a:r>
            <a:r>
              <a:rPr lang="en-US" altLang="zh-CN" sz="1800" dirty="0">
                <a:effectLst/>
                <a:ea typeface="宋体" panose="02010600030101010101" pitchFamily="2" charset="-122"/>
                <a:cs typeface="Times New Roman" panose="02020603050405020304" pitchFamily="18" charset="0"/>
              </a:rPr>
              <a:t>3</a:t>
            </a:r>
            <a:r>
              <a:rPr lang="zh-CN" altLang="zh-CN" sz="1800" dirty="0">
                <a:effectLst/>
                <a:ea typeface="宋体" panose="02010600030101010101" pitchFamily="2" charset="-122"/>
                <a:cs typeface="Times New Roman" panose="02020603050405020304" pitchFamily="18" charset="0"/>
              </a:rPr>
              <a:t>个内核的测试向量集合并后移入扫描链，同时前一次测试结果被移出，</a:t>
            </a:r>
            <a:r>
              <a:rPr lang="zh-CN" altLang="zh-CN" sz="1800" dirty="0">
                <a:solidFill>
                  <a:srgbClr val="FF0000"/>
                </a:solidFill>
                <a:effectLst/>
                <a:ea typeface="宋体" panose="02010600030101010101" pitchFamily="2" charset="-122"/>
                <a:cs typeface="Times New Roman" panose="02020603050405020304" pitchFamily="18" charset="0"/>
              </a:rPr>
              <a:t>对于</a:t>
            </a:r>
            <a:r>
              <a:rPr lang="en-US" altLang="zh-CN" sz="1800" dirty="0">
                <a:solidFill>
                  <a:srgbClr val="FF0000"/>
                </a:solidFill>
                <a:effectLst/>
                <a:ea typeface="宋体" panose="02010600030101010101" pitchFamily="2" charset="-122"/>
                <a:cs typeface="Times New Roman" panose="02020603050405020304" pitchFamily="18" charset="0"/>
              </a:rPr>
              <a:t>TS1</a:t>
            </a:r>
            <a:r>
              <a:rPr lang="zh-CN" altLang="zh-CN" sz="1800" dirty="0">
                <a:solidFill>
                  <a:srgbClr val="FF0000"/>
                </a:solidFill>
                <a:effectLst/>
                <a:ea typeface="宋体" panose="02010600030101010101" pitchFamily="2" charset="-122"/>
                <a:cs typeface="Times New Roman" panose="02020603050405020304" pitchFamily="18" charset="0"/>
              </a:rPr>
              <a:t>过程，扫描输入的测试矢量包括用于检测</a:t>
            </a:r>
            <a:r>
              <a:rPr lang="en-US" altLang="zh-CN" sz="1800" dirty="0">
                <a:solidFill>
                  <a:srgbClr val="FF0000"/>
                </a:solidFill>
                <a:effectLst/>
                <a:ea typeface="宋体" panose="02010600030101010101" pitchFamily="2" charset="-122"/>
                <a:cs typeface="Times New Roman" panose="02020603050405020304" pitchFamily="18" charset="0"/>
              </a:rPr>
              <a:t>K1</a:t>
            </a:r>
            <a:r>
              <a:rPr lang="zh-CN" altLang="zh-CN" sz="1800" dirty="0">
                <a:solidFill>
                  <a:srgbClr val="FF0000"/>
                </a:solidFill>
                <a:effectLst/>
                <a:ea typeface="宋体" panose="02010600030101010101" pitchFamily="2" charset="-122"/>
                <a:cs typeface="Times New Roman" panose="02020603050405020304" pitchFamily="18" charset="0"/>
              </a:rPr>
              <a:t>部分的矢量、用于检测</a:t>
            </a:r>
            <a:r>
              <a:rPr lang="en-US" altLang="zh-CN" sz="1800" dirty="0">
                <a:solidFill>
                  <a:srgbClr val="FF0000"/>
                </a:solidFill>
                <a:effectLst/>
                <a:ea typeface="宋体" panose="02010600030101010101" pitchFamily="2" charset="-122"/>
                <a:cs typeface="Times New Roman" panose="02020603050405020304" pitchFamily="18" charset="0"/>
              </a:rPr>
              <a:t>K2</a:t>
            </a:r>
            <a:r>
              <a:rPr lang="zh-CN" altLang="zh-CN" sz="1800" dirty="0">
                <a:solidFill>
                  <a:srgbClr val="FF0000"/>
                </a:solidFill>
                <a:effectLst/>
                <a:ea typeface="宋体" panose="02010600030101010101" pitchFamily="2" charset="-122"/>
                <a:cs typeface="Times New Roman" panose="02020603050405020304" pitchFamily="18" charset="0"/>
              </a:rPr>
              <a:t>部分的矢量和用于检测</a:t>
            </a:r>
            <a:r>
              <a:rPr lang="en-US" altLang="zh-CN" sz="1800" dirty="0">
                <a:solidFill>
                  <a:srgbClr val="FF0000"/>
                </a:solidFill>
                <a:effectLst/>
                <a:ea typeface="宋体" panose="02010600030101010101" pitchFamily="2" charset="-122"/>
                <a:cs typeface="Times New Roman" panose="02020603050405020304" pitchFamily="18" charset="0"/>
              </a:rPr>
              <a:t>K3</a:t>
            </a:r>
            <a:r>
              <a:rPr lang="zh-CN" altLang="zh-CN" sz="1800" dirty="0">
                <a:solidFill>
                  <a:srgbClr val="FF0000"/>
                </a:solidFill>
                <a:effectLst/>
                <a:ea typeface="宋体" panose="02010600030101010101" pitchFamily="2" charset="-122"/>
                <a:cs typeface="Times New Roman" panose="02020603050405020304" pitchFamily="18" charset="0"/>
              </a:rPr>
              <a:t>部分的矢量</a:t>
            </a:r>
            <a:r>
              <a:rPr lang="zh-CN" altLang="zh-CN" sz="1800" dirty="0">
                <a:effectLst/>
                <a:ea typeface="宋体" panose="02010600030101010101" pitchFamily="2" charset="-122"/>
                <a:cs typeface="Times New Roman" panose="02020603050405020304" pitchFamily="18" charset="0"/>
              </a:rPr>
              <a:t>，一共四十个，这样内核</a:t>
            </a:r>
            <a:r>
              <a:rPr lang="en-US" altLang="zh-CN" sz="1800" dirty="0">
                <a:effectLst/>
                <a:ea typeface="宋体" panose="02010600030101010101" pitchFamily="2" charset="-122"/>
                <a:cs typeface="Times New Roman" panose="02020603050405020304" pitchFamily="18" charset="0"/>
              </a:rPr>
              <a:t>K1</a:t>
            </a:r>
            <a:r>
              <a:rPr lang="zh-CN" altLang="zh-CN" sz="1800" dirty="0">
                <a:effectLst/>
                <a:ea typeface="宋体" panose="02010600030101010101" pitchFamily="2" charset="-122"/>
                <a:cs typeface="Times New Roman" panose="02020603050405020304" pitchFamily="18" charset="0"/>
              </a:rPr>
              <a:t>部分的组合逻辑就将全部被检测，</a:t>
            </a:r>
            <a:r>
              <a:rPr lang="en-US" altLang="zh-CN" sz="1800" dirty="0">
                <a:effectLst/>
                <a:ea typeface="宋体" panose="02010600030101010101" pitchFamily="2" charset="-122"/>
                <a:cs typeface="Times New Roman" panose="02020603050405020304" pitchFamily="18" charset="0"/>
              </a:rPr>
              <a:t>K2</a:t>
            </a:r>
            <a:r>
              <a:rPr lang="zh-CN" altLang="zh-CN" sz="1800" dirty="0">
                <a:effectLst/>
                <a:ea typeface="宋体" panose="02010600030101010101" pitchFamily="2" charset="-122"/>
                <a:cs typeface="Times New Roman" panose="02020603050405020304" pitchFamily="18" charset="0"/>
              </a:rPr>
              <a:t>和</a:t>
            </a:r>
            <a:r>
              <a:rPr lang="en-US" altLang="zh-CN" sz="1800" dirty="0">
                <a:effectLst/>
                <a:ea typeface="宋体" panose="02010600030101010101" pitchFamily="2" charset="-122"/>
                <a:cs typeface="Times New Roman" panose="02020603050405020304" pitchFamily="18" charset="0"/>
              </a:rPr>
              <a:t>K3</a:t>
            </a:r>
            <a:r>
              <a:rPr lang="zh-CN" altLang="zh-CN" sz="1800" dirty="0">
                <a:effectLst/>
                <a:ea typeface="宋体" panose="02010600030101010101" pitchFamily="2" charset="-122"/>
                <a:cs typeface="Times New Roman" panose="02020603050405020304" pitchFamily="18" charset="0"/>
              </a:rPr>
              <a:t>部分的还剩</a:t>
            </a:r>
            <a:r>
              <a:rPr lang="en-US" altLang="zh-CN" sz="1800" dirty="0">
                <a:effectLst/>
                <a:ea typeface="宋体" panose="02010600030101010101" pitchFamily="2" charset="-122"/>
                <a:cs typeface="Times New Roman" panose="02020603050405020304" pitchFamily="18" charset="0"/>
              </a:rPr>
              <a:t>60</a:t>
            </a:r>
            <a:r>
              <a:rPr lang="zh-CN" altLang="zh-CN" sz="1800" dirty="0">
                <a:effectLst/>
                <a:ea typeface="宋体" panose="02010600030101010101" pitchFamily="2" charset="-122"/>
                <a:cs typeface="Times New Roman" panose="02020603050405020304" pitchFamily="18" charset="0"/>
              </a:rPr>
              <a:t>个和</a:t>
            </a:r>
            <a:r>
              <a:rPr lang="en-US" altLang="zh-CN" sz="1800" dirty="0">
                <a:effectLst/>
                <a:ea typeface="宋体" panose="02010600030101010101" pitchFamily="2" charset="-122"/>
                <a:cs typeface="Times New Roman" panose="02020603050405020304" pitchFamily="18" charset="0"/>
              </a:rPr>
              <a:t>160</a:t>
            </a:r>
            <a:r>
              <a:rPr lang="zh-CN" altLang="zh-CN" sz="1800" dirty="0">
                <a:effectLst/>
                <a:ea typeface="宋体" panose="02010600030101010101" pitchFamily="2" charset="-122"/>
                <a:cs typeface="Times New Roman" panose="02020603050405020304" pitchFamily="18" charset="0"/>
              </a:rPr>
              <a:t>个，并且这四十个测试矢量需要经过所有的触发器，因此链周期为</a:t>
            </a:r>
            <a:r>
              <a:rPr lang="en-US" altLang="zh-CN" sz="1800" dirty="0">
                <a:effectLst/>
                <a:ea typeface="宋体" panose="02010600030101010101" pitchFamily="2" charset="-122"/>
                <a:cs typeface="Times New Roman" panose="02020603050405020304" pitchFamily="18" charset="0"/>
              </a:rPr>
              <a:t>30</a:t>
            </a:r>
            <a:r>
              <a:rPr lang="zh-CN" altLang="zh-CN" sz="1800" dirty="0">
                <a:effectLst/>
                <a:ea typeface="宋体" panose="02010600030101010101" pitchFamily="2" charset="-122"/>
                <a:cs typeface="Times New Roman" panose="02020603050405020304" pitchFamily="18" charset="0"/>
              </a:rPr>
              <a:t>，故</a:t>
            </a:r>
            <a:r>
              <a:rPr lang="en-US" altLang="zh-CN" sz="1800" dirty="0">
                <a:effectLst/>
                <a:ea typeface="宋体" panose="02010600030101010101" pitchFamily="2" charset="-122"/>
                <a:cs typeface="Times New Roman" panose="02020603050405020304" pitchFamily="18" charset="0"/>
              </a:rPr>
              <a:t>TS1</a:t>
            </a:r>
            <a:r>
              <a:rPr lang="zh-CN" altLang="zh-CN" sz="1800" dirty="0">
                <a:effectLst/>
                <a:ea typeface="宋体" panose="02010600030101010101" pitchFamily="2" charset="-122"/>
                <a:cs typeface="Times New Roman" panose="02020603050405020304" pitchFamily="18" charset="0"/>
              </a:rPr>
              <a:t>部分的测试时间为</a:t>
            </a:r>
            <a:r>
              <a:rPr lang="en-US" altLang="zh-CN" sz="1800" dirty="0">
                <a:effectLst/>
                <a:ea typeface="宋体" panose="02010600030101010101" pitchFamily="2" charset="-122"/>
                <a:cs typeface="Times New Roman" panose="02020603050405020304" pitchFamily="18" charset="0"/>
              </a:rPr>
              <a:t>40</a:t>
            </a:r>
            <a:r>
              <a:rPr lang="zh-CN" altLang="zh-CN" sz="1800" dirty="0">
                <a:effectLst/>
                <a:ea typeface="宋体" panose="02010600030101010101" pitchFamily="2" charset="-122"/>
                <a:cs typeface="Times New Roman" panose="02020603050405020304" pitchFamily="18" charset="0"/>
              </a:rPr>
              <a:t>（</a:t>
            </a:r>
            <a:r>
              <a:rPr lang="en-US" altLang="zh-CN" sz="1800" dirty="0">
                <a:effectLst/>
                <a:ea typeface="宋体" panose="02010600030101010101" pitchFamily="2" charset="-122"/>
                <a:cs typeface="Times New Roman" panose="02020603050405020304" pitchFamily="18" charset="0"/>
              </a:rPr>
              <a:t>30+1</a:t>
            </a:r>
            <a:r>
              <a:rPr lang="zh-CN" altLang="zh-CN" sz="1800" dirty="0">
                <a:effectLst/>
                <a:ea typeface="宋体" panose="02010600030101010101" pitchFamily="2" charset="-122"/>
                <a:cs typeface="Times New Roman" panose="02020603050405020304" pitchFamily="18" charset="0"/>
              </a:rPr>
              <a:t>）</a:t>
            </a:r>
            <a:r>
              <a:rPr lang="en-US" altLang="zh-CN" sz="1800" dirty="0">
                <a:effectLst/>
                <a:ea typeface="宋体" panose="02010600030101010101" pitchFamily="2" charset="-122"/>
                <a:cs typeface="Times New Roman" panose="02020603050405020304" pitchFamily="18" charset="0"/>
              </a:rPr>
              <a:t>=1240</a:t>
            </a:r>
            <a:r>
              <a:rPr lang="zh-CN" altLang="zh-CN" sz="1800" dirty="0">
                <a:effectLst/>
                <a:ea typeface="宋体" panose="02010600030101010101" pitchFamily="2" charset="-122"/>
                <a:cs typeface="Times New Roman" panose="02020603050405020304" pitchFamily="18" charset="0"/>
              </a:rPr>
              <a:t>个时钟</a:t>
            </a:r>
            <a:r>
              <a:rPr lang="zh-CN" altLang="en-US" sz="1800" dirty="0">
                <a:effectLst/>
                <a:ea typeface="宋体" panose="02010600030101010101" pitchFamily="2" charset="-122"/>
                <a:cs typeface="Times New Roman" panose="02020603050405020304" pitchFamily="18" charset="0"/>
              </a:rPr>
              <a:t>。</a:t>
            </a:r>
            <a:endParaRPr lang="zh-CN" altLang="en-US" dirty="0"/>
          </a:p>
        </p:txBody>
      </p:sp>
      <p:sp>
        <p:nvSpPr>
          <p:cNvPr id="7" name="矩形 6">
            <a:extLst>
              <a:ext uri="{FF2B5EF4-FFF2-40B4-BE49-F238E27FC236}">
                <a16:creationId xmlns:a16="http://schemas.microsoft.com/office/drawing/2014/main" id="{9575AA6F-9FD1-1E3F-6584-3F471C381446}"/>
              </a:ext>
            </a:extLst>
          </p:cNvPr>
          <p:cNvSpPr/>
          <p:nvPr/>
        </p:nvSpPr>
        <p:spPr>
          <a:xfrm>
            <a:off x="420414" y="324237"/>
            <a:ext cx="1826141" cy="584775"/>
          </a:xfrm>
          <a:prstGeom prst="rect">
            <a:avLst/>
          </a:prstGeom>
          <a:noFill/>
        </p:spPr>
        <p:txBody>
          <a:bodyPr wrap="none" lIns="91440" tIns="45720" rIns="91440" bIns="45720">
            <a:spAutoFit/>
          </a:bodyPr>
          <a:lstStyle/>
          <a:p>
            <a:pPr algn="ctr"/>
            <a:r>
              <a:rPr lang="zh-CN" altLang="en-US" sz="3200" b="0" cap="none" spc="0" dirty="0">
                <a:ln w="0"/>
                <a:solidFill>
                  <a:schemeClr val="accent2"/>
                </a:solidFill>
                <a:effectLst>
                  <a:outerShdw blurRad="38100" dist="19050" dir="2700000" algn="tl" rotWithShape="0">
                    <a:schemeClr val="dk1">
                      <a:alpha val="40000"/>
                    </a:schemeClr>
                  </a:outerShdw>
                </a:effectLst>
              </a:rPr>
              <a:t>交迭测试</a:t>
            </a:r>
          </a:p>
        </p:txBody>
      </p:sp>
      <p:pic>
        <p:nvPicPr>
          <p:cNvPr id="8" name="图片 7">
            <a:extLst>
              <a:ext uri="{FF2B5EF4-FFF2-40B4-BE49-F238E27FC236}">
                <a16:creationId xmlns:a16="http://schemas.microsoft.com/office/drawing/2014/main" id="{2C477C37-4D43-0F37-4B48-0E9859ACAA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953" y="970601"/>
            <a:ext cx="5653279" cy="2750309"/>
          </a:xfrm>
          <a:prstGeom prst="rect">
            <a:avLst/>
          </a:prstGeom>
        </p:spPr>
      </p:pic>
      <p:sp>
        <p:nvSpPr>
          <p:cNvPr id="9" name="矩形 8">
            <a:extLst>
              <a:ext uri="{FF2B5EF4-FFF2-40B4-BE49-F238E27FC236}">
                <a16:creationId xmlns:a16="http://schemas.microsoft.com/office/drawing/2014/main" id="{4663E5BF-297C-C31F-91E1-8066085A284C}"/>
              </a:ext>
            </a:extLst>
          </p:cNvPr>
          <p:cNvSpPr/>
          <p:nvPr/>
        </p:nvSpPr>
        <p:spPr bwMode="auto">
          <a:xfrm>
            <a:off x="4443073" y="1949391"/>
            <a:ext cx="99059" cy="14478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dirty="0">
              <a:ln>
                <a:noFill/>
              </a:ln>
              <a:solidFill>
                <a:schemeClr val="tx1"/>
              </a:solidFill>
              <a:effectLst/>
              <a:latin typeface="Times New Roman" pitchFamily="18" charset="0"/>
              <a:ea typeface="宋体" pitchFamily="2" charset="-122"/>
            </a:endParaRPr>
          </a:p>
        </p:txBody>
      </p:sp>
    </p:spTree>
    <p:extLst>
      <p:ext uri="{BB962C8B-B14F-4D97-AF65-F5344CB8AC3E}">
        <p14:creationId xmlns:p14="http://schemas.microsoft.com/office/powerpoint/2010/main" val="22539556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14DF5F-5E8D-CC4B-4594-8B40E5E291ED}"/>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05A379B0-9B5C-BC80-7756-BEC2A6B8C166}"/>
              </a:ext>
            </a:extLst>
          </p:cNvPr>
          <p:cNvSpPr>
            <a:spLocks noGrp="1"/>
          </p:cNvSpPr>
          <p:nvPr>
            <p:ph type="sldNum" sz="quarter" idx="12"/>
          </p:nvPr>
        </p:nvSpPr>
        <p:spPr/>
        <p:txBody>
          <a:bodyPr/>
          <a:lstStyle/>
          <a:p>
            <a:pPr>
              <a:defRPr/>
            </a:pPr>
            <a:fld id="{DB5F2CA6-A39B-48F7-84D1-AF91BD07D67D}" type="slidenum">
              <a:rPr lang="en-US" altLang="zh-CN" smtClean="0"/>
              <a:pPr>
                <a:defRPr/>
              </a:pPr>
              <a:t>8</a:t>
            </a:fld>
            <a:endParaRPr lang="en-US" altLang="zh-CN"/>
          </a:p>
        </p:txBody>
      </p:sp>
      <p:pic>
        <p:nvPicPr>
          <p:cNvPr id="2" name="图片 1">
            <a:extLst>
              <a:ext uri="{FF2B5EF4-FFF2-40B4-BE49-F238E27FC236}">
                <a16:creationId xmlns:a16="http://schemas.microsoft.com/office/drawing/2014/main" id="{F57E6D52-5FDE-0EDA-F0B7-A53B3A4AEB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63530" y="4558063"/>
            <a:ext cx="9359227" cy="1506536"/>
          </a:xfrm>
          <a:prstGeom prst="rect">
            <a:avLst/>
          </a:prstGeom>
        </p:spPr>
      </p:pic>
      <p:sp>
        <p:nvSpPr>
          <p:cNvPr id="5" name="文本框 4">
            <a:extLst>
              <a:ext uri="{FF2B5EF4-FFF2-40B4-BE49-F238E27FC236}">
                <a16:creationId xmlns:a16="http://schemas.microsoft.com/office/drawing/2014/main" id="{7F2414CC-E672-D1C7-CA1E-978019C03A61}"/>
              </a:ext>
            </a:extLst>
          </p:cNvPr>
          <p:cNvSpPr txBox="1"/>
          <p:nvPr/>
        </p:nvSpPr>
        <p:spPr>
          <a:xfrm>
            <a:off x="1008993" y="3795917"/>
            <a:ext cx="10468303" cy="646331"/>
          </a:xfrm>
          <a:prstGeom prst="rect">
            <a:avLst/>
          </a:prstGeom>
          <a:noFill/>
        </p:spPr>
        <p:txBody>
          <a:bodyPr wrap="square">
            <a:spAutoFit/>
          </a:bodyPr>
          <a:lstStyle/>
          <a:p>
            <a:pPr algn="just"/>
            <a:r>
              <a:rPr lang="zh-CN" altLang="zh-CN" sz="1800" dirty="0">
                <a:effectLst/>
                <a:ea typeface="宋体" panose="02010600030101010101" pitchFamily="2" charset="-122"/>
                <a:cs typeface="Times New Roman" panose="02020603050405020304" pitchFamily="18" charset="0"/>
              </a:rPr>
              <a:t>同理可求</a:t>
            </a:r>
            <a:r>
              <a:rPr lang="en-US" altLang="zh-CN" sz="1800" dirty="0">
                <a:effectLst/>
                <a:ea typeface="宋体" panose="02010600030101010101" pitchFamily="2" charset="-122"/>
                <a:cs typeface="Times New Roman" panose="02020603050405020304" pitchFamily="18" charset="0"/>
              </a:rPr>
              <a:t>TS2</a:t>
            </a:r>
            <a:r>
              <a:rPr lang="zh-CN" altLang="zh-CN" sz="1800" dirty="0">
                <a:effectLst/>
                <a:ea typeface="宋体" panose="02010600030101010101" pitchFamily="2" charset="-122"/>
                <a:cs typeface="Times New Roman" panose="02020603050405020304" pitchFamily="18" charset="0"/>
              </a:rPr>
              <a:t>和</a:t>
            </a:r>
            <a:r>
              <a:rPr lang="en-US" altLang="zh-CN" sz="1800" dirty="0">
                <a:effectLst/>
                <a:ea typeface="宋体" panose="02010600030101010101" pitchFamily="2" charset="-122"/>
                <a:cs typeface="Times New Roman" panose="02020603050405020304" pitchFamily="18" charset="0"/>
              </a:rPr>
              <a:t>TS3</a:t>
            </a:r>
            <a:r>
              <a:rPr lang="zh-CN" altLang="zh-CN" sz="1800" dirty="0">
                <a:effectLst/>
                <a:ea typeface="宋体" panose="02010600030101010101" pitchFamily="2" charset="-122"/>
                <a:cs typeface="Times New Roman" panose="02020603050405020304" pitchFamily="18" charset="0"/>
              </a:rPr>
              <a:t>的测试时间分别为</a:t>
            </a:r>
            <a:r>
              <a:rPr lang="en-US" altLang="zh-CN" sz="1800" dirty="0">
                <a:effectLst/>
                <a:ea typeface="宋体" panose="02010600030101010101" pitchFamily="2" charset="-122"/>
                <a:cs typeface="Times New Roman" panose="02020603050405020304" pitchFamily="18" charset="0"/>
              </a:rPr>
              <a:t>1500</a:t>
            </a:r>
            <a:r>
              <a:rPr lang="zh-CN" altLang="zh-CN" sz="1800" dirty="0">
                <a:effectLst/>
                <a:ea typeface="宋体" panose="02010600030101010101" pitchFamily="2" charset="-122"/>
                <a:cs typeface="Times New Roman" panose="02020603050405020304" pitchFamily="18" charset="0"/>
              </a:rPr>
              <a:t>个时钟和</a:t>
            </a:r>
            <a:r>
              <a:rPr lang="en-US" altLang="zh-CN" sz="1800" dirty="0">
                <a:effectLst/>
                <a:ea typeface="宋体" panose="02010600030101010101" pitchFamily="2" charset="-122"/>
                <a:cs typeface="Times New Roman" panose="02020603050405020304" pitchFamily="18" charset="0"/>
              </a:rPr>
              <a:t>1900</a:t>
            </a:r>
            <a:r>
              <a:rPr lang="zh-CN" altLang="zh-CN" sz="1800" dirty="0">
                <a:effectLst/>
                <a:ea typeface="宋体" panose="02010600030101010101" pitchFamily="2" charset="-122"/>
                <a:cs typeface="Times New Roman" panose="02020603050405020304" pitchFamily="18" charset="0"/>
              </a:rPr>
              <a:t>个时钟，最终总的测试时间则是</a:t>
            </a:r>
            <a:r>
              <a:rPr lang="en-US" altLang="zh-CN" sz="1800" dirty="0">
                <a:effectLst/>
                <a:ea typeface="宋体" panose="02010600030101010101" pitchFamily="2" charset="-122"/>
                <a:cs typeface="Times New Roman" panose="02020603050405020304" pitchFamily="18" charset="0"/>
              </a:rPr>
              <a:t>1240+1500+1900+30=4670</a:t>
            </a:r>
            <a:r>
              <a:rPr lang="zh-CN" altLang="zh-CN" sz="1800" dirty="0">
                <a:effectLst/>
                <a:ea typeface="宋体" panose="02010600030101010101" pitchFamily="2" charset="-122"/>
                <a:cs typeface="Times New Roman" panose="02020603050405020304" pitchFamily="18" charset="0"/>
              </a:rPr>
              <a:t>个时钟。这种交迭测试法比传统测试方法大约</a:t>
            </a:r>
            <a:r>
              <a:rPr lang="zh-CN" altLang="zh-CN" sz="1800" dirty="0">
                <a:solidFill>
                  <a:srgbClr val="FF0000"/>
                </a:solidFill>
                <a:effectLst/>
                <a:ea typeface="宋体" panose="02010600030101010101" pitchFamily="2" charset="-122"/>
                <a:cs typeface="Times New Roman" panose="02020603050405020304" pitchFamily="18" charset="0"/>
              </a:rPr>
              <a:t>减少了</a:t>
            </a:r>
            <a:r>
              <a:rPr lang="en-US" altLang="zh-CN" sz="1800" dirty="0">
                <a:solidFill>
                  <a:srgbClr val="FF0000"/>
                </a:solidFill>
                <a:effectLst/>
                <a:ea typeface="宋体" panose="02010600030101010101" pitchFamily="2" charset="-122"/>
                <a:cs typeface="Times New Roman" panose="02020603050405020304" pitchFamily="18" charset="0"/>
              </a:rPr>
              <a:t>24.7%</a:t>
            </a:r>
            <a:r>
              <a:rPr lang="zh-CN" altLang="zh-CN" sz="1800" dirty="0">
                <a:solidFill>
                  <a:srgbClr val="FF0000"/>
                </a:solidFill>
                <a:effectLst/>
                <a:ea typeface="宋体" panose="02010600030101010101" pitchFamily="2" charset="-122"/>
                <a:cs typeface="Times New Roman" panose="02020603050405020304" pitchFamily="18" charset="0"/>
              </a:rPr>
              <a:t>的测试时间</a:t>
            </a:r>
            <a:endParaRPr lang="zh-CN" altLang="en-US" dirty="0">
              <a:solidFill>
                <a:srgbClr val="FF0000"/>
              </a:solidFill>
            </a:endParaRPr>
          </a:p>
        </p:txBody>
      </p:sp>
      <p:sp>
        <p:nvSpPr>
          <p:cNvPr id="6" name="矩形 5">
            <a:extLst>
              <a:ext uri="{FF2B5EF4-FFF2-40B4-BE49-F238E27FC236}">
                <a16:creationId xmlns:a16="http://schemas.microsoft.com/office/drawing/2014/main" id="{FD04945B-6D4E-1F2A-792D-3F7ECDD2FDA1}"/>
              </a:ext>
            </a:extLst>
          </p:cNvPr>
          <p:cNvSpPr/>
          <p:nvPr/>
        </p:nvSpPr>
        <p:spPr>
          <a:xfrm>
            <a:off x="420414" y="324237"/>
            <a:ext cx="1826141" cy="584775"/>
          </a:xfrm>
          <a:prstGeom prst="rect">
            <a:avLst/>
          </a:prstGeom>
          <a:noFill/>
        </p:spPr>
        <p:txBody>
          <a:bodyPr wrap="none" lIns="91440" tIns="45720" rIns="91440" bIns="45720">
            <a:spAutoFit/>
          </a:bodyPr>
          <a:lstStyle/>
          <a:p>
            <a:pPr algn="ctr"/>
            <a:r>
              <a:rPr lang="zh-CN" altLang="en-US" sz="3200" b="0" cap="none" spc="0" dirty="0">
                <a:ln w="0"/>
                <a:solidFill>
                  <a:schemeClr val="accent2"/>
                </a:solidFill>
                <a:effectLst>
                  <a:outerShdw blurRad="38100" dist="19050" dir="2700000" algn="tl" rotWithShape="0">
                    <a:schemeClr val="dk1">
                      <a:alpha val="40000"/>
                    </a:schemeClr>
                  </a:outerShdw>
                </a:effectLst>
              </a:rPr>
              <a:t>交迭测试</a:t>
            </a:r>
          </a:p>
        </p:txBody>
      </p:sp>
      <p:pic>
        <p:nvPicPr>
          <p:cNvPr id="3" name="图片 2">
            <a:extLst>
              <a:ext uri="{FF2B5EF4-FFF2-40B4-BE49-F238E27FC236}">
                <a16:creationId xmlns:a16="http://schemas.microsoft.com/office/drawing/2014/main" id="{BD2C1DFE-CABF-ACB9-CD68-00A0F1B401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69360" y="987700"/>
            <a:ext cx="5653279" cy="2750309"/>
          </a:xfrm>
          <a:prstGeom prst="rect">
            <a:avLst/>
          </a:prstGeom>
        </p:spPr>
      </p:pic>
      <p:sp>
        <p:nvSpPr>
          <p:cNvPr id="8" name="矩形 7">
            <a:extLst>
              <a:ext uri="{FF2B5EF4-FFF2-40B4-BE49-F238E27FC236}">
                <a16:creationId xmlns:a16="http://schemas.microsoft.com/office/drawing/2014/main" id="{208719FB-7E0A-1A5E-83C8-115D40EA4927}"/>
              </a:ext>
            </a:extLst>
          </p:cNvPr>
          <p:cNvSpPr/>
          <p:nvPr/>
        </p:nvSpPr>
        <p:spPr bwMode="auto">
          <a:xfrm>
            <a:off x="4348480" y="1966490"/>
            <a:ext cx="99059" cy="14478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dirty="0">
              <a:ln>
                <a:noFill/>
              </a:ln>
              <a:solidFill>
                <a:schemeClr val="tx1"/>
              </a:solidFill>
              <a:effectLst/>
              <a:latin typeface="Times New Roman" pitchFamily="18" charset="0"/>
              <a:ea typeface="宋体" pitchFamily="2" charset="-122"/>
            </a:endParaRPr>
          </a:p>
        </p:txBody>
      </p:sp>
    </p:spTree>
    <p:extLst>
      <p:ext uri="{BB962C8B-B14F-4D97-AF65-F5344CB8AC3E}">
        <p14:creationId xmlns:p14="http://schemas.microsoft.com/office/powerpoint/2010/main" val="5006129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99E342-70E4-2822-C23C-9E40A5F3E4D5}"/>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1405425B-BF7B-115B-ECED-6AC4B1F55046}"/>
              </a:ext>
            </a:extLst>
          </p:cNvPr>
          <p:cNvSpPr>
            <a:spLocks noGrp="1"/>
          </p:cNvSpPr>
          <p:nvPr>
            <p:ph type="sldNum" sz="quarter" idx="12"/>
          </p:nvPr>
        </p:nvSpPr>
        <p:spPr/>
        <p:txBody>
          <a:bodyPr/>
          <a:lstStyle/>
          <a:p>
            <a:pPr>
              <a:defRPr/>
            </a:pPr>
            <a:fld id="{DB5F2CA6-A39B-48F7-84D1-AF91BD07D67D}" type="slidenum">
              <a:rPr lang="en-US" altLang="zh-CN" smtClean="0"/>
              <a:pPr>
                <a:defRPr/>
              </a:pPr>
              <a:t>9</a:t>
            </a:fld>
            <a:endParaRPr lang="en-US" altLang="zh-CN"/>
          </a:p>
        </p:txBody>
      </p:sp>
      <p:sp>
        <p:nvSpPr>
          <p:cNvPr id="2" name="矩形 1">
            <a:extLst>
              <a:ext uri="{FF2B5EF4-FFF2-40B4-BE49-F238E27FC236}">
                <a16:creationId xmlns:a16="http://schemas.microsoft.com/office/drawing/2014/main" id="{D9F0DAE4-5B51-8466-3D80-70E7555F2BDA}"/>
              </a:ext>
            </a:extLst>
          </p:cNvPr>
          <p:cNvSpPr/>
          <p:nvPr/>
        </p:nvSpPr>
        <p:spPr>
          <a:xfrm>
            <a:off x="376984" y="539021"/>
            <a:ext cx="4288353" cy="584775"/>
          </a:xfrm>
          <a:prstGeom prst="rect">
            <a:avLst/>
          </a:prstGeom>
          <a:noFill/>
        </p:spPr>
        <p:txBody>
          <a:bodyPr wrap="none" lIns="91440" tIns="45720" rIns="91440" bIns="45720">
            <a:spAutoFit/>
          </a:bodyPr>
          <a:lstStyle/>
          <a:p>
            <a:pPr algn="ctr"/>
            <a:r>
              <a:rPr lang="zh-CN" altLang="en-US" sz="3200" b="0" cap="none" spc="0" dirty="0">
                <a:ln w="0"/>
                <a:solidFill>
                  <a:schemeClr val="accent2"/>
                </a:solidFill>
                <a:effectLst>
                  <a:outerShdw blurRad="38100" dist="19050" dir="2700000" algn="tl" rotWithShape="0">
                    <a:schemeClr val="dk1">
                      <a:alpha val="40000"/>
                    </a:schemeClr>
                  </a:outerShdw>
                </a:effectLst>
              </a:rPr>
              <a:t>区间法构造最优扫描链</a:t>
            </a:r>
          </a:p>
        </p:txBody>
      </p:sp>
      <p:sp>
        <p:nvSpPr>
          <p:cNvPr id="5" name="文本框 4">
            <a:extLst>
              <a:ext uri="{FF2B5EF4-FFF2-40B4-BE49-F238E27FC236}">
                <a16:creationId xmlns:a16="http://schemas.microsoft.com/office/drawing/2014/main" id="{DE6F57F7-1068-D9DA-9EFC-2EFC63E74DB9}"/>
              </a:ext>
            </a:extLst>
          </p:cNvPr>
          <p:cNvSpPr txBox="1"/>
          <p:nvPr/>
        </p:nvSpPr>
        <p:spPr>
          <a:xfrm>
            <a:off x="693683" y="1291962"/>
            <a:ext cx="10583917" cy="4442242"/>
          </a:xfrm>
          <a:prstGeom prst="rect">
            <a:avLst/>
          </a:prstGeom>
          <a:noFill/>
        </p:spPr>
        <p:txBody>
          <a:bodyPr wrap="square">
            <a:spAutoFit/>
          </a:bodyPr>
          <a:lstStyle/>
          <a:p>
            <a:pPr indent="304800" algn="just">
              <a:lnSpc>
                <a:spcPct val="200000"/>
              </a:lnSpc>
            </a:pP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对于最优扫描链的获取，首先能想到的方法是计算出每种排法的测试时间然后进行比较，对于规模较小的电路，这种方法或许可行，但是对于规模非常大的电路，</a:t>
            </a:r>
            <a:r>
              <a:rPr lang="zh-CN" altLang="zh-CN" sz="1800" kern="100" dirty="0">
                <a:solidFill>
                  <a:srgbClr val="FF0000"/>
                </a:solidFill>
                <a:effectLst/>
                <a:latin typeface="Calibri" panose="020F0502020204030204" pitchFamily="34" charset="0"/>
                <a:ea typeface="宋体" panose="02010600030101010101" pitchFamily="2" charset="-122"/>
                <a:cs typeface="Times New Roman" panose="02020603050405020304" pitchFamily="18" charset="0"/>
              </a:rPr>
              <a:t>假如扫描链中有</a:t>
            </a:r>
            <a:r>
              <a:rPr lang="en-US" altLang="zh-CN" sz="1800" kern="100" dirty="0">
                <a:solidFill>
                  <a:srgbClr val="FF0000"/>
                </a:solidFill>
                <a:effectLst/>
                <a:latin typeface="Calibri" panose="020F0502020204030204" pitchFamily="34" charset="0"/>
                <a:ea typeface="宋体" panose="02010600030101010101" pitchFamily="2" charset="-122"/>
                <a:cs typeface="Times New Roman" panose="02020603050405020304" pitchFamily="18" charset="0"/>
              </a:rPr>
              <a:t>x</a:t>
            </a:r>
            <a:r>
              <a:rPr lang="zh-CN" altLang="zh-CN" sz="1800" kern="100" dirty="0">
                <a:solidFill>
                  <a:srgbClr val="FF0000"/>
                </a:solidFill>
                <a:effectLst/>
                <a:latin typeface="Calibri" panose="020F0502020204030204" pitchFamily="34" charset="0"/>
                <a:ea typeface="宋体" panose="02010600030101010101" pitchFamily="2" charset="-122"/>
                <a:cs typeface="Times New Roman" panose="02020603050405020304" pitchFamily="18" charset="0"/>
              </a:rPr>
              <a:t>个寄存器，那么就将有</a:t>
            </a:r>
            <a:r>
              <a:rPr lang="en-US" altLang="zh-CN" sz="1800" kern="100" dirty="0">
                <a:solidFill>
                  <a:srgbClr val="FF0000"/>
                </a:solidFill>
                <a:effectLst/>
                <a:latin typeface="Calibri" panose="020F0502020204030204" pitchFamily="34" charset="0"/>
                <a:ea typeface="宋体" panose="02010600030101010101" pitchFamily="2" charset="-122"/>
                <a:cs typeface="Times New Roman" panose="02020603050405020304" pitchFamily="18" charset="0"/>
              </a:rPr>
              <a:t>x</a:t>
            </a:r>
            <a:r>
              <a:rPr lang="zh-CN" altLang="zh-CN" sz="1800" kern="100" dirty="0">
                <a:solidFill>
                  <a:srgbClr val="FF0000"/>
                </a:solidFill>
                <a:effectLst/>
                <a:latin typeface="Calibri" panose="020F0502020204030204" pitchFamily="34" charset="0"/>
                <a:ea typeface="宋体" panose="02010600030101010101" pitchFamily="2" charset="-122"/>
                <a:cs typeface="Times New Roman" panose="02020603050405020304" pitchFamily="18" charset="0"/>
              </a:rPr>
              <a:t>！种排法</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，即使对于图</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3</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所示的电路，都有</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6</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=720</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中排法，因此我们必须寻找可行的方法寻找到最优的扫描链。</a:t>
            </a:r>
            <a:endPar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endParaRPr>
          </a:p>
          <a:p>
            <a:pPr indent="304800" algn="just">
              <a:lnSpc>
                <a:spcPct val="200000"/>
              </a:lnSpc>
            </a:pP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假设一个时序电路有</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n</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个内核。一般情况下所有内核具有不同的测试向量数，</a:t>
            </a:r>
            <a:r>
              <a:rPr lang="zh-CN" altLang="zh-CN" sz="1800" kern="100" dirty="0">
                <a:solidFill>
                  <a:srgbClr val="FF0000"/>
                </a:solidFill>
                <a:effectLst/>
                <a:latin typeface="Calibri" panose="020F0502020204030204" pitchFamily="34" charset="0"/>
                <a:ea typeface="宋体" panose="02010600030101010101" pitchFamily="2" charset="-122"/>
                <a:cs typeface="Times New Roman" panose="02020603050405020304" pitchFamily="18" charset="0"/>
              </a:rPr>
              <a:t>如果两个内核的测试向量数相同，那么可将两个内核合并为一个内核</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。假设电路中包含的内核的集合是</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{K</a:t>
            </a:r>
            <a:r>
              <a:rPr lang="en-US" altLang="zh-CN" sz="1800" kern="100" baseline="-25000" dirty="0">
                <a:effectLst/>
                <a:latin typeface="Calibri" panose="020F0502020204030204" pitchFamily="34" charset="0"/>
                <a:ea typeface="宋体" panose="02010600030101010101" pitchFamily="2" charset="-122"/>
                <a:cs typeface="Times New Roman" panose="02020603050405020304" pitchFamily="18" charset="0"/>
              </a:rPr>
              <a:t>1</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,K</a:t>
            </a:r>
            <a:r>
              <a:rPr lang="en-US" altLang="zh-CN" sz="1800" kern="100" baseline="-25000" dirty="0">
                <a:effectLst/>
                <a:latin typeface="Calibri" panose="020F0502020204030204" pitchFamily="34" charset="0"/>
                <a:ea typeface="宋体" panose="02010600030101010101" pitchFamily="2" charset="-122"/>
                <a:cs typeface="Times New Roman" panose="02020603050405020304" pitchFamily="18" charset="0"/>
              </a:rPr>
              <a:t>2</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a:t>
            </a:r>
            <a:r>
              <a:rPr lang="en-US" altLang="zh-CN" sz="1800" kern="100" dirty="0" err="1">
                <a:effectLst/>
                <a:latin typeface="Calibri" panose="020F0502020204030204" pitchFamily="34" charset="0"/>
                <a:ea typeface="宋体" panose="02010600030101010101" pitchFamily="2" charset="-122"/>
                <a:cs typeface="Times New Roman" panose="02020603050405020304" pitchFamily="18" charset="0"/>
              </a:rPr>
              <a:t>K</a:t>
            </a:r>
            <a:r>
              <a:rPr lang="en-US" altLang="zh-CN" sz="1800" kern="100" baseline="-25000" dirty="0" err="1">
                <a:effectLst/>
                <a:latin typeface="Calibri" panose="020F0502020204030204" pitchFamily="34" charset="0"/>
                <a:ea typeface="宋体" panose="02010600030101010101" pitchFamily="2" charset="-122"/>
                <a:cs typeface="Times New Roman" panose="02020603050405020304" pitchFamily="18" charset="0"/>
              </a:rPr>
              <a:t>n</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其中内核的测试向量数以此增加，令</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Wi</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为测试向量数，则</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W</a:t>
            </a:r>
            <a:r>
              <a:rPr lang="en-US" altLang="zh-CN" sz="1800" kern="100" baseline="-25000" dirty="0">
                <a:effectLst/>
                <a:latin typeface="Calibri" panose="020F0502020204030204" pitchFamily="34" charset="0"/>
                <a:ea typeface="宋体" panose="02010600030101010101" pitchFamily="2" charset="-122"/>
                <a:cs typeface="Times New Roman" panose="02020603050405020304" pitchFamily="18" charset="0"/>
              </a:rPr>
              <a:t>1</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&lt;W</a:t>
            </a:r>
            <a:r>
              <a:rPr lang="en-US" altLang="zh-CN" sz="1800" kern="100" baseline="-25000" dirty="0">
                <a:effectLst/>
                <a:latin typeface="Calibri" panose="020F0502020204030204" pitchFamily="34" charset="0"/>
                <a:ea typeface="宋体" panose="02010600030101010101" pitchFamily="2" charset="-122"/>
                <a:cs typeface="Times New Roman" panose="02020603050405020304" pitchFamily="18" charset="0"/>
              </a:rPr>
              <a:t>2</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&lt;…&lt;</a:t>
            </a:r>
            <a:r>
              <a:rPr lang="en-US" altLang="zh-CN" sz="1800" kern="100" dirty="0" err="1">
                <a:effectLst/>
                <a:latin typeface="Calibri" panose="020F0502020204030204" pitchFamily="34" charset="0"/>
                <a:ea typeface="宋体" panose="02010600030101010101" pitchFamily="2" charset="-122"/>
                <a:cs typeface="Times New Roman" panose="02020603050405020304" pitchFamily="18" charset="0"/>
              </a:rPr>
              <a:t>W</a:t>
            </a:r>
            <a:r>
              <a:rPr lang="en-US" altLang="zh-CN" sz="1800" kern="100" baseline="-25000" dirty="0" err="1">
                <a:effectLst/>
                <a:latin typeface="Calibri" panose="020F0502020204030204" pitchFamily="34" charset="0"/>
                <a:ea typeface="宋体" panose="02010600030101010101" pitchFamily="2" charset="-122"/>
                <a:cs typeface="Times New Roman" panose="02020603050405020304" pitchFamily="18" charset="0"/>
              </a:rPr>
              <a:t>n</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，令时序电路中扫描寄存器集合为</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RS={R</a:t>
            </a:r>
            <a:r>
              <a:rPr lang="en-US" altLang="zh-CN" sz="1800" kern="100" baseline="-25000" dirty="0">
                <a:effectLst/>
                <a:latin typeface="Calibri" panose="020F0502020204030204" pitchFamily="34" charset="0"/>
                <a:ea typeface="宋体" panose="02010600030101010101" pitchFamily="2" charset="-122"/>
                <a:cs typeface="Times New Roman" panose="02020603050405020304" pitchFamily="18" charset="0"/>
              </a:rPr>
              <a:t>1</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,R</a:t>
            </a:r>
            <a:r>
              <a:rPr lang="en-US" altLang="zh-CN" sz="1800" kern="100" baseline="-25000" dirty="0">
                <a:effectLst/>
                <a:latin typeface="Calibri" panose="020F0502020204030204" pitchFamily="34" charset="0"/>
                <a:ea typeface="宋体" panose="02010600030101010101" pitchFamily="2" charset="-122"/>
                <a:cs typeface="Times New Roman" panose="02020603050405020304" pitchFamily="18" charset="0"/>
              </a:rPr>
              <a:t>2</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,…,R</a:t>
            </a:r>
            <a:r>
              <a:rPr lang="en-US" altLang="zh-CN" sz="1800" kern="100" baseline="-25000" dirty="0">
                <a:effectLst/>
                <a:latin typeface="Calibri" panose="020F0502020204030204" pitchFamily="34" charset="0"/>
                <a:ea typeface="宋体" panose="02010600030101010101" pitchFamily="2" charset="-122"/>
                <a:cs typeface="Times New Roman" panose="02020603050405020304" pitchFamily="18" charset="0"/>
              </a:rPr>
              <a:t>M</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M</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为电路中的扫描寄存器数，首先提出构成最优扫描链一定满足的一些</a:t>
            </a:r>
            <a:r>
              <a:rPr lang="zh-CN" altLang="zh-CN" sz="1800" b="1" kern="100" dirty="0">
                <a:effectLst/>
                <a:latin typeface="Calibri" panose="020F0502020204030204" pitchFamily="34" charset="0"/>
                <a:ea typeface="宋体" panose="02010600030101010101" pitchFamily="2" charset="-122"/>
                <a:cs typeface="Times New Roman" panose="02020603050405020304" pitchFamily="18" charset="0"/>
              </a:rPr>
              <a:t>定理：</a:t>
            </a:r>
            <a:endParaRPr lang="zh-CN" altLang="zh-CN" sz="1400" b="1" kern="100" dirty="0">
              <a:effectLst/>
              <a:latin typeface="Calibri" panose="020F0502020204030204" pitchFamily="34"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0910666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1E8DC4-00BE-71F7-57E1-0EA84F0E4769}"/>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D3A5B3C1-0076-E754-EF84-C3CD79702084}"/>
              </a:ext>
            </a:extLst>
          </p:cNvPr>
          <p:cNvSpPr>
            <a:spLocks noGrp="1"/>
          </p:cNvSpPr>
          <p:nvPr>
            <p:ph type="sldNum" sz="quarter" idx="12"/>
          </p:nvPr>
        </p:nvSpPr>
        <p:spPr/>
        <p:txBody>
          <a:bodyPr/>
          <a:lstStyle/>
          <a:p>
            <a:pPr>
              <a:defRPr/>
            </a:pPr>
            <a:fld id="{DB5F2CA6-A39B-48F7-84D1-AF91BD07D67D}" type="slidenum">
              <a:rPr lang="en-US" altLang="zh-CN" smtClean="0"/>
              <a:pPr>
                <a:defRPr/>
              </a:pPr>
              <a:t>10</a:t>
            </a:fld>
            <a:endParaRPr lang="en-US" altLang="zh-CN"/>
          </a:p>
        </p:txBody>
      </p:sp>
      <p:sp>
        <p:nvSpPr>
          <p:cNvPr id="3" name="文本框 2">
            <a:extLst>
              <a:ext uri="{FF2B5EF4-FFF2-40B4-BE49-F238E27FC236}">
                <a16:creationId xmlns:a16="http://schemas.microsoft.com/office/drawing/2014/main" id="{D672608C-F2BE-3548-EE7E-7785F11346B3}"/>
              </a:ext>
            </a:extLst>
          </p:cNvPr>
          <p:cNvSpPr txBox="1"/>
          <p:nvPr/>
        </p:nvSpPr>
        <p:spPr>
          <a:xfrm>
            <a:off x="788276" y="681078"/>
            <a:ext cx="10489324" cy="4076757"/>
          </a:xfrm>
          <a:prstGeom prst="rect">
            <a:avLst/>
          </a:prstGeom>
          <a:noFill/>
        </p:spPr>
        <p:txBody>
          <a:bodyPr wrap="square">
            <a:spAutoFit/>
          </a:bodyPr>
          <a:lstStyle/>
          <a:p>
            <a:pPr marL="285750" indent="-285750" algn="just">
              <a:lnSpc>
                <a:spcPct val="250000"/>
              </a:lnSpc>
              <a:buFont typeface="Arial" panose="020B0604020202020204" pitchFamily="34" charset="0"/>
              <a:buChar char="•"/>
            </a:pPr>
            <a:r>
              <a:rPr lang="zh-CN" altLang="zh-CN" sz="2000" b="1" kern="100" dirty="0">
                <a:effectLst/>
                <a:latin typeface="Calibri" panose="020F0502020204030204" pitchFamily="34" charset="0"/>
                <a:ea typeface="宋体" panose="02010600030101010101" pitchFamily="2" charset="-122"/>
                <a:cs typeface="Times New Roman" panose="02020603050405020304" pitchFamily="18" charset="0"/>
              </a:rPr>
              <a:t>如果存在</a:t>
            </a:r>
            <a:r>
              <a:rPr lang="en-US" altLang="zh-CN" sz="2000" b="1" kern="100" dirty="0">
                <a:effectLst/>
                <a:latin typeface="Calibri" panose="020F0502020204030204" pitchFamily="34" charset="0"/>
                <a:ea typeface="宋体" panose="02010600030101010101" pitchFamily="2" charset="-122"/>
                <a:cs typeface="Times New Roman" panose="02020603050405020304" pitchFamily="18" charset="0"/>
              </a:rPr>
              <a:t>K</a:t>
            </a:r>
            <a:r>
              <a:rPr lang="zh-CN" altLang="zh-CN" sz="2000" b="1" kern="100" dirty="0">
                <a:effectLst/>
                <a:latin typeface="Calibri" panose="020F0502020204030204" pitchFamily="34" charset="0"/>
                <a:ea typeface="宋体" panose="02010600030101010101" pitchFamily="2" charset="-122"/>
                <a:cs typeface="Times New Roman" panose="02020603050405020304" pitchFamily="18" charset="0"/>
              </a:rPr>
              <a:t>个纯接收器（</a:t>
            </a:r>
            <a:r>
              <a:rPr lang="en-US" altLang="zh-CN" sz="2000" b="1" kern="100" dirty="0">
                <a:effectLst/>
                <a:latin typeface="Calibri" panose="020F0502020204030204" pitchFamily="34" charset="0"/>
                <a:ea typeface="宋体" panose="02010600030101010101" pitchFamily="2" charset="-122"/>
                <a:cs typeface="Times New Roman" panose="02020603050405020304" pitchFamily="18" charset="0"/>
              </a:rPr>
              <a:t>K</a:t>
            </a:r>
            <a:r>
              <a:rPr lang="zh-CN" altLang="zh-CN" sz="2000" b="1" kern="100" dirty="0">
                <a:effectLst/>
                <a:latin typeface="Calibri" panose="020F0502020204030204" pitchFamily="34" charset="0"/>
                <a:ea typeface="宋体" panose="02010600030101010101" pitchFamily="2" charset="-122"/>
                <a:cs typeface="Times New Roman" panose="02020603050405020304" pitchFamily="18" charset="0"/>
              </a:rPr>
              <a:t>≥</a:t>
            </a:r>
            <a:r>
              <a:rPr lang="en-US" altLang="zh-CN" sz="2000" b="1" kern="100" dirty="0">
                <a:effectLst/>
                <a:latin typeface="Calibri" panose="020F0502020204030204" pitchFamily="34" charset="0"/>
                <a:ea typeface="宋体" panose="02010600030101010101" pitchFamily="2" charset="-122"/>
                <a:cs typeface="Times New Roman" panose="02020603050405020304" pitchFamily="18" charset="0"/>
              </a:rPr>
              <a:t>1</a:t>
            </a:r>
            <a:r>
              <a:rPr lang="zh-CN" altLang="zh-CN" sz="2000" b="1" kern="100" dirty="0">
                <a:effectLst/>
                <a:latin typeface="Calibri" panose="020F0502020204030204" pitchFamily="34" charset="0"/>
                <a:ea typeface="宋体" panose="02010600030101010101" pitchFamily="2" charset="-122"/>
                <a:cs typeface="Times New Roman" panose="02020603050405020304" pitchFamily="18" charset="0"/>
              </a:rPr>
              <a:t>），其驱动权</a:t>
            </a:r>
            <a:r>
              <a:rPr lang="en-US" altLang="zh-CN" sz="2000" b="1" kern="100" dirty="0">
                <a:effectLst/>
                <a:latin typeface="Calibri" panose="020F0502020204030204" pitchFamily="34" charset="0"/>
                <a:ea typeface="宋体" panose="02010600030101010101" pitchFamily="2" charset="-122"/>
                <a:cs typeface="Times New Roman" panose="02020603050405020304" pitchFamily="18" charset="0"/>
              </a:rPr>
              <a:t>di=0</a:t>
            </a:r>
            <a:r>
              <a:rPr lang="zh-CN" altLang="zh-CN" sz="2000" b="1" kern="100" dirty="0">
                <a:effectLst/>
                <a:latin typeface="Calibri" panose="020F0502020204030204" pitchFamily="34" charset="0"/>
                <a:ea typeface="宋体" panose="02010600030101010101" pitchFamily="2" charset="-122"/>
                <a:cs typeface="Times New Roman" panose="02020603050405020304" pitchFamily="18" charset="0"/>
              </a:rPr>
              <a:t>，接收权</a:t>
            </a:r>
            <a:r>
              <a:rPr lang="en-US" altLang="zh-CN" sz="2000" b="1" kern="100" dirty="0" err="1">
                <a:effectLst/>
                <a:latin typeface="Calibri" panose="020F0502020204030204" pitchFamily="34" charset="0"/>
                <a:ea typeface="宋体" panose="02010600030101010101" pitchFamily="2" charset="-122"/>
                <a:cs typeface="Times New Roman" panose="02020603050405020304" pitchFamily="18" charset="0"/>
              </a:rPr>
              <a:t>ri</a:t>
            </a:r>
            <a:r>
              <a:rPr lang="en-US" altLang="zh-CN" sz="2000" b="1" kern="100" dirty="0">
                <a:effectLst/>
                <a:latin typeface="Calibri" panose="020F0502020204030204" pitchFamily="34" charset="0"/>
                <a:ea typeface="宋体" panose="02010600030101010101" pitchFamily="2" charset="-122"/>
                <a:cs typeface="Times New Roman" panose="02020603050405020304" pitchFamily="18" charset="0"/>
              </a:rPr>
              <a:t>=Wi</a:t>
            </a:r>
            <a:r>
              <a:rPr lang="zh-CN" altLang="zh-CN" sz="2000" b="1" kern="100" dirty="0">
                <a:effectLst/>
                <a:latin typeface="Calibri" panose="020F0502020204030204" pitchFamily="34" charset="0"/>
                <a:ea typeface="宋体" panose="02010600030101010101" pitchFamily="2" charset="-122"/>
                <a:cs typeface="Times New Roman" panose="02020603050405020304" pitchFamily="18" charset="0"/>
              </a:rPr>
              <a:t>，则这些寄存器应放在扫描链的最后</a:t>
            </a:r>
            <a:r>
              <a:rPr lang="en-US" altLang="zh-CN" sz="2000" b="1" kern="100" dirty="0">
                <a:effectLst/>
                <a:latin typeface="Calibri" panose="020F0502020204030204" pitchFamily="34" charset="0"/>
                <a:ea typeface="宋体" panose="02010600030101010101" pitchFamily="2" charset="-122"/>
                <a:cs typeface="Times New Roman" panose="02020603050405020304" pitchFamily="18" charset="0"/>
              </a:rPr>
              <a:t>K</a:t>
            </a:r>
            <a:r>
              <a:rPr lang="zh-CN" altLang="zh-CN" sz="2000" b="1" kern="100" dirty="0">
                <a:effectLst/>
                <a:latin typeface="Calibri" panose="020F0502020204030204" pitchFamily="34" charset="0"/>
                <a:ea typeface="宋体" panose="02010600030101010101" pitchFamily="2" charset="-122"/>
                <a:cs typeface="Times New Roman" panose="02020603050405020304" pitchFamily="18" charset="0"/>
              </a:rPr>
              <a:t>个位置，而且接收权重越大的越接近扫描输出的位置。</a:t>
            </a:r>
            <a:endParaRPr lang="zh-CN" altLang="zh-CN" sz="1600" b="1" kern="100" dirty="0">
              <a:effectLst/>
              <a:latin typeface="Calibri" panose="020F0502020204030204" pitchFamily="34" charset="0"/>
              <a:ea typeface="宋体" panose="02010600030101010101" pitchFamily="2" charset="-122"/>
              <a:cs typeface="Times New Roman" panose="02020603050405020304" pitchFamily="18" charset="0"/>
            </a:endParaRPr>
          </a:p>
          <a:p>
            <a:pPr indent="304800" algn="just">
              <a:lnSpc>
                <a:spcPct val="150000"/>
              </a:lnSpc>
            </a:pP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交迭测试把测试分为多个部分，每一部分都是将测试向量施加到某些内核，直至内核的测试向量全部耗尽，而顺序则是</a:t>
            </a:r>
            <a:r>
              <a:rPr lang="zh-CN" altLang="zh-CN" sz="1800" kern="100" dirty="0">
                <a:solidFill>
                  <a:srgbClr val="FF0000"/>
                </a:solidFill>
                <a:effectLst/>
                <a:latin typeface="Calibri" panose="020F0502020204030204" pitchFamily="34" charset="0"/>
                <a:ea typeface="宋体" panose="02010600030101010101" pitchFamily="2" charset="-122"/>
                <a:cs typeface="Times New Roman" panose="02020603050405020304" pitchFamily="18" charset="0"/>
              </a:rPr>
              <a:t>按</a:t>
            </a:r>
            <a:r>
              <a:rPr lang="en-US" altLang="zh-CN" sz="1800" kern="100" dirty="0">
                <a:solidFill>
                  <a:srgbClr val="FF0000"/>
                </a:solidFill>
                <a:effectLst/>
                <a:latin typeface="Calibri" panose="020F0502020204030204" pitchFamily="34" charset="0"/>
                <a:ea typeface="宋体" panose="02010600030101010101" pitchFamily="2" charset="-122"/>
                <a:cs typeface="Times New Roman" panose="02020603050405020304" pitchFamily="18" charset="0"/>
              </a:rPr>
              <a:t>Wi</a:t>
            </a:r>
            <a:r>
              <a:rPr lang="zh-CN" altLang="zh-CN" sz="1800" kern="100" dirty="0">
                <a:solidFill>
                  <a:srgbClr val="FF0000"/>
                </a:solidFill>
                <a:effectLst/>
                <a:latin typeface="Calibri" panose="020F0502020204030204" pitchFamily="34" charset="0"/>
                <a:ea typeface="宋体" panose="02010600030101010101" pitchFamily="2" charset="-122"/>
                <a:cs typeface="Times New Roman" panose="02020603050405020304" pitchFamily="18" charset="0"/>
              </a:rPr>
              <a:t>由少到多依次耗尽</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，最后耗尽的必然是测试向量最多的内核，接收该内核测试结果的纯接收器的权重必然最大，在扫描链理应放到最接近扫描输出的位置，</a:t>
            </a:r>
            <a:r>
              <a:rPr lang="zh-CN" altLang="zh-CN" sz="1800" kern="100" dirty="0">
                <a:solidFill>
                  <a:srgbClr val="FF0000"/>
                </a:solidFill>
                <a:effectLst/>
                <a:latin typeface="Calibri" panose="020F0502020204030204" pitchFamily="34" charset="0"/>
                <a:ea typeface="宋体" panose="02010600030101010101" pitchFamily="2" charset="-122"/>
                <a:cs typeface="Times New Roman" panose="02020603050405020304" pitchFamily="18" charset="0"/>
              </a:rPr>
              <a:t>由于纯接收器只能接收内核的输出，而不能给内核移入测试向量，如果移入测试向量时经过纯接收器，必然需要经过其他寄存器增加额外的移入时间，所以纯接收器必然在扫描链的最后位置</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，同时由于测试结束的顺序，接收器的位置必然由接收权由小到大排序。</a:t>
            </a:r>
            <a:endPar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endParaRPr>
          </a:p>
        </p:txBody>
      </p:sp>
      <p:pic>
        <p:nvPicPr>
          <p:cNvPr id="2" name="图片 1">
            <a:extLst>
              <a:ext uri="{FF2B5EF4-FFF2-40B4-BE49-F238E27FC236}">
                <a16:creationId xmlns:a16="http://schemas.microsoft.com/office/drawing/2014/main" id="{E82F7831-EC08-631E-C327-17BC9D7EFC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99087" y="4834760"/>
            <a:ext cx="7393825" cy="1180377"/>
          </a:xfrm>
          <a:prstGeom prst="rect">
            <a:avLst/>
          </a:prstGeom>
        </p:spPr>
      </p:pic>
    </p:spTree>
    <p:extLst>
      <p:ext uri="{BB962C8B-B14F-4D97-AF65-F5344CB8AC3E}">
        <p14:creationId xmlns:p14="http://schemas.microsoft.com/office/powerpoint/2010/main" val="14463969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2FDF1-70A4-40F8-D94F-EC0B8DB19E78}"/>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1BE0D9CD-8578-6386-36D8-1A8529A84B32}"/>
              </a:ext>
            </a:extLst>
          </p:cNvPr>
          <p:cNvSpPr>
            <a:spLocks noGrp="1"/>
          </p:cNvSpPr>
          <p:nvPr>
            <p:ph type="sldNum" sz="quarter" idx="12"/>
          </p:nvPr>
        </p:nvSpPr>
        <p:spPr/>
        <p:txBody>
          <a:bodyPr/>
          <a:lstStyle/>
          <a:p>
            <a:pPr>
              <a:defRPr/>
            </a:pPr>
            <a:fld id="{DB5F2CA6-A39B-48F7-84D1-AF91BD07D67D}" type="slidenum">
              <a:rPr lang="en-US" altLang="zh-CN" smtClean="0"/>
              <a:pPr>
                <a:defRPr/>
              </a:pPr>
              <a:t>11</a:t>
            </a:fld>
            <a:endParaRPr lang="en-US" altLang="zh-CN"/>
          </a:p>
        </p:txBody>
      </p:sp>
      <p:sp>
        <p:nvSpPr>
          <p:cNvPr id="3" name="文本框 2">
            <a:extLst>
              <a:ext uri="{FF2B5EF4-FFF2-40B4-BE49-F238E27FC236}">
                <a16:creationId xmlns:a16="http://schemas.microsoft.com/office/drawing/2014/main" id="{CD123581-B1D2-D7BF-AE73-A400ED6DC0D5}"/>
              </a:ext>
            </a:extLst>
          </p:cNvPr>
          <p:cNvSpPr txBox="1"/>
          <p:nvPr/>
        </p:nvSpPr>
        <p:spPr>
          <a:xfrm>
            <a:off x="493986" y="-18739"/>
            <a:ext cx="10783614" cy="6433813"/>
          </a:xfrm>
          <a:prstGeom prst="rect">
            <a:avLst/>
          </a:prstGeom>
          <a:noFill/>
        </p:spPr>
        <p:txBody>
          <a:bodyPr wrap="square">
            <a:spAutoFit/>
          </a:bodyPr>
          <a:lstStyle/>
          <a:p>
            <a:pPr marL="285750" indent="-285750" algn="just">
              <a:lnSpc>
                <a:spcPct val="250000"/>
              </a:lnSpc>
              <a:buFont typeface="Arial" panose="020B0604020202020204" pitchFamily="34" charset="0"/>
              <a:buChar char="•"/>
            </a:pPr>
            <a:r>
              <a:rPr lang="zh-CN" altLang="zh-CN" sz="2000" b="1" kern="100" dirty="0">
                <a:effectLst/>
                <a:latin typeface="Calibri" panose="020F0502020204030204" pitchFamily="34" charset="0"/>
                <a:ea typeface="宋体" panose="02010600030101010101" pitchFamily="2" charset="-122"/>
                <a:cs typeface="Times New Roman" panose="02020603050405020304" pitchFamily="18" charset="0"/>
              </a:rPr>
              <a:t>对于纯驱动器，一般放在靠近扫描输入、扫描输出端的位置。</a:t>
            </a:r>
            <a:endParaRPr lang="zh-CN" altLang="zh-CN" sz="1600" b="1" kern="100" dirty="0">
              <a:effectLst/>
              <a:latin typeface="Calibri" panose="020F0502020204030204" pitchFamily="34" charset="0"/>
              <a:ea typeface="宋体" panose="02010600030101010101" pitchFamily="2" charset="-122"/>
              <a:cs typeface="Times New Roman" panose="02020603050405020304" pitchFamily="18" charset="0"/>
            </a:endParaRPr>
          </a:p>
          <a:p>
            <a:pPr indent="304800" algn="just">
              <a:lnSpc>
                <a:spcPct val="250000"/>
              </a:lnSpc>
            </a:pPr>
            <a:r>
              <a:rPr lang="zh-CN" altLang="zh-CN" sz="1800" kern="100" dirty="0">
                <a:solidFill>
                  <a:srgbClr val="FF0000"/>
                </a:solidFill>
                <a:effectLst/>
                <a:latin typeface="Calibri" panose="020F0502020204030204" pitchFamily="34" charset="0"/>
                <a:ea typeface="宋体" panose="02010600030101010101" pitchFamily="2" charset="-122"/>
                <a:cs typeface="Times New Roman" panose="02020603050405020304" pitchFamily="18" charset="0"/>
              </a:rPr>
              <a:t>纯驱动器既可以移入测试向量，也可以移出测试向量</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，由于在每一部分测试中都作为驱动器，因此如果将其放在靠近扫描输入端，将减少冗余的电路。</a:t>
            </a:r>
            <a:r>
              <a:rPr lang="zh-CN" altLang="zh-CN" sz="1800" kern="100" dirty="0">
                <a:solidFill>
                  <a:srgbClr val="FF0000"/>
                </a:solidFill>
                <a:effectLst/>
                <a:latin typeface="Calibri" panose="020F0502020204030204" pitchFamily="34" charset="0"/>
                <a:ea typeface="宋体" panose="02010600030101010101" pitchFamily="2" charset="-122"/>
                <a:cs typeface="Times New Roman" panose="02020603050405020304" pitchFamily="18" charset="0"/>
              </a:rPr>
              <a:t>而当每一部分测试结束后，都有一些内核的测试矢量耗尽，此时这些纯驱动器只可能和其他寄存器连接且仅移出测试结果</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，因此应靠近扫描输出端</a:t>
            </a:r>
            <a:r>
              <a:rPr lang="zh-CN" altLang="en-US" sz="1800" kern="100" dirty="0">
                <a:effectLst/>
                <a:latin typeface="Calibri" panose="020F0502020204030204" pitchFamily="34" charset="0"/>
                <a:ea typeface="宋体" panose="02010600030101010101" pitchFamily="2" charset="-122"/>
                <a:cs typeface="Times New Roman" panose="02020603050405020304" pitchFamily="18" charset="0"/>
              </a:rPr>
              <a:t>。</a:t>
            </a:r>
            <a:endPar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endParaRPr>
          </a:p>
          <a:p>
            <a:pPr marL="285750" indent="-285750" algn="just">
              <a:lnSpc>
                <a:spcPct val="250000"/>
              </a:lnSpc>
              <a:buFont typeface="Arial" panose="020B0604020202020204" pitchFamily="34" charset="0"/>
              <a:buChar char="•"/>
            </a:pPr>
            <a:r>
              <a:rPr lang="zh-CN" altLang="zh-CN" sz="2000" b="1" kern="100" dirty="0">
                <a:effectLst/>
                <a:latin typeface="Calibri" panose="020F0502020204030204" pitchFamily="34" charset="0"/>
                <a:ea typeface="宋体" panose="02010600030101010101" pitchFamily="2" charset="-122"/>
                <a:cs typeface="Times New Roman" panose="02020603050405020304" pitchFamily="18" charset="0"/>
              </a:rPr>
              <a:t>对于定理</a:t>
            </a:r>
            <a:r>
              <a:rPr lang="en-US" altLang="zh-CN" sz="2000" b="1" kern="100" dirty="0">
                <a:effectLst/>
                <a:latin typeface="Calibri" panose="020F0502020204030204" pitchFamily="34" charset="0"/>
                <a:ea typeface="宋体" panose="02010600030101010101" pitchFamily="2" charset="-122"/>
                <a:cs typeface="Times New Roman" panose="02020603050405020304" pitchFamily="18" charset="0"/>
              </a:rPr>
              <a:t>2</a:t>
            </a:r>
            <a:r>
              <a:rPr lang="zh-CN" altLang="zh-CN" sz="2000" b="1" kern="100" dirty="0">
                <a:effectLst/>
                <a:latin typeface="Calibri" panose="020F0502020204030204" pitchFamily="34" charset="0"/>
                <a:ea typeface="宋体" panose="02010600030101010101" pitchFamily="2" charset="-122"/>
                <a:cs typeface="Times New Roman" panose="02020603050405020304" pitchFamily="18" charset="0"/>
              </a:rPr>
              <a:t>中的多个纯驱动器，应按权重大小排序，权重小的放后面。且在扫描输出端，纯驱动器一定放在纯接收器前面。</a:t>
            </a:r>
            <a:endParaRPr lang="zh-CN" altLang="zh-CN" sz="1600" b="1" kern="100" dirty="0">
              <a:effectLst/>
              <a:latin typeface="Calibri" panose="020F0502020204030204" pitchFamily="34" charset="0"/>
              <a:ea typeface="宋体" panose="02010600030101010101" pitchFamily="2" charset="-122"/>
              <a:cs typeface="Times New Roman" panose="02020603050405020304" pitchFamily="18" charset="0"/>
            </a:endParaRPr>
          </a:p>
          <a:p>
            <a:pPr>
              <a:lnSpc>
                <a:spcPct val="250000"/>
              </a:lnSpc>
            </a:pPr>
            <a:r>
              <a:rPr lang="en-US" altLang="zh-CN" sz="1800" dirty="0">
                <a:effectLst/>
                <a:ea typeface="宋体" panose="02010600030101010101" pitchFamily="2" charset="-122"/>
                <a:cs typeface="Times New Roman" panose="02020603050405020304" pitchFamily="18" charset="0"/>
              </a:rPr>
              <a:t>        </a:t>
            </a:r>
            <a:r>
              <a:rPr lang="zh-CN" altLang="zh-CN" sz="1800" dirty="0">
                <a:effectLst/>
                <a:ea typeface="宋体" panose="02010600030101010101" pitchFamily="2" charset="-122"/>
                <a:cs typeface="Times New Roman" panose="02020603050405020304" pitchFamily="18" charset="0"/>
              </a:rPr>
              <a:t>根据定理</a:t>
            </a:r>
            <a:r>
              <a:rPr lang="en-US" altLang="zh-CN" sz="1800" dirty="0">
                <a:effectLst/>
                <a:ea typeface="宋体" panose="02010600030101010101" pitchFamily="2" charset="-122"/>
                <a:cs typeface="Times New Roman" panose="02020603050405020304" pitchFamily="18" charset="0"/>
              </a:rPr>
              <a:t>1</a:t>
            </a:r>
            <a:r>
              <a:rPr lang="zh-CN" altLang="zh-CN" sz="1800" dirty="0">
                <a:effectLst/>
                <a:ea typeface="宋体" panose="02010600030101010101" pitchFamily="2" charset="-122"/>
                <a:cs typeface="Times New Roman" panose="02020603050405020304" pitchFamily="18" charset="0"/>
              </a:rPr>
              <a:t>不难得出纯接收器一定在扫描链的最后。而在测试过程中，权重小的纯驱动器对应的内核一定先被测试完成，此时若将这些驱动器放在权重大的驱动器之前，就会导致后续测试部分移入测试向量时经过额外的部分，增加测试时间，因此纯驱动器应该是权重小的放在后面。</a:t>
            </a:r>
            <a:endParaRPr lang="zh-CN" altLang="en-US" dirty="0"/>
          </a:p>
        </p:txBody>
      </p:sp>
    </p:spTree>
    <p:extLst>
      <p:ext uri="{BB962C8B-B14F-4D97-AF65-F5344CB8AC3E}">
        <p14:creationId xmlns:p14="http://schemas.microsoft.com/office/powerpoint/2010/main" val="32246188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FD2B76-230F-DDF1-1151-FF768B2315C9}"/>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4D482117-79AC-6D77-7489-C7F3AC96FECF}"/>
              </a:ext>
            </a:extLst>
          </p:cNvPr>
          <p:cNvSpPr>
            <a:spLocks noGrp="1"/>
          </p:cNvSpPr>
          <p:nvPr>
            <p:ph type="sldNum" sz="quarter" idx="12"/>
          </p:nvPr>
        </p:nvSpPr>
        <p:spPr/>
        <p:txBody>
          <a:bodyPr/>
          <a:lstStyle/>
          <a:p>
            <a:pPr>
              <a:defRPr/>
            </a:pPr>
            <a:fld id="{DB5F2CA6-A39B-48F7-84D1-AF91BD07D67D}" type="slidenum">
              <a:rPr lang="en-US" altLang="zh-CN" smtClean="0"/>
              <a:pPr>
                <a:defRPr/>
              </a:pPr>
              <a:t>12</a:t>
            </a:fld>
            <a:endParaRPr lang="en-US" altLang="zh-CN"/>
          </a:p>
        </p:txBody>
      </p:sp>
      <p:sp>
        <p:nvSpPr>
          <p:cNvPr id="3" name="文本框 2">
            <a:extLst>
              <a:ext uri="{FF2B5EF4-FFF2-40B4-BE49-F238E27FC236}">
                <a16:creationId xmlns:a16="http://schemas.microsoft.com/office/drawing/2014/main" id="{7970B589-06CF-CC1F-6C10-E472E60AF000}"/>
              </a:ext>
            </a:extLst>
          </p:cNvPr>
          <p:cNvSpPr txBox="1"/>
          <p:nvPr/>
        </p:nvSpPr>
        <p:spPr>
          <a:xfrm>
            <a:off x="788276" y="585980"/>
            <a:ext cx="10615448" cy="5861861"/>
          </a:xfrm>
          <a:prstGeom prst="rect">
            <a:avLst/>
          </a:prstGeom>
          <a:noFill/>
        </p:spPr>
        <p:txBody>
          <a:bodyPr wrap="square">
            <a:spAutoFit/>
          </a:bodyPr>
          <a:lstStyle/>
          <a:p>
            <a:pPr marL="285750" indent="-285750">
              <a:buFont typeface="Arial" panose="020B0604020202020204" pitchFamily="34" charset="0"/>
              <a:buChar char="•"/>
            </a:pPr>
            <a:r>
              <a:rPr lang="zh-CN" altLang="en-US" sz="1800" b="1" dirty="0">
                <a:effectLst/>
                <a:ea typeface="宋体" panose="02010600030101010101" pitchFamily="2" charset="-122"/>
                <a:cs typeface="Times New Roman" panose="02020603050405020304" pitchFamily="18" charset="0"/>
              </a:rPr>
              <a:t>鞍点：</a:t>
            </a:r>
            <a:r>
              <a:rPr lang="zh-CN" altLang="zh-CN" sz="1800" dirty="0">
                <a:effectLst/>
                <a:ea typeface="宋体" panose="02010600030101010101" pitchFamily="2" charset="-122"/>
                <a:cs typeface="Times New Roman" panose="02020603050405020304" pitchFamily="18" charset="0"/>
              </a:rPr>
              <a:t>在扫描输入和扫描输出之间必定存在一个鞍点，在扫描输入和鞍点之间，均为纯驱动器。</a:t>
            </a:r>
            <a:endParaRPr lang="en-US" altLang="zh-CN" sz="1800" dirty="0">
              <a:effectLst/>
              <a:ea typeface="宋体" panose="02010600030101010101" pitchFamily="2" charset="-122"/>
              <a:cs typeface="Times New Roman" panose="02020603050405020304" pitchFamily="18" charset="0"/>
            </a:endParaRPr>
          </a:p>
          <a:p>
            <a:pPr marL="285750" indent="-285750">
              <a:buFont typeface="Arial" panose="020B0604020202020204" pitchFamily="34" charset="0"/>
              <a:buChar char="•"/>
            </a:pPr>
            <a:endParaRPr lang="en-US" altLang="zh-CN" dirty="0">
              <a:ea typeface="宋体" panose="02010600030101010101" pitchFamily="2" charset="-122"/>
              <a:cs typeface="Times New Roman" panose="02020603050405020304" pitchFamily="18" charset="0"/>
            </a:endParaRPr>
          </a:p>
          <a:p>
            <a:pPr marL="285750" indent="-285750">
              <a:buFont typeface="Arial" panose="020B0604020202020204" pitchFamily="34" charset="0"/>
              <a:buChar char="•"/>
            </a:pPr>
            <a:endParaRPr lang="en-US" altLang="zh-CN" dirty="0">
              <a:ea typeface="宋体" panose="02010600030101010101" pitchFamily="2" charset="-122"/>
              <a:cs typeface="Times New Roman" panose="02020603050405020304" pitchFamily="18" charset="0"/>
            </a:endParaRPr>
          </a:p>
          <a:p>
            <a:pPr marL="285750" indent="-285750">
              <a:buFont typeface="Arial" panose="020B0604020202020204" pitchFamily="34" charset="0"/>
              <a:buChar char="•"/>
            </a:pPr>
            <a:endParaRPr lang="en-US" altLang="zh-CN" dirty="0">
              <a:ea typeface="宋体" panose="02010600030101010101" pitchFamily="2" charset="-122"/>
              <a:cs typeface="Times New Roman" panose="02020603050405020304" pitchFamily="18" charset="0"/>
            </a:endParaRPr>
          </a:p>
          <a:p>
            <a:pPr marL="285750" indent="-285750">
              <a:buFont typeface="Arial" panose="020B0604020202020204" pitchFamily="34" charset="0"/>
              <a:buChar char="•"/>
            </a:pPr>
            <a:endParaRPr lang="en-US" altLang="zh-CN" dirty="0">
              <a:ea typeface="宋体" panose="02010600030101010101" pitchFamily="2" charset="-122"/>
              <a:cs typeface="Times New Roman" panose="02020603050405020304" pitchFamily="18" charset="0"/>
            </a:endParaRPr>
          </a:p>
          <a:p>
            <a:endParaRPr lang="en-US" altLang="zh-CN" dirty="0">
              <a:ea typeface="宋体" panose="02010600030101010101" pitchFamily="2" charset="-122"/>
              <a:cs typeface="Times New Roman" panose="02020603050405020304" pitchFamily="18" charset="0"/>
            </a:endParaRPr>
          </a:p>
          <a:p>
            <a:pPr>
              <a:lnSpc>
                <a:spcPct val="150000"/>
              </a:lnSpc>
            </a:pPr>
            <a:r>
              <a:rPr lang="zh-CN" altLang="zh-CN" sz="1800" b="1" dirty="0">
                <a:effectLst/>
                <a:ea typeface="宋体" panose="02010600030101010101" pitchFamily="2" charset="-122"/>
                <a:cs typeface="Times New Roman" panose="02020603050405020304" pitchFamily="18" charset="0"/>
              </a:rPr>
              <a:t>接下来推导最小链周期的公式</a:t>
            </a:r>
            <a:r>
              <a:rPr lang="zh-CN" altLang="en-US" sz="1800" b="1" dirty="0">
                <a:effectLst/>
                <a:ea typeface="宋体" panose="02010600030101010101" pitchFamily="2" charset="-122"/>
                <a:cs typeface="Times New Roman" panose="02020603050405020304" pitchFamily="18" charset="0"/>
              </a:rPr>
              <a:t>：</a:t>
            </a:r>
            <a:endParaRPr lang="en-US" altLang="zh-CN" sz="1800" b="1" dirty="0">
              <a:effectLst/>
              <a:ea typeface="宋体" panose="02010600030101010101" pitchFamily="2" charset="-122"/>
              <a:cs typeface="Times New Roman" panose="02020603050405020304" pitchFamily="18" charset="0"/>
            </a:endParaRPr>
          </a:p>
          <a:p>
            <a:pPr indent="304800" algn="just">
              <a:lnSpc>
                <a:spcPct val="150000"/>
              </a:lnSpc>
            </a:pP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用</a:t>
            </a:r>
            <a:r>
              <a:rPr lang="en-US" altLang="zh-CN" sz="1800" kern="100" dirty="0" err="1">
                <a:effectLst/>
                <a:latin typeface="Calibri" panose="020F0502020204030204" pitchFamily="34" charset="0"/>
                <a:ea typeface="宋体" panose="02010600030101010101" pitchFamily="2" charset="-122"/>
                <a:cs typeface="Times New Roman" panose="02020603050405020304" pitchFamily="18" charset="0"/>
              </a:rPr>
              <a:t>Ld</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Lr</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a:t>
            </a:r>
            <a:r>
              <a:rPr lang="en-US" altLang="zh-CN" sz="1800" kern="100" dirty="0" err="1">
                <a:effectLst/>
                <a:latin typeface="Calibri" panose="020F0502020204030204" pitchFamily="34" charset="0"/>
                <a:ea typeface="宋体" panose="02010600030101010101" pitchFamily="2" charset="-122"/>
                <a:cs typeface="Times New Roman" panose="02020603050405020304" pitchFamily="18" charset="0"/>
              </a:rPr>
              <a:t>Ldr</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分别表示</a:t>
            </a:r>
            <a:r>
              <a:rPr lang="en-US" altLang="zh-CN" sz="1800" kern="100" dirty="0" err="1">
                <a:effectLst/>
                <a:latin typeface="Calibri" panose="020F0502020204030204" pitchFamily="34" charset="0"/>
                <a:ea typeface="宋体" panose="02010600030101010101" pitchFamily="2" charset="-122"/>
                <a:cs typeface="Times New Roman" panose="02020603050405020304" pitchFamily="18" charset="0"/>
              </a:rPr>
              <a:t>TS</a:t>
            </a:r>
            <a:r>
              <a:rPr lang="en-US" altLang="zh-CN" sz="1800" kern="100" baseline="-25000" dirty="0" err="1">
                <a:effectLst/>
                <a:latin typeface="Calibri" panose="020F0502020204030204" pitchFamily="34" charset="0"/>
                <a:ea typeface="宋体" panose="02010600030101010101" pitchFamily="2" charset="-122"/>
                <a:cs typeface="Times New Roman" panose="02020603050405020304" pitchFamily="18" charset="0"/>
              </a:rPr>
              <a:t>i</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中驱动器、接收器、驱动</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接收器的长度和，</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L</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表示扫描链中所有寄存器的长度和。</a:t>
            </a:r>
          </a:p>
          <a:p>
            <a:pPr indent="304800" algn="just">
              <a:lnSpc>
                <a:spcPct val="150000"/>
              </a:lnSpc>
            </a:pP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1</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）如果</a:t>
            </a:r>
            <a:r>
              <a:rPr lang="en-US" altLang="zh-CN" sz="1800" kern="100" dirty="0" err="1">
                <a:effectLst/>
                <a:latin typeface="Calibri" panose="020F0502020204030204" pitchFamily="34" charset="0"/>
                <a:ea typeface="宋体" panose="02010600030101010101" pitchFamily="2" charset="-122"/>
                <a:cs typeface="Times New Roman" panose="02020603050405020304" pitchFamily="18" charset="0"/>
              </a:rPr>
              <a:t>Ldr</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=0</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，即只有纯驱动器和纯接收器，则完成一次测试所需最小时钟数为</a:t>
            </a:r>
            <a:r>
              <a:rPr lang="en-US" altLang="zh-CN" sz="1800" kern="100" dirty="0" err="1">
                <a:effectLst/>
                <a:latin typeface="Calibri" panose="020F0502020204030204" pitchFamily="34" charset="0"/>
                <a:ea typeface="宋体" panose="02010600030101010101" pitchFamily="2" charset="-122"/>
                <a:cs typeface="Times New Roman" panose="02020603050405020304" pitchFamily="18" charset="0"/>
              </a:rPr>
              <a:t>Ld</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Lr</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的最大值，即</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MCC(</a:t>
            </a:r>
            <a:r>
              <a:rPr lang="en-US" altLang="zh-CN" sz="1800" kern="100" dirty="0" err="1">
                <a:effectLst/>
                <a:latin typeface="Calibri" panose="020F0502020204030204" pitchFamily="34" charset="0"/>
                <a:ea typeface="宋体" panose="02010600030101010101" pitchFamily="2" charset="-122"/>
                <a:cs typeface="Times New Roman" panose="02020603050405020304" pitchFamily="18" charset="0"/>
              </a:rPr>
              <a:t>TS</a:t>
            </a:r>
            <a:r>
              <a:rPr lang="en-US" altLang="zh-CN" sz="1800" kern="100" baseline="-25000" dirty="0" err="1">
                <a:effectLst/>
                <a:latin typeface="Calibri" panose="020F0502020204030204" pitchFamily="34" charset="0"/>
                <a:ea typeface="宋体" panose="02010600030101010101" pitchFamily="2" charset="-122"/>
                <a:cs typeface="Times New Roman" panose="02020603050405020304" pitchFamily="18" charset="0"/>
              </a:rPr>
              <a:t>i</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)=max</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a:t>
            </a:r>
            <a:r>
              <a:rPr lang="en-US" altLang="zh-CN" sz="1800" kern="100" dirty="0" err="1">
                <a:effectLst/>
                <a:latin typeface="Calibri" panose="020F0502020204030204" pitchFamily="34" charset="0"/>
                <a:ea typeface="宋体" panose="02010600030101010101" pitchFamily="2" charset="-122"/>
                <a:cs typeface="Times New Roman" panose="02020603050405020304" pitchFamily="18" charset="0"/>
              </a:rPr>
              <a:t>Ld</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Lr</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a:t>
            </a:r>
          </a:p>
          <a:p>
            <a:pPr indent="304800" algn="just">
              <a:lnSpc>
                <a:spcPct val="150000"/>
              </a:lnSpc>
            </a:pP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2</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）如果</a:t>
            </a:r>
            <a:r>
              <a:rPr lang="en-US" altLang="zh-CN" sz="1800" kern="100" dirty="0" err="1">
                <a:effectLst/>
                <a:latin typeface="Calibri" panose="020F0502020204030204" pitchFamily="34" charset="0"/>
                <a:ea typeface="宋体" panose="02010600030101010101" pitchFamily="2" charset="-122"/>
                <a:cs typeface="Times New Roman" panose="02020603050405020304" pitchFamily="18" charset="0"/>
              </a:rPr>
              <a:t>Ldr</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0</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，在每个测试部分，测试向量必然经过驱动</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接收器，故</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MCC(</a:t>
            </a:r>
            <a:r>
              <a:rPr lang="en-US" altLang="zh-CN" sz="1800" kern="100" dirty="0" err="1">
                <a:effectLst/>
                <a:latin typeface="Calibri" panose="020F0502020204030204" pitchFamily="34" charset="0"/>
                <a:ea typeface="宋体" panose="02010600030101010101" pitchFamily="2" charset="-122"/>
                <a:cs typeface="Times New Roman" panose="02020603050405020304" pitchFamily="18" charset="0"/>
              </a:rPr>
              <a:t>TS</a:t>
            </a:r>
            <a:r>
              <a:rPr lang="en-US" altLang="zh-CN" sz="1800" kern="100" baseline="-25000" dirty="0" err="1">
                <a:effectLst/>
                <a:latin typeface="Calibri" panose="020F0502020204030204" pitchFamily="34" charset="0"/>
                <a:ea typeface="宋体" panose="02010600030101010101" pitchFamily="2" charset="-122"/>
                <a:cs typeface="Times New Roman" panose="02020603050405020304" pitchFamily="18" charset="0"/>
              </a:rPr>
              <a:t>i</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a:t>
            </a:r>
            <a:r>
              <a:rPr lang="en-US" altLang="zh-CN" sz="1800" kern="100" dirty="0" err="1">
                <a:effectLst/>
                <a:latin typeface="Calibri" panose="020F0502020204030204" pitchFamily="34" charset="0"/>
                <a:ea typeface="宋体" panose="02010600030101010101" pitchFamily="2" charset="-122"/>
                <a:cs typeface="Times New Roman" panose="02020603050405020304" pitchFamily="18" charset="0"/>
              </a:rPr>
              <a:t>Ldr+x</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x</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为除驱动</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接收器外还需经过的寄存器。因为一次测试需要把向量移进扫描链，同时要把结果移出来观察，除驱动</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接收器以外的寄存器总数为</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L-</a:t>
            </a:r>
            <a:r>
              <a:rPr lang="en-US" altLang="zh-CN" sz="1800" kern="100" dirty="0" err="1">
                <a:effectLst/>
                <a:latin typeface="Calibri" panose="020F0502020204030204" pitchFamily="34" charset="0"/>
                <a:ea typeface="宋体" panose="02010600030101010101" pitchFamily="2" charset="-122"/>
                <a:cs typeface="Times New Roman" panose="02020603050405020304" pitchFamily="18" charset="0"/>
              </a:rPr>
              <a:t>Ldr</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a:t>
            </a:r>
            <a:r>
              <a:rPr lang="zh-CN" altLang="zh-CN" sz="1800" kern="100" dirty="0">
                <a:solidFill>
                  <a:srgbClr val="FF0000"/>
                </a:solidFill>
                <a:effectLst/>
                <a:latin typeface="Calibri" panose="020F0502020204030204" pitchFamily="34" charset="0"/>
                <a:ea typeface="宋体" panose="02010600030101010101" pitchFamily="2" charset="-122"/>
                <a:cs typeface="Times New Roman" panose="02020603050405020304" pitchFamily="18" charset="0"/>
              </a:rPr>
              <a:t>为了保证测试之间不干扰，取其平均值并向上取整为</a:t>
            </a:r>
            <a:r>
              <a:rPr lang="en-US" altLang="zh-CN" sz="1800" kern="100" dirty="0">
                <a:solidFill>
                  <a:srgbClr val="FF0000"/>
                </a:solidFill>
                <a:effectLst/>
                <a:latin typeface="Calibri" panose="020F0502020204030204" pitchFamily="34" charset="0"/>
                <a:ea typeface="宋体" panose="02010600030101010101" pitchFamily="2" charset="-122"/>
                <a:cs typeface="Times New Roman" panose="02020603050405020304" pitchFamily="18" charset="0"/>
              </a:rPr>
              <a:t>[</a:t>
            </a:r>
            <a:r>
              <a:rPr lang="zh-CN" altLang="zh-CN" sz="1800" kern="100" dirty="0">
                <a:solidFill>
                  <a:srgbClr val="FF0000"/>
                </a:solidFill>
                <a:effectLst/>
                <a:latin typeface="Calibri" panose="020F0502020204030204" pitchFamily="34" charset="0"/>
                <a:ea typeface="宋体" panose="02010600030101010101" pitchFamily="2" charset="-122"/>
                <a:cs typeface="Times New Roman" panose="02020603050405020304" pitchFamily="18" charset="0"/>
              </a:rPr>
              <a:t>（</a:t>
            </a:r>
            <a:r>
              <a:rPr lang="en-US" altLang="zh-CN" sz="1800" kern="100" dirty="0">
                <a:solidFill>
                  <a:srgbClr val="FF0000"/>
                </a:solidFill>
                <a:effectLst/>
                <a:latin typeface="Calibri" panose="020F0502020204030204" pitchFamily="34" charset="0"/>
                <a:ea typeface="宋体" panose="02010600030101010101" pitchFamily="2" charset="-122"/>
                <a:cs typeface="Times New Roman" panose="02020603050405020304" pitchFamily="18" charset="0"/>
              </a:rPr>
              <a:t>L-</a:t>
            </a:r>
            <a:r>
              <a:rPr lang="en-US" altLang="zh-CN" sz="1800" kern="100" dirty="0" err="1">
                <a:solidFill>
                  <a:srgbClr val="FF0000"/>
                </a:solidFill>
                <a:effectLst/>
                <a:latin typeface="Calibri" panose="020F0502020204030204" pitchFamily="34" charset="0"/>
                <a:ea typeface="宋体" panose="02010600030101010101" pitchFamily="2" charset="-122"/>
                <a:cs typeface="Times New Roman" panose="02020603050405020304" pitchFamily="18" charset="0"/>
              </a:rPr>
              <a:t>Ldr</a:t>
            </a:r>
            <a:r>
              <a:rPr lang="zh-CN" altLang="zh-CN" sz="1800" kern="100" dirty="0">
                <a:solidFill>
                  <a:srgbClr val="FF0000"/>
                </a:solidFill>
                <a:effectLst/>
                <a:latin typeface="Calibri" panose="020F0502020204030204" pitchFamily="34" charset="0"/>
                <a:ea typeface="宋体" panose="02010600030101010101" pitchFamily="2" charset="-122"/>
                <a:cs typeface="Times New Roman" panose="02020603050405020304" pitchFamily="18" charset="0"/>
              </a:rPr>
              <a:t>）</a:t>
            </a:r>
            <a:r>
              <a:rPr lang="en-US" altLang="zh-CN" sz="1800" kern="100" dirty="0">
                <a:solidFill>
                  <a:srgbClr val="FF0000"/>
                </a:solidFill>
                <a:effectLst/>
                <a:latin typeface="Calibri" panose="020F0502020204030204" pitchFamily="34" charset="0"/>
                <a:ea typeface="宋体" panose="02010600030101010101" pitchFamily="2" charset="-122"/>
                <a:cs typeface="Times New Roman" panose="02020603050405020304" pitchFamily="18" charset="0"/>
              </a:rPr>
              <a:t>/2]</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，则</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x=max{</a:t>
            </a:r>
            <a:r>
              <a:rPr lang="en-US" altLang="zh-CN" sz="1800" kern="100" dirty="0" err="1">
                <a:effectLst/>
                <a:latin typeface="Calibri" panose="020F0502020204030204" pitchFamily="34" charset="0"/>
                <a:ea typeface="宋体" panose="02010600030101010101" pitchFamily="2" charset="-122"/>
                <a:cs typeface="Times New Roman" panose="02020603050405020304" pitchFamily="18" charset="0"/>
              </a:rPr>
              <a:t>Ld,Lr</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 [</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L-</a:t>
            </a:r>
            <a:r>
              <a:rPr lang="en-US" altLang="zh-CN" sz="1800" kern="100" dirty="0" err="1">
                <a:effectLst/>
                <a:latin typeface="Calibri" panose="020F0502020204030204" pitchFamily="34" charset="0"/>
                <a:ea typeface="宋体" panose="02010600030101010101" pitchFamily="2" charset="-122"/>
                <a:cs typeface="Times New Roman" panose="02020603050405020304" pitchFamily="18" charset="0"/>
              </a:rPr>
              <a:t>Ldr</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/2]}, MCC(</a:t>
            </a:r>
            <a:r>
              <a:rPr lang="en-US" altLang="zh-CN" sz="1800" kern="100" dirty="0" err="1">
                <a:effectLst/>
                <a:latin typeface="Calibri" panose="020F0502020204030204" pitchFamily="34" charset="0"/>
                <a:ea typeface="宋体" panose="02010600030101010101" pitchFamily="2" charset="-122"/>
                <a:cs typeface="Times New Roman" panose="02020603050405020304" pitchFamily="18" charset="0"/>
              </a:rPr>
              <a:t>TS</a:t>
            </a:r>
            <a:r>
              <a:rPr lang="en-US" altLang="zh-CN" sz="1800" kern="100" baseline="-25000" dirty="0" err="1">
                <a:effectLst/>
                <a:latin typeface="Calibri" panose="020F0502020204030204" pitchFamily="34" charset="0"/>
                <a:ea typeface="宋体" panose="02010600030101010101" pitchFamily="2" charset="-122"/>
                <a:cs typeface="Times New Roman" panose="02020603050405020304" pitchFamily="18" charset="0"/>
              </a:rPr>
              <a:t>i</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 max{</a:t>
            </a:r>
            <a:r>
              <a:rPr lang="en-US" altLang="zh-CN" sz="1800" kern="100" dirty="0" err="1">
                <a:effectLst/>
                <a:latin typeface="Calibri" panose="020F0502020204030204" pitchFamily="34" charset="0"/>
                <a:ea typeface="宋体" panose="02010600030101010101" pitchFamily="2" charset="-122"/>
                <a:cs typeface="Times New Roman" panose="02020603050405020304" pitchFamily="18" charset="0"/>
              </a:rPr>
              <a:t>Ld,Lr</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 [</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L-</a:t>
            </a:r>
            <a:r>
              <a:rPr lang="en-US" altLang="zh-CN" sz="1800" kern="100" dirty="0" err="1">
                <a:effectLst/>
                <a:latin typeface="Calibri" panose="020F0502020204030204" pitchFamily="34" charset="0"/>
                <a:ea typeface="宋体" panose="02010600030101010101" pitchFamily="2" charset="-122"/>
                <a:cs typeface="Times New Roman" panose="02020603050405020304" pitchFamily="18" charset="0"/>
              </a:rPr>
              <a:t>Ldr</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/2]}+</a:t>
            </a:r>
            <a:r>
              <a:rPr lang="en-US" altLang="zh-CN" sz="1800" kern="100" dirty="0" err="1">
                <a:effectLst/>
                <a:latin typeface="Calibri" panose="020F0502020204030204" pitchFamily="34" charset="0"/>
                <a:ea typeface="宋体" panose="02010600030101010101" pitchFamily="2" charset="-122"/>
                <a:cs typeface="Times New Roman" panose="02020603050405020304" pitchFamily="18" charset="0"/>
              </a:rPr>
              <a:t>Ldr</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a:t>
            </a:r>
          </a:p>
          <a:p>
            <a:pPr>
              <a:lnSpc>
                <a:spcPct val="150000"/>
              </a:lnSpc>
            </a:pP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        </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由此可得最小链周期公式为：</a:t>
            </a:r>
          </a:p>
        </p:txBody>
      </p:sp>
      <p:pic>
        <p:nvPicPr>
          <p:cNvPr id="5" name="图片 4">
            <a:extLst>
              <a:ext uri="{FF2B5EF4-FFF2-40B4-BE49-F238E27FC236}">
                <a16:creationId xmlns:a16="http://schemas.microsoft.com/office/drawing/2014/main" id="{6B4F5A97-A1D9-262C-AA5C-EEDB25FFED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99087" y="1103587"/>
            <a:ext cx="7393825" cy="1180377"/>
          </a:xfrm>
          <a:prstGeom prst="rect">
            <a:avLst/>
          </a:prstGeom>
        </p:spPr>
      </p:pic>
      <p:graphicFrame>
        <p:nvGraphicFramePr>
          <p:cNvPr id="15" name="对象 14">
            <a:extLst>
              <a:ext uri="{FF2B5EF4-FFF2-40B4-BE49-F238E27FC236}">
                <a16:creationId xmlns:a16="http://schemas.microsoft.com/office/drawing/2014/main" id="{885CBBC4-BED5-2A4D-2BA0-E59EC91EFB45}"/>
              </a:ext>
            </a:extLst>
          </p:cNvPr>
          <p:cNvGraphicFramePr>
            <a:graphicFrameLocks noChangeAspect="1"/>
          </p:cNvGraphicFramePr>
          <p:nvPr>
            <p:extLst>
              <p:ext uri="{D42A27DB-BD31-4B8C-83A1-F6EECF244321}">
                <p14:modId xmlns:p14="http://schemas.microsoft.com/office/powerpoint/2010/main" val="2924397136"/>
              </p:ext>
            </p:extLst>
          </p:nvPr>
        </p:nvGraphicFramePr>
        <p:xfrm>
          <a:off x="4420963" y="6014124"/>
          <a:ext cx="6482154" cy="746430"/>
        </p:xfrm>
        <a:graphic>
          <a:graphicData uri="http://schemas.openxmlformats.org/presentationml/2006/ole">
            <mc:AlternateContent xmlns:mc="http://schemas.openxmlformats.org/markup-compatibility/2006">
              <mc:Choice xmlns:v="urn:schemas-microsoft-com:vml" Requires="v">
                <p:oleObj name="Equation" r:id="rId3" imgW="4190760" imgH="482400" progId="Equation.DSMT4">
                  <p:embed/>
                </p:oleObj>
              </mc:Choice>
              <mc:Fallback>
                <p:oleObj name="Equation" r:id="rId3" imgW="4190760" imgH="482400" progId="Equation.DSMT4">
                  <p:embed/>
                  <p:pic>
                    <p:nvPicPr>
                      <p:cNvPr id="0" name=""/>
                      <p:cNvPicPr/>
                      <p:nvPr/>
                    </p:nvPicPr>
                    <p:blipFill>
                      <a:blip r:embed="rId4"/>
                      <a:stretch>
                        <a:fillRect/>
                      </a:stretch>
                    </p:blipFill>
                    <p:spPr>
                      <a:xfrm>
                        <a:off x="4420963" y="6014124"/>
                        <a:ext cx="6482154" cy="746430"/>
                      </a:xfrm>
                      <a:prstGeom prst="rect">
                        <a:avLst/>
                      </a:prstGeom>
                    </p:spPr>
                  </p:pic>
                </p:oleObj>
              </mc:Fallback>
            </mc:AlternateContent>
          </a:graphicData>
        </a:graphic>
      </p:graphicFrame>
    </p:spTree>
    <p:extLst>
      <p:ext uri="{BB962C8B-B14F-4D97-AF65-F5344CB8AC3E}">
        <p14:creationId xmlns:p14="http://schemas.microsoft.com/office/powerpoint/2010/main" val="15279655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54B03-3337-C130-A839-147E170E5304}"/>
            </a:ext>
          </a:extLst>
        </p:cNvPr>
        <p:cNvGrpSpPr/>
        <p:nvPr/>
      </p:nvGrpSpPr>
      <p:grpSpPr>
        <a:xfrm>
          <a:off x="0" y="0"/>
          <a:ext cx="0" cy="0"/>
          <a:chOff x="0" y="0"/>
          <a:chExt cx="0" cy="0"/>
        </a:xfrm>
      </p:grpSpPr>
      <p:pic>
        <p:nvPicPr>
          <p:cNvPr id="6" name="图片 5">
            <a:extLst>
              <a:ext uri="{FF2B5EF4-FFF2-40B4-BE49-F238E27FC236}">
                <a16:creationId xmlns:a16="http://schemas.microsoft.com/office/drawing/2014/main" id="{AEFB8903-DF02-90D6-4139-BB3BB04B58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75958"/>
            <a:ext cx="5653279" cy="2750309"/>
          </a:xfrm>
          <a:prstGeom prst="rect">
            <a:avLst/>
          </a:prstGeom>
        </p:spPr>
      </p:pic>
      <p:sp>
        <p:nvSpPr>
          <p:cNvPr id="7" name="矩形 6">
            <a:extLst>
              <a:ext uri="{FF2B5EF4-FFF2-40B4-BE49-F238E27FC236}">
                <a16:creationId xmlns:a16="http://schemas.microsoft.com/office/drawing/2014/main" id="{CC9F27A6-C749-6DA8-DD48-48A49A843C02}"/>
              </a:ext>
            </a:extLst>
          </p:cNvPr>
          <p:cNvSpPr/>
          <p:nvPr/>
        </p:nvSpPr>
        <p:spPr bwMode="auto">
          <a:xfrm>
            <a:off x="1079120" y="1454748"/>
            <a:ext cx="99059" cy="14478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dirty="0">
              <a:ln>
                <a:noFill/>
              </a:ln>
              <a:solidFill>
                <a:schemeClr val="tx1"/>
              </a:solidFill>
              <a:effectLst/>
              <a:latin typeface="Times New Roman" pitchFamily="18" charset="0"/>
              <a:ea typeface="宋体" pitchFamily="2" charset="-122"/>
            </a:endParaRPr>
          </a:p>
        </p:txBody>
      </p:sp>
      <p:sp>
        <p:nvSpPr>
          <p:cNvPr id="4" name="灯片编号占位符 3">
            <a:extLst>
              <a:ext uri="{FF2B5EF4-FFF2-40B4-BE49-F238E27FC236}">
                <a16:creationId xmlns:a16="http://schemas.microsoft.com/office/drawing/2014/main" id="{C3B396BA-12D0-D72D-0A23-B0BFD52246D0}"/>
              </a:ext>
            </a:extLst>
          </p:cNvPr>
          <p:cNvSpPr>
            <a:spLocks noGrp="1"/>
          </p:cNvSpPr>
          <p:nvPr>
            <p:ph type="sldNum" sz="quarter" idx="12"/>
          </p:nvPr>
        </p:nvSpPr>
        <p:spPr/>
        <p:txBody>
          <a:bodyPr/>
          <a:lstStyle/>
          <a:p>
            <a:pPr>
              <a:defRPr/>
            </a:pPr>
            <a:fld id="{DB5F2CA6-A39B-48F7-84D1-AF91BD07D67D}" type="slidenum">
              <a:rPr lang="en-US" altLang="zh-CN" smtClean="0"/>
              <a:pPr>
                <a:defRPr/>
              </a:pPr>
              <a:t>13</a:t>
            </a:fld>
            <a:endParaRPr lang="en-US" altLang="zh-CN"/>
          </a:p>
        </p:txBody>
      </p:sp>
      <p:sp>
        <p:nvSpPr>
          <p:cNvPr id="5" name="文本框 4">
            <a:extLst>
              <a:ext uri="{FF2B5EF4-FFF2-40B4-BE49-F238E27FC236}">
                <a16:creationId xmlns:a16="http://schemas.microsoft.com/office/drawing/2014/main" id="{8F405E6F-7385-AAD5-6A70-0444D0D84E65}"/>
              </a:ext>
            </a:extLst>
          </p:cNvPr>
          <p:cNvSpPr txBox="1"/>
          <p:nvPr/>
        </p:nvSpPr>
        <p:spPr>
          <a:xfrm>
            <a:off x="819806" y="3429000"/>
            <a:ext cx="10552386" cy="2775119"/>
          </a:xfrm>
          <a:prstGeom prst="rect">
            <a:avLst/>
          </a:prstGeom>
          <a:noFill/>
        </p:spPr>
        <p:txBody>
          <a:bodyPr wrap="square">
            <a:spAutoFit/>
          </a:bodyPr>
          <a:lstStyle/>
          <a:p>
            <a:pPr indent="304800" algn="just">
              <a:lnSpc>
                <a:spcPct val="200000"/>
              </a:lnSpc>
            </a:pP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对</a:t>
            </a:r>
            <a:r>
              <a:rPr lang="zh-CN" altLang="en-US" sz="1800" kern="100" dirty="0">
                <a:effectLst/>
                <a:latin typeface="Calibri" panose="020F0502020204030204" pitchFamily="34" charset="0"/>
                <a:ea typeface="宋体" panose="02010600030101010101" pitchFamily="2" charset="-122"/>
                <a:cs typeface="Times New Roman" panose="02020603050405020304" pitchFamily="18" charset="0"/>
              </a:rPr>
              <a:t>如</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图所示电路可以计算得出</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MCC(TS1)=26</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MCC(TS2)=20</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MCC(TS3)=14</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，据此我们可以确定每一测试部分所用寄存器的区间。我们用</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Range</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a:t>
            </a:r>
            <a:r>
              <a:rPr lang="en-US" altLang="zh-CN" sz="1800" kern="100" dirty="0" err="1">
                <a:effectLst/>
                <a:latin typeface="Calibri" panose="020F0502020204030204" pitchFamily="34" charset="0"/>
                <a:ea typeface="宋体" panose="02010600030101010101" pitchFamily="2" charset="-122"/>
                <a:cs typeface="Times New Roman" panose="02020603050405020304" pitchFamily="18" charset="0"/>
              </a:rPr>
              <a:t>Rj</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a:t>
            </a:r>
            <a:r>
              <a:rPr lang="en-US" altLang="zh-CN" sz="1800" kern="100" dirty="0" err="1">
                <a:effectLst/>
                <a:latin typeface="Calibri" panose="020F0502020204030204" pitchFamily="34" charset="0"/>
                <a:ea typeface="宋体" panose="02010600030101010101" pitchFamily="2" charset="-122"/>
                <a:cs typeface="Times New Roman" panose="02020603050405020304" pitchFamily="18" charset="0"/>
              </a:rPr>
              <a:t>a,b</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表示</a:t>
            </a:r>
            <a:r>
              <a:rPr lang="en-US" altLang="zh-CN" sz="1800" kern="100" dirty="0" err="1">
                <a:effectLst/>
                <a:latin typeface="Calibri" panose="020F0502020204030204" pitchFamily="34" charset="0"/>
                <a:ea typeface="宋体" panose="02010600030101010101" pitchFamily="2" charset="-122"/>
                <a:cs typeface="Times New Roman" panose="02020603050405020304" pitchFamily="18" charset="0"/>
              </a:rPr>
              <a:t>TSi</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部分</a:t>
            </a:r>
            <a:r>
              <a:rPr lang="en-US" altLang="zh-CN" sz="1800" kern="100" dirty="0" err="1">
                <a:effectLst/>
                <a:latin typeface="Calibri" panose="020F0502020204030204" pitchFamily="34" charset="0"/>
                <a:ea typeface="宋体" panose="02010600030101010101" pitchFamily="2" charset="-122"/>
                <a:cs typeface="Times New Roman" panose="02020603050405020304" pitchFamily="18" charset="0"/>
              </a:rPr>
              <a:t>Rj</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寄存器的区间。</a:t>
            </a:r>
            <a:endPar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endParaRPr>
          </a:p>
          <a:p>
            <a:pPr>
              <a:lnSpc>
                <a:spcPct val="200000"/>
              </a:lnSpc>
            </a:pPr>
            <a:r>
              <a:rPr lang="en-US" altLang="zh-CN" sz="1800" dirty="0">
                <a:effectLst/>
                <a:ea typeface="宋体" panose="02010600030101010101" pitchFamily="2" charset="-122"/>
                <a:cs typeface="Times New Roman" panose="02020603050405020304" pitchFamily="18" charset="0"/>
              </a:rPr>
              <a:t>      </a:t>
            </a:r>
            <a:r>
              <a:rPr lang="zh-CN" altLang="zh-CN" sz="1800" dirty="0">
                <a:effectLst/>
                <a:ea typeface="宋体" panose="02010600030101010101" pitchFamily="2" charset="-122"/>
                <a:cs typeface="Times New Roman" panose="02020603050405020304" pitchFamily="18" charset="0"/>
              </a:rPr>
              <a:t>对于</a:t>
            </a:r>
            <a:r>
              <a:rPr lang="en-US" altLang="zh-CN" sz="1800" dirty="0">
                <a:effectLst/>
                <a:ea typeface="宋体" panose="02010600030101010101" pitchFamily="2" charset="-122"/>
                <a:cs typeface="Times New Roman" panose="02020603050405020304" pitchFamily="18" charset="0"/>
              </a:rPr>
              <a:t>TS1</a:t>
            </a:r>
            <a:r>
              <a:rPr lang="zh-CN" altLang="zh-CN" sz="1800" dirty="0">
                <a:effectLst/>
                <a:ea typeface="宋体" panose="02010600030101010101" pitchFamily="2" charset="-122"/>
                <a:cs typeface="Times New Roman" panose="02020603050405020304" pitchFamily="18" charset="0"/>
              </a:rPr>
              <a:t>，</a:t>
            </a:r>
            <a:r>
              <a:rPr lang="en-US" altLang="zh-CN" sz="1800" dirty="0">
                <a:effectLst/>
                <a:ea typeface="宋体" panose="02010600030101010101" pitchFamily="2" charset="-122"/>
                <a:cs typeface="Times New Roman" panose="02020603050405020304" pitchFamily="18" charset="0"/>
              </a:rPr>
              <a:t>MCC(TS1)=26</a:t>
            </a:r>
            <a:r>
              <a:rPr lang="zh-CN" altLang="zh-CN" sz="1800" dirty="0">
                <a:effectLst/>
                <a:ea typeface="宋体" panose="02010600030101010101" pitchFamily="2" charset="-122"/>
                <a:cs typeface="Times New Roman" panose="02020603050405020304" pitchFamily="18" charset="0"/>
              </a:rPr>
              <a:t>，这表示所有驱动器中的触发器都位于前</a:t>
            </a:r>
            <a:r>
              <a:rPr lang="en-US" altLang="zh-CN" sz="1800" dirty="0">
                <a:effectLst/>
                <a:ea typeface="宋体" panose="02010600030101010101" pitchFamily="2" charset="-122"/>
                <a:cs typeface="Times New Roman" panose="02020603050405020304" pitchFamily="18" charset="0"/>
              </a:rPr>
              <a:t>26</a:t>
            </a:r>
            <a:r>
              <a:rPr lang="zh-CN" altLang="zh-CN" sz="1800" dirty="0">
                <a:effectLst/>
                <a:ea typeface="宋体" panose="02010600030101010101" pitchFamily="2" charset="-122"/>
                <a:cs typeface="Times New Roman" panose="02020603050405020304" pitchFamily="18" charset="0"/>
              </a:rPr>
              <a:t>个位置，接收器中的触发器都位于后</a:t>
            </a:r>
            <a:r>
              <a:rPr lang="en-US" altLang="zh-CN" sz="1800" dirty="0">
                <a:effectLst/>
                <a:ea typeface="宋体" panose="02010600030101010101" pitchFamily="2" charset="-122"/>
                <a:cs typeface="Times New Roman" panose="02020603050405020304" pitchFamily="18" charset="0"/>
              </a:rPr>
              <a:t>26</a:t>
            </a:r>
            <a:r>
              <a:rPr lang="zh-CN" altLang="zh-CN" sz="1800" dirty="0">
                <a:effectLst/>
                <a:ea typeface="宋体" panose="02010600030101010101" pitchFamily="2" charset="-122"/>
                <a:cs typeface="Times New Roman" panose="02020603050405020304" pitchFamily="18" charset="0"/>
              </a:rPr>
              <a:t>个位置，而驱动</a:t>
            </a:r>
            <a:r>
              <a:rPr lang="en-US" altLang="zh-CN" sz="1800" dirty="0">
                <a:effectLst/>
                <a:ea typeface="宋体" panose="02010600030101010101" pitchFamily="2" charset="-122"/>
                <a:cs typeface="Times New Roman" panose="02020603050405020304" pitchFamily="18" charset="0"/>
              </a:rPr>
              <a:t>-</a:t>
            </a:r>
            <a:r>
              <a:rPr lang="zh-CN" altLang="zh-CN" sz="1800" dirty="0">
                <a:effectLst/>
                <a:ea typeface="宋体" panose="02010600030101010101" pitchFamily="2" charset="-122"/>
                <a:cs typeface="Times New Roman" panose="02020603050405020304" pitchFamily="18" charset="0"/>
              </a:rPr>
              <a:t>接收器中的触发器位于两者的交集区间，该电路中一共有</a:t>
            </a:r>
            <a:r>
              <a:rPr lang="en-US" altLang="zh-CN" sz="1800" dirty="0">
                <a:effectLst/>
                <a:ea typeface="宋体" panose="02010600030101010101" pitchFamily="2" charset="-122"/>
                <a:cs typeface="Times New Roman" panose="02020603050405020304" pitchFamily="18" charset="0"/>
              </a:rPr>
              <a:t>30</a:t>
            </a:r>
            <a:r>
              <a:rPr lang="zh-CN" altLang="zh-CN" sz="1800" dirty="0">
                <a:effectLst/>
                <a:ea typeface="宋体" panose="02010600030101010101" pitchFamily="2" charset="-122"/>
                <a:cs typeface="Times New Roman" panose="02020603050405020304" pitchFamily="18" charset="0"/>
              </a:rPr>
              <a:t>个触发器，则区间长度为</a:t>
            </a:r>
            <a:r>
              <a:rPr lang="en-US" altLang="zh-CN" sz="1800" dirty="0">
                <a:effectLst/>
                <a:ea typeface="宋体" panose="02010600030101010101" pitchFamily="2" charset="-122"/>
                <a:cs typeface="Times New Roman" panose="02020603050405020304" pitchFamily="18" charset="0"/>
              </a:rPr>
              <a:t>[1,30]</a:t>
            </a:r>
            <a:r>
              <a:rPr lang="zh-CN" altLang="en-US" sz="1800" dirty="0">
                <a:effectLst/>
                <a:ea typeface="宋体" panose="02010600030101010101" pitchFamily="2" charset="-122"/>
                <a:cs typeface="Times New Roman" panose="02020603050405020304" pitchFamily="18" charset="0"/>
              </a:rPr>
              <a:t>。</a:t>
            </a:r>
            <a:endParaRPr lang="zh-CN" altLang="en-US" dirty="0"/>
          </a:p>
        </p:txBody>
      </p:sp>
      <p:pic>
        <p:nvPicPr>
          <p:cNvPr id="3" name="图片 2">
            <a:extLst>
              <a:ext uri="{FF2B5EF4-FFF2-40B4-BE49-F238E27FC236}">
                <a16:creationId xmlns:a16="http://schemas.microsoft.com/office/drawing/2014/main" id="{0D48B67C-5466-FF99-D44C-CD2C29BBDACA}"/>
              </a:ext>
            </a:extLst>
          </p:cNvPr>
          <p:cNvPicPr>
            <a:picLocks noChangeAspect="1"/>
          </p:cNvPicPr>
          <p:nvPr/>
        </p:nvPicPr>
        <p:blipFill>
          <a:blip r:embed="rId3"/>
          <a:stretch>
            <a:fillRect/>
          </a:stretch>
        </p:blipFill>
        <p:spPr>
          <a:xfrm>
            <a:off x="5153266" y="1546954"/>
            <a:ext cx="5963482" cy="1476581"/>
          </a:xfrm>
          <a:prstGeom prst="rect">
            <a:avLst/>
          </a:prstGeom>
        </p:spPr>
      </p:pic>
    </p:spTree>
    <p:extLst>
      <p:ext uri="{BB962C8B-B14F-4D97-AF65-F5344CB8AC3E}">
        <p14:creationId xmlns:p14="http://schemas.microsoft.com/office/powerpoint/2010/main" val="11307599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7FE9E3-CC50-FE3D-2234-2DABDBE3CB96}"/>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6F2EE049-2A07-C506-C4BF-A0E75B0306A6}"/>
              </a:ext>
            </a:extLst>
          </p:cNvPr>
          <p:cNvSpPr>
            <a:spLocks noGrp="1"/>
          </p:cNvSpPr>
          <p:nvPr>
            <p:ph type="sldNum" sz="quarter" idx="12"/>
          </p:nvPr>
        </p:nvSpPr>
        <p:spPr/>
        <p:txBody>
          <a:bodyPr/>
          <a:lstStyle/>
          <a:p>
            <a:pPr>
              <a:defRPr/>
            </a:pPr>
            <a:fld id="{DB5F2CA6-A39B-48F7-84D1-AF91BD07D67D}" type="slidenum">
              <a:rPr lang="en-US" altLang="zh-CN" smtClean="0"/>
              <a:pPr>
                <a:defRPr/>
              </a:pPr>
              <a:t>14</a:t>
            </a:fld>
            <a:endParaRPr lang="en-US" altLang="zh-CN"/>
          </a:p>
        </p:txBody>
      </p:sp>
      <p:pic>
        <p:nvPicPr>
          <p:cNvPr id="2" name="图片 1">
            <a:extLst>
              <a:ext uri="{FF2B5EF4-FFF2-40B4-BE49-F238E27FC236}">
                <a16:creationId xmlns:a16="http://schemas.microsoft.com/office/drawing/2014/main" id="{BAB3FB65-82E4-87AA-08E4-0A8E0C291F0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997415" y="1295713"/>
            <a:ext cx="6197170" cy="1380411"/>
          </a:xfrm>
          <a:prstGeom prst="rect">
            <a:avLst/>
          </a:prstGeom>
        </p:spPr>
      </p:pic>
      <p:sp>
        <p:nvSpPr>
          <p:cNvPr id="5" name="文本框 4">
            <a:extLst>
              <a:ext uri="{FF2B5EF4-FFF2-40B4-BE49-F238E27FC236}">
                <a16:creationId xmlns:a16="http://schemas.microsoft.com/office/drawing/2014/main" id="{DEBAFD1E-8800-52B9-8F68-CF645CD8261A}"/>
              </a:ext>
            </a:extLst>
          </p:cNvPr>
          <p:cNvSpPr txBox="1"/>
          <p:nvPr/>
        </p:nvSpPr>
        <p:spPr>
          <a:xfrm>
            <a:off x="1277007" y="2820869"/>
            <a:ext cx="9637986" cy="369332"/>
          </a:xfrm>
          <a:prstGeom prst="rect">
            <a:avLst/>
          </a:prstGeom>
          <a:noFill/>
        </p:spPr>
        <p:txBody>
          <a:bodyPr wrap="square">
            <a:spAutoFit/>
          </a:bodyPr>
          <a:lstStyle/>
          <a:p>
            <a:r>
              <a:rPr lang="zh-CN" altLang="zh-CN" sz="1800" dirty="0">
                <a:effectLst/>
                <a:latin typeface="Calibri" panose="020F0502020204030204" pitchFamily="34" charset="0"/>
                <a:ea typeface="宋体" panose="02010600030101010101" pitchFamily="2" charset="-122"/>
                <a:cs typeface="Times New Roman" panose="02020603050405020304" pitchFamily="18" charset="0"/>
              </a:rPr>
              <a:t>同理可求</a:t>
            </a:r>
            <a:r>
              <a:rPr lang="en-US" altLang="zh-CN" sz="1800" dirty="0">
                <a:effectLst/>
                <a:latin typeface="Calibri" panose="020F0502020204030204" pitchFamily="34" charset="0"/>
                <a:ea typeface="宋体" panose="02010600030101010101" pitchFamily="2" charset="-122"/>
                <a:cs typeface="Times New Roman" panose="02020603050405020304" pitchFamily="18" charset="0"/>
              </a:rPr>
              <a:t>TS2</a:t>
            </a:r>
            <a:r>
              <a:rPr lang="zh-CN" altLang="zh-CN" sz="1800" dirty="0">
                <a:effectLst/>
                <a:latin typeface="Calibri" panose="020F0502020204030204" pitchFamily="34" charset="0"/>
                <a:ea typeface="宋体" panose="02010600030101010101" pitchFamily="2" charset="-122"/>
                <a:cs typeface="Times New Roman" panose="02020603050405020304" pitchFamily="18" charset="0"/>
              </a:rPr>
              <a:t>和</a:t>
            </a:r>
            <a:r>
              <a:rPr lang="en-US" altLang="zh-CN" sz="1800" dirty="0">
                <a:effectLst/>
                <a:latin typeface="Calibri" panose="020F0502020204030204" pitchFamily="34" charset="0"/>
                <a:ea typeface="宋体" panose="02010600030101010101" pitchFamily="2" charset="-122"/>
                <a:cs typeface="Times New Roman" panose="02020603050405020304" pitchFamily="18" charset="0"/>
              </a:rPr>
              <a:t>TS3</a:t>
            </a:r>
            <a:r>
              <a:rPr lang="zh-CN" altLang="zh-CN" sz="1800" dirty="0">
                <a:effectLst/>
                <a:latin typeface="Calibri" panose="020F0502020204030204" pitchFamily="34" charset="0"/>
                <a:ea typeface="宋体" panose="02010600030101010101" pitchFamily="2" charset="-122"/>
                <a:cs typeface="Times New Roman" panose="02020603050405020304" pitchFamily="18" charset="0"/>
              </a:rPr>
              <a:t>中</a:t>
            </a:r>
            <a:r>
              <a:rPr lang="en-US" altLang="zh-CN" sz="1800" dirty="0">
                <a:effectLst/>
                <a:latin typeface="Calibri" panose="020F0502020204030204" pitchFamily="34" charset="0"/>
                <a:ea typeface="宋体" panose="02010600030101010101" pitchFamily="2" charset="-122"/>
                <a:cs typeface="Times New Roman" panose="02020603050405020304" pitchFamily="18" charset="0"/>
              </a:rPr>
              <a:t>R1,R2,…,R6</a:t>
            </a:r>
            <a:r>
              <a:rPr lang="zh-CN" altLang="zh-CN" sz="1800" dirty="0">
                <a:effectLst/>
                <a:latin typeface="Calibri" panose="020F0502020204030204" pitchFamily="34" charset="0"/>
                <a:ea typeface="宋体" panose="02010600030101010101" pitchFamily="2" charset="-122"/>
                <a:cs typeface="Times New Roman" panose="02020603050405020304" pitchFamily="18" charset="0"/>
              </a:rPr>
              <a:t>所在区间，最终寄存器的理想区间为三部分的</a:t>
            </a:r>
            <a:r>
              <a:rPr lang="zh-CN" altLang="zh-CN" sz="1800" dirty="0">
                <a:solidFill>
                  <a:srgbClr val="FF0000"/>
                </a:solidFill>
                <a:effectLst/>
                <a:latin typeface="Calibri" panose="020F0502020204030204" pitchFamily="34" charset="0"/>
                <a:ea typeface="宋体" panose="02010600030101010101" pitchFamily="2" charset="-122"/>
                <a:cs typeface="Times New Roman" panose="02020603050405020304" pitchFamily="18" charset="0"/>
              </a:rPr>
              <a:t>交集</a:t>
            </a:r>
            <a:r>
              <a:rPr lang="zh-CN" altLang="zh-CN" sz="1800" dirty="0">
                <a:effectLst/>
                <a:latin typeface="Calibri" panose="020F0502020204030204" pitchFamily="34" charset="0"/>
                <a:ea typeface="宋体" panose="02010600030101010101" pitchFamily="2" charset="-122"/>
                <a:cs typeface="Times New Roman" panose="02020603050405020304" pitchFamily="18" charset="0"/>
              </a:rPr>
              <a:t>，如表</a:t>
            </a:r>
            <a:r>
              <a:rPr lang="en-US" altLang="zh-CN" sz="1800" dirty="0">
                <a:effectLst/>
                <a:latin typeface="Calibri" panose="020F0502020204030204" pitchFamily="34" charset="0"/>
                <a:ea typeface="宋体" panose="02010600030101010101" pitchFamily="2" charset="-122"/>
                <a:cs typeface="Times New Roman" panose="02020603050405020304" pitchFamily="18" charset="0"/>
              </a:rPr>
              <a:t>3</a:t>
            </a:r>
            <a:r>
              <a:rPr lang="zh-CN" altLang="zh-CN" sz="1800" dirty="0">
                <a:effectLst/>
                <a:latin typeface="Calibri" panose="020F0502020204030204" pitchFamily="34" charset="0"/>
                <a:ea typeface="宋体" panose="02010600030101010101" pitchFamily="2" charset="-122"/>
                <a:cs typeface="Times New Roman" panose="02020603050405020304" pitchFamily="18" charset="0"/>
              </a:rPr>
              <a:t>所示。</a:t>
            </a:r>
            <a:endParaRPr lang="zh-CN" altLang="en-US" dirty="0"/>
          </a:p>
        </p:txBody>
      </p:sp>
      <p:pic>
        <p:nvPicPr>
          <p:cNvPr id="8" name="图片 7">
            <a:extLst>
              <a:ext uri="{FF2B5EF4-FFF2-40B4-BE49-F238E27FC236}">
                <a16:creationId xmlns:a16="http://schemas.microsoft.com/office/drawing/2014/main" id="{FFEB9D2B-F37B-1325-76DB-42DB2B67A3C4}"/>
              </a:ext>
            </a:extLst>
          </p:cNvPr>
          <p:cNvPicPr>
            <a:picLocks noChangeAspect="1"/>
          </p:cNvPicPr>
          <p:nvPr/>
        </p:nvPicPr>
        <p:blipFill>
          <a:blip r:embed="rId3"/>
          <a:stretch>
            <a:fillRect/>
          </a:stretch>
        </p:blipFill>
        <p:spPr>
          <a:xfrm>
            <a:off x="2599837" y="541283"/>
            <a:ext cx="6992326" cy="609685"/>
          </a:xfrm>
          <a:prstGeom prst="rect">
            <a:avLst/>
          </a:prstGeom>
        </p:spPr>
      </p:pic>
      <p:pic>
        <p:nvPicPr>
          <p:cNvPr id="9" name="图片 8">
            <a:extLst>
              <a:ext uri="{FF2B5EF4-FFF2-40B4-BE49-F238E27FC236}">
                <a16:creationId xmlns:a16="http://schemas.microsoft.com/office/drawing/2014/main" id="{E0EB5561-F7C8-A5A0-AF25-1FFF93C0F74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30378" y="3334946"/>
            <a:ext cx="9131244" cy="2826442"/>
          </a:xfrm>
          <a:prstGeom prst="rect">
            <a:avLst/>
          </a:prstGeom>
        </p:spPr>
      </p:pic>
    </p:spTree>
    <p:extLst>
      <p:ext uri="{BB962C8B-B14F-4D97-AF65-F5344CB8AC3E}">
        <p14:creationId xmlns:p14="http://schemas.microsoft.com/office/powerpoint/2010/main" val="21009664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899BF2-B941-FFF4-82F7-337339002D80}"/>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28DFDDE2-77D6-7334-B6DB-8349EE2C880D}"/>
              </a:ext>
            </a:extLst>
          </p:cNvPr>
          <p:cNvSpPr>
            <a:spLocks noGrp="1"/>
          </p:cNvSpPr>
          <p:nvPr>
            <p:ph type="sldNum" sz="quarter" idx="12"/>
          </p:nvPr>
        </p:nvSpPr>
        <p:spPr/>
        <p:txBody>
          <a:bodyPr/>
          <a:lstStyle/>
          <a:p>
            <a:pPr>
              <a:defRPr/>
            </a:pPr>
            <a:fld id="{DB5F2CA6-A39B-48F7-84D1-AF91BD07D67D}" type="slidenum">
              <a:rPr lang="en-US" altLang="zh-CN" smtClean="0"/>
              <a:pPr>
                <a:defRPr/>
              </a:pPr>
              <a:t>15</a:t>
            </a:fld>
            <a:endParaRPr lang="en-US" altLang="zh-CN"/>
          </a:p>
        </p:txBody>
      </p:sp>
      <p:sp>
        <p:nvSpPr>
          <p:cNvPr id="3" name="文本框 2">
            <a:extLst>
              <a:ext uri="{FF2B5EF4-FFF2-40B4-BE49-F238E27FC236}">
                <a16:creationId xmlns:a16="http://schemas.microsoft.com/office/drawing/2014/main" id="{1D38A476-4E87-AF84-A87C-85C017356AD7}"/>
              </a:ext>
            </a:extLst>
          </p:cNvPr>
          <p:cNvSpPr txBox="1"/>
          <p:nvPr/>
        </p:nvSpPr>
        <p:spPr>
          <a:xfrm>
            <a:off x="740753" y="3927619"/>
            <a:ext cx="11193517" cy="2780248"/>
          </a:xfrm>
          <a:prstGeom prst="rect">
            <a:avLst/>
          </a:prstGeom>
          <a:noFill/>
        </p:spPr>
        <p:txBody>
          <a:bodyPr wrap="square">
            <a:spAutoFit/>
          </a:bodyPr>
          <a:lstStyle/>
          <a:p>
            <a:pPr indent="304800" algn="just">
              <a:lnSpc>
                <a:spcPct val="200000"/>
              </a:lnSpc>
            </a:pP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首先可以看出，对于</a:t>
            </a:r>
            <a:r>
              <a:rPr lang="zh-CN" altLang="zh-CN" sz="1800" kern="100" dirty="0">
                <a:solidFill>
                  <a:srgbClr val="FF0000"/>
                </a:solidFill>
                <a:effectLst/>
                <a:latin typeface="Calibri" panose="020F0502020204030204" pitchFamily="34" charset="0"/>
                <a:ea typeface="宋体" panose="02010600030101010101" pitchFamily="2" charset="-122"/>
                <a:cs typeface="Times New Roman" panose="02020603050405020304" pitchFamily="18" charset="0"/>
              </a:rPr>
              <a:t>区间边界</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，只有</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R6</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存在理想区域，而</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R6</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包含</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4</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个触发器，因此</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R6</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的区间应为</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[27,30]</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a:t>
            </a:r>
            <a:r>
              <a:rPr lang="zh-CN" altLang="zh-CN" sz="1800" kern="100" dirty="0">
                <a:solidFill>
                  <a:srgbClr val="FF0000"/>
                </a:solidFill>
                <a:effectLst/>
                <a:latin typeface="Calibri" panose="020F0502020204030204" pitchFamily="34" charset="0"/>
                <a:ea typeface="宋体" panose="02010600030101010101" pitchFamily="2" charset="-122"/>
                <a:cs typeface="Times New Roman" panose="02020603050405020304" pitchFamily="18" charset="0"/>
              </a:rPr>
              <a:t>此时边界被压缩到</a:t>
            </a:r>
            <a:r>
              <a:rPr lang="en-US" altLang="zh-CN" sz="1800" kern="100" dirty="0">
                <a:solidFill>
                  <a:srgbClr val="FF0000"/>
                </a:solidFill>
                <a:effectLst/>
                <a:latin typeface="Calibri" panose="020F0502020204030204" pitchFamily="34" charset="0"/>
                <a:ea typeface="宋体" panose="02010600030101010101" pitchFamily="2" charset="-122"/>
                <a:cs typeface="Times New Roman" panose="02020603050405020304" pitchFamily="18" charset="0"/>
              </a:rPr>
              <a:t>[1,26]</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，同样只有</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R1</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在</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26</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位置上存在理想区域，</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R1</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包含</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6</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个触发器，则</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R1</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的区间为</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[21,26],</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同理可得</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R4</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区间为</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[15,20],</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此时由于剩下的</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3</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个寄存器</a:t>
            </a:r>
            <a:r>
              <a:rPr lang="zh-CN" altLang="zh-CN" sz="1800" kern="100" dirty="0">
                <a:solidFill>
                  <a:srgbClr val="FF0000"/>
                </a:solidFill>
                <a:effectLst/>
                <a:latin typeface="Calibri" panose="020F0502020204030204" pitchFamily="34" charset="0"/>
                <a:ea typeface="宋体" panose="02010600030101010101" pitchFamily="2" charset="-122"/>
                <a:cs typeface="Times New Roman" panose="02020603050405020304" pitchFamily="18" charset="0"/>
              </a:rPr>
              <a:t>右理想边界均为</a:t>
            </a:r>
            <a:r>
              <a:rPr lang="en-US" altLang="zh-CN" sz="1800" kern="100" dirty="0">
                <a:solidFill>
                  <a:srgbClr val="FF0000"/>
                </a:solidFill>
                <a:effectLst/>
                <a:latin typeface="Calibri" panose="020F0502020204030204" pitchFamily="34" charset="0"/>
                <a:ea typeface="宋体" panose="02010600030101010101" pitchFamily="2" charset="-122"/>
                <a:cs typeface="Times New Roman" panose="02020603050405020304" pitchFamily="18" charset="0"/>
              </a:rPr>
              <a:t>14</a:t>
            </a:r>
            <a:r>
              <a:rPr lang="zh-CN" altLang="zh-CN" sz="1800" kern="100" dirty="0">
                <a:solidFill>
                  <a:srgbClr val="FF0000"/>
                </a:solidFill>
                <a:effectLst/>
                <a:latin typeface="Calibri" panose="020F0502020204030204" pitchFamily="34" charset="0"/>
                <a:ea typeface="宋体" panose="02010600030101010101" pitchFamily="2" charset="-122"/>
                <a:cs typeface="Times New Roman" panose="02020603050405020304" pitchFamily="18" charset="0"/>
              </a:rPr>
              <a:t>，因此考虑左边界</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，此时对于起始位置，只有</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R2</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是理想区域，因此</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R2</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的区间为</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[1,8]</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，同理可得</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R3</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的区间为</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[9,12]</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R4</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区间为</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[13,14]</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a:t>
            </a:r>
            <a:endPar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lnSpc>
                <a:spcPct val="200000"/>
              </a:lnSpc>
            </a:pP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        </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此时我们就得到了最优扫描链顺序为</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R2 R3 R5 R4 R1 R6</a:t>
            </a:r>
            <a:endPar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endParaRPr>
          </a:p>
        </p:txBody>
      </p:sp>
      <p:sp>
        <p:nvSpPr>
          <p:cNvPr id="5" name="矩形 4">
            <a:extLst>
              <a:ext uri="{FF2B5EF4-FFF2-40B4-BE49-F238E27FC236}">
                <a16:creationId xmlns:a16="http://schemas.microsoft.com/office/drawing/2014/main" id="{49564EA4-73AE-122D-40F2-3A882F7A7624}"/>
              </a:ext>
            </a:extLst>
          </p:cNvPr>
          <p:cNvSpPr/>
          <p:nvPr/>
        </p:nvSpPr>
        <p:spPr>
          <a:xfrm>
            <a:off x="740754" y="360345"/>
            <a:ext cx="2236510" cy="584775"/>
          </a:xfrm>
          <a:prstGeom prst="rect">
            <a:avLst/>
          </a:prstGeom>
          <a:noFill/>
        </p:spPr>
        <p:txBody>
          <a:bodyPr wrap="none" lIns="91440" tIns="45720" rIns="91440" bIns="45720">
            <a:spAutoFit/>
          </a:bodyPr>
          <a:lstStyle/>
          <a:p>
            <a:pPr algn="ctr"/>
            <a:r>
              <a:rPr lang="zh-CN" altLang="en-US" sz="3200" b="0" cap="none" spc="0" dirty="0">
                <a:ln w="0"/>
                <a:solidFill>
                  <a:schemeClr val="accent2"/>
                </a:solidFill>
                <a:effectLst>
                  <a:outerShdw blurRad="38100" dist="19050" dir="2700000" algn="tl" rotWithShape="0">
                    <a:schemeClr val="dk1">
                      <a:alpha val="40000"/>
                    </a:schemeClr>
                  </a:outerShdw>
                </a:effectLst>
              </a:rPr>
              <a:t>区间法分析</a:t>
            </a:r>
          </a:p>
        </p:txBody>
      </p:sp>
      <p:pic>
        <p:nvPicPr>
          <p:cNvPr id="6" name="图片 5">
            <a:extLst>
              <a:ext uri="{FF2B5EF4-FFF2-40B4-BE49-F238E27FC236}">
                <a16:creationId xmlns:a16="http://schemas.microsoft.com/office/drawing/2014/main" id="{CD0DFFE3-D197-187E-E027-B955DF4615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71890" y="1083714"/>
            <a:ext cx="9131244" cy="2826442"/>
          </a:xfrm>
          <a:prstGeom prst="rect">
            <a:avLst/>
          </a:prstGeom>
        </p:spPr>
      </p:pic>
    </p:spTree>
    <p:extLst>
      <p:ext uri="{BB962C8B-B14F-4D97-AF65-F5344CB8AC3E}">
        <p14:creationId xmlns:p14="http://schemas.microsoft.com/office/powerpoint/2010/main" val="30050369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9FDA06-0458-C14D-8CB9-F10F837DA22C}"/>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1BD10A72-63E5-009F-F4BE-409A65B5B586}"/>
              </a:ext>
            </a:extLst>
          </p:cNvPr>
          <p:cNvSpPr>
            <a:spLocks noGrp="1"/>
          </p:cNvSpPr>
          <p:nvPr>
            <p:ph type="sldNum" sz="quarter" idx="12"/>
          </p:nvPr>
        </p:nvSpPr>
        <p:spPr/>
        <p:txBody>
          <a:bodyPr/>
          <a:lstStyle/>
          <a:p>
            <a:pPr>
              <a:defRPr/>
            </a:pPr>
            <a:fld id="{DB5F2CA6-A39B-48F7-84D1-AF91BD07D67D}" type="slidenum">
              <a:rPr lang="en-US" altLang="zh-CN" smtClean="0"/>
              <a:pPr>
                <a:defRPr/>
              </a:pPr>
              <a:t>16</a:t>
            </a:fld>
            <a:endParaRPr lang="en-US" altLang="zh-CN"/>
          </a:p>
        </p:txBody>
      </p:sp>
      <p:pic>
        <p:nvPicPr>
          <p:cNvPr id="2" name="图片 1">
            <a:extLst>
              <a:ext uri="{FF2B5EF4-FFF2-40B4-BE49-F238E27FC236}">
                <a16:creationId xmlns:a16="http://schemas.microsoft.com/office/drawing/2014/main" id="{36039EA2-5461-5AFE-4C63-39D23BF6E0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81315" y="676243"/>
            <a:ext cx="4818556" cy="2409278"/>
          </a:xfrm>
          <a:prstGeom prst="rect">
            <a:avLst/>
          </a:prstGeom>
        </p:spPr>
      </p:pic>
      <p:sp>
        <p:nvSpPr>
          <p:cNvPr id="5" name="文本框 4">
            <a:extLst>
              <a:ext uri="{FF2B5EF4-FFF2-40B4-BE49-F238E27FC236}">
                <a16:creationId xmlns:a16="http://schemas.microsoft.com/office/drawing/2014/main" id="{B74A5491-09F9-B3A1-E690-0B78FEE981B2}"/>
              </a:ext>
            </a:extLst>
          </p:cNvPr>
          <p:cNvSpPr txBox="1"/>
          <p:nvPr/>
        </p:nvSpPr>
        <p:spPr>
          <a:xfrm>
            <a:off x="641131" y="3429000"/>
            <a:ext cx="10909738" cy="2369880"/>
          </a:xfrm>
          <a:prstGeom prst="rect">
            <a:avLst/>
          </a:prstGeom>
          <a:noFill/>
        </p:spPr>
        <p:txBody>
          <a:bodyPr wrap="square">
            <a:spAutoFit/>
          </a:bodyPr>
          <a:lstStyle/>
          <a:p>
            <a:pPr>
              <a:lnSpc>
                <a:spcPct val="150000"/>
              </a:lnSpc>
            </a:pPr>
            <a:r>
              <a:rPr lang="en-US" altLang="zh-CN" sz="1800" dirty="0">
                <a:effectLst/>
                <a:ea typeface="宋体" panose="02010600030101010101" pitchFamily="2" charset="-122"/>
                <a:cs typeface="Times New Roman" panose="02020603050405020304" pitchFamily="18" charset="0"/>
              </a:rPr>
              <a:t>        </a:t>
            </a:r>
            <a:r>
              <a:rPr lang="zh-CN" altLang="zh-CN" sz="1800" dirty="0">
                <a:effectLst/>
                <a:ea typeface="宋体" panose="02010600030101010101" pitchFamily="2" charset="-122"/>
                <a:cs typeface="Times New Roman" panose="02020603050405020304" pitchFamily="18" charset="0"/>
              </a:rPr>
              <a:t>最优扫描链设计如</a:t>
            </a:r>
            <a:r>
              <a:rPr lang="zh-CN" altLang="en-US" sz="1800" dirty="0">
                <a:effectLst/>
                <a:ea typeface="宋体" panose="02010600030101010101" pitchFamily="2" charset="-122"/>
                <a:cs typeface="Times New Roman" panose="02020603050405020304" pitchFamily="18" charset="0"/>
              </a:rPr>
              <a:t>上</a:t>
            </a:r>
            <a:r>
              <a:rPr lang="zh-CN" altLang="zh-CN" sz="1800" dirty="0">
                <a:effectLst/>
                <a:ea typeface="宋体" panose="02010600030101010101" pitchFamily="2" charset="-122"/>
                <a:cs typeface="Times New Roman" panose="02020603050405020304" pitchFamily="18" charset="0"/>
              </a:rPr>
              <a:t>图所示</a:t>
            </a:r>
            <a:r>
              <a:rPr lang="zh-CN" altLang="en-US" sz="1800" dirty="0">
                <a:effectLst/>
                <a:ea typeface="宋体" panose="02010600030101010101" pitchFamily="2" charset="-122"/>
                <a:cs typeface="Times New Roman" panose="02020603050405020304" pitchFamily="18" charset="0"/>
              </a:rPr>
              <a:t>。</a:t>
            </a:r>
            <a:endParaRPr lang="en-US" altLang="zh-CN" sz="1800" dirty="0">
              <a:effectLst/>
              <a:ea typeface="宋体" panose="02010600030101010101" pitchFamily="2" charset="-122"/>
              <a:cs typeface="Times New Roman" panose="02020603050405020304" pitchFamily="18" charset="0"/>
            </a:endParaRPr>
          </a:p>
          <a:p>
            <a:pPr indent="304800" algn="just">
              <a:lnSpc>
                <a:spcPct val="150000"/>
              </a:lnSpc>
            </a:pP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   </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此时，总测试时间为</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40(26+1)+60(20+1)+100(14+1)+30=3870,</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比</a:t>
            </a:r>
            <a:r>
              <a:rPr lang="zh-CN" altLang="en-US" sz="1800" kern="100" dirty="0">
                <a:effectLst/>
                <a:latin typeface="Calibri" panose="020F0502020204030204" pitchFamily="34" charset="0"/>
                <a:ea typeface="宋体" panose="02010600030101010101" pitchFamily="2" charset="-122"/>
                <a:cs typeface="Times New Roman" panose="02020603050405020304" pitchFamily="18" charset="0"/>
              </a:rPr>
              <a:t>原先</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扫描结构时间</a:t>
            </a:r>
            <a:r>
              <a:rPr lang="zh-CN" altLang="zh-CN" sz="1800" kern="100" dirty="0">
                <a:solidFill>
                  <a:srgbClr val="FF0000"/>
                </a:solidFill>
                <a:effectLst/>
                <a:latin typeface="Calibri" panose="020F0502020204030204" pitchFamily="34" charset="0"/>
                <a:ea typeface="宋体" panose="02010600030101010101" pitchFamily="2" charset="-122"/>
                <a:cs typeface="Times New Roman" panose="02020603050405020304" pitchFamily="18" charset="0"/>
              </a:rPr>
              <a:t>少了</a:t>
            </a:r>
            <a:r>
              <a:rPr lang="en-US" altLang="zh-CN" sz="1800" kern="100" dirty="0">
                <a:solidFill>
                  <a:srgbClr val="FF0000"/>
                </a:solidFill>
                <a:effectLst/>
                <a:latin typeface="Calibri" panose="020F0502020204030204" pitchFamily="34" charset="0"/>
                <a:ea typeface="宋体" panose="02010600030101010101" pitchFamily="2" charset="-122"/>
                <a:cs typeface="Times New Roman" panose="02020603050405020304" pitchFamily="18" charset="0"/>
              </a:rPr>
              <a:t>17.1%</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，比传统方法减少了</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41.8%</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a:t>
            </a:r>
            <a:endPar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indent="304800" algn="just">
              <a:lnSpc>
                <a:spcPct val="150000"/>
              </a:lnSpc>
            </a:pPr>
            <a:endParaRPr lang="zh-CN" altLang="zh-CN" kern="100" dirty="0">
              <a:effectLst/>
              <a:latin typeface="Calibri" panose="020F0502020204030204" pitchFamily="34" charset="0"/>
              <a:ea typeface="宋体" panose="02010600030101010101" pitchFamily="2" charset="-122"/>
              <a:cs typeface="Times New Roman" panose="02020603050405020304" pitchFamily="18" charset="0"/>
            </a:endParaRPr>
          </a:p>
          <a:p>
            <a:r>
              <a:rPr lang="en-US" altLang="zh-CN" sz="2000" b="1" dirty="0">
                <a:effectLst/>
                <a:ea typeface="宋体" panose="02010600030101010101" pitchFamily="2" charset="-122"/>
                <a:cs typeface="Times New Roman" panose="02020603050405020304" pitchFamily="18" charset="0"/>
              </a:rPr>
              <a:t>        </a:t>
            </a:r>
            <a:r>
              <a:rPr lang="zh-CN" altLang="zh-CN" sz="2000" b="1" dirty="0">
                <a:effectLst/>
                <a:ea typeface="宋体" panose="02010600030101010101" pitchFamily="2" charset="-122"/>
                <a:cs typeface="Times New Roman" panose="02020603050405020304" pitchFamily="18" charset="0"/>
              </a:rPr>
              <a:t>因此可以总结出区间法求最优扫描链的方法：寄存器的最优序列为理想区域右边界的大小顺序，右边界相同者，看其左边界，左边界大者排在后面。</a:t>
            </a:r>
            <a:endParaRPr lang="zh-CN" altLang="en-US" sz="2000" b="1" dirty="0"/>
          </a:p>
        </p:txBody>
      </p:sp>
    </p:spTree>
    <p:extLst>
      <p:ext uri="{BB962C8B-B14F-4D97-AF65-F5344CB8AC3E}">
        <p14:creationId xmlns:p14="http://schemas.microsoft.com/office/powerpoint/2010/main" val="9098172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155255-49CD-855D-1225-8A1B0ECDD9F8}"/>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7623717C-E461-3F3D-ACD3-A5F18CFA0681}"/>
              </a:ext>
            </a:extLst>
          </p:cNvPr>
          <p:cNvSpPr>
            <a:spLocks noGrp="1"/>
          </p:cNvSpPr>
          <p:nvPr>
            <p:ph type="sldNum" sz="quarter" idx="12"/>
          </p:nvPr>
        </p:nvSpPr>
        <p:spPr/>
        <p:txBody>
          <a:bodyPr/>
          <a:lstStyle/>
          <a:p>
            <a:pPr>
              <a:defRPr/>
            </a:pPr>
            <a:fld id="{DB5F2CA6-A39B-48F7-84D1-AF91BD07D67D}" type="slidenum">
              <a:rPr lang="en-US" altLang="zh-CN" smtClean="0"/>
              <a:pPr>
                <a:defRPr/>
              </a:pPr>
              <a:t>17</a:t>
            </a:fld>
            <a:endParaRPr lang="en-US" altLang="zh-CN"/>
          </a:p>
        </p:txBody>
      </p:sp>
      <p:pic>
        <p:nvPicPr>
          <p:cNvPr id="2" name="图片 1">
            <a:extLst>
              <a:ext uri="{FF2B5EF4-FFF2-40B4-BE49-F238E27FC236}">
                <a16:creationId xmlns:a16="http://schemas.microsoft.com/office/drawing/2014/main" id="{CEEBC05C-35C7-564F-4DD1-B3E6C815EC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6255" y="1853228"/>
            <a:ext cx="9739487" cy="1927729"/>
          </a:xfrm>
          <a:prstGeom prst="rect">
            <a:avLst/>
          </a:prstGeom>
        </p:spPr>
      </p:pic>
      <p:sp>
        <p:nvSpPr>
          <p:cNvPr id="5" name="文本框 4">
            <a:extLst>
              <a:ext uri="{FF2B5EF4-FFF2-40B4-BE49-F238E27FC236}">
                <a16:creationId xmlns:a16="http://schemas.microsoft.com/office/drawing/2014/main" id="{674C5C31-3D0A-B981-9BE1-5912F1341773}"/>
              </a:ext>
            </a:extLst>
          </p:cNvPr>
          <p:cNvSpPr txBox="1"/>
          <p:nvPr/>
        </p:nvSpPr>
        <p:spPr>
          <a:xfrm>
            <a:off x="893379" y="787371"/>
            <a:ext cx="10195034" cy="870751"/>
          </a:xfrm>
          <a:prstGeom prst="rect">
            <a:avLst/>
          </a:prstGeom>
          <a:noFill/>
        </p:spPr>
        <p:txBody>
          <a:bodyPr wrap="square">
            <a:spAutoFit/>
          </a:bodyPr>
          <a:lstStyle/>
          <a:p>
            <a:pPr>
              <a:lnSpc>
                <a:spcPct val="150000"/>
              </a:lnSpc>
            </a:pPr>
            <a:r>
              <a:rPr lang="en-US" altLang="zh-CN" sz="1800" dirty="0">
                <a:effectLst/>
                <a:ea typeface="宋体" panose="02010600030101010101" pitchFamily="2" charset="-122"/>
                <a:cs typeface="Times New Roman" panose="02020603050405020304" pitchFamily="18" charset="0"/>
              </a:rPr>
              <a:t>        </a:t>
            </a:r>
            <a:r>
              <a:rPr lang="zh-CN" altLang="zh-CN" sz="1800" dirty="0">
                <a:effectLst/>
                <a:ea typeface="宋体" panose="02010600030101010101" pitchFamily="2" charset="-122"/>
                <a:cs typeface="Times New Roman" panose="02020603050405020304" pitchFamily="18" charset="0"/>
              </a:rPr>
              <a:t>进行计算机模拟验证，结果表明，采用传统测试方法所用的总时间为</a:t>
            </a:r>
            <a:r>
              <a:rPr lang="en-US" altLang="zh-CN" sz="1800" dirty="0">
                <a:effectLst/>
                <a:ea typeface="宋体" panose="02010600030101010101" pitchFamily="2" charset="-122"/>
                <a:cs typeface="Times New Roman" panose="02020603050405020304" pitchFamily="18" charset="0"/>
              </a:rPr>
              <a:t>3370</a:t>
            </a:r>
            <a:r>
              <a:rPr lang="zh-CN" altLang="zh-CN" sz="1800" dirty="0">
                <a:effectLst/>
                <a:ea typeface="宋体" panose="02010600030101010101" pitchFamily="2" charset="-122"/>
                <a:cs typeface="Times New Roman" panose="02020603050405020304" pitchFamily="18" charset="0"/>
              </a:rPr>
              <a:t>个时钟，而采用交迭测试法的不同扫描链的测试结果如表</a:t>
            </a:r>
            <a:r>
              <a:rPr lang="en-US" altLang="zh-CN" sz="1800" dirty="0">
                <a:effectLst/>
                <a:ea typeface="宋体" panose="02010600030101010101" pitchFamily="2" charset="-122"/>
                <a:cs typeface="Times New Roman" panose="02020603050405020304" pitchFamily="18" charset="0"/>
              </a:rPr>
              <a:t>4</a:t>
            </a:r>
            <a:r>
              <a:rPr lang="zh-CN" altLang="zh-CN" sz="1800" dirty="0">
                <a:effectLst/>
                <a:ea typeface="宋体" panose="02010600030101010101" pitchFamily="2" charset="-122"/>
                <a:cs typeface="Times New Roman" panose="02020603050405020304" pitchFamily="18" charset="0"/>
              </a:rPr>
              <a:t>所示，结果与理论分析相符合。</a:t>
            </a:r>
            <a:endParaRPr lang="zh-CN" altLang="en-US" dirty="0"/>
          </a:p>
        </p:txBody>
      </p:sp>
      <p:sp>
        <p:nvSpPr>
          <p:cNvPr id="7" name="文本框 6">
            <a:extLst>
              <a:ext uri="{FF2B5EF4-FFF2-40B4-BE49-F238E27FC236}">
                <a16:creationId xmlns:a16="http://schemas.microsoft.com/office/drawing/2014/main" id="{EA390C45-EDCC-5C4C-92C1-59712F5E9358}"/>
              </a:ext>
            </a:extLst>
          </p:cNvPr>
          <p:cNvSpPr txBox="1"/>
          <p:nvPr/>
        </p:nvSpPr>
        <p:spPr>
          <a:xfrm>
            <a:off x="1059817" y="3836140"/>
            <a:ext cx="10072364" cy="1667123"/>
          </a:xfrm>
          <a:prstGeom prst="rect">
            <a:avLst/>
          </a:prstGeom>
          <a:noFill/>
        </p:spPr>
        <p:txBody>
          <a:bodyPr wrap="square">
            <a:spAutoFit/>
          </a:bodyPr>
          <a:lstStyle/>
          <a:p>
            <a:pPr>
              <a:lnSpc>
                <a:spcPct val="200000"/>
              </a:lnSpc>
            </a:pPr>
            <a:r>
              <a:rPr lang="en-US" altLang="zh-CN" sz="1800" dirty="0">
                <a:effectLst/>
                <a:ea typeface="宋体" panose="02010600030101010101" pitchFamily="2" charset="-122"/>
                <a:cs typeface="Times New Roman" panose="02020603050405020304" pitchFamily="18" charset="0"/>
              </a:rPr>
              <a:t>        </a:t>
            </a:r>
            <a:r>
              <a:rPr lang="zh-CN" altLang="zh-CN" sz="1800" dirty="0">
                <a:effectLst/>
                <a:ea typeface="宋体" panose="02010600030101010101" pitchFamily="2" charset="-122"/>
                <a:cs typeface="Times New Roman" panose="02020603050405020304" pitchFamily="18" charset="0"/>
              </a:rPr>
              <a:t>需要注意的是，</a:t>
            </a:r>
            <a:r>
              <a:rPr lang="zh-CN" altLang="zh-CN" sz="1800" dirty="0">
                <a:solidFill>
                  <a:srgbClr val="FF0000"/>
                </a:solidFill>
                <a:effectLst/>
                <a:ea typeface="宋体" panose="02010600030101010101" pitchFamily="2" charset="-122"/>
                <a:cs typeface="Times New Roman" panose="02020603050405020304" pitchFamily="18" charset="0"/>
              </a:rPr>
              <a:t>当两个寄存器理想区域完全相同时，按区间法构造出来的扫描链可能不止一条</a:t>
            </a:r>
            <a:r>
              <a:rPr lang="zh-CN" altLang="zh-CN" sz="1800" dirty="0">
                <a:effectLst/>
                <a:ea typeface="宋体" panose="02010600030101010101" pitchFamily="2" charset="-122"/>
                <a:cs typeface="Times New Roman" panose="02020603050405020304" pitchFamily="18" charset="0"/>
              </a:rPr>
              <a:t>，但实际上，由计算机模拟可知，最终的测试时间与理论计算存在出入，因此</a:t>
            </a:r>
            <a:r>
              <a:rPr lang="zh-CN" altLang="zh-CN" sz="1800" dirty="0">
                <a:solidFill>
                  <a:srgbClr val="FF0000"/>
                </a:solidFill>
                <a:effectLst/>
                <a:ea typeface="宋体" panose="02010600030101010101" pitchFamily="2" charset="-122"/>
                <a:cs typeface="Times New Roman" panose="02020603050405020304" pitchFamily="18" charset="0"/>
              </a:rPr>
              <a:t>最优扫描链只存在一条</a:t>
            </a:r>
            <a:r>
              <a:rPr lang="zh-CN" altLang="zh-CN" sz="1800" dirty="0">
                <a:effectLst/>
                <a:ea typeface="宋体" panose="02010600030101010101" pitchFamily="2" charset="-122"/>
                <a:cs typeface="Times New Roman" panose="02020603050405020304" pitchFamily="18" charset="0"/>
              </a:rPr>
              <a:t>，对于这种情况，还需要引入新的算法和理论。</a:t>
            </a:r>
            <a:endParaRPr lang="zh-CN" altLang="en-US" dirty="0"/>
          </a:p>
        </p:txBody>
      </p:sp>
    </p:spTree>
    <p:extLst>
      <p:ext uri="{BB962C8B-B14F-4D97-AF65-F5344CB8AC3E}">
        <p14:creationId xmlns:p14="http://schemas.microsoft.com/office/powerpoint/2010/main" val="33880778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7E1D21-9D18-AD7C-6667-67F6CF45DFE5}"/>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C60B2EB7-E3CF-1D8E-8BBF-C53CB79C1579}"/>
              </a:ext>
            </a:extLst>
          </p:cNvPr>
          <p:cNvSpPr>
            <a:spLocks noGrp="1"/>
          </p:cNvSpPr>
          <p:nvPr>
            <p:ph type="sldNum" sz="quarter" idx="12"/>
          </p:nvPr>
        </p:nvSpPr>
        <p:spPr/>
        <p:txBody>
          <a:bodyPr/>
          <a:lstStyle/>
          <a:p>
            <a:pPr>
              <a:defRPr/>
            </a:pPr>
            <a:fld id="{DB5F2CA6-A39B-48F7-84D1-AF91BD07D67D}" type="slidenum">
              <a:rPr lang="en-US" altLang="zh-CN" smtClean="0"/>
              <a:pPr>
                <a:defRPr/>
              </a:pPr>
              <a:t>18</a:t>
            </a:fld>
            <a:endParaRPr lang="en-US" altLang="zh-CN"/>
          </a:p>
        </p:txBody>
      </p:sp>
      <p:sp>
        <p:nvSpPr>
          <p:cNvPr id="3" name="文本框 2">
            <a:extLst>
              <a:ext uri="{FF2B5EF4-FFF2-40B4-BE49-F238E27FC236}">
                <a16:creationId xmlns:a16="http://schemas.microsoft.com/office/drawing/2014/main" id="{3D647EB5-DFE1-64A0-55C3-91410457C69C}"/>
              </a:ext>
            </a:extLst>
          </p:cNvPr>
          <p:cNvSpPr txBox="1"/>
          <p:nvPr/>
        </p:nvSpPr>
        <p:spPr>
          <a:xfrm>
            <a:off x="1252482" y="713213"/>
            <a:ext cx="8755118" cy="4996240"/>
          </a:xfrm>
          <a:prstGeom prst="rect">
            <a:avLst/>
          </a:prstGeom>
          <a:noFill/>
        </p:spPr>
        <p:txBody>
          <a:bodyPr wrap="square">
            <a:spAutoFit/>
          </a:bodyPr>
          <a:lstStyle/>
          <a:p>
            <a:pPr algn="just">
              <a:lnSpc>
                <a:spcPct val="150000"/>
              </a:lnSpc>
            </a:pPr>
            <a:r>
              <a:rPr lang="zh-CN" altLang="zh-CN" sz="2400" b="1" kern="100" dirty="0">
                <a:effectLst/>
                <a:latin typeface="Calibri" panose="020F0502020204030204" pitchFamily="34" charset="0"/>
                <a:ea typeface="宋体" panose="02010600030101010101" pitchFamily="2" charset="-122"/>
                <a:cs typeface="Times New Roman" panose="02020603050405020304" pitchFamily="18" charset="0"/>
              </a:rPr>
              <a:t>以下为</a:t>
            </a:r>
            <a:r>
              <a:rPr lang="zh-CN" altLang="en-US" sz="2400" b="1" kern="100" dirty="0">
                <a:effectLst/>
                <a:latin typeface="Calibri" panose="020F0502020204030204" pitchFamily="34" charset="0"/>
                <a:ea typeface="宋体" panose="02010600030101010101" pitchFamily="2" charset="-122"/>
                <a:cs typeface="Times New Roman" panose="02020603050405020304" pitchFamily="18" charset="0"/>
              </a:rPr>
              <a:t>区间法</a:t>
            </a:r>
            <a:r>
              <a:rPr lang="zh-CN" altLang="zh-CN" sz="2400" b="1" kern="100" dirty="0">
                <a:effectLst/>
                <a:latin typeface="Calibri" panose="020F0502020204030204" pitchFamily="34" charset="0"/>
                <a:ea typeface="宋体" panose="02010600030101010101" pitchFamily="2" charset="-122"/>
                <a:cs typeface="Times New Roman" panose="02020603050405020304" pitchFamily="18" charset="0"/>
              </a:rPr>
              <a:t>最优扫描链的伪码实现</a:t>
            </a:r>
          </a:p>
          <a:p>
            <a:pPr algn="just">
              <a:lnSpc>
                <a:spcPct val="200000"/>
              </a:lnSpc>
            </a:pP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1.</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读入内核</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K</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、每个内核对应的测试向量数</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W</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、寄存器数</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R</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、寄存器与内核对应关系；</a:t>
            </a:r>
          </a:p>
          <a:p>
            <a:pPr algn="just">
              <a:lnSpc>
                <a:spcPct val="200000"/>
              </a:lnSpc>
            </a:pP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2.</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按测试向量数</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W</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对内核进行排序；</a:t>
            </a:r>
          </a:p>
          <a:p>
            <a:pPr algn="just">
              <a:lnSpc>
                <a:spcPct val="200000"/>
              </a:lnSpc>
            </a:pP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3.</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根据公式计算出每部分的最小链周期；</a:t>
            </a:r>
          </a:p>
          <a:p>
            <a:pPr algn="just">
              <a:lnSpc>
                <a:spcPct val="200000"/>
              </a:lnSpc>
            </a:pP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4.</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根据寄存器与内核的对应关系求出寄存器在每部分的理想区域；</a:t>
            </a:r>
          </a:p>
          <a:p>
            <a:pPr algn="just">
              <a:lnSpc>
                <a:spcPct val="200000"/>
              </a:lnSpc>
            </a:pP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5.(for </a:t>
            </a:r>
            <a:r>
              <a:rPr lang="en-US" altLang="zh-CN" sz="1800" kern="100" dirty="0" err="1">
                <a:effectLst/>
                <a:latin typeface="Calibri" panose="020F0502020204030204" pitchFamily="34" charset="0"/>
                <a:ea typeface="宋体" panose="02010600030101010101" pitchFamily="2" charset="-122"/>
                <a:cs typeface="Times New Roman" panose="02020603050405020304" pitchFamily="18" charset="0"/>
              </a:rPr>
              <a:t>i</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=0; </a:t>
            </a:r>
            <a:r>
              <a:rPr lang="en-US" altLang="zh-CN" sz="1800" kern="100" dirty="0" err="1">
                <a:effectLst/>
                <a:latin typeface="Calibri" panose="020F0502020204030204" pitchFamily="34" charset="0"/>
                <a:ea typeface="宋体" panose="02010600030101010101" pitchFamily="2" charset="-122"/>
                <a:cs typeface="Times New Roman" panose="02020603050405020304" pitchFamily="18" charset="0"/>
              </a:rPr>
              <a:t>i</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&lt;R; </a:t>
            </a:r>
            <a:r>
              <a:rPr lang="en-US" altLang="zh-CN" sz="1800" kern="100" dirty="0" err="1">
                <a:effectLst/>
                <a:latin typeface="Calibri" panose="020F0502020204030204" pitchFamily="34" charset="0"/>
                <a:ea typeface="宋体" panose="02010600030101010101" pitchFamily="2" charset="-122"/>
                <a:cs typeface="Times New Roman" panose="02020603050405020304" pitchFamily="18" charset="0"/>
              </a:rPr>
              <a:t>i</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lnSpc>
                <a:spcPct val="200000"/>
              </a:lnSpc>
            </a:pP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	</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对每个寄存器的理想区域求交集；</a:t>
            </a:r>
          </a:p>
          <a:p>
            <a:pPr algn="just">
              <a:lnSpc>
                <a:spcPct val="200000"/>
              </a:lnSpc>
            </a:pP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6.</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区间法递归求解寄存器顺序；</a:t>
            </a:r>
          </a:p>
          <a:p>
            <a:pPr algn="just">
              <a:lnSpc>
                <a:spcPct val="200000"/>
              </a:lnSpc>
            </a:pP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7.</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寄存器排序输出最优扫描链。</a:t>
            </a:r>
          </a:p>
        </p:txBody>
      </p:sp>
    </p:spTree>
    <p:extLst>
      <p:ext uri="{BB962C8B-B14F-4D97-AF65-F5344CB8AC3E}">
        <p14:creationId xmlns:p14="http://schemas.microsoft.com/office/powerpoint/2010/main" val="2407616205"/>
      </p:ext>
    </p:extLst>
  </p:cSld>
  <p:clrMapOvr>
    <a:masterClrMapping/>
  </p:clrMapOvr>
</p:sld>
</file>

<file path=ppt/theme/theme1.xml><?xml version="1.0" encoding="utf-8"?>
<a:theme xmlns:a="http://schemas.openxmlformats.org/drawingml/2006/main" name="1_默认设计模板">
  <a:themeElements>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3985</TotalTime>
  <Words>2412</Words>
  <Application>Microsoft Office PowerPoint</Application>
  <PresentationFormat>宽屏</PresentationFormat>
  <Paragraphs>109</Paragraphs>
  <Slides>18</Slides>
  <Notes>1</Notes>
  <HiddenSlides>0</HiddenSlides>
  <MMClips>0</MMClips>
  <ScaleCrop>false</ScaleCrop>
  <HeadingPairs>
    <vt:vector size="8" baseType="variant">
      <vt:variant>
        <vt:lpstr>已用的字体</vt:lpstr>
      </vt:variant>
      <vt:variant>
        <vt:i4>5</vt:i4>
      </vt:variant>
      <vt:variant>
        <vt:lpstr>主题</vt:lpstr>
      </vt:variant>
      <vt:variant>
        <vt:i4>1</vt:i4>
      </vt:variant>
      <vt:variant>
        <vt:lpstr>嵌入 OLE 服务器</vt:lpstr>
      </vt:variant>
      <vt:variant>
        <vt:i4>1</vt:i4>
      </vt:variant>
      <vt:variant>
        <vt:lpstr>幻灯片标题</vt:lpstr>
      </vt:variant>
      <vt:variant>
        <vt:i4>18</vt:i4>
      </vt:variant>
    </vt:vector>
  </HeadingPairs>
  <TitlesOfParts>
    <vt:vector size="25" baseType="lpstr">
      <vt:lpstr>等线</vt:lpstr>
      <vt:lpstr>宋体</vt:lpstr>
      <vt:lpstr>Arial</vt:lpstr>
      <vt:lpstr>Calibri</vt:lpstr>
      <vt:lpstr>Times New Roman</vt:lpstr>
      <vt:lpstr>1_默认设计模板</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C Y</dc:creator>
  <cp:lastModifiedBy>LF Kristin</cp:lastModifiedBy>
  <cp:revision>312</cp:revision>
  <dcterms:created xsi:type="dcterms:W3CDTF">2020-08-13T13:39:53Z</dcterms:created>
  <dcterms:modified xsi:type="dcterms:W3CDTF">2024-12-29T10:17:49Z</dcterms:modified>
</cp:coreProperties>
</file>